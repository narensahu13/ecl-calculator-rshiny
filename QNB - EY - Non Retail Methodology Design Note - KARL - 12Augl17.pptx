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Override2.xml" ContentType="application/vnd.openxmlformats-officedocument.themeOverrid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8.xml" ContentType="application/vnd.openxmlformats-officedocument.theme+xml"/>
  <Override PartName="/ppt/tags/tag2.xml" ContentType="application/vnd.openxmlformats-officedocument.presentationml.tags+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9.xml" ContentType="application/vnd.openxmlformats-officedocument.theme+xml"/>
  <Override PartName="/ppt/theme/themeOverride3.xml" ContentType="application/vnd.openxmlformats-officedocument.themeOverrid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notesSlides/notesSlide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3.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4.xml" ContentType="application/vnd.openxmlformats-officedocument.presentationml.notesSlide+xml"/>
  <Override PartName="/ppt/charts/chart16.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rts/chart17.xml" ContentType="application/vnd.openxmlformats-officedocument.drawingml.chart+xml"/>
  <Override PartName="/ppt/notesSlides/notesSlide6.xml" ContentType="application/vnd.openxmlformats-officedocument.presentationml.notesSlide+xml"/>
  <Override PartName="/ppt/charts/chart18.xml" ContentType="application/vnd.openxmlformats-officedocument.drawingml.chart+xml"/>
  <Override PartName="/ppt/charts/chart19.xml" ContentType="application/vnd.openxmlformats-officedocument.drawingml.chart+xml"/>
  <Override PartName="/ppt/notesSlides/notesSlide7.xml" ContentType="application/vnd.openxmlformats-officedocument.presentationml.notesSlide+xml"/>
  <Override PartName="/ppt/charts/chart20.xml" ContentType="application/vnd.openxmlformats-officedocument.drawingml.chart+xml"/>
  <Override PartName="/ppt/charts/style4.xml" ContentType="application/vnd.ms-office.chartstyle+xml"/>
  <Override PartName="/ppt/charts/colors4.xml" ContentType="application/vnd.ms-office.chartcolorstyle+xml"/>
  <Override PartName="/ppt/charts/chart21.xml" ContentType="application/vnd.openxmlformats-officedocument.drawingml.chart+xml"/>
  <Override PartName="/ppt/charts/style5.xml" ContentType="application/vnd.ms-office.chartstyle+xml"/>
  <Override PartName="/ppt/charts/colors5.xml" ContentType="application/vnd.ms-office.chartcolorstyle+xml"/>
  <Override PartName="/ppt/charts/chart22.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703" r:id="rId2"/>
    <p:sldMasterId id="2147483704" r:id="rId3"/>
    <p:sldMasterId id="2147483705" r:id="rId4"/>
    <p:sldMasterId id="2147483706" r:id="rId5"/>
    <p:sldMasterId id="2147483707" r:id="rId6"/>
    <p:sldMasterId id="2147487989" r:id="rId7"/>
    <p:sldMasterId id="2147489233" r:id="rId8"/>
    <p:sldMasterId id="2147489242" r:id="rId9"/>
    <p:sldMasterId id="2147489254" r:id="rId10"/>
  </p:sldMasterIdLst>
  <p:notesMasterIdLst>
    <p:notesMasterId r:id="rId74"/>
  </p:notesMasterIdLst>
  <p:handoutMasterIdLst>
    <p:handoutMasterId r:id="rId75"/>
  </p:handoutMasterIdLst>
  <p:sldIdLst>
    <p:sldId id="497" r:id="rId11"/>
    <p:sldId id="875" r:id="rId12"/>
    <p:sldId id="873" r:id="rId13"/>
    <p:sldId id="812" r:id="rId14"/>
    <p:sldId id="828" r:id="rId15"/>
    <p:sldId id="814" r:id="rId16"/>
    <p:sldId id="830" r:id="rId17"/>
    <p:sldId id="874" r:id="rId18"/>
    <p:sldId id="832" r:id="rId19"/>
    <p:sldId id="833" r:id="rId20"/>
    <p:sldId id="834" r:id="rId21"/>
    <p:sldId id="835" r:id="rId22"/>
    <p:sldId id="836" r:id="rId23"/>
    <p:sldId id="837" r:id="rId24"/>
    <p:sldId id="855" r:id="rId25"/>
    <p:sldId id="857" r:id="rId26"/>
    <p:sldId id="858" r:id="rId27"/>
    <p:sldId id="859" r:id="rId28"/>
    <p:sldId id="860" r:id="rId29"/>
    <p:sldId id="861" r:id="rId30"/>
    <p:sldId id="862" r:id="rId31"/>
    <p:sldId id="863" r:id="rId32"/>
    <p:sldId id="864" r:id="rId33"/>
    <p:sldId id="865" r:id="rId34"/>
    <p:sldId id="663" r:id="rId35"/>
    <p:sldId id="717" r:id="rId36"/>
    <p:sldId id="763" r:id="rId37"/>
    <p:sldId id="796" r:id="rId38"/>
    <p:sldId id="797" r:id="rId39"/>
    <p:sldId id="798" r:id="rId40"/>
    <p:sldId id="851" r:id="rId41"/>
    <p:sldId id="800" r:id="rId42"/>
    <p:sldId id="801" r:id="rId43"/>
    <p:sldId id="871" r:id="rId44"/>
    <p:sldId id="805" r:id="rId45"/>
    <p:sldId id="872" r:id="rId46"/>
    <p:sldId id="790" r:id="rId47"/>
    <p:sldId id="791" r:id="rId48"/>
    <p:sldId id="792" r:id="rId49"/>
    <p:sldId id="793" r:id="rId50"/>
    <p:sldId id="794" r:id="rId51"/>
    <p:sldId id="718" r:id="rId52"/>
    <p:sldId id="657" r:id="rId53"/>
    <p:sldId id="699" r:id="rId54"/>
    <p:sldId id="700" r:id="rId55"/>
    <p:sldId id="754" r:id="rId56"/>
    <p:sldId id="755" r:id="rId57"/>
    <p:sldId id="756" r:id="rId58"/>
    <p:sldId id="759" r:id="rId59"/>
    <p:sldId id="852" r:id="rId60"/>
    <p:sldId id="853" r:id="rId61"/>
    <p:sldId id="778" r:id="rId62"/>
    <p:sldId id="779" r:id="rId63"/>
    <p:sldId id="780" r:id="rId64"/>
    <p:sldId id="783" r:id="rId65"/>
    <p:sldId id="817" r:id="rId66"/>
    <p:sldId id="848" r:id="rId67"/>
    <p:sldId id="820" r:id="rId68"/>
    <p:sldId id="822" r:id="rId69"/>
    <p:sldId id="823" r:id="rId70"/>
    <p:sldId id="819" r:id="rId71"/>
    <p:sldId id="854" r:id="rId72"/>
    <p:sldId id="499" r:id="rId73"/>
  </p:sldIdLst>
  <p:sldSz cx="9906000" cy="6858000" type="A4"/>
  <p:notesSz cx="6797675" cy="9926638"/>
  <p:custDataLst>
    <p:tags r:id="rId76"/>
  </p:custDataLst>
  <p:defaultTextStyle>
    <a:defPPr>
      <a:defRPr lang="en-US"/>
    </a:defPPr>
    <a:lvl1pPr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6pPr>
    <a:lvl7pPr marL="2743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7pPr>
    <a:lvl8pPr marL="3200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8pPr>
    <a:lvl9pPr marL="3657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9pPr>
  </p:defaultTextStyle>
  <p:extLst>
    <p:ext uri="{EFAFB233-063F-42B5-8137-9DF3F51BA10A}">
      <p15:sldGuideLst xmlns:p15="http://schemas.microsoft.com/office/powerpoint/2012/main">
        <p15:guide id="3" orient="horz" pos="3946">
          <p15:clr>
            <a:srgbClr val="A4A3A4"/>
          </p15:clr>
        </p15:guide>
        <p15:guide id="4" orient="horz" userDrawn="1">
          <p15:clr>
            <a:srgbClr val="A4A3A4"/>
          </p15:clr>
        </p15:guide>
        <p15:guide id="5" orient="horz" pos="4195">
          <p15:clr>
            <a:srgbClr val="A4A3A4"/>
          </p15:clr>
        </p15:guide>
        <p15:guide id="6" orient="horz" pos="48" userDrawn="1">
          <p15:clr>
            <a:srgbClr val="A4A3A4"/>
          </p15:clr>
        </p15:guide>
        <p15:guide id="7" orient="horz" pos="528" userDrawn="1">
          <p15:clr>
            <a:srgbClr val="A4A3A4"/>
          </p15:clr>
        </p15:guide>
        <p15:guide id="8" orient="horz" pos="96" userDrawn="1">
          <p15:clr>
            <a:srgbClr val="A4A3A4"/>
          </p15:clr>
        </p15:guide>
        <p15:guide id="9" pos="6058">
          <p15:clr>
            <a:srgbClr val="A4A3A4"/>
          </p15:clr>
        </p15:guide>
        <p15:guide id="10" pos="182">
          <p15:clr>
            <a:srgbClr val="A4A3A4"/>
          </p15:clr>
        </p15:guide>
        <p15:guide id="11" pos="192" userDrawn="1">
          <p15:clr>
            <a:srgbClr val="A4A3A4"/>
          </p15:clr>
        </p15:guide>
        <p15:guide id="12"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y G Eapen" initials="AGE" lastIdx="26" clrIdx="0">
    <p:extLst>
      <p:ext uri="{19B8F6BF-5375-455C-9EA6-DF929625EA0E}">
        <p15:presenceInfo xmlns:p15="http://schemas.microsoft.com/office/powerpoint/2012/main" userId="S-1-5-21-1644491937-1275210071-1417001333-466234" providerId="AD"/>
      </p:ext>
    </p:extLst>
  </p:cmAuthor>
  <p:cmAuthor id="2" name="Vishal Kumar" initials="VK" lastIdx="26" clrIdx="1">
    <p:extLst>
      <p:ext uri="{19B8F6BF-5375-455C-9EA6-DF929625EA0E}">
        <p15:presenceInfo xmlns:p15="http://schemas.microsoft.com/office/powerpoint/2012/main" userId="S-1-5-21-1644491937-1275210071-1417001333-564459" providerId="AD"/>
      </p:ext>
    </p:extLst>
  </p:cmAuthor>
  <p:cmAuthor id="3" name="Lovish Kalra" initials="LK" lastIdx="15" clrIdx="2">
    <p:extLst>
      <p:ext uri="{19B8F6BF-5375-455C-9EA6-DF929625EA0E}">
        <p15:presenceInfo xmlns:p15="http://schemas.microsoft.com/office/powerpoint/2012/main" userId="S-1-5-21-1644491937-1275210071-1417001333-5524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C2D"/>
    <a:srgbClr val="000F33"/>
    <a:srgbClr val="870052"/>
    <a:srgbClr val="DFDAC8"/>
    <a:srgbClr val="474B49"/>
    <a:srgbClr val="FF9900"/>
    <a:srgbClr val="116FC4"/>
    <a:srgbClr val="BAB2C2"/>
    <a:srgbClr val="40A8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9" autoAdjust="0"/>
    <p:restoredTop sz="94730" autoAdjust="0"/>
  </p:normalViewPr>
  <p:slideViewPr>
    <p:cSldViewPr snapToGrid="0">
      <p:cViewPr>
        <p:scale>
          <a:sx n="80" d="100"/>
          <a:sy n="80" d="100"/>
        </p:scale>
        <p:origin x="226" y="48"/>
      </p:cViewPr>
      <p:guideLst>
        <p:guide orient="horz" pos="3946"/>
        <p:guide orient="horz"/>
        <p:guide orient="horz" pos="4195"/>
        <p:guide orient="horz" pos="48"/>
        <p:guide orient="horz" pos="528"/>
        <p:guide orient="horz" pos="96"/>
        <p:guide pos="6058"/>
        <p:guide pos="182"/>
        <p:guide pos="192"/>
        <p:guide pos="2448"/>
      </p:guideLst>
    </p:cSldViewPr>
  </p:slideViewPr>
  <p:notesTextViewPr>
    <p:cViewPr>
      <p:scale>
        <a:sx n="1" d="1"/>
        <a:sy n="1" d="1"/>
      </p:scale>
      <p:origin x="0" y="0"/>
    </p:cViewPr>
  </p:notesTextViewPr>
  <p:sorterViewPr>
    <p:cViewPr varScale="1">
      <p:scale>
        <a:sx n="1" d="1"/>
        <a:sy n="1" d="1"/>
      </p:scale>
      <p:origin x="0" y="0"/>
    </p:cViewPr>
  </p:sorterViewPr>
  <p:gridSpacing cx="731520" cy="73152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slide" Target="slides/slide53.xml"/><Relationship Id="rId68" Type="http://schemas.openxmlformats.org/officeDocument/2006/relationships/slide" Target="slides/slide58.xml"/><Relationship Id="rId76" Type="http://schemas.openxmlformats.org/officeDocument/2006/relationships/tags" Target="tags/tag1.xml"/><Relationship Id="rId7" Type="http://schemas.openxmlformats.org/officeDocument/2006/relationships/slideMaster" Target="slideMasters/slideMaster7.xml"/><Relationship Id="rId71" Type="http://schemas.openxmlformats.org/officeDocument/2006/relationships/slide" Target="slides/slide61.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notesMaster" Target="notesMasters/notesMaster1.xml"/><Relationship Id="rId79"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commentAuthors" Target="commentAuthor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17.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file:///C:\Users\2014329\Documents\IFRS%209%20Survey\Latest\IFRS_9%20Survey%20Master%20-%20Australia.xlsx" TargetMode="External"/></Relationships>
</file>

<file path=ppt/charts/_rels/chart2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2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2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200" dirty="0" smtClean="0"/>
              <a:t>TTC PD</a:t>
            </a:r>
            <a:endParaRPr lang="en-US" sz="1200" dirty="0"/>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Sheet1!$B$1</c:f>
              <c:strCache>
                <c:ptCount val="1"/>
                <c:pt idx="0">
                  <c:v>TTC PD</c:v>
                </c:pt>
              </c:strCache>
            </c:strRef>
          </c:tx>
          <c:spPr>
            <a:ln w="28575" cap="rnd">
              <a:solidFill>
                <a:srgbClr val="FFC000"/>
              </a:solidFill>
              <a:round/>
            </a:ln>
            <a:effectLst/>
          </c:spPr>
          <c:marker>
            <c:symbol val="square"/>
            <c:size val="7"/>
            <c:spPr>
              <a:solidFill>
                <a:schemeClr val="accent1"/>
              </a:solidFill>
              <a:ln w="9525">
                <a:solidFill>
                  <a:schemeClr val="accent1"/>
                </a:solidFill>
              </a:ln>
              <a:effectLst/>
            </c:spPr>
          </c:marker>
          <c:cat>
            <c:numRef>
              <c:f>Sheet1!$A$2:$A$13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Sheet1!$B$2:$B$13</c:f>
              <c:numCache>
                <c:formatCode>0.00%</c:formatCode>
                <c:ptCount val="12"/>
                <c:pt idx="1">
                  <c:v>0.01</c:v>
                </c:pt>
                <c:pt idx="2">
                  <c:v>1.9E-2</c:v>
                </c:pt>
                <c:pt idx="3">
                  <c:v>2.7E-2</c:v>
                </c:pt>
                <c:pt idx="4">
                  <c:v>3.5000000000000003E-2</c:v>
                </c:pt>
                <c:pt idx="5">
                  <c:v>4.1000000000000002E-2</c:v>
                </c:pt>
                <c:pt idx="6">
                  <c:v>4.5999999999999999E-2</c:v>
                </c:pt>
                <c:pt idx="7">
                  <c:v>0.05</c:v>
                </c:pt>
                <c:pt idx="8">
                  <c:v>5.3000000000000005E-2</c:v>
                </c:pt>
                <c:pt idx="9">
                  <c:v>5.5500000000000008E-2</c:v>
                </c:pt>
                <c:pt idx="10">
                  <c:v>5.800000000000001E-2</c:v>
                </c:pt>
                <c:pt idx="11">
                  <c:v>5.9000000000000011E-2</c:v>
                </c:pt>
              </c:numCache>
            </c:numRef>
          </c:val>
          <c:smooth val="0"/>
        </c:ser>
        <c:dLbls>
          <c:showLegendKey val="0"/>
          <c:showVal val="0"/>
          <c:showCatName val="0"/>
          <c:showSerName val="0"/>
          <c:showPercent val="0"/>
          <c:showBubbleSize val="0"/>
        </c:dLbls>
        <c:marker val="1"/>
        <c:smooth val="0"/>
        <c:axId val="272916128"/>
        <c:axId val="272916520"/>
      </c:lineChart>
      <c:catAx>
        <c:axId val="27291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2916520"/>
        <c:crosses val="autoZero"/>
        <c:auto val="1"/>
        <c:lblAlgn val="ctr"/>
        <c:lblOffset val="100"/>
        <c:noMultiLvlLbl val="0"/>
      </c:catAx>
      <c:valAx>
        <c:axId val="272916520"/>
        <c:scaling>
          <c:orientation val="minMax"/>
          <c:max val="8.0000000000000016E-2"/>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2916128"/>
        <c:crosses val="autoZero"/>
        <c:crossBetween val="between"/>
      </c:valAx>
      <c:spPr>
        <a:solidFill>
          <a:schemeClr val="accent2">
            <a:lumMod val="20000"/>
            <a:lumOff val="80000"/>
          </a:schemeClr>
        </a:solid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solidFill>
        <a:schemeClr val="bg1">
          <a:lumMod val="75000"/>
        </a:schemeClr>
      </a:solidFill>
    </a:ln>
    <a:effectLst/>
  </c:spPr>
  <c:txPr>
    <a:bodyPr/>
    <a:lstStyle/>
    <a:p>
      <a:pPr>
        <a:defRPr sz="9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200" b="0" i="0" u="none" strike="noStrike" kern="1200" spc="0" baseline="0" dirty="0" smtClean="0">
                <a:solidFill>
                  <a:srgbClr val="000000">
                    <a:lumMod val="65000"/>
                    <a:lumOff val="35000"/>
                  </a:srgbClr>
                </a:solidFill>
                <a:latin typeface="Times New Roman" panose="02020603050405020304" pitchFamily="18" charset="0"/>
                <a:ea typeface="+mn-ea"/>
                <a:cs typeface="Times New Roman" panose="02020603050405020304" pitchFamily="18" charset="0"/>
              </a:defRPr>
            </a:pPr>
            <a:r>
              <a:rPr lang="en-US" sz="1200" b="0" i="0" u="none" strike="noStrike" kern="1200" spc="0" baseline="0" dirty="0" err="1" smtClean="0">
                <a:solidFill>
                  <a:srgbClr val="000000">
                    <a:lumMod val="65000"/>
                    <a:lumOff val="35000"/>
                  </a:srgbClr>
                </a:solidFill>
                <a:latin typeface="Times New Roman" panose="02020603050405020304" pitchFamily="18" charset="0"/>
                <a:ea typeface="+mn-ea"/>
                <a:cs typeface="Times New Roman" panose="02020603050405020304" pitchFamily="18" charset="0"/>
              </a:rPr>
              <a:t>PiT</a:t>
            </a:r>
            <a:r>
              <a:rPr lang="en-US" sz="1200" b="0" i="0" u="none" strike="noStrike" kern="1200" spc="0" baseline="0" dirty="0" smtClean="0">
                <a:solidFill>
                  <a:srgbClr val="000000">
                    <a:lumMod val="65000"/>
                    <a:lumOff val="35000"/>
                  </a:srgbClr>
                </a:solidFill>
                <a:latin typeface="Times New Roman" panose="02020603050405020304" pitchFamily="18" charset="0"/>
                <a:ea typeface="+mn-ea"/>
                <a:cs typeface="Times New Roman" panose="02020603050405020304" pitchFamily="18" charset="0"/>
              </a:rPr>
              <a:t> PD</a:t>
            </a:r>
          </a:p>
        </c:rich>
      </c:tx>
      <c:layout/>
      <c:overlay val="0"/>
      <c:spPr>
        <a:noFill/>
        <a:ln>
          <a:noFill/>
        </a:ln>
        <a:effectLst/>
      </c:spPr>
      <c:txPr>
        <a:bodyPr rot="0" spcFirstLastPara="1" vertOverflow="ellipsis" vert="horz" wrap="square" anchor="ctr" anchorCtr="1"/>
        <a:lstStyle/>
        <a:p>
          <a:pPr algn="ctr" rtl="0">
            <a:defRPr lang="en-US" sz="1200" b="0" i="0" u="none" strike="noStrike" kern="1200" spc="0" baseline="0" dirty="0" smtClean="0">
              <a:solidFill>
                <a:srgbClr val="000000">
                  <a:lumMod val="65000"/>
                  <a:lumOff val="35000"/>
                </a:srgb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Sheet1!$B$1</c:f>
              <c:strCache>
                <c:ptCount val="1"/>
                <c:pt idx="0">
                  <c:v>TTC PD</c:v>
                </c:pt>
              </c:strCache>
            </c:strRef>
          </c:tx>
          <c:spPr>
            <a:ln w="28575" cap="rnd">
              <a:solidFill>
                <a:srgbClr val="FFC000"/>
              </a:solidFill>
              <a:round/>
            </a:ln>
            <a:effectLst/>
          </c:spPr>
          <c:marker>
            <c:symbol val="square"/>
            <c:size val="7"/>
            <c:spPr>
              <a:solidFill>
                <a:schemeClr val="accent1"/>
              </a:solidFill>
              <a:ln w="9525">
                <a:solidFill>
                  <a:schemeClr val="accent1"/>
                </a:solidFill>
              </a:ln>
              <a:effectLst/>
            </c:spPr>
          </c:marker>
          <c:cat>
            <c:numRef>
              <c:f>Sheet1!$A$2:$A$13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Sheet1!$B$2:$B$13</c:f>
              <c:numCache>
                <c:formatCode>0.00%</c:formatCode>
                <c:ptCount val="12"/>
                <c:pt idx="1">
                  <c:v>0.01</c:v>
                </c:pt>
                <c:pt idx="2">
                  <c:v>1.9E-2</c:v>
                </c:pt>
                <c:pt idx="3">
                  <c:v>2.7E-2</c:v>
                </c:pt>
                <c:pt idx="4">
                  <c:v>3.5000000000000003E-2</c:v>
                </c:pt>
                <c:pt idx="5">
                  <c:v>4.1000000000000002E-2</c:v>
                </c:pt>
                <c:pt idx="6">
                  <c:v>4.5999999999999999E-2</c:v>
                </c:pt>
                <c:pt idx="7">
                  <c:v>0.05</c:v>
                </c:pt>
                <c:pt idx="8">
                  <c:v>5.3000000000000005E-2</c:v>
                </c:pt>
                <c:pt idx="9">
                  <c:v>5.5500000000000008E-2</c:v>
                </c:pt>
                <c:pt idx="10">
                  <c:v>5.800000000000001E-2</c:v>
                </c:pt>
                <c:pt idx="11">
                  <c:v>5.9000000000000011E-2</c:v>
                </c:pt>
              </c:numCache>
            </c:numRef>
          </c:val>
          <c:smooth val="0"/>
        </c:ser>
        <c:ser>
          <c:idx val="1"/>
          <c:order val="1"/>
          <c:tx>
            <c:strRef>
              <c:f>Sheet1!$C$1</c:f>
              <c:strCache>
                <c:ptCount val="1"/>
                <c:pt idx="0">
                  <c:v>PiT PD</c:v>
                </c:pt>
              </c:strCache>
            </c:strRef>
          </c:tx>
          <c:spPr>
            <a:ln w="28575" cap="rnd">
              <a:solidFill>
                <a:schemeClr val="accent2"/>
              </a:solidFill>
              <a:round/>
            </a:ln>
            <a:effectLst/>
          </c:spPr>
          <c:marker>
            <c:symbol val="triangle"/>
            <c:size val="7"/>
            <c:spPr>
              <a:solidFill>
                <a:schemeClr val="accent2"/>
              </a:solidFill>
              <a:ln w="9525">
                <a:solidFill>
                  <a:schemeClr val="accent2"/>
                </a:solidFill>
              </a:ln>
              <a:effectLst/>
            </c:spPr>
          </c:marker>
          <c:cat>
            <c:numRef>
              <c:f>Sheet1!$A$2:$A$13</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Sheet1!$C$2:$C$13</c:f>
              <c:numCache>
                <c:formatCode>0.00%</c:formatCode>
                <c:ptCount val="12"/>
                <c:pt idx="1">
                  <c:v>1.0999999999999999E-2</c:v>
                </c:pt>
                <c:pt idx="2">
                  <c:v>2.1000000000000001E-2</c:v>
                </c:pt>
                <c:pt idx="3">
                  <c:v>3.1E-2</c:v>
                </c:pt>
                <c:pt idx="4">
                  <c:v>4.1000000000000002E-2</c:v>
                </c:pt>
                <c:pt idx="5">
                  <c:v>4.8000000000000001E-2</c:v>
                </c:pt>
                <c:pt idx="6">
                  <c:v>5.2999999999999999E-2</c:v>
                </c:pt>
                <c:pt idx="7">
                  <c:v>5.7000000000000002E-2</c:v>
                </c:pt>
                <c:pt idx="8">
                  <c:v>6.0999999999999999E-2</c:v>
                </c:pt>
                <c:pt idx="9">
                  <c:v>6.3E-2</c:v>
                </c:pt>
                <c:pt idx="10">
                  <c:v>6.6000000000000003E-2</c:v>
                </c:pt>
                <c:pt idx="11">
                  <c:v>7.0999999999999994E-2</c:v>
                </c:pt>
              </c:numCache>
            </c:numRef>
          </c:val>
          <c:smooth val="0"/>
        </c:ser>
        <c:dLbls>
          <c:showLegendKey val="0"/>
          <c:showVal val="0"/>
          <c:showCatName val="0"/>
          <c:showSerName val="0"/>
          <c:showPercent val="0"/>
          <c:showBubbleSize val="0"/>
        </c:dLbls>
        <c:marker val="1"/>
        <c:smooth val="0"/>
        <c:axId val="272916912"/>
        <c:axId val="272917304"/>
      </c:lineChart>
      <c:catAx>
        <c:axId val="27291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2917304"/>
        <c:crosses val="autoZero"/>
        <c:auto val="1"/>
        <c:lblAlgn val="ctr"/>
        <c:lblOffset val="100"/>
        <c:noMultiLvlLbl val="0"/>
      </c:catAx>
      <c:valAx>
        <c:axId val="27291730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2916912"/>
        <c:crosses val="autoZero"/>
        <c:crossBetween val="between"/>
      </c:valAx>
      <c:spPr>
        <a:solidFill>
          <a:schemeClr val="accent2">
            <a:lumMod val="20000"/>
            <a:lumOff val="80000"/>
          </a:schemeClr>
        </a:solid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solidFill>
        <a:schemeClr val="bg1">
          <a:lumMod val="75000"/>
        </a:schemeClr>
      </a:solidFill>
    </a:ln>
    <a:effectLst/>
  </c:spPr>
  <c:txPr>
    <a:bodyPr/>
    <a:lstStyle/>
    <a:p>
      <a:pPr>
        <a:defRPr sz="9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spPr>
            <a:solidFill>
              <a:schemeClr val="accent2"/>
            </a:solidFill>
          </c:spPr>
          <c:dPt>
            <c:idx val="0"/>
            <c:bubble3D val="0"/>
            <c:spPr>
              <a:solidFill>
                <a:schemeClr val="accent4"/>
              </a:solidFill>
            </c:spPr>
          </c:dPt>
          <c:dPt>
            <c:idx val="1"/>
            <c:bubble3D val="0"/>
            <c:spPr>
              <a:solidFill>
                <a:schemeClr val="accent1"/>
              </a:solidFill>
              <a:ln>
                <a:noFill/>
              </a:ln>
            </c:spPr>
          </c:dPt>
          <c:dLbls>
            <c:dLbl>
              <c:idx val="0"/>
              <c:layout>
                <c:manualLayout>
                  <c:x val="-0.13498114419855844"/>
                  <c:y val="0.18846105790493492"/>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14796571963309504"/>
                  <c:y val="0.10101006895758424"/>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wrap="square" lIns="38100" tIns="19050" rIns="38100" bIns="19050" anchor="ctr">
                <a:spAutoFit/>
              </a:bodyPr>
              <a:lstStyle/>
              <a:p>
                <a:pPr>
                  <a:defRPr b="1">
                    <a:solidFill>
                      <a:schemeClr val="bg1"/>
                    </a:solidFill>
                  </a:defRPr>
                </a:pPr>
                <a:endParaRPr lang="en-US"/>
              </a:p>
            </c:txPr>
            <c:dLblPos val="ct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'Q33,34,35,39,48,41,45'!$B$109:$B$111</c:f>
              <c:strCache>
                <c:ptCount val="3"/>
                <c:pt idx="0">
                  <c:v>Yes</c:v>
                </c:pt>
                <c:pt idx="1">
                  <c:v>No</c:v>
                </c:pt>
                <c:pt idx="2">
                  <c:v>Undecided</c:v>
                </c:pt>
              </c:strCache>
            </c:strRef>
          </c:cat>
          <c:val>
            <c:numRef>
              <c:f>'Q33,34,35,39,48,41,45'!$C$109:$C$111</c:f>
              <c:numCache>
                <c:formatCode>General</c:formatCode>
                <c:ptCount val="3"/>
                <c:pt idx="0">
                  <c:v>4</c:v>
                </c:pt>
                <c:pt idx="1">
                  <c:v>10</c:v>
                </c:pt>
                <c:pt idx="2">
                  <c:v>6</c:v>
                </c:pt>
              </c:numCache>
            </c:numRef>
          </c:val>
        </c:ser>
        <c:dLbls>
          <c:dLblPos val="ctr"/>
          <c:showLegendKey val="0"/>
          <c:showVal val="1"/>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50"/>
      </c:doughnutChart>
    </c:plotArea>
    <c:legend>
      <c:legendPos val="r"/>
      <c:layout/>
      <c:overlay val="0"/>
    </c:legend>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291986075621225"/>
          <c:y val="0.150621575283688"/>
        </c:manualLayout>
      </c:layout>
      <c:overlay val="0"/>
      <c:txPr>
        <a:bodyPr/>
        <a:lstStyle/>
        <a:p>
          <a:pPr>
            <a:defRPr sz="1200"/>
          </a:pPr>
          <a:endParaRPr lang="en-US"/>
        </a:p>
      </c:txPr>
    </c:title>
    <c:autoTitleDeleted val="0"/>
    <c:plotArea>
      <c:layout/>
      <c:pieChart>
        <c:varyColors val="1"/>
        <c:ser>
          <c:idx val="0"/>
          <c:order val="0"/>
          <c:tx>
            <c:strRef>
              <c:f>'Q33,34,35,39,48,41,45'!$C$135</c:f>
              <c:strCache>
                <c:ptCount val="1"/>
                <c:pt idx="0">
                  <c:v>Corporate</c:v>
                </c:pt>
              </c:strCache>
            </c:strRef>
          </c:tx>
          <c:dPt>
            <c:idx val="0"/>
            <c:bubble3D val="0"/>
            <c:spPr>
              <a:solidFill>
                <a:schemeClr val="accent2"/>
              </a:solidFill>
            </c:spPr>
          </c:dPt>
          <c:dPt>
            <c:idx val="1"/>
            <c:bubble3D val="0"/>
            <c:spPr>
              <a:solidFill>
                <a:schemeClr val="accent1"/>
              </a:solidFill>
            </c:spPr>
          </c:dPt>
          <c:dPt>
            <c:idx val="2"/>
            <c:bubble3D val="0"/>
            <c:spPr>
              <a:solidFill>
                <a:schemeClr val="accent6"/>
              </a:solidFill>
            </c:spPr>
          </c:dPt>
          <c:dPt>
            <c:idx val="4"/>
            <c:bubble3D val="0"/>
            <c:spPr>
              <a:solidFill>
                <a:schemeClr val="bg2"/>
              </a:solidFill>
            </c:spPr>
          </c:dPt>
          <c:dPt>
            <c:idx val="5"/>
            <c:bubble3D val="0"/>
            <c:spPr>
              <a:solidFill>
                <a:schemeClr val="accent4"/>
              </a:solidFill>
            </c:spPr>
          </c:dPt>
          <c:dLbls>
            <c:dLbl>
              <c:idx val="1"/>
              <c:spPr/>
              <c:txPr>
                <a:bodyPr/>
                <a:lstStyle/>
                <a:p>
                  <a:pPr>
                    <a:defRPr b="1">
                      <a:solidFill>
                        <a:schemeClr val="bg1"/>
                      </a:solidFill>
                    </a:defRPr>
                  </a:pPr>
                  <a:endParaRPr lang="en-US"/>
                </a:p>
              </c:txPr>
              <c:dLblPos val="bestFit"/>
              <c:showLegendKey val="0"/>
              <c:showVal val="1"/>
              <c:showCatName val="0"/>
              <c:showSerName val="0"/>
              <c:showPercent val="0"/>
              <c:showBubbleSize val="0"/>
            </c:dLbl>
            <c:dLbl>
              <c:idx val="3"/>
              <c:layout>
                <c:manualLayout>
                  <c:x val="9.0534847979854088E-2"/>
                  <c:y val="-1.4501315536702239E-3"/>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8.5719642261970888E-2"/>
                  <c:y val="6.6713278038034632E-2"/>
                </c:manualLayout>
              </c:layout>
              <c:spPr/>
              <c:txPr>
                <a:bodyPr/>
                <a:lstStyle/>
                <a:p>
                  <a:pPr>
                    <a:defRPr b="1">
                      <a:solidFill>
                        <a:schemeClr val="bg1"/>
                      </a:solidFill>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wrap="square" lIns="38100" tIns="19050" rIns="38100" bIns="19050" anchor="ctr">
                <a:spAutoFit/>
              </a:bodyPr>
              <a:lstStyle/>
              <a:p>
                <a:pPr>
                  <a:defRPr b="1">
                    <a:solidFill>
                      <a:schemeClr val="bg1"/>
                    </a:solidFill>
                  </a:defRPr>
                </a:pPr>
                <a:endParaRPr lang="en-US"/>
              </a:p>
            </c:txPr>
            <c:dLblPos val="bestFit"/>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'Q33,34,35,39,48,41,45'!$B$136:$B$141</c:f>
              <c:strCache>
                <c:ptCount val="6"/>
                <c:pt idx="0">
                  <c:v>Use stress testing procedure</c:v>
                </c:pt>
                <c:pt idx="1">
                  <c:v>Expert judgement</c:v>
                </c:pt>
                <c:pt idx="2">
                  <c:v>Recalibrate model on a shorter recent period</c:v>
                </c:pt>
                <c:pt idx="3">
                  <c:v>Recalibrate model to incorporate macro factors</c:v>
                </c:pt>
                <c:pt idx="4">
                  <c:v>Other</c:v>
                </c:pt>
                <c:pt idx="5">
                  <c:v>Undecided</c:v>
                </c:pt>
              </c:strCache>
            </c:strRef>
          </c:cat>
          <c:val>
            <c:numRef>
              <c:f>'Q33,34,35,39,48,41,45'!$C$136:$C$141</c:f>
              <c:numCache>
                <c:formatCode>General</c:formatCode>
                <c:ptCount val="6"/>
                <c:pt idx="0">
                  <c:v>8</c:v>
                </c:pt>
                <c:pt idx="1">
                  <c:v>10</c:v>
                </c:pt>
                <c:pt idx="2">
                  <c:v>3</c:v>
                </c:pt>
                <c:pt idx="3">
                  <c:v>2</c:v>
                </c:pt>
                <c:pt idx="4">
                  <c:v>3</c:v>
                </c:pt>
                <c:pt idx="5">
                  <c:v>4</c:v>
                </c:pt>
              </c:numCache>
            </c:numRef>
          </c:val>
        </c:ser>
        <c:dLbls>
          <c:dLblPos val="bestFit"/>
          <c:showLegendKey val="0"/>
          <c:showVal val="1"/>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1455599096017083"/>
          <c:y val="0.15730572233707699"/>
        </c:manualLayout>
      </c:layout>
      <c:overlay val="0"/>
      <c:txPr>
        <a:bodyPr/>
        <a:lstStyle/>
        <a:p>
          <a:pPr>
            <a:defRPr sz="1200"/>
          </a:pPr>
          <a:endParaRPr lang="en-US"/>
        </a:p>
      </c:txPr>
    </c:title>
    <c:autoTitleDeleted val="0"/>
    <c:plotArea>
      <c:layout/>
      <c:pieChart>
        <c:varyColors val="1"/>
        <c:ser>
          <c:idx val="0"/>
          <c:order val="0"/>
          <c:tx>
            <c:strRef>
              <c:f>'Q33,34,35,39,48,41,45'!$C$117</c:f>
              <c:strCache>
                <c:ptCount val="1"/>
                <c:pt idx="0">
                  <c:v>Retail</c:v>
                </c:pt>
              </c:strCache>
            </c:strRef>
          </c:tx>
          <c:dPt>
            <c:idx val="0"/>
            <c:bubble3D val="0"/>
            <c:spPr>
              <a:solidFill>
                <a:schemeClr val="accent2"/>
              </a:solidFill>
            </c:spPr>
          </c:dPt>
          <c:dPt>
            <c:idx val="1"/>
            <c:bubble3D val="0"/>
            <c:spPr>
              <a:solidFill>
                <a:schemeClr val="accent1"/>
              </a:solidFill>
            </c:spPr>
          </c:dPt>
          <c:dPt>
            <c:idx val="2"/>
            <c:bubble3D val="0"/>
            <c:spPr>
              <a:solidFill>
                <a:schemeClr val="accent6"/>
              </a:solidFill>
            </c:spPr>
          </c:dPt>
          <c:dPt>
            <c:idx val="4"/>
            <c:bubble3D val="0"/>
            <c:spPr>
              <a:solidFill>
                <a:schemeClr val="bg2"/>
              </a:solidFill>
            </c:spPr>
          </c:dPt>
          <c:dPt>
            <c:idx val="5"/>
            <c:bubble3D val="0"/>
            <c:spPr>
              <a:solidFill>
                <a:schemeClr val="accent4"/>
              </a:solidFill>
            </c:spPr>
          </c:dPt>
          <c:dLbls>
            <c:dLbl>
              <c:idx val="1"/>
              <c:spPr/>
              <c:txPr>
                <a:bodyPr/>
                <a:lstStyle/>
                <a:p>
                  <a:pPr>
                    <a:defRPr b="1">
                      <a:solidFill>
                        <a:schemeClr val="bg1"/>
                      </a:solidFill>
                    </a:defRPr>
                  </a:pPr>
                  <a:endParaRPr lang="en-US"/>
                </a:p>
              </c:txPr>
              <c:dLblPos val="bestFit"/>
              <c:showLegendKey val="0"/>
              <c:showVal val="1"/>
              <c:showCatName val="0"/>
              <c:showSerName val="0"/>
              <c:showPercent val="0"/>
              <c:showBubbleSize val="0"/>
            </c:dLbl>
            <c:dLbl>
              <c:idx val="3"/>
              <c:layout>
                <c:manualLayout>
                  <c:x val="5.8054361935537854E-2"/>
                  <c:y val="-1.0163214995692699E-2"/>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6.3006352617279798E-2"/>
                  <c:y val="4.0008988119200485E-2"/>
                </c:manualLayout>
              </c:layout>
              <c:spPr/>
              <c:txPr>
                <a:bodyPr/>
                <a:lstStyle/>
                <a:p>
                  <a:pPr>
                    <a:defRPr b="1">
                      <a:solidFill>
                        <a:schemeClr val="bg1"/>
                      </a:solidFill>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wrap="square" lIns="38100" tIns="19050" rIns="38100" bIns="19050" anchor="ctr">
                <a:spAutoFit/>
              </a:bodyPr>
              <a:lstStyle/>
              <a:p>
                <a:pPr>
                  <a:defRPr b="1">
                    <a:solidFill>
                      <a:schemeClr val="bg1"/>
                    </a:solidFill>
                  </a:defRPr>
                </a:pPr>
                <a:endParaRPr lang="en-US"/>
              </a:p>
            </c:txPr>
            <c:dLblPos val="bestFit"/>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'Q33,34,35,39,48,41,45'!$B$118:$B$123</c:f>
              <c:strCache>
                <c:ptCount val="6"/>
                <c:pt idx="0">
                  <c:v>Use stress testing procedure</c:v>
                </c:pt>
                <c:pt idx="1">
                  <c:v>Expert judgement</c:v>
                </c:pt>
                <c:pt idx="2">
                  <c:v>Recalibrate model on a shorter recent period</c:v>
                </c:pt>
                <c:pt idx="3">
                  <c:v>Recalibrate model to incorporate macro factors</c:v>
                </c:pt>
                <c:pt idx="4">
                  <c:v>Other</c:v>
                </c:pt>
                <c:pt idx="5">
                  <c:v>Undecided</c:v>
                </c:pt>
              </c:strCache>
            </c:strRef>
          </c:cat>
          <c:val>
            <c:numRef>
              <c:f>'Q33,34,35,39,48,41,45'!$C$118:$C$123</c:f>
              <c:numCache>
                <c:formatCode>General</c:formatCode>
                <c:ptCount val="6"/>
                <c:pt idx="0">
                  <c:v>9</c:v>
                </c:pt>
                <c:pt idx="1">
                  <c:v>9</c:v>
                </c:pt>
                <c:pt idx="2">
                  <c:v>4</c:v>
                </c:pt>
                <c:pt idx="3">
                  <c:v>2</c:v>
                </c:pt>
                <c:pt idx="4">
                  <c:v>3</c:v>
                </c:pt>
                <c:pt idx="5">
                  <c:v>4</c:v>
                </c:pt>
              </c:numCache>
            </c:numRef>
          </c:val>
        </c:ser>
        <c:dLbls>
          <c:dLblPos val="bestFit"/>
          <c:showLegendKey val="0"/>
          <c:showVal val="1"/>
          <c:showCatName val="0"/>
          <c:showSerName val="0"/>
          <c:showPercent val="0"/>
          <c:showBubbleSize val="0"/>
          <c:showLeaderLines val="1"/>
        </c:dLbls>
        <c:firstSliceAng val="0"/>
      </c:pieChart>
    </c:plotArea>
    <c:legend>
      <c:legendPos val="r"/>
      <c:layout>
        <c:manualLayout>
          <c:xMode val="edge"/>
          <c:yMode val="edge"/>
          <c:x val="0.57610214335906851"/>
          <c:y val="0.16460234390702158"/>
          <c:w val="0.42389785664093155"/>
          <c:h val="0.80219675324944817"/>
        </c:manualLayout>
      </c:layout>
      <c:overlay val="0"/>
      <c:txPr>
        <a:bodyPr/>
        <a:lstStyle/>
        <a:p>
          <a:pPr>
            <a:defRPr sz="600"/>
          </a:pPr>
          <a:endParaRPr lang="en-US"/>
        </a:p>
      </c:txPr>
    </c:legend>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9839000610271482"/>
          <c:y val="0.15182110414870578"/>
        </c:manualLayout>
      </c:layout>
      <c:overlay val="0"/>
      <c:txPr>
        <a:bodyPr/>
        <a:lstStyle/>
        <a:p>
          <a:pPr>
            <a:defRPr sz="1200"/>
          </a:pPr>
          <a:endParaRPr lang="en-US"/>
        </a:p>
      </c:txPr>
    </c:title>
    <c:autoTitleDeleted val="0"/>
    <c:plotArea>
      <c:layout/>
      <c:doughnutChart>
        <c:varyColors val="1"/>
        <c:ser>
          <c:idx val="0"/>
          <c:order val="0"/>
          <c:tx>
            <c:strRef>
              <c:f>'Q33,34,35,39,48,41,45'!$C$71</c:f>
              <c:strCache>
                <c:ptCount val="1"/>
                <c:pt idx="0">
                  <c:v>Corporate</c:v>
                </c:pt>
              </c:strCache>
            </c:strRef>
          </c:tx>
          <c:dPt>
            <c:idx val="0"/>
            <c:bubble3D val="0"/>
            <c:spPr>
              <a:solidFill>
                <a:schemeClr val="accent2"/>
              </a:solidFill>
            </c:spPr>
          </c:dPt>
          <c:dPt>
            <c:idx val="1"/>
            <c:bubble3D val="0"/>
            <c:spPr>
              <a:solidFill>
                <a:schemeClr val="accent4"/>
              </a:solidFill>
            </c:spPr>
          </c:dPt>
          <c:dPt>
            <c:idx val="2"/>
            <c:bubble3D val="0"/>
            <c:spPr>
              <a:solidFill>
                <a:schemeClr val="tx2"/>
              </a:solidFill>
            </c:spPr>
          </c:dPt>
          <c:dLbls>
            <c:dLbl>
              <c:idx val="2"/>
              <c:spPr>
                <a:solidFill>
                  <a:schemeClr val="bg2"/>
                </a:solidFill>
              </c:spPr>
              <c:txPr>
                <a:bodyPr/>
                <a:lstStyle/>
                <a:p>
                  <a:pPr>
                    <a:defRPr b="1">
                      <a:solidFill>
                        <a:schemeClr val="bg1"/>
                      </a:solidFill>
                    </a:defRPr>
                  </a:pPr>
                  <a:endParaRPr lang="en-US"/>
                </a:p>
              </c:txP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b="1">
                    <a:solidFill>
                      <a:schemeClr val="bg1"/>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'Q33,34,35,39,48,41,45'!$B$72:$B$74</c:f>
              <c:strCache>
                <c:ptCount val="3"/>
                <c:pt idx="0">
                  <c:v>Yes</c:v>
                </c:pt>
                <c:pt idx="1">
                  <c:v>No</c:v>
                </c:pt>
                <c:pt idx="2">
                  <c:v>Not known</c:v>
                </c:pt>
              </c:strCache>
            </c:strRef>
          </c:cat>
          <c:val>
            <c:numRef>
              <c:f>'Q33,34,35,39,48,41,45'!$C$72:$C$74</c:f>
              <c:numCache>
                <c:formatCode>General</c:formatCode>
                <c:ptCount val="3"/>
                <c:pt idx="0">
                  <c:v>11</c:v>
                </c:pt>
                <c:pt idx="1">
                  <c:v>8</c:v>
                </c:pt>
                <c:pt idx="2">
                  <c:v>1</c:v>
                </c:pt>
              </c:numCache>
            </c:numRef>
          </c:val>
        </c:ser>
        <c:dLbls>
          <c:showLegendKey val="0"/>
          <c:showVal val="1"/>
          <c:showCatName val="0"/>
          <c:showSerName val="0"/>
          <c:showPercent val="0"/>
          <c:showBubbleSize val="0"/>
          <c:showLeaderLines val="1"/>
        </c:dLbls>
        <c:firstSliceAng val="0"/>
        <c:holeSize val="50"/>
      </c:doughnutChart>
    </c:plotArea>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a:pPr>
            <a:r>
              <a:rPr lang="en-US" sz="1200" dirty="0"/>
              <a:t>Corporate</a:t>
            </a:r>
          </a:p>
        </c:rich>
      </c:tx>
      <c:layout>
        <c:manualLayout>
          <c:xMode val="edge"/>
          <c:yMode val="edge"/>
          <c:x val="0.29404059829059831"/>
          <c:y val="0.14270867208672086"/>
        </c:manualLayout>
      </c:layout>
      <c:overlay val="0"/>
    </c:title>
    <c:autoTitleDeleted val="0"/>
    <c:plotArea>
      <c:layout/>
      <c:doughnutChart>
        <c:varyColors val="1"/>
        <c:ser>
          <c:idx val="0"/>
          <c:order val="0"/>
          <c:tx>
            <c:strRef>
              <c:f>'Q33,34,35,39,48,41,45'!$C$49</c:f>
              <c:strCache>
                <c:ptCount val="1"/>
                <c:pt idx="0">
                  <c:v>Corporate</c:v>
                </c:pt>
              </c:strCache>
            </c:strRef>
          </c:tx>
          <c:dPt>
            <c:idx val="0"/>
            <c:bubble3D val="0"/>
            <c:spPr>
              <a:solidFill>
                <a:schemeClr val="accent2"/>
              </a:solidFill>
            </c:spPr>
          </c:dPt>
          <c:dPt>
            <c:idx val="1"/>
            <c:bubble3D val="0"/>
            <c:spPr>
              <a:solidFill>
                <a:schemeClr val="accent1"/>
              </a:solidFill>
            </c:spPr>
          </c:dPt>
          <c:dPt>
            <c:idx val="2"/>
            <c:bubble3D val="0"/>
            <c:spPr>
              <a:solidFill>
                <a:schemeClr val="bg2"/>
              </a:solidFill>
            </c:spPr>
          </c:dPt>
          <c:dLbls>
            <c:dLbl>
              <c:idx val="2"/>
              <c:spPr/>
              <c:txPr>
                <a:bodyPr/>
                <a:lstStyle/>
                <a:p>
                  <a:pPr>
                    <a:defRPr b="1">
                      <a:solidFill>
                        <a:schemeClr val="bg1"/>
                      </a:solidFill>
                    </a:defRPr>
                  </a:pPr>
                  <a:endParaRPr lang="en-US"/>
                </a:p>
              </c:txP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b="1">
                    <a:solidFill>
                      <a:schemeClr val="bg1"/>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'Q33,34,35,39,48,41,45'!$B$50:$B$52</c:f>
              <c:strCache>
                <c:ptCount val="3"/>
                <c:pt idx="0">
                  <c:v>Yes</c:v>
                </c:pt>
                <c:pt idx="1">
                  <c:v>No</c:v>
                </c:pt>
                <c:pt idx="2">
                  <c:v>Undecided</c:v>
                </c:pt>
              </c:strCache>
            </c:strRef>
          </c:cat>
          <c:val>
            <c:numRef>
              <c:f>'Q33,34,35,39,48,41,45'!$C$50:$C$52</c:f>
              <c:numCache>
                <c:formatCode>General</c:formatCode>
                <c:ptCount val="3"/>
                <c:pt idx="0">
                  <c:v>13</c:v>
                </c:pt>
                <c:pt idx="1">
                  <c:v>4</c:v>
                </c:pt>
                <c:pt idx="2">
                  <c:v>3</c:v>
                </c:pt>
              </c:numCache>
            </c:numRef>
          </c:val>
        </c:ser>
        <c:dLbls>
          <c:showLegendKey val="0"/>
          <c:showVal val="1"/>
          <c:showCatName val="0"/>
          <c:showSerName val="0"/>
          <c:showPercent val="0"/>
          <c:showBubbleSize val="0"/>
          <c:showLeaderLines val="1"/>
        </c:dLbls>
        <c:firstSliceAng val="0"/>
        <c:holeSize val="50"/>
      </c:doughnutChart>
    </c:plotArea>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a:pPr>
            <a:r>
              <a:rPr lang="en-US" sz="1200" dirty="0"/>
              <a:t>Retail</a:t>
            </a:r>
          </a:p>
        </c:rich>
      </c:tx>
      <c:layout>
        <c:manualLayout>
          <c:xMode val="edge"/>
          <c:yMode val="edge"/>
          <c:x val="0.24431844822673549"/>
          <c:y val="0.14299457994579945"/>
        </c:manualLayout>
      </c:layout>
      <c:overlay val="0"/>
    </c:title>
    <c:autoTitleDeleted val="0"/>
    <c:plotArea>
      <c:layout/>
      <c:doughnutChart>
        <c:varyColors val="1"/>
        <c:ser>
          <c:idx val="0"/>
          <c:order val="0"/>
          <c:tx>
            <c:strRef>
              <c:f>'Q33,34,35,39,48,41,45'!$C$54</c:f>
              <c:strCache>
                <c:ptCount val="1"/>
                <c:pt idx="0">
                  <c:v>Retail</c:v>
                </c:pt>
              </c:strCache>
            </c:strRef>
          </c:tx>
          <c:spPr>
            <a:solidFill>
              <a:schemeClr val="bg2"/>
            </a:solidFill>
          </c:spPr>
          <c:dPt>
            <c:idx val="0"/>
            <c:bubble3D val="0"/>
            <c:spPr>
              <a:solidFill>
                <a:schemeClr val="accent2"/>
              </a:solidFill>
            </c:spPr>
          </c:dPt>
          <c:dPt>
            <c:idx val="1"/>
            <c:bubble3D val="0"/>
            <c:spPr>
              <a:solidFill>
                <a:schemeClr val="accent1"/>
              </a:solidFill>
            </c:spPr>
          </c:dPt>
          <c:dLbls>
            <c:dLbl>
              <c:idx val="2"/>
              <c:layout/>
              <c:tx>
                <c:rich>
                  <a:bodyPr/>
                  <a:lstStyle/>
                  <a:p>
                    <a:r>
                      <a:rPr lang="en-US" dirty="0">
                        <a:solidFill>
                          <a:schemeClr val="bg1"/>
                        </a:solidFill>
                      </a:rPr>
                      <a:t>2</a:t>
                    </a:r>
                  </a:p>
                </c:rich>
              </c:tx>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wrap="square" lIns="38100" tIns="19050" rIns="38100" bIns="19050" anchor="ctr">
                <a:spAutoFit/>
              </a:bodyPr>
              <a:lstStyle/>
              <a:p>
                <a:pPr>
                  <a:defRPr lang="en-IN" b="1">
                    <a:solidFill>
                      <a:schemeClr val="bg1"/>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'Q33,34,35,39,48,41,45'!$B$55:$B$57</c:f>
              <c:strCache>
                <c:ptCount val="3"/>
                <c:pt idx="0">
                  <c:v>Yes</c:v>
                </c:pt>
                <c:pt idx="1">
                  <c:v>No</c:v>
                </c:pt>
                <c:pt idx="2">
                  <c:v>Undecided</c:v>
                </c:pt>
              </c:strCache>
            </c:strRef>
          </c:cat>
          <c:val>
            <c:numRef>
              <c:f>'Q33,34,35,39,48,41,45'!$C$55:$C$57</c:f>
              <c:numCache>
                <c:formatCode>General</c:formatCode>
                <c:ptCount val="3"/>
                <c:pt idx="0">
                  <c:v>13</c:v>
                </c:pt>
                <c:pt idx="1">
                  <c:v>4</c:v>
                </c:pt>
                <c:pt idx="2">
                  <c:v>3</c:v>
                </c:pt>
              </c:numCache>
            </c:numRef>
          </c:val>
        </c:ser>
        <c:dLbls>
          <c:showLegendKey val="0"/>
          <c:showVal val="1"/>
          <c:showCatName val="0"/>
          <c:showSerName val="0"/>
          <c:showPercent val="0"/>
          <c:showBubbleSize val="0"/>
          <c:showLeaderLines val="1"/>
        </c:dLbls>
        <c:firstSliceAng val="0"/>
        <c:holeSize val="50"/>
      </c:doughnutChart>
    </c:plotArea>
    <c:legend>
      <c:legendPos val="r"/>
      <c:layout>
        <c:manualLayout>
          <c:xMode val="edge"/>
          <c:yMode val="edge"/>
          <c:x val="0.61022871084192787"/>
          <c:y val="0.31933062330623307"/>
          <c:w val="0.38977128915807213"/>
          <c:h val="0.56272357723577238"/>
        </c:manualLayout>
      </c:layout>
      <c:overlay val="0"/>
    </c:legend>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200" dirty="0"/>
              <a:t>Retail</a:t>
            </a:r>
          </a:p>
        </c:rich>
      </c:tx>
      <c:layout>
        <c:manualLayout>
          <c:xMode val="edge"/>
          <c:yMode val="edge"/>
          <c:x val="0.17943068092098247"/>
          <c:y val="0.16049818830222765"/>
        </c:manualLayout>
      </c:layout>
      <c:overlay val="0"/>
    </c:title>
    <c:autoTitleDeleted val="0"/>
    <c:plotArea>
      <c:layout/>
      <c:doughnutChart>
        <c:varyColors val="1"/>
        <c:ser>
          <c:idx val="0"/>
          <c:order val="0"/>
          <c:tx>
            <c:strRef>
              <c:f>'Q33,34,35,39,48,41,45'!$C$76</c:f>
              <c:strCache>
                <c:ptCount val="1"/>
                <c:pt idx="0">
                  <c:v>Retail</c:v>
                </c:pt>
              </c:strCache>
            </c:strRef>
          </c:tx>
          <c:spPr>
            <a:ln>
              <a:noFill/>
            </a:ln>
          </c:spPr>
          <c:dPt>
            <c:idx val="0"/>
            <c:bubble3D val="0"/>
            <c:spPr>
              <a:solidFill>
                <a:schemeClr val="accent2"/>
              </a:solidFill>
              <a:ln>
                <a:noFill/>
              </a:ln>
            </c:spPr>
          </c:dPt>
          <c:dPt>
            <c:idx val="1"/>
            <c:bubble3D val="0"/>
            <c:spPr>
              <a:solidFill>
                <a:schemeClr val="accent4"/>
              </a:solidFill>
              <a:ln>
                <a:noFill/>
              </a:ln>
            </c:spPr>
          </c:dPt>
          <c:dPt>
            <c:idx val="2"/>
            <c:bubble3D val="0"/>
            <c:spPr>
              <a:solidFill>
                <a:schemeClr val="bg2"/>
              </a:solidFill>
              <a:ln>
                <a:noFill/>
              </a:ln>
            </c:spPr>
          </c:dPt>
          <c:dLbls>
            <c:dLbl>
              <c:idx val="2"/>
              <c:spPr/>
              <c:txPr>
                <a:bodyPr/>
                <a:lstStyle/>
                <a:p>
                  <a:pPr>
                    <a:defRPr b="1">
                      <a:solidFill>
                        <a:schemeClr val="bg1"/>
                      </a:solidFill>
                    </a:defRPr>
                  </a:pPr>
                  <a:endParaRPr lang="en-US"/>
                </a:p>
              </c:txP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b="1">
                    <a:solidFill>
                      <a:schemeClr val="bg1"/>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'Q33,34,35,39,48,41,45'!$B$77:$B$79</c:f>
              <c:strCache>
                <c:ptCount val="3"/>
                <c:pt idx="0">
                  <c:v>Yes</c:v>
                </c:pt>
                <c:pt idx="1">
                  <c:v>No</c:v>
                </c:pt>
                <c:pt idx="2">
                  <c:v>Not known</c:v>
                </c:pt>
              </c:strCache>
            </c:strRef>
          </c:cat>
          <c:val>
            <c:numRef>
              <c:f>'Q33,34,35,39,48,41,45'!$C$77:$C$79</c:f>
              <c:numCache>
                <c:formatCode>General</c:formatCode>
                <c:ptCount val="3"/>
                <c:pt idx="0">
                  <c:v>3</c:v>
                </c:pt>
                <c:pt idx="1">
                  <c:v>13</c:v>
                </c:pt>
                <c:pt idx="2">
                  <c:v>4</c:v>
                </c:pt>
              </c:numCache>
            </c:numRef>
          </c:val>
        </c:ser>
        <c:dLbls>
          <c:showLegendKey val="0"/>
          <c:showVal val="1"/>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50"/>
      </c:doughnutChart>
    </c:plotArea>
    <c:legend>
      <c:legendPos val="r"/>
      <c:layout/>
      <c:overlay val="0"/>
    </c:legend>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5008839822660317"/>
          <c:y val="6.0036597828712193E-2"/>
          <c:w val="0.44685077202352513"/>
          <c:h val="0.74959280832897135"/>
        </c:manualLayout>
      </c:layout>
      <c:barChart>
        <c:barDir val="bar"/>
        <c:grouping val="clustered"/>
        <c:varyColors val="0"/>
        <c:ser>
          <c:idx val="0"/>
          <c:order val="0"/>
          <c:tx>
            <c:strRef>
              <c:f>'Q51,55, 57'!$C$36</c:f>
              <c:strCache>
                <c:ptCount val="1"/>
                <c:pt idx="0">
                  <c:v>Corporate</c:v>
                </c:pt>
              </c:strCache>
            </c:strRef>
          </c:tx>
          <c:spPr>
            <a:solidFill>
              <a:schemeClr val="bg2"/>
            </a:solidFill>
          </c:spPr>
          <c:invertIfNegative val="0"/>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3"/>
              <c:delete val="1"/>
              <c:extLst>
                <c:ext xmlns:c15="http://schemas.microsoft.com/office/drawing/2012/chart" uri="{CE6537A1-D6FC-4f65-9D91-7224C49458BB}"/>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'Q51,55, 57'!$B$37:$B$42</c:f>
              <c:strCache>
                <c:ptCount val="6"/>
                <c:pt idx="0">
                  <c:v>Recalibrate models on a shorter recent period</c:v>
                </c:pt>
                <c:pt idx="1">
                  <c:v>Recalibrate models to include macro factors</c:v>
                </c:pt>
                <c:pt idx="2">
                  <c:v>Use stress testing process</c:v>
                </c:pt>
                <c:pt idx="3">
                  <c:v>Expert judgment</c:v>
                </c:pt>
                <c:pt idx="4">
                  <c:v>Other</c:v>
                </c:pt>
                <c:pt idx="5">
                  <c:v>Undecided</c:v>
                </c:pt>
              </c:strCache>
            </c:strRef>
          </c:cat>
          <c:val>
            <c:numRef>
              <c:f>'Q51,55, 57'!$C$37:$C$42</c:f>
              <c:numCache>
                <c:formatCode>General</c:formatCode>
                <c:ptCount val="6"/>
                <c:pt idx="0">
                  <c:v>1</c:v>
                </c:pt>
                <c:pt idx="1">
                  <c:v>2</c:v>
                </c:pt>
                <c:pt idx="2">
                  <c:v>2</c:v>
                </c:pt>
                <c:pt idx="3">
                  <c:v>4</c:v>
                </c:pt>
                <c:pt idx="4">
                  <c:v>3</c:v>
                </c:pt>
                <c:pt idx="5">
                  <c:v>11</c:v>
                </c:pt>
              </c:numCache>
            </c:numRef>
          </c:val>
        </c:ser>
        <c:ser>
          <c:idx val="1"/>
          <c:order val="1"/>
          <c:tx>
            <c:strRef>
              <c:f>'Q51,55, 57'!$D$36</c:f>
              <c:strCache>
                <c:ptCount val="1"/>
                <c:pt idx="0">
                  <c:v>Retail</c:v>
                </c:pt>
              </c:strCache>
            </c:strRef>
          </c:tx>
          <c:invertIfNegative val="0"/>
          <c:dLbls>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spPr>
              <a:noFill/>
              <a:ln>
                <a:noFill/>
              </a:ln>
              <a:effectLst/>
            </c:spPr>
            <c:txPr>
              <a:bodyPr wrap="square" lIns="38100" tIns="19050" rIns="38100" bIns="19050" anchor="ctr">
                <a:spAutoFit/>
              </a:bodyPr>
              <a:lstStyle/>
              <a:p>
                <a:pPr>
                  <a:defRPr>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'Q51,55, 57'!$B$37:$B$42</c:f>
              <c:strCache>
                <c:ptCount val="6"/>
                <c:pt idx="0">
                  <c:v>Recalibrate models on a shorter recent period</c:v>
                </c:pt>
                <c:pt idx="1">
                  <c:v>Recalibrate models to include macro factors</c:v>
                </c:pt>
                <c:pt idx="2">
                  <c:v>Use stress testing process</c:v>
                </c:pt>
                <c:pt idx="3">
                  <c:v>Expert judgment</c:v>
                </c:pt>
                <c:pt idx="4">
                  <c:v>Other</c:v>
                </c:pt>
                <c:pt idx="5">
                  <c:v>Undecided</c:v>
                </c:pt>
              </c:strCache>
            </c:strRef>
          </c:cat>
          <c:val>
            <c:numRef>
              <c:f>'Q51,55, 57'!$D$37:$D$42</c:f>
              <c:numCache>
                <c:formatCode>General</c:formatCode>
                <c:ptCount val="6"/>
                <c:pt idx="0">
                  <c:v>2</c:v>
                </c:pt>
                <c:pt idx="1">
                  <c:v>2</c:v>
                </c:pt>
                <c:pt idx="2">
                  <c:v>4</c:v>
                </c:pt>
                <c:pt idx="3">
                  <c:v>4</c:v>
                </c:pt>
                <c:pt idx="4">
                  <c:v>2</c:v>
                </c:pt>
                <c:pt idx="5">
                  <c:v>11</c:v>
                </c:pt>
              </c:numCache>
            </c:numRef>
          </c:val>
        </c:ser>
        <c:ser>
          <c:idx val="2"/>
          <c:order val="2"/>
          <c:tx>
            <c:strRef>
              <c:f>'Q51,55, 57'!$E$36</c:f>
              <c:strCache>
                <c:ptCount val="1"/>
                <c:pt idx="0">
                  <c:v>SME</c:v>
                </c:pt>
              </c:strCache>
            </c:strRef>
          </c:tx>
          <c:spPr>
            <a:solidFill>
              <a:schemeClr val="accent1"/>
            </a:solidFill>
          </c:spPr>
          <c:invertIfNegative val="0"/>
          <c:dLbls>
            <c:dLbl>
              <c:idx val="0"/>
              <c:delete val="1"/>
              <c:extLst>
                <c:ext xmlns:c15="http://schemas.microsoft.com/office/drawing/2012/chart" uri="{CE6537A1-D6FC-4f65-9D91-7224C49458BB}"/>
              </c:extLst>
            </c:dLbl>
            <c:dLbl>
              <c:idx val="3"/>
              <c:delete val="1"/>
              <c:extLst>
                <c:ext xmlns:c15="http://schemas.microsoft.com/office/drawing/2012/chart" uri="{CE6537A1-D6FC-4f65-9D91-7224C49458BB}"/>
              </c:extLst>
            </c:dLbl>
            <c:spPr>
              <a:noFill/>
              <a:ln>
                <a:noFill/>
              </a:ln>
              <a:effectLst/>
            </c:spPr>
            <c:txPr>
              <a:bodyPr wrap="square" lIns="38100" tIns="19050" rIns="38100" bIns="19050" anchor="ctr">
                <a:spAutoFit/>
              </a:bodyPr>
              <a:lstStyle/>
              <a:p>
                <a:pPr>
                  <a:defRPr>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'Q51,55, 57'!$B$37:$B$42</c:f>
              <c:strCache>
                <c:ptCount val="6"/>
                <c:pt idx="0">
                  <c:v>Recalibrate models on a shorter recent period</c:v>
                </c:pt>
                <c:pt idx="1">
                  <c:v>Recalibrate models to include macro factors</c:v>
                </c:pt>
                <c:pt idx="2">
                  <c:v>Use stress testing process</c:v>
                </c:pt>
                <c:pt idx="3">
                  <c:v>Expert judgment</c:v>
                </c:pt>
                <c:pt idx="4">
                  <c:v>Other</c:v>
                </c:pt>
                <c:pt idx="5">
                  <c:v>Undecided</c:v>
                </c:pt>
              </c:strCache>
            </c:strRef>
          </c:cat>
          <c:val>
            <c:numRef>
              <c:f>'Q51,55, 57'!$E$37:$E$42</c:f>
              <c:numCache>
                <c:formatCode>General</c:formatCode>
                <c:ptCount val="6"/>
                <c:pt idx="0">
                  <c:v>1</c:v>
                </c:pt>
                <c:pt idx="1">
                  <c:v>1</c:v>
                </c:pt>
                <c:pt idx="2">
                  <c:v>2</c:v>
                </c:pt>
                <c:pt idx="3">
                  <c:v>4</c:v>
                </c:pt>
                <c:pt idx="4">
                  <c:v>2</c:v>
                </c:pt>
                <c:pt idx="5">
                  <c:v>13</c:v>
                </c:pt>
              </c:numCache>
            </c:numRef>
          </c:val>
        </c:ser>
        <c:dLbls>
          <c:dLblPos val="outEnd"/>
          <c:showLegendKey val="0"/>
          <c:showVal val="1"/>
          <c:showCatName val="0"/>
          <c:showSerName val="0"/>
          <c:showPercent val="0"/>
          <c:showBubbleSize val="0"/>
        </c:dLbls>
        <c:gapWidth val="150"/>
        <c:axId val="190980416"/>
        <c:axId val="190980808"/>
      </c:barChart>
      <c:catAx>
        <c:axId val="190980416"/>
        <c:scaling>
          <c:orientation val="maxMin"/>
        </c:scaling>
        <c:delete val="0"/>
        <c:axPos val="l"/>
        <c:numFmt formatCode="General" sourceLinked="1"/>
        <c:majorTickMark val="out"/>
        <c:minorTickMark val="none"/>
        <c:tickLblPos val="nextTo"/>
        <c:txPr>
          <a:bodyPr/>
          <a:lstStyle/>
          <a:p>
            <a:pPr>
              <a:defRPr sz="900">
                <a:latin typeface="Times New Roman" panose="02020603050405020304" pitchFamily="18" charset="0"/>
                <a:cs typeface="Times New Roman" panose="02020603050405020304" pitchFamily="18" charset="0"/>
              </a:defRPr>
            </a:pPr>
            <a:endParaRPr lang="en-US"/>
          </a:p>
        </c:txPr>
        <c:crossAx val="190980808"/>
        <c:crosses val="autoZero"/>
        <c:auto val="1"/>
        <c:lblAlgn val="ctr"/>
        <c:lblOffset val="100"/>
        <c:noMultiLvlLbl val="0"/>
      </c:catAx>
      <c:valAx>
        <c:axId val="190980808"/>
        <c:scaling>
          <c:orientation val="minMax"/>
        </c:scaling>
        <c:delete val="1"/>
        <c:axPos val="t"/>
        <c:numFmt formatCode="General" sourceLinked="1"/>
        <c:majorTickMark val="out"/>
        <c:minorTickMark val="none"/>
        <c:tickLblPos val="nextTo"/>
        <c:crossAx val="190980416"/>
        <c:crosses val="autoZero"/>
        <c:crossBetween val="between"/>
      </c:valAx>
    </c:plotArea>
    <c:legend>
      <c:legendPos val="b"/>
      <c:layout/>
      <c:overlay val="0"/>
      <c:txPr>
        <a:bodyPr/>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txPr>
    <a:bodyPr/>
    <a:lstStyle/>
    <a:p>
      <a:pPr>
        <a:defRPr sz="9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4238113113113113"/>
          <c:y val="0.16331699346405229"/>
        </c:manualLayout>
      </c:layout>
      <c:overlay val="0"/>
      <c:txPr>
        <a:bodyPr/>
        <a:lstStyle/>
        <a:p>
          <a:pPr>
            <a:defRPr sz="1050">
              <a:latin typeface="Times New Roman" panose="02020603050405020304" pitchFamily="18" charset="0"/>
              <a:cs typeface="Times New Roman" panose="02020603050405020304" pitchFamily="18" charset="0"/>
            </a:defRPr>
          </a:pPr>
          <a:endParaRPr lang="en-US"/>
        </a:p>
      </c:txPr>
    </c:title>
    <c:autoTitleDeleted val="0"/>
    <c:plotArea>
      <c:layout/>
      <c:doughnutChart>
        <c:varyColors val="1"/>
        <c:ser>
          <c:idx val="0"/>
          <c:order val="0"/>
          <c:tx>
            <c:strRef>
              <c:f>'Q51,55, 57'!$D$10</c:f>
              <c:strCache>
                <c:ptCount val="1"/>
                <c:pt idx="0">
                  <c:v>Corporate</c:v>
                </c:pt>
              </c:strCache>
            </c:strRef>
          </c:tx>
          <c:dPt>
            <c:idx val="0"/>
            <c:bubble3D val="0"/>
            <c:spPr>
              <a:solidFill>
                <a:schemeClr val="accent2"/>
              </a:solidFill>
            </c:spPr>
          </c:dPt>
          <c:dPt>
            <c:idx val="1"/>
            <c:bubble3D val="0"/>
            <c:spPr>
              <a:solidFill>
                <a:schemeClr val="accent1"/>
              </a:solidFill>
            </c:spPr>
          </c:dPt>
          <c:dPt>
            <c:idx val="2"/>
            <c:bubble3D val="0"/>
            <c:spPr>
              <a:solidFill>
                <a:schemeClr val="bg2"/>
              </a:solidFill>
            </c:spPr>
          </c:dPt>
          <c:dLbls>
            <c:dLbl>
              <c:idx val="2"/>
              <c:spPr/>
              <c:txPr>
                <a:bodyPr/>
                <a:lstStyle/>
                <a:p>
                  <a:pPr>
                    <a:defRPr>
                      <a:solidFill>
                        <a:schemeClr val="bg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a:solidFill>
                      <a:schemeClr val="bg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'Q51,55, 57'!$C$11:$C$13</c:f>
              <c:strCache>
                <c:ptCount val="3"/>
                <c:pt idx="0">
                  <c:v>Yes</c:v>
                </c:pt>
                <c:pt idx="1">
                  <c:v>No</c:v>
                </c:pt>
                <c:pt idx="2">
                  <c:v>Undecided</c:v>
                </c:pt>
              </c:strCache>
            </c:strRef>
          </c:cat>
          <c:val>
            <c:numRef>
              <c:f>'Q51,55, 57'!$D$11:$D$13</c:f>
              <c:numCache>
                <c:formatCode>General</c:formatCode>
                <c:ptCount val="3"/>
                <c:pt idx="0">
                  <c:v>13</c:v>
                </c:pt>
                <c:pt idx="1">
                  <c:v>3</c:v>
                </c:pt>
                <c:pt idx="2">
                  <c:v>4</c:v>
                </c:pt>
              </c:numCache>
            </c:numRef>
          </c:val>
        </c:ser>
        <c:dLbls>
          <c:showLegendKey val="0"/>
          <c:showVal val="1"/>
          <c:showCatName val="0"/>
          <c:showSerName val="0"/>
          <c:showPercent val="0"/>
          <c:showBubbleSize val="0"/>
          <c:showLeaderLines val="1"/>
        </c:dLbls>
        <c:firstSliceAng val="0"/>
        <c:holeSize val="50"/>
      </c:doughnutChart>
    </c:plotArea>
    <c:plotVisOnly val="1"/>
    <c:dispBlanksAs val="gap"/>
    <c:showDLblsOverMax val="0"/>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650112412125248"/>
          <c:y val="0.15784261266482549"/>
        </c:manualLayout>
      </c:layout>
      <c:overlay val="0"/>
      <c:txPr>
        <a:bodyPr/>
        <a:lstStyle/>
        <a:p>
          <a:pPr>
            <a:defRPr sz="1050">
              <a:latin typeface="Times New Roman" panose="02020603050405020304" pitchFamily="18" charset="0"/>
              <a:cs typeface="Times New Roman" panose="02020603050405020304" pitchFamily="18" charset="0"/>
            </a:defRPr>
          </a:pPr>
          <a:endParaRPr lang="en-US"/>
        </a:p>
      </c:txPr>
    </c:title>
    <c:autoTitleDeleted val="0"/>
    <c:plotArea>
      <c:layout/>
      <c:doughnutChart>
        <c:varyColors val="1"/>
        <c:ser>
          <c:idx val="0"/>
          <c:order val="0"/>
          <c:tx>
            <c:strRef>
              <c:f>'Q51,55, 57'!$D$15</c:f>
              <c:strCache>
                <c:ptCount val="1"/>
                <c:pt idx="0">
                  <c:v>Retail</c:v>
                </c:pt>
              </c:strCache>
            </c:strRef>
          </c:tx>
          <c:dPt>
            <c:idx val="0"/>
            <c:bubble3D val="0"/>
            <c:spPr>
              <a:solidFill>
                <a:schemeClr val="accent2"/>
              </a:solidFill>
            </c:spPr>
          </c:dPt>
          <c:dPt>
            <c:idx val="1"/>
            <c:bubble3D val="0"/>
            <c:spPr>
              <a:solidFill>
                <a:schemeClr val="accent1"/>
              </a:solidFill>
            </c:spPr>
          </c:dPt>
          <c:dPt>
            <c:idx val="2"/>
            <c:bubble3D val="0"/>
            <c:spPr>
              <a:solidFill>
                <a:schemeClr val="bg2"/>
              </a:solidFill>
            </c:spPr>
          </c:dPt>
          <c:dLbls>
            <c:dLbl>
              <c:idx val="2"/>
              <c:spPr/>
              <c:txPr>
                <a:bodyPr/>
                <a:lstStyle/>
                <a:p>
                  <a:pPr>
                    <a:defRPr>
                      <a:solidFill>
                        <a:schemeClr val="bg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a:solidFill>
                      <a:schemeClr val="bg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'Q51,55, 57'!$C$16:$C$18</c:f>
              <c:strCache>
                <c:ptCount val="3"/>
                <c:pt idx="0">
                  <c:v>Yes</c:v>
                </c:pt>
                <c:pt idx="1">
                  <c:v>No</c:v>
                </c:pt>
                <c:pt idx="2">
                  <c:v>Undecided</c:v>
                </c:pt>
              </c:strCache>
            </c:strRef>
          </c:cat>
          <c:val>
            <c:numRef>
              <c:f>'Q51,55, 57'!$D$16:$D$18</c:f>
              <c:numCache>
                <c:formatCode>General</c:formatCode>
                <c:ptCount val="3"/>
                <c:pt idx="0">
                  <c:v>12</c:v>
                </c:pt>
                <c:pt idx="1">
                  <c:v>4</c:v>
                </c:pt>
                <c:pt idx="2">
                  <c:v>4</c:v>
                </c:pt>
              </c:numCache>
            </c:numRef>
          </c:val>
        </c:ser>
        <c:dLbls>
          <c:showLegendKey val="0"/>
          <c:showVal val="1"/>
          <c:showCatName val="0"/>
          <c:showSerName val="0"/>
          <c:showPercent val="0"/>
          <c:showBubbleSize val="0"/>
          <c:showLeaderLines val="1"/>
        </c:dLbls>
        <c:firstSliceAng val="0"/>
        <c:holeSize val="50"/>
      </c:doughnutChart>
    </c:plotArea>
    <c:plotVisOnly val="1"/>
    <c:dispBlanksAs val="gap"/>
    <c:showDLblsOverMax val="0"/>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1868406337935987"/>
          <c:y val="0.16141568627450981"/>
        </c:manualLayout>
      </c:layout>
      <c:overlay val="0"/>
      <c:txPr>
        <a:bodyPr/>
        <a:lstStyle/>
        <a:p>
          <a:pPr>
            <a:defRPr sz="1050">
              <a:latin typeface="Times New Roman" panose="02020603050405020304" pitchFamily="18" charset="0"/>
              <a:cs typeface="Times New Roman" panose="02020603050405020304" pitchFamily="18" charset="0"/>
            </a:defRPr>
          </a:pPr>
          <a:endParaRPr lang="en-US"/>
        </a:p>
      </c:txPr>
    </c:title>
    <c:autoTitleDeleted val="0"/>
    <c:plotArea>
      <c:layout/>
      <c:doughnutChart>
        <c:varyColors val="1"/>
        <c:ser>
          <c:idx val="0"/>
          <c:order val="0"/>
          <c:tx>
            <c:strRef>
              <c:f>'Q51,55, 57'!$D$20</c:f>
              <c:strCache>
                <c:ptCount val="1"/>
                <c:pt idx="0">
                  <c:v>SME</c:v>
                </c:pt>
              </c:strCache>
            </c:strRef>
          </c:tx>
          <c:dPt>
            <c:idx val="0"/>
            <c:bubble3D val="0"/>
            <c:spPr>
              <a:solidFill>
                <a:schemeClr val="accent2"/>
              </a:solidFill>
            </c:spPr>
          </c:dPt>
          <c:dPt>
            <c:idx val="1"/>
            <c:bubble3D val="0"/>
            <c:spPr>
              <a:solidFill>
                <a:schemeClr val="accent1"/>
              </a:solidFill>
            </c:spPr>
          </c:dPt>
          <c:dPt>
            <c:idx val="2"/>
            <c:bubble3D val="0"/>
            <c:spPr>
              <a:solidFill>
                <a:schemeClr val="bg2"/>
              </a:solidFill>
            </c:spPr>
          </c:dPt>
          <c:dLbls>
            <c:dLbl>
              <c:idx val="2"/>
              <c:spPr/>
              <c:txPr>
                <a:bodyPr/>
                <a:lstStyle/>
                <a:p>
                  <a:pPr>
                    <a:defRPr>
                      <a:solidFill>
                        <a:schemeClr val="bg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a:solidFill>
                      <a:schemeClr val="bg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'Q51,55, 57'!$C$21:$C$23</c:f>
              <c:strCache>
                <c:ptCount val="3"/>
                <c:pt idx="0">
                  <c:v>Yes</c:v>
                </c:pt>
                <c:pt idx="1">
                  <c:v>No</c:v>
                </c:pt>
                <c:pt idx="2">
                  <c:v>Undecided</c:v>
                </c:pt>
              </c:strCache>
            </c:strRef>
          </c:cat>
          <c:val>
            <c:numRef>
              <c:f>'Q51,55, 57'!$D$21:$D$23</c:f>
              <c:numCache>
                <c:formatCode>General</c:formatCode>
                <c:ptCount val="3"/>
                <c:pt idx="0">
                  <c:v>12</c:v>
                </c:pt>
                <c:pt idx="1">
                  <c:v>2</c:v>
                </c:pt>
                <c:pt idx="2">
                  <c:v>6</c:v>
                </c:pt>
              </c:numCache>
            </c:numRef>
          </c:val>
        </c:ser>
        <c:dLbls>
          <c:showLegendKey val="0"/>
          <c:showVal val="1"/>
          <c:showCatName val="0"/>
          <c:showSerName val="0"/>
          <c:showPercent val="0"/>
          <c:showBubbleSize val="0"/>
          <c:showLeaderLines val="1"/>
        </c:dLbls>
        <c:firstSliceAng val="0"/>
        <c:holeSize val="50"/>
      </c:doughnutChart>
    </c:plotArea>
    <c:legend>
      <c:legendPos val="r"/>
      <c:layout/>
      <c:overlay val="1"/>
      <c:txPr>
        <a:bodyPr/>
        <a:lstStyle/>
        <a:p>
          <a:pPr>
            <a:defRPr sz="800">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300" b="0"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en-US" sz="1300" b="0">
                <a:latin typeface="Times New Roman" panose="02020603050405020304" pitchFamily="18" charset="0"/>
                <a:cs typeface="Times New Roman" panose="02020603050405020304" pitchFamily="18" charset="0"/>
              </a:rPr>
              <a:t>PiT LGD Term Structure Proportional to PiT PD Term Structure</a:t>
            </a:r>
          </a:p>
        </c:rich>
      </c:tx>
      <c:layout/>
      <c:overlay val="0"/>
      <c:spPr>
        <a:noFill/>
        <a:ln>
          <a:noFill/>
        </a:ln>
        <a:effectLst/>
      </c:spPr>
      <c:txPr>
        <a:bodyPr rot="0" spcFirstLastPara="1" vertOverflow="ellipsis" vert="horz" wrap="square" anchor="ctr" anchorCtr="1"/>
        <a:lstStyle/>
        <a:p>
          <a:pPr algn="ctr">
            <a:defRPr sz="13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7.982155977798211E-2"/>
          <c:y val="0.22800962067396688"/>
          <c:w val="0.89868457032690263"/>
          <c:h val="0.58867769531003666"/>
        </c:manualLayout>
      </c:layout>
      <c:lineChart>
        <c:grouping val="stacked"/>
        <c:varyColors val="0"/>
        <c:ser>
          <c:idx val="0"/>
          <c:order val="0"/>
          <c:tx>
            <c:strRef>
              <c:f>Sheet1!$B$1</c:f>
              <c:strCache>
                <c:ptCount val="1"/>
                <c:pt idx="0">
                  <c:v>PiT LGD</c:v>
                </c:pt>
              </c:strCache>
            </c:strRef>
          </c:tx>
          <c:spPr>
            <a:ln w="34925" cap="rnd">
              <a:solidFill>
                <a:schemeClr val="accent1"/>
              </a:solidFill>
              <a:round/>
            </a:ln>
            <a:effectLst>
              <a:outerShdw blurRad="40000" dist="23000" dir="5400000" rotWithShape="0">
                <a:srgbClr val="000000">
                  <a:alpha val="35000"/>
                </a:srgbClr>
              </a:outerShdw>
            </a:effectLst>
          </c:spPr>
          <c:marker>
            <c:symbol val="circle"/>
            <c:size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s>
            <c:dLbl>
              <c:idx val="0"/>
              <c:layout>
                <c:manualLayout>
                  <c:x val="-0.14431598358148801"/>
                  <c:y val="-1.118683019404746E-2"/>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2017</c:v>
                </c:pt>
                <c:pt idx="1">
                  <c:v>2018</c:v>
                </c:pt>
              </c:numCache>
            </c:numRef>
          </c:cat>
          <c:val>
            <c:numRef>
              <c:f>Sheet1!$B$2:$B$3</c:f>
              <c:numCache>
                <c:formatCode>0.00%</c:formatCode>
                <c:ptCount val="2"/>
                <c:pt idx="0">
                  <c:v>4.1599999999999998E-2</c:v>
                </c:pt>
                <c:pt idx="1">
                  <c:v>4.2099999999999999E-2</c:v>
                </c:pt>
              </c:numCache>
            </c:numRef>
          </c:val>
          <c:smooth val="0"/>
        </c:ser>
        <c:ser>
          <c:idx val="1"/>
          <c:order val="1"/>
          <c:tx>
            <c:strRef>
              <c:f>Sheet1!$C$1</c:f>
              <c:strCache>
                <c:ptCount val="1"/>
                <c:pt idx="0">
                  <c:v>PiT PD</c:v>
                </c:pt>
              </c:strCache>
            </c:strRef>
          </c:tx>
          <c:spPr>
            <a:ln w="34925" cap="rnd">
              <a:solidFill>
                <a:schemeClr val="accent2"/>
              </a:solidFill>
              <a:round/>
            </a:ln>
            <a:effectLst>
              <a:outerShdw blurRad="40000" dist="23000" dir="5400000" rotWithShape="0">
                <a:srgbClr val="000000">
                  <a:alpha val="35000"/>
                </a:srgbClr>
              </a:outerShdw>
            </a:effectLst>
          </c:spPr>
          <c:marker>
            <c:symbol val="circle"/>
            <c:size val="6"/>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a:solidFill>
                  <a:schemeClr val="accent2"/>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dLbls>
            <c:dLbl>
              <c:idx val="0"/>
              <c:layout>
                <c:manualLayout>
                  <c:x val="-0.14124543073932869"/>
                  <c:y val="-1.118683019404746E-2"/>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2017</c:v>
                </c:pt>
                <c:pt idx="1">
                  <c:v>2018</c:v>
                </c:pt>
              </c:numCache>
            </c:numRef>
          </c:cat>
          <c:val>
            <c:numRef>
              <c:f>Sheet1!$C$2:$C$3</c:f>
              <c:numCache>
                <c:formatCode>0.00%</c:formatCode>
                <c:ptCount val="2"/>
                <c:pt idx="0">
                  <c:v>7.1999999999999998E-3</c:v>
                </c:pt>
                <c:pt idx="1">
                  <c:v>9.4800000000000006E-3</c:v>
                </c:pt>
              </c:numCache>
            </c:numRef>
          </c:val>
          <c:smooth val="0"/>
        </c:ser>
        <c:dLbls>
          <c:showLegendKey val="0"/>
          <c:showVal val="1"/>
          <c:showCatName val="0"/>
          <c:showSerName val="0"/>
          <c:showPercent val="0"/>
          <c:showBubbleSize val="0"/>
        </c:dLbls>
        <c:marker val="1"/>
        <c:smooth val="0"/>
        <c:axId val="276557520"/>
        <c:axId val="276557912"/>
      </c:lineChart>
      <c:catAx>
        <c:axId val="276557520"/>
        <c:scaling>
          <c:orientation val="minMax"/>
        </c:scaling>
        <c:delete val="0"/>
        <c:axPos val="b"/>
        <c:numFmt formatCode="@" sourceLinked="0"/>
        <c:majorTickMark val="none"/>
        <c:minorTickMark val="none"/>
        <c:tickLblPos val="nextTo"/>
        <c:spPr>
          <a:noFill/>
          <a:ln w="12700" cap="flat" cmpd="sng" algn="ctr">
            <a:solidFill>
              <a:schemeClr val="tx1">
                <a:lumMod val="15000"/>
                <a:lumOff val="85000"/>
              </a:schemeClr>
            </a:solidFill>
            <a:round/>
          </a:ln>
          <a:effectLst/>
        </c:spPr>
        <c:txPr>
          <a:bodyPr rot="0" spcFirstLastPara="1" vertOverflow="ellipsis" wrap="square" anchor="t" anchorCtr="0"/>
          <a:lstStyle/>
          <a:p>
            <a:pPr>
              <a:defRPr sz="1197"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crossAx val="276557912"/>
        <c:crosses val="autoZero"/>
        <c:auto val="1"/>
        <c:lblAlgn val="ctr"/>
        <c:lblOffset val="5"/>
        <c:noMultiLvlLbl val="0"/>
      </c:catAx>
      <c:valAx>
        <c:axId val="276557912"/>
        <c:scaling>
          <c:orientation val="minMax"/>
        </c:scaling>
        <c:delete val="0"/>
        <c:axPos val="l"/>
        <c:numFmt formatCode="0%" sourceLinked="0"/>
        <c:majorTickMark val="in"/>
        <c:minorTickMark val="none"/>
        <c:tickLblPos val="low"/>
        <c:spPr>
          <a:noFill/>
          <a:ln>
            <a:solidFill>
              <a:srgbClr val="C7C7C7"/>
            </a:solidFill>
          </a:ln>
          <a:effectLst/>
        </c:spPr>
        <c:txPr>
          <a:bodyPr rot="-60000" spcFirstLastPara="1" vertOverflow="ellipsis" wrap="square" anchor="ctr" anchorCtr="1"/>
          <a:lstStyle/>
          <a:p>
            <a:pPr algn="just">
              <a:defRPr sz="1197"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crossAx val="276557520"/>
        <c:crossesAt val="1"/>
        <c:crossBetween val="between"/>
      </c:valAx>
      <c:spPr>
        <a:solidFill>
          <a:schemeClr val="bg1">
            <a:lumMod val="95000"/>
          </a:schemeClr>
        </a:solidFill>
        <a:ln>
          <a:noFill/>
        </a:ln>
        <a:effectLst/>
      </c:spPr>
    </c:plotArea>
    <c:legend>
      <c:legendPos val="b"/>
      <c:layout>
        <c:manualLayout>
          <c:xMode val="edge"/>
          <c:yMode val="edge"/>
          <c:x val="0.31312216472524718"/>
          <c:y val="0.88142477492476545"/>
          <c:w val="0.46897834959042289"/>
          <c:h val="6.536119221096871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lt1"/>
    </a:solidFill>
    <a:ln w="0" cap="rnd" cmpd="sng" algn="ctr">
      <a:solidFill>
        <a:srgbClr val="C7C7C7"/>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dPt>
            <c:idx val="0"/>
            <c:bubble3D val="0"/>
            <c:spPr>
              <a:solidFill>
                <a:schemeClr val="accent6"/>
              </a:solidFill>
            </c:spPr>
          </c:dPt>
          <c:dPt>
            <c:idx val="1"/>
            <c:bubble3D val="0"/>
            <c:spPr>
              <a:solidFill>
                <a:srgbClr val="002060"/>
              </a:solidFill>
            </c:spPr>
          </c:dPt>
          <c:dPt>
            <c:idx val="2"/>
            <c:bubble3D val="0"/>
            <c:spPr>
              <a:solidFill>
                <a:srgbClr val="0070C0"/>
              </a:solidFill>
            </c:spPr>
          </c:dPt>
          <c:dPt>
            <c:idx val="3"/>
            <c:bubble3D val="0"/>
            <c:spPr>
              <a:solidFill>
                <a:schemeClr val="accent3">
                  <a:lumMod val="85000"/>
                </a:schemeClr>
              </a:solidFill>
            </c:spPr>
          </c:dPt>
          <c:dLbls>
            <c:dLbl>
              <c:idx val="1"/>
              <c:spPr>
                <a:noFill/>
                <a:ln>
                  <a:noFill/>
                </a:ln>
                <a:effectLst/>
              </c:spPr>
              <c:txPr>
                <a:bodyPr wrap="square" lIns="38100" tIns="19050" rIns="38100" bIns="19050" anchor="ctr">
                  <a:spAutoFit/>
                </a:bodyPr>
                <a:lstStyle/>
                <a:p>
                  <a:pPr>
                    <a:defRPr sz="1100" b="0">
                      <a:ln>
                        <a:solidFill>
                          <a:schemeClr val="bg1"/>
                        </a:solidFill>
                      </a:ln>
                      <a:solidFill>
                        <a:schemeClr val="bg1"/>
                      </a:solidFill>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dLbl>
            <c:dLbl>
              <c:idx val="3"/>
              <c:spPr/>
              <c:txPr>
                <a:bodyPr/>
                <a:lstStyle/>
                <a:p>
                  <a:pPr>
                    <a:defRPr sz="1100" b="0">
                      <a:solidFill>
                        <a:schemeClr val="bg1"/>
                      </a:solidFill>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dLbl>
            <c:spPr>
              <a:noFill/>
              <a:ln>
                <a:noFill/>
              </a:ln>
              <a:effectLst/>
            </c:spPr>
            <c:txPr>
              <a:bodyPr wrap="square" lIns="38100" tIns="19050" rIns="38100" bIns="19050" anchor="ctr">
                <a:spAutoFit/>
              </a:bodyPr>
              <a:lstStyle/>
              <a:p>
                <a:pPr>
                  <a:defRPr sz="1100" b="0">
                    <a:solidFill>
                      <a:schemeClr val="bg1"/>
                    </a:solidFill>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'Q61,63,65,67,69,71,72'!$E$38:$E$41</c:f>
              <c:strCache>
                <c:ptCount val="4"/>
                <c:pt idx="0">
                  <c:v>Use adjusted Basel advanced CCF assumptions</c:v>
                </c:pt>
                <c:pt idx="1">
                  <c:v>Use adjusted Basel standard CCF assumptions</c:v>
                </c:pt>
                <c:pt idx="2">
                  <c:v>Other</c:v>
                </c:pt>
                <c:pt idx="3">
                  <c:v>Undecided</c:v>
                </c:pt>
              </c:strCache>
            </c:strRef>
          </c:cat>
          <c:val>
            <c:numRef>
              <c:f>'Q61,63,65,67,69,71,72'!$F$38:$F$41</c:f>
              <c:numCache>
                <c:formatCode>General</c:formatCode>
                <c:ptCount val="4"/>
                <c:pt idx="0">
                  <c:v>10</c:v>
                </c:pt>
                <c:pt idx="1">
                  <c:v>2</c:v>
                </c:pt>
                <c:pt idx="2">
                  <c:v>3</c:v>
                </c:pt>
                <c:pt idx="3">
                  <c:v>5</c:v>
                </c:pt>
              </c:numCache>
            </c:numRef>
          </c:val>
        </c:ser>
        <c:dLbls>
          <c:dLblPos val="ctr"/>
          <c:showLegendKey val="0"/>
          <c:showVal val="1"/>
          <c:showCatName val="0"/>
          <c:showSerName val="0"/>
          <c:showPercent val="0"/>
          <c:showBubbleSize val="0"/>
          <c:showLeaderLines val="1"/>
        </c:dLbls>
        <c:firstSliceAng val="0"/>
      </c:pieChart>
    </c:plotArea>
    <c:legend>
      <c:legendPos val="r"/>
      <c:layout/>
      <c:overlay val="0"/>
      <c:txPr>
        <a:bodyPr/>
        <a:lstStyle/>
        <a:p>
          <a:pPr>
            <a:defRPr sz="1100"/>
          </a:pPr>
          <a:endParaRPr lang="en-US"/>
        </a:p>
      </c:txPr>
    </c:legend>
    <c:plotVisOnly val="1"/>
    <c:dispBlanksAs val="gap"/>
    <c:showDLblsOverMax val="0"/>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583545318149446"/>
          <c:y val="4.8487599912396061E-2"/>
          <c:w val="0.79790112237982214"/>
          <c:h val="0.5679314051442671"/>
        </c:manualLayout>
      </c:layout>
      <c:barChart>
        <c:barDir val="bar"/>
        <c:grouping val="clustered"/>
        <c:varyColors val="0"/>
        <c:ser>
          <c:idx val="0"/>
          <c:order val="0"/>
          <c:tx>
            <c:strRef>
              <c:f>'Q61,63,65,67,69,71,72'!$B$68</c:f>
              <c:strCache>
                <c:ptCount val="1"/>
                <c:pt idx="0">
                  <c:v>Use contractual maturity</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'Q61,63,65,67,69,71,72'!$C$67:$E$67</c:f>
              <c:strCache>
                <c:ptCount val="3"/>
                <c:pt idx="0">
                  <c:v>Retail</c:v>
                </c:pt>
                <c:pt idx="1">
                  <c:v>SME</c:v>
                </c:pt>
                <c:pt idx="2">
                  <c:v>Corporate</c:v>
                </c:pt>
              </c:strCache>
            </c:strRef>
          </c:cat>
          <c:val>
            <c:numRef>
              <c:f>'Q61,63,65,67,69,71,72'!$C$68:$E$68</c:f>
              <c:numCache>
                <c:formatCode>General</c:formatCode>
                <c:ptCount val="3"/>
                <c:pt idx="0">
                  <c:v>1</c:v>
                </c:pt>
                <c:pt idx="1">
                  <c:v>6</c:v>
                </c:pt>
                <c:pt idx="2">
                  <c:v>6</c:v>
                </c:pt>
              </c:numCache>
            </c:numRef>
          </c:val>
        </c:ser>
        <c:ser>
          <c:idx val="1"/>
          <c:order val="1"/>
          <c:tx>
            <c:strRef>
              <c:f>'Q61,63,65,67,69,71,72'!$B$69</c:f>
              <c:strCache>
                <c:ptCount val="1"/>
                <c:pt idx="0">
                  <c:v>Use behavioral maturity</c:v>
                </c:pt>
              </c:strCache>
            </c:strRef>
          </c:tx>
          <c:spPr>
            <a:solidFill>
              <a:schemeClr val="accent5">
                <a:lumMod val="90000"/>
              </a:schemeClr>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'Q61,63,65,67,69,71,72'!$C$67:$E$67</c:f>
              <c:strCache>
                <c:ptCount val="3"/>
                <c:pt idx="0">
                  <c:v>Retail</c:v>
                </c:pt>
                <c:pt idx="1">
                  <c:v>SME</c:v>
                </c:pt>
                <c:pt idx="2">
                  <c:v>Corporate</c:v>
                </c:pt>
              </c:strCache>
            </c:strRef>
          </c:cat>
          <c:val>
            <c:numRef>
              <c:f>'Q61,63,65,67,69,71,72'!$C$69:$E$69</c:f>
              <c:numCache>
                <c:formatCode>General</c:formatCode>
                <c:ptCount val="3"/>
                <c:pt idx="0">
                  <c:v>3</c:v>
                </c:pt>
                <c:pt idx="1">
                  <c:v>1</c:v>
                </c:pt>
                <c:pt idx="2">
                  <c:v>1</c:v>
                </c:pt>
              </c:numCache>
            </c:numRef>
          </c:val>
        </c:ser>
        <c:ser>
          <c:idx val="2"/>
          <c:order val="2"/>
          <c:tx>
            <c:strRef>
              <c:f>'Q61,63,65,67,69,71,72'!$B$70</c:f>
              <c:strCache>
                <c:ptCount val="1"/>
                <c:pt idx="0">
                  <c:v>Mix of contractual and behavioural maturity</c:v>
                </c:pt>
              </c:strCache>
            </c:strRef>
          </c:tx>
          <c:spPr>
            <a:solidFill>
              <a:schemeClr val="accent2"/>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'Q61,63,65,67,69,71,72'!$C$67:$E$67</c:f>
              <c:strCache>
                <c:ptCount val="3"/>
                <c:pt idx="0">
                  <c:v>Retail</c:v>
                </c:pt>
                <c:pt idx="1">
                  <c:v>SME</c:v>
                </c:pt>
                <c:pt idx="2">
                  <c:v>Corporate</c:v>
                </c:pt>
              </c:strCache>
            </c:strRef>
          </c:cat>
          <c:val>
            <c:numRef>
              <c:f>'Q61,63,65,67,69,71,72'!$C$70:$E$70</c:f>
              <c:numCache>
                <c:formatCode>General</c:formatCode>
                <c:ptCount val="3"/>
                <c:pt idx="0">
                  <c:v>14</c:v>
                </c:pt>
                <c:pt idx="1">
                  <c:v>10</c:v>
                </c:pt>
                <c:pt idx="2">
                  <c:v>12</c:v>
                </c:pt>
              </c:numCache>
            </c:numRef>
          </c:val>
        </c:ser>
        <c:ser>
          <c:idx val="3"/>
          <c:order val="3"/>
          <c:tx>
            <c:strRef>
              <c:f>'Q61,63,65,67,69,71,72'!$B$71</c:f>
              <c:strCache>
                <c:ptCount val="1"/>
                <c:pt idx="0">
                  <c:v>Undecided</c:v>
                </c:pt>
              </c:strCache>
            </c:strRef>
          </c:tx>
          <c:spPr>
            <a:solidFill>
              <a:schemeClr val="bg2"/>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'Q61,63,65,67,69,71,72'!$C$67:$E$67</c:f>
              <c:strCache>
                <c:ptCount val="3"/>
                <c:pt idx="0">
                  <c:v>Retail</c:v>
                </c:pt>
                <c:pt idx="1">
                  <c:v>SME</c:v>
                </c:pt>
                <c:pt idx="2">
                  <c:v>Corporate</c:v>
                </c:pt>
              </c:strCache>
            </c:strRef>
          </c:cat>
          <c:val>
            <c:numRef>
              <c:f>'Q61,63,65,67,69,71,72'!$C$71:$E$71</c:f>
              <c:numCache>
                <c:formatCode>General</c:formatCode>
                <c:ptCount val="3"/>
                <c:pt idx="0">
                  <c:v>2</c:v>
                </c:pt>
                <c:pt idx="1">
                  <c:v>1</c:v>
                </c:pt>
                <c:pt idx="2">
                  <c:v>1</c:v>
                </c:pt>
              </c:numCache>
            </c:numRef>
          </c:val>
        </c:ser>
        <c:dLbls>
          <c:dLblPos val="outEnd"/>
          <c:showLegendKey val="0"/>
          <c:showVal val="1"/>
          <c:showCatName val="0"/>
          <c:showSerName val="0"/>
          <c:showPercent val="0"/>
          <c:showBubbleSize val="0"/>
        </c:dLbls>
        <c:gapWidth val="75"/>
        <c:axId val="140845992"/>
        <c:axId val="190983552"/>
      </c:barChart>
      <c:catAx>
        <c:axId val="140845992"/>
        <c:scaling>
          <c:orientation val="minMax"/>
        </c:scaling>
        <c:delete val="0"/>
        <c:axPos val="l"/>
        <c:numFmt formatCode="General" sourceLinked="1"/>
        <c:majorTickMark val="out"/>
        <c:minorTickMark val="none"/>
        <c:tickLblPos val="nextTo"/>
        <c:crossAx val="190983552"/>
        <c:crosses val="autoZero"/>
        <c:auto val="1"/>
        <c:lblAlgn val="ctr"/>
        <c:lblOffset val="100"/>
        <c:noMultiLvlLbl val="0"/>
      </c:catAx>
      <c:valAx>
        <c:axId val="190983552"/>
        <c:scaling>
          <c:orientation val="minMax"/>
        </c:scaling>
        <c:delete val="1"/>
        <c:axPos val="b"/>
        <c:numFmt formatCode="General" sourceLinked="1"/>
        <c:majorTickMark val="none"/>
        <c:minorTickMark val="none"/>
        <c:tickLblPos val="nextTo"/>
        <c:crossAx val="140845992"/>
        <c:crosses val="autoZero"/>
        <c:crossBetween val="between"/>
      </c:valAx>
    </c:plotArea>
    <c:legend>
      <c:legendPos val="b"/>
      <c:layout>
        <c:manualLayout>
          <c:xMode val="edge"/>
          <c:yMode val="edge"/>
          <c:x val="5.819590501921356E-2"/>
          <c:y val="0.64695912233840813"/>
          <c:w val="0.79014245014245021"/>
          <c:h val="0.20926343553095003"/>
        </c:manualLayout>
      </c:layout>
      <c:overlay val="0"/>
    </c:legend>
    <c:plotVisOnly val="1"/>
    <c:dispBlanksAs val="gap"/>
    <c:showDLblsOverMax val="0"/>
  </c:chart>
  <c:txPr>
    <a:bodyPr/>
    <a:lstStyle/>
    <a:p>
      <a:pPr>
        <a:defRPr sz="11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bg2"/>
            </a:solidFill>
          </c:spPr>
          <c:dPt>
            <c:idx val="0"/>
            <c:bubble3D val="0"/>
            <c:spPr>
              <a:solidFill>
                <a:schemeClr val="accent2"/>
              </a:solidFill>
            </c:spPr>
          </c:dPt>
          <c:dLbls>
            <c:dLbl>
              <c:idx val="0"/>
              <c:spPr>
                <a:noFill/>
                <a:ln>
                  <a:noFill/>
                </a:ln>
                <a:effectLst/>
              </c:spPr>
              <c:txPr>
                <a:bodyPr wrap="square" lIns="38100" tIns="19050" rIns="38100" bIns="19050" anchor="ctr">
                  <a:spAutoFit/>
                </a:bodyPr>
                <a:lstStyle/>
                <a:p>
                  <a:pPr>
                    <a:defRPr>
                      <a:ln>
                        <a:solidFill>
                          <a:schemeClr val="bg1"/>
                        </a:solidFill>
                      </a:ln>
                    </a:defRPr>
                  </a:pPr>
                  <a:endParaRPr lang="en-US"/>
                </a:p>
              </c:txPr>
              <c:dLblPos val="ctr"/>
              <c:showLegendKey val="0"/>
              <c:showVal val="1"/>
              <c:showCatName val="0"/>
              <c:showSerName val="0"/>
              <c:showPercent val="0"/>
              <c:showBubbleSize val="0"/>
            </c:dLbl>
            <c:dLbl>
              <c:idx val="1"/>
              <c:spPr/>
              <c:txPr>
                <a:bodyPr/>
                <a:lstStyle/>
                <a:p>
                  <a:pPr>
                    <a:defRPr>
                      <a:solidFill>
                        <a:schemeClr val="tx2"/>
                      </a:solidFill>
                    </a:defRPr>
                  </a:pPr>
                  <a:endParaRPr lang="en-US"/>
                </a:p>
              </c:txPr>
              <c:dLblPos val="ctr"/>
              <c:showLegendKey val="0"/>
              <c:showVal val="1"/>
              <c:showCatName val="0"/>
              <c:showSerName val="0"/>
              <c:showPercent val="0"/>
              <c:showBubbleSize val="0"/>
            </c:dLbl>
            <c:spPr>
              <a:noFill/>
              <a:ln>
                <a:noFill/>
              </a:ln>
              <a:effectLst/>
            </c:spPr>
            <c:dLblPos val="ctr"/>
            <c:showLegendKey val="0"/>
            <c:showVal val="1"/>
            <c:showCatName val="0"/>
            <c:showSerName val="0"/>
            <c:showPercent val="0"/>
            <c:showBubbleSize val="0"/>
            <c:showLeaderLines val="1"/>
            <c:extLst>
              <c:ext xmlns:c15="http://schemas.microsoft.com/office/drawing/2012/chart" uri="{CE6537A1-D6FC-4f65-9D91-7224C49458BB}"/>
            </c:extLst>
          </c:dLbls>
          <c:cat>
            <c:strRef>
              <c:f>'Q61,63,65,67,69,71,72'!$C$97:$D$97</c:f>
              <c:strCache>
                <c:ptCount val="2"/>
                <c:pt idx="0">
                  <c:v>12 months</c:v>
                </c:pt>
                <c:pt idx="1">
                  <c:v>Undecided</c:v>
                </c:pt>
              </c:strCache>
            </c:strRef>
          </c:cat>
          <c:val>
            <c:numRef>
              <c:f>'Q61,63,65,67,69,71,72'!$C$98:$D$98</c:f>
              <c:numCache>
                <c:formatCode>General</c:formatCode>
                <c:ptCount val="2"/>
                <c:pt idx="0">
                  <c:v>9</c:v>
                </c:pt>
                <c:pt idx="1">
                  <c:v>11</c:v>
                </c:pt>
              </c:numCache>
            </c:numRef>
          </c:val>
        </c:ser>
        <c:dLbls>
          <c:dLblPos val="ctr"/>
          <c:showLegendKey val="0"/>
          <c:showVal val="1"/>
          <c:showCatName val="0"/>
          <c:showSerName val="0"/>
          <c:showPercent val="0"/>
          <c:showBubbleSize val="0"/>
          <c:showLeaderLines val="1"/>
        </c:dLbls>
        <c:firstSliceAng val="0"/>
      </c:pieChart>
    </c:plotArea>
    <c:legend>
      <c:legendPos val="r"/>
      <c:layout/>
      <c:overlay val="0"/>
      <c:txPr>
        <a:bodyPr/>
        <a:lstStyle/>
        <a:p>
          <a:pPr>
            <a:defRPr sz="1200"/>
          </a:pPr>
          <a:endParaRPr lang="en-US"/>
        </a:p>
      </c:txPr>
    </c:legend>
    <c:plotVisOnly val="1"/>
    <c:dispBlanksAs val="gap"/>
    <c:showDLblsOverMax val="0"/>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mn-lt"/>
                <a:ea typeface="+mn-ea"/>
                <a:cs typeface="+mn-cs"/>
              </a:defRPr>
            </a:pPr>
            <a:r>
              <a:rPr lang="en-GB" sz="1100" b="1" dirty="0">
                <a:latin typeface="Times New Roman" panose="02020603050405020304" pitchFamily="18" charset="0"/>
                <a:cs typeface="Times New Roman" panose="02020603050405020304" pitchFamily="18" charset="0"/>
              </a:rPr>
              <a:t>Number</a:t>
            </a:r>
            <a:r>
              <a:rPr lang="en-GB" sz="1100" b="1" baseline="0" dirty="0">
                <a:latin typeface="Times New Roman" panose="02020603050405020304" pitchFamily="18" charset="0"/>
                <a:cs typeface="Times New Roman" panose="02020603050405020304" pitchFamily="18" charset="0"/>
              </a:rPr>
              <a:t> of Discrete Forward Looking Scenarios</a:t>
            </a:r>
            <a:endParaRPr lang="en-GB" sz="1100" b="1" dirty="0">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341490383597736"/>
          <c:y val="0.35697963662801913"/>
          <c:w val="0.77617938387694074"/>
          <c:h val="0.36786727160587396"/>
        </c:manualLayout>
      </c:layout>
      <c:barChart>
        <c:barDir val="col"/>
        <c:grouping val="clustered"/>
        <c:varyColors val="0"/>
        <c:ser>
          <c:idx val="0"/>
          <c:order val="0"/>
          <c:spPr>
            <a:solidFill>
              <a:schemeClr val="accent1"/>
            </a:solidFill>
            <a:ln>
              <a:noFill/>
            </a:ln>
            <a:effectLst/>
          </c:spPr>
          <c:invertIfNegative val="0"/>
          <c:cat>
            <c:strRef>
              <c:f>Sheet1!$B$2:$B$9</c:f>
              <c:strCache>
                <c:ptCount val="8"/>
                <c:pt idx="0">
                  <c:v>1</c:v>
                </c:pt>
                <c:pt idx="1">
                  <c:v>2</c:v>
                </c:pt>
                <c:pt idx="2">
                  <c:v>3</c:v>
                </c:pt>
                <c:pt idx="3">
                  <c:v>4</c:v>
                </c:pt>
                <c:pt idx="4">
                  <c:v>5</c:v>
                </c:pt>
                <c:pt idx="5">
                  <c:v>&gt;5</c:v>
                </c:pt>
                <c:pt idx="6">
                  <c:v>Modelled</c:v>
                </c:pt>
                <c:pt idx="7">
                  <c:v>Undecided</c:v>
                </c:pt>
              </c:strCache>
            </c:strRef>
          </c:cat>
          <c:val>
            <c:numRef>
              <c:f>Sheet1!$C$2:$C$9</c:f>
              <c:numCache>
                <c:formatCode>General</c:formatCode>
                <c:ptCount val="8"/>
                <c:pt idx="0">
                  <c:v>7</c:v>
                </c:pt>
                <c:pt idx="1">
                  <c:v>1</c:v>
                </c:pt>
                <c:pt idx="2">
                  <c:v>12</c:v>
                </c:pt>
                <c:pt idx="3">
                  <c:v>1</c:v>
                </c:pt>
                <c:pt idx="4">
                  <c:v>1</c:v>
                </c:pt>
                <c:pt idx="5">
                  <c:v>0</c:v>
                </c:pt>
                <c:pt idx="6">
                  <c:v>3</c:v>
                </c:pt>
                <c:pt idx="7">
                  <c:v>11</c:v>
                </c:pt>
              </c:numCache>
            </c:numRef>
          </c:val>
        </c:ser>
        <c:dLbls>
          <c:showLegendKey val="0"/>
          <c:showVal val="0"/>
          <c:showCatName val="0"/>
          <c:showSerName val="0"/>
          <c:showPercent val="0"/>
          <c:showBubbleSize val="0"/>
        </c:dLbls>
        <c:gapWidth val="219"/>
        <c:overlap val="-27"/>
        <c:axId val="192054208"/>
        <c:axId val="192054600"/>
      </c:barChart>
      <c:catAx>
        <c:axId val="192054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054600"/>
        <c:crosses val="autoZero"/>
        <c:auto val="1"/>
        <c:lblAlgn val="ctr"/>
        <c:lblOffset val="100"/>
        <c:noMultiLvlLbl val="0"/>
      </c:catAx>
      <c:valAx>
        <c:axId val="192054600"/>
        <c:scaling>
          <c:orientation val="minMax"/>
          <c:max val="12"/>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0542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GB" sz="1130" b="1" dirty="0">
                <a:latin typeface="Times New Roman" panose="02020603050405020304" pitchFamily="18" charset="0"/>
                <a:cs typeface="Times New Roman" panose="02020603050405020304" pitchFamily="18" charset="0"/>
              </a:rPr>
              <a:t>Sources</a:t>
            </a:r>
            <a:r>
              <a:rPr lang="en-GB" sz="1130" b="1" baseline="0" dirty="0">
                <a:latin typeface="Times New Roman" panose="02020603050405020304" pitchFamily="18" charset="0"/>
                <a:cs typeface="Times New Roman" panose="02020603050405020304" pitchFamily="18" charset="0"/>
              </a:rPr>
              <a:t> of Forward Looking Scenarios</a:t>
            </a: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469090982276664"/>
          <c:y val="0.23639563517201634"/>
          <c:w val="0.79581663900620503"/>
          <c:h val="0.39573829419046169"/>
        </c:manualLayout>
      </c:layout>
      <c:barChart>
        <c:barDir val="col"/>
        <c:grouping val="clustered"/>
        <c:varyColors val="0"/>
        <c:ser>
          <c:idx val="0"/>
          <c:order val="0"/>
          <c:spPr>
            <a:solidFill>
              <a:schemeClr val="accent1"/>
            </a:solidFill>
            <a:ln>
              <a:noFill/>
            </a:ln>
            <a:effectLst/>
          </c:spPr>
          <c:invertIfNegative val="0"/>
          <c:cat>
            <c:strRef>
              <c:f>Sheet1!$E$2:$E$7</c:f>
              <c:strCache>
                <c:ptCount val="6"/>
                <c:pt idx="0">
                  <c:v>Central Internal</c:v>
                </c:pt>
                <c:pt idx="1">
                  <c:v>Local Internal</c:v>
                </c:pt>
                <c:pt idx="2">
                  <c:v>External-Not Regulators</c:v>
                </c:pt>
                <c:pt idx="3">
                  <c:v>Regulators</c:v>
                </c:pt>
                <c:pt idx="4">
                  <c:v>Others</c:v>
                </c:pt>
                <c:pt idx="5">
                  <c:v>Undecided</c:v>
                </c:pt>
              </c:strCache>
            </c:strRef>
          </c:cat>
          <c:val>
            <c:numRef>
              <c:f>Sheet1!$F$2:$F$7</c:f>
              <c:numCache>
                <c:formatCode>General</c:formatCode>
                <c:ptCount val="6"/>
                <c:pt idx="0">
                  <c:v>33</c:v>
                </c:pt>
                <c:pt idx="1">
                  <c:v>6</c:v>
                </c:pt>
                <c:pt idx="2">
                  <c:v>17</c:v>
                </c:pt>
                <c:pt idx="3">
                  <c:v>5</c:v>
                </c:pt>
                <c:pt idx="4">
                  <c:v>1</c:v>
                </c:pt>
                <c:pt idx="5">
                  <c:v>3</c:v>
                </c:pt>
              </c:numCache>
            </c:numRef>
          </c:val>
        </c:ser>
        <c:dLbls>
          <c:showLegendKey val="0"/>
          <c:showVal val="0"/>
          <c:showCatName val="0"/>
          <c:showSerName val="0"/>
          <c:showPercent val="0"/>
          <c:showBubbleSize val="0"/>
        </c:dLbls>
        <c:gapWidth val="219"/>
        <c:overlap val="-27"/>
        <c:axId val="192055384"/>
        <c:axId val="192055776"/>
      </c:barChart>
      <c:catAx>
        <c:axId val="192055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2055776"/>
        <c:crosses val="autoZero"/>
        <c:auto val="1"/>
        <c:lblAlgn val="ctr"/>
        <c:lblOffset val="100"/>
        <c:noMultiLvlLbl val="0"/>
      </c:catAx>
      <c:valAx>
        <c:axId val="192055776"/>
        <c:scaling>
          <c:orientation val="minMax"/>
          <c:max val="33"/>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055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100" b="1" dirty="0" smtClean="0">
                <a:latin typeface="Times New Roman" panose="02020603050405020304" pitchFamily="18" charset="0"/>
                <a:cs typeface="Times New Roman" panose="02020603050405020304" pitchFamily="18" charset="0"/>
              </a:rPr>
              <a:t>Probability Weighted</a:t>
            </a:r>
            <a:r>
              <a:rPr lang="en-GB" sz="1100" b="1" baseline="0" dirty="0" smtClean="0">
                <a:latin typeface="Times New Roman" panose="02020603050405020304" pitchFamily="18" charset="0"/>
                <a:cs typeface="Times New Roman" panose="02020603050405020304" pitchFamily="18" charset="0"/>
              </a:rPr>
              <a:t> Approach to incorporate forward looking information</a:t>
            </a:r>
            <a:endParaRPr lang="en-GB" sz="1100" b="1" dirty="0">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8503650973850454"/>
          <c:y val="0.18012007061767321"/>
          <c:w val="0.45501202832738674"/>
          <c:h val="0.67183055187308705"/>
        </c:manualLayout>
      </c:layout>
      <c:barChart>
        <c:barDir val="bar"/>
        <c:grouping val="clustered"/>
        <c:varyColors val="0"/>
        <c:ser>
          <c:idx val="0"/>
          <c:order val="0"/>
          <c:spPr>
            <a:solidFill>
              <a:schemeClr val="accent1"/>
            </a:solidFill>
            <a:ln>
              <a:noFill/>
            </a:ln>
            <a:effectLst/>
          </c:spPr>
          <c:invertIfNegative val="0"/>
          <c:cat>
            <c:strRef>
              <c:f>Sheet1!$O$2:$O$6</c:f>
              <c:strCache>
                <c:ptCount val="5"/>
                <c:pt idx="0">
                  <c:v>One Scenario with an Overlay Approach</c:v>
                </c:pt>
                <c:pt idx="1">
                  <c:v>Ran multile scenarios, calculate one ECL based on the weighted average of Credit Risk Factors</c:v>
                </c:pt>
                <c:pt idx="2">
                  <c:v>Ran multile scenarios, calculate an ECL for each, and probability weighted them</c:v>
                </c:pt>
                <c:pt idx="3">
                  <c:v>Modelled Approach</c:v>
                </c:pt>
                <c:pt idx="4">
                  <c:v>Undecided</c:v>
                </c:pt>
              </c:strCache>
            </c:strRef>
          </c:cat>
          <c:val>
            <c:numRef>
              <c:f>Sheet1!$P$2:$P$6</c:f>
              <c:numCache>
                <c:formatCode>General</c:formatCode>
                <c:ptCount val="5"/>
                <c:pt idx="0">
                  <c:v>7</c:v>
                </c:pt>
                <c:pt idx="1">
                  <c:v>1</c:v>
                </c:pt>
                <c:pt idx="2">
                  <c:v>16</c:v>
                </c:pt>
                <c:pt idx="3">
                  <c:v>3</c:v>
                </c:pt>
                <c:pt idx="4">
                  <c:v>9</c:v>
                </c:pt>
              </c:numCache>
            </c:numRef>
          </c:val>
        </c:ser>
        <c:dLbls>
          <c:showLegendKey val="0"/>
          <c:showVal val="0"/>
          <c:showCatName val="0"/>
          <c:showSerName val="0"/>
          <c:showPercent val="0"/>
          <c:showBubbleSize val="0"/>
        </c:dLbls>
        <c:gapWidth val="182"/>
        <c:axId val="192056560"/>
        <c:axId val="192056952"/>
      </c:barChart>
      <c:catAx>
        <c:axId val="19205656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2056952"/>
        <c:crosses val="autoZero"/>
        <c:auto val="1"/>
        <c:lblAlgn val="ctr"/>
        <c:lblOffset val="100"/>
        <c:noMultiLvlLbl val="0"/>
      </c:catAx>
      <c:valAx>
        <c:axId val="192056952"/>
        <c:scaling>
          <c:orientation val="minMax"/>
          <c:max val="16"/>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0565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5C2A4C-7386-42B8-9C26-C96A0CD90FC2}"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IN"/>
        </a:p>
      </dgm:t>
    </dgm:pt>
    <dgm:pt modelId="{3ACEF153-128E-48B3-A5EC-D5FAD25CB54E}">
      <dgm:prSet phldrT="[Text]" custT="1"/>
      <dgm:spPr/>
      <dgm:t>
        <a:bodyPr/>
        <a:lstStyle/>
        <a:p>
          <a:r>
            <a:rPr lang="en-US" sz="1200" dirty="0" smtClean="0">
              <a:latin typeface="Times New Roman" panose="02020603050405020304" pitchFamily="18" charset="0"/>
              <a:cs typeface="Times New Roman" panose="02020603050405020304" pitchFamily="18" charset="0"/>
            </a:rPr>
            <a:t>Non Retail Exposures</a:t>
          </a:r>
          <a:endParaRPr lang="en-IN" sz="1200" dirty="0">
            <a:latin typeface="Times New Roman" panose="02020603050405020304" pitchFamily="18" charset="0"/>
            <a:cs typeface="Times New Roman" panose="02020603050405020304" pitchFamily="18" charset="0"/>
          </a:endParaRPr>
        </a:p>
      </dgm:t>
    </dgm:pt>
    <dgm:pt modelId="{49EA274E-2FA4-4930-AFF9-6D12CC4A6FB7}" type="parTrans" cxnId="{568024E9-612D-4740-91FB-BC04767FA1C7}">
      <dgm:prSet/>
      <dgm:spPr/>
      <dgm:t>
        <a:bodyPr/>
        <a:lstStyle/>
        <a:p>
          <a:endParaRPr lang="en-IN" sz="1200">
            <a:latin typeface="Times New Roman" panose="02020603050405020304" pitchFamily="18" charset="0"/>
            <a:cs typeface="Times New Roman" panose="02020603050405020304" pitchFamily="18" charset="0"/>
          </a:endParaRPr>
        </a:p>
      </dgm:t>
    </dgm:pt>
    <dgm:pt modelId="{C985B43B-E845-44DF-8B69-A4B6EA2A3038}" type="sibTrans" cxnId="{568024E9-612D-4740-91FB-BC04767FA1C7}">
      <dgm:prSet/>
      <dgm:spPr/>
      <dgm:t>
        <a:bodyPr/>
        <a:lstStyle/>
        <a:p>
          <a:endParaRPr lang="en-IN" sz="1200">
            <a:latin typeface="Times New Roman" panose="02020603050405020304" pitchFamily="18" charset="0"/>
            <a:cs typeface="Times New Roman" panose="02020603050405020304" pitchFamily="18" charset="0"/>
          </a:endParaRPr>
        </a:p>
      </dgm:t>
    </dgm:pt>
    <dgm:pt modelId="{F6F5FE50-FB94-4F47-B01A-0D3F51F1498F}">
      <dgm:prSet phldrT="[Text]" custT="1"/>
      <dgm:spPr/>
      <dgm:t>
        <a:bodyPr/>
        <a:lstStyle/>
        <a:p>
          <a:r>
            <a:rPr lang="en-US" sz="1200" dirty="0" smtClean="0">
              <a:latin typeface="Times New Roman" panose="02020603050405020304" pitchFamily="18" charset="0"/>
              <a:cs typeface="Times New Roman" panose="02020603050405020304" pitchFamily="18" charset="0"/>
            </a:rPr>
            <a:t>On Balance Sheet</a:t>
          </a:r>
          <a:endParaRPr lang="en-IN" sz="1200" dirty="0">
            <a:latin typeface="Times New Roman" panose="02020603050405020304" pitchFamily="18" charset="0"/>
            <a:cs typeface="Times New Roman" panose="02020603050405020304" pitchFamily="18" charset="0"/>
          </a:endParaRPr>
        </a:p>
      </dgm:t>
    </dgm:pt>
    <dgm:pt modelId="{21E6600E-5F4C-4402-8749-EA11497BE9A0}" type="parTrans" cxnId="{8AB73C81-50D2-4C01-B1ED-B3D60B6F7F08}">
      <dgm:prSet custT="1"/>
      <dgm:spPr/>
      <dgm:t>
        <a:bodyPr/>
        <a:lstStyle/>
        <a:p>
          <a:endParaRPr lang="en-IN" sz="1200">
            <a:latin typeface="Times New Roman" panose="02020603050405020304" pitchFamily="18" charset="0"/>
            <a:cs typeface="Times New Roman" panose="02020603050405020304" pitchFamily="18" charset="0"/>
          </a:endParaRPr>
        </a:p>
      </dgm:t>
    </dgm:pt>
    <dgm:pt modelId="{BFB74724-01C8-4581-999B-6B0ED18B5EA4}" type="sibTrans" cxnId="{8AB73C81-50D2-4C01-B1ED-B3D60B6F7F08}">
      <dgm:prSet/>
      <dgm:spPr/>
      <dgm:t>
        <a:bodyPr/>
        <a:lstStyle/>
        <a:p>
          <a:endParaRPr lang="en-IN" sz="1200">
            <a:latin typeface="Times New Roman" panose="02020603050405020304" pitchFamily="18" charset="0"/>
            <a:cs typeface="Times New Roman" panose="02020603050405020304" pitchFamily="18" charset="0"/>
          </a:endParaRPr>
        </a:p>
      </dgm:t>
    </dgm:pt>
    <dgm:pt modelId="{7A23A84D-4F40-4AAB-9C7F-61B96E6E66AE}">
      <dgm:prSet phldrT="[Text]" custT="1"/>
      <dgm:spPr/>
      <dgm:t>
        <a:bodyPr/>
        <a:lstStyle/>
        <a:p>
          <a:r>
            <a:rPr lang="en-US" sz="1200" dirty="0" smtClean="0">
              <a:latin typeface="Times New Roman" panose="02020603050405020304" pitchFamily="18" charset="0"/>
              <a:cs typeface="Times New Roman" panose="02020603050405020304" pitchFamily="18" charset="0"/>
            </a:rPr>
            <a:t>Irrevocable or Committed</a:t>
          </a:r>
          <a:endParaRPr lang="en-IN" sz="1200" dirty="0">
            <a:latin typeface="Times New Roman" panose="02020603050405020304" pitchFamily="18" charset="0"/>
            <a:cs typeface="Times New Roman" panose="02020603050405020304" pitchFamily="18" charset="0"/>
          </a:endParaRPr>
        </a:p>
      </dgm:t>
    </dgm:pt>
    <dgm:pt modelId="{2CC2979A-19E0-4D4F-8FAA-8CBE8CE90484}" type="parTrans" cxnId="{3C769DD9-5743-4627-B997-A91D6F245442}">
      <dgm:prSet custT="1"/>
      <dgm:spPr/>
      <dgm:t>
        <a:bodyPr/>
        <a:lstStyle/>
        <a:p>
          <a:endParaRPr lang="en-IN" sz="1200">
            <a:latin typeface="Times New Roman" panose="02020603050405020304" pitchFamily="18" charset="0"/>
            <a:cs typeface="Times New Roman" panose="02020603050405020304" pitchFamily="18" charset="0"/>
          </a:endParaRPr>
        </a:p>
      </dgm:t>
    </dgm:pt>
    <dgm:pt modelId="{F4048F83-CA63-4B21-8BD9-8DD31C72C33E}" type="sibTrans" cxnId="{3C769DD9-5743-4627-B997-A91D6F245442}">
      <dgm:prSet/>
      <dgm:spPr/>
      <dgm:t>
        <a:bodyPr/>
        <a:lstStyle/>
        <a:p>
          <a:endParaRPr lang="en-IN" sz="1200">
            <a:latin typeface="Times New Roman" panose="02020603050405020304" pitchFamily="18" charset="0"/>
            <a:cs typeface="Times New Roman" panose="02020603050405020304" pitchFamily="18" charset="0"/>
          </a:endParaRPr>
        </a:p>
      </dgm:t>
    </dgm:pt>
    <dgm:pt modelId="{6A05762F-BDAF-471F-8462-72EB1BF1B0E3}">
      <dgm:prSet phldrT="[Text]" custT="1"/>
      <dgm:spPr/>
      <dgm:t>
        <a:bodyPr/>
        <a:lstStyle/>
        <a:p>
          <a:r>
            <a:rPr lang="en-US" sz="1200" dirty="0" smtClean="0">
              <a:latin typeface="Times New Roman" panose="02020603050405020304" pitchFamily="18" charset="0"/>
              <a:cs typeface="Times New Roman" panose="02020603050405020304" pitchFamily="18" charset="0"/>
            </a:rPr>
            <a:t>Revocable or Uncommitted</a:t>
          </a:r>
          <a:endParaRPr lang="en-IN" sz="1200" dirty="0">
            <a:latin typeface="Times New Roman" panose="02020603050405020304" pitchFamily="18" charset="0"/>
            <a:cs typeface="Times New Roman" panose="02020603050405020304" pitchFamily="18" charset="0"/>
          </a:endParaRPr>
        </a:p>
      </dgm:t>
    </dgm:pt>
    <dgm:pt modelId="{121EA9CC-E4F9-496E-91EA-A0707081F138}" type="parTrans" cxnId="{9248B1A3-2C28-4C74-A776-791B46334BE0}">
      <dgm:prSet custT="1"/>
      <dgm:spPr/>
      <dgm:t>
        <a:bodyPr/>
        <a:lstStyle/>
        <a:p>
          <a:endParaRPr lang="en-IN" sz="1200">
            <a:latin typeface="Times New Roman" panose="02020603050405020304" pitchFamily="18" charset="0"/>
            <a:cs typeface="Times New Roman" panose="02020603050405020304" pitchFamily="18" charset="0"/>
          </a:endParaRPr>
        </a:p>
      </dgm:t>
    </dgm:pt>
    <dgm:pt modelId="{FAFD364B-06C5-4136-B8E3-580B0CBB9894}" type="sibTrans" cxnId="{9248B1A3-2C28-4C74-A776-791B46334BE0}">
      <dgm:prSet/>
      <dgm:spPr/>
      <dgm:t>
        <a:bodyPr/>
        <a:lstStyle/>
        <a:p>
          <a:endParaRPr lang="en-IN" sz="1200">
            <a:latin typeface="Times New Roman" panose="02020603050405020304" pitchFamily="18" charset="0"/>
            <a:cs typeface="Times New Roman" panose="02020603050405020304" pitchFamily="18" charset="0"/>
          </a:endParaRPr>
        </a:p>
      </dgm:t>
    </dgm:pt>
    <dgm:pt modelId="{672017D4-3A5C-4F78-8031-C08425558246}">
      <dgm:prSet phldrT="[Text]" custT="1"/>
      <dgm:spPr>
        <a:solidFill>
          <a:schemeClr val="accent6">
            <a:lumMod val="50000"/>
            <a:lumOff val="50000"/>
          </a:schemeClr>
        </a:solidFill>
      </dgm:spPr>
      <dgm:t>
        <a:bodyPr/>
        <a:lstStyle/>
        <a:p>
          <a:r>
            <a:rPr lang="en-US" sz="1200" dirty="0" smtClean="0">
              <a:latin typeface="Times New Roman" panose="02020603050405020304" pitchFamily="18" charset="0"/>
              <a:cs typeface="Times New Roman" panose="02020603050405020304" pitchFamily="18" charset="0"/>
            </a:rPr>
            <a:t>Off Balance Sheet</a:t>
          </a:r>
          <a:endParaRPr lang="en-IN" sz="1200" dirty="0">
            <a:latin typeface="Times New Roman" panose="02020603050405020304" pitchFamily="18" charset="0"/>
            <a:cs typeface="Times New Roman" panose="02020603050405020304" pitchFamily="18" charset="0"/>
          </a:endParaRPr>
        </a:p>
      </dgm:t>
    </dgm:pt>
    <dgm:pt modelId="{B1671BB6-EA14-4581-9C6B-9DD20D9FA642}" type="parTrans" cxnId="{DD0C195D-BCA1-4048-BEBC-F0128B3368BD}">
      <dgm:prSet custT="1"/>
      <dgm:spPr/>
      <dgm:t>
        <a:bodyPr/>
        <a:lstStyle/>
        <a:p>
          <a:endParaRPr lang="en-IN" sz="1200">
            <a:latin typeface="Times New Roman" panose="02020603050405020304" pitchFamily="18" charset="0"/>
            <a:cs typeface="Times New Roman" panose="02020603050405020304" pitchFamily="18" charset="0"/>
          </a:endParaRPr>
        </a:p>
      </dgm:t>
    </dgm:pt>
    <dgm:pt modelId="{0A8DE930-59B9-46C1-ABCD-7129BAB6D0E2}" type="sibTrans" cxnId="{DD0C195D-BCA1-4048-BEBC-F0128B3368BD}">
      <dgm:prSet/>
      <dgm:spPr/>
      <dgm:t>
        <a:bodyPr/>
        <a:lstStyle/>
        <a:p>
          <a:endParaRPr lang="en-IN" sz="1200">
            <a:latin typeface="Times New Roman" panose="02020603050405020304" pitchFamily="18" charset="0"/>
            <a:cs typeface="Times New Roman" panose="02020603050405020304" pitchFamily="18" charset="0"/>
          </a:endParaRPr>
        </a:p>
      </dgm:t>
    </dgm:pt>
    <dgm:pt modelId="{24BE5D98-5E84-434D-8973-7D70839F9123}" type="pres">
      <dgm:prSet presAssocID="{425C2A4C-7386-42B8-9C26-C96A0CD90FC2}" presName="diagram" presStyleCnt="0">
        <dgm:presLayoutVars>
          <dgm:chPref val="1"/>
          <dgm:dir/>
          <dgm:animOne val="branch"/>
          <dgm:animLvl val="lvl"/>
          <dgm:resizeHandles val="exact"/>
        </dgm:presLayoutVars>
      </dgm:prSet>
      <dgm:spPr/>
      <dgm:t>
        <a:bodyPr/>
        <a:lstStyle/>
        <a:p>
          <a:endParaRPr lang="en-IN"/>
        </a:p>
      </dgm:t>
    </dgm:pt>
    <dgm:pt modelId="{67162218-1222-4645-AFBB-1B6827419062}" type="pres">
      <dgm:prSet presAssocID="{3ACEF153-128E-48B3-A5EC-D5FAD25CB54E}" presName="root1" presStyleCnt="0"/>
      <dgm:spPr/>
    </dgm:pt>
    <dgm:pt modelId="{DD58BB35-45D7-45B1-8ECD-F914EB47F560}" type="pres">
      <dgm:prSet presAssocID="{3ACEF153-128E-48B3-A5EC-D5FAD25CB54E}" presName="LevelOneTextNode" presStyleLbl="node0" presStyleIdx="0" presStyleCnt="1">
        <dgm:presLayoutVars>
          <dgm:chPref val="3"/>
        </dgm:presLayoutVars>
      </dgm:prSet>
      <dgm:spPr/>
      <dgm:t>
        <a:bodyPr/>
        <a:lstStyle/>
        <a:p>
          <a:endParaRPr lang="en-IN"/>
        </a:p>
      </dgm:t>
    </dgm:pt>
    <dgm:pt modelId="{37F148A5-E380-44F0-93AE-D8EAF630B223}" type="pres">
      <dgm:prSet presAssocID="{3ACEF153-128E-48B3-A5EC-D5FAD25CB54E}" presName="level2hierChild" presStyleCnt="0"/>
      <dgm:spPr/>
    </dgm:pt>
    <dgm:pt modelId="{69D61383-A0AF-4D9E-87BE-8AC38E9FE2AC}" type="pres">
      <dgm:prSet presAssocID="{21E6600E-5F4C-4402-8749-EA11497BE9A0}" presName="conn2-1" presStyleLbl="parChTrans1D2" presStyleIdx="0" presStyleCnt="2"/>
      <dgm:spPr/>
      <dgm:t>
        <a:bodyPr/>
        <a:lstStyle/>
        <a:p>
          <a:endParaRPr lang="en-IN"/>
        </a:p>
      </dgm:t>
    </dgm:pt>
    <dgm:pt modelId="{5CF3F4DC-52EF-4EAC-B187-01616BB9B63B}" type="pres">
      <dgm:prSet presAssocID="{21E6600E-5F4C-4402-8749-EA11497BE9A0}" presName="connTx" presStyleLbl="parChTrans1D2" presStyleIdx="0" presStyleCnt="2"/>
      <dgm:spPr/>
      <dgm:t>
        <a:bodyPr/>
        <a:lstStyle/>
        <a:p>
          <a:endParaRPr lang="en-IN"/>
        </a:p>
      </dgm:t>
    </dgm:pt>
    <dgm:pt modelId="{2658D383-5BC3-4AB2-902F-0E9281A36B7D}" type="pres">
      <dgm:prSet presAssocID="{F6F5FE50-FB94-4F47-B01A-0D3F51F1498F}" presName="root2" presStyleCnt="0"/>
      <dgm:spPr/>
    </dgm:pt>
    <dgm:pt modelId="{A1E77AEB-E64E-45BB-9849-A051335CCFF7}" type="pres">
      <dgm:prSet presAssocID="{F6F5FE50-FB94-4F47-B01A-0D3F51F1498F}" presName="LevelTwoTextNode" presStyleLbl="node2" presStyleIdx="0" presStyleCnt="2">
        <dgm:presLayoutVars>
          <dgm:chPref val="3"/>
        </dgm:presLayoutVars>
      </dgm:prSet>
      <dgm:spPr/>
      <dgm:t>
        <a:bodyPr/>
        <a:lstStyle/>
        <a:p>
          <a:endParaRPr lang="en-IN"/>
        </a:p>
      </dgm:t>
    </dgm:pt>
    <dgm:pt modelId="{83494FAA-E8EB-4C49-BF16-FC78D26704B3}" type="pres">
      <dgm:prSet presAssocID="{F6F5FE50-FB94-4F47-B01A-0D3F51F1498F}" presName="level3hierChild" presStyleCnt="0"/>
      <dgm:spPr/>
    </dgm:pt>
    <dgm:pt modelId="{C56D1827-BF2F-4586-A2A4-EB9C1739FE94}" type="pres">
      <dgm:prSet presAssocID="{2CC2979A-19E0-4D4F-8FAA-8CBE8CE90484}" presName="conn2-1" presStyleLbl="parChTrans1D3" presStyleIdx="0" presStyleCnt="2"/>
      <dgm:spPr/>
      <dgm:t>
        <a:bodyPr/>
        <a:lstStyle/>
        <a:p>
          <a:endParaRPr lang="en-IN"/>
        </a:p>
      </dgm:t>
    </dgm:pt>
    <dgm:pt modelId="{3B9DC11D-2DF5-4A39-A9B9-0CEE3BC7D619}" type="pres">
      <dgm:prSet presAssocID="{2CC2979A-19E0-4D4F-8FAA-8CBE8CE90484}" presName="connTx" presStyleLbl="parChTrans1D3" presStyleIdx="0" presStyleCnt="2"/>
      <dgm:spPr/>
      <dgm:t>
        <a:bodyPr/>
        <a:lstStyle/>
        <a:p>
          <a:endParaRPr lang="en-IN"/>
        </a:p>
      </dgm:t>
    </dgm:pt>
    <dgm:pt modelId="{3AAFED8E-B5C8-4DDB-AEEE-888011803424}" type="pres">
      <dgm:prSet presAssocID="{7A23A84D-4F40-4AAB-9C7F-61B96E6E66AE}" presName="root2" presStyleCnt="0"/>
      <dgm:spPr/>
    </dgm:pt>
    <dgm:pt modelId="{39AA6443-9DA7-4CAD-946A-D8F651CBF5DC}" type="pres">
      <dgm:prSet presAssocID="{7A23A84D-4F40-4AAB-9C7F-61B96E6E66AE}" presName="LevelTwoTextNode" presStyleLbl="node3" presStyleIdx="0" presStyleCnt="2">
        <dgm:presLayoutVars>
          <dgm:chPref val="3"/>
        </dgm:presLayoutVars>
      </dgm:prSet>
      <dgm:spPr/>
      <dgm:t>
        <a:bodyPr/>
        <a:lstStyle/>
        <a:p>
          <a:endParaRPr lang="en-IN"/>
        </a:p>
      </dgm:t>
    </dgm:pt>
    <dgm:pt modelId="{C8BD15EF-9F97-4C1E-BF6C-AFF5C0BC8C6A}" type="pres">
      <dgm:prSet presAssocID="{7A23A84D-4F40-4AAB-9C7F-61B96E6E66AE}" presName="level3hierChild" presStyleCnt="0"/>
      <dgm:spPr/>
    </dgm:pt>
    <dgm:pt modelId="{9CF3EE38-9BBC-4933-B5B5-6701AFE8858B}" type="pres">
      <dgm:prSet presAssocID="{121EA9CC-E4F9-496E-91EA-A0707081F138}" presName="conn2-1" presStyleLbl="parChTrans1D3" presStyleIdx="1" presStyleCnt="2"/>
      <dgm:spPr/>
      <dgm:t>
        <a:bodyPr/>
        <a:lstStyle/>
        <a:p>
          <a:endParaRPr lang="en-IN"/>
        </a:p>
      </dgm:t>
    </dgm:pt>
    <dgm:pt modelId="{AEE8308E-D688-45E4-901B-6C1B4F038DC6}" type="pres">
      <dgm:prSet presAssocID="{121EA9CC-E4F9-496E-91EA-A0707081F138}" presName="connTx" presStyleLbl="parChTrans1D3" presStyleIdx="1" presStyleCnt="2"/>
      <dgm:spPr/>
      <dgm:t>
        <a:bodyPr/>
        <a:lstStyle/>
        <a:p>
          <a:endParaRPr lang="en-IN"/>
        </a:p>
      </dgm:t>
    </dgm:pt>
    <dgm:pt modelId="{FB013A45-8F7C-463F-9FA8-12F45F84E3EE}" type="pres">
      <dgm:prSet presAssocID="{6A05762F-BDAF-471F-8462-72EB1BF1B0E3}" presName="root2" presStyleCnt="0"/>
      <dgm:spPr/>
    </dgm:pt>
    <dgm:pt modelId="{BEBB9ABA-5F13-49BA-91E9-006C8DBEC7E3}" type="pres">
      <dgm:prSet presAssocID="{6A05762F-BDAF-471F-8462-72EB1BF1B0E3}" presName="LevelTwoTextNode" presStyleLbl="node3" presStyleIdx="1" presStyleCnt="2">
        <dgm:presLayoutVars>
          <dgm:chPref val="3"/>
        </dgm:presLayoutVars>
      </dgm:prSet>
      <dgm:spPr/>
      <dgm:t>
        <a:bodyPr/>
        <a:lstStyle/>
        <a:p>
          <a:endParaRPr lang="en-IN"/>
        </a:p>
      </dgm:t>
    </dgm:pt>
    <dgm:pt modelId="{0AD07C30-3F16-423F-847A-A7B1317CCA0A}" type="pres">
      <dgm:prSet presAssocID="{6A05762F-BDAF-471F-8462-72EB1BF1B0E3}" presName="level3hierChild" presStyleCnt="0"/>
      <dgm:spPr/>
    </dgm:pt>
    <dgm:pt modelId="{5C13147C-2040-4466-850E-352D40A86FE8}" type="pres">
      <dgm:prSet presAssocID="{B1671BB6-EA14-4581-9C6B-9DD20D9FA642}" presName="conn2-1" presStyleLbl="parChTrans1D2" presStyleIdx="1" presStyleCnt="2"/>
      <dgm:spPr/>
      <dgm:t>
        <a:bodyPr/>
        <a:lstStyle/>
        <a:p>
          <a:endParaRPr lang="en-IN"/>
        </a:p>
      </dgm:t>
    </dgm:pt>
    <dgm:pt modelId="{0BFC2A2B-EC46-4758-BB17-DF59A953E088}" type="pres">
      <dgm:prSet presAssocID="{B1671BB6-EA14-4581-9C6B-9DD20D9FA642}" presName="connTx" presStyleLbl="parChTrans1D2" presStyleIdx="1" presStyleCnt="2"/>
      <dgm:spPr/>
      <dgm:t>
        <a:bodyPr/>
        <a:lstStyle/>
        <a:p>
          <a:endParaRPr lang="en-IN"/>
        </a:p>
      </dgm:t>
    </dgm:pt>
    <dgm:pt modelId="{C4021CD6-6528-4F7A-97C5-155AC68236BF}" type="pres">
      <dgm:prSet presAssocID="{672017D4-3A5C-4F78-8031-C08425558246}" presName="root2" presStyleCnt="0"/>
      <dgm:spPr/>
    </dgm:pt>
    <dgm:pt modelId="{559F1C37-7134-4E1B-B3BA-3983211D100E}" type="pres">
      <dgm:prSet presAssocID="{672017D4-3A5C-4F78-8031-C08425558246}" presName="LevelTwoTextNode" presStyleLbl="node2" presStyleIdx="1" presStyleCnt="2">
        <dgm:presLayoutVars>
          <dgm:chPref val="3"/>
        </dgm:presLayoutVars>
      </dgm:prSet>
      <dgm:spPr/>
      <dgm:t>
        <a:bodyPr/>
        <a:lstStyle/>
        <a:p>
          <a:endParaRPr lang="en-IN"/>
        </a:p>
      </dgm:t>
    </dgm:pt>
    <dgm:pt modelId="{DE90F983-BCA0-48B5-950A-23FE6C390709}" type="pres">
      <dgm:prSet presAssocID="{672017D4-3A5C-4F78-8031-C08425558246}" presName="level3hierChild" presStyleCnt="0"/>
      <dgm:spPr/>
    </dgm:pt>
  </dgm:ptLst>
  <dgm:cxnLst>
    <dgm:cxn modelId="{A54C358E-9FDC-4C1A-BA0C-B78062C7FAE4}" type="presOf" srcId="{3ACEF153-128E-48B3-A5EC-D5FAD25CB54E}" destId="{DD58BB35-45D7-45B1-8ECD-F914EB47F560}" srcOrd="0" destOrd="0" presId="urn:microsoft.com/office/officeart/2005/8/layout/hierarchy2"/>
    <dgm:cxn modelId="{3C769DD9-5743-4627-B997-A91D6F245442}" srcId="{F6F5FE50-FB94-4F47-B01A-0D3F51F1498F}" destId="{7A23A84D-4F40-4AAB-9C7F-61B96E6E66AE}" srcOrd="0" destOrd="0" parTransId="{2CC2979A-19E0-4D4F-8FAA-8CBE8CE90484}" sibTransId="{F4048F83-CA63-4B21-8BD9-8DD31C72C33E}"/>
    <dgm:cxn modelId="{2E5F3CE5-0AEC-47CA-8EEA-2011379DC296}" type="presOf" srcId="{F6F5FE50-FB94-4F47-B01A-0D3F51F1498F}" destId="{A1E77AEB-E64E-45BB-9849-A051335CCFF7}" srcOrd="0" destOrd="0" presId="urn:microsoft.com/office/officeart/2005/8/layout/hierarchy2"/>
    <dgm:cxn modelId="{2176A257-1A7F-4A5A-B3C5-EF986C16F0BD}" type="presOf" srcId="{6A05762F-BDAF-471F-8462-72EB1BF1B0E3}" destId="{BEBB9ABA-5F13-49BA-91E9-006C8DBEC7E3}" srcOrd="0" destOrd="0" presId="urn:microsoft.com/office/officeart/2005/8/layout/hierarchy2"/>
    <dgm:cxn modelId="{E7A6E15F-AF31-46B6-AA29-F4A7998A2019}" type="presOf" srcId="{B1671BB6-EA14-4581-9C6B-9DD20D9FA642}" destId="{0BFC2A2B-EC46-4758-BB17-DF59A953E088}" srcOrd="1" destOrd="0" presId="urn:microsoft.com/office/officeart/2005/8/layout/hierarchy2"/>
    <dgm:cxn modelId="{EFAAD9B4-370F-496A-8820-D45298C2BB08}" type="presOf" srcId="{21E6600E-5F4C-4402-8749-EA11497BE9A0}" destId="{69D61383-A0AF-4D9E-87BE-8AC38E9FE2AC}" srcOrd="0" destOrd="0" presId="urn:microsoft.com/office/officeart/2005/8/layout/hierarchy2"/>
    <dgm:cxn modelId="{467A0051-C14F-49E7-9F1C-327E80F8DAFE}" type="presOf" srcId="{121EA9CC-E4F9-496E-91EA-A0707081F138}" destId="{AEE8308E-D688-45E4-901B-6C1B4F038DC6}" srcOrd="1" destOrd="0" presId="urn:microsoft.com/office/officeart/2005/8/layout/hierarchy2"/>
    <dgm:cxn modelId="{DD0C195D-BCA1-4048-BEBC-F0128B3368BD}" srcId="{3ACEF153-128E-48B3-A5EC-D5FAD25CB54E}" destId="{672017D4-3A5C-4F78-8031-C08425558246}" srcOrd="1" destOrd="0" parTransId="{B1671BB6-EA14-4581-9C6B-9DD20D9FA642}" sibTransId="{0A8DE930-59B9-46C1-ABCD-7129BAB6D0E2}"/>
    <dgm:cxn modelId="{0C53081C-72F9-44F8-BFA1-980D440182E6}" type="presOf" srcId="{425C2A4C-7386-42B8-9C26-C96A0CD90FC2}" destId="{24BE5D98-5E84-434D-8973-7D70839F9123}" srcOrd="0" destOrd="0" presId="urn:microsoft.com/office/officeart/2005/8/layout/hierarchy2"/>
    <dgm:cxn modelId="{F00546D1-AE51-4405-A225-CA123523BABB}" type="presOf" srcId="{2CC2979A-19E0-4D4F-8FAA-8CBE8CE90484}" destId="{3B9DC11D-2DF5-4A39-A9B9-0CEE3BC7D619}" srcOrd="1" destOrd="0" presId="urn:microsoft.com/office/officeart/2005/8/layout/hierarchy2"/>
    <dgm:cxn modelId="{8AB73C81-50D2-4C01-B1ED-B3D60B6F7F08}" srcId="{3ACEF153-128E-48B3-A5EC-D5FAD25CB54E}" destId="{F6F5FE50-FB94-4F47-B01A-0D3F51F1498F}" srcOrd="0" destOrd="0" parTransId="{21E6600E-5F4C-4402-8749-EA11497BE9A0}" sibTransId="{BFB74724-01C8-4581-999B-6B0ED18B5EA4}"/>
    <dgm:cxn modelId="{7C7E2190-8684-43C5-8F38-3E2EA689317B}" type="presOf" srcId="{2CC2979A-19E0-4D4F-8FAA-8CBE8CE90484}" destId="{C56D1827-BF2F-4586-A2A4-EB9C1739FE94}" srcOrd="0" destOrd="0" presId="urn:microsoft.com/office/officeart/2005/8/layout/hierarchy2"/>
    <dgm:cxn modelId="{7D943554-C215-4718-BE55-5F7F414A2809}" type="presOf" srcId="{B1671BB6-EA14-4581-9C6B-9DD20D9FA642}" destId="{5C13147C-2040-4466-850E-352D40A86FE8}" srcOrd="0" destOrd="0" presId="urn:microsoft.com/office/officeart/2005/8/layout/hierarchy2"/>
    <dgm:cxn modelId="{568024E9-612D-4740-91FB-BC04767FA1C7}" srcId="{425C2A4C-7386-42B8-9C26-C96A0CD90FC2}" destId="{3ACEF153-128E-48B3-A5EC-D5FAD25CB54E}" srcOrd="0" destOrd="0" parTransId="{49EA274E-2FA4-4930-AFF9-6D12CC4A6FB7}" sibTransId="{C985B43B-E845-44DF-8B69-A4B6EA2A3038}"/>
    <dgm:cxn modelId="{9248B1A3-2C28-4C74-A776-791B46334BE0}" srcId="{F6F5FE50-FB94-4F47-B01A-0D3F51F1498F}" destId="{6A05762F-BDAF-471F-8462-72EB1BF1B0E3}" srcOrd="1" destOrd="0" parTransId="{121EA9CC-E4F9-496E-91EA-A0707081F138}" sibTransId="{FAFD364B-06C5-4136-B8E3-580B0CBB9894}"/>
    <dgm:cxn modelId="{23431418-1122-42BB-8C9B-21DEFE7B26F4}" type="presOf" srcId="{21E6600E-5F4C-4402-8749-EA11497BE9A0}" destId="{5CF3F4DC-52EF-4EAC-B187-01616BB9B63B}" srcOrd="1" destOrd="0" presId="urn:microsoft.com/office/officeart/2005/8/layout/hierarchy2"/>
    <dgm:cxn modelId="{15B51989-492C-4F67-A2E3-94B91F930586}" type="presOf" srcId="{7A23A84D-4F40-4AAB-9C7F-61B96E6E66AE}" destId="{39AA6443-9DA7-4CAD-946A-D8F651CBF5DC}" srcOrd="0" destOrd="0" presId="urn:microsoft.com/office/officeart/2005/8/layout/hierarchy2"/>
    <dgm:cxn modelId="{AE8F4A41-C2DC-4097-B687-597D352B5292}" type="presOf" srcId="{672017D4-3A5C-4F78-8031-C08425558246}" destId="{559F1C37-7134-4E1B-B3BA-3983211D100E}" srcOrd="0" destOrd="0" presId="urn:microsoft.com/office/officeart/2005/8/layout/hierarchy2"/>
    <dgm:cxn modelId="{FF59C40A-BECB-4A19-A540-86B494F693CF}" type="presOf" srcId="{121EA9CC-E4F9-496E-91EA-A0707081F138}" destId="{9CF3EE38-9BBC-4933-B5B5-6701AFE8858B}" srcOrd="0" destOrd="0" presId="urn:microsoft.com/office/officeart/2005/8/layout/hierarchy2"/>
    <dgm:cxn modelId="{F856B126-34A4-4D07-9CC9-514E07E99449}" type="presParOf" srcId="{24BE5D98-5E84-434D-8973-7D70839F9123}" destId="{67162218-1222-4645-AFBB-1B6827419062}" srcOrd="0" destOrd="0" presId="urn:microsoft.com/office/officeart/2005/8/layout/hierarchy2"/>
    <dgm:cxn modelId="{94E13523-68F1-4228-AF81-4D311A9871D4}" type="presParOf" srcId="{67162218-1222-4645-AFBB-1B6827419062}" destId="{DD58BB35-45D7-45B1-8ECD-F914EB47F560}" srcOrd="0" destOrd="0" presId="urn:microsoft.com/office/officeart/2005/8/layout/hierarchy2"/>
    <dgm:cxn modelId="{54410B63-E7D3-4C6C-9D25-FBB70DA2A167}" type="presParOf" srcId="{67162218-1222-4645-AFBB-1B6827419062}" destId="{37F148A5-E380-44F0-93AE-D8EAF630B223}" srcOrd="1" destOrd="0" presId="urn:microsoft.com/office/officeart/2005/8/layout/hierarchy2"/>
    <dgm:cxn modelId="{4C8E74F7-D44E-4C12-8AEF-6443D885AE3E}" type="presParOf" srcId="{37F148A5-E380-44F0-93AE-D8EAF630B223}" destId="{69D61383-A0AF-4D9E-87BE-8AC38E9FE2AC}" srcOrd="0" destOrd="0" presId="urn:microsoft.com/office/officeart/2005/8/layout/hierarchy2"/>
    <dgm:cxn modelId="{664594B6-E74D-4A1A-857D-4FB5EABD6D03}" type="presParOf" srcId="{69D61383-A0AF-4D9E-87BE-8AC38E9FE2AC}" destId="{5CF3F4DC-52EF-4EAC-B187-01616BB9B63B}" srcOrd="0" destOrd="0" presId="urn:microsoft.com/office/officeart/2005/8/layout/hierarchy2"/>
    <dgm:cxn modelId="{EAFA12C0-DC50-4F02-AC53-8BF7B436AC4C}" type="presParOf" srcId="{37F148A5-E380-44F0-93AE-D8EAF630B223}" destId="{2658D383-5BC3-4AB2-902F-0E9281A36B7D}" srcOrd="1" destOrd="0" presId="urn:microsoft.com/office/officeart/2005/8/layout/hierarchy2"/>
    <dgm:cxn modelId="{0684EF14-ADE9-47EE-AE04-8F27E8725F68}" type="presParOf" srcId="{2658D383-5BC3-4AB2-902F-0E9281A36B7D}" destId="{A1E77AEB-E64E-45BB-9849-A051335CCFF7}" srcOrd="0" destOrd="0" presId="urn:microsoft.com/office/officeart/2005/8/layout/hierarchy2"/>
    <dgm:cxn modelId="{6845DC24-2B4F-4B54-8BD1-9BC905E9F762}" type="presParOf" srcId="{2658D383-5BC3-4AB2-902F-0E9281A36B7D}" destId="{83494FAA-E8EB-4C49-BF16-FC78D26704B3}" srcOrd="1" destOrd="0" presId="urn:microsoft.com/office/officeart/2005/8/layout/hierarchy2"/>
    <dgm:cxn modelId="{9DDEE489-0A8B-4598-8F21-08553CA67AC2}" type="presParOf" srcId="{83494FAA-E8EB-4C49-BF16-FC78D26704B3}" destId="{C56D1827-BF2F-4586-A2A4-EB9C1739FE94}" srcOrd="0" destOrd="0" presId="urn:microsoft.com/office/officeart/2005/8/layout/hierarchy2"/>
    <dgm:cxn modelId="{68F5A019-BA21-4743-B5F2-2CCB04D710B8}" type="presParOf" srcId="{C56D1827-BF2F-4586-A2A4-EB9C1739FE94}" destId="{3B9DC11D-2DF5-4A39-A9B9-0CEE3BC7D619}" srcOrd="0" destOrd="0" presId="urn:microsoft.com/office/officeart/2005/8/layout/hierarchy2"/>
    <dgm:cxn modelId="{278062D2-93F0-48BF-9262-991450853D90}" type="presParOf" srcId="{83494FAA-E8EB-4C49-BF16-FC78D26704B3}" destId="{3AAFED8E-B5C8-4DDB-AEEE-888011803424}" srcOrd="1" destOrd="0" presId="urn:microsoft.com/office/officeart/2005/8/layout/hierarchy2"/>
    <dgm:cxn modelId="{BE366D96-D0A6-473F-A18A-463A651D8000}" type="presParOf" srcId="{3AAFED8E-B5C8-4DDB-AEEE-888011803424}" destId="{39AA6443-9DA7-4CAD-946A-D8F651CBF5DC}" srcOrd="0" destOrd="0" presId="urn:microsoft.com/office/officeart/2005/8/layout/hierarchy2"/>
    <dgm:cxn modelId="{C8EF8CE9-DDF7-4482-A4DE-DF6E2F34BB03}" type="presParOf" srcId="{3AAFED8E-B5C8-4DDB-AEEE-888011803424}" destId="{C8BD15EF-9F97-4C1E-BF6C-AFF5C0BC8C6A}" srcOrd="1" destOrd="0" presId="urn:microsoft.com/office/officeart/2005/8/layout/hierarchy2"/>
    <dgm:cxn modelId="{B56BE262-6D06-435B-96BD-18BA45D922F9}" type="presParOf" srcId="{83494FAA-E8EB-4C49-BF16-FC78D26704B3}" destId="{9CF3EE38-9BBC-4933-B5B5-6701AFE8858B}" srcOrd="2" destOrd="0" presId="urn:microsoft.com/office/officeart/2005/8/layout/hierarchy2"/>
    <dgm:cxn modelId="{4793F1C0-BE5E-4246-9C61-0B62894341AB}" type="presParOf" srcId="{9CF3EE38-9BBC-4933-B5B5-6701AFE8858B}" destId="{AEE8308E-D688-45E4-901B-6C1B4F038DC6}" srcOrd="0" destOrd="0" presId="urn:microsoft.com/office/officeart/2005/8/layout/hierarchy2"/>
    <dgm:cxn modelId="{96FBD240-6791-4401-859F-46C9D7829FF5}" type="presParOf" srcId="{83494FAA-E8EB-4C49-BF16-FC78D26704B3}" destId="{FB013A45-8F7C-463F-9FA8-12F45F84E3EE}" srcOrd="3" destOrd="0" presId="urn:microsoft.com/office/officeart/2005/8/layout/hierarchy2"/>
    <dgm:cxn modelId="{7890CDB2-10D4-4BAE-827E-8404F627AF19}" type="presParOf" srcId="{FB013A45-8F7C-463F-9FA8-12F45F84E3EE}" destId="{BEBB9ABA-5F13-49BA-91E9-006C8DBEC7E3}" srcOrd="0" destOrd="0" presId="urn:microsoft.com/office/officeart/2005/8/layout/hierarchy2"/>
    <dgm:cxn modelId="{1DC64985-0A8F-4CC4-91FD-C804284B8816}" type="presParOf" srcId="{FB013A45-8F7C-463F-9FA8-12F45F84E3EE}" destId="{0AD07C30-3F16-423F-847A-A7B1317CCA0A}" srcOrd="1" destOrd="0" presId="urn:microsoft.com/office/officeart/2005/8/layout/hierarchy2"/>
    <dgm:cxn modelId="{2D847DD5-6CBB-4946-9802-B63C938F9E61}" type="presParOf" srcId="{37F148A5-E380-44F0-93AE-D8EAF630B223}" destId="{5C13147C-2040-4466-850E-352D40A86FE8}" srcOrd="2" destOrd="0" presId="urn:microsoft.com/office/officeart/2005/8/layout/hierarchy2"/>
    <dgm:cxn modelId="{CCD67082-0812-4062-A659-D49F8FCF3CB8}" type="presParOf" srcId="{5C13147C-2040-4466-850E-352D40A86FE8}" destId="{0BFC2A2B-EC46-4758-BB17-DF59A953E088}" srcOrd="0" destOrd="0" presId="urn:microsoft.com/office/officeart/2005/8/layout/hierarchy2"/>
    <dgm:cxn modelId="{F3160A00-D9A8-44AE-A513-8BCBBB46CF71}" type="presParOf" srcId="{37F148A5-E380-44F0-93AE-D8EAF630B223}" destId="{C4021CD6-6528-4F7A-97C5-155AC68236BF}" srcOrd="3" destOrd="0" presId="urn:microsoft.com/office/officeart/2005/8/layout/hierarchy2"/>
    <dgm:cxn modelId="{BFAA7178-73F0-4FDA-BEDE-B44C9FF8CD34}" type="presParOf" srcId="{C4021CD6-6528-4F7A-97C5-155AC68236BF}" destId="{559F1C37-7134-4E1B-B3BA-3983211D100E}" srcOrd="0" destOrd="0" presId="urn:microsoft.com/office/officeart/2005/8/layout/hierarchy2"/>
    <dgm:cxn modelId="{D4747EC9-E436-4755-87D4-5B84C90E7A68}" type="presParOf" srcId="{C4021CD6-6528-4F7A-97C5-155AC68236BF}" destId="{DE90F983-BCA0-48B5-950A-23FE6C390709}" srcOrd="1" destOrd="0" presId="urn:microsoft.com/office/officeart/2005/8/layout/hierarchy2"/>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8BB35-45D7-45B1-8ECD-F914EB47F560}">
      <dsp:nvSpPr>
        <dsp:cNvPr id="0" name=""/>
        <dsp:cNvSpPr/>
      </dsp:nvSpPr>
      <dsp:spPr>
        <a:xfrm>
          <a:off x="3222" y="859964"/>
          <a:ext cx="1428724" cy="714362"/>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Non Retail Exposures</a:t>
          </a:r>
          <a:endParaRPr lang="en-IN" sz="1200" kern="1200" dirty="0">
            <a:latin typeface="Times New Roman" panose="02020603050405020304" pitchFamily="18" charset="0"/>
            <a:cs typeface="Times New Roman" panose="02020603050405020304" pitchFamily="18" charset="0"/>
          </a:endParaRPr>
        </a:p>
      </dsp:txBody>
      <dsp:txXfrm>
        <a:off x="24145" y="880887"/>
        <a:ext cx="1386878" cy="672516"/>
      </dsp:txXfrm>
    </dsp:sp>
    <dsp:sp modelId="{69D61383-A0AF-4D9E-87BE-8AC38E9FE2AC}">
      <dsp:nvSpPr>
        <dsp:cNvPr id="0" name=""/>
        <dsp:cNvSpPr/>
      </dsp:nvSpPr>
      <dsp:spPr>
        <a:xfrm rot="19457599">
          <a:off x="1365796" y="979994"/>
          <a:ext cx="703792" cy="63544"/>
        </a:xfrm>
        <a:custGeom>
          <a:avLst/>
          <a:gdLst/>
          <a:ahLst/>
          <a:cxnLst/>
          <a:rect l="0" t="0" r="0" b="0"/>
          <a:pathLst>
            <a:path>
              <a:moveTo>
                <a:pt x="0" y="31772"/>
              </a:moveTo>
              <a:lnTo>
                <a:pt x="703792" y="31772"/>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IN" sz="1200" kern="1200">
            <a:latin typeface="Times New Roman" panose="02020603050405020304" pitchFamily="18" charset="0"/>
            <a:cs typeface="Times New Roman" panose="02020603050405020304" pitchFamily="18" charset="0"/>
          </a:endParaRPr>
        </a:p>
      </dsp:txBody>
      <dsp:txXfrm>
        <a:off x="1700097" y="994171"/>
        <a:ext cx="35189" cy="35189"/>
      </dsp:txXfrm>
    </dsp:sp>
    <dsp:sp modelId="{A1E77AEB-E64E-45BB-9849-A051335CCFF7}">
      <dsp:nvSpPr>
        <dsp:cNvPr id="0" name=""/>
        <dsp:cNvSpPr/>
      </dsp:nvSpPr>
      <dsp:spPr>
        <a:xfrm>
          <a:off x="2003437" y="449206"/>
          <a:ext cx="1428724" cy="714362"/>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On Balance Sheet</a:t>
          </a:r>
          <a:endParaRPr lang="en-IN" sz="1200" kern="1200" dirty="0">
            <a:latin typeface="Times New Roman" panose="02020603050405020304" pitchFamily="18" charset="0"/>
            <a:cs typeface="Times New Roman" panose="02020603050405020304" pitchFamily="18" charset="0"/>
          </a:endParaRPr>
        </a:p>
      </dsp:txBody>
      <dsp:txXfrm>
        <a:off x="2024360" y="470129"/>
        <a:ext cx="1386878" cy="672516"/>
      </dsp:txXfrm>
    </dsp:sp>
    <dsp:sp modelId="{C56D1827-BF2F-4586-A2A4-EB9C1739FE94}">
      <dsp:nvSpPr>
        <dsp:cNvPr id="0" name=""/>
        <dsp:cNvSpPr/>
      </dsp:nvSpPr>
      <dsp:spPr>
        <a:xfrm rot="19457599">
          <a:off x="3366011" y="569235"/>
          <a:ext cx="703792" cy="63544"/>
        </a:xfrm>
        <a:custGeom>
          <a:avLst/>
          <a:gdLst/>
          <a:ahLst/>
          <a:cxnLst/>
          <a:rect l="0" t="0" r="0" b="0"/>
          <a:pathLst>
            <a:path>
              <a:moveTo>
                <a:pt x="0" y="31772"/>
              </a:moveTo>
              <a:lnTo>
                <a:pt x="703792" y="3177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IN" sz="1200" kern="1200">
            <a:latin typeface="Times New Roman" panose="02020603050405020304" pitchFamily="18" charset="0"/>
            <a:cs typeface="Times New Roman" panose="02020603050405020304" pitchFamily="18" charset="0"/>
          </a:endParaRPr>
        </a:p>
      </dsp:txBody>
      <dsp:txXfrm>
        <a:off x="3700312" y="583413"/>
        <a:ext cx="35189" cy="35189"/>
      </dsp:txXfrm>
    </dsp:sp>
    <dsp:sp modelId="{39AA6443-9DA7-4CAD-946A-D8F651CBF5DC}">
      <dsp:nvSpPr>
        <dsp:cNvPr id="0" name=""/>
        <dsp:cNvSpPr/>
      </dsp:nvSpPr>
      <dsp:spPr>
        <a:xfrm>
          <a:off x="4003652" y="38447"/>
          <a:ext cx="1428724" cy="714362"/>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Irrevocable or Committed</a:t>
          </a:r>
          <a:endParaRPr lang="en-IN" sz="1200" kern="1200" dirty="0">
            <a:latin typeface="Times New Roman" panose="02020603050405020304" pitchFamily="18" charset="0"/>
            <a:cs typeface="Times New Roman" panose="02020603050405020304" pitchFamily="18" charset="0"/>
          </a:endParaRPr>
        </a:p>
      </dsp:txBody>
      <dsp:txXfrm>
        <a:off x="4024575" y="59370"/>
        <a:ext cx="1386878" cy="672516"/>
      </dsp:txXfrm>
    </dsp:sp>
    <dsp:sp modelId="{9CF3EE38-9BBC-4933-B5B5-6701AFE8858B}">
      <dsp:nvSpPr>
        <dsp:cNvPr id="0" name=""/>
        <dsp:cNvSpPr/>
      </dsp:nvSpPr>
      <dsp:spPr>
        <a:xfrm rot="2142401">
          <a:off x="3366011" y="979994"/>
          <a:ext cx="703792" cy="63544"/>
        </a:xfrm>
        <a:custGeom>
          <a:avLst/>
          <a:gdLst/>
          <a:ahLst/>
          <a:cxnLst/>
          <a:rect l="0" t="0" r="0" b="0"/>
          <a:pathLst>
            <a:path>
              <a:moveTo>
                <a:pt x="0" y="31772"/>
              </a:moveTo>
              <a:lnTo>
                <a:pt x="703792" y="3177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IN" sz="1200" kern="1200">
            <a:latin typeface="Times New Roman" panose="02020603050405020304" pitchFamily="18" charset="0"/>
            <a:cs typeface="Times New Roman" panose="02020603050405020304" pitchFamily="18" charset="0"/>
          </a:endParaRPr>
        </a:p>
      </dsp:txBody>
      <dsp:txXfrm>
        <a:off x="3700312" y="994171"/>
        <a:ext cx="35189" cy="35189"/>
      </dsp:txXfrm>
    </dsp:sp>
    <dsp:sp modelId="{BEBB9ABA-5F13-49BA-91E9-006C8DBEC7E3}">
      <dsp:nvSpPr>
        <dsp:cNvPr id="0" name=""/>
        <dsp:cNvSpPr/>
      </dsp:nvSpPr>
      <dsp:spPr>
        <a:xfrm>
          <a:off x="4003652" y="859964"/>
          <a:ext cx="1428724" cy="714362"/>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Revocable or Uncommitted</a:t>
          </a:r>
          <a:endParaRPr lang="en-IN" sz="1200" kern="1200" dirty="0">
            <a:latin typeface="Times New Roman" panose="02020603050405020304" pitchFamily="18" charset="0"/>
            <a:cs typeface="Times New Roman" panose="02020603050405020304" pitchFamily="18" charset="0"/>
          </a:endParaRPr>
        </a:p>
      </dsp:txBody>
      <dsp:txXfrm>
        <a:off x="4024575" y="880887"/>
        <a:ext cx="1386878" cy="672516"/>
      </dsp:txXfrm>
    </dsp:sp>
    <dsp:sp modelId="{5C13147C-2040-4466-850E-352D40A86FE8}">
      <dsp:nvSpPr>
        <dsp:cNvPr id="0" name=""/>
        <dsp:cNvSpPr/>
      </dsp:nvSpPr>
      <dsp:spPr>
        <a:xfrm rot="2142401">
          <a:off x="1365796" y="1390752"/>
          <a:ext cx="703792" cy="63544"/>
        </a:xfrm>
        <a:custGeom>
          <a:avLst/>
          <a:gdLst/>
          <a:ahLst/>
          <a:cxnLst/>
          <a:rect l="0" t="0" r="0" b="0"/>
          <a:pathLst>
            <a:path>
              <a:moveTo>
                <a:pt x="0" y="31772"/>
              </a:moveTo>
              <a:lnTo>
                <a:pt x="703792" y="31772"/>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533400">
            <a:lnSpc>
              <a:spcPct val="90000"/>
            </a:lnSpc>
            <a:spcBef>
              <a:spcPct val="0"/>
            </a:spcBef>
            <a:spcAft>
              <a:spcPct val="35000"/>
            </a:spcAft>
          </a:pPr>
          <a:endParaRPr lang="en-IN" sz="1200" kern="1200">
            <a:latin typeface="Times New Roman" panose="02020603050405020304" pitchFamily="18" charset="0"/>
            <a:cs typeface="Times New Roman" panose="02020603050405020304" pitchFamily="18" charset="0"/>
          </a:endParaRPr>
        </a:p>
      </dsp:txBody>
      <dsp:txXfrm>
        <a:off x="1700097" y="1404930"/>
        <a:ext cx="35189" cy="35189"/>
      </dsp:txXfrm>
    </dsp:sp>
    <dsp:sp modelId="{559F1C37-7134-4E1B-B3BA-3983211D100E}">
      <dsp:nvSpPr>
        <dsp:cNvPr id="0" name=""/>
        <dsp:cNvSpPr/>
      </dsp:nvSpPr>
      <dsp:spPr>
        <a:xfrm>
          <a:off x="2003437" y="1270722"/>
          <a:ext cx="1428724" cy="714362"/>
        </a:xfrm>
        <a:prstGeom prst="roundRect">
          <a:avLst>
            <a:gd name="adj" fmla="val 10000"/>
          </a:avLst>
        </a:prstGeom>
        <a:solidFill>
          <a:schemeClr val="accent6">
            <a:lumMod val="50000"/>
            <a:lumOff val="5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Off Balance Sheet</a:t>
          </a:r>
          <a:endParaRPr lang="en-IN" sz="1200" kern="1200" dirty="0">
            <a:latin typeface="Times New Roman" panose="02020603050405020304" pitchFamily="18" charset="0"/>
            <a:cs typeface="Times New Roman" panose="02020603050405020304" pitchFamily="18" charset="0"/>
          </a:endParaRPr>
        </a:p>
      </dsp:txBody>
      <dsp:txXfrm>
        <a:off x="2024360" y="1291645"/>
        <a:ext cx="1386878" cy="67251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862" cy="497333"/>
          </a:xfrm>
          <a:prstGeom prst="rect">
            <a:avLst/>
          </a:prstGeom>
        </p:spPr>
        <p:txBody>
          <a:bodyPr vert="horz" wrap="square" lIns="92112" tIns="46056" rIns="92112" bIns="46056" numCol="1" anchor="t" anchorCtr="0" compatLnSpc="1">
            <a:prstTxWarp prst="textNoShape">
              <a:avLst/>
            </a:prstTxWarp>
          </a:bodyPr>
          <a:lstStyle>
            <a:lvl1pPr>
              <a:defRPr>
                <a:cs typeface="+mn-cs"/>
              </a:defRPr>
            </a:lvl1pPr>
          </a:lstStyle>
          <a:p>
            <a:pPr>
              <a:defRPr/>
            </a:pPr>
            <a:endParaRPr lang="en-US"/>
          </a:p>
        </p:txBody>
      </p:sp>
      <p:sp>
        <p:nvSpPr>
          <p:cNvPr id="3" name="Date Placeholder 2"/>
          <p:cNvSpPr>
            <a:spLocks noGrp="1"/>
          </p:cNvSpPr>
          <p:nvPr>
            <p:ph type="dt" sz="quarter" idx="1"/>
          </p:nvPr>
        </p:nvSpPr>
        <p:spPr>
          <a:xfrm>
            <a:off x="3850294" y="1"/>
            <a:ext cx="2945862" cy="497333"/>
          </a:xfrm>
          <a:prstGeom prst="rect">
            <a:avLst/>
          </a:prstGeom>
        </p:spPr>
        <p:txBody>
          <a:bodyPr vert="horz" wrap="square" lIns="92112" tIns="46056" rIns="92112" bIns="46056" numCol="1" anchor="t" anchorCtr="0" compatLnSpc="1">
            <a:prstTxWarp prst="textNoShape">
              <a:avLst/>
            </a:prstTxWarp>
          </a:bodyPr>
          <a:lstStyle>
            <a:lvl1pPr algn="r">
              <a:defRPr>
                <a:cs typeface="+mn-cs"/>
              </a:defRPr>
            </a:lvl1pPr>
          </a:lstStyle>
          <a:p>
            <a:pPr>
              <a:defRPr/>
            </a:pPr>
            <a:fld id="{40979E02-1A58-4209-9944-527EC0F1EEF2}" type="datetimeFigureOut">
              <a:rPr lang="en-US"/>
              <a:pPr>
                <a:defRPr/>
              </a:pPr>
              <a:t>8/12/2017</a:t>
            </a:fld>
            <a:endParaRPr lang="en-US"/>
          </a:p>
        </p:txBody>
      </p:sp>
      <p:sp>
        <p:nvSpPr>
          <p:cNvPr id="4" name="Footer Placeholder 3"/>
          <p:cNvSpPr>
            <a:spLocks noGrp="1"/>
          </p:cNvSpPr>
          <p:nvPr>
            <p:ph type="ftr" sz="quarter" idx="2"/>
          </p:nvPr>
        </p:nvSpPr>
        <p:spPr>
          <a:xfrm>
            <a:off x="0" y="9427766"/>
            <a:ext cx="2945862" cy="497332"/>
          </a:xfrm>
          <a:prstGeom prst="rect">
            <a:avLst/>
          </a:prstGeom>
        </p:spPr>
        <p:txBody>
          <a:bodyPr vert="horz" wrap="square" lIns="92112" tIns="46056" rIns="92112" bIns="46056" numCol="1" anchor="b" anchorCtr="0" compatLnSpc="1">
            <a:prstTxWarp prst="textNoShape">
              <a:avLst/>
            </a:prstTxWarp>
          </a:bodyPr>
          <a:lstStyle>
            <a:lvl1pPr>
              <a:defRPr>
                <a:cs typeface="+mn-cs"/>
              </a:defRPr>
            </a:lvl1pPr>
          </a:lstStyle>
          <a:p>
            <a:pPr>
              <a:defRPr/>
            </a:pPr>
            <a:endParaRPr lang="en-US"/>
          </a:p>
        </p:txBody>
      </p:sp>
      <p:sp>
        <p:nvSpPr>
          <p:cNvPr id="5" name="Slide Number Placeholder 4"/>
          <p:cNvSpPr>
            <a:spLocks noGrp="1"/>
          </p:cNvSpPr>
          <p:nvPr>
            <p:ph type="sldNum" sz="quarter" idx="3"/>
          </p:nvPr>
        </p:nvSpPr>
        <p:spPr>
          <a:xfrm>
            <a:off x="3850294" y="9427766"/>
            <a:ext cx="2945862" cy="497332"/>
          </a:xfrm>
          <a:prstGeom prst="rect">
            <a:avLst/>
          </a:prstGeom>
        </p:spPr>
        <p:txBody>
          <a:bodyPr vert="horz" wrap="square" lIns="92112" tIns="46056" rIns="92112" bIns="46056" numCol="1" anchor="b" anchorCtr="0" compatLnSpc="1">
            <a:prstTxWarp prst="textNoShape">
              <a:avLst/>
            </a:prstTxWarp>
          </a:bodyPr>
          <a:lstStyle>
            <a:lvl1pPr algn="r">
              <a:defRPr/>
            </a:lvl1pPr>
          </a:lstStyle>
          <a:p>
            <a:fld id="{84086585-DD32-48B4-8BF3-54FFE30802E9}" type="slidenum">
              <a:rPr lang="en-US" altLang="en-US"/>
              <a:pPr/>
              <a:t>‹#›</a:t>
            </a:fld>
            <a:endParaRPr lang="en-US" altLang="en-US"/>
          </a:p>
        </p:txBody>
      </p:sp>
    </p:spTree>
    <p:extLst>
      <p:ext uri="{BB962C8B-B14F-4D97-AF65-F5344CB8AC3E}">
        <p14:creationId xmlns:p14="http://schemas.microsoft.com/office/powerpoint/2010/main" val="32797877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45862" cy="495793"/>
          </a:xfrm>
          <a:prstGeom prst="rect">
            <a:avLst/>
          </a:prstGeom>
          <a:noFill/>
          <a:ln w="9525">
            <a:noFill/>
            <a:miter lim="800000"/>
            <a:headEnd/>
            <a:tailEnd/>
          </a:ln>
          <a:effectLst/>
        </p:spPr>
        <p:txBody>
          <a:bodyPr vert="horz" wrap="square" lIns="96224" tIns="48112" rIns="96224" bIns="48112" numCol="1" anchor="t" anchorCtr="0" compatLnSpc="1">
            <a:prstTxWarp prst="textNoShape">
              <a:avLst/>
            </a:prstTxWarp>
          </a:bodyPr>
          <a:lstStyle>
            <a:lvl1pPr>
              <a:defRPr>
                <a:latin typeface="Adobe Fangsong Std R" pitchFamily="18" charset="-128"/>
                <a:cs typeface="+mn-cs"/>
              </a:defRPr>
            </a:lvl1pPr>
          </a:lstStyle>
          <a:p>
            <a:pPr>
              <a:defRPr/>
            </a:pPr>
            <a:endParaRPr lang="en-GB"/>
          </a:p>
        </p:txBody>
      </p:sp>
      <p:sp>
        <p:nvSpPr>
          <p:cNvPr id="47107" name="Rectangle 3"/>
          <p:cNvSpPr>
            <a:spLocks noGrp="1" noChangeArrowheads="1"/>
          </p:cNvSpPr>
          <p:nvPr>
            <p:ph type="dt" idx="1"/>
          </p:nvPr>
        </p:nvSpPr>
        <p:spPr bwMode="auto">
          <a:xfrm>
            <a:off x="3850294" y="0"/>
            <a:ext cx="2945862" cy="495793"/>
          </a:xfrm>
          <a:prstGeom prst="rect">
            <a:avLst/>
          </a:prstGeom>
          <a:noFill/>
          <a:ln w="9525">
            <a:noFill/>
            <a:miter lim="800000"/>
            <a:headEnd/>
            <a:tailEnd/>
          </a:ln>
          <a:effectLst/>
        </p:spPr>
        <p:txBody>
          <a:bodyPr vert="horz" wrap="square" lIns="96224" tIns="48112" rIns="96224" bIns="48112" numCol="1" anchor="t" anchorCtr="0" compatLnSpc="1">
            <a:prstTxWarp prst="textNoShape">
              <a:avLst/>
            </a:prstTxWarp>
          </a:bodyPr>
          <a:lstStyle>
            <a:lvl1pPr algn="r">
              <a:defRPr>
                <a:latin typeface="Adobe Fangsong Std R" pitchFamily="18" charset="-128"/>
                <a:cs typeface="+mn-cs"/>
              </a:defRPr>
            </a:lvl1pPr>
          </a:lstStyle>
          <a:p>
            <a:pPr>
              <a:defRPr/>
            </a:pPr>
            <a:fld id="{ACB6BD06-491F-4608-9CA9-E53DA165873F}" type="datetimeFigureOut">
              <a:rPr lang="en-GB"/>
              <a:pPr>
                <a:defRPr/>
              </a:pPr>
              <a:t>12/08/2017</a:t>
            </a:fld>
            <a:endParaRPr lang="en-GB"/>
          </a:p>
        </p:txBody>
      </p:sp>
      <p:sp>
        <p:nvSpPr>
          <p:cNvPr id="28676" name="Rectangle 4"/>
          <p:cNvSpPr>
            <a:spLocks noGrp="1" noRot="1" noChangeAspect="1" noChangeArrowheads="1" noTextEdit="1"/>
          </p:cNvSpPr>
          <p:nvPr>
            <p:ph type="sldImg" idx="2"/>
          </p:nvPr>
        </p:nvSpPr>
        <p:spPr bwMode="auto">
          <a:xfrm>
            <a:off x="711200" y="742950"/>
            <a:ext cx="5375275" cy="37226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9464" y="4714653"/>
            <a:ext cx="5438748" cy="4466756"/>
          </a:xfrm>
          <a:prstGeom prst="rect">
            <a:avLst/>
          </a:prstGeom>
          <a:noFill/>
          <a:ln w="9525">
            <a:noFill/>
            <a:miter lim="800000"/>
            <a:headEnd/>
            <a:tailEnd/>
          </a:ln>
          <a:effectLst/>
        </p:spPr>
        <p:txBody>
          <a:bodyPr vert="horz" wrap="square" lIns="96224" tIns="48112" rIns="96224" bIns="48112"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7110" name="Rectangle 6"/>
          <p:cNvSpPr>
            <a:spLocks noGrp="1" noChangeArrowheads="1"/>
          </p:cNvSpPr>
          <p:nvPr>
            <p:ph type="ftr" sz="quarter" idx="4"/>
          </p:nvPr>
        </p:nvSpPr>
        <p:spPr bwMode="auto">
          <a:xfrm>
            <a:off x="0" y="9429305"/>
            <a:ext cx="2945862" cy="495793"/>
          </a:xfrm>
          <a:prstGeom prst="rect">
            <a:avLst/>
          </a:prstGeom>
          <a:noFill/>
          <a:ln w="9525">
            <a:noFill/>
            <a:miter lim="800000"/>
            <a:headEnd/>
            <a:tailEnd/>
          </a:ln>
          <a:effectLst/>
        </p:spPr>
        <p:txBody>
          <a:bodyPr vert="horz" wrap="square" lIns="96224" tIns="48112" rIns="96224" bIns="48112" numCol="1" anchor="b" anchorCtr="0" compatLnSpc="1">
            <a:prstTxWarp prst="textNoShape">
              <a:avLst/>
            </a:prstTxWarp>
          </a:bodyPr>
          <a:lstStyle>
            <a:lvl1pPr>
              <a:defRPr>
                <a:latin typeface="Adobe Fangsong Std R" pitchFamily="18" charset="-128"/>
                <a:cs typeface="+mn-cs"/>
              </a:defRPr>
            </a:lvl1pPr>
          </a:lstStyle>
          <a:p>
            <a:pPr>
              <a:defRPr/>
            </a:pPr>
            <a:endParaRPr lang="en-GB"/>
          </a:p>
        </p:txBody>
      </p:sp>
      <p:sp>
        <p:nvSpPr>
          <p:cNvPr id="47111" name="Rectangle 7"/>
          <p:cNvSpPr>
            <a:spLocks noGrp="1" noChangeArrowheads="1"/>
          </p:cNvSpPr>
          <p:nvPr>
            <p:ph type="sldNum" sz="quarter" idx="5"/>
          </p:nvPr>
        </p:nvSpPr>
        <p:spPr bwMode="auto">
          <a:xfrm>
            <a:off x="3850294" y="9429305"/>
            <a:ext cx="2945862" cy="495793"/>
          </a:xfrm>
          <a:prstGeom prst="rect">
            <a:avLst/>
          </a:prstGeom>
          <a:noFill/>
          <a:ln w="9525">
            <a:noFill/>
            <a:miter lim="800000"/>
            <a:headEnd/>
            <a:tailEnd/>
          </a:ln>
          <a:effectLst/>
        </p:spPr>
        <p:txBody>
          <a:bodyPr vert="horz" wrap="square" lIns="96224" tIns="48112" rIns="96224" bIns="48112" numCol="1" anchor="b" anchorCtr="0" compatLnSpc="1">
            <a:prstTxWarp prst="textNoShape">
              <a:avLst/>
            </a:prstTxWarp>
          </a:bodyPr>
          <a:lstStyle>
            <a:lvl1pPr algn="r">
              <a:defRPr>
                <a:latin typeface="Adobe Fangsong Std R" pitchFamily="18" charset="-128"/>
              </a:defRPr>
            </a:lvl1pPr>
          </a:lstStyle>
          <a:p>
            <a:fld id="{8AA8BC4E-8C28-4AF6-820F-2EC3A160940E}" type="slidenum">
              <a:rPr lang="en-GB" altLang="en-US"/>
              <a:pPr/>
              <a:t>‹#›</a:t>
            </a:fld>
            <a:endParaRPr lang="en-GB" altLang="en-US"/>
          </a:p>
        </p:txBody>
      </p:sp>
    </p:spTree>
    <p:extLst>
      <p:ext uri="{BB962C8B-B14F-4D97-AF65-F5344CB8AC3E}">
        <p14:creationId xmlns:p14="http://schemas.microsoft.com/office/powerpoint/2010/main" val="35876903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1pPr>
    <a:lvl2pPr marL="4572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2pPr>
    <a:lvl3pPr marL="9144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3pPr>
    <a:lvl4pPr marL="13716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4pPr>
    <a:lvl5pPr marL="18288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16798" indent="-275692" eaLnBrk="0" hangingPunct="0">
              <a:defRPr sz="1200">
                <a:solidFill>
                  <a:schemeClr val="tx1"/>
                </a:solidFill>
                <a:latin typeface="Times New Roman" panose="02020603050405020304" pitchFamily="18" charset="0"/>
                <a:cs typeface="Times New Roman" panose="02020603050405020304" pitchFamily="18" charset="0"/>
              </a:defRPr>
            </a:lvl2pPr>
            <a:lvl3pPr marL="1102766" indent="-220553" eaLnBrk="0" hangingPunct="0">
              <a:defRPr sz="1200">
                <a:solidFill>
                  <a:schemeClr val="tx1"/>
                </a:solidFill>
                <a:latin typeface="Times New Roman" panose="02020603050405020304" pitchFamily="18" charset="0"/>
                <a:cs typeface="Times New Roman" panose="02020603050405020304" pitchFamily="18" charset="0"/>
              </a:defRPr>
            </a:lvl3pPr>
            <a:lvl4pPr marL="1543873" indent="-220553" eaLnBrk="0" hangingPunct="0">
              <a:defRPr sz="1200">
                <a:solidFill>
                  <a:schemeClr val="tx1"/>
                </a:solidFill>
                <a:latin typeface="Times New Roman" panose="02020603050405020304" pitchFamily="18" charset="0"/>
                <a:cs typeface="Times New Roman" panose="02020603050405020304" pitchFamily="18" charset="0"/>
              </a:defRPr>
            </a:lvl4pPr>
            <a:lvl5pPr marL="1984980" indent="-220553" eaLnBrk="0" hangingPunct="0">
              <a:defRPr sz="1200">
                <a:solidFill>
                  <a:schemeClr val="tx1"/>
                </a:solidFill>
                <a:latin typeface="Times New Roman" panose="02020603050405020304" pitchFamily="18" charset="0"/>
                <a:cs typeface="Times New Roman" panose="02020603050405020304" pitchFamily="18" charset="0"/>
              </a:defRPr>
            </a:lvl5pPr>
            <a:lvl6pPr marL="242608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867193"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308299"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74940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1</a:t>
            </a:fld>
            <a:endParaRPr lang="en-US" altLang="en-US" dirty="0">
              <a:solidFill>
                <a:srgbClr val="000000"/>
              </a:solidFill>
              <a:latin typeface="Adobe Fangsong Std R" pitchFamily="18" charset="-128"/>
            </a:endParaRPr>
          </a:p>
        </p:txBody>
      </p:sp>
    </p:spTree>
    <p:extLst>
      <p:ext uri="{BB962C8B-B14F-4D97-AF65-F5344CB8AC3E}">
        <p14:creationId xmlns:p14="http://schemas.microsoft.com/office/powerpoint/2010/main" val="3188377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AA8BC4E-8C28-4AF6-820F-2EC3A160940E}" type="slidenum">
              <a:rPr lang="en-GB" altLang="en-US" smtClean="0"/>
              <a:pPr/>
              <a:t>23</a:t>
            </a:fld>
            <a:endParaRPr lang="en-GB" altLang="en-US"/>
          </a:p>
        </p:txBody>
      </p:sp>
    </p:spTree>
    <p:extLst>
      <p:ext uri="{BB962C8B-B14F-4D97-AF65-F5344CB8AC3E}">
        <p14:creationId xmlns:p14="http://schemas.microsoft.com/office/powerpoint/2010/main" val="2360303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AA8BC4E-8C28-4AF6-820F-2EC3A160940E}" type="slidenum">
              <a:rPr lang="en-GB" altLang="en-US" smtClean="0"/>
              <a:pPr/>
              <a:t>31</a:t>
            </a:fld>
            <a:endParaRPr lang="en-GB" altLang="en-US"/>
          </a:p>
        </p:txBody>
      </p:sp>
    </p:spTree>
    <p:extLst>
      <p:ext uri="{BB962C8B-B14F-4D97-AF65-F5344CB8AC3E}">
        <p14:creationId xmlns:p14="http://schemas.microsoft.com/office/powerpoint/2010/main" val="2060473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AA8BC4E-8C28-4AF6-820F-2EC3A160940E}" type="slidenum">
              <a:rPr lang="en-GB" altLang="en-US" smtClean="0"/>
              <a:pPr/>
              <a:t>36</a:t>
            </a:fld>
            <a:endParaRPr lang="en-GB" altLang="en-US"/>
          </a:p>
        </p:txBody>
      </p:sp>
    </p:spTree>
    <p:extLst>
      <p:ext uri="{BB962C8B-B14F-4D97-AF65-F5344CB8AC3E}">
        <p14:creationId xmlns:p14="http://schemas.microsoft.com/office/powerpoint/2010/main" val="2170640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AA8BC4E-8C28-4AF6-820F-2EC3A160940E}" type="slidenum">
              <a:rPr lang="en-GB" altLang="en-US" smtClean="0"/>
              <a:pPr/>
              <a:t>50</a:t>
            </a:fld>
            <a:endParaRPr lang="en-GB" altLang="en-US"/>
          </a:p>
        </p:txBody>
      </p:sp>
    </p:spTree>
    <p:extLst>
      <p:ext uri="{BB962C8B-B14F-4D97-AF65-F5344CB8AC3E}">
        <p14:creationId xmlns:p14="http://schemas.microsoft.com/office/powerpoint/2010/main" val="1621405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AA8BC4E-8C28-4AF6-820F-2EC3A160940E}" type="slidenum">
              <a:rPr lang="en-GB" altLang="en-US" smtClean="0"/>
              <a:pPr/>
              <a:t>51</a:t>
            </a:fld>
            <a:endParaRPr lang="en-GB" altLang="en-US"/>
          </a:p>
        </p:txBody>
      </p:sp>
    </p:spTree>
    <p:extLst>
      <p:ext uri="{BB962C8B-B14F-4D97-AF65-F5344CB8AC3E}">
        <p14:creationId xmlns:p14="http://schemas.microsoft.com/office/powerpoint/2010/main" val="1139905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AA8BC4E-8C28-4AF6-820F-2EC3A160940E}" type="slidenum">
              <a:rPr lang="en-GB" altLang="en-US" smtClean="0"/>
              <a:pPr/>
              <a:t>62</a:t>
            </a:fld>
            <a:endParaRPr lang="en-GB" altLang="en-US"/>
          </a:p>
        </p:txBody>
      </p:sp>
    </p:spTree>
    <p:extLst>
      <p:ext uri="{BB962C8B-B14F-4D97-AF65-F5344CB8AC3E}">
        <p14:creationId xmlns:p14="http://schemas.microsoft.com/office/powerpoint/2010/main" val="4094583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16798" indent="-275692" eaLnBrk="0" hangingPunct="0">
              <a:defRPr sz="1200">
                <a:solidFill>
                  <a:schemeClr val="tx1"/>
                </a:solidFill>
                <a:latin typeface="Times New Roman" panose="02020603050405020304" pitchFamily="18" charset="0"/>
                <a:cs typeface="Times New Roman" panose="02020603050405020304" pitchFamily="18" charset="0"/>
              </a:defRPr>
            </a:lvl2pPr>
            <a:lvl3pPr marL="1102766" indent="-220553" eaLnBrk="0" hangingPunct="0">
              <a:defRPr sz="1200">
                <a:solidFill>
                  <a:schemeClr val="tx1"/>
                </a:solidFill>
                <a:latin typeface="Times New Roman" panose="02020603050405020304" pitchFamily="18" charset="0"/>
                <a:cs typeface="Times New Roman" panose="02020603050405020304" pitchFamily="18" charset="0"/>
              </a:defRPr>
            </a:lvl3pPr>
            <a:lvl4pPr marL="1543873" indent="-220553" eaLnBrk="0" hangingPunct="0">
              <a:defRPr sz="1200">
                <a:solidFill>
                  <a:schemeClr val="tx1"/>
                </a:solidFill>
                <a:latin typeface="Times New Roman" panose="02020603050405020304" pitchFamily="18" charset="0"/>
                <a:cs typeface="Times New Roman" panose="02020603050405020304" pitchFamily="18" charset="0"/>
              </a:defRPr>
            </a:lvl4pPr>
            <a:lvl5pPr marL="1984980" indent="-220553" eaLnBrk="0" hangingPunct="0">
              <a:defRPr sz="1200">
                <a:solidFill>
                  <a:schemeClr val="tx1"/>
                </a:solidFill>
                <a:latin typeface="Times New Roman" panose="02020603050405020304" pitchFamily="18" charset="0"/>
                <a:cs typeface="Times New Roman" panose="02020603050405020304" pitchFamily="18" charset="0"/>
              </a:defRPr>
            </a:lvl5pPr>
            <a:lvl6pPr marL="242608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867193"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308299"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74940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73CF7C-84DB-4CB9-9BBC-54A676F61943}" type="slidenum">
              <a:rPr lang="en-US" altLang="en-US">
                <a:solidFill>
                  <a:srgbClr val="000000"/>
                </a:solidFill>
                <a:latin typeface="Adobe Fangsong Std R" pitchFamily="18" charset="-128"/>
              </a:rPr>
              <a:pPr eaLnBrk="1" hangingPunct="1"/>
              <a:t>63</a:t>
            </a:fld>
            <a:endParaRPr lang="en-US" altLang="en-US">
              <a:solidFill>
                <a:srgbClr val="000000"/>
              </a:solidFill>
              <a:latin typeface="Adobe Fangsong Std R" pitchFamily="18" charset="-128"/>
            </a:endParaRPr>
          </a:p>
        </p:txBody>
      </p:sp>
    </p:spTree>
    <p:extLst>
      <p:ext uri="{BB962C8B-B14F-4D97-AF65-F5344CB8AC3E}">
        <p14:creationId xmlns:p14="http://schemas.microsoft.com/office/powerpoint/2010/main" val="814141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7.xml"/><Relationship Id="rId1" Type="http://schemas.openxmlformats.org/officeDocument/2006/relationships/themeOverride" Target="../theme/themeOverride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9.xml"/><Relationship Id="rId1" Type="http://schemas.openxmlformats.org/officeDocument/2006/relationships/themeOverride" Target="../theme/themeOverride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3A0000"/>
            </a:gs>
            <a:gs pos="100000">
              <a:srgbClr val="870052"/>
            </a:gs>
          </a:gsLst>
          <a:lin ang="2700000" scaled="1"/>
        </a:gradFill>
        <a:effectLst/>
      </p:bgPr>
    </p:bg>
    <p:spTree>
      <p:nvGrpSpPr>
        <p:cNvPr id="1" name=""/>
        <p:cNvGrpSpPr/>
        <p:nvPr/>
      </p:nvGrpSpPr>
      <p:grpSpPr>
        <a:xfrm>
          <a:off x="0" y="0"/>
          <a:ext cx="0" cy="0"/>
          <a:chOff x="0" y="0"/>
          <a:chExt cx="0" cy="0"/>
        </a:xfrm>
      </p:grpSpPr>
      <p:pic>
        <p:nvPicPr>
          <p:cNvPr id="4" name="Picture 6" descr="Ribbon Alon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itle Placeholder 1"/>
          <p:cNvSpPr>
            <a:spLocks noGrp="1"/>
          </p:cNvSpPr>
          <p:nvPr>
            <p:ph type="ctrTitle"/>
          </p:nvPr>
        </p:nvSpPr>
        <p:spPr>
          <a:xfrm>
            <a:off x="1282700" y="1939925"/>
            <a:ext cx="6142038" cy="1470025"/>
          </a:xfrm>
        </p:spPr>
        <p:txBody>
          <a:bodyPr/>
          <a:lstStyle>
            <a:lvl1pPr>
              <a:defRPr smtClean="0">
                <a:solidFill>
                  <a:schemeClr val="bg1"/>
                </a:solidFill>
              </a:defRPr>
            </a:lvl1pPr>
          </a:lstStyle>
          <a:p>
            <a:r>
              <a:rPr lang="en-GB" smtClean="0"/>
              <a:t>Click to edit Master title style</a:t>
            </a:r>
          </a:p>
        </p:txBody>
      </p:sp>
      <p:sp>
        <p:nvSpPr>
          <p:cNvPr id="47114" name="Text Placeholder 2"/>
          <p:cNvSpPr>
            <a:spLocks noGrp="1"/>
          </p:cNvSpPr>
          <p:nvPr>
            <p:ph type="subTitle" idx="1"/>
          </p:nvPr>
        </p:nvSpPr>
        <p:spPr>
          <a:xfrm>
            <a:off x="1282700" y="3562350"/>
            <a:ext cx="6142038" cy="1752600"/>
          </a:xfrm>
        </p:spPr>
        <p:txBody>
          <a:bodyPr/>
          <a:lstStyle>
            <a:lvl1pPr>
              <a:defRPr smtClean="0">
                <a:solidFill>
                  <a:schemeClr val="bg1"/>
                </a:solidFill>
              </a:defRPr>
            </a:lvl1pPr>
          </a:lstStyle>
          <a:p>
            <a:r>
              <a:rPr lang="en-GB" smtClean="0"/>
              <a:t>Click to edit Master subtitle style</a:t>
            </a:r>
          </a:p>
        </p:txBody>
      </p:sp>
    </p:spTree>
    <p:extLst>
      <p:ext uri="{BB962C8B-B14F-4D97-AF65-F5344CB8AC3E}">
        <p14:creationId xmlns:p14="http://schemas.microsoft.com/office/powerpoint/2010/main" val="2935192562"/>
      </p:ext>
    </p:extLst>
  </p:cSld>
  <p:clrMapOvr>
    <a:overrideClrMapping bg1="lt1" tx1="dk1" bg2="lt2" tx2="dk2" accent1="accent1" accent2="accent2" accent3="accent3" accent4="accent4" accent5="accent5" accent6="accent6" hlink="hlink" folHlink="folHlink"/>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865796EC-22DC-4588-AB1D-C30A18DE494F}" type="slidenum">
              <a:rPr lang="en-GB" altLang="en-US"/>
              <a:pPr/>
              <a:t>‹#›</a:t>
            </a:fld>
            <a:endParaRPr lang="en-GB" altLang="en-US"/>
          </a:p>
        </p:txBody>
      </p:sp>
    </p:spTree>
    <p:extLst>
      <p:ext uri="{BB962C8B-B14F-4D97-AF65-F5344CB8AC3E}">
        <p14:creationId xmlns:p14="http://schemas.microsoft.com/office/powerpoint/2010/main" val="299622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a:ln/>
        </p:spPr>
        <p:txBody>
          <a:bodyPr/>
          <a:lstStyle>
            <a:lvl1pPr>
              <a:defRPr/>
            </a:lvl1pPr>
          </a:lstStyle>
          <a:p>
            <a:fld id="{490205F6-8444-4966-A284-A96E5D7BD474}" type="slidenum">
              <a:rPr lang="en-GB" altLang="en-US"/>
              <a:pPr/>
              <a:t>‹#›</a:t>
            </a:fld>
            <a:endParaRPr lang="en-GB" altLang="en-US"/>
          </a:p>
        </p:txBody>
      </p:sp>
    </p:spTree>
    <p:extLst>
      <p:ext uri="{BB962C8B-B14F-4D97-AF65-F5344CB8AC3E}">
        <p14:creationId xmlns:p14="http://schemas.microsoft.com/office/powerpoint/2010/main" val="297752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81113" y="1863725"/>
            <a:ext cx="3378200"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11713" y="1863725"/>
            <a:ext cx="3379787"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6018F931-99B0-45D2-8CB5-B7C380B56B04}" type="slidenum">
              <a:rPr lang="en-GB" altLang="en-US"/>
              <a:pPr/>
              <a:t>‹#›</a:t>
            </a:fld>
            <a:endParaRPr lang="en-GB" altLang="en-US"/>
          </a:p>
        </p:txBody>
      </p:sp>
    </p:spTree>
    <p:extLst>
      <p:ext uri="{BB962C8B-B14F-4D97-AF65-F5344CB8AC3E}">
        <p14:creationId xmlns:p14="http://schemas.microsoft.com/office/powerpoint/2010/main" val="131110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a:ln/>
        </p:spPr>
        <p:txBody>
          <a:bodyPr/>
          <a:lstStyle>
            <a:lvl1pPr>
              <a:defRPr/>
            </a:lvl1pPr>
          </a:lstStyle>
          <a:p>
            <a:fld id="{7C6B9C5E-D1E9-4FAE-8567-0580A0C2C2C3}" type="slidenum">
              <a:rPr lang="en-GB" altLang="en-US"/>
              <a:pPr/>
              <a:t>‹#›</a:t>
            </a:fld>
            <a:endParaRPr lang="en-GB" altLang="en-US"/>
          </a:p>
        </p:txBody>
      </p:sp>
    </p:spTree>
    <p:extLst>
      <p:ext uri="{BB962C8B-B14F-4D97-AF65-F5344CB8AC3E}">
        <p14:creationId xmlns:p14="http://schemas.microsoft.com/office/powerpoint/2010/main" val="3525946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a:ln/>
        </p:spPr>
        <p:txBody>
          <a:bodyPr/>
          <a:lstStyle>
            <a:lvl1pPr>
              <a:defRPr/>
            </a:lvl1pPr>
          </a:lstStyle>
          <a:p>
            <a:fld id="{AA56A224-319B-4D3A-8618-311EBA63A731}" type="slidenum">
              <a:rPr lang="en-GB" altLang="en-US"/>
              <a:pPr/>
              <a:t>‹#›</a:t>
            </a:fld>
            <a:endParaRPr lang="en-GB" altLang="en-US"/>
          </a:p>
        </p:txBody>
      </p:sp>
    </p:spTree>
    <p:extLst>
      <p:ext uri="{BB962C8B-B14F-4D97-AF65-F5344CB8AC3E}">
        <p14:creationId xmlns:p14="http://schemas.microsoft.com/office/powerpoint/2010/main" val="1544485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5FF08B6A-563E-490F-B12D-B9CE1E37E7EB}" type="slidenum">
              <a:rPr lang="en-GB" altLang="en-US"/>
              <a:pPr/>
              <a:t>‹#›</a:t>
            </a:fld>
            <a:endParaRPr lang="en-GB" altLang="en-US"/>
          </a:p>
        </p:txBody>
      </p:sp>
    </p:spTree>
    <p:extLst>
      <p:ext uri="{BB962C8B-B14F-4D97-AF65-F5344CB8AC3E}">
        <p14:creationId xmlns:p14="http://schemas.microsoft.com/office/powerpoint/2010/main" val="298810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6663C46A-FF4F-496B-A83F-1B626A64D4D7}" type="slidenum">
              <a:rPr lang="en-GB" altLang="en-US"/>
              <a:pPr/>
              <a:t>‹#›</a:t>
            </a:fld>
            <a:endParaRPr lang="en-GB" altLang="en-US"/>
          </a:p>
        </p:txBody>
      </p:sp>
    </p:spTree>
    <p:extLst>
      <p:ext uri="{BB962C8B-B14F-4D97-AF65-F5344CB8AC3E}">
        <p14:creationId xmlns:p14="http://schemas.microsoft.com/office/powerpoint/2010/main" val="210345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43EEC0CC-0731-4E94-9F5C-1A7D87995C12}" type="slidenum">
              <a:rPr lang="en-GB" altLang="en-US"/>
              <a:pPr/>
              <a:t>‹#›</a:t>
            </a:fld>
            <a:endParaRPr lang="en-GB" altLang="en-US"/>
          </a:p>
        </p:txBody>
      </p:sp>
    </p:spTree>
    <p:extLst>
      <p:ext uri="{BB962C8B-B14F-4D97-AF65-F5344CB8AC3E}">
        <p14:creationId xmlns:p14="http://schemas.microsoft.com/office/powerpoint/2010/main" val="2824636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01670D04-D61B-40C5-9EFD-85C6FEAFA78F}" type="slidenum">
              <a:rPr lang="en-GB" altLang="en-US"/>
              <a:pPr/>
              <a:t>‹#›</a:t>
            </a:fld>
            <a:endParaRPr lang="en-GB" altLang="en-US"/>
          </a:p>
        </p:txBody>
      </p:sp>
    </p:spTree>
    <p:extLst>
      <p:ext uri="{BB962C8B-B14F-4D97-AF65-F5344CB8AC3E}">
        <p14:creationId xmlns:p14="http://schemas.microsoft.com/office/powerpoint/2010/main" val="2513850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9488" y="739775"/>
            <a:ext cx="2016125" cy="5302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81113" y="739775"/>
            <a:ext cx="5895975" cy="5302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64ED84E4-8E28-42AC-A099-A2F0979E5CB2}" type="slidenum">
              <a:rPr lang="en-GB" altLang="en-US"/>
              <a:pPr/>
              <a:t>‹#›</a:t>
            </a:fld>
            <a:endParaRPr lang="en-GB" altLang="en-US"/>
          </a:p>
        </p:txBody>
      </p:sp>
    </p:spTree>
    <p:extLst>
      <p:ext uri="{BB962C8B-B14F-4D97-AF65-F5344CB8AC3E}">
        <p14:creationId xmlns:p14="http://schemas.microsoft.com/office/powerpoint/2010/main" val="1542388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386012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87324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07628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240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9188" y="2408238"/>
            <a:ext cx="22256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09846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2154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166034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666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41024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373217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13289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05450" y="1184275"/>
            <a:ext cx="1406525"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03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818185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22982046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1294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284891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113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46488" y="2408238"/>
            <a:ext cx="22129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793041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34356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8482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4824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406891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233820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472487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05450" y="1184275"/>
            <a:ext cx="1406525"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03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575213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5677035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67523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146520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0662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41725" y="2408238"/>
            <a:ext cx="2208213"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26975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718586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752703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9170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549508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60047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417430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1800" y="1184275"/>
            <a:ext cx="1408113"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670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961393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273213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664063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114674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240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9188" y="2408238"/>
            <a:ext cx="22256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433010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786928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771321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0211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173126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01889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698916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8150" y="1184275"/>
            <a:ext cx="1411288"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830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085917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9251082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993289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298375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16150"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1250" y="2408238"/>
            <a:ext cx="2216150"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090998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435874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971970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33632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343730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991430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428402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6563" y="1184275"/>
            <a:ext cx="1411287"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81463"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565389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3A0000"/>
            </a:gs>
            <a:gs pos="100000">
              <a:srgbClr val="870052"/>
            </a:gs>
          </a:gsLst>
          <a:lin ang="2700000" scaled="1"/>
        </a:gradFill>
        <a:effectLst/>
      </p:bgPr>
    </p:bg>
    <p:spTree>
      <p:nvGrpSpPr>
        <p:cNvPr id="1" name=""/>
        <p:cNvGrpSpPr/>
        <p:nvPr/>
      </p:nvGrpSpPr>
      <p:grpSpPr>
        <a:xfrm>
          <a:off x="0" y="0"/>
          <a:ext cx="0" cy="0"/>
          <a:chOff x="0" y="0"/>
          <a:chExt cx="0" cy="0"/>
        </a:xfrm>
      </p:grpSpPr>
      <p:pic>
        <p:nvPicPr>
          <p:cNvPr id="4" name="Picture 6" descr="Ribbon Alon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itle Placeholder 1"/>
          <p:cNvSpPr>
            <a:spLocks noGrp="1"/>
          </p:cNvSpPr>
          <p:nvPr>
            <p:ph type="ctrTitle"/>
          </p:nvPr>
        </p:nvSpPr>
        <p:spPr>
          <a:xfrm>
            <a:off x="1282700" y="1939925"/>
            <a:ext cx="6142038" cy="1470025"/>
          </a:xfrm>
        </p:spPr>
        <p:txBody>
          <a:bodyPr/>
          <a:lstStyle>
            <a:lvl1pPr>
              <a:defRPr smtClean="0">
                <a:solidFill>
                  <a:schemeClr val="bg1"/>
                </a:solidFill>
              </a:defRPr>
            </a:lvl1pPr>
          </a:lstStyle>
          <a:p>
            <a:r>
              <a:rPr lang="en-GB" smtClean="0"/>
              <a:t>Click to edit Master title style</a:t>
            </a:r>
          </a:p>
        </p:txBody>
      </p:sp>
      <p:sp>
        <p:nvSpPr>
          <p:cNvPr id="47114" name="Text Placeholder 2"/>
          <p:cNvSpPr>
            <a:spLocks noGrp="1"/>
          </p:cNvSpPr>
          <p:nvPr>
            <p:ph type="subTitle" idx="1"/>
          </p:nvPr>
        </p:nvSpPr>
        <p:spPr>
          <a:xfrm>
            <a:off x="1282700" y="3562350"/>
            <a:ext cx="6142038" cy="1752600"/>
          </a:xfrm>
        </p:spPr>
        <p:txBody>
          <a:bodyPr/>
          <a:lstStyle>
            <a:lvl1pPr>
              <a:defRPr smtClean="0">
                <a:solidFill>
                  <a:schemeClr val="bg1"/>
                </a:solidFill>
              </a:defRPr>
            </a:lvl1pPr>
          </a:lstStyle>
          <a:p>
            <a:r>
              <a:rPr lang="en-GB" smtClean="0"/>
              <a:t>Click to edit Master subtitle style</a:t>
            </a:r>
          </a:p>
        </p:txBody>
      </p:sp>
    </p:spTree>
    <p:extLst>
      <p:ext uri="{BB962C8B-B14F-4D97-AF65-F5344CB8AC3E}">
        <p14:creationId xmlns:p14="http://schemas.microsoft.com/office/powerpoint/2010/main" val="112106151"/>
      </p:ext>
    </p:extLst>
  </p:cSld>
  <p:clrMapOvr>
    <a:overrideClrMapping bg1="lt1" tx1="dk1" bg2="lt2" tx2="dk2" accent1="accent1" accent2="accent2" accent3="accent3" accent4="accent4" accent5="accent5" accent6="accent6" hlink="hlink" folHlink="folHlink"/>
  </p:clrMapOvr>
  <p:hf sldNum="0" hdr="0" ftr="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F31C2BE0-F9FA-4099-9ED2-6F127D0AEDAF}" type="slidenum">
              <a:rPr lang="en-GB" altLang="en-US"/>
              <a:pPr/>
              <a:t>‹#›</a:t>
            </a:fld>
            <a:endParaRPr lang="en-GB" altLang="en-US"/>
          </a:p>
        </p:txBody>
      </p:sp>
    </p:spTree>
    <p:extLst>
      <p:ext uri="{BB962C8B-B14F-4D97-AF65-F5344CB8AC3E}">
        <p14:creationId xmlns:p14="http://schemas.microsoft.com/office/powerpoint/2010/main" val="17483428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a:ln/>
        </p:spPr>
        <p:txBody>
          <a:bodyPr/>
          <a:lstStyle>
            <a:lvl1pPr>
              <a:defRPr/>
            </a:lvl1pPr>
          </a:lstStyle>
          <a:p>
            <a:fld id="{3B249C40-4A19-4B88-AC4B-FF125C0D6E7A}" type="slidenum">
              <a:rPr lang="en-GB" altLang="en-US"/>
              <a:pPr/>
              <a:t>‹#›</a:t>
            </a:fld>
            <a:endParaRPr lang="en-GB" altLang="en-US"/>
          </a:p>
        </p:txBody>
      </p:sp>
    </p:spTree>
    <p:extLst>
      <p:ext uri="{BB962C8B-B14F-4D97-AF65-F5344CB8AC3E}">
        <p14:creationId xmlns:p14="http://schemas.microsoft.com/office/powerpoint/2010/main" val="3696029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81113" y="1863725"/>
            <a:ext cx="3378200"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11713" y="1863725"/>
            <a:ext cx="3379787"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24DBEAC0-B1DA-47D5-995C-E3F9A3E5FC26}" type="slidenum">
              <a:rPr lang="en-GB" altLang="en-US"/>
              <a:pPr/>
              <a:t>‹#›</a:t>
            </a:fld>
            <a:endParaRPr lang="en-GB" altLang="en-US"/>
          </a:p>
        </p:txBody>
      </p:sp>
    </p:spTree>
    <p:extLst>
      <p:ext uri="{BB962C8B-B14F-4D97-AF65-F5344CB8AC3E}">
        <p14:creationId xmlns:p14="http://schemas.microsoft.com/office/powerpoint/2010/main" val="398758359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a:ln/>
        </p:spPr>
        <p:txBody>
          <a:bodyPr/>
          <a:lstStyle>
            <a:lvl1pPr>
              <a:defRPr/>
            </a:lvl1pPr>
          </a:lstStyle>
          <a:p>
            <a:fld id="{4044659B-1278-4816-82B2-E7F252FACAE8}" type="slidenum">
              <a:rPr lang="en-GB" altLang="en-US"/>
              <a:pPr/>
              <a:t>‹#›</a:t>
            </a:fld>
            <a:endParaRPr lang="en-GB" altLang="en-US"/>
          </a:p>
        </p:txBody>
      </p:sp>
    </p:spTree>
    <p:extLst>
      <p:ext uri="{BB962C8B-B14F-4D97-AF65-F5344CB8AC3E}">
        <p14:creationId xmlns:p14="http://schemas.microsoft.com/office/powerpoint/2010/main" val="22167929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a:ln/>
        </p:spPr>
        <p:txBody>
          <a:bodyPr/>
          <a:lstStyle>
            <a:lvl1pPr>
              <a:defRPr/>
            </a:lvl1pPr>
          </a:lstStyle>
          <a:p>
            <a:fld id="{138B6C23-7A83-4533-80D5-A2AF86868489}" type="slidenum">
              <a:rPr lang="en-GB" altLang="en-US"/>
              <a:pPr/>
              <a:t>‹#›</a:t>
            </a:fld>
            <a:endParaRPr lang="en-GB" altLang="en-US"/>
          </a:p>
        </p:txBody>
      </p:sp>
    </p:spTree>
    <p:extLst>
      <p:ext uri="{BB962C8B-B14F-4D97-AF65-F5344CB8AC3E}">
        <p14:creationId xmlns:p14="http://schemas.microsoft.com/office/powerpoint/2010/main" val="35614417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621E6E9F-1EA6-4BDC-8B71-5A7D323C9B70}" type="slidenum">
              <a:rPr lang="en-GB" altLang="en-US"/>
              <a:pPr/>
              <a:t>‹#›</a:t>
            </a:fld>
            <a:endParaRPr lang="en-GB" altLang="en-US"/>
          </a:p>
        </p:txBody>
      </p:sp>
    </p:spTree>
    <p:extLst>
      <p:ext uri="{BB962C8B-B14F-4D97-AF65-F5344CB8AC3E}">
        <p14:creationId xmlns:p14="http://schemas.microsoft.com/office/powerpoint/2010/main" val="1921531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E63A18AD-2D2B-4272-93DF-D0583E6039C3}" type="slidenum">
              <a:rPr lang="en-GB" altLang="en-US"/>
              <a:pPr/>
              <a:t>‹#›</a:t>
            </a:fld>
            <a:endParaRPr lang="en-GB" altLang="en-US"/>
          </a:p>
        </p:txBody>
      </p:sp>
    </p:spTree>
    <p:extLst>
      <p:ext uri="{BB962C8B-B14F-4D97-AF65-F5344CB8AC3E}">
        <p14:creationId xmlns:p14="http://schemas.microsoft.com/office/powerpoint/2010/main" val="14540975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F747986E-E1A0-4144-BFCB-D11F00D12CA6}" type="slidenum">
              <a:rPr lang="en-GB" altLang="en-US"/>
              <a:pPr/>
              <a:t>‹#›</a:t>
            </a:fld>
            <a:endParaRPr lang="en-GB" altLang="en-US"/>
          </a:p>
        </p:txBody>
      </p:sp>
    </p:spTree>
    <p:extLst>
      <p:ext uri="{BB962C8B-B14F-4D97-AF65-F5344CB8AC3E}">
        <p14:creationId xmlns:p14="http://schemas.microsoft.com/office/powerpoint/2010/main" val="41410228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053ABF29-19EA-400F-919A-98E5B36D30F4}" type="slidenum">
              <a:rPr lang="en-GB" altLang="en-US"/>
              <a:pPr/>
              <a:t>‹#›</a:t>
            </a:fld>
            <a:endParaRPr lang="en-GB" altLang="en-US"/>
          </a:p>
        </p:txBody>
      </p:sp>
    </p:spTree>
    <p:extLst>
      <p:ext uri="{BB962C8B-B14F-4D97-AF65-F5344CB8AC3E}">
        <p14:creationId xmlns:p14="http://schemas.microsoft.com/office/powerpoint/2010/main" val="42490215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9488" y="739775"/>
            <a:ext cx="2016125" cy="5302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81113" y="739775"/>
            <a:ext cx="5895975" cy="5302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49027CBF-BF4F-4BD6-9050-67E3B83C159B}" type="slidenum">
              <a:rPr lang="en-GB" altLang="en-US"/>
              <a:pPr/>
              <a:t>‹#›</a:t>
            </a:fld>
            <a:endParaRPr lang="en-GB" altLang="en-US"/>
          </a:p>
        </p:txBody>
      </p:sp>
    </p:spTree>
    <p:extLst>
      <p:ext uri="{BB962C8B-B14F-4D97-AF65-F5344CB8AC3E}">
        <p14:creationId xmlns:p14="http://schemas.microsoft.com/office/powerpoint/2010/main" val="25994242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15"/>
          <p:cNvSpPr/>
          <p:nvPr userDrawn="1"/>
        </p:nvSpPr>
        <p:spPr>
          <a:xfrm>
            <a:off x="0" y="0"/>
            <a:ext cx="9906000" cy="6858000"/>
          </a:xfrm>
          <a:prstGeom prst="rect">
            <a:avLst/>
          </a:prstGeom>
          <a:gradFill>
            <a:gsLst>
              <a:gs pos="0">
                <a:srgbClr val="0E5CA2"/>
              </a:gs>
              <a:gs pos="35000">
                <a:srgbClr val="00164C">
                  <a:lumMod val="10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US">
              <a:solidFill>
                <a:srgbClr val="FFFFFF"/>
              </a:solidFill>
              <a:latin typeface="Adobe Fangsong Std R" pitchFamily="18" charset="-128"/>
            </a:endParaRPr>
          </a:p>
        </p:txBody>
      </p:sp>
      <p:pic>
        <p:nvPicPr>
          <p:cNvPr id="5" name="Picture 11" descr="QNB_brandflag_ppt-titl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19403"/>
            <a:ext cx="2531344" cy="5819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Title Placeholder 1"/>
          <p:cNvSpPr>
            <a:spLocks noGrp="1"/>
          </p:cNvSpPr>
          <p:nvPr>
            <p:ph type="ctrTitle"/>
          </p:nvPr>
        </p:nvSpPr>
        <p:spPr>
          <a:xfrm>
            <a:off x="3446463" y="2170113"/>
            <a:ext cx="5886450" cy="1470025"/>
          </a:xfrm>
        </p:spPr>
        <p:txBody>
          <a:bodyPr anchor="b"/>
          <a:lstStyle>
            <a:lvl1pPr>
              <a:defRPr sz="2600" smtClean="0">
                <a:solidFill>
                  <a:schemeClr val="bg1"/>
                </a:solidFill>
              </a:defRPr>
            </a:lvl1pPr>
          </a:lstStyle>
          <a:p>
            <a:r>
              <a:rPr lang="en-US" smtClean="0"/>
              <a:t>Click to edit Master title style</a:t>
            </a:r>
          </a:p>
        </p:txBody>
      </p:sp>
      <p:sp>
        <p:nvSpPr>
          <p:cNvPr id="35843" name="Text Placeholder 2"/>
          <p:cNvSpPr>
            <a:spLocks noGrp="1"/>
          </p:cNvSpPr>
          <p:nvPr>
            <p:ph type="subTitle" idx="1"/>
          </p:nvPr>
        </p:nvSpPr>
        <p:spPr>
          <a:xfrm>
            <a:off x="3446463" y="3925888"/>
            <a:ext cx="5886450" cy="1752600"/>
          </a:xfrm>
        </p:spPr>
        <p:txBody>
          <a:bodyPr/>
          <a:lstStyle>
            <a:lvl1pPr>
              <a:defRPr sz="1600" smtClean="0">
                <a:solidFill>
                  <a:schemeClr val="bg1"/>
                </a:solidFill>
              </a:defRPr>
            </a:lvl1pPr>
          </a:lstStyle>
          <a:p>
            <a:r>
              <a:rPr lang="en-US" smtClean="0"/>
              <a:t>Click to edit Master subtitle style</a:t>
            </a:r>
          </a:p>
        </p:txBody>
      </p:sp>
    </p:spTree>
    <p:extLst>
      <p:ext uri="{BB962C8B-B14F-4D97-AF65-F5344CB8AC3E}">
        <p14:creationId xmlns:p14="http://schemas.microsoft.com/office/powerpoint/2010/main" val="644886182"/>
      </p:ext>
    </p:extLst>
  </p:cSld>
  <p:clrMapOvr>
    <a:masterClrMapping/>
  </p:clrMapOvr>
  <p:hf sldNum="0" hdr="0" ftr="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a:ln/>
        </p:spPr>
        <p:txBody>
          <a:bodyPr/>
          <a:lstStyle>
            <a:lvl1pPr>
              <a:defRPr/>
            </a:lvl1pPr>
          </a:lstStyle>
          <a:p>
            <a:fld id="{619DD51E-23C3-4AB3-B9A1-A43F0E8D019A}" type="slidenum">
              <a:rPr lang="en-US" altLang="en-US"/>
              <a:pPr/>
              <a:t>‹#›</a:t>
            </a:fld>
            <a:endParaRPr lang="en-US" altLang="en-US"/>
          </a:p>
        </p:txBody>
      </p:sp>
    </p:spTree>
    <p:extLst>
      <p:ext uri="{BB962C8B-B14F-4D97-AF65-F5344CB8AC3E}">
        <p14:creationId xmlns:p14="http://schemas.microsoft.com/office/powerpoint/2010/main" val="200791917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1"/>
          <p:cNvSpPr>
            <a:spLocks noGrp="1"/>
          </p:cNvSpPr>
          <p:nvPr>
            <p:ph type="title"/>
          </p:nvPr>
        </p:nvSpPr>
        <p:spPr>
          <a:xfrm>
            <a:off x="1280592" y="692696"/>
            <a:ext cx="7920880" cy="1012974"/>
          </a:xfrm>
        </p:spPr>
        <p:txBody>
          <a:bodyPr>
            <a:normAutofit/>
          </a:bodyPr>
          <a:lstStyle>
            <a:lvl1pPr>
              <a:defRPr sz="2200"/>
            </a:lvl1pPr>
          </a:lstStyle>
          <a:p>
            <a:r>
              <a:rPr lang="en-US" smtClean="0"/>
              <a:t>Click to edit Master title style</a:t>
            </a:r>
            <a:endParaRPr lang="en-US" dirty="0"/>
          </a:p>
        </p:txBody>
      </p:sp>
      <p:sp>
        <p:nvSpPr>
          <p:cNvPr id="3" name="Content Placeholder 2"/>
          <p:cNvSpPr>
            <a:spLocks noGrp="1"/>
          </p:cNvSpPr>
          <p:nvPr>
            <p:ph idx="1"/>
          </p:nvPr>
        </p:nvSpPr>
        <p:spPr>
          <a:xfrm>
            <a:off x="1280592" y="1816225"/>
            <a:ext cx="4752528" cy="3917031"/>
          </a:xfrm>
        </p:spPr>
        <p:txBody>
          <a:bodyPr>
            <a:normAutofit/>
          </a:bodyPr>
          <a:lstStyle>
            <a:lvl1pPr marL="0" indent="0">
              <a:lnSpc>
                <a:spcPct val="90000"/>
              </a:lnSpc>
              <a:buClr>
                <a:schemeClr val="accent1"/>
              </a:buClr>
              <a:buFont typeface="Arial" pitchFamily="34" charset="0"/>
              <a:buNone/>
              <a:defRPr sz="1600"/>
            </a:lvl1pPr>
            <a:lvl2pPr marL="180975" indent="-180975">
              <a:lnSpc>
                <a:spcPct val="90000"/>
              </a:lnSpc>
              <a:buClr>
                <a:schemeClr val="accent1"/>
              </a:buClr>
              <a:defRPr sz="1600"/>
            </a:lvl2pPr>
            <a:lvl3pPr marL="357188" indent="-176213">
              <a:lnSpc>
                <a:spcPct val="90000"/>
              </a:lnSpc>
              <a:buClr>
                <a:schemeClr val="accent1"/>
              </a:buClr>
              <a:defRPr sz="1600"/>
            </a:lvl3pPr>
            <a:lvl4pPr marL="538163" indent="-180975">
              <a:lnSpc>
                <a:spcPct val="90000"/>
              </a:lnSpc>
              <a:buClr>
                <a:schemeClr val="accent1"/>
              </a:buClr>
              <a:defRPr sz="1600"/>
            </a:lvl4pPr>
            <a:lvl5pPr marL="804863" indent="-266700">
              <a:lnSpc>
                <a:spcPct val="90000"/>
              </a:lnSpc>
              <a:buClr>
                <a:schemeClr val="accent1"/>
              </a:buCl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Picture Placeholder 6"/>
          <p:cNvSpPr>
            <a:spLocks noGrp="1"/>
          </p:cNvSpPr>
          <p:nvPr>
            <p:ph type="pic" sz="quarter" idx="13"/>
          </p:nvPr>
        </p:nvSpPr>
        <p:spPr>
          <a:xfrm>
            <a:off x="6305155" y="1816225"/>
            <a:ext cx="2879998" cy="2160587"/>
          </a:xfrm>
        </p:spPr>
        <p:txBody>
          <a:bodyPr rtlCol="0">
            <a:normAutofit/>
          </a:bodyPr>
          <a:lstStyle/>
          <a:p>
            <a:pPr lvl="0"/>
            <a:endParaRPr lang="en-GB" noProof="0"/>
          </a:p>
        </p:txBody>
      </p:sp>
      <p:sp>
        <p:nvSpPr>
          <p:cNvPr id="10" name="Text Placeholder 9"/>
          <p:cNvSpPr>
            <a:spLocks noGrp="1"/>
          </p:cNvSpPr>
          <p:nvPr>
            <p:ph type="body" sz="quarter" idx="14"/>
          </p:nvPr>
        </p:nvSpPr>
        <p:spPr>
          <a:xfrm>
            <a:off x="6305155" y="4076700"/>
            <a:ext cx="2104229" cy="1223963"/>
          </a:xfrm>
        </p:spPr>
        <p:txBody>
          <a:bodyPr>
            <a:normAutofit/>
          </a:bodyPr>
          <a:lstStyle>
            <a:lvl1pPr>
              <a:lnSpc>
                <a:spcPct val="110000"/>
              </a:lnSpc>
              <a:buFontTx/>
              <a:buNone/>
              <a:defRPr sz="900" i="1"/>
            </a:lvl1pPr>
            <a:lvl2pPr marL="0" indent="0">
              <a:lnSpc>
                <a:spcPct val="110000"/>
              </a:lnSpc>
              <a:buFontTx/>
              <a:buNone/>
              <a:defRPr sz="900" i="1"/>
            </a:lvl2pPr>
            <a:lvl3pPr marL="266700" indent="0">
              <a:buFontTx/>
              <a:buNone/>
              <a:tabLst/>
              <a:defRPr/>
            </a:lvl3pPr>
            <a:lvl4pPr marL="533400" indent="0" algn="l">
              <a:buFontTx/>
              <a:buNone/>
              <a:tabLst/>
              <a:defRPr/>
            </a:lvl4pPr>
            <a:lvl5pPr marL="800100" indent="0">
              <a:buFontTx/>
              <a:buNone/>
              <a:defRPr/>
            </a:lvl5pPr>
          </a:lstStyle>
          <a:p>
            <a:pPr lvl="0"/>
            <a:r>
              <a:rPr lang="en-US" smtClean="0"/>
              <a:t>Click to edit Master text styles</a:t>
            </a:r>
          </a:p>
          <a:p>
            <a:pPr lvl="1"/>
            <a:r>
              <a:rPr lang="en-US" smtClean="0"/>
              <a:t>Second level</a:t>
            </a:r>
          </a:p>
          <a:p>
            <a:pPr lvl="1"/>
            <a:r>
              <a:rPr lang="en-US" smtClean="0"/>
              <a:t>Third level</a:t>
            </a:r>
          </a:p>
          <a:p>
            <a:pPr lvl="1"/>
            <a:r>
              <a:rPr lang="en-US" smtClean="0"/>
              <a:t>Fourth level</a:t>
            </a:r>
          </a:p>
          <a:p>
            <a:pPr lvl="1"/>
            <a:r>
              <a:rPr lang="en-US" smtClean="0"/>
              <a:t>Fifth level</a:t>
            </a:r>
            <a:endParaRPr lang="en-US" dirty="0"/>
          </a:p>
        </p:txBody>
      </p:sp>
      <p:sp>
        <p:nvSpPr>
          <p:cNvPr id="6" name="Slide Number Placeholder 5"/>
          <p:cNvSpPr>
            <a:spLocks noGrp="1"/>
          </p:cNvSpPr>
          <p:nvPr>
            <p:ph type="sldNum" sz="quarter" idx="15"/>
          </p:nvPr>
        </p:nvSpPr>
        <p:spPr>
          <a:ln/>
        </p:spPr>
        <p:txBody>
          <a:bodyPr/>
          <a:lstStyle>
            <a:lvl1pPr>
              <a:defRPr/>
            </a:lvl1pPr>
          </a:lstStyle>
          <a:p>
            <a:fld id="{17188C35-0FB0-460C-BCC6-8F1E114E3D0F}" type="slidenum">
              <a:rPr lang="en-US" altLang="en-US"/>
              <a:pPr/>
              <a:t>‹#›</a:t>
            </a:fld>
            <a:endParaRPr lang="en-US" altLang="en-US"/>
          </a:p>
        </p:txBody>
      </p:sp>
    </p:spTree>
    <p:extLst>
      <p:ext uri="{BB962C8B-B14F-4D97-AF65-F5344CB8AC3E}">
        <p14:creationId xmlns:p14="http://schemas.microsoft.com/office/powerpoint/2010/main" val="37407722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page">
    <p:spTree>
      <p:nvGrpSpPr>
        <p:cNvPr id="1" name=""/>
        <p:cNvGrpSpPr/>
        <p:nvPr/>
      </p:nvGrpSpPr>
      <p:grpSpPr>
        <a:xfrm>
          <a:off x="0" y="0"/>
          <a:ext cx="0" cy="0"/>
          <a:chOff x="0" y="0"/>
          <a:chExt cx="0" cy="0"/>
        </a:xfrm>
      </p:grpSpPr>
      <p:sp>
        <p:nvSpPr>
          <p:cNvPr id="2" name="Title 1"/>
          <p:cNvSpPr>
            <a:spLocks noGrp="1"/>
          </p:cNvSpPr>
          <p:nvPr>
            <p:ph type="title"/>
          </p:nvPr>
        </p:nvSpPr>
        <p:spPr>
          <a:xfrm>
            <a:off x="1280592" y="692696"/>
            <a:ext cx="7920880" cy="1012974"/>
          </a:xfrm>
        </p:spPr>
        <p:txBody>
          <a:bodyPr>
            <a:normAutofit/>
          </a:bodyPr>
          <a:lstStyle>
            <a:lvl1pPr>
              <a:defRPr sz="2200"/>
            </a:lvl1pPr>
          </a:lstStyle>
          <a:p>
            <a:r>
              <a:rPr lang="en-US" smtClean="0"/>
              <a:t>Click to edit Master title style</a:t>
            </a:r>
            <a:endParaRPr lang="en-US" dirty="0"/>
          </a:p>
        </p:txBody>
      </p:sp>
      <p:sp>
        <p:nvSpPr>
          <p:cNvPr id="3" name="Content Placeholder 2"/>
          <p:cNvSpPr>
            <a:spLocks noGrp="1"/>
          </p:cNvSpPr>
          <p:nvPr>
            <p:ph idx="1"/>
          </p:nvPr>
        </p:nvSpPr>
        <p:spPr>
          <a:xfrm>
            <a:off x="1280592" y="1816225"/>
            <a:ext cx="7920880" cy="3917031"/>
          </a:xfrm>
        </p:spPr>
        <p:txBody>
          <a:bodyPr>
            <a:normAutofit/>
          </a:bodyPr>
          <a:lstStyle>
            <a:lvl1pPr marL="0" indent="0">
              <a:lnSpc>
                <a:spcPct val="90000"/>
              </a:lnSpc>
              <a:buClr>
                <a:schemeClr val="accent1"/>
              </a:buClr>
              <a:buFont typeface="Arial" pitchFamily="34" charset="0"/>
              <a:buNone/>
              <a:defRPr sz="2000"/>
            </a:lvl1pPr>
            <a:lvl2pPr marL="180975" indent="-180975">
              <a:lnSpc>
                <a:spcPct val="90000"/>
              </a:lnSpc>
              <a:buClr>
                <a:schemeClr val="accent1"/>
              </a:buClr>
              <a:defRPr sz="2000"/>
            </a:lvl2pPr>
            <a:lvl3pPr marL="357188" indent="-176213">
              <a:lnSpc>
                <a:spcPct val="90000"/>
              </a:lnSpc>
              <a:buClr>
                <a:schemeClr val="accent1"/>
              </a:buClr>
              <a:defRPr sz="2000"/>
            </a:lvl3pPr>
            <a:lvl4pPr marL="538163" indent="-180975">
              <a:lnSpc>
                <a:spcPct val="90000"/>
              </a:lnSpc>
              <a:buClr>
                <a:schemeClr val="accent1"/>
              </a:buClr>
              <a:defRPr sz="2000"/>
            </a:lvl4pPr>
            <a:lvl5pPr marL="804863" indent="-266700">
              <a:lnSpc>
                <a:spcPct val="90000"/>
              </a:lnSpc>
              <a:buClr>
                <a:schemeClr val="accent1"/>
              </a:buCl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5"/>
          <p:cNvSpPr>
            <a:spLocks noGrp="1"/>
          </p:cNvSpPr>
          <p:nvPr>
            <p:ph type="sldNum" sz="quarter" idx="10"/>
          </p:nvPr>
        </p:nvSpPr>
        <p:spPr>
          <a:ln/>
        </p:spPr>
        <p:txBody>
          <a:bodyPr/>
          <a:lstStyle>
            <a:lvl1pPr>
              <a:defRPr/>
            </a:lvl1pPr>
          </a:lstStyle>
          <a:p>
            <a:fld id="{A28D9554-2547-4096-9700-FC7086BF85C4}" type="slidenum">
              <a:rPr lang="en-US" altLang="en-US"/>
              <a:pPr/>
              <a:t>‹#›</a:t>
            </a:fld>
            <a:endParaRPr lang="en-US" altLang="en-US"/>
          </a:p>
        </p:txBody>
      </p:sp>
    </p:spTree>
    <p:extLst>
      <p:ext uri="{BB962C8B-B14F-4D97-AF65-F5344CB8AC3E}">
        <p14:creationId xmlns:p14="http://schemas.microsoft.com/office/powerpoint/2010/main" val="118342154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81113" y="739775"/>
            <a:ext cx="8064500" cy="1012825"/>
          </a:xfrm>
        </p:spPr>
        <p:txBody>
          <a:bodyPr/>
          <a:lstStyle/>
          <a:p>
            <a:r>
              <a:rPr lang="en-US"/>
              <a:t>Click to edit Master title style</a:t>
            </a:r>
          </a:p>
        </p:txBody>
      </p:sp>
      <p:sp>
        <p:nvSpPr>
          <p:cNvPr id="3" name="Text Placeholder 2"/>
          <p:cNvSpPr>
            <a:spLocks noGrp="1"/>
          </p:cNvSpPr>
          <p:nvPr>
            <p:ph type="body" sz="half" idx="1"/>
          </p:nvPr>
        </p:nvSpPr>
        <p:spPr>
          <a:xfrm>
            <a:off x="1281113" y="1863725"/>
            <a:ext cx="3956050" cy="4178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89563" y="1863725"/>
            <a:ext cx="3956050" cy="4178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04CAAD5D-647D-443E-8A1B-26E282E60D2D}" type="slidenum">
              <a:rPr lang="en-US" altLang="en-US"/>
              <a:pPr/>
              <a:t>‹#›</a:t>
            </a:fld>
            <a:endParaRPr lang="en-US" altLang="en-US"/>
          </a:p>
        </p:txBody>
      </p:sp>
    </p:spTree>
    <p:extLst>
      <p:ext uri="{BB962C8B-B14F-4D97-AF65-F5344CB8AC3E}">
        <p14:creationId xmlns:p14="http://schemas.microsoft.com/office/powerpoint/2010/main" val="25995106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8FE0A9C1-188C-468C-9958-2BB7254909C0}" type="slidenum">
              <a:rPr lang="en-US" altLang="en-US"/>
              <a:pPr/>
              <a:t>‹#›</a:t>
            </a:fld>
            <a:endParaRPr lang="en-US" altLang="en-US"/>
          </a:p>
        </p:txBody>
      </p:sp>
    </p:spTree>
    <p:extLst>
      <p:ext uri="{BB962C8B-B14F-4D97-AF65-F5344CB8AC3E}">
        <p14:creationId xmlns:p14="http://schemas.microsoft.com/office/powerpoint/2010/main" val="33915706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87338" y="258763"/>
            <a:ext cx="9331325" cy="92233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287338" y="1173163"/>
            <a:ext cx="4589462" cy="5060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1173163"/>
            <a:ext cx="4589463" cy="5060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5"/>
          <p:cNvSpPr>
            <a:spLocks noGrp="1"/>
          </p:cNvSpPr>
          <p:nvPr>
            <p:ph type="sldNum" sz="quarter" idx="10"/>
          </p:nvPr>
        </p:nvSpPr>
        <p:spPr>
          <a:ln/>
        </p:spPr>
        <p:txBody>
          <a:bodyPr/>
          <a:lstStyle>
            <a:lvl1pPr>
              <a:defRPr/>
            </a:lvl1pPr>
          </a:lstStyle>
          <a:p>
            <a:fld id="{650F40D2-581A-49F5-A8E2-DAD79D0A5D5B}" type="slidenum">
              <a:rPr lang="en-US" altLang="en-US"/>
              <a:pPr/>
              <a:t>‹#›</a:t>
            </a:fld>
            <a:endParaRPr lang="en-US" altLang="en-US"/>
          </a:p>
        </p:txBody>
      </p:sp>
    </p:spTree>
    <p:extLst>
      <p:ext uri="{BB962C8B-B14F-4D97-AF65-F5344CB8AC3E}">
        <p14:creationId xmlns:p14="http://schemas.microsoft.com/office/powerpoint/2010/main" val="11574625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7338" y="258763"/>
            <a:ext cx="9331325" cy="922337"/>
          </a:xfrm>
        </p:spPr>
        <p:txBody>
          <a:bodyPr/>
          <a:lstStyle/>
          <a:p>
            <a:r>
              <a:rPr lang="en-US" smtClean="0"/>
              <a:t>Click to edit Master title style</a:t>
            </a:r>
            <a:endParaRPr lang="en-US"/>
          </a:p>
        </p:txBody>
      </p:sp>
      <p:sp>
        <p:nvSpPr>
          <p:cNvPr id="3" name="Slide Number Placeholder 5"/>
          <p:cNvSpPr>
            <a:spLocks noGrp="1"/>
          </p:cNvSpPr>
          <p:nvPr>
            <p:ph type="sldNum" sz="quarter" idx="10"/>
          </p:nvPr>
        </p:nvSpPr>
        <p:spPr>
          <a:ln/>
        </p:spPr>
        <p:txBody>
          <a:bodyPr/>
          <a:lstStyle>
            <a:lvl1pPr>
              <a:defRPr/>
            </a:lvl1pPr>
          </a:lstStyle>
          <a:p>
            <a:fld id="{EAB92969-8876-436D-8477-9215F712A2ED}" type="slidenum">
              <a:rPr lang="en-US" altLang="en-US"/>
              <a:pPr/>
              <a:t>‹#›</a:t>
            </a:fld>
            <a:endParaRPr lang="en-US" altLang="en-US"/>
          </a:p>
        </p:txBody>
      </p:sp>
    </p:spTree>
    <p:extLst>
      <p:ext uri="{BB962C8B-B14F-4D97-AF65-F5344CB8AC3E}">
        <p14:creationId xmlns:p14="http://schemas.microsoft.com/office/powerpoint/2010/main" val="18788778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3A0000"/>
            </a:gs>
            <a:gs pos="100000">
              <a:srgbClr val="870052"/>
            </a:gs>
          </a:gsLst>
          <a:lin ang="2700000" scaled="1"/>
        </a:gradFill>
        <a:effectLst/>
      </p:bgPr>
    </p:bg>
    <p:spTree>
      <p:nvGrpSpPr>
        <p:cNvPr id="1" name=""/>
        <p:cNvGrpSpPr/>
        <p:nvPr/>
      </p:nvGrpSpPr>
      <p:grpSpPr>
        <a:xfrm>
          <a:off x="0" y="0"/>
          <a:ext cx="0" cy="0"/>
          <a:chOff x="0" y="0"/>
          <a:chExt cx="0" cy="0"/>
        </a:xfrm>
      </p:grpSpPr>
      <p:pic>
        <p:nvPicPr>
          <p:cNvPr id="4" name="Picture 6" descr="Ribbon Alon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itle Placeholder 1"/>
          <p:cNvSpPr>
            <a:spLocks noGrp="1"/>
          </p:cNvSpPr>
          <p:nvPr>
            <p:ph type="ctrTitle"/>
          </p:nvPr>
        </p:nvSpPr>
        <p:spPr>
          <a:xfrm>
            <a:off x="1282700" y="1939925"/>
            <a:ext cx="6142038" cy="1470025"/>
          </a:xfrm>
        </p:spPr>
        <p:txBody>
          <a:bodyPr/>
          <a:lstStyle>
            <a:lvl1pPr>
              <a:defRPr smtClean="0">
                <a:solidFill>
                  <a:schemeClr val="bg1"/>
                </a:solidFill>
              </a:defRPr>
            </a:lvl1pPr>
          </a:lstStyle>
          <a:p>
            <a:r>
              <a:rPr lang="en-US" smtClean="0"/>
              <a:t>Click to edit Master title style</a:t>
            </a:r>
          </a:p>
        </p:txBody>
      </p:sp>
      <p:sp>
        <p:nvSpPr>
          <p:cNvPr id="47114" name="Text Placeholder 2"/>
          <p:cNvSpPr>
            <a:spLocks noGrp="1"/>
          </p:cNvSpPr>
          <p:nvPr>
            <p:ph type="subTitle" idx="1"/>
          </p:nvPr>
        </p:nvSpPr>
        <p:spPr>
          <a:xfrm>
            <a:off x="1282700" y="3562350"/>
            <a:ext cx="6142038" cy="1752600"/>
          </a:xfrm>
        </p:spPr>
        <p:txBody>
          <a:bodyPr/>
          <a:lstStyle>
            <a:lvl1pPr>
              <a:defRPr smtClean="0">
                <a:solidFill>
                  <a:schemeClr val="bg1"/>
                </a:solidFill>
              </a:defRPr>
            </a:lvl1pPr>
          </a:lstStyle>
          <a:p>
            <a:r>
              <a:rPr lang="en-US" smtClean="0"/>
              <a:t>Click to edit Master subtitle style</a:t>
            </a:r>
          </a:p>
        </p:txBody>
      </p:sp>
    </p:spTree>
    <p:extLst>
      <p:ext uri="{BB962C8B-B14F-4D97-AF65-F5344CB8AC3E}">
        <p14:creationId xmlns:p14="http://schemas.microsoft.com/office/powerpoint/2010/main" val="200501881"/>
      </p:ext>
    </p:extLst>
  </p:cSld>
  <p:clrMapOvr>
    <a:overrideClrMapping bg1="lt1" tx1="dk1" bg2="lt2" tx2="dk2" accent1="accent1" accent2="accent2" accent3="accent3" accent4="accent4" accent5="accent5" accent6="accent6" hlink="hlink" folHlink="folHlink"/>
  </p:clrMapOvr>
  <p:hf sldNum="0"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9DEA4117-FAD5-4967-B6C3-79F76000617E}" type="slidenum">
              <a:rPr lang="en-US" altLang="en-US"/>
              <a:pPr/>
              <a:t>‹#›</a:t>
            </a:fld>
            <a:endParaRPr lang="en-US" altLang="en-US"/>
          </a:p>
        </p:txBody>
      </p:sp>
    </p:spTree>
    <p:extLst>
      <p:ext uri="{BB962C8B-B14F-4D97-AF65-F5344CB8AC3E}">
        <p14:creationId xmlns:p14="http://schemas.microsoft.com/office/powerpoint/2010/main" val="328818531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a:ln/>
        </p:spPr>
        <p:txBody>
          <a:bodyPr/>
          <a:lstStyle>
            <a:lvl1pPr>
              <a:defRPr/>
            </a:lvl1pPr>
          </a:lstStyle>
          <a:p>
            <a:fld id="{AEFB678A-3FE6-4E11-B144-C03CA7D8AB62}" type="slidenum">
              <a:rPr lang="en-US" altLang="en-US"/>
              <a:pPr/>
              <a:t>‹#›</a:t>
            </a:fld>
            <a:endParaRPr lang="en-US" altLang="en-US"/>
          </a:p>
        </p:txBody>
      </p:sp>
    </p:spTree>
    <p:extLst>
      <p:ext uri="{BB962C8B-B14F-4D97-AF65-F5344CB8AC3E}">
        <p14:creationId xmlns:p14="http://schemas.microsoft.com/office/powerpoint/2010/main" val="10390318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81113" y="1863725"/>
            <a:ext cx="3378200"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11713" y="1863725"/>
            <a:ext cx="3379787"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A918B399-C5FA-48BB-AE4B-1F9EE63927DD}" type="slidenum">
              <a:rPr lang="en-US" altLang="en-US"/>
              <a:pPr/>
              <a:t>‹#›</a:t>
            </a:fld>
            <a:endParaRPr lang="en-US" altLang="en-US"/>
          </a:p>
        </p:txBody>
      </p:sp>
    </p:spTree>
    <p:extLst>
      <p:ext uri="{BB962C8B-B14F-4D97-AF65-F5344CB8AC3E}">
        <p14:creationId xmlns:p14="http://schemas.microsoft.com/office/powerpoint/2010/main" val="13797785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a:ln/>
        </p:spPr>
        <p:txBody>
          <a:bodyPr/>
          <a:lstStyle>
            <a:lvl1pPr>
              <a:defRPr/>
            </a:lvl1pPr>
          </a:lstStyle>
          <a:p>
            <a:fld id="{39F2B8B3-0375-467F-A4FB-8B2A23306C31}" type="slidenum">
              <a:rPr lang="en-US" altLang="en-US"/>
              <a:pPr/>
              <a:t>‹#›</a:t>
            </a:fld>
            <a:endParaRPr lang="en-US" altLang="en-US"/>
          </a:p>
        </p:txBody>
      </p:sp>
    </p:spTree>
    <p:extLst>
      <p:ext uri="{BB962C8B-B14F-4D97-AF65-F5344CB8AC3E}">
        <p14:creationId xmlns:p14="http://schemas.microsoft.com/office/powerpoint/2010/main" val="233955130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a:ln/>
        </p:spPr>
        <p:txBody>
          <a:bodyPr/>
          <a:lstStyle>
            <a:lvl1pPr>
              <a:defRPr/>
            </a:lvl1pPr>
          </a:lstStyle>
          <a:p>
            <a:fld id="{3DF07174-2BB2-41AD-9CB8-E50D7324911C}" type="slidenum">
              <a:rPr lang="en-US" altLang="en-US"/>
              <a:pPr/>
              <a:t>‹#›</a:t>
            </a:fld>
            <a:endParaRPr lang="en-US" altLang="en-US"/>
          </a:p>
        </p:txBody>
      </p:sp>
    </p:spTree>
    <p:extLst>
      <p:ext uri="{BB962C8B-B14F-4D97-AF65-F5344CB8AC3E}">
        <p14:creationId xmlns:p14="http://schemas.microsoft.com/office/powerpoint/2010/main" val="39660257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27541214-F6BD-42C9-B10F-03FF2E5363D7}" type="slidenum">
              <a:rPr lang="en-US" altLang="en-US"/>
              <a:pPr/>
              <a:t>‹#›</a:t>
            </a:fld>
            <a:endParaRPr lang="en-US" altLang="en-US"/>
          </a:p>
        </p:txBody>
      </p:sp>
    </p:spTree>
    <p:extLst>
      <p:ext uri="{BB962C8B-B14F-4D97-AF65-F5344CB8AC3E}">
        <p14:creationId xmlns:p14="http://schemas.microsoft.com/office/powerpoint/2010/main" val="217182688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FEC920C6-7840-4559-AD23-93F0B501576A}" type="slidenum">
              <a:rPr lang="en-US" altLang="en-US"/>
              <a:pPr/>
              <a:t>‹#›</a:t>
            </a:fld>
            <a:endParaRPr lang="en-US" altLang="en-US"/>
          </a:p>
        </p:txBody>
      </p:sp>
    </p:spTree>
    <p:extLst>
      <p:ext uri="{BB962C8B-B14F-4D97-AF65-F5344CB8AC3E}">
        <p14:creationId xmlns:p14="http://schemas.microsoft.com/office/powerpoint/2010/main" val="37274714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DD237DA5-1364-433B-86FE-BE8FF24DC480}" type="slidenum">
              <a:rPr lang="en-US" altLang="en-US"/>
              <a:pPr/>
              <a:t>‹#›</a:t>
            </a:fld>
            <a:endParaRPr lang="en-US" altLang="en-US"/>
          </a:p>
        </p:txBody>
      </p:sp>
    </p:spTree>
    <p:extLst>
      <p:ext uri="{BB962C8B-B14F-4D97-AF65-F5344CB8AC3E}">
        <p14:creationId xmlns:p14="http://schemas.microsoft.com/office/powerpoint/2010/main" val="11487669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DB4C7BB6-9B8C-44C6-A0C1-83F9A4F8540D}" type="slidenum">
              <a:rPr lang="en-US" altLang="en-US"/>
              <a:pPr/>
              <a:t>‹#›</a:t>
            </a:fld>
            <a:endParaRPr lang="en-US" altLang="en-US"/>
          </a:p>
        </p:txBody>
      </p:sp>
    </p:spTree>
    <p:extLst>
      <p:ext uri="{BB962C8B-B14F-4D97-AF65-F5344CB8AC3E}">
        <p14:creationId xmlns:p14="http://schemas.microsoft.com/office/powerpoint/2010/main" val="293927783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9488" y="739775"/>
            <a:ext cx="2016125" cy="5302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81113" y="739775"/>
            <a:ext cx="5895975" cy="5302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B1D5B838-274B-423C-B81B-169E43209009}" type="slidenum">
              <a:rPr lang="en-US" altLang="en-US"/>
              <a:pPr/>
              <a:t>‹#›</a:t>
            </a:fld>
            <a:endParaRPr lang="en-US" altLang="en-US"/>
          </a:p>
        </p:txBody>
      </p:sp>
    </p:spTree>
    <p:extLst>
      <p:ext uri="{BB962C8B-B14F-4D97-AF65-F5344CB8AC3E}">
        <p14:creationId xmlns:p14="http://schemas.microsoft.com/office/powerpoint/2010/main" val="110107867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404372776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9584205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60364923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240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9188" y="2408238"/>
            <a:ext cx="22256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61149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6719684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4347711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22419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2014459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3582603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800292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05450" y="1184275"/>
            <a:ext cx="1406525"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03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1956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3.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2.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4.emf"/><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oleObject" Target="../embeddings/oleObject1.bin"/><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tags" Target="../tags/tag2.xml"/><Relationship Id="rId5" Type="http://schemas.openxmlformats.org/officeDocument/2006/relationships/slideLayout" Target="../slideLayouts/slideLayout82.xml"/><Relationship Id="rId10" Type="http://schemas.openxmlformats.org/officeDocument/2006/relationships/vmlDrawing" Target="../drawings/vmlDrawing1.vml"/><Relationship Id="rId4" Type="http://schemas.openxmlformats.org/officeDocument/2006/relationships/slideLayout" Target="../slideLayouts/slideLayout81.xml"/><Relationship Id="rId9" Type="http://schemas.openxmlformats.org/officeDocument/2006/relationships/theme" Target="../theme/theme8.xml"/><Relationship Id="rId1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image" Target="../media/image1.png"/><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theme" Target="../theme/theme9.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image" Target="../media/image3.png"/><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theme" Target="../theme/theme10.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87338" y="258763"/>
            <a:ext cx="933132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GB" altLang="en-US" smtClean="0"/>
          </a:p>
        </p:txBody>
      </p:sp>
      <p:sp>
        <p:nvSpPr>
          <p:cNvPr id="1027" name="Text Placeholder 2"/>
          <p:cNvSpPr>
            <a:spLocks noGrp="1"/>
          </p:cNvSpPr>
          <p:nvPr>
            <p:ph type="body" idx="1"/>
          </p:nvPr>
        </p:nvSpPr>
        <p:spPr bwMode="auto">
          <a:xfrm>
            <a:off x="287338" y="1184275"/>
            <a:ext cx="9331325"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lvl1pPr>
          </a:lstStyle>
          <a:p>
            <a:fld id="{3E806883-F982-4708-88B3-FC4C106CB7FA}" type="slidenum">
              <a:rPr lang="en-GB" altLang="en-US"/>
              <a:pPr/>
              <a:t>‹#›</a:t>
            </a:fld>
            <a:endParaRPr lang="en-GB" altLang="en-US"/>
          </a:p>
        </p:txBody>
      </p:sp>
      <p:pic>
        <p:nvPicPr>
          <p:cNvPr id="1029" name="Picture 16" descr="QNB_logo_cmyk_20mm_above_sm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6" r:id="rId1"/>
    <p:sldLayoutId id="2147490553" r:id="rId2"/>
    <p:sldLayoutId id="2147490554" r:id="rId3"/>
    <p:sldLayoutId id="2147490555" r:id="rId4"/>
    <p:sldLayoutId id="2147490556" r:id="rId5"/>
    <p:sldLayoutId id="2147490557" r:id="rId6"/>
    <p:sldLayoutId id="2147490558" r:id="rId7"/>
    <p:sldLayoutId id="2147490559" r:id="rId8"/>
    <p:sldLayoutId id="2147490560" r:id="rId9"/>
    <p:sldLayoutId id="2147490561" r:id="rId10"/>
    <p:sldLayoutId id="2147490562" r:id="rId11"/>
  </p:sldLayoutIdLst>
  <p:hf hdr="0" ftr="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chemeClr val="hlink"/>
          </a:solidFill>
          <a:latin typeface="Times New Roman" pitchFamily="18" charset="0"/>
          <a:cs typeface="Times New Roman" pitchFamily="18" charset="0"/>
        </a:defRPr>
      </a:lvl6pPr>
      <a:lvl7pPr marL="914400" algn="l" rtl="0" fontAlgn="base">
        <a:spcBef>
          <a:spcPct val="0"/>
        </a:spcBef>
        <a:spcAft>
          <a:spcPct val="0"/>
        </a:spcAft>
        <a:defRPr sz="2400">
          <a:solidFill>
            <a:schemeClr val="hlink"/>
          </a:solidFill>
          <a:latin typeface="Times New Roman" pitchFamily="18" charset="0"/>
          <a:cs typeface="Times New Roman" pitchFamily="18" charset="0"/>
        </a:defRPr>
      </a:lvl7pPr>
      <a:lvl8pPr marL="1371600" algn="l" rtl="0" fontAlgn="base">
        <a:spcBef>
          <a:spcPct val="0"/>
        </a:spcBef>
        <a:spcAft>
          <a:spcPct val="0"/>
        </a:spcAft>
        <a:defRPr sz="2400">
          <a:solidFill>
            <a:schemeClr val="hlink"/>
          </a:solidFill>
          <a:latin typeface="Times New Roman" pitchFamily="18" charset="0"/>
          <a:cs typeface="Times New Roman" pitchFamily="18" charset="0"/>
        </a:defRPr>
      </a:lvl8pPr>
      <a:lvl9pPr marL="1828800" algn="l" rtl="0" fontAlgn="base">
        <a:spcBef>
          <a:spcPct val="0"/>
        </a:spcBef>
        <a:spcAft>
          <a:spcPct val="0"/>
        </a:spcAft>
        <a:defRPr sz="2400">
          <a:solidFill>
            <a:schemeClr val="hlink"/>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Clr>
          <a:schemeClr val="tx1"/>
        </a:buClr>
        <a:buFont typeface="Times New Roman" panose="02020603050405020304" pitchFamily="18" charset="0"/>
        <a:buChar char="•"/>
        <a:defRPr sz="3200">
          <a:solidFill>
            <a:schemeClr val="tx1"/>
          </a:solidFill>
          <a:latin typeface="+mn-lt"/>
          <a:ea typeface="+mn-ea"/>
          <a:cs typeface="+mn-cs"/>
        </a:defRPr>
      </a:lvl1pPr>
      <a:lvl2pPr marL="180975" indent="-179388" algn="l" rtl="0" eaLnBrk="0" fontAlgn="base" hangingPunct="0">
        <a:lnSpc>
          <a:spcPct val="90000"/>
        </a:lnSpc>
        <a:spcBef>
          <a:spcPct val="0"/>
        </a:spcBef>
        <a:spcAft>
          <a:spcPts val="1000"/>
        </a:spcAft>
        <a:buClr>
          <a:schemeClr val="tx1"/>
        </a:buClr>
        <a:buFont typeface="Times New Roman" panose="02020603050405020304" pitchFamily="18" charset="0"/>
        <a:buChar char="•"/>
        <a:defRPr sz="2800">
          <a:solidFill>
            <a:schemeClr val="tx1"/>
          </a:solidFill>
          <a:latin typeface="+mn-lt"/>
          <a:cs typeface="+mn-cs"/>
        </a:defRPr>
      </a:lvl2pPr>
      <a:lvl3pPr marL="366713" indent="-157163" algn="l" rtl="0" eaLnBrk="0" fontAlgn="base" hangingPunct="0">
        <a:lnSpc>
          <a:spcPct val="90000"/>
        </a:lnSpc>
        <a:spcBef>
          <a:spcPct val="0"/>
        </a:spcBef>
        <a:spcAft>
          <a:spcPts val="1000"/>
        </a:spcAft>
        <a:buClr>
          <a:schemeClr val="tx1"/>
        </a:buClr>
        <a:buFont typeface="Times New Roman" panose="02020603050405020304" pitchFamily="18" charset="0"/>
        <a:buChar char="–"/>
        <a:defRPr sz="2400">
          <a:solidFill>
            <a:schemeClr val="tx1"/>
          </a:solidFill>
          <a:latin typeface="+mn-lt"/>
          <a:cs typeface="+mn-cs"/>
        </a:defRPr>
      </a:lvl3pPr>
      <a:lvl4pPr marL="585788" indent="-204788" algn="l" rtl="0" eaLnBrk="0" fontAlgn="base" hangingPunct="0">
        <a:lnSpc>
          <a:spcPct val="90000"/>
        </a:lnSpc>
        <a:spcBef>
          <a:spcPct val="0"/>
        </a:spcBef>
        <a:spcAft>
          <a:spcPts val="1000"/>
        </a:spcAft>
        <a:buClr>
          <a:schemeClr val="tx1"/>
        </a:buClr>
        <a:buFont typeface="Times New Roman" panose="02020603050405020304" pitchFamily="18" charset="0"/>
        <a:buChar char="•"/>
        <a:defRPr sz="2000">
          <a:solidFill>
            <a:schemeClr val="tx1"/>
          </a:solidFill>
          <a:latin typeface="+mn-lt"/>
          <a:cs typeface="+mn-cs"/>
        </a:defRPr>
      </a:lvl4pPr>
      <a:lvl5pPr marL="790575" indent="-185738" algn="l" rtl="0" eaLnBrk="0" fontAlgn="base" hangingPunct="0">
        <a:lnSpc>
          <a:spcPct val="90000"/>
        </a:lnSpc>
        <a:spcBef>
          <a:spcPct val="0"/>
        </a:spcBef>
        <a:spcAft>
          <a:spcPts val="1000"/>
        </a:spcAft>
        <a:buClr>
          <a:schemeClr val="tx1"/>
        </a:buClr>
        <a:buFont typeface="Times New Roman" panose="02020603050405020304" pitchFamily="18" charset="0"/>
        <a:buChar char="»"/>
        <a:defRPr sz="2000">
          <a:solidFill>
            <a:schemeClr val="tx1"/>
          </a:solidFill>
          <a:latin typeface="+mn-lt"/>
          <a:cs typeface="+mn-cs"/>
        </a:defRPr>
      </a:lvl5pPr>
      <a:lvl6pPr marL="15430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6pPr>
      <a:lvl7pPr marL="20002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7pPr>
      <a:lvl8pPr marL="24574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8pPr>
      <a:lvl9pPr marL="29146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100000">
              <a:schemeClr val="bg1"/>
            </a:gs>
          </a:gsLst>
          <a:lin ang="2700000" scaled="1"/>
        </a:gradFill>
        <a:effectLst/>
      </p:bgPr>
    </p:bg>
    <p:spTree>
      <p:nvGrpSpPr>
        <p:cNvPr id="1" name=""/>
        <p:cNvGrpSpPr/>
        <p:nvPr/>
      </p:nvGrpSpPr>
      <p:grpSpPr>
        <a:xfrm>
          <a:off x="0" y="0"/>
          <a:ext cx="0" cy="0"/>
          <a:chOff x="0" y="0"/>
          <a:chExt cx="0" cy="0"/>
        </a:xfrm>
      </p:grpSpPr>
      <p:pic>
        <p:nvPicPr>
          <p:cNvPr id="2050"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itle Placeholder 1"/>
          <p:cNvSpPr>
            <a:spLocks noGrp="1"/>
          </p:cNvSpPr>
          <p:nvPr>
            <p:ph type="title"/>
          </p:nvPr>
        </p:nvSpPr>
        <p:spPr bwMode="auto">
          <a:xfrm>
            <a:off x="1282700" y="1184275"/>
            <a:ext cx="56292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2052" name="Text Placeholder 2"/>
          <p:cNvSpPr>
            <a:spLocks noGrp="1"/>
          </p:cNvSpPr>
          <p:nvPr>
            <p:ph type="body" idx="1"/>
          </p:nvPr>
        </p:nvSpPr>
        <p:spPr bwMode="auto">
          <a:xfrm>
            <a:off x="1282700" y="2408238"/>
            <a:ext cx="46021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63" r:id="rId1"/>
    <p:sldLayoutId id="2147490564" r:id="rId2"/>
    <p:sldLayoutId id="2147490565" r:id="rId3"/>
    <p:sldLayoutId id="2147490566" r:id="rId4"/>
    <p:sldLayoutId id="2147490567" r:id="rId5"/>
    <p:sldLayoutId id="2147490568" r:id="rId6"/>
    <p:sldLayoutId id="2147490569" r:id="rId7"/>
    <p:sldLayoutId id="2147490570" r:id="rId8"/>
    <p:sldLayoutId id="2147490571" r:id="rId9"/>
    <p:sldLayoutId id="2147490572" r:id="rId10"/>
    <p:sldLayoutId id="2147490573" r:id="rId11"/>
  </p:sldLayoutIdLst>
  <p:hf sldNum="0" hdr="0" ftr="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accent1"/>
            </a:gs>
            <a:gs pos="100000">
              <a:schemeClr val="bg2"/>
            </a:gs>
          </a:gsLst>
          <a:lin ang="2700000" scaled="1"/>
        </a:gradFill>
        <a:effectLst/>
      </p:bgPr>
    </p:bg>
    <p:spTree>
      <p:nvGrpSpPr>
        <p:cNvPr id="1" name=""/>
        <p:cNvGrpSpPr/>
        <p:nvPr/>
      </p:nvGrpSpPr>
      <p:grpSpPr>
        <a:xfrm>
          <a:off x="0" y="0"/>
          <a:ext cx="0" cy="0"/>
          <a:chOff x="0" y="0"/>
          <a:chExt cx="0" cy="0"/>
        </a:xfrm>
      </p:grpSpPr>
      <p:pic>
        <p:nvPicPr>
          <p:cNvPr id="3074"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itle Placeholder 1"/>
          <p:cNvSpPr>
            <a:spLocks noGrp="1"/>
          </p:cNvSpPr>
          <p:nvPr>
            <p:ph type="title"/>
          </p:nvPr>
        </p:nvSpPr>
        <p:spPr bwMode="auto">
          <a:xfrm>
            <a:off x="1282700" y="1184275"/>
            <a:ext cx="56292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3076" name="Text Placeholder 2"/>
          <p:cNvSpPr>
            <a:spLocks noGrp="1"/>
          </p:cNvSpPr>
          <p:nvPr>
            <p:ph type="body" idx="1"/>
          </p:nvPr>
        </p:nvSpPr>
        <p:spPr bwMode="auto">
          <a:xfrm>
            <a:off x="1282700" y="2408238"/>
            <a:ext cx="45767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74" r:id="rId1"/>
    <p:sldLayoutId id="2147490575" r:id="rId2"/>
    <p:sldLayoutId id="2147490576" r:id="rId3"/>
    <p:sldLayoutId id="2147490577" r:id="rId4"/>
    <p:sldLayoutId id="2147490578" r:id="rId5"/>
    <p:sldLayoutId id="2147490579" r:id="rId6"/>
    <p:sldLayoutId id="2147490580" r:id="rId7"/>
    <p:sldLayoutId id="2147490581" r:id="rId8"/>
    <p:sldLayoutId id="2147490582" r:id="rId9"/>
    <p:sldLayoutId id="2147490583" r:id="rId10"/>
    <p:sldLayoutId id="2147490584" r:id="rId11"/>
  </p:sldLayoutIdLst>
  <p:hf sldNum="0" hdr="0" ftr="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accent2"/>
            </a:gs>
            <a:gs pos="100000">
              <a:srgbClr val="3A0000"/>
            </a:gs>
          </a:gsLst>
          <a:lin ang="2700000" scaled="1"/>
        </a:gradFill>
        <a:effectLst/>
      </p:bgPr>
    </p:bg>
    <p:spTree>
      <p:nvGrpSpPr>
        <p:cNvPr id="1" name=""/>
        <p:cNvGrpSpPr/>
        <p:nvPr/>
      </p:nvGrpSpPr>
      <p:grpSpPr>
        <a:xfrm>
          <a:off x="0" y="0"/>
          <a:ext cx="0" cy="0"/>
          <a:chOff x="0" y="0"/>
          <a:chExt cx="0" cy="0"/>
        </a:xfrm>
      </p:grpSpPr>
      <p:pic>
        <p:nvPicPr>
          <p:cNvPr id="4098" name="Picture 6" descr="Ribbon Alon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Placeholder 1"/>
          <p:cNvSpPr>
            <a:spLocks noGrp="1"/>
          </p:cNvSpPr>
          <p:nvPr>
            <p:ph type="title"/>
          </p:nvPr>
        </p:nvSpPr>
        <p:spPr bwMode="auto">
          <a:xfrm>
            <a:off x="1282700" y="1184275"/>
            <a:ext cx="5637213"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4100" name="Text Placeholder 2"/>
          <p:cNvSpPr>
            <a:spLocks noGrp="1"/>
          </p:cNvSpPr>
          <p:nvPr>
            <p:ph type="body" idx="1"/>
          </p:nvPr>
        </p:nvSpPr>
        <p:spPr bwMode="auto">
          <a:xfrm>
            <a:off x="1282700" y="2408238"/>
            <a:ext cx="4567238"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85" r:id="rId1"/>
    <p:sldLayoutId id="2147490586" r:id="rId2"/>
    <p:sldLayoutId id="2147490587" r:id="rId3"/>
    <p:sldLayoutId id="2147490588" r:id="rId4"/>
    <p:sldLayoutId id="2147490589" r:id="rId5"/>
    <p:sldLayoutId id="2147490590" r:id="rId6"/>
    <p:sldLayoutId id="2147490591" r:id="rId7"/>
    <p:sldLayoutId id="2147490592" r:id="rId8"/>
    <p:sldLayoutId id="2147490593" r:id="rId9"/>
    <p:sldLayoutId id="2147490594" r:id="rId10"/>
    <p:sldLayoutId id="2147490595" r:id="rId11"/>
  </p:sldLayoutIdLst>
  <p:hf sldNum="0" hdr="0" ftr="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folHlink"/>
            </a:gs>
            <a:gs pos="100000">
              <a:schemeClr val="bg2"/>
            </a:gs>
          </a:gsLst>
          <a:lin ang="2700000" scaled="1"/>
        </a:gradFill>
        <a:effectLst/>
      </p:bgPr>
    </p:bg>
    <p:spTree>
      <p:nvGrpSpPr>
        <p:cNvPr id="1" name=""/>
        <p:cNvGrpSpPr/>
        <p:nvPr/>
      </p:nvGrpSpPr>
      <p:grpSpPr>
        <a:xfrm>
          <a:off x="0" y="0"/>
          <a:ext cx="0" cy="0"/>
          <a:chOff x="0" y="0"/>
          <a:chExt cx="0" cy="0"/>
        </a:xfrm>
      </p:grpSpPr>
      <p:pic>
        <p:nvPicPr>
          <p:cNvPr id="5122"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Placeholder 1"/>
          <p:cNvSpPr>
            <a:spLocks noGrp="1"/>
          </p:cNvSpPr>
          <p:nvPr>
            <p:ph type="title"/>
          </p:nvPr>
        </p:nvSpPr>
        <p:spPr bwMode="auto">
          <a:xfrm>
            <a:off x="1282700" y="1184275"/>
            <a:ext cx="5646738"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5124" name="Text Placeholder 2"/>
          <p:cNvSpPr>
            <a:spLocks noGrp="1"/>
          </p:cNvSpPr>
          <p:nvPr>
            <p:ph type="body" idx="1"/>
          </p:nvPr>
        </p:nvSpPr>
        <p:spPr bwMode="auto">
          <a:xfrm>
            <a:off x="1282700" y="2408238"/>
            <a:ext cx="46021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96" r:id="rId1"/>
    <p:sldLayoutId id="2147490597" r:id="rId2"/>
    <p:sldLayoutId id="2147490598" r:id="rId3"/>
    <p:sldLayoutId id="2147490599" r:id="rId4"/>
    <p:sldLayoutId id="2147490600" r:id="rId5"/>
    <p:sldLayoutId id="2147490601" r:id="rId6"/>
    <p:sldLayoutId id="2147490602" r:id="rId7"/>
    <p:sldLayoutId id="2147490603" r:id="rId8"/>
    <p:sldLayoutId id="2147490604" r:id="rId9"/>
    <p:sldLayoutId id="2147490605" r:id="rId10"/>
    <p:sldLayoutId id="2147490606" r:id="rId11"/>
  </p:sldLayoutIdLst>
  <p:hf sldNum="0" hdr="0" ftr="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accent1"/>
            </a:gs>
            <a:gs pos="100000">
              <a:schemeClr val="accent2"/>
            </a:gs>
          </a:gsLst>
          <a:lin ang="2700000" scaled="1"/>
        </a:gradFill>
        <a:effectLst/>
      </p:bgPr>
    </p:bg>
    <p:spTree>
      <p:nvGrpSpPr>
        <p:cNvPr id="1" name=""/>
        <p:cNvGrpSpPr/>
        <p:nvPr/>
      </p:nvGrpSpPr>
      <p:grpSpPr>
        <a:xfrm>
          <a:off x="0" y="0"/>
          <a:ext cx="0" cy="0"/>
          <a:chOff x="0" y="0"/>
          <a:chExt cx="0" cy="0"/>
        </a:xfrm>
      </p:grpSpPr>
      <p:pic>
        <p:nvPicPr>
          <p:cNvPr id="6146" name="Picture 6" descr="Ribbon Alon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itle Placeholder 1"/>
          <p:cNvSpPr>
            <a:spLocks noGrp="1"/>
          </p:cNvSpPr>
          <p:nvPr>
            <p:ph type="title"/>
          </p:nvPr>
        </p:nvSpPr>
        <p:spPr bwMode="auto">
          <a:xfrm>
            <a:off x="1282700" y="1184275"/>
            <a:ext cx="564515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6148" name="Text Placeholder 2"/>
          <p:cNvSpPr>
            <a:spLocks noGrp="1"/>
          </p:cNvSpPr>
          <p:nvPr>
            <p:ph type="body" idx="1"/>
          </p:nvPr>
        </p:nvSpPr>
        <p:spPr bwMode="auto">
          <a:xfrm>
            <a:off x="1282700" y="2408238"/>
            <a:ext cx="45847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607" r:id="rId1"/>
    <p:sldLayoutId id="2147490608" r:id="rId2"/>
    <p:sldLayoutId id="2147490609" r:id="rId3"/>
    <p:sldLayoutId id="2147490610" r:id="rId4"/>
    <p:sldLayoutId id="2147490611" r:id="rId5"/>
    <p:sldLayoutId id="2147490612" r:id="rId6"/>
    <p:sldLayoutId id="2147490613" r:id="rId7"/>
    <p:sldLayoutId id="2147490614" r:id="rId8"/>
    <p:sldLayoutId id="2147490615" r:id="rId9"/>
    <p:sldLayoutId id="2147490616" r:id="rId10"/>
    <p:sldLayoutId id="2147490617" r:id="rId11"/>
  </p:sldLayoutIdLst>
  <p:hf sldNum="0" hdr="0" ftr="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287338" y="258763"/>
            <a:ext cx="933132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GB" altLang="en-US" smtClean="0"/>
          </a:p>
        </p:txBody>
      </p:sp>
      <p:sp>
        <p:nvSpPr>
          <p:cNvPr id="7171" name="Text Placeholder 2"/>
          <p:cNvSpPr>
            <a:spLocks noGrp="1"/>
          </p:cNvSpPr>
          <p:nvPr>
            <p:ph type="body" idx="1"/>
          </p:nvPr>
        </p:nvSpPr>
        <p:spPr bwMode="auto">
          <a:xfrm>
            <a:off x="287338" y="1184275"/>
            <a:ext cx="9331325"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solidFill>
                  <a:srgbClr val="000000"/>
                </a:solidFill>
              </a:defRPr>
            </a:lvl1pPr>
          </a:lstStyle>
          <a:p>
            <a:fld id="{F82CC80E-BA27-46A3-92DB-0AF77C96B4B4}" type="slidenum">
              <a:rPr lang="en-GB" altLang="en-US"/>
              <a:pPr/>
              <a:t>‹#›</a:t>
            </a:fld>
            <a:endParaRPr lang="en-GB" altLang="en-US"/>
          </a:p>
        </p:txBody>
      </p:sp>
      <p:pic>
        <p:nvPicPr>
          <p:cNvPr id="7173" name="Picture 16" descr="QNB_logo_cmyk_20mm_above_sm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7" r:id="rId1"/>
    <p:sldLayoutId id="2147490618" r:id="rId2"/>
    <p:sldLayoutId id="2147490619" r:id="rId3"/>
    <p:sldLayoutId id="2147490620" r:id="rId4"/>
    <p:sldLayoutId id="2147490621" r:id="rId5"/>
    <p:sldLayoutId id="2147490622" r:id="rId6"/>
    <p:sldLayoutId id="2147490623" r:id="rId7"/>
    <p:sldLayoutId id="2147490624" r:id="rId8"/>
    <p:sldLayoutId id="2147490625" r:id="rId9"/>
    <p:sldLayoutId id="2147490626" r:id="rId10"/>
    <p:sldLayoutId id="2147490627" r:id="rId11"/>
  </p:sldLayoutIdLst>
  <p:hf hdr="0" ftr="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chemeClr val="hlink"/>
          </a:solidFill>
          <a:latin typeface="Times New Roman" pitchFamily="18" charset="0"/>
          <a:cs typeface="Times New Roman" pitchFamily="18" charset="0"/>
        </a:defRPr>
      </a:lvl6pPr>
      <a:lvl7pPr marL="914400" algn="l" rtl="0" fontAlgn="base">
        <a:spcBef>
          <a:spcPct val="0"/>
        </a:spcBef>
        <a:spcAft>
          <a:spcPct val="0"/>
        </a:spcAft>
        <a:defRPr sz="2400">
          <a:solidFill>
            <a:schemeClr val="hlink"/>
          </a:solidFill>
          <a:latin typeface="Times New Roman" pitchFamily="18" charset="0"/>
          <a:cs typeface="Times New Roman" pitchFamily="18" charset="0"/>
        </a:defRPr>
      </a:lvl7pPr>
      <a:lvl8pPr marL="1371600" algn="l" rtl="0" fontAlgn="base">
        <a:spcBef>
          <a:spcPct val="0"/>
        </a:spcBef>
        <a:spcAft>
          <a:spcPct val="0"/>
        </a:spcAft>
        <a:defRPr sz="2400">
          <a:solidFill>
            <a:schemeClr val="hlink"/>
          </a:solidFill>
          <a:latin typeface="Times New Roman" pitchFamily="18" charset="0"/>
          <a:cs typeface="Times New Roman" pitchFamily="18" charset="0"/>
        </a:defRPr>
      </a:lvl8pPr>
      <a:lvl9pPr marL="1828800" algn="l" rtl="0" fontAlgn="base">
        <a:spcBef>
          <a:spcPct val="0"/>
        </a:spcBef>
        <a:spcAft>
          <a:spcPct val="0"/>
        </a:spcAft>
        <a:defRPr sz="2400">
          <a:solidFill>
            <a:schemeClr val="hlink"/>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Clr>
          <a:schemeClr val="tx1"/>
        </a:buClr>
        <a:buFont typeface="Times New Roman" panose="02020603050405020304" pitchFamily="18" charset="0"/>
        <a:defRPr>
          <a:solidFill>
            <a:schemeClr val="tx1"/>
          </a:solidFill>
          <a:latin typeface="+mn-lt"/>
          <a:ea typeface="+mn-ea"/>
          <a:cs typeface="+mn-cs"/>
        </a:defRPr>
      </a:lvl1pPr>
      <a:lvl2pPr marL="180975" indent="-1793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2pPr>
      <a:lvl3pPr marL="366713" indent="-157163"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3pPr>
      <a:lvl4pPr marL="585788" indent="-2047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4pPr>
      <a:lvl5pPr marL="790575" indent="-18573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5pPr>
      <a:lvl6pPr marL="15430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6pPr>
      <a:lvl7pPr marL="20002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7pPr>
      <a:lvl8pPr marL="24574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8pPr>
      <a:lvl9pPr marL="29146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1"/>
            </p:custDataLst>
            <p:extLst>
              <p:ext uri="{D42A27DB-BD31-4B8C-83A1-F6EECF244321}">
                <p14:modId xmlns:p14="http://schemas.microsoft.com/office/powerpoint/2010/main" val="330698429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7094" name="think-cell Slide" r:id="rId12" imgW="270" imgH="270" progId="TCLayout.ActiveDocument.1">
                  <p:embed/>
                </p:oleObj>
              </mc:Choice>
              <mc:Fallback>
                <p:oleObj name="think-cell Slide" r:id="rId12" imgW="270" imgH="270" progId="TCLayout.ActiveDocument.1">
                  <p:embed/>
                  <p:pic>
                    <p:nvPicPr>
                      <p:cNvPr id="0" name=""/>
                      <p:cNvPicPr/>
                      <p:nvPr/>
                    </p:nvPicPr>
                    <p:blipFill>
                      <a:blip r:embed="rId13"/>
                      <a:stretch>
                        <a:fillRect/>
                      </a:stretch>
                    </p:blipFill>
                    <p:spPr>
                      <a:xfrm>
                        <a:off x="1588" y="1588"/>
                        <a:ext cx="1587" cy="1587"/>
                      </a:xfrm>
                      <a:prstGeom prst="rect">
                        <a:avLst/>
                      </a:prstGeom>
                    </p:spPr>
                  </p:pic>
                </p:oleObj>
              </mc:Fallback>
            </mc:AlternateContent>
          </a:graphicData>
        </a:graphic>
      </p:graphicFrame>
      <p:sp>
        <p:nvSpPr>
          <p:cNvPr id="8194" name="Title Placeholder 1"/>
          <p:cNvSpPr>
            <a:spLocks noGrp="1"/>
          </p:cNvSpPr>
          <p:nvPr>
            <p:ph type="title"/>
          </p:nvPr>
        </p:nvSpPr>
        <p:spPr bwMode="auto">
          <a:xfrm>
            <a:off x="287338" y="258763"/>
            <a:ext cx="93313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8195" name="Text Placeholder 2"/>
          <p:cNvSpPr>
            <a:spLocks noGrp="1"/>
          </p:cNvSpPr>
          <p:nvPr>
            <p:ph type="body" idx="1"/>
          </p:nvPr>
        </p:nvSpPr>
        <p:spPr bwMode="auto">
          <a:xfrm>
            <a:off x="287338" y="1173163"/>
            <a:ext cx="9331325" cy="506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solidFill>
                  <a:srgbClr val="000000"/>
                </a:solidFill>
              </a:defRPr>
            </a:lvl1pPr>
          </a:lstStyle>
          <a:p>
            <a:fld id="{9D1B27E6-2CC6-4E84-80EA-CC654075544D}" type="slidenum">
              <a:rPr lang="en-US" altLang="en-US"/>
              <a:pPr/>
              <a:t>‹#›</a:t>
            </a:fld>
            <a:endParaRPr lang="en-US" altLang="en-US"/>
          </a:p>
        </p:txBody>
      </p:sp>
      <p:pic>
        <p:nvPicPr>
          <p:cNvPr id="8197" name="Picture 9" descr="QNB_logo_cmyk_20mm_above_sml"/>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8" r:id="rId1"/>
    <p:sldLayoutId id="2147490628" r:id="rId2"/>
    <p:sldLayoutId id="2147490629" r:id="rId3"/>
    <p:sldLayoutId id="2147490630" r:id="rId4"/>
    <p:sldLayoutId id="2147490631" r:id="rId5"/>
    <p:sldLayoutId id="2147490632" r:id="rId6"/>
    <p:sldLayoutId id="2147490633" r:id="rId7"/>
    <p:sldLayoutId id="2147490634" r:id="rId8"/>
  </p:sldLayoutIdLst>
  <p:hf hdr="0" ftr="0"/>
  <p:txStyles>
    <p:titleStyle>
      <a:lvl1pPr algn="l" rtl="0" eaLnBrk="0" fontAlgn="base" hangingPunct="0">
        <a:lnSpc>
          <a:spcPct val="90000"/>
        </a:lnSpc>
        <a:spcBef>
          <a:spcPct val="0"/>
        </a:spcBef>
        <a:spcAft>
          <a:spcPct val="0"/>
        </a:spcAft>
        <a:defRPr sz="2200" kern="1200">
          <a:solidFill>
            <a:schemeClr val="tx2"/>
          </a:solidFill>
          <a:latin typeface="Times New Roman" pitchFamily="18" charset="0"/>
          <a:ea typeface="+mj-ea"/>
          <a:cs typeface="Times New Roman" pitchFamily="18" charset="0"/>
        </a:defRPr>
      </a:lvl1pPr>
      <a:lvl2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rgbClr val="116FC4"/>
          </a:solidFill>
          <a:latin typeface="Times New Roman" pitchFamily="18" charset="0"/>
          <a:cs typeface="Times New Roman" pitchFamily="18" charset="0"/>
        </a:defRPr>
      </a:lvl6pPr>
      <a:lvl7pPr marL="914400" algn="l" rtl="0" fontAlgn="base">
        <a:spcBef>
          <a:spcPct val="0"/>
        </a:spcBef>
        <a:spcAft>
          <a:spcPct val="0"/>
        </a:spcAft>
        <a:defRPr sz="2400">
          <a:solidFill>
            <a:srgbClr val="116FC4"/>
          </a:solidFill>
          <a:latin typeface="Times New Roman" pitchFamily="18" charset="0"/>
          <a:cs typeface="Times New Roman" pitchFamily="18" charset="0"/>
        </a:defRPr>
      </a:lvl7pPr>
      <a:lvl8pPr marL="1371600" algn="l" rtl="0" fontAlgn="base">
        <a:spcBef>
          <a:spcPct val="0"/>
        </a:spcBef>
        <a:spcAft>
          <a:spcPct val="0"/>
        </a:spcAft>
        <a:defRPr sz="2400">
          <a:solidFill>
            <a:srgbClr val="116FC4"/>
          </a:solidFill>
          <a:latin typeface="Times New Roman" pitchFamily="18" charset="0"/>
          <a:cs typeface="Times New Roman" pitchFamily="18" charset="0"/>
        </a:defRPr>
      </a:lvl8pPr>
      <a:lvl9pPr marL="1828800" algn="l" rtl="0" fontAlgn="base">
        <a:spcBef>
          <a:spcPct val="0"/>
        </a:spcBef>
        <a:spcAft>
          <a:spcPct val="0"/>
        </a:spcAft>
        <a:defRPr sz="2400">
          <a:solidFill>
            <a:srgbClr val="116FC4"/>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287338" y="258763"/>
            <a:ext cx="933132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9219" name="Text Placeholder 2"/>
          <p:cNvSpPr>
            <a:spLocks noGrp="1"/>
          </p:cNvSpPr>
          <p:nvPr>
            <p:ph type="body" idx="1"/>
          </p:nvPr>
        </p:nvSpPr>
        <p:spPr bwMode="auto">
          <a:xfrm>
            <a:off x="287338" y="1184275"/>
            <a:ext cx="9331325"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solidFill>
                  <a:srgbClr val="000000"/>
                </a:solidFill>
              </a:defRPr>
            </a:lvl1pPr>
          </a:lstStyle>
          <a:p>
            <a:fld id="{156E4B01-9AE4-40E5-8FB6-EFD85B9CC52B}" type="slidenum">
              <a:rPr lang="en-US" altLang="en-US"/>
              <a:pPr/>
              <a:t>‹#›</a:t>
            </a:fld>
            <a:endParaRPr lang="en-US" altLang="en-US"/>
          </a:p>
        </p:txBody>
      </p:sp>
      <p:pic>
        <p:nvPicPr>
          <p:cNvPr id="9221" name="Picture 16" descr="QNB_logo_cmyk_20mm_above_sm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9" r:id="rId1"/>
    <p:sldLayoutId id="2147490635" r:id="rId2"/>
    <p:sldLayoutId id="2147490636" r:id="rId3"/>
    <p:sldLayoutId id="2147490637" r:id="rId4"/>
    <p:sldLayoutId id="2147490638" r:id="rId5"/>
    <p:sldLayoutId id="2147490639" r:id="rId6"/>
    <p:sldLayoutId id="2147490640" r:id="rId7"/>
    <p:sldLayoutId id="2147490641" r:id="rId8"/>
    <p:sldLayoutId id="2147490642" r:id="rId9"/>
    <p:sldLayoutId id="2147490643" r:id="rId10"/>
    <p:sldLayoutId id="2147490644" r:id="rId11"/>
  </p:sldLayoutIdLst>
  <p:hf hdr="0" ftr="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chemeClr val="hlink"/>
          </a:solidFill>
          <a:latin typeface="Times New Roman" pitchFamily="18" charset="0"/>
          <a:cs typeface="Times New Roman" pitchFamily="18" charset="0"/>
        </a:defRPr>
      </a:lvl6pPr>
      <a:lvl7pPr marL="914400" algn="l" rtl="0" fontAlgn="base">
        <a:spcBef>
          <a:spcPct val="0"/>
        </a:spcBef>
        <a:spcAft>
          <a:spcPct val="0"/>
        </a:spcAft>
        <a:defRPr sz="2400">
          <a:solidFill>
            <a:schemeClr val="hlink"/>
          </a:solidFill>
          <a:latin typeface="Times New Roman" pitchFamily="18" charset="0"/>
          <a:cs typeface="Times New Roman" pitchFamily="18" charset="0"/>
        </a:defRPr>
      </a:lvl7pPr>
      <a:lvl8pPr marL="1371600" algn="l" rtl="0" fontAlgn="base">
        <a:spcBef>
          <a:spcPct val="0"/>
        </a:spcBef>
        <a:spcAft>
          <a:spcPct val="0"/>
        </a:spcAft>
        <a:defRPr sz="2400">
          <a:solidFill>
            <a:schemeClr val="hlink"/>
          </a:solidFill>
          <a:latin typeface="Times New Roman" pitchFamily="18" charset="0"/>
          <a:cs typeface="Times New Roman" pitchFamily="18" charset="0"/>
        </a:defRPr>
      </a:lvl8pPr>
      <a:lvl9pPr marL="1828800" algn="l" rtl="0" fontAlgn="base">
        <a:spcBef>
          <a:spcPct val="0"/>
        </a:spcBef>
        <a:spcAft>
          <a:spcPct val="0"/>
        </a:spcAft>
        <a:defRPr sz="2400">
          <a:solidFill>
            <a:schemeClr val="hlink"/>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Clr>
          <a:schemeClr val="tx1"/>
        </a:buClr>
        <a:buFont typeface="Times New Roman" panose="02020603050405020304" pitchFamily="18" charset="0"/>
        <a:defRPr>
          <a:solidFill>
            <a:schemeClr val="tx1"/>
          </a:solidFill>
          <a:latin typeface="+mn-lt"/>
          <a:ea typeface="+mn-ea"/>
          <a:cs typeface="+mn-cs"/>
        </a:defRPr>
      </a:lvl1pPr>
      <a:lvl2pPr marL="180975" indent="-1793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2pPr>
      <a:lvl3pPr marL="366713" indent="-157163"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3pPr>
      <a:lvl4pPr marL="585788" indent="-2047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4pPr>
      <a:lvl5pPr marL="790575" indent="-18573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5pPr>
      <a:lvl6pPr marL="15430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6pPr>
      <a:lvl7pPr marL="20002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7pPr>
      <a:lvl8pPr marL="24574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8pPr>
      <a:lvl9pPr marL="29146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100000">
              <a:schemeClr val="bg1"/>
            </a:gs>
          </a:gsLst>
          <a:lin ang="2700000" scaled="1"/>
        </a:gradFill>
        <a:effectLst/>
      </p:bgPr>
    </p:bg>
    <p:spTree>
      <p:nvGrpSpPr>
        <p:cNvPr id="1" name=""/>
        <p:cNvGrpSpPr/>
        <p:nvPr/>
      </p:nvGrpSpPr>
      <p:grpSpPr>
        <a:xfrm>
          <a:off x="0" y="0"/>
          <a:ext cx="0" cy="0"/>
          <a:chOff x="0" y="0"/>
          <a:chExt cx="0" cy="0"/>
        </a:xfrm>
      </p:grpSpPr>
      <p:pic>
        <p:nvPicPr>
          <p:cNvPr id="10242"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itle Placeholder 1"/>
          <p:cNvSpPr>
            <a:spLocks noGrp="1"/>
          </p:cNvSpPr>
          <p:nvPr>
            <p:ph type="title"/>
          </p:nvPr>
        </p:nvSpPr>
        <p:spPr bwMode="auto">
          <a:xfrm>
            <a:off x="1282700" y="1184275"/>
            <a:ext cx="56292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p>
        </p:txBody>
      </p:sp>
      <p:sp>
        <p:nvSpPr>
          <p:cNvPr id="10244" name="Text Placeholder 2"/>
          <p:cNvSpPr>
            <a:spLocks noGrp="1"/>
          </p:cNvSpPr>
          <p:nvPr>
            <p:ph type="body" idx="1"/>
          </p:nvPr>
        </p:nvSpPr>
        <p:spPr bwMode="auto">
          <a:xfrm>
            <a:off x="1282700" y="2408238"/>
            <a:ext cx="46021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90645" r:id="rId1"/>
    <p:sldLayoutId id="2147490646" r:id="rId2"/>
    <p:sldLayoutId id="2147490647" r:id="rId3"/>
    <p:sldLayoutId id="2147490648" r:id="rId4"/>
    <p:sldLayoutId id="2147490649" r:id="rId5"/>
    <p:sldLayoutId id="2147490650" r:id="rId6"/>
    <p:sldLayoutId id="2147490651" r:id="rId7"/>
    <p:sldLayoutId id="2147490652" r:id="rId8"/>
    <p:sldLayoutId id="2147490653" r:id="rId9"/>
    <p:sldLayoutId id="2147490654" r:id="rId10"/>
    <p:sldLayoutId id="2147490655" r:id="rId11"/>
  </p:sldLayoutIdLst>
  <p:hf sldNum="0" hdr="0" ftr="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chart" Target="../charts/chart4.xml"/><Relationship Id="rId7" Type="http://schemas.openxmlformats.org/officeDocument/2006/relationships/chart" Target="../charts/chart8.xml"/><Relationship Id="rId2" Type="http://schemas.openxmlformats.org/officeDocument/2006/relationships/notesSlide" Target="../notesSlides/notesSlide2.xml"/><Relationship Id="rId1" Type="http://schemas.openxmlformats.org/officeDocument/2006/relationships/slideLayout" Target="../slideLayouts/slideLayout79.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 Id="rId9" Type="http://schemas.openxmlformats.org/officeDocument/2006/relationships/chart" Target="../charts/char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3" Type="http://schemas.openxmlformats.org/officeDocument/2006/relationships/chart" Target="../charts/chart11.xml"/><Relationship Id="rId7" Type="http://schemas.openxmlformats.org/officeDocument/2006/relationships/chart" Target="../charts/chart15.xml"/><Relationship Id="rId2" Type="http://schemas.openxmlformats.org/officeDocument/2006/relationships/notesSlide" Target="../notesSlides/notesSlide3.xml"/><Relationship Id="rId1" Type="http://schemas.openxmlformats.org/officeDocument/2006/relationships/slideLayout" Target="../slideLayouts/slideLayout79.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9.xml"/></Relationships>
</file>

<file path=ppt/slides/_rels/slide39.xml.rels><?xml version="1.0" encoding="UTF-8" standalone="yes"?>
<Relationships xmlns="http://schemas.openxmlformats.org/package/2006/relationships"><Relationship Id="rId2" Type="http://schemas.openxmlformats.org/officeDocument/2006/relationships/hyperlink" Target="http://www.risk.net/journal-credit-risk/2164245/credit-loss-and-systematic-loss-given-default" TargetMode="External"/><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9.xml"/></Relationships>
</file>

<file path=ppt/slides/_rels/slide41.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0.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51.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6.xml"/><Relationship Id="rId1" Type="http://schemas.openxmlformats.org/officeDocument/2006/relationships/slideLayout" Target="../slideLayouts/slideLayout79.xml"/><Relationship Id="rId4" Type="http://schemas.openxmlformats.org/officeDocument/2006/relationships/chart" Target="../charts/char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9.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62.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79.xml"/><Relationship Id="rId5" Type="http://schemas.openxmlformats.org/officeDocument/2006/relationships/chart" Target="../charts/chart22.xml"/><Relationship Id="rId4" Type="http://schemas.openxmlformats.org/officeDocument/2006/relationships/chart" Target="../charts/chart2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IFRS9 Impairment Engagement</a:t>
            </a:r>
            <a:br>
              <a:rPr lang="en-US" altLang="en-US" sz="2800" dirty="0" smtClean="0"/>
            </a:br>
            <a:r>
              <a:rPr lang="en-US" altLang="en-US" sz="2800" dirty="0" smtClean="0"/>
              <a:t/>
            </a:r>
            <a:br>
              <a:rPr lang="en-US" altLang="en-US" sz="2800" dirty="0" smtClean="0"/>
            </a:br>
            <a:r>
              <a:rPr lang="en-US" altLang="en-US" sz="2800" dirty="0" smtClean="0"/>
              <a:t>Model &amp; Methodology Design – </a:t>
            </a:r>
            <a:br>
              <a:rPr lang="en-US" altLang="en-US" sz="2800" dirty="0" smtClean="0"/>
            </a:br>
            <a:r>
              <a:rPr lang="en-US" altLang="en-US" sz="2800" dirty="0" smtClean="0"/>
              <a:t>Non-Retail</a:t>
            </a:r>
            <a:br>
              <a:rPr lang="en-US" altLang="en-US" sz="2800" dirty="0" smtClean="0"/>
            </a:br>
            <a:r>
              <a:rPr lang="en-US" altLang="en-US" sz="2800" dirty="0" smtClean="0"/>
              <a:t/>
            </a:r>
            <a:br>
              <a:rPr lang="en-US" altLang="en-US" sz="2800" dirty="0" smtClean="0"/>
            </a:br>
            <a:r>
              <a:rPr lang="en-US" altLang="en-US" sz="2000" dirty="0" smtClean="0"/>
              <a:t>Doha, </a:t>
            </a:r>
            <a:r>
              <a:rPr lang="en-US" altLang="en-US" sz="2000" b="1" dirty="0" smtClean="0">
                <a:solidFill>
                  <a:srgbClr val="C00000"/>
                </a:solidFill>
              </a:rPr>
              <a:t>xx</a:t>
            </a:r>
            <a:r>
              <a:rPr lang="en-US" altLang="en-US" sz="2000" dirty="0" smtClean="0">
                <a:solidFill>
                  <a:srgbClr val="C00000"/>
                </a:solidFill>
              </a:rPr>
              <a:t> </a:t>
            </a:r>
            <a:r>
              <a:rPr lang="en-US" altLang="en-US" sz="2000" dirty="0" smtClean="0"/>
              <a:t>August 2017</a:t>
            </a:r>
            <a:endParaRPr lang="en-US" altLang="en-US" sz="2000" b="1" i="1" dirty="0"/>
          </a:p>
        </p:txBody>
      </p:sp>
      <p:sp>
        <p:nvSpPr>
          <p:cNvPr id="2" name="TextBox 1"/>
          <p:cNvSpPr txBox="1"/>
          <p:nvPr/>
        </p:nvSpPr>
        <p:spPr>
          <a:xfrm>
            <a:off x="6838121" y="212037"/>
            <a:ext cx="2743200" cy="400110"/>
          </a:xfrm>
          <a:prstGeom prst="rect">
            <a:avLst/>
          </a:prstGeom>
          <a:noFill/>
        </p:spPr>
        <p:txBody>
          <a:bodyPr wrap="square" rtlCol="0">
            <a:spAutoFit/>
          </a:bodyPr>
          <a:lstStyle/>
          <a:p>
            <a:pPr algn="r"/>
            <a:r>
              <a:rPr lang="en-US" sz="2000" b="1" dirty="0" smtClean="0">
                <a:solidFill>
                  <a:srgbClr val="C00000"/>
                </a:solidFill>
              </a:rPr>
              <a:t>DRAFT</a:t>
            </a:r>
            <a:endParaRPr lang="en-IN" sz="2000" b="1"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4978" y="1173480"/>
            <a:ext cx="9331325" cy="5648029"/>
          </a:xfrm>
        </p:spPr>
        <p:txBody>
          <a:bodyPr/>
          <a:lstStyle/>
          <a:p>
            <a:endParaRPr lang="en-US" sz="2000" dirty="0" smtClean="0"/>
          </a:p>
          <a:p>
            <a:r>
              <a:rPr lang="en-US" sz="2000" dirty="0" smtClean="0"/>
              <a:t>Do we need an Executive Summary</a:t>
            </a:r>
          </a:p>
          <a:p>
            <a:r>
              <a:rPr lang="en-US" sz="2000" dirty="0" smtClean="0"/>
              <a:t>Should we include a page of Definitions and list of models</a:t>
            </a:r>
          </a:p>
          <a:p>
            <a:r>
              <a:rPr lang="en-US" sz="2000" dirty="0" smtClean="0"/>
              <a:t>Should we include a summary of the Jun17 ECL</a:t>
            </a:r>
          </a:p>
          <a:p>
            <a:endParaRPr lang="en-US" sz="2000" dirty="0" smtClean="0"/>
          </a:p>
          <a:p>
            <a:pPr marL="361950" lvl="4" indent="0">
              <a:buNone/>
            </a:pPr>
            <a:endParaRPr lang="en-US" sz="1600" dirty="0" smtClean="0"/>
          </a:p>
          <a:p>
            <a:pPr marL="361950" lvl="4" indent="0">
              <a:buNone/>
            </a:pPr>
            <a:r>
              <a:rPr lang="en-US" sz="2000" dirty="0"/>
              <a:t> </a:t>
            </a:r>
            <a:r>
              <a:rPr lang="en-US" sz="2000" dirty="0" smtClean="0"/>
              <a:t>    </a:t>
            </a:r>
          </a:p>
          <a:p>
            <a:pPr marL="361950" lvl="4" indent="0">
              <a:buNone/>
            </a:pPr>
            <a:endParaRPr lang="en-US" sz="2000" dirty="0" smtClean="0"/>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a:t>
            </a:fld>
            <a:endParaRPr lang="en-US" altLang="en-US" dirty="0"/>
          </a:p>
        </p:txBody>
      </p:sp>
      <p:sp>
        <p:nvSpPr>
          <p:cNvPr id="5" name="TextBox 4"/>
          <p:cNvSpPr txBox="1"/>
          <p:nvPr/>
        </p:nvSpPr>
        <p:spPr>
          <a:xfrm>
            <a:off x="6781800" y="251143"/>
            <a:ext cx="2836863" cy="400110"/>
          </a:xfrm>
          <a:prstGeom prst="rect">
            <a:avLst/>
          </a:prstGeom>
          <a:solidFill>
            <a:srgbClr val="FF0000"/>
          </a:solidFill>
        </p:spPr>
        <p:txBody>
          <a:bodyPr wrap="square" rtlCol="0">
            <a:spAutoFit/>
          </a:bodyPr>
          <a:lstStyle/>
          <a:p>
            <a:r>
              <a:rPr lang="en-US" sz="2000" b="1" dirty="0" smtClean="0">
                <a:solidFill>
                  <a:schemeClr val="bg1"/>
                </a:solidFill>
              </a:rPr>
              <a:t>GENERAL</a:t>
            </a:r>
            <a:endParaRPr lang="en-US" sz="2000" b="1" dirty="0">
              <a:solidFill>
                <a:schemeClr val="bg1"/>
              </a:solidFill>
            </a:endParaRPr>
          </a:p>
        </p:txBody>
      </p:sp>
    </p:spTree>
    <p:extLst>
      <p:ext uri="{BB962C8B-B14F-4D97-AF65-F5344CB8AC3E}">
        <p14:creationId xmlns:p14="http://schemas.microsoft.com/office/powerpoint/2010/main" val="40528262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38" y="152888"/>
            <a:ext cx="9331325" cy="922337"/>
          </a:xfrm>
        </p:spPr>
        <p:txBody>
          <a:bodyPr/>
          <a:lstStyle/>
          <a:p>
            <a:r>
              <a:rPr lang="en-US" sz="2400" dirty="0" smtClean="0"/>
              <a:t>Contents</a:t>
            </a:r>
            <a:endParaRPr lang="en-IN" sz="2400" dirty="0"/>
          </a:p>
        </p:txBody>
      </p:sp>
      <p:sp>
        <p:nvSpPr>
          <p:cNvPr id="3" name="Content Placeholder 2"/>
          <p:cNvSpPr>
            <a:spLocks noGrp="1"/>
          </p:cNvSpPr>
          <p:nvPr>
            <p:ph idx="1"/>
          </p:nvPr>
        </p:nvSpPr>
        <p:spPr>
          <a:xfrm>
            <a:off x="287338" y="605287"/>
            <a:ext cx="9331325" cy="5648029"/>
          </a:xfrm>
        </p:spPr>
        <p:txBody>
          <a:bodyPr/>
          <a:lstStyle/>
          <a:p>
            <a:r>
              <a:rPr lang="en-US" sz="2000" dirty="0" smtClean="0"/>
              <a:t>Introduction</a:t>
            </a:r>
          </a:p>
          <a:p>
            <a:r>
              <a:rPr lang="en-US" sz="2000" dirty="0" smtClean="0"/>
              <a:t>Overall Methodology Framework</a:t>
            </a:r>
          </a:p>
          <a:p>
            <a:r>
              <a:rPr lang="en-US" sz="2000" dirty="0" smtClean="0"/>
              <a:t>Methodology Dimensions</a:t>
            </a:r>
          </a:p>
          <a:p>
            <a:pPr marL="808038" lvl="4" indent="-446088"/>
            <a:r>
              <a:rPr lang="en-US" sz="2000" dirty="0" smtClean="0"/>
              <a:t>Probability of Default (PD)</a:t>
            </a:r>
          </a:p>
          <a:p>
            <a:pPr marL="982663" lvl="5"/>
            <a:r>
              <a:rPr lang="en-US" sz="1400" dirty="0" smtClean="0">
                <a:latin typeface="Times New Roman" pitchFamily="18" charset="0"/>
                <a:cs typeface="Times New Roman" pitchFamily="18" charset="0"/>
              </a:rPr>
              <a:t>Through the Cycle PD</a:t>
            </a:r>
          </a:p>
          <a:p>
            <a:pPr marL="982663" lvl="5"/>
            <a:r>
              <a:rPr lang="en-US" sz="1400" dirty="0" smtClean="0">
                <a:latin typeface="Times New Roman" pitchFamily="18" charset="0"/>
                <a:cs typeface="Times New Roman" pitchFamily="18" charset="0"/>
              </a:rPr>
              <a:t>Point in Time PD Link (Credit </a:t>
            </a:r>
            <a:r>
              <a:rPr lang="en-US" sz="1400" dirty="0">
                <a:latin typeface="Times New Roman" pitchFamily="18" charset="0"/>
                <a:cs typeface="Times New Roman" pitchFamily="18" charset="0"/>
              </a:rPr>
              <a:t>Cycle Index (CCI</a:t>
            </a:r>
            <a:r>
              <a:rPr lang="en-US" sz="1400" dirty="0" smtClean="0">
                <a:latin typeface="Times New Roman" pitchFamily="18" charset="0"/>
                <a:cs typeface="Times New Roman" pitchFamily="18" charset="0"/>
              </a:rPr>
              <a:t>); Asset </a:t>
            </a:r>
            <a:r>
              <a:rPr lang="en-US" sz="1400" dirty="0">
                <a:latin typeface="Times New Roman" pitchFamily="18" charset="0"/>
                <a:cs typeface="Times New Roman" pitchFamily="18" charset="0"/>
              </a:rPr>
              <a:t>Correlation </a:t>
            </a:r>
            <a:r>
              <a:rPr lang="en-US" sz="1400" dirty="0" smtClean="0">
                <a:latin typeface="Times New Roman" pitchFamily="18" charset="0"/>
                <a:cs typeface="Times New Roman" pitchFamily="18" charset="0"/>
              </a:rPr>
              <a:t>Parameter)</a:t>
            </a:r>
          </a:p>
          <a:p>
            <a:pPr marL="982663" lvl="5"/>
            <a:r>
              <a:rPr lang="en-US" sz="1400" dirty="0" smtClean="0">
                <a:latin typeface="Times New Roman" pitchFamily="18" charset="0"/>
                <a:cs typeface="Times New Roman" pitchFamily="18" charset="0"/>
              </a:rPr>
              <a:t>Lifetime PD</a:t>
            </a:r>
            <a:endParaRPr lang="en-US" sz="1400" dirty="0">
              <a:latin typeface="Times New Roman" pitchFamily="18" charset="0"/>
              <a:cs typeface="Times New Roman" pitchFamily="18" charset="0"/>
            </a:endParaRPr>
          </a:p>
          <a:p>
            <a:pPr marL="808038" lvl="4" indent="-446088"/>
            <a:r>
              <a:rPr lang="en-US" sz="2000" dirty="0" smtClean="0"/>
              <a:t>Loss Given Default (LGD)</a:t>
            </a:r>
          </a:p>
          <a:p>
            <a:pPr marL="982663" lvl="5"/>
            <a:r>
              <a:rPr lang="en-US" sz="1400" dirty="0" smtClean="0">
                <a:latin typeface="Times New Roman" pitchFamily="18" charset="0"/>
                <a:cs typeface="Times New Roman" pitchFamily="18" charset="0"/>
              </a:rPr>
              <a:t>Haircut Approach - based </a:t>
            </a:r>
            <a:r>
              <a:rPr lang="en-US" sz="1400" dirty="0">
                <a:latin typeface="Times New Roman" pitchFamily="18" charset="0"/>
                <a:cs typeface="Times New Roman" pitchFamily="18" charset="0"/>
              </a:rPr>
              <a:t>TTC LGD</a:t>
            </a:r>
          </a:p>
          <a:p>
            <a:pPr marL="982663" lvl="5"/>
            <a:r>
              <a:rPr lang="en-US" sz="1400" dirty="0" smtClean="0">
                <a:latin typeface="Times New Roman" pitchFamily="18" charset="0"/>
                <a:cs typeface="Times New Roman" pitchFamily="18" charset="0"/>
              </a:rPr>
              <a:t>PIT </a:t>
            </a:r>
            <a:r>
              <a:rPr lang="en-US" sz="1400" dirty="0">
                <a:latin typeface="Times New Roman" pitchFamily="18" charset="0"/>
                <a:cs typeface="Times New Roman" pitchFamily="18" charset="0"/>
              </a:rPr>
              <a:t>LGD Approach</a:t>
            </a:r>
          </a:p>
          <a:p>
            <a:pPr marL="808038" lvl="4" indent="-446088"/>
            <a:r>
              <a:rPr lang="en-US" sz="2000" dirty="0" smtClean="0"/>
              <a:t>Exposure at Default (EAD)</a:t>
            </a:r>
          </a:p>
          <a:p>
            <a:pPr marL="982663" lvl="5"/>
            <a:r>
              <a:rPr lang="en-US" sz="1400" dirty="0" smtClean="0">
                <a:latin typeface="Times New Roman" pitchFamily="18" charset="0"/>
                <a:cs typeface="Times New Roman" pitchFamily="18" charset="0"/>
              </a:rPr>
              <a:t>Credit </a:t>
            </a:r>
            <a:r>
              <a:rPr lang="en-US" sz="1400" dirty="0">
                <a:latin typeface="Times New Roman" pitchFamily="18" charset="0"/>
                <a:cs typeface="Times New Roman" pitchFamily="18" charset="0"/>
              </a:rPr>
              <a:t>Conversion Factor (CCF)</a:t>
            </a:r>
          </a:p>
          <a:p>
            <a:pPr marL="808038" lvl="4" indent="-446088"/>
            <a:r>
              <a:rPr lang="en-US" sz="2000" dirty="0" smtClean="0"/>
              <a:t>Expected Credit Loss (ECL) Computation</a:t>
            </a:r>
          </a:p>
          <a:p>
            <a:pPr marL="982663" lvl="5"/>
            <a:r>
              <a:rPr lang="en-US" sz="1400" dirty="0" smtClean="0">
                <a:latin typeface="Times New Roman" pitchFamily="18" charset="0"/>
                <a:cs typeface="Times New Roman" pitchFamily="18" charset="0"/>
              </a:rPr>
              <a:t>Forward-looking Elements </a:t>
            </a:r>
            <a:endParaRPr lang="en-US" sz="1400" dirty="0">
              <a:latin typeface="Times New Roman" pitchFamily="18" charset="0"/>
              <a:cs typeface="Times New Roman" pitchFamily="18" charset="0"/>
            </a:endParaRPr>
          </a:p>
          <a:p>
            <a:pPr marL="982663" lvl="5"/>
            <a:r>
              <a:rPr lang="en-US" sz="1400" dirty="0" smtClean="0">
                <a:latin typeface="Times New Roman" pitchFamily="18" charset="0"/>
                <a:cs typeface="Times New Roman" pitchFamily="18" charset="0"/>
              </a:rPr>
              <a:t>Discount </a:t>
            </a:r>
            <a:r>
              <a:rPr lang="en-US" sz="1400" dirty="0">
                <a:latin typeface="Times New Roman" pitchFamily="18" charset="0"/>
                <a:cs typeface="Times New Roman" pitchFamily="18" charset="0"/>
              </a:rPr>
              <a:t>Factor (DF) Parameter</a:t>
            </a:r>
          </a:p>
          <a:p>
            <a:pPr marL="982663" lvl="5"/>
            <a:r>
              <a:rPr lang="en-US" sz="1400" dirty="0" smtClean="0">
                <a:latin typeface="Times New Roman" pitchFamily="18" charset="0"/>
                <a:cs typeface="Times New Roman" pitchFamily="18" charset="0"/>
              </a:rPr>
              <a:t>Probabilities-Weighted </a:t>
            </a:r>
            <a:r>
              <a:rPr lang="en-US" sz="1400" dirty="0">
                <a:latin typeface="Times New Roman" pitchFamily="18" charset="0"/>
                <a:cs typeface="Times New Roman" pitchFamily="18" charset="0"/>
              </a:rPr>
              <a:t>Average ECL Approach </a:t>
            </a:r>
          </a:p>
          <a:p>
            <a:pPr marL="361950" lvl="4" indent="0">
              <a:buNone/>
            </a:pPr>
            <a:endParaRPr lang="en-US" sz="1600" dirty="0" smtClean="0"/>
          </a:p>
          <a:p>
            <a:pPr marL="361950" lvl="4" indent="0">
              <a:buNone/>
            </a:pPr>
            <a:r>
              <a:rPr lang="en-US" sz="2000" dirty="0"/>
              <a:t> </a:t>
            </a:r>
            <a:r>
              <a:rPr lang="en-US" sz="2000" dirty="0" smtClean="0"/>
              <a:t>    </a:t>
            </a:r>
          </a:p>
          <a:p>
            <a:pPr marL="361950" lvl="4" indent="0">
              <a:buNone/>
            </a:pPr>
            <a:endParaRPr lang="en-US" sz="2000" dirty="0" smtClean="0"/>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3</a:t>
            </a:fld>
            <a:endParaRPr lang="en-US" altLang="en-US" dirty="0"/>
          </a:p>
        </p:txBody>
      </p:sp>
      <p:sp>
        <p:nvSpPr>
          <p:cNvPr id="5" name="TextBox 4"/>
          <p:cNvSpPr txBox="1"/>
          <p:nvPr/>
        </p:nvSpPr>
        <p:spPr>
          <a:xfrm>
            <a:off x="6781800" y="251143"/>
            <a:ext cx="2836863" cy="707886"/>
          </a:xfrm>
          <a:prstGeom prst="rect">
            <a:avLst/>
          </a:prstGeom>
          <a:solidFill>
            <a:srgbClr val="FF0000"/>
          </a:solidFill>
        </p:spPr>
        <p:txBody>
          <a:bodyPr wrap="square" rtlCol="0">
            <a:spAutoFit/>
          </a:bodyPr>
          <a:lstStyle/>
          <a:p>
            <a:r>
              <a:rPr lang="en-US" sz="2000" b="1" dirty="0" smtClean="0">
                <a:solidFill>
                  <a:schemeClr val="bg1"/>
                </a:solidFill>
              </a:rPr>
              <a:t>TO BE CHECKED AGAINST CONTENTS</a:t>
            </a:r>
            <a:endParaRPr lang="en-US" sz="2000" b="1" dirty="0">
              <a:solidFill>
                <a:schemeClr val="bg1"/>
              </a:solidFill>
            </a:endParaRPr>
          </a:p>
        </p:txBody>
      </p:sp>
    </p:spTree>
    <p:extLst>
      <p:ext uri="{BB962C8B-B14F-4D97-AF65-F5344CB8AC3E}">
        <p14:creationId xmlns:p14="http://schemas.microsoft.com/office/powerpoint/2010/main" val="33369252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t>Introduction</a:t>
            </a:r>
          </a:p>
          <a:p>
            <a:r>
              <a:rPr lang="en-US" sz="2000" dirty="0" smtClean="0">
                <a:solidFill>
                  <a:schemeClr val="bg1">
                    <a:lumMod val="75000"/>
                  </a:schemeClr>
                </a:solidFill>
              </a:rPr>
              <a:t>Overall Methodology Framework</a:t>
            </a:r>
          </a:p>
          <a:p>
            <a:r>
              <a:rPr lang="en-US" sz="2000" dirty="0" smtClean="0">
                <a:solidFill>
                  <a:schemeClr val="bg1">
                    <a:lumMod val="75000"/>
                  </a:schemeClr>
                </a:solidFill>
              </a:rPr>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solidFill>
                  <a:schemeClr val="bg1">
                    <a:lumMod val="75000"/>
                  </a:schemeClr>
                </a:solidFill>
              </a:rPr>
              <a:t>Loss Given Default (LGD)</a:t>
            </a:r>
          </a:p>
          <a:p>
            <a:pPr marL="808038" lvl="4" indent="-446088"/>
            <a:r>
              <a:rPr lang="en-US" sz="2000" dirty="0" smtClean="0">
                <a:solidFill>
                  <a:schemeClr val="bg1">
                    <a:lumMod val="75000"/>
                  </a:schemeClr>
                </a:solidFill>
              </a:rPr>
              <a:t>Exposure at Default (EAD)</a:t>
            </a:r>
          </a:p>
          <a:p>
            <a:pPr marL="808038" lvl="4" indent="-446088"/>
            <a:r>
              <a:rPr lang="en-US" sz="2000" dirty="0" smtClean="0">
                <a:solidFill>
                  <a:schemeClr val="bg1">
                    <a:lumMod val="75000"/>
                  </a:schemeClr>
                </a:solidFill>
              </a:rPr>
              <a:t>Expected Credit Loss (ECL) Computation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a:t>
            </a:fld>
            <a:endParaRPr lang="en-US" altLang="en-US"/>
          </a:p>
        </p:txBody>
      </p:sp>
      <p:sp>
        <p:nvSpPr>
          <p:cNvPr id="5" name="TextBox 4"/>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3550536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Design </a:t>
            </a:r>
            <a:br>
              <a:rPr lang="en-US" sz="2400" dirty="0" smtClean="0"/>
            </a:br>
            <a:r>
              <a:rPr lang="en-US" sz="2000" i="1" dirty="0" smtClean="0"/>
              <a:t>Introduction and Scope</a:t>
            </a:r>
            <a:endParaRPr lang="en-IN" sz="2800" i="1" dirty="0"/>
          </a:p>
        </p:txBody>
      </p:sp>
      <p:sp>
        <p:nvSpPr>
          <p:cNvPr id="3" name="Content Placeholder 2"/>
          <p:cNvSpPr>
            <a:spLocks noGrp="1"/>
          </p:cNvSpPr>
          <p:nvPr>
            <p:ph idx="1"/>
          </p:nvPr>
        </p:nvSpPr>
        <p:spPr>
          <a:xfrm>
            <a:off x="287338" y="1173162"/>
            <a:ext cx="9331325" cy="4450889"/>
          </a:xfrm>
        </p:spPr>
        <p:txBody>
          <a:bodyPr/>
          <a:lstStyle/>
          <a:p>
            <a:pPr>
              <a:lnSpc>
                <a:spcPct val="100000"/>
              </a:lnSpc>
              <a:spcBef>
                <a:spcPts val="600"/>
              </a:spcBef>
              <a:spcAft>
                <a:spcPts val="600"/>
              </a:spcAft>
            </a:pPr>
            <a:r>
              <a:rPr lang="en-US" sz="1400" dirty="0" smtClean="0"/>
              <a:t>This Methodology Design Note focuses on the options that QNB considered and identified to adopt for the ECL computational framework, specifically for the non-retail portfolios at the Bank</a:t>
            </a:r>
          </a:p>
          <a:p>
            <a:pPr>
              <a:lnSpc>
                <a:spcPct val="100000"/>
              </a:lnSpc>
              <a:spcBef>
                <a:spcPts val="600"/>
              </a:spcBef>
              <a:spcAft>
                <a:spcPts val="600"/>
              </a:spcAft>
            </a:pPr>
            <a:r>
              <a:rPr lang="en-US" sz="1400" dirty="0" smtClean="0"/>
              <a:t>The note aims to discuss the following in the context of the above objective:</a:t>
            </a:r>
          </a:p>
          <a:p>
            <a:pPr marL="623888" lvl="4" indent="-261938">
              <a:lnSpc>
                <a:spcPct val="100000"/>
              </a:lnSpc>
              <a:spcBef>
                <a:spcPts val="600"/>
              </a:spcBef>
              <a:spcAft>
                <a:spcPts val="600"/>
              </a:spcAft>
              <a:buFont typeface="Wingdings" panose="05000000000000000000" pitchFamily="2" charset="2"/>
              <a:buChar char="§"/>
            </a:pPr>
            <a:r>
              <a:rPr lang="en-US" sz="1400" dirty="0" smtClean="0"/>
              <a:t>Identify the overall methodology framework that QNB will adopt to compute the forward-looking Point-in-Time estimates for use within the ECL computations</a:t>
            </a:r>
          </a:p>
          <a:p>
            <a:pPr marL="623888" lvl="4" indent="-261938">
              <a:lnSpc>
                <a:spcPct val="100000"/>
              </a:lnSpc>
              <a:spcBef>
                <a:spcPts val="600"/>
              </a:spcBef>
              <a:spcAft>
                <a:spcPts val="600"/>
              </a:spcAft>
              <a:buFont typeface="Wingdings" panose="05000000000000000000" pitchFamily="2" charset="2"/>
              <a:buChar char="§"/>
            </a:pPr>
            <a:r>
              <a:rPr lang="en-US" sz="1400" dirty="0" smtClean="0"/>
              <a:t>Define the segments / sub-segments across the non-retail portfolios of the Bank for which the methodology discussed in this note will be applied to; this will include the identification of any specific variations of the methodology / assumptions that will be adopted for any portfolio segment</a:t>
            </a:r>
          </a:p>
          <a:p>
            <a:pPr marL="623888" lvl="4" indent="-261938">
              <a:lnSpc>
                <a:spcPct val="100000"/>
              </a:lnSpc>
              <a:spcBef>
                <a:spcPts val="600"/>
              </a:spcBef>
              <a:spcAft>
                <a:spcPts val="600"/>
              </a:spcAft>
              <a:buFont typeface="Wingdings" panose="05000000000000000000" pitchFamily="2" charset="2"/>
              <a:buChar char="§"/>
            </a:pPr>
            <a:r>
              <a:rPr lang="en-US" sz="1400" dirty="0"/>
              <a:t>For each ECL component (such as Probability of Default (PD)), summarize the options evaluated and identified for use within the methodology framework</a:t>
            </a:r>
          </a:p>
          <a:p>
            <a:pPr marL="623888" lvl="4" indent="-261938">
              <a:lnSpc>
                <a:spcPct val="100000"/>
              </a:lnSpc>
              <a:spcBef>
                <a:spcPts val="600"/>
              </a:spcBef>
              <a:spcAft>
                <a:spcPts val="600"/>
              </a:spcAft>
              <a:buFont typeface="Wingdings" panose="05000000000000000000" pitchFamily="2" charset="2"/>
              <a:buChar char="§"/>
            </a:pPr>
            <a:r>
              <a:rPr lang="en-US" sz="1400" dirty="0"/>
              <a:t>Further to the point above, details of the rationale for the choices made with respect to the available options are included within separate sections for individual ECL components</a:t>
            </a:r>
          </a:p>
          <a:p>
            <a:pPr marL="623888" lvl="4" indent="-261938">
              <a:lnSpc>
                <a:spcPct val="100000"/>
              </a:lnSpc>
              <a:spcBef>
                <a:spcPts val="600"/>
              </a:spcBef>
              <a:spcAft>
                <a:spcPts val="600"/>
              </a:spcAft>
              <a:buFont typeface="Wingdings" panose="05000000000000000000" pitchFamily="2" charset="2"/>
              <a:buChar char="§"/>
            </a:pPr>
            <a:r>
              <a:rPr lang="en-US" sz="1400" dirty="0" smtClean="0"/>
              <a:t>Design an approach </a:t>
            </a:r>
            <a:r>
              <a:rPr lang="en-US" sz="1400" dirty="0"/>
              <a:t>to compute weighted average ECL using multiple scenarios </a:t>
            </a:r>
            <a:r>
              <a:rPr lang="en-US" sz="1400" dirty="0" smtClean="0">
                <a:solidFill>
                  <a:srgbClr val="000C2D"/>
                </a:solidFill>
              </a:rPr>
              <a:t>and forward looking information available without undue cost and effort.</a:t>
            </a:r>
            <a:endParaRPr lang="en-IN" sz="1400" dirty="0">
              <a:solidFill>
                <a:srgbClr val="000C2D"/>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a:t>
            </a:fld>
            <a:endParaRPr lang="en-US" altLang="en-US" dirty="0"/>
          </a:p>
        </p:txBody>
      </p:sp>
      <p:sp>
        <p:nvSpPr>
          <p:cNvPr id="5" name="TextBox 4"/>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819697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t>Overall Methodology Framework</a:t>
            </a:r>
          </a:p>
          <a:p>
            <a:r>
              <a:rPr lang="en-US" sz="2000" dirty="0" smtClean="0">
                <a:solidFill>
                  <a:schemeClr val="bg1">
                    <a:lumMod val="75000"/>
                  </a:schemeClr>
                </a:solidFill>
              </a:rPr>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solidFill>
                  <a:schemeClr val="bg1">
                    <a:lumMod val="75000"/>
                  </a:schemeClr>
                </a:solidFill>
              </a:rPr>
              <a:t>Loss Given Default (LGD)</a:t>
            </a:r>
          </a:p>
          <a:p>
            <a:pPr marL="808038" lvl="4" indent="-446088"/>
            <a:r>
              <a:rPr lang="en-US" sz="2000" dirty="0" smtClean="0">
                <a:solidFill>
                  <a:schemeClr val="bg1">
                    <a:lumMod val="75000"/>
                  </a:schemeClr>
                </a:solidFill>
              </a:rPr>
              <a:t>Exposure at Default (EAD)</a:t>
            </a:r>
          </a:p>
          <a:p>
            <a:pPr marL="808038" lvl="4" indent="-446088"/>
            <a:r>
              <a:rPr lang="en-US" sz="2000" dirty="0" smtClean="0">
                <a:solidFill>
                  <a:schemeClr val="bg1">
                    <a:lumMod val="75000"/>
                  </a:schemeClr>
                </a:solidFill>
              </a:rPr>
              <a:t>Expected Credit Loss (ECL) Computation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6</a:t>
            </a:fld>
            <a:endParaRPr lang="en-US" altLang="en-US"/>
          </a:p>
        </p:txBody>
      </p:sp>
      <p:sp>
        <p:nvSpPr>
          <p:cNvPr id="5" name="TextBox 4"/>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526679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Overall Methodology </a:t>
            </a:r>
            <a:r>
              <a:rPr lang="en-US" sz="2400" dirty="0" smtClean="0"/>
              <a:t>Framework</a:t>
            </a:r>
            <a:br>
              <a:rPr lang="en-US" sz="2400" dirty="0" smtClean="0"/>
            </a:br>
            <a:r>
              <a:rPr lang="en-US" sz="2000" i="1" dirty="0" smtClean="0"/>
              <a:t>Overview of the overarching approach for each ECL parameter</a:t>
            </a:r>
            <a:endParaRPr lang="en-IN" sz="2216"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7</a:t>
            </a:fld>
            <a:endParaRPr lang="en-US" altLang="en-US" dirty="0"/>
          </a:p>
        </p:txBody>
      </p:sp>
      <p:sp>
        <p:nvSpPr>
          <p:cNvPr id="41" name="Content Placeholder 2"/>
          <p:cNvSpPr>
            <a:spLocks noGrp="1"/>
          </p:cNvSpPr>
          <p:nvPr>
            <p:ph idx="1"/>
          </p:nvPr>
        </p:nvSpPr>
        <p:spPr>
          <a:xfrm>
            <a:off x="287338" y="1173162"/>
            <a:ext cx="9331325" cy="4549212"/>
          </a:xfrm>
        </p:spPr>
        <p:txBody>
          <a:bodyPr/>
          <a:lstStyle/>
          <a:p>
            <a:pPr>
              <a:lnSpc>
                <a:spcPct val="100000"/>
              </a:lnSpc>
              <a:spcBef>
                <a:spcPts val="600"/>
              </a:spcBef>
              <a:spcAft>
                <a:spcPts val="600"/>
              </a:spcAft>
            </a:pPr>
            <a:r>
              <a:rPr lang="en-IN" sz="1400" dirty="0"/>
              <a:t>IFRS 9 </a:t>
            </a:r>
            <a:r>
              <a:rPr lang="en-IN" sz="1400" dirty="0" smtClean="0"/>
              <a:t>modelling </a:t>
            </a:r>
            <a:r>
              <a:rPr lang="en-IN" sz="1400" dirty="0"/>
              <a:t>methodology focuses on deriving a link between </a:t>
            </a:r>
            <a:r>
              <a:rPr lang="en-IN" sz="1400" dirty="0" smtClean="0"/>
              <a:t>Through the Cycle </a:t>
            </a:r>
            <a:r>
              <a:rPr lang="en-IN" sz="1400" dirty="0"/>
              <a:t>model estimates to ‘</a:t>
            </a:r>
            <a:r>
              <a:rPr lang="en-IN" sz="1400" dirty="0" smtClean="0"/>
              <a:t>conditioned’ </a:t>
            </a:r>
            <a:r>
              <a:rPr lang="en-IN" sz="1400" dirty="0"/>
              <a:t>or </a:t>
            </a:r>
            <a:r>
              <a:rPr lang="en-IN" sz="1400" dirty="0" err="1" smtClean="0"/>
              <a:t>PiT</a:t>
            </a:r>
            <a:r>
              <a:rPr lang="en-IN" sz="1400" dirty="0" smtClean="0"/>
              <a:t> </a:t>
            </a:r>
            <a:r>
              <a:rPr lang="en-IN" sz="1400" dirty="0"/>
              <a:t>model estimates</a:t>
            </a:r>
          </a:p>
          <a:p>
            <a:pPr>
              <a:lnSpc>
                <a:spcPct val="100000"/>
              </a:lnSpc>
              <a:spcBef>
                <a:spcPts val="600"/>
              </a:spcBef>
              <a:spcAft>
                <a:spcPts val="600"/>
              </a:spcAft>
            </a:pPr>
            <a:r>
              <a:rPr lang="en-IN" sz="1400" dirty="0"/>
              <a:t>There are variations in the specific methodology used for the different PD, LGD and EAD or CCF models. However, the overarching principles remain the same across the </a:t>
            </a:r>
            <a:r>
              <a:rPr lang="en-IN" sz="1400" dirty="0" smtClean="0"/>
              <a:t>models</a:t>
            </a:r>
          </a:p>
          <a:p>
            <a:pPr>
              <a:lnSpc>
                <a:spcPct val="100000"/>
              </a:lnSpc>
              <a:spcBef>
                <a:spcPts val="600"/>
              </a:spcBef>
              <a:spcAft>
                <a:spcPts val="600"/>
              </a:spcAft>
            </a:pPr>
            <a:r>
              <a:rPr lang="en-US" sz="1400" dirty="0" smtClean="0"/>
              <a:t>QNB has evaluated two options for the overall methodology to convert the TTC estimates to forward-looking PiT estimates to be used within the ECL computational framework</a:t>
            </a:r>
          </a:p>
          <a:p>
            <a:pPr>
              <a:lnSpc>
                <a:spcPct val="100000"/>
              </a:lnSpc>
              <a:spcBef>
                <a:spcPts val="600"/>
              </a:spcBef>
              <a:spcAft>
                <a:spcPts val="600"/>
              </a:spcAft>
            </a:pPr>
            <a:endParaRPr lang="en-IN" sz="1400" dirty="0" smtClean="0"/>
          </a:p>
          <a:p>
            <a:pPr>
              <a:lnSpc>
                <a:spcPct val="100000"/>
              </a:lnSpc>
              <a:spcBef>
                <a:spcPts val="600"/>
              </a:spcBef>
              <a:spcAft>
                <a:spcPts val="600"/>
              </a:spcAft>
            </a:pPr>
            <a:r>
              <a:rPr lang="en-IN" sz="1400" dirty="0"/>
              <a:t>The forward-looking overlay to the model outputs are expected to be aligned to regulatory expectations of the number of scenarios that are to be applied (a minimum of three scenarios as per QCB guidance)</a:t>
            </a:r>
          </a:p>
          <a:p>
            <a:pPr>
              <a:lnSpc>
                <a:spcPct val="100000"/>
              </a:lnSpc>
              <a:spcBef>
                <a:spcPts val="600"/>
              </a:spcBef>
              <a:spcAft>
                <a:spcPts val="600"/>
              </a:spcAft>
            </a:pPr>
            <a:r>
              <a:rPr lang="en-IN" sz="1400" dirty="0" smtClean="0"/>
              <a:t>Out </a:t>
            </a:r>
            <a:r>
              <a:rPr lang="en-IN" sz="1400" dirty="0"/>
              <a:t>of all the ECL components, QNB will assess the feasibility of applying the 4-staged </a:t>
            </a:r>
            <a:r>
              <a:rPr lang="en-IN" sz="1400" dirty="0" smtClean="0"/>
              <a:t>approach, identified in the next slide, </a:t>
            </a:r>
            <a:r>
              <a:rPr lang="en-IN" sz="1400" dirty="0"/>
              <a:t>to each depending on data availability and the practicality in using specific approaches being cognizant of the </a:t>
            </a:r>
            <a:r>
              <a:rPr lang="en-IN" sz="1400" dirty="0" smtClean="0"/>
              <a:t>IFRS9 acceptance of an </a:t>
            </a:r>
            <a:r>
              <a:rPr lang="en-IN" sz="1400" dirty="0"/>
              <a:t>approach that does not require “undue cost and effort”.</a:t>
            </a:r>
          </a:p>
          <a:p>
            <a:pPr>
              <a:lnSpc>
                <a:spcPct val="100000"/>
              </a:lnSpc>
              <a:spcBef>
                <a:spcPts val="600"/>
              </a:spcBef>
              <a:spcAft>
                <a:spcPts val="600"/>
              </a:spcAft>
            </a:pPr>
            <a:r>
              <a:rPr lang="en-IN" sz="1400" dirty="0"/>
              <a:t>For instance, QNB will proceed with converting TTC PD to PIT Forward looking PD using an appropriate methodology (as covered in the slides to follow), however, the methodology may not </a:t>
            </a:r>
            <a:r>
              <a:rPr lang="en-IN" sz="1400" dirty="0" smtClean="0"/>
              <a:t>require other </a:t>
            </a:r>
            <a:r>
              <a:rPr lang="en-IN" sz="1400" dirty="0"/>
              <a:t>components to be conditioned</a:t>
            </a:r>
          </a:p>
          <a:p>
            <a:pPr>
              <a:lnSpc>
                <a:spcPct val="100000"/>
              </a:lnSpc>
              <a:spcBef>
                <a:spcPts val="600"/>
              </a:spcBef>
              <a:spcAft>
                <a:spcPts val="600"/>
              </a:spcAft>
            </a:pPr>
            <a:endParaRPr lang="en-IN" sz="1400" dirty="0"/>
          </a:p>
          <a:p>
            <a:pPr>
              <a:lnSpc>
                <a:spcPct val="100000"/>
              </a:lnSpc>
              <a:spcBef>
                <a:spcPts val="600"/>
              </a:spcBef>
              <a:spcAft>
                <a:spcPts val="600"/>
              </a:spcAft>
            </a:pPr>
            <a:endParaRPr lang="en-IN" sz="1400" dirty="0"/>
          </a:p>
        </p:txBody>
      </p:sp>
      <p:cxnSp>
        <p:nvCxnSpPr>
          <p:cNvPr id="5" name="Straight Connector 4"/>
          <p:cNvCxnSpPr/>
          <p:nvPr/>
        </p:nvCxnSpPr>
        <p:spPr>
          <a:xfrm>
            <a:off x="477078" y="3021496"/>
            <a:ext cx="870184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6794855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Overall Methodology </a:t>
            </a:r>
            <a:r>
              <a:rPr lang="en-US" sz="2400" dirty="0" smtClean="0"/>
              <a:t>Framework</a:t>
            </a:r>
            <a:br>
              <a:rPr lang="en-US" sz="2400" dirty="0" smtClean="0"/>
            </a:br>
            <a:r>
              <a:rPr lang="en-US" sz="2000" i="1" dirty="0" smtClean="0"/>
              <a:t>QNB preferred ECL Approach &amp; Why?</a:t>
            </a:r>
            <a:endParaRPr lang="en-IN" sz="2216"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8</a:t>
            </a:fld>
            <a:endParaRPr lang="en-US" altLang="en-US" dirty="0"/>
          </a:p>
        </p:txBody>
      </p:sp>
      <p:sp>
        <p:nvSpPr>
          <p:cNvPr id="23" name="Content Placeholder 2"/>
          <p:cNvSpPr>
            <a:spLocks noGrp="1"/>
          </p:cNvSpPr>
          <p:nvPr>
            <p:ph idx="1"/>
          </p:nvPr>
        </p:nvSpPr>
        <p:spPr>
          <a:xfrm>
            <a:off x="287338" y="2721684"/>
            <a:ext cx="9331325" cy="2954961"/>
          </a:xfrm>
        </p:spPr>
        <p:txBody>
          <a:bodyPr/>
          <a:lstStyle/>
          <a:p>
            <a:pPr lvl="2">
              <a:lnSpc>
                <a:spcPct val="100000"/>
              </a:lnSpc>
              <a:spcBef>
                <a:spcPts val="600"/>
              </a:spcBef>
              <a:spcAft>
                <a:spcPts val="600"/>
              </a:spcAft>
            </a:pPr>
            <a:r>
              <a:rPr lang="en-IN" sz="1400" dirty="0" smtClean="0"/>
              <a:t>The Bank is already using a Rating Transition Matrix approach to derive internal the TTC Term Structure PDs.</a:t>
            </a:r>
          </a:p>
          <a:p>
            <a:pPr lvl="2">
              <a:lnSpc>
                <a:spcPct val="100000"/>
              </a:lnSpc>
              <a:spcBef>
                <a:spcPts val="600"/>
              </a:spcBef>
              <a:spcAft>
                <a:spcPts val="600"/>
              </a:spcAft>
            </a:pPr>
            <a:r>
              <a:rPr lang="en-IN" sz="1400" dirty="0" smtClean="0"/>
              <a:t>Given inherent data challenges to build an internal transition matrix, QNB is already using reliable estimates from Moody’s 1 Year transition matrix (adjusted to its own default transitions i.e. the Bank’s 1 year PD Masterscale) to derive TTC Term Structure PDs through a Markov property-based approach. </a:t>
            </a:r>
          </a:p>
          <a:p>
            <a:pPr lvl="2">
              <a:lnSpc>
                <a:spcPct val="100000"/>
              </a:lnSpc>
              <a:spcBef>
                <a:spcPts val="600"/>
              </a:spcBef>
              <a:spcAft>
                <a:spcPts val="600"/>
              </a:spcAft>
            </a:pPr>
            <a:r>
              <a:rPr lang="en-IN" sz="1400" dirty="0" smtClean="0"/>
              <a:t>When TTC Term Structure PDs are derived, the Bank will use the </a:t>
            </a:r>
            <a:r>
              <a:rPr lang="en-IN" sz="1400" dirty="0" err="1" smtClean="0"/>
              <a:t>Vasicek</a:t>
            </a:r>
            <a:r>
              <a:rPr lang="en-IN" sz="1400" dirty="0" smtClean="0"/>
              <a:t> Framework to adjust them into PIT Term Structure PDs by accounting for the CCI factor which, in turn, should be projected (through specific scenarios) in order to make the above PIT Term Structure PDs become forward-looking.</a:t>
            </a:r>
            <a:endParaRPr lang="en-IN" sz="1400" dirty="0"/>
          </a:p>
          <a:p>
            <a:pPr>
              <a:lnSpc>
                <a:spcPct val="100000"/>
              </a:lnSpc>
              <a:spcBef>
                <a:spcPts val="600"/>
              </a:spcBef>
              <a:spcAft>
                <a:spcPts val="600"/>
              </a:spcAft>
            </a:pPr>
            <a:endParaRPr lang="en-IN" sz="1400" dirty="0"/>
          </a:p>
        </p:txBody>
      </p:sp>
      <p:sp>
        <p:nvSpPr>
          <p:cNvPr id="61" name="Rectangle 60"/>
          <p:cNvSpPr/>
          <p:nvPr/>
        </p:nvSpPr>
        <p:spPr>
          <a:xfrm>
            <a:off x="211132" y="1468622"/>
            <a:ext cx="1704571" cy="744133"/>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ysClr val="windowText" lastClr="000000"/>
                </a:solidFill>
                <a:latin typeface="Times New Roman" panose="02020603050405020304" pitchFamily="18" charset="0"/>
                <a:cs typeface="Times New Roman" panose="02020603050405020304" pitchFamily="18" charset="0"/>
              </a:rPr>
              <a:t>Through the Cycle (TTC) Model/Methodology</a:t>
            </a:r>
          </a:p>
        </p:txBody>
      </p:sp>
      <p:sp>
        <p:nvSpPr>
          <p:cNvPr id="62" name="Rectangle 61"/>
          <p:cNvSpPr/>
          <p:nvPr/>
        </p:nvSpPr>
        <p:spPr>
          <a:xfrm>
            <a:off x="2351534" y="1468622"/>
            <a:ext cx="1827692" cy="744133"/>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ysClr val="windowText" lastClr="000000"/>
                </a:solidFill>
                <a:latin typeface="Times New Roman" panose="02020603050405020304" pitchFamily="18" charset="0"/>
                <a:cs typeface="Times New Roman" panose="02020603050405020304" pitchFamily="18" charset="0"/>
              </a:rPr>
              <a:t>Link Function between TTC Model and Macro Factors</a:t>
            </a:r>
          </a:p>
        </p:txBody>
      </p:sp>
      <p:sp>
        <p:nvSpPr>
          <p:cNvPr id="63" name="Rectangle 62"/>
          <p:cNvSpPr/>
          <p:nvPr/>
        </p:nvSpPr>
        <p:spPr>
          <a:xfrm>
            <a:off x="7051572" y="1468622"/>
            <a:ext cx="1827692" cy="7441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latin typeface="Times New Roman" panose="02020603050405020304" pitchFamily="18" charset="0"/>
                <a:cs typeface="Times New Roman" panose="02020603050405020304" pitchFamily="18" charset="0"/>
              </a:rPr>
              <a:t>Point-in-Time (</a:t>
            </a:r>
            <a:r>
              <a:rPr lang="en-US" sz="1100" b="1" dirty="0" err="1" smtClean="0">
                <a:solidFill>
                  <a:schemeClr val="bg1"/>
                </a:solidFill>
                <a:latin typeface="Times New Roman" panose="02020603050405020304" pitchFamily="18" charset="0"/>
                <a:cs typeface="Times New Roman" panose="02020603050405020304" pitchFamily="18" charset="0"/>
              </a:rPr>
              <a:t>PiT</a:t>
            </a:r>
            <a:r>
              <a:rPr lang="en-US" sz="1100" b="1" dirty="0">
                <a:solidFill>
                  <a:schemeClr val="bg1"/>
                </a:solidFill>
                <a:latin typeface="Times New Roman" panose="02020603050405020304" pitchFamily="18" charset="0"/>
                <a:cs typeface="Times New Roman" panose="02020603050405020304" pitchFamily="18" charset="0"/>
              </a:rPr>
              <a:t>) Forward Looking Estimate</a:t>
            </a:r>
          </a:p>
        </p:txBody>
      </p:sp>
      <p:sp>
        <p:nvSpPr>
          <p:cNvPr id="64" name="Rectangle 63"/>
          <p:cNvSpPr/>
          <p:nvPr/>
        </p:nvSpPr>
        <p:spPr>
          <a:xfrm>
            <a:off x="4615055" y="1468622"/>
            <a:ext cx="1827692" cy="744133"/>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2"/>
                </a:solidFill>
                <a:latin typeface="Times New Roman" panose="02020603050405020304" pitchFamily="18" charset="0"/>
                <a:cs typeface="Times New Roman" panose="02020603050405020304" pitchFamily="18" charset="0"/>
              </a:rPr>
              <a:t>Overlay of Macro-Economic </a:t>
            </a:r>
            <a:r>
              <a:rPr lang="en-US" sz="1100" b="1" dirty="0">
                <a:solidFill>
                  <a:schemeClr val="tx2"/>
                </a:solidFill>
                <a:latin typeface="Times New Roman" panose="02020603050405020304" pitchFamily="18" charset="0"/>
                <a:cs typeface="Times New Roman" panose="02020603050405020304" pitchFamily="18" charset="0"/>
              </a:rPr>
              <a:t>Forecast and Scenarios</a:t>
            </a:r>
          </a:p>
        </p:txBody>
      </p:sp>
      <p:sp>
        <p:nvSpPr>
          <p:cNvPr id="65" name="Plus 64"/>
          <p:cNvSpPr/>
          <p:nvPr/>
        </p:nvSpPr>
        <p:spPr>
          <a:xfrm>
            <a:off x="4258860" y="1690029"/>
            <a:ext cx="276560" cy="3013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dirty="0"/>
          </a:p>
        </p:txBody>
      </p:sp>
      <p:sp>
        <p:nvSpPr>
          <p:cNvPr id="66" name="Plus 65"/>
          <p:cNvSpPr/>
          <p:nvPr/>
        </p:nvSpPr>
        <p:spPr>
          <a:xfrm>
            <a:off x="1995337" y="1690028"/>
            <a:ext cx="276560" cy="3013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dirty="0"/>
          </a:p>
        </p:txBody>
      </p:sp>
      <p:sp>
        <p:nvSpPr>
          <p:cNvPr id="67" name="Equal 66"/>
          <p:cNvSpPr/>
          <p:nvPr/>
        </p:nvSpPr>
        <p:spPr>
          <a:xfrm>
            <a:off x="6587890" y="1690029"/>
            <a:ext cx="318539" cy="30132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dirty="0">
              <a:solidFill>
                <a:schemeClr val="tx1"/>
              </a:solidFill>
            </a:endParaRPr>
          </a:p>
        </p:txBody>
      </p:sp>
      <p:sp>
        <p:nvSpPr>
          <p:cNvPr id="12" name="TextBox 11"/>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901214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Components</a:t>
            </a:r>
            <a:br>
              <a:rPr lang="en-US" sz="2400" dirty="0" smtClean="0"/>
            </a:br>
            <a:r>
              <a:rPr lang="en-US" sz="2000" i="1" dirty="0" smtClean="0"/>
              <a:t>Overview of the options and implications – TTC PD</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9</a:t>
            </a:fld>
            <a:endParaRPr lang="en-US" altLang="en-US" dirty="0"/>
          </a:p>
        </p:txBody>
      </p:sp>
      <p:graphicFrame>
        <p:nvGraphicFramePr>
          <p:cNvPr id="9" name="Table 8"/>
          <p:cNvGraphicFramePr>
            <a:graphicFrameLocks noGrp="1"/>
          </p:cNvGraphicFramePr>
          <p:nvPr>
            <p:extLst>
              <p:ext uri="{D42A27DB-BD31-4B8C-83A1-F6EECF244321}">
                <p14:modId xmlns:p14="http://schemas.microsoft.com/office/powerpoint/2010/main" val="4083886408"/>
              </p:ext>
            </p:extLst>
          </p:nvPr>
        </p:nvGraphicFramePr>
        <p:xfrm>
          <a:off x="306904" y="1041609"/>
          <a:ext cx="9091890" cy="5107400"/>
        </p:xfrm>
        <a:graphic>
          <a:graphicData uri="http://schemas.openxmlformats.org/drawingml/2006/table">
            <a:tbl>
              <a:tblPr/>
              <a:tblGrid>
                <a:gridCol w="1346492"/>
                <a:gridCol w="2772830"/>
                <a:gridCol w="4972568"/>
              </a:tblGrid>
              <a:tr h="561906">
                <a:tc>
                  <a:txBody>
                    <a:bodyPr/>
                    <a:lstStyle/>
                    <a:p>
                      <a:pPr algn="ctr" fontAlgn="ctr">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Methodology Component</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Possible </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Approach Options</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Implications / Action</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Required</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1205948">
                <a:tc rowSpan="3">
                  <a:txBody>
                    <a:bodyPr/>
                    <a:lstStyle/>
                    <a:p>
                      <a:pPr algn="ctr" fontAlgn="ctr">
                        <a:spcBef>
                          <a:spcPts val="300"/>
                        </a:spcBef>
                        <a:spcAft>
                          <a:spcPts val="300"/>
                        </a:spcAft>
                      </a:pPr>
                      <a:r>
                        <a:rPr lang="en-IN" sz="1300" b="1" i="0" u="none" strike="noStrike" dirty="0">
                          <a:solidFill>
                            <a:srgbClr val="000000"/>
                          </a:solidFill>
                          <a:effectLst/>
                          <a:latin typeface="Times New Roman" panose="02020603050405020304" pitchFamily="18" charset="0"/>
                          <a:cs typeface="Times New Roman" panose="02020603050405020304" pitchFamily="18" charset="0"/>
                        </a:rPr>
                        <a:t>TTC PD</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Adopt Master Scale PDs</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Document the approach used to calibrate the master scale</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Verify the assumptions used for:</a:t>
                      </a:r>
                    </a:p>
                    <a:p>
                      <a:pPr marL="542925" indent="-357188" algn="l" fontAlgn="b">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interpolation of PDs within the 1 year observations, and </a:t>
                      </a:r>
                    </a:p>
                    <a:p>
                      <a:pPr marL="542925" indent="-357188" algn="l" fontAlgn="b">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extrapolation of PDs beyond the 10 year term structure</a:t>
                      </a: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1736035">
                <a:tc vMerge="1">
                  <a:txBody>
                    <a:bodyPr/>
                    <a:lstStyle/>
                    <a:p>
                      <a:pPr algn="ctr" fontAlgn="ct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Verify</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calibration of the PDs using observed default rates</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Re-calibration of the master scale may be a challenge</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given insufficient data history</a:t>
                      </a:r>
                    </a:p>
                    <a:p>
                      <a:pPr marL="171450" indent="-171450" algn="l" fontAlgn="b">
                        <a:spcBef>
                          <a:spcPts val="300"/>
                        </a:spcBef>
                        <a:spcAft>
                          <a:spcPts val="300"/>
                        </a:spcAft>
                        <a:buFont typeface="Arial" panose="020B0604020202020204" pitchFamily="34" charset="0"/>
                        <a:buChar char="•"/>
                      </a:pP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Will need to substantiate use of ‘lower’ PDs relative to observed default rates </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Eventually agree on a long-term plan to perform a comprehensive model and master scale validation, and subsequent re-calibration of the master scale</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r h="1603511">
                <a:tc vMerge="1">
                  <a:txBody>
                    <a:bodyPr/>
                    <a:lstStyle/>
                    <a:p>
                      <a:pPr algn="ctr" fontAlgn="ct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Ratings mapped to PDs via the Master Scale</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For customers with no ratings (internal / external) available, conservative approximations need to be made</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Specifically, for customers with no ratings available:</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an ORR of 5- will be used, and </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they will be deemed as Stage 2 for ECL computations</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bl>
          </a:graphicData>
        </a:graphic>
      </p:graphicFrame>
      <p:sp>
        <p:nvSpPr>
          <p:cNvPr id="6" name="TextBox 5"/>
          <p:cNvSpPr txBox="1"/>
          <p:nvPr/>
        </p:nvSpPr>
        <p:spPr>
          <a:xfrm>
            <a:off x="2703443" y="6445871"/>
            <a:ext cx="6732104" cy="279400"/>
          </a:xfrm>
          <a:prstGeom prst="rect">
            <a:avLst/>
          </a:prstGeom>
          <a:noFill/>
        </p:spPr>
        <p:txBody>
          <a:bodyPr wrap="square" rtlCol="0">
            <a:spAutoFit/>
          </a:bodyPr>
          <a:lstStyle/>
          <a:p>
            <a:pPr algn="r"/>
            <a:r>
              <a:rPr lang="en-US" i="1" dirty="0" smtClean="0"/>
              <a:t>QNB’s preferred options are highlighted in light blue</a:t>
            </a:r>
            <a:endParaRPr lang="en-IN" i="1" dirty="0"/>
          </a:p>
        </p:txBody>
      </p:sp>
      <p:sp>
        <p:nvSpPr>
          <p:cNvPr id="8" name="TextBox 7"/>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206066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Components</a:t>
            </a:r>
            <a:br>
              <a:rPr lang="en-US" sz="2400" dirty="0" smtClean="0"/>
            </a:br>
            <a:r>
              <a:rPr lang="en-US" sz="2000" i="1" dirty="0" smtClean="0"/>
              <a:t>Overview of the options and implications – PiT PD</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10</a:t>
            </a:fld>
            <a:endParaRPr lang="en-US" altLang="en-US" dirty="0"/>
          </a:p>
        </p:txBody>
      </p:sp>
      <p:graphicFrame>
        <p:nvGraphicFramePr>
          <p:cNvPr id="9" name="Table 8"/>
          <p:cNvGraphicFramePr>
            <a:graphicFrameLocks noGrp="1"/>
          </p:cNvGraphicFramePr>
          <p:nvPr>
            <p:extLst>
              <p:ext uri="{D42A27DB-BD31-4B8C-83A1-F6EECF244321}">
                <p14:modId xmlns:p14="http://schemas.microsoft.com/office/powerpoint/2010/main" val="1730817345"/>
              </p:ext>
            </p:extLst>
          </p:nvPr>
        </p:nvGraphicFramePr>
        <p:xfrm>
          <a:off x="306904" y="1041605"/>
          <a:ext cx="9091890" cy="2605362"/>
        </p:xfrm>
        <a:graphic>
          <a:graphicData uri="http://schemas.openxmlformats.org/drawingml/2006/table">
            <a:tbl>
              <a:tblPr/>
              <a:tblGrid>
                <a:gridCol w="1346492"/>
                <a:gridCol w="2772830"/>
                <a:gridCol w="4972568"/>
              </a:tblGrid>
              <a:tr h="672364">
                <a:tc>
                  <a:txBody>
                    <a:bodyPr/>
                    <a:lstStyle/>
                    <a:p>
                      <a:pPr algn="ctr" fontAlgn="ctr">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Methodology Component</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Possible</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Approach Options</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Implications / Action</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Required</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1932998">
                <a:tc>
                  <a:txBody>
                    <a:bodyPr/>
                    <a:lstStyle/>
                    <a:p>
                      <a:pPr algn="ctr" fontAlgn="ctr">
                        <a:spcBef>
                          <a:spcPts val="300"/>
                        </a:spcBef>
                        <a:spcAft>
                          <a:spcPts val="300"/>
                        </a:spcAft>
                      </a:pPr>
                      <a:r>
                        <a:rPr lang="en-IN" sz="1300" b="1" i="0" u="none" strike="noStrike" dirty="0" smtClean="0">
                          <a:solidFill>
                            <a:srgbClr val="000000"/>
                          </a:solidFill>
                          <a:effectLst/>
                          <a:latin typeface="Times New Roman" panose="02020603050405020304" pitchFamily="18" charset="0"/>
                          <a:cs typeface="Times New Roman" panose="02020603050405020304" pitchFamily="18" charset="0"/>
                        </a:rPr>
                        <a:t>PiT PD</a:t>
                      </a: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Use</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the single-factor Merton/Vasicek model framework with CCI, </a:t>
                      </a: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TTC-PDs and Asset Correlation inputs to derive PiT PDs.</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The CCI derivation methodology needs to be well</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documented, along with the use of the Vasicek approach</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FF0000"/>
                          </a:solidFill>
                          <a:effectLst/>
                          <a:latin typeface="Times New Roman" panose="02020603050405020304" pitchFamily="18" charset="0"/>
                          <a:ea typeface="+mn-ea"/>
                          <a:cs typeface="Times New Roman" panose="02020603050405020304" pitchFamily="18" charset="0"/>
                        </a:rPr>
                        <a:t>The CCI computation needs to be reviewed in detail, while establishing the linkages with macro-economic variables [Document Reference…]</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FF0000"/>
                          </a:solidFill>
                          <a:effectLst/>
                          <a:latin typeface="Times New Roman" panose="02020603050405020304" pitchFamily="18" charset="0"/>
                          <a:ea typeface="+mn-ea"/>
                          <a:cs typeface="Times New Roman" panose="02020603050405020304" pitchFamily="18" charset="0"/>
                        </a:rPr>
                        <a:t>The choice of the marco-economic variables, along with underlying rationale, needs to be explained [Document Reference….]</a:t>
                      </a: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bl>
          </a:graphicData>
        </a:graphic>
      </p:graphicFrame>
      <p:sp>
        <p:nvSpPr>
          <p:cNvPr id="6" name="TextBox 5"/>
          <p:cNvSpPr txBox="1"/>
          <p:nvPr/>
        </p:nvSpPr>
        <p:spPr>
          <a:xfrm>
            <a:off x="2703443" y="6445871"/>
            <a:ext cx="6732104" cy="279400"/>
          </a:xfrm>
          <a:prstGeom prst="rect">
            <a:avLst/>
          </a:prstGeom>
          <a:noFill/>
        </p:spPr>
        <p:txBody>
          <a:bodyPr wrap="square" rtlCol="0">
            <a:spAutoFit/>
          </a:bodyPr>
          <a:lstStyle/>
          <a:p>
            <a:pPr algn="r"/>
            <a:r>
              <a:rPr lang="en-US" i="1" dirty="0" smtClean="0"/>
              <a:t>QNB’s preferred options are highlighted in light blue</a:t>
            </a:r>
            <a:endParaRPr lang="en-IN" i="1" dirty="0"/>
          </a:p>
        </p:txBody>
      </p:sp>
    </p:spTree>
    <p:extLst>
      <p:ext uri="{BB962C8B-B14F-4D97-AF65-F5344CB8AC3E}">
        <p14:creationId xmlns:p14="http://schemas.microsoft.com/office/powerpoint/2010/main" val="23638317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Components</a:t>
            </a:r>
            <a:br>
              <a:rPr lang="en-US" sz="2400" dirty="0" smtClean="0"/>
            </a:br>
            <a:r>
              <a:rPr lang="en-US" sz="2000" i="1" dirty="0" smtClean="0"/>
              <a:t>Overview of the options and implications - LGD</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11</a:t>
            </a:fld>
            <a:endParaRPr lang="en-US" altLang="en-US" dirty="0"/>
          </a:p>
        </p:txBody>
      </p:sp>
      <p:graphicFrame>
        <p:nvGraphicFramePr>
          <p:cNvPr id="9" name="Table 8"/>
          <p:cNvGraphicFramePr>
            <a:graphicFrameLocks noGrp="1"/>
          </p:cNvGraphicFramePr>
          <p:nvPr>
            <p:extLst>
              <p:ext uri="{D42A27DB-BD31-4B8C-83A1-F6EECF244321}">
                <p14:modId xmlns:p14="http://schemas.microsoft.com/office/powerpoint/2010/main" val="274548903"/>
              </p:ext>
            </p:extLst>
          </p:nvPr>
        </p:nvGraphicFramePr>
        <p:xfrm>
          <a:off x="306904" y="1027148"/>
          <a:ext cx="9091890" cy="5284752"/>
        </p:xfrm>
        <a:graphic>
          <a:graphicData uri="http://schemas.openxmlformats.org/drawingml/2006/table">
            <a:tbl>
              <a:tblPr/>
              <a:tblGrid>
                <a:gridCol w="1346492"/>
                <a:gridCol w="2772830"/>
                <a:gridCol w="4972568"/>
              </a:tblGrid>
              <a:tr h="561906">
                <a:tc>
                  <a:txBody>
                    <a:bodyPr/>
                    <a:lstStyle/>
                    <a:p>
                      <a:pPr algn="ctr" fontAlgn="ctr">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Methodology Component</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Possible</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Approach Options</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Implications / Action</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Required</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1087885">
                <a:tc rowSpan="3">
                  <a:txBody>
                    <a:bodyPr/>
                    <a:lstStyle/>
                    <a:p>
                      <a:pPr algn="ctr" fontAlgn="ctr">
                        <a:spcBef>
                          <a:spcPts val="300"/>
                        </a:spcBef>
                        <a:spcAft>
                          <a:spcPts val="300"/>
                        </a:spcAft>
                      </a:pPr>
                      <a:r>
                        <a:rPr lang="en-IN" sz="1300" b="1" i="0" u="none" strike="noStrike" dirty="0">
                          <a:solidFill>
                            <a:srgbClr val="000000"/>
                          </a:solidFill>
                          <a:effectLst/>
                          <a:latin typeface="Times New Roman" panose="02020603050405020304" pitchFamily="18" charset="0"/>
                          <a:cs typeface="Times New Roman" panose="02020603050405020304" pitchFamily="18" charset="0"/>
                        </a:rPr>
                        <a:t>LGD</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Estimate</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LGDs based on computed recovery rates</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Available recovery </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data cannot be used to compute recovery rates given that</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actual recovery information is unavailable, </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data is available at the customer level (and not facility level)</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r h="1538459">
                <a:tc vMerge="1">
                  <a:txBody>
                    <a:bodyPr/>
                    <a:lstStyle/>
                    <a:p>
                      <a:pPr algn="ctr" fontAlgn="ct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Use available write-off data to compute loss, to then derive LGD</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If this data is at the customer-level, assumptions may need to be used to attempt to compute LGD for each segment</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This estimation could be performed at the portfolio-level in the absence of sufficient granularity of data</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If workout duration is not factored in, a conservative buffer may need to be added to the loss-based LGD%</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1423402">
                <a:tc vMerge="1">
                  <a:txBody>
                    <a:bodyPr/>
                    <a:lstStyle/>
                    <a:p>
                      <a:pPr algn="ctr" fontAlgn="ctr"/>
                      <a:endParaRPr lang="en-IN"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Adopt FIRB LGD</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Need to define eligible collateral types and applicable collateral haircut percentages, based on regulatory guidance and QNB expert inputs</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The computations are to be at the customer-level, given how collateral data is maintained, with a simplified approach to arrive at a single LGD% per customer </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673100">
                <a:tc>
                  <a:txBody>
                    <a:bodyPr/>
                    <a:lstStyle/>
                    <a:p>
                      <a:pPr algn="ctr" fontAlgn="ctr">
                        <a:spcBef>
                          <a:spcPts val="300"/>
                        </a:spcBef>
                        <a:spcAft>
                          <a:spcPts val="300"/>
                        </a:spcAft>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Conditional LGD</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Use </a:t>
                      </a:r>
                      <a:r>
                        <a:rPr lang="en-IN" sz="1300" b="0" i="0" u="none" strike="noStrike" dirty="0" smtClean="0">
                          <a:solidFill>
                            <a:srgbClr val="000000"/>
                          </a:solidFill>
                          <a:effectLst/>
                          <a:latin typeface="Times New Roman" panose="02020603050405020304" pitchFamily="18" charset="0"/>
                          <a:cs typeface="Times New Roman" panose="02020603050405020304" pitchFamily="18" charset="0"/>
                        </a:rPr>
                        <a:t>Vasicek</a:t>
                      </a:r>
                      <a:r>
                        <a:rPr lang="en-IN"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approach to condition LGD estimates</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Adopt the </a:t>
                      </a:r>
                      <a:r>
                        <a:rPr lang="en-IN"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Federal Reserve Bank of Chicago based approach to use the Vasicek model with inputs similar to PiT PD transformation – Planned </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6" name="TextBox 5"/>
          <p:cNvSpPr txBox="1"/>
          <p:nvPr/>
        </p:nvSpPr>
        <p:spPr>
          <a:xfrm>
            <a:off x="2703443" y="6445871"/>
            <a:ext cx="6732104" cy="279400"/>
          </a:xfrm>
          <a:prstGeom prst="rect">
            <a:avLst/>
          </a:prstGeom>
          <a:noFill/>
        </p:spPr>
        <p:txBody>
          <a:bodyPr wrap="square" rtlCol="0">
            <a:spAutoFit/>
          </a:bodyPr>
          <a:lstStyle/>
          <a:p>
            <a:pPr algn="r"/>
            <a:r>
              <a:rPr lang="en-US" i="1" dirty="0" smtClean="0"/>
              <a:t>QNB’s preferred options are highlighted in light blue</a:t>
            </a:r>
            <a:endParaRPr lang="en-IN" i="1" dirty="0"/>
          </a:p>
        </p:txBody>
      </p:sp>
      <p:sp>
        <p:nvSpPr>
          <p:cNvPr id="8" name="TextBox 7"/>
          <p:cNvSpPr txBox="1"/>
          <p:nvPr/>
        </p:nvSpPr>
        <p:spPr>
          <a:xfrm>
            <a:off x="5303520" y="251143"/>
            <a:ext cx="4315143" cy="707886"/>
          </a:xfrm>
          <a:prstGeom prst="rect">
            <a:avLst/>
          </a:prstGeom>
          <a:solidFill>
            <a:srgbClr val="FF0000"/>
          </a:solidFill>
        </p:spPr>
        <p:txBody>
          <a:bodyPr wrap="square" rtlCol="0">
            <a:spAutoFit/>
          </a:bodyPr>
          <a:lstStyle/>
          <a:p>
            <a:r>
              <a:rPr lang="en-US" sz="2000" b="1" dirty="0" smtClean="0">
                <a:solidFill>
                  <a:schemeClr val="bg1"/>
                </a:solidFill>
              </a:rPr>
              <a:t>THIS DOES NOT REFLECT WHAT IS BEING ADOPTED (i.e. haircuts)</a:t>
            </a:r>
            <a:endParaRPr lang="en-US" sz="2000" b="1" dirty="0">
              <a:solidFill>
                <a:schemeClr val="bg1"/>
              </a:solidFill>
            </a:endParaRPr>
          </a:p>
        </p:txBody>
      </p:sp>
    </p:spTree>
    <p:extLst>
      <p:ext uri="{BB962C8B-B14F-4D97-AF65-F5344CB8AC3E}">
        <p14:creationId xmlns:p14="http://schemas.microsoft.com/office/powerpoint/2010/main" val="18290833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Components</a:t>
            </a:r>
            <a:br>
              <a:rPr lang="en-US" sz="2400" dirty="0" smtClean="0"/>
            </a:br>
            <a:r>
              <a:rPr lang="en-US" sz="2000" i="1" dirty="0" smtClean="0"/>
              <a:t>Overview of the options and implications - EAD</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12</a:t>
            </a:fld>
            <a:endParaRPr lang="en-US" altLang="en-US" dirty="0"/>
          </a:p>
        </p:txBody>
      </p:sp>
      <p:graphicFrame>
        <p:nvGraphicFramePr>
          <p:cNvPr id="9" name="Table 8"/>
          <p:cNvGraphicFramePr>
            <a:graphicFrameLocks noGrp="1"/>
          </p:cNvGraphicFramePr>
          <p:nvPr>
            <p:extLst>
              <p:ext uri="{D42A27DB-BD31-4B8C-83A1-F6EECF244321}">
                <p14:modId xmlns:p14="http://schemas.microsoft.com/office/powerpoint/2010/main" val="2731111868"/>
              </p:ext>
            </p:extLst>
          </p:nvPr>
        </p:nvGraphicFramePr>
        <p:xfrm>
          <a:off x="306904" y="1053100"/>
          <a:ext cx="9091890" cy="3902661"/>
        </p:xfrm>
        <a:graphic>
          <a:graphicData uri="http://schemas.openxmlformats.org/drawingml/2006/table">
            <a:tbl>
              <a:tblPr/>
              <a:tblGrid>
                <a:gridCol w="1346492"/>
                <a:gridCol w="2772830"/>
                <a:gridCol w="4972568"/>
              </a:tblGrid>
              <a:tr h="561906">
                <a:tc>
                  <a:txBody>
                    <a:bodyPr/>
                    <a:lstStyle/>
                    <a:p>
                      <a:pPr algn="ctr" fontAlgn="ctr">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Methodology Component</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Possible</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Approach Options</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Implications / Action</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Required</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1405937">
                <a:tc rowSpan="3">
                  <a:txBody>
                    <a:bodyPr/>
                    <a:lstStyle/>
                    <a:p>
                      <a:pPr algn="ctr" fontAlgn="ctr">
                        <a:spcBef>
                          <a:spcPts val="300"/>
                        </a:spcBef>
                        <a:spcAft>
                          <a:spcPts val="300"/>
                        </a:spcAft>
                      </a:pPr>
                      <a:r>
                        <a:rPr lang="en-IN" sz="1300" b="1" i="0" u="none" strike="noStrike" dirty="0">
                          <a:solidFill>
                            <a:srgbClr val="000000"/>
                          </a:solidFill>
                          <a:effectLst/>
                          <a:latin typeface="Times New Roman" panose="02020603050405020304" pitchFamily="18" charset="0"/>
                          <a:cs typeface="Times New Roman" panose="02020603050405020304" pitchFamily="18" charset="0"/>
                        </a:rPr>
                        <a:t>EAD</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For loans with no undrawn limits available and non-trade finance products, estimate EAD based on annual cash-flows</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Identify and map each product type in this portfolio set to a specific cash-flow type</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It is understood that most cases would be either</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straight-line amortization, or </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bullet repayments</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821635">
                <a:tc vMerge="1">
                  <a:txBody>
                    <a:bodyPr/>
                    <a:lstStyle/>
                    <a:p>
                      <a:pPr algn="ctr" fontAlgn="ct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Use</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limit data to estimate utilization% for undrawn commitments / limits</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Limit data is not available</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at the facility level, either at present or historically, to compute utilization percentages</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r h="1113183">
                <a:tc vMerge="1">
                  <a:txBody>
                    <a:bodyPr/>
                    <a:lstStyle/>
                    <a:p>
                      <a:pPr algn="ctr" fontAlgn="ct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Use CCFs to derive EADs</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The list of CCFs to be adopted is to be defined, with a break-down of the product list to map to the segments</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Where possible, QNB expert inputs are to be included (overlaid with historical data) to verify the CCFs </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bl>
          </a:graphicData>
        </a:graphic>
      </p:graphicFrame>
      <p:sp>
        <p:nvSpPr>
          <p:cNvPr id="6" name="TextBox 5"/>
          <p:cNvSpPr txBox="1"/>
          <p:nvPr/>
        </p:nvSpPr>
        <p:spPr>
          <a:xfrm>
            <a:off x="2703443" y="6445871"/>
            <a:ext cx="6732104" cy="279400"/>
          </a:xfrm>
          <a:prstGeom prst="rect">
            <a:avLst/>
          </a:prstGeom>
          <a:noFill/>
        </p:spPr>
        <p:txBody>
          <a:bodyPr wrap="square" rtlCol="0">
            <a:spAutoFit/>
          </a:bodyPr>
          <a:lstStyle/>
          <a:p>
            <a:pPr algn="r"/>
            <a:r>
              <a:rPr lang="en-US" i="1" dirty="0" smtClean="0"/>
              <a:t>QNB’s preferred options are highlighted in light blue</a:t>
            </a:r>
            <a:endParaRPr lang="en-IN" i="1" dirty="0"/>
          </a:p>
        </p:txBody>
      </p:sp>
      <p:sp>
        <p:nvSpPr>
          <p:cNvPr id="8" name="TextBox 7"/>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096561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Components</a:t>
            </a:r>
            <a:br>
              <a:rPr lang="en-US" sz="2400" dirty="0" smtClean="0"/>
            </a:br>
            <a:r>
              <a:rPr lang="en-US" sz="2000" i="1" dirty="0" smtClean="0"/>
              <a:t>Overview of the options and implications - EIR</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13</a:t>
            </a:fld>
            <a:endParaRPr lang="en-US" altLang="en-US" dirty="0"/>
          </a:p>
        </p:txBody>
      </p:sp>
      <p:graphicFrame>
        <p:nvGraphicFramePr>
          <p:cNvPr id="9" name="Table 8"/>
          <p:cNvGraphicFramePr>
            <a:graphicFrameLocks noGrp="1"/>
          </p:cNvGraphicFramePr>
          <p:nvPr>
            <p:extLst>
              <p:ext uri="{D42A27DB-BD31-4B8C-83A1-F6EECF244321}">
                <p14:modId xmlns:p14="http://schemas.microsoft.com/office/powerpoint/2010/main" val="416399705"/>
              </p:ext>
            </p:extLst>
          </p:nvPr>
        </p:nvGraphicFramePr>
        <p:xfrm>
          <a:off x="306904" y="1040400"/>
          <a:ext cx="9091890" cy="4938294"/>
        </p:xfrm>
        <a:graphic>
          <a:graphicData uri="http://schemas.openxmlformats.org/drawingml/2006/table">
            <a:tbl>
              <a:tblPr/>
              <a:tblGrid>
                <a:gridCol w="1346492"/>
                <a:gridCol w="2772830"/>
                <a:gridCol w="4972568"/>
              </a:tblGrid>
              <a:tr h="561906">
                <a:tc>
                  <a:txBody>
                    <a:bodyPr/>
                    <a:lstStyle/>
                    <a:p>
                      <a:pPr algn="ctr" fontAlgn="ctr">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Methodology Component</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Possible</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Approach Options</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Implications / Action</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Required</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1087885">
                <a:tc rowSpan="3">
                  <a:txBody>
                    <a:bodyPr/>
                    <a:lstStyle/>
                    <a:p>
                      <a:pPr algn="ctr" fontAlgn="ctr">
                        <a:spcBef>
                          <a:spcPts val="300"/>
                        </a:spcBef>
                        <a:spcAft>
                          <a:spcPts val="300"/>
                        </a:spcAft>
                      </a:pPr>
                      <a:r>
                        <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rPr>
                        <a:t>EIR</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Compute</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EIR using fee &amp; charge information </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Given</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the absence of fee / charge data at the facility level, and </a:t>
                      </a:r>
                    </a:p>
                    <a:p>
                      <a:pPr marL="542925" indent="-357188" algn="l" defTabSz="914400" rtl="0" eaLnBrk="1" fontAlgn="b" latinLnBrk="0" hangingPunct="1">
                        <a:spcBef>
                          <a:spcPts val="300"/>
                        </a:spcBef>
                        <a:spcAft>
                          <a:spcPts val="300"/>
                        </a:spcAft>
                        <a:buFont typeface="Arial" panose="020B0604020202020204" pitchFamily="34" charset="0"/>
                        <a:buAutoNum type="romanLcParenBoth"/>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the lack of a sophisticated technology solution that will drive these computations, this approach may not be feasible</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r h="1947383">
                <a:tc vMerge="1">
                  <a:txBody>
                    <a:bodyPr/>
                    <a:lstStyle/>
                    <a:p>
                      <a:pPr algn="ctr" fontAlgn="ct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Use contractual rate of interest as proxy</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Need</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to establish whether there are specific product types where the fees / charges component is significant – to the extent of affecting the contractual rate of interest</a:t>
                      </a:r>
                    </a:p>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If</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this scenario were applicable, a conservative buffer (x%) may need to be added to the contractual rate – with x% depending on the product type</a:t>
                      </a:r>
                    </a:p>
                    <a:p>
                      <a:pPr marL="171450" indent="-171450" algn="l" fontAlgn="b">
                        <a:spcBef>
                          <a:spcPts val="300"/>
                        </a:spcBef>
                        <a:spcAft>
                          <a:spcPts val="300"/>
                        </a:spcAft>
                        <a:buFont typeface="Arial" panose="020B0604020202020204" pitchFamily="34" charset="0"/>
                        <a:buChar char="•"/>
                      </a:pP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The derivation of x% may need to be driven by expert inputs and any available data / information</a:t>
                      </a: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r h="1179443">
                <a:tc vMerge="1">
                  <a:txBody>
                    <a:bodyPr/>
                    <a:lstStyle/>
                    <a:p>
                      <a:pPr algn="ctr" fontAlgn="ct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marL="171450" indent="-171450" algn="l" fontAlgn="b">
                        <a:buFont typeface="Arial" panose="020B0604020202020204" pitchFamily="34" charset="0"/>
                        <a:buChar char="•"/>
                      </a:pP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Showcase that ECL computational results for sample loans are similar when using an estimated EIR or the underlying contractual rate</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Obtain assurance from Finance that the fees / charges are typically not significant elements of the total return earned</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Based on this evidence, contractual rate can perhaps be used as a proxy for the EIR</a:t>
                      </a: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bl>
          </a:graphicData>
        </a:graphic>
      </p:graphicFrame>
      <p:sp>
        <p:nvSpPr>
          <p:cNvPr id="6" name="TextBox 5"/>
          <p:cNvSpPr txBox="1"/>
          <p:nvPr/>
        </p:nvSpPr>
        <p:spPr>
          <a:xfrm>
            <a:off x="2703443" y="6445871"/>
            <a:ext cx="6732104" cy="279400"/>
          </a:xfrm>
          <a:prstGeom prst="rect">
            <a:avLst/>
          </a:prstGeom>
          <a:noFill/>
        </p:spPr>
        <p:txBody>
          <a:bodyPr wrap="square" rtlCol="0">
            <a:spAutoFit/>
          </a:bodyPr>
          <a:lstStyle/>
          <a:p>
            <a:pPr algn="r"/>
            <a:r>
              <a:rPr lang="en-US" i="1" dirty="0" smtClean="0"/>
              <a:t>QNB’s preferred options are highlighted in light blue</a:t>
            </a:r>
            <a:endParaRPr lang="en-IN" i="1" dirty="0"/>
          </a:p>
        </p:txBody>
      </p:sp>
      <p:sp>
        <p:nvSpPr>
          <p:cNvPr id="8" name="TextBox 7"/>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527721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Non-Retail Methodology Components</a:t>
            </a:r>
            <a:br>
              <a:rPr lang="en-US" sz="2400" dirty="0" smtClean="0"/>
            </a:br>
            <a:r>
              <a:rPr lang="en-US" sz="2000" i="1" dirty="0" smtClean="0"/>
              <a:t>Overview of the options and implications – Expected Maturity and Scenarios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14</a:t>
            </a:fld>
            <a:endParaRPr lang="en-US" altLang="en-US" dirty="0"/>
          </a:p>
        </p:txBody>
      </p:sp>
      <p:graphicFrame>
        <p:nvGraphicFramePr>
          <p:cNvPr id="9" name="Table 8"/>
          <p:cNvGraphicFramePr>
            <a:graphicFrameLocks noGrp="1"/>
          </p:cNvGraphicFramePr>
          <p:nvPr>
            <p:extLst>
              <p:ext uri="{D42A27DB-BD31-4B8C-83A1-F6EECF244321}">
                <p14:modId xmlns:p14="http://schemas.microsoft.com/office/powerpoint/2010/main" val="1769798343"/>
              </p:ext>
            </p:extLst>
          </p:nvPr>
        </p:nvGraphicFramePr>
        <p:xfrm>
          <a:off x="306904" y="1040400"/>
          <a:ext cx="9091890" cy="5029096"/>
        </p:xfrm>
        <a:graphic>
          <a:graphicData uri="http://schemas.openxmlformats.org/drawingml/2006/table">
            <a:tbl>
              <a:tblPr/>
              <a:tblGrid>
                <a:gridCol w="1346492"/>
                <a:gridCol w="2772830"/>
                <a:gridCol w="4972568"/>
              </a:tblGrid>
              <a:tr h="561906">
                <a:tc>
                  <a:txBody>
                    <a:bodyPr/>
                    <a:lstStyle/>
                    <a:p>
                      <a:pPr algn="ctr" fontAlgn="ctr">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Methodology Component</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Possible</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Approach Options</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b">
                        <a:spcBef>
                          <a:spcPts val="300"/>
                        </a:spcBef>
                        <a:spcAft>
                          <a:spcPts val="300"/>
                        </a:spcAft>
                      </a:pPr>
                      <a:r>
                        <a:rPr lang="en-US" sz="1300" b="1" i="0" u="none" strike="noStrike" dirty="0" smtClean="0">
                          <a:solidFill>
                            <a:schemeClr val="bg1"/>
                          </a:solidFill>
                          <a:effectLst/>
                          <a:latin typeface="Times New Roman" panose="02020603050405020304" pitchFamily="18" charset="0"/>
                          <a:cs typeface="Times New Roman" panose="02020603050405020304" pitchFamily="18" charset="0"/>
                        </a:rPr>
                        <a:t>Implications / Action</a:t>
                      </a:r>
                      <a:r>
                        <a:rPr lang="en-US" sz="1300" b="1" i="0" u="none" strike="noStrike" baseline="0" dirty="0" smtClean="0">
                          <a:solidFill>
                            <a:schemeClr val="bg1"/>
                          </a:solidFill>
                          <a:effectLst/>
                          <a:latin typeface="Times New Roman" panose="02020603050405020304" pitchFamily="18" charset="0"/>
                          <a:cs typeface="Times New Roman" panose="02020603050405020304" pitchFamily="18" charset="0"/>
                        </a:rPr>
                        <a:t> Required</a:t>
                      </a:r>
                      <a:endParaRPr lang="en-IN" sz="13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a:noFill/>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r>
              <a:tr h="1657729">
                <a:tc rowSpan="3">
                  <a:txBody>
                    <a:bodyPr/>
                    <a:lstStyle/>
                    <a:p>
                      <a:pPr algn="ctr" fontAlgn="ctr">
                        <a:spcBef>
                          <a:spcPts val="300"/>
                        </a:spcBef>
                        <a:spcAft>
                          <a:spcPts val="300"/>
                        </a:spcAft>
                      </a:pPr>
                      <a:r>
                        <a:rPr lang="en-IN" sz="1300" b="1" i="0" u="none" strike="noStrike" dirty="0" smtClean="0">
                          <a:solidFill>
                            <a:srgbClr val="000000"/>
                          </a:solidFill>
                          <a:effectLst/>
                          <a:latin typeface="Times New Roman" panose="02020603050405020304" pitchFamily="18" charset="0"/>
                          <a:cs typeface="Times New Roman" panose="02020603050405020304" pitchFamily="18" charset="0"/>
                        </a:rPr>
                        <a:t>Expected Maturity</a:t>
                      </a: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For</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loans with a fixed of maturity, use contractual maturity date</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This will be based</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on the maturity date available on the systems at QNB</a:t>
                      </a:r>
                    </a:p>
                    <a:p>
                      <a:pPr marL="171450" indent="-171450" algn="l" fontAlgn="b">
                        <a:spcBef>
                          <a:spcPts val="300"/>
                        </a:spcBef>
                        <a:spcAft>
                          <a:spcPts val="300"/>
                        </a:spcAft>
                        <a:buFont typeface="Arial" panose="020B0604020202020204" pitchFamily="34" charset="0"/>
                        <a:buChar char="•"/>
                      </a:pP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For facilities where maturity date is unavailable, the current assumption - of using a weighted average residual maturity that is refreshed on each reporting </a:t>
                      </a: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date - may need to be considered</a:t>
                      </a:r>
                    </a:p>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The possibility of using a conservative buffer additional to the maturity as estimated above may require consideration</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696686">
                <a:tc vMerge="1">
                  <a:txBody>
                    <a:bodyPr/>
                    <a:lstStyle/>
                    <a:p>
                      <a:pPr algn="ctr" fontAlgn="ct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Identify</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specific maturities for each product type based on behavioural analyses</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Given</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that the behavioural analyses / modelling is yet to be finalized and adopted at QNB, these assumptions cannot be leveraged currently</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r>
              <a:tr h="933331">
                <a:tc vMerge="1">
                  <a:txBody>
                    <a:bodyPr/>
                    <a:lstStyle/>
                    <a:p>
                      <a:pPr algn="ctr" fontAlgn="ct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Use 12 months as the expected maturity for revolving loans and lines of credit</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This assumption will need to be supported by evidence that on an annual basis, these loans are subject to a review and renewal process – ideally backed with evidence of revisions in rating, pricing, terms of the contract, etc.</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1179444">
                <a:tc>
                  <a:txBody>
                    <a:bodyPr/>
                    <a:lstStyle/>
                    <a:p>
                      <a:pPr algn="ctr" fontAlgn="ctr">
                        <a:spcBef>
                          <a:spcPts val="300"/>
                        </a:spcBef>
                        <a:spcAft>
                          <a:spcPts val="300"/>
                        </a:spcAft>
                      </a:pPr>
                      <a:r>
                        <a:rPr lang="en-IN" sz="1300" b="1" i="0" u="none" strike="noStrike" dirty="0" smtClean="0">
                          <a:solidFill>
                            <a:srgbClr val="000000"/>
                          </a:solidFill>
                          <a:effectLst/>
                          <a:latin typeface="Times New Roman" panose="02020603050405020304" pitchFamily="18" charset="0"/>
                          <a:cs typeface="Times New Roman" panose="02020603050405020304" pitchFamily="18" charset="0"/>
                        </a:rPr>
                        <a:t>Scenarios</a:t>
                      </a: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kern="1200" baseline="0" dirty="0" smtClean="0">
                          <a:solidFill>
                            <a:srgbClr val="000000"/>
                          </a:solidFill>
                          <a:effectLst/>
                          <a:latin typeface="Times New Roman" panose="02020603050405020304" pitchFamily="18" charset="0"/>
                          <a:ea typeface="+mn-ea"/>
                          <a:cs typeface="Times New Roman" panose="02020603050405020304" pitchFamily="18" charset="0"/>
                        </a:rPr>
                        <a:t>Use 3 scenarios to compute probability-weighted average ECL based on 3 variants of the macro-economic conditioning factor</a:t>
                      </a:r>
                      <a:endParaRPr lang="en-IN" sz="1300" b="0" i="0" u="none" strike="noStrike" kern="1200" baseline="0" dirty="0">
                        <a:solidFill>
                          <a:srgbClr val="000000"/>
                        </a:solidFill>
                        <a:effectLst/>
                        <a:latin typeface="Times New Roman" panose="02020603050405020304" pitchFamily="18" charset="0"/>
                        <a:ea typeface="+mn-ea"/>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lgn="l" fontAlgn="b">
                        <a:spcBef>
                          <a:spcPts val="300"/>
                        </a:spcBef>
                        <a:spcAft>
                          <a:spcPts val="300"/>
                        </a:spcAft>
                        <a:buFont typeface="Arial" panose="020B0604020202020204" pitchFamily="34" charset="0"/>
                        <a:buChar char="•"/>
                      </a:pPr>
                      <a:r>
                        <a:rPr lang="en-US" sz="1300" b="0" i="0" u="none" strike="noStrike" dirty="0" smtClean="0">
                          <a:solidFill>
                            <a:srgbClr val="000000"/>
                          </a:solidFill>
                          <a:effectLst/>
                          <a:latin typeface="Times New Roman" panose="02020603050405020304" pitchFamily="18" charset="0"/>
                          <a:cs typeface="Times New Roman" panose="02020603050405020304" pitchFamily="18" charset="0"/>
                        </a:rPr>
                        <a:t>Identify</a:t>
                      </a:r>
                      <a:r>
                        <a:rPr lang="en-US" sz="1300" b="0" i="0" u="none" strike="noStrike" baseline="0" dirty="0" smtClean="0">
                          <a:solidFill>
                            <a:srgbClr val="000000"/>
                          </a:solidFill>
                          <a:effectLst/>
                          <a:latin typeface="Times New Roman" panose="02020603050405020304" pitchFamily="18" charset="0"/>
                          <a:cs typeface="Times New Roman" panose="02020603050405020304" pitchFamily="18" charset="0"/>
                        </a:rPr>
                        <a:t> and agree on 3 scenarios to be used to compute CCI, along with the probabilities attached to each scenario.</a:t>
                      </a:r>
                    </a:p>
                  </a:txBody>
                  <a:tcPr marL="72000" marR="72000" marT="0" marB="0" anchor="ctr">
                    <a:lnL w="6350" cap="flat" cmpd="sng" algn="ctr">
                      <a:noFill/>
                      <a:prstDash val="solid"/>
                      <a:round/>
                      <a:headEnd type="none" w="med" len="med"/>
                      <a:tailEnd type="none" w="med" len="med"/>
                    </a:lnL>
                    <a:lnR>
                      <a:noFill/>
                    </a:lnR>
                    <a:lnT w="12700" cap="flat" cmpd="sng" algn="ctr">
                      <a:solidFill>
                        <a:schemeClr val="tx1">
                          <a:lumMod val="75000"/>
                          <a:lumOff val="25000"/>
                        </a:schemeClr>
                      </a:solidFill>
                      <a:prstDash val="solid"/>
                      <a:round/>
                      <a:headEnd type="none" w="med" len="med"/>
                      <a:tailEnd type="none" w="med" len="med"/>
                    </a:lnT>
                    <a:lnB>
                      <a:noFill/>
                    </a:lnB>
                    <a:lnTlToBr w="12700" cmpd="sng">
                      <a:noFill/>
                      <a:prstDash val="solid"/>
                    </a:lnTlToBr>
                    <a:lnBlToTr w="12700" cmpd="sng">
                      <a:noFill/>
                      <a:prstDash val="solid"/>
                    </a:lnBlToTr>
                    <a:solidFill>
                      <a:schemeClr val="accent5">
                        <a:lumMod val="20000"/>
                        <a:lumOff val="80000"/>
                      </a:schemeClr>
                    </a:solidFill>
                  </a:tcPr>
                </a:tc>
              </a:tr>
            </a:tbl>
          </a:graphicData>
        </a:graphic>
      </p:graphicFrame>
      <p:sp>
        <p:nvSpPr>
          <p:cNvPr id="6" name="TextBox 5"/>
          <p:cNvSpPr txBox="1"/>
          <p:nvPr/>
        </p:nvSpPr>
        <p:spPr>
          <a:xfrm>
            <a:off x="2703443" y="6445871"/>
            <a:ext cx="6732104" cy="279400"/>
          </a:xfrm>
          <a:prstGeom prst="rect">
            <a:avLst/>
          </a:prstGeom>
          <a:noFill/>
        </p:spPr>
        <p:txBody>
          <a:bodyPr wrap="square" rtlCol="0">
            <a:spAutoFit/>
          </a:bodyPr>
          <a:lstStyle/>
          <a:p>
            <a:pPr algn="r"/>
            <a:r>
              <a:rPr lang="en-US" i="1" dirty="0" smtClean="0"/>
              <a:t>QNB’s preferred options are highlighted in light blue</a:t>
            </a:r>
            <a:endParaRPr lang="en-IN" i="1" dirty="0"/>
          </a:p>
        </p:txBody>
      </p:sp>
      <p:sp>
        <p:nvSpPr>
          <p:cNvPr id="8" name="TextBox 7"/>
          <p:cNvSpPr txBox="1"/>
          <p:nvPr/>
        </p:nvSpPr>
        <p:spPr>
          <a:xfrm>
            <a:off x="8536623" y="26638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3849279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t>Probability of Default (PD)</a:t>
            </a:r>
          </a:p>
          <a:p>
            <a:pPr marL="808038" lvl="4" indent="-446088"/>
            <a:r>
              <a:rPr lang="en-US" sz="2000" dirty="0" smtClean="0">
                <a:solidFill>
                  <a:schemeClr val="bg1">
                    <a:lumMod val="75000"/>
                  </a:schemeClr>
                </a:solidFill>
              </a:rPr>
              <a:t>Loss Given Default (LGD)</a:t>
            </a:r>
          </a:p>
          <a:p>
            <a:pPr marL="808038" lvl="4" indent="-446088"/>
            <a:r>
              <a:rPr lang="en-US" sz="2000" dirty="0" smtClean="0">
                <a:solidFill>
                  <a:schemeClr val="bg1">
                    <a:lumMod val="75000"/>
                  </a:schemeClr>
                </a:solidFill>
              </a:rPr>
              <a:t>Exposure at Default (EAD)</a:t>
            </a:r>
          </a:p>
          <a:p>
            <a:pPr marL="808038" lvl="4" indent="-446088"/>
            <a:r>
              <a:rPr lang="en-US" sz="2000" dirty="0" smtClean="0">
                <a:solidFill>
                  <a:schemeClr val="bg1">
                    <a:lumMod val="75000"/>
                  </a:schemeClr>
                </a:solidFill>
              </a:rPr>
              <a:t>Expected Credit Loss (ECL) Computation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15</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059459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38" y="258764"/>
            <a:ext cx="9331325" cy="636386"/>
          </a:xfrm>
        </p:spPr>
        <p:txBody>
          <a:bodyPr/>
          <a:lstStyle/>
          <a:p>
            <a:r>
              <a:rPr lang="en-US" sz="2400" dirty="0" smtClean="0">
                <a:solidFill>
                  <a:schemeClr val="tx1"/>
                </a:solidFill>
              </a:rPr>
              <a:t>Probability of Default (PD)</a:t>
            </a:r>
            <a:br>
              <a:rPr lang="en-US" sz="2400" dirty="0" smtClean="0">
                <a:solidFill>
                  <a:schemeClr val="tx1"/>
                </a:solidFill>
              </a:rPr>
            </a:br>
            <a:r>
              <a:rPr lang="en-US" sz="2000" i="1" dirty="0" smtClean="0"/>
              <a:t>Key Aspects</a:t>
            </a:r>
            <a:endParaRPr lang="en-IN" sz="2400" i="1" dirty="0"/>
          </a:p>
        </p:txBody>
      </p:sp>
      <p:sp>
        <p:nvSpPr>
          <p:cNvPr id="3" name="Content Placeholder 2"/>
          <p:cNvSpPr>
            <a:spLocks noGrp="1"/>
          </p:cNvSpPr>
          <p:nvPr>
            <p:ph idx="1"/>
          </p:nvPr>
        </p:nvSpPr>
        <p:spPr>
          <a:xfrm>
            <a:off x="287338" y="1254113"/>
            <a:ext cx="9331325" cy="1551194"/>
          </a:xfrm>
        </p:spPr>
        <p:txBody>
          <a:bodyPr>
            <a:spAutoFit/>
          </a:bodyPr>
          <a:lstStyle/>
          <a:p>
            <a:r>
              <a:rPr lang="en-IN" sz="1400" dirty="0"/>
              <a:t>Non-Retail accounts </a:t>
            </a:r>
            <a:r>
              <a:rPr lang="en-IN" sz="1400" dirty="0" smtClean="0"/>
              <a:t>at QNB are </a:t>
            </a:r>
            <a:r>
              <a:rPr lang="en-IN" sz="1400" dirty="0"/>
              <a:t>typically rated internally using either </a:t>
            </a:r>
            <a:r>
              <a:rPr lang="en-IN" sz="1400" dirty="0" smtClean="0"/>
              <a:t>an appropriate MRA Model or the expert judgment-based Equation Rating model. For specific customer segments, </a:t>
            </a:r>
            <a:r>
              <a:rPr lang="en-IN" sz="1400" dirty="0"/>
              <a:t>the External Rating for an Obligor is used</a:t>
            </a:r>
            <a:r>
              <a:rPr lang="en-IN" sz="1400" dirty="0" smtClean="0"/>
              <a:t>.</a:t>
            </a:r>
          </a:p>
          <a:p>
            <a:r>
              <a:rPr lang="en-IN" sz="1400" dirty="0"/>
              <a:t>The </a:t>
            </a:r>
            <a:r>
              <a:rPr lang="en-IN" sz="1400" dirty="0" smtClean="0"/>
              <a:t>Equation Ratings and MRA ratings are mapped </a:t>
            </a:r>
            <a:r>
              <a:rPr lang="en-IN" sz="1400" dirty="0"/>
              <a:t>to a </a:t>
            </a:r>
            <a:r>
              <a:rPr lang="en-IN" sz="1400" dirty="0" smtClean="0"/>
              <a:t>Masterscale which are linked to the external rating grades as well.</a:t>
            </a:r>
          </a:p>
          <a:p>
            <a:r>
              <a:rPr lang="en-IN" sz="1400" dirty="0" smtClean="0"/>
              <a:t>The QNB Masterscale is calibrated to align the default rates with those observed across external rating agencies such as Moody’s </a:t>
            </a:r>
            <a:r>
              <a:rPr lang="en-IN" sz="1400" dirty="0"/>
              <a:t>and </a:t>
            </a:r>
            <a:r>
              <a:rPr lang="en-IN" sz="1400" dirty="0" smtClean="0"/>
              <a:t>S&amp;P.</a:t>
            </a:r>
          </a:p>
          <a:p>
            <a:r>
              <a:rPr lang="en-IN" sz="1400" dirty="0" smtClean="0"/>
              <a:t>Designing </a:t>
            </a:r>
            <a:r>
              <a:rPr lang="en-IN" sz="1400" dirty="0"/>
              <a:t>the PD methodology for </a:t>
            </a:r>
            <a:r>
              <a:rPr lang="en-IN" sz="1400" dirty="0" smtClean="0"/>
              <a:t>IFRS9 </a:t>
            </a:r>
            <a:r>
              <a:rPr lang="en-IN" sz="1400" dirty="0"/>
              <a:t>implies defining the </a:t>
            </a:r>
            <a:r>
              <a:rPr lang="en-IN" sz="1400" dirty="0" smtClean="0"/>
              <a:t>models </a:t>
            </a:r>
            <a:r>
              <a:rPr lang="en-IN" sz="1400" dirty="0"/>
              <a:t>or methodologies for </a:t>
            </a:r>
            <a:r>
              <a:rPr lang="en-IN" sz="1400" dirty="0" smtClean="0"/>
              <a:t>the following:</a:t>
            </a:r>
          </a:p>
        </p:txBody>
      </p:sp>
      <p:sp>
        <p:nvSpPr>
          <p:cNvPr id="11" name="Rectangle 10"/>
          <p:cNvSpPr/>
          <p:nvPr/>
        </p:nvSpPr>
        <p:spPr>
          <a:xfrm>
            <a:off x="414534" y="3197143"/>
            <a:ext cx="9060769" cy="1211232"/>
          </a:xfrm>
          <a:prstGeom prst="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t" anchorCtr="0"/>
          <a:lstStyle/>
          <a:p>
            <a:pPr marL="228600" lvl="0" indent="-228600">
              <a:spcBef>
                <a:spcPts val="200"/>
              </a:spcBef>
              <a:spcAft>
                <a:spcPts val="300"/>
              </a:spcAft>
              <a:buFont typeface="+mj-lt"/>
              <a:buAutoNum type="alphaLcParenR"/>
            </a:pPr>
            <a:r>
              <a:rPr lang="en-US" sz="1400" dirty="0">
                <a:solidFill>
                  <a:schemeClr val="tx1"/>
                </a:solidFill>
                <a:latin typeface="Times New Roman" pitchFamily="18" charset="0"/>
                <a:cs typeface="Times New Roman" pitchFamily="18" charset="0"/>
              </a:rPr>
              <a:t>IFRS9 requires </a:t>
            </a:r>
            <a:r>
              <a:rPr lang="en-US" sz="1400" dirty="0" smtClean="0">
                <a:solidFill>
                  <a:schemeClr val="tx1"/>
                </a:solidFill>
                <a:latin typeface="Times New Roman" pitchFamily="18" charset="0"/>
                <a:cs typeface="Times New Roman" pitchFamily="18" charset="0"/>
              </a:rPr>
              <a:t>12 </a:t>
            </a:r>
            <a:r>
              <a:rPr lang="en-US" sz="1400" dirty="0">
                <a:solidFill>
                  <a:schemeClr val="tx1"/>
                </a:solidFill>
                <a:latin typeface="Times New Roman" pitchFamily="18" charset="0"/>
                <a:cs typeface="Times New Roman" pitchFamily="18" charset="0"/>
              </a:rPr>
              <a:t>month or </a:t>
            </a:r>
            <a:r>
              <a:rPr lang="en-US" sz="1400" dirty="0" smtClean="0">
                <a:solidFill>
                  <a:schemeClr val="tx1"/>
                </a:solidFill>
                <a:latin typeface="Times New Roman" pitchFamily="18" charset="0"/>
                <a:cs typeface="Times New Roman" pitchFamily="18" charset="0"/>
              </a:rPr>
              <a:t>lifetime </a:t>
            </a:r>
            <a:r>
              <a:rPr lang="en-US" sz="1400" dirty="0" err="1" smtClean="0">
                <a:solidFill>
                  <a:schemeClr val="tx1"/>
                </a:solidFill>
                <a:latin typeface="Times New Roman" pitchFamily="18" charset="0"/>
                <a:cs typeface="Times New Roman" pitchFamily="18" charset="0"/>
              </a:rPr>
              <a:t>PiT</a:t>
            </a:r>
            <a:r>
              <a:rPr lang="en-US" sz="1400" dirty="0" smtClean="0">
                <a:solidFill>
                  <a:schemeClr val="tx1"/>
                </a:solidFill>
                <a:latin typeface="Times New Roman" pitchFamily="18" charset="0"/>
                <a:cs typeface="Times New Roman" pitchFamily="18" charset="0"/>
              </a:rPr>
              <a:t> PDs, </a:t>
            </a:r>
            <a:r>
              <a:rPr lang="en-US" sz="1400" dirty="0">
                <a:solidFill>
                  <a:schemeClr val="tx1"/>
                </a:solidFill>
                <a:latin typeface="Times New Roman" pitchFamily="18" charset="0"/>
                <a:cs typeface="Times New Roman" pitchFamily="18" charset="0"/>
              </a:rPr>
              <a:t>depending on whether </a:t>
            </a:r>
            <a:r>
              <a:rPr lang="en-US" sz="1400" dirty="0" smtClean="0">
                <a:solidFill>
                  <a:schemeClr val="tx1"/>
                </a:solidFill>
                <a:latin typeface="Times New Roman" pitchFamily="18" charset="0"/>
                <a:cs typeface="Times New Roman" pitchFamily="18" charset="0"/>
              </a:rPr>
              <a:t>an exposure is Stage </a:t>
            </a:r>
            <a:r>
              <a:rPr lang="en-US" sz="1400" dirty="0">
                <a:solidFill>
                  <a:schemeClr val="tx1"/>
                </a:solidFill>
                <a:latin typeface="Times New Roman" pitchFamily="18" charset="0"/>
                <a:cs typeface="Times New Roman" pitchFamily="18" charset="0"/>
              </a:rPr>
              <a:t>1 or 2.  Through its </a:t>
            </a:r>
            <a:r>
              <a:rPr lang="en-US" sz="1400" dirty="0" smtClean="0">
                <a:solidFill>
                  <a:schemeClr val="tx1"/>
                </a:solidFill>
                <a:latin typeface="Times New Roman" pitchFamily="18" charset="0"/>
                <a:cs typeface="Times New Roman" pitchFamily="18" charset="0"/>
              </a:rPr>
              <a:t>existing Master Scale</a:t>
            </a:r>
            <a:r>
              <a:rPr lang="en-US" sz="1400" dirty="0">
                <a:solidFill>
                  <a:schemeClr val="tx1"/>
                </a:solidFill>
                <a:latin typeface="Times New Roman" pitchFamily="18" charset="0"/>
                <a:cs typeface="Times New Roman" pitchFamily="18" charset="0"/>
              </a:rPr>
              <a:t>, QNB </a:t>
            </a:r>
            <a:r>
              <a:rPr lang="en-US" sz="1400" dirty="0" smtClean="0">
                <a:solidFill>
                  <a:schemeClr val="tx1"/>
                </a:solidFill>
                <a:latin typeface="Times New Roman" pitchFamily="18" charset="0"/>
                <a:cs typeface="Times New Roman" pitchFamily="18" charset="0"/>
              </a:rPr>
              <a:t>already has a TTC </a:t>
            </a:r>
            <a:r>
              <a:rPr lang="en-US" sz="1400" dirty="0">
                <a:solidFill>
                  <a:schemeClr val="tx1"/>
                </a:solidFill>
                <a:latin typeface="Times New Roman" pitchFamily="18" charset="0"/>
                <a:cs typeface="Times New Roman" pitchFamily="18" charset="0"/>
              </a:rPr>
              <a:t>Marginal Term Structure PDs in place (from 1 year to 10 years). Those marginal TTC PDs </a:t>
            </a:r>
            <a:r>
              <a:rPr lang="en-US" sz="1400" dirty="0" smtClean="0">
                <a:solidFill>
                  <a:schemeClr val="tx1"/>
                </a:solidFill>
                <a:latin typeface="Times New Roman" pitchFamily="18" charset="0"/>
                <a:cs typeface="Times New Roman" pitchFamily="18" charset="0"/>
              </a:rPr>
              <a:t>can then form the base to be adjusted into </a:t>
            </a:r>
            <a:r>
              <a:rPr lang="en-US" sz="1400" dirty="0" err="1" smtClean="0">
                <a:solidFill>
                  <a:schemeClr val="tx1"/>
                </a:solidFill>
                <a:latin typeface="Times New Roman" pitchFamily="18" charset="0"/>
                <a:cs typeface="Times New Roman" pitchFamily="18" charset="0"/>
              </a:rPr>
              <a:t>PiT</a:t>
            </a:r>
            <a:r>
              <a:rPr lang="en-US" sz="1400" dirty="0" smtClean="0">
                <a:solidFill>
                  <a:schemeClr val="tx1"/>
                </a:solidFill>
                <a:latin typeface="Times New Roman" pitchFamily="18" charset="0"/>
                <a:cs typeface="Times New Roman" pitchFamily="18" charset="0"/>
              </a:rPr>
              <a:t> </a:t>
            </a:r>
            <a:r>
              <a:rPr lang="en-US" sz="1400" dirty="0">
                <a:solidFill>
                  <a:schemeClr val="tx1"/>
                </a:solidFill>
                <a:latin typeface="Times New Roman" pitchFamily="18" charset="0"/>
                <a:cs typeface="Times New Roman" pitchFamily="18" charset="0"/>
              </a:rPr>
              <a:t>Marginal Term Structure PDs.  </a:t>
            </a:r>
          </a:p>
          <a:p>
            <a:pPr marL="228600" lvl="0" indent="-228600">
              <a:spcBef>
                <a:spcPts val="200"/>
              </a:spcBef>
              <a:spcAft>
                <a:spcPts val="300"/>
              </a:spcAft>
              <a:buFont typeface="+mj-lt"/>
              <a:buAutoNum type="alphaLcParenR"/>
            </a:pPr>
            <a:r>
              <a:rPr lang="en-US" sz="1400" dirty="0">
                <a:solidFill>
                  <a:schemeClr val="tx1"/>
                </a:solidFill>
                <a:latin typeface="Times New Roman" pitchFamily="18" charset="0"/>
                <a:cs typeface="Times New Roman" pitchFamily="18" charset="0"/>
              </a:rPr>
              <a:t>As a reminder, the TTC PDs represent long run average historical default rates. As a result, TTC PDs can be considered as unconditional PDs (independent from any Credit Cycle) whereas </a:t>
            </a:r>
            <a:r>
              <a:rPr lang="en-US" sz="1400" dirty="0" err="1" smtClean="0">
                <a:solidFill>
                  <a:schemeClr val="tx1"/>
                </a:solidFill>
                <a:latin typeface="Times New Roman" pitchFamily="18" charset="0"/>
                <a:cs typeface="Times New Roman" pitchFamily="18" charset="0"/>
              </a:rPr>
              <a:t>PiT</a:t>
            </a:r>
            <a:r>
              <a:rPr lang="en-US" sz="1400" dirty="0" smtClean="0">
                <a:solidFill>
                  <a:schemeClr val="tx1"/>
                </a:solidFill>
                <a:latin typeface="Times New Roman" pitchFamily="18" charset="0"/>
                <a:cs typeface="Times New Roman" pitchFamily="18" charset="0"/>
              </a:rPr>
              <a:t> </a:t>
            </a:r>
            <a:r>
              <a:rPr lang="en-US" sz="1400" dirty="0">
                <a:solidFill>
                  <a:schemeClr val="tx1"/>
                </a:solidFill>
                <a:latin typeface="Times New Roman" pitchFamily="18" charset="0"/>
                <a:cs typeface="Times New Roman" pitchFamily="18" charset="0"/>
              </a:rPr>
              <a:t>PDs are conditional PDs . </a:t>
            </a:r>
          </a:p>
        </p:txBody>
      </p:sp>
      <p:sp>
        <p:nvSpPr>
          <p:cNvPr id="12" name="Rectangle 11"/>
          <p:cNvSpPr/>
          <p:nvPr/>
        </p:nvSpPr>
        <p:spPr>
          <a:xfrm>
            <a:off x="414535" y="2954992"/>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rgbClr val="002060"/>
                </a:solidFill>
                <a:latin typeface="Times New Roman" panose="02020603050405020304" pitchFamily="18" charset="0"/>
                <a:cs typeface="Times New Roman" panose="02020603050405020304" pitchFamily="18" charset="0"/>
              </a:rPr>
              <a:t>A</a:t>
            </a:r>
          </a:p>
        </p:txBody>
      </p:sp>
      <p:sp>
        <p:nvSpPr>
          <p:cNvPr id="13" name="Rectangle 12"/>
          <p:cNvSpPr/>
          <p:nvPr/>
        </p:nvSpPr>
        <p:spPr>
          <a:xfrm>
            <a:off x="702565" y="2954992"/>
            <a:ext cx="8784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smtClean="0">
                <a:solidFill>
                  <a:schemeClr val="bg1"/>
                </a:solidFill>
                <a:latin typeface="Times New Roman" panose="02020603050405020304" pitchFamily="18" charset="0"/>
                <a:cs typeface="Times New Roman" panose="02020603050405020304" pitchFamily="18" charset="0"/>
              </a:rPr>
              <a:t>Point-In-Time (</a:t>
            </a:r>
            <a:r>
              <a:rPr lang="en-US" sz="1400" b="1" dirty="0" err="1" smtClean="0">
                <a:solidFill>
                  <a:schemeClr val="bg1"/>
                </a:solidFill>
                <a:latin typeface="Times New Roman" panose="02020603050405020304" pitchFamily="18" charset="0"/>
                <a:cs typeface="Times New Roman" panose="02020603050405020304" pitchFamily="18" charset="0"/>
              </a:rPr>
              <a:t>PiT</a:t>
            </a:r>
            <a:r>
              <a:rPr lang="en-US" sz="1400" b="1" dirty="0" smtClean="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Marginal </a:t>
            </a:r>
            <a:r>
              <a:rPr lang="en-US" sz="1400" b="1" dirty="0" smtClean="0">
                <a:solidFill>
                  <a:schemeClr val="bg1"/>
                </a:solidFill>
                <a:latin typeface="Times New Roman" panose="02020603050405020304" pitchFamily="18" charset="0"/>
                <a:cs typeface="Times New Roman" panose="02020603050405020304" pitchFamily="18" charset="0"/>
              </a:rPr>
              <a:t>Term Structure PDs </a:t>
            </a:r>
            <a:endParaRPr lang="en-US" sz="1400" b="1" dirty="0">
              <a:solidFill>
                <a:schemeClr val="bg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414534" y="4767338"/>
            <a:ext cx="9060769" cy="1508333"/>
          </a:xfrm>
          <a:prstGeom prst="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t" anchorCtr="0"/>
          <a:lstStyle/>
          <a:p>
            <a:pPr marL="228600" lvl="0" indent="-228600">
              <a:spcBef>
                <a:spcPts val="200"/>
              </a:spcBef>
              <a:spcAft>
                <a:spcPts val="300"/>
              </a:spcAft>
              <a:buFont typeface="+mj-lt"/>
              <a:buAutoNum type="alphaLcParenR"/>
            </a:pPr>
            <a:r>
              <a:rPr lang="en-US" sz="1400" dirty="0" err="1" smtClean="0">
                <a:solidFill>
                  <a:schemeClr val="tx1"/>
                </a:solidFill>
                <a:latin typeface="Times New Roman" pitchFamily="18" charset="0"/>
                <a:cs typeface="Times New Roman" pitchFamily="18" charset="0"/>
              </a:rPr>
              <a:t>PiT</a:t>
            </a:r>
            <a:r>
              <a:rPr lang="en-US" sz="1400" dirty="0" smtClean="0">
                <a:solidFill>
                  <a:schemeClr val="tx1"/>
                </a:solidFill>
                <a:latin typeface="Times New Roman" pitchFamily="18" charset="0"/>
                <a:cs typeface="Times New Roman" pitchFamily="18" charset="0"/>
              </a:rPr>
              <a:t> </a:t>
            </a:r>
            <a:r>
              <a:rPr lang="en-US" sz="1400" dirty="0">
                <a:solidFill>
                  <a:schemeClr val="tx1"/>
                </a:solidFill>
                <a:latin typeface="Times New Roman" pitchFamily="18" charset="0"/>
                <a:cs typeface="Times New Roman" pitchFamily="18" charset="0"/>
              </a:rPr>
              <a:t>PDs </a:t>
            </a:r>
            <a:r>
              <a:rPr lang="en-US" sz="1400" dirty="0" smtClean="0">
                <a:solidFill>
                  <a:schemeClr val="tx1"/>
                </a:solidFill>
                <a:latin typeface="Times New Roman" pitchFamily="18" charset="0"/>
                <a:cs typeface="Times New Roman" pitchFamily="18" charset="0"/>
              </a:rPr>
              <a:t>are dependent </a:t>
            </a:r>
            <a:r>
              <a:rPr lang="en-US" sz="1400" dirty="0">
                <a:solidFill>
                  <a:schemeClr val="tx1"/>
                </a:solidFill>
                <a:latin typeface="Times New Roman" pitchFamily="18" charset="0"/>
                <a:cs typeface="Times New Roman" pitchFamily="18" charset="0"/>
              </a:rPr>
              <a:t>on current credit conditions (CCI</a:t>
            </a:r>
            <a:r>
              <a:rPr lang="en-US" sz="1400" dirty="0" smtClean="0">
                <a:solidFill>
                  <a:schemeClr val="tx1"/>
                </a:solidFill>
                <a:latin typeface="Times New Roman" pitchFamily="18" charset="0"/>
                <a:cs typeface="Times New Roman" pitchFamily="18" charset="0"/>
              </a:rPr>
              <a:t>).  Hence to </a:t>
            </a:r>
            <a:r>
              <a:rPr lang="en-US" sz="1400" dirty="0">
                <a:solidFill>
                  <a:schemeClr val="tx1"/>
                </a:solidFill>
                <a:latin typeface="Times New Roman" pitchFamily="18" charset="0"/>
                <a:cs typeface="Times New Roman" pitchFamily="18" charset="0"/>
              </a:rPr>
              <a:t>make them Forward-Looking, future credit conditions </a:t>
            </a:r>
            <a:r>
              <a:rPr lang="en-US" sz="1400" dirty="0" smtClean="0">
                <a:solidFill>
                  <a:schemeClr val="tx1"/>
                </a:solidFill>
                <a:latin typeface="Times New Roman" pitchFamily="18" charset="0"/>
                <a:cs typeface="Times New Roman" pitchFamily="18" charset="0"/>
              </a:rPr>
              <a:t>must </a:t>
            </a:r>
            <a:r>
              <a:rPr lang="en-US" sz="1400" dirty="0">
                <a:solidFill>
                  <a:schemeClr val="tx1"/>
                </a:solidFill>
                <a:latin typeface="Times New Roman" pitchFamily="18" charset="0"/>
                <a:cs typeface="Times New Roman" pitchFamily="18" charset="0"/>
              </a:rPr>
              <a:t>be estimated.  </a:t>
            </a:r>
          </a:p>
          <a:p>
            <a:pPr marL="228600" lvl="0" indent="-228600">
              <a:spcBef>
                <a:spcPts val="200"/>
              </a:spcBef>
              <a:spcAft>
                <a:spcPts val="300"/>
              </a:spcAft>
              <a:buFont typeface="+mj-lt"/>
              <a:buAutoNum type="alphaLcParenR"/>
            </a:pPr>
            <a:r>
              <a:rPr lang="en-US" sz="1400" dirty="0">
                <a:solidFill>
                  <a:schemeClr val="tx1"/>
                </a:solidFill>
                <a:latin typeface="Times New Roman" pitchFamily="18" charset="0"/>
                <a:cs typeface="Times New Roman" pitchFamily="18" charset="0"/>
              </a:rPr>
              <a:t>Given </a:t>
            </a:r>
            <a:r>
              <a:rPr lang="en-US" sz="1400" dirty="0" smtClean="0">
                <a:solidFill>
                  <a:schemeClr val="tx1"/>
                </a:solidFill>
                <a:latin typeface="Times New Roman" pitchFamily="18" charset="0"/>
                <a:cs typeface="Times New Roman" pitchFamily="18" charset="0"/>
              </a:rPr>
              <a:t>the relationship </a:t>
            </a:r>
            <a:r>
              <a:rPr lang="en-US" sz="1400" dirty="0">
                <a:solidFill>
                  <a:schemeClr val="tx1"/>
                </a:solidFill>
                <a:latin typeface="Times New Roman" pitchFamily="18" charset="0"/>
                <a:cs typeface="Times New Roman" pitchFamily="18" charset="0"/>
              </a:rPr>
              <a:t>between CCI and Macro-Economic factors, forecasting CCI and thus forecasting Macro-Economic factors </a:t>
            </a:r>
            <a:r>
              <a:rPr lang="en-US" sz="1400" dirty="0" smtClean="0">
                <a:solidFill>
                  <a:schemeClr val="tx1"/>
                </a:solidFill>
                <a:latin typeface="Times New Roman" pitchFamily="18" charset="0"/>
                <a:cs typeface="Times New Roman" pitchFamily="18" charset="0"/>
              </a:rPr>
              <a:t>is </a:t>
            </a:r>
            <a:r>
              <a:rPr lang="en-US" sz="1400" dirty="0">
                <a:solidFill>
                  <a:schemeClr val="tx1"/>
                </a:solidFill>
                <a:latin typeface="Times New Roman" pitchFamily="18" charset="0"/>
                <a:cs typeface="Times New Roman" pitchFamily="18" charset="0"/>
              </a:rPr>
              <a:t>essential in the derivation of Marginal Forward-Looking Term Structure </a:t>
            </a:r>
            <a:r>
              <a:rPr lang="en-US" sz="1400" dirty="0" smtClean="0">
                <a:solidFill>
                  <a:schemeClr val="tx1"/>
                </a:solidFill>
                <a:latin typeface="Times New Roman" pitchFamily="18" charset="0"/>
                <a:cs typeface="Times New Roman" pitchFamily="18" charset="0"/>
              </a:rPr>
              <a:t>PIT-PDs.</a:t>
            </a:r>
            <a:endParaRPr lang="en-US" sz="1400" dirty="0">
              <a:solidFill>
                <a:schemeClr val="tx1"/>
              </a:solidFill>
              <a:latin typeface="Times New Roman" pitchFamily="18" charset="0"/>
              <a:cs typeface="Times New Roman" pitchFamily="18" charset="0"/>
            </a:endParaRPr>
          </a:p>
          <a:p>
            <a:pPr marL="228600" lvl="0" indent="-228600">
              <a:spcBef>
                <a:spcPts val="200"/>
              </a:spcBef>
              <a:spcAft>
                <a:spcPts val="300"/>
              </a:spcAft>
              <a:buFont typeface="+mj-lt"/>
              <a:buAutoNum type="alphaLcParenR"/>
            </a:pPr>
            <a:r>
              <a:rPr lang="en-US" sz="1400" dirty="0">
                <a:solidFill>
                  <a:schemeClr val="tx1"/>
                </a:solidFill>
                <a:latin typeface="Times New Roman" pitchFamily="18" charset="0"/>
                <a:cs typeface="Times New Roman" pitchFamily="18" charset="0"/>
              </a:rPr>
              <a:t>To complete the </a:t>
            </a:r>
            <a:r>
              <a:rPr lang="en-US" sz="1400" dirty="0" err="1" smtClean="0">
                <a:solidFill>
                  <a:schemeClr val="tx1"/>
                </a:solidFill>
                <a:latin typeface="Times New Roman" pitchFamily="18" charset="0"/>
                <a:cs typeface="Times New Roman" pitchFamily="18" charset="0"/>
              </a:rPr>
              <a:t>PiT</a:t>
            </a:r>
            <a:r>
              <a:rPr lang="en-US" sz="1400" dirty="0" smtClean="0">
                <a:solidFill>
                  <a:schemeClr val="tx1"/>
                </a:solidFill>
                <a:latin typeface="Times New Roman" pitchFamily="18" charset="0"/>
                <a:cs typeface="Times New Roman" pitchFamily="18" charset="0"/>
              </a:rPr>
              <a:t> </a:t>
            </a:r>
            <a:r>
              <a:rPr lang="en-US" sz="1400" dirty="0">
                <a:solidFill>
                  <a:schemeClr val="tx1"/>
                </a:solidFill>
                <a:latin typeface="Times New Roman" pitchFamily="18" charset="0"/>
                <a:cs typeface="Times New Roman" pitchFamily="18" charset="0"/>
              </a:rPr>
              <a:t>PDs forward-looking characteristic, </a:t>
            </a:r>
            <a:r>
              <a:rPr lang="en-US" sz="1400" dirty="0" smtClean="0">
                <a:solidFill>
                  <a:schemeClr val="tx1"/>
                </a:solidFill>
                <a:latin typeface="Times New Roman" pitchFamily="18" charset="0"/>
                <a:cs typeface="Times New Roman" pitchFamily="18" charset="0"/>
              </a:rPr>
              <a:t>3 scenarios (as mentioned in the QCB guidelines) will </a:t>
            </a:r>
            <a:r>
              <a:rPr lang="en-US" sz="1400" dirty="0">
                <a:solidFill>
                  <a:schemeClr val="tx1"/>
                </a:solidFill>
                <a:latin typeface="Times New Roman" pitchFamily="18" charset="0"/>
                <a:cs typeface="Times New Roman" pitchFamily="18" charset="0"/>
              </a:rPr>
              <a:t>be </a:t>
            </a:r>
            <a:r>
              <a:rPr lang="en-US" sz="1400" dirty="0" smtClean="0">
                <a:solidFill>
                  <a:schemeClr val="tx1"/>
                </a:solidFill>
                <a:latin typeface="Times New Roman" pitchFamily="18" charset="0"/>
                <a:cs typeface="Times New Roman" pitchFamily="18" charset="0"/>
              </a:rPr>
              <a:t>considered in order to </a:t>
            </a:r>
            <a:r>
              <a:rPr lang="en-US" sz="1400" dirty="0">
                <a:solidFill>
                  <a:schemeClr val="tx1"/>
                </a:solidFill>
                <a:latin typeface="Times New Roman" pitchFamily="18" charset="0"/>
                <a:cs typeface="Times New Roman" pitchFamily="18" charset="0"/>
              </a:rPr>
              <a:t>derive projected </a:t>
            </a:r>
            <a:r>
              <a:rPr lang="en-US" sz="1400" dirty="0" smtClean="0">
                <a:solidFill>
                  <a:schemeClr val="tx1"/>
                </a:solidFill>
                <a:latin typeface="Times New Roman" pitchFamily="18" charset="0"/>
                <a:cs typeface="Times New Roman" pitchFamily="18" charset="0"/>
              </a:rPr>
              <a:t>CCIs, which will in turn be ascribed a probably weighted likelihood.</a:t>
            </a:r>
            <a:endParaRPr lang="en-US" sz="1400" dirty="0">
              <a:solidFill>
                <a:schemeClr val="tx1"/>
              </a:solidFill>
              <a:latin typeface="Times New Roman" pitchFamily="18" charset="0"/>
              <a:cs typeface="Times New Roman" pitchFamily="18" charset="0"/>
            </a:endParaRPr>
          </a:p>
        </p:txBody>
      </p:sp>
      <p:sp>
        <p:nvSpPr>
          <p:cNvPr id="15" name="Rectangle 14"/>
          <p:cNvSpPr/>
          <p:nvPr/>
        </p:nvSpPr>
        <p:spPr>
          <a:xfrm>
            <a:off x="414535" y="4525188"/>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2060"/>
                </a:solidFill>
                <a:latin typeface="Times New Roman" panose="02020603050405020304" pitchFamily="18" charset="0"/>
                <a:cs typeface="Times New Roman" panose="02020603050405020304" pitchFamily="18" charset="0"/>
              </a:rPr>
              <a:t>B</a:t>
            </a:r>
            <a:endParaRPr lang="en-US" sz="1600" b="1" dirty="0" smtClean="0">
              <a:solidFill>
                <a:srgbClr val="002060"/>
              </a:solidFill>
              <a:latin typeface="Times New Roman" panose="02020603050405020304" pitchFamily="18" charset="0"/>
              <a:cs typeface="Times New Roman" panose="02020603050405020304" pitchFamily="18" charset="0"/>
            </a:endParaRPr>
          </a:p>
        </p:txBody>
      </p:sp>
      <p:sp>
        <p:nvSpPr>
          <p:cNvPr id="16" name="Rectangle 15"/>
          <p:cNvSpPr/>
          <p:nvPr/>
        </p:nvSpPr>
        <p:spPr>
          <a:xfrm>
            <a:off x="702565" y="4525188"/>
            <a:ext cx="8784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smtClean="0">
                <a:solidFill>
                  <a:schemeClr val="bg1"/>
                </a:solidFill>
                <a:latin typeface="Times New Roman" panose="02020603050405020304" pitchFamily="18" charset="0"/>
                <a:cs typeface="Times New Roman" panose="02020603050405020304" pitchFamily="18" charset="0"/>
              </a:rPr>
              <a:t>Forward-Looking </a:t>
            </a:r>
            <a:r>
              <a:rPr lang="en-US" sz="1400" b="1" dirty="0">
                <a:solidFill>
                  <a:schemeClr val="bg1"/>
                </a:solidFill>
                <a:latin typeface="Times New Roman" panose="02020603050405020304" pitchFamily="18" charset="0"/>
                <a:cs typeface="Times New Roman" panose="02020603050405020304" pitchFamily="18" charset="0"/>
              </a:rPr>
              <a:t>Marginal </a:t>
            </a:r>
            <a:r>
              <a:rPr lang="en-US" sz="1400" b="1" dirty="0" err="1" smtClean="0">
                <a:solidFill>
                  <a:schemeClr val="bg1"/>
                </a:solidFill>
                <a:latin typeface="Times New Roman" panose="02020603050405020304" pitchFamily="18" charset="0"/>
                <a:cs typeface="Times New Roman" panose="02020603050405020304" pitchFamily="18" charset="0"/>
              </a:rPr>
              <a:t>PiT</a:t>
            </a:r>
            <a:r>
              <a:rPr lang="en-US" sz="1400" b="1" dirty="0" smtClean="0">
                <a:solidFill>
                  <a:schemeClr val="bg1"/>
                </a:solidFill>
                <a:latin typeface="Times New Roman" panose="02020603050405020304" pitchFamily="18" charset="0"/>
                <a:cs typeface="Times New Roman" panose="02020603050405020304" pitchFamily="18" charset="0"/>
              </a:rPr>
              <a:t> PD Term-Structure PDs based on Macroeconomic Factors </a:t>
            </a:r>
          </a:p>
        </p:txBody>
      </p:sp>
      <p:sp>
        <p:nvSpPr>
          <p:cNvPr id="17" name="Slide Number Placeholder 3"/>
          <p:cNvSpPr>
            <a:spLocks noGrp="1"/>
          </p:cNvSpPr>
          <p:nvPr>
            <p:ph type="sldNum" sz="quarter" idx="10"/>
          </p:nvPr>
        </p:nvSpPr>
        <p:spPr>
          <a:xfrm>
            <a:off x="9178925" y="6392863"/>
            <a:ext cx="439738" cy="279400"/>
          </a:xfrm>
        </p:spPr>
        <p:txBody>
          <a:bodyPr/>
          <a:lstStyle/>
          <a:p>
            <a:r>
              <a:rPr lang="en-US" altLang="en-US" dirty="0" smtClean="0"/>
              <a:t>19</a:t>
            </a:r>
            <a:endParaRPr lang="en-US" altLang="en-US" dirty="0"/>
          </a:p>
        </p:txBody>
      </p:sp>
      <p:sp>
        <p:nvSpPr>
          <p:cNvPr id="18" name="TextBox 17"/>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0775431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Probability of Default (PD)</a:t>
            </a:r>
            <a:br>
              <a:rPr lang="en-US" sz="2400" dirty="0" smtClean="0"/>
            </a:br>
            <a:r>
              <a:rPr lang="en-IN" sz="2000" i="1" dirty="0"/>
              <a:t>Illustration: </a:t>
            </a:r>
            <a:r>
              <a:rPr lang="en-IN" sz="2000" i="1" dirty="0" smtClean="0"/>
              <a:t>Through the Cycle (TTC) vs. </a:t>
            </a:r>
            <a:r>
              <a:rPr lang="en-IN" sz="2000" i="1" dirty="0"/>
              <a:t>Forward-Looking Point </a:t>
            </a:r>
            <a:r>
              <a:rPr lang="en-IN" sz="2000" i="1" dirty="0" smtClean="0"/>
              <a:t>in Time (</a:t>
            </a:r>
            <a:r>
              <a:rPr lang="en-IN" sz="2000" i="1" dirty="0" err="1" smtClean="0"/>
              <a:t>PiT</a:t>
            </a:r>
            <a:r>
              <a:rPr lang="en-IN" sz="2000" i="1" dirty="0" smtClean="0"/>
              <a:t>) PD</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17</a:t>
            </a:fld>
            <a:endParaRPr lang="en-US" altLang="en-US" dirty="0"/>
          </a:p>
        </p:txBody>
      </p:sp>
      <p:graphicFrame>
        <p:nvGraphicFramePr>
          <p:cNvPr id="17" name="Chart 16"/>
          <p:cNvGraphicFramePr/>
          <p:nvPr>
            <p:extLst/>
          </p:nvPr>
        </p:nvGraphicFramePr>
        <p:xfrm>
          <a:off x="695743" y="2143951"/>
          <a:ext cx="3970780" cy="255183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17"/>
          <p:cNvGraphicFramePr/>
          <p:nvPr>
            <p:extLst/>
          </p:nvPr>
        </p:nvGraphicFramePr>
        <p:xfrm>
          <a:off x="4920545" y="2143951"/>
          <a:ext cx="3970780" cy="2551832"/>
        </p:xfrm>
        <a:graphic>
          <a:graphicData uri="http://schemas.openxmlformats.org/drawingml/2006/chart">
            <c:chart xmlns:c="http://schemas.openxmlformats.org/drawingml/2006/chart" xmlns:r="http://schemas.openxmlformats.org/officeDocument/2006/relationships" r:id="rId3"/>
          </a:graphicData>
        </a:graphic>
      </p:graphicFrame>
      <p:sp>
        <p:nvSpPr>
          <p:cNvPr id="19" name="Bent-Up Arrow 18"/>
          <p:cNvSpPr/>
          <p:nvPr/>
        </p:nvSpPr>
        <p:spPr>
          <a:xfrm rot="5400000">
            <a:off x="1498171" y="4776417"/>
            <a:ext cx="864096" cy="864096"/>
          </a:xfrm>
          <a:prstGeom prst="bentUpArrow">
            <a:avLst/>
          </a:prstGeom>
          <a:solidFill>
            <a:schemeClr val="accent1"/>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solidFill>
                <a:srgbClr val="002060"/>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2584941" y="5055823"/>
            <a:ext cx="1829554" cy="720080"/>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2060"/>
                </a:solidFill>
                <a:latin typeface="Times New Roman" panose="02020603050405020304" pitchFamily="18" charset="0"/>
                <a:cs typeface="Times New Roman" panose="02020603050405020304" pitchFamily="18" charset="0"/>
              </a:rPr>
              <a:t>Link Function to convert TTC PD estimates to current conditional PD (PIT) estimates </a:t>
            </a:r>
          </a:p>
        </p:txBody>
      </p:sp>
      <p:sp>
        <p:nvSpPr>
          <p:cNvPr id="21" name="Rectangle 20"/>
          <p:cNvSpPr/>
          <p:nvPr/>
        </p:nvSpPr>
        <p:spPr>
          <a:xfrm>
            <a:off x="5278591" y="5055823"/>
            <a:ext cx="1800200" cy="720080"/>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2060"/>
                </a:solidFill>
                <a:latin typeface="Times New Roman" panose="02020603050405020304" pitchFamily="18" charset="0"/>
                <a:cs typeface="Times New Roman" panose="02020603050405020304" pitchFamily="18" charset="0"/>
              </a:rPr>
              <a:t>CCI or Macroeconomic (Oil price, GDP growth rate etc.) projections (including scenarios)</a:t>
            </a:r>
          </a:p>
        </p:txBody>
      </p:sp>
      <p:sp>
        <p:nvSpPr>
          <p:cNvPr id="22" name="Plus 21"/>
          <p:cNvSpPr/>
          <p:nvPr/>
        </p:nvSpPr>
        <p:spPr>
          <a:xfrm>
            <a:off x="4637169" y="5208465"/>
            <a:ext cx="418748" cy="432048"/>
          </a:xfrm>
          <a:prstGeom prst="mathPlus">
            <a:avLst/>
          </a:prstGeom>
          <a:solidFill>
            <a:srgbClr val="002060"/>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solidFill>
                <a:srgbClr val="002060"/>
              </a:solidFill>
              <a:latin typeface="Times New Roman" panose="02020603050405020304" pitchFamily="18" charset="0"/>
              <a:cs typeface="Times New Roman" panose="02020603050405020304" pitchFamily="18" charset="0"/>
            </a:endParaRPr>
          </a:p>
        </p:txBody>
      </p:sp>
      <p:sp>
        <p:nvSpPr>
          <p:cNvPr id="23" name="Bent-Up Arrow 22"/>
          <p:cNvSpPr/>
          <p:nvPr/>
        </p:nvSpPr>
        <p:spPr>
          <a:xfrm>
            <a:off x="7330819" y="4776417"/>
            <a:ext cx="864096" cy="864096"/>
          </a:xfrm>
          <a:prstGeom prst="bentUpArrow">
            <a:avLst/>
          </a:prstGeom>
          <a:solidFill>
            <a:schemeClr val="accent1"/>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solidFill>
                <a:srgbClr val="002060"/>
              </a:solidFill>
              <a:latin typeface="Times New Roman" panose="02020603050405020304" pitchFamily="18" charset="0"/>
              <a:cs typeface="Times New Roman" panose="02020603050405020304" pitchFamily="18" charset="0"/>
            </a:endParaRPr>
          </a:p>
        </p:txBody>
      </p:sp>
      <p:sp>
        <p:nvSpPr>
          <p:cNvPr id="11" name="Content Placeholder 2"/>
          <p:cNvSpPr>
            <a:spLocks noGrp="1"/>
          </p:cNvSpPr>
          <p:nvPr>
            <p:ph idx="1"/>
          </p:nvPr>
        </p:nvSpPr>
        <p:spPr>
          <a:xfrm>
            <a:off x="287338" y="1139813"/>
            <a:ext cx="9331325" cy="581698"/>
          </a:xfrm>
        </p:spPr>
        <p:txBody>
          <a:bodyPr>
            <a:spAutoFit/>
          </a:bodyPr>
          <a:lstStyle/>
          <a:p>
            <a:pPr marL="0" indent="0">
              <a:buNone/>
            </a:pPr>
            <a:r>
              <a:rPr lang="en-IN" sz="1400" dirty="0" smtClean="0"/>
              <a:t>As mentioned in the previous slide, IFRS9 requires banks to develop Forward Looking (</a:t>
            </a:r>
            <a:r>
              <a:rPr lang="en-IN" sz="1400" dirty="0" err="1" smtClean="0"/>
              <a:t>PiT</a:t>
            </a:r>
            <a:r>
              <a:rPr lang="en-IN" sz="1400" dirty="0" smtClean="0"/>
              <a:t>) PDs. A graphical representation of conversion from TTC PDs to </a:t>
            </a:r>
            <a:r>
              <a:rPr lang="en-IN" sz="1400" dirty="0" err="1" smtClean="0"/>
              <a:t>PiT</a:t>
            </a:r>
            <a:r>
              <a:rPr lang="en-IN" sz="1400" dirty="0" smtClean="0"/>
              <a:t> PDs is shown below.  It requires a </a:t>
            </a:r>
            <a:r>
              <a:rPr lang="en-US" sz="1400" dirty="0" smtClean="0"/>
              <a:t>link function, which combines TTC PDs, Macroeconomic Factors along with Asset Correlations.  Exact details of this transformation are provided in subsequent slides.</a:t>
            </a:r>
            <a:endParaRPr lang="en-IN" sz="1400" dirty="0" smtClean="0"/>
          </a:p>
        </p:txBody>
      </p:sp>
      <p:sp>
        <p:nvSpPr>
          <p:cNvPr id="12" name="TextBox 11"/>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8371950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Probability of Default (PD)</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18</a:t>
            </a:fld>
            <a:endParaRPr lang="en-US" altLang="en-US" dirty="0"/>
          </a:p>
        </p:txBody>
      </p:sp>
      <p:sp>
        <p:nvSpPr>
          <p:cNvPr id="12" name="Content Placeholder 2"/>
          <p:cNvSpPr>
            <a:spLocks noGrp="1"/>
          </p:cNvSpPr>
          <p:nvPr>
            <p:ph sz="half" idx="1"/>
          </p:nvPr>
        </p:nvSpPr>
        <p:spPr>
          <a:xfrm>
            <a:off x="287339" y="1181100"/>
            <a:ext cx="3843014" cy="5178797"/>
          </a:xfrm>
        </p:spPr>
        <p:txBody>
          <a:bodyPr lIns="72000" tIns="72000" rIns="72000"/>
          <a:lstStyle/>
          <a:p>
            <a:pPr marL="0" indent="0">
              <a:buNone/>
            </a:pPr>
            <a:r>
              <a:rPr lang="en-US" sz="1600" b="1" dirty="0">
                <a:solidFill>
                  <a:schemeClr val="tx2"/>
                </a:solidFill>
              </a:rPr>
              <a:t>Methodology for </a:t>
            </a:r>
            <a:r>
              <a:rPr lang="en-US" sz="1600" b="1" dirty="0" smtClean="0">
                <a:solidFill>
                  <a:schemeClr val="tx2"/>
                </a:solidFill>
              </a:rPr>
              <a:t>Basel Regulatory Capital</a:t>
            </a:r>
            <a:endParaRPr lang="en-US" sz="1600" b="1" dirty="0">
              <a:solidFill>
                <a:schemeClr val="tx2"/>
              </a:solidFill>
            </a:endParaRPr>
          </a:p>
          <a:p>
            <a:pPr marL="400050" indent="-400050">
              <a:buFont typeface="+mj-lt"/>
              <a:buAutoNum type="romanLcPeriod"/>
            </a:pPr>
            <a:r>
              <a:rPr lang="en-IN" sz="1400" dirty="0"/>
              <a:t>Through the cycle (TTC)</a:t>
            </a:r>
          </a:p>
          <a:p>
            <a:pPr marL="400050" indent="-400050">
              <a:buFont typeface="+mj-lt"/>
              <a:buAutoNum type="romanLcPeriod"/>
            </a:pPr>
            <a:r>
              <a:rPr lang="en-IN" sz="1400" dirty="0"/>
              <a:t>The </a:t>
            </a:r>
            <a:r>
              <a:rPr lang="en-IN" sz="1400" b="1" dirty="0"/>
              <a:t>definition of default </a:t>
            </a:r>
            <a:r>
              <a:rPr lang="en-IN" sz="1400" dirty="0"/>
              <a:t>includes a backstop of 90+ days past due, although this has been modified to 180+ days past due for some portfolios, particularly UK and US mortgages</a:t>
            </a:r>
          </a:p>
          <a:p>
            <a:pPr marL="400050" indent="-400050">
              <a:buFont typeface="+mj-lt"/>
              <a:buAutoNum type="romanLcPeriod"/>
            </a:pPr>
            <a:r>
              <a:rPr lang="en-IN" sz="1400" dirty="0"/>
              <a:t>Floors</a:t>
            </a:r>
          </a:p>
          <a:p>
            <a:pPr marL="400050" indent="-400050">
              <a:buFont typeface="+mj-lt"/>
              <a:buAutoNum type="romanLcPeriod"/>
            </a:pPr>
            <a:r>
              <a:rPr lang="en-IN" sz="1400" dirty="0"/>
              <a:t>Capital PD buffer</a:t>
            </a:r>
          </a:p>
          <a:p>
            <a:pPr marL="400050" indent="-400050">
              <a:buFont typeface="+mj-lt"/>
              <a:buAutoNum type="romanLcPeriod"/>
            </a:pPr>
            <a:r>
              <a:rPr lang="en-IN" sz="1400" dirty="0"/>
              <a:t>Focus on conservatism</a:t>
            </a:r>
          </a:p>
          <a:p>
            <a:pPr marL="400050" indent="-400050">
              <a:buFont typeface="+mj-lt"/>
              <a:buAutoNum type="romanLcPeriod"/>
            </a:pPr>
            <a:r>
              <a:rPr lang="en-IN" sz="1400" dirty="0"/>
              <a:t>12 months horizon</a:t>
            </a:r>
          </a:p>
          <a:p>
            <a:pPr marL="400050" indent="-400050">
              <a:buFont typeface="+mj-lt"/>
              <a:buAutoNum type="romanLcPeriod"/>
            </a:pPr>
            <a:r>
              <a:rPr lang="en-IN" sz="1400" dirty="0"/>
              <a:t>No historical PD information required</a:t>
            </a:r>
          </a:p>
        </p:txBody>
      </p:sp>
      <p:sp>
        <p:nvSpPr>
          <p:cNvPr id="13" name="Content Placeholder 2"/>
          <p:cNvSpPr txBox="1">
            <a:spLocks/>
          </p:cNvSpPr>
          <p:nvPr/>
        </p:nvSpPr>
        <p:spPr>
          <a:xfrm>
            <a:off x="4408166" y="1181100"/>
            <a:ext cx="5210497" cy="5178797"/>
          </a:xfrm>
          <a:prstGeom prst="rect">
            <a:avLst/>
          </a:prstGeom>
        </p:spPr>
        <p:txBody>
          <a:bodyPr lIns="72000" tIns="72000" rIns="72000"/>
          <a:lst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smtClean="0">
                <a:solidFill>
                  <a:schemeClr val="tx2"/>
                </a:solidFill>
              </a:rPr>
              <a:t>Methodology for </a:t>
            </a:r>
            <a:r>
              <a:rPr lang="en-GB" sz="1600" b="1" dirty="0" smtClean="0">
                <a:solidFill>
                  <a:schemeClr val="tx2"/>
                </a:solidFill>
              </a:rPr>
              <a:t>IFRS 9</a:t>
            </a:r>
          </a:p>
          <a:p>
            <a:pPr marL="400050" indent="-400050" fontAlgn="ctr">
              <a:buFont typeface="+mj-lt"/>
              <a:buAutoNum type="romanLcPeriod"/>
            </a:pPr>
            <a:r>
              <a:rPr lang="en-IN" sz="1400" dirty="0"/>
              <a:t>Point in Time (PiT)</a:t>
            </a:r>
          </a:p>
          <a:p>
            <a:pPr marL="400050" indent="-400050" fontAlgn="ctr">
              <a:buFont typeface="+mj-lt"/>
              <a:buAutoNum type="romanLcPeriod"/>
            </a:pPr>
            <a:r>
              <a:rPr lang="en-IN" sz="1400" dirty="0"/>
              <a:t>Incorporation of forward looking information and macroeconomic information (move from current to future macro conditions)</a:t>
            </a:r>
          </a:p>
          <a:p>
            <a:pPr marL="400050" indent="-400050" fontAlgn="ctr">
              <a:buFont typeface="+mj-lt"/>
              <a:buAutoNum type="romanLcPeriod"/>
            </a:pPr>
            <a:r>
              <a:rPr lang="en-IN" sz="1400" dirty="0"/>
              <a:t>Default backstop of 90+ days past due for all portfolios</a:t>
            </a:r>
          </a:p>
          <a:p>
            <a:pPr marL="400050" indent="-400050" fontAlgn="ctr">
              <a:buFont typeface="+mj-lt"/>
              <a:buAutoNum type="romanLcPeriod"/>
            </a:pPr>
            <a:r>
              <a:rPr lang="en-IN" sz="1400" dirty="0"/>
              <a:t>Removal of floors </a:t>
            </a:r>
          </a:p>
          <a:p>
            <a:pPr marL="400050" indent="-400050" fontAlgn="ctr">
              <a:buFont typeface="+mj-lt"/>
              <a:buAutoNum type="romanLcPeriod"/>
            </a:pPr>
            <a:r>
              <a:rPr lang="en-IN" sz="1400" dirty="0"/>
              <a:t>Focus on accuracy (non-biased estimates)</a:t>
            </a:r>
          </a:p>
          <a:p>
            <a:pPr marL="400050" indent="-400050" fontAlgn="ctr">
              <a:buFont typeface="+mj-lt"/>
              <a:buAutoNum type="romanLcPeriod"/>
            </a:pPr>
            <a:r>
              <a:rPr lang="en-IN" sz="1400" dirty="0"/>
              <a:t>Marginal PIT PD term structures / consideration of full range of maturities</a:t>
            </a:r>
          </a:p>
        </p:txBody>
      </p:sp>
      <p:cxnSp>
        <p:nvCxnSpPr>
          <p:cNvPr id="15" name="Straight Connector 14"/>
          <p:cNvCxnSpPr/>
          <p:nvPr/>
        </p:nvCxnSpPr>
        <p:spPr>
          <a:xfrm>
            <a:off x="4288898" y="1154596"/>
            <a:ext cx="0" cy="533897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5693301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Probability of Default (PD)</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19</a:t>
            </a:fld>
            <a:endParaRPr lang="en-US" altLang="en-US"/>
          </a:p>
        </p:txBody>
      </p:sp>
      <p:graphicFrame>
        <p:nvGraphicFramePr>
          <p:cNvPr id="7" name="Table 6"/>
          <p:cNvGraphicFramePr>
            <a:graphicFrameLocks noGrp="1"/>
          </p:cNvGraphicFramePr>
          <p:nvPr>
            <p:extLst/>
          </p:nvPr>
        </p:nvGraphicFramePr>
        <p:xfrm>
          <a:off x="348869" y="1053027"/>
          <a:ext cx="9193594" cy="1647600"/>
        </p:xfrm>
        <a:graphic>
          <a:graphicData uri="http://schemas.openxmlformats.org/drawingml/2006/table">
            <a:tbl>
              <a:tblPr firstRow="1" bandRow="1">
                <a:tableStyleId>{5C22544A-7EE6-4342-B048-85BDC9FD1C3A}</a:tableStyleId>
              </a:tblPr>
              <a:tblGrid>
                <a:gridCol w="9193594"/>
              </a:tblGrid>
              <a:tr h="148993">
                <a:tc>
                  <a:txBody>
                    <a:bodyPr/>
                    <a:lstStyle/>
                    <a:p>
                      <a:r>
                        <a:rPr lang="en-GB" sz="1400" dirty="0" smtClean="0">
                          <a:latin typeface="Times New Roman" panose="02020603050405020304" pitchFamily="18" charset="0"/>
                          <a:cs typeface="Times New Roman" panose="02020603050405020304" pitchFamily="18" charset="0"/>
                        </a:rPr>
                        <a:t>Sophisticated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r>
              <a:tr h="652180">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Maintain and apply a consistent </a:t>
                      </a:r>
                      <a:r>
                        <a:rPr lang="en-IN" sz="1300" b="1" u="sng" kern="1200" dirty="0" smtClean="0">
                          <a:solidFill>
                            <a:schemeClr val="tx1"/>
                          </a:solidFill>
                          <a:latin typeface="Times New Roman" pitchFamily="18" charset="0"/>
                          <a:ea typeface="+mn-ea"/>
                          <a:cs typeface="Times New Roman" pitchFamily="18" charset="0"/>
                        </a:rPr>
                        <a:t>single definition of default </a:t>
                      </a:r>
                      <a:r>
                        <a:rPr lang="en-IN" sz="1300" kern="1200" dirty="0" smtClean="0">
                          <a:solidFill>
                            <a:schemeClr val="tx1"/>
                          </a:solidFill>
                          <a:latin typeface="Times New Roman" pitchFamily="18" charset="0"/>
                          <a:ea typeface="+mn-ea"/>
                          <a:cs typeface="Times New Roman" pitchFamily="18" charset="0"/>
                        </a:rPr>
                        <a:t>for both regulatory and financial reporting purposes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Application of definition uniformly in all aspects of modelling ECLs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Definition of default and its application to different types of financial instruments should be appropriately tailored to reflect their differing characteristics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Processes are required</a:t>
                      </a:r>
                      <a:r>
                        <a:rPr lang="en-IN" sz="1300" kern="1200" baseline="0" dirty="0" smtClean="0">
                          <a:solidFill>
                            <a:schemeClr val="tx1"/>
                          </a:solidFill>
                          <a:latin typeface="Times New Roman" pitchFamily="18" charset="0"/>
                          <a:ea typeface="+mn-ea"/>
                          <a:cs typeface="Times New Roman" pitchFamily="18" charset="0"/>
                        </a:rPr>
                        <a:t> </a:t>
                      </a:r>
                      <a:r>
                        <a:rPr lang="en-IN" sz="1300" kern="1200" dirty="0" smtClean="0">
                          <a:solidFill>
                            <a:schemeClr val="tx1"/>
                          </a:solidFill>
                          <a:latin typeface="Times New Roman" pitchFamily="18" charset="0"/>
                          <a:ea typeface="+mn-ea"/>
                          <a:cs typeface="Times New Roman" pitchFamily="18" charset="0"/>
                        </a:rPr>
                        <a:t>to update both regulatory and accounting definitions for further changes in either requirements</a:t>
                      </a:r>
                    </a:p>
                  </a:txBody>
                  <a:tcPr marL="93042" marR="93042" marT="46521" marB="46521">
                    <a:solidFill>
                      <a:schemeClr val="bg1"/>
                    </a:solidFill>
                  </a:tcPr>
                </a:tc>
              </a:tr>
            </a:tbl>
          </a:graphicData>
        </a:graphic>
      </p:graphicFrame>
      <p:sp>
        <p:nvSpPr>
          <p:cNvPr id="5" name="TextBox 4"/>
          <p:cNvSpPr txBox="1"/>
          <p:nvPr/>
        </p:nvSpPr>
        <p:spPr>
          <a:xfrm>
            <a:off x="4041915" y="6445871"/>
            <a:ext cx="5393634" cy="279400"/>
          </a:xfrm>
          <a:prstGeom prst="rect">
            <a:avLst/>
          </a:prstGeom>
          <a:noFill/>
        </p:spPr>
        <p:txBody>
          <a:bodyPr wrap="square" rtlCol="0">
            <a:spAutoFit/>
          </a:bodyPr>
          <a:lstStyle/>
          <a:p>
            <a:pPr algn="r"/>
            <a:r>
              <a:rPr lang="en-US" i="1" dirty="0" smtClean="0"/>
              <a:t>* As per the </a:t>
            </a:r>
            <a:r>
              <a:rPr lang="en-US" i="1" dirty="0"/>
              <a:t>GPPC </a:t>
            </a:r>
            <a:r>
              <a:rPr lang="en-US" i="1" dirty="0" smtClean="0"/>
              <a:t>(</a:t>
            </a:r>
            <a:r>
              <a:rPr lang="en-US" i="1" dirty="0"/>
              <a:t>Global Public Policy </a:t>
            </a:r>
            <a:r>
              <a:rPr lang="en-US" i="1" dirty="0" smtClean="0"/>
              <a:t>Committee)</a:t>
            </a:r>
            <a:endParaRPr lang="en-IN" i="1" dirty="0"/>
          </a:p>
        </p:txBody>
      </p:sp>
      <p:graphicFrame>
        <p:nvGraphicFramePr>
          <p:cNvPr id="8" name="Table 7"/>
          <p:cNvGraphicFramePr>
            <a:graphicFrameLocks noGrp="1"/>
          </p:cNvGraphicFramePr>
          <p:nvPr>
            <p:extLst/>
          </p:nvPr>
        </p:nvGraphicFramePr>
        <p:xfrm>
          <a:off x="356203" y="3022258"/>
          <a:ext cx="9193594" cy="1053240"/>
        </p:xfrm>
        <a:graphic>
          <a:graphicData uri="http://schemas.openxmlformats.org/drawingml/2006/table">
            <a:tbl>
              <a:tblPr firstRow="1" bandRow="1">
                <a:tableStyleId>{5C22544A-7EE6-4342-B048-85BDC9FD1C3A}</a:tableStyleId>
              </a:tblPr>
              <a:tblGrid>
                <a:gridCol w="9193594"/>
              </a:tblGrid>
              <a:tr h="198323">
                <a:tc>
                  <a:txBody>
                    <a:bodyPr/>
                    <a:lstStyle/>
                    <a:p>
                      <a:r>
                        <a:rPr lang="en-GB" sz="1400" dirty="0" smtClean="0">
                          <a:latin typeface="Times New Roman" panose="02020603050405020304" pitchFamily="18" charset="0"/>
                          <a:cs typeface="Times New Roman" panose="02020603050405020304" pitchFamily="18" charset="0"/>
                        </a:rPr>
                        <a:t>Considerations for a Simpler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r>
              <a:tr h="483403">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Use models developed for regulatory purposes without amending definition of default and</a:t>
                      </a:r>
                      <a:r>
                        <a:rPr lang="en-IN" sz="1300" kern="1200" baseline="0" dirty="0" smtClean="0">
                          <a:solidFill>
                            <a:schemeClr val="tx1"/>
                          </a:solidFill>
                          <a:latin typeface="Times New Roman" pitchFamily="18" charset="0"/>
                          <a:ea typeface="+mn-ea"/>
                          <a:cs typeface="Times New Roman" pitchFamily="18" charset="0"/>
                        </a:rPr>
                        <a:t> then </a:t>
                      </a:r>
                      <a:r>
                        <a:rPr lang="en-IN" sz="1300" kern="1200" dirty="0" smtClean="0">
                          <a:solidFill>
                            <a:schemeClr val="tx1"/>
                          </a:solidFill>
                          <a:latin typeface="Times New Roman" pitchFamily="18" charset="0"/>
                          <a:ea typeface="+mn-ea"/>
                          <a:cs typeface="Times New Roman" pitchFamily="18" charset="0"/>
                        </a:rPr>
                        <a:t>adjust the output for differences between regulatory and accounting definitions.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If the differences are believed to lead only to immaterial differences in outcome then they can be ignored.</a:t>
                      </a:r>
                      <a:endParaRPr lang="en-GB" sz="1300" kern="1200" dirty="0">
                        <a:solidFill>
                          <a:schemeClr val="tx1"/>
                        </a:solidFill>
                        <a:latin typeface="Times New Roman" pitchFamily="18" charset="0"/>
                        <a:ea typeface="+mn-ea"/>
                        <a:cs typeface="Times New Roman" pitchFamily="18" charset="0"/>
                      </a:endParaRPr>
                    </a:p>
                  </a:txBody>
                  <a:tcPr marL="93042" marR="93042" marT="46521" marB="46521">
                    <a:solidFill>
                      <a:schemeClr val="bg1"/>
                    </a:solidFill>
                  </a:tcPr>
                </a:tc>
              </a:tr>
            </a:tbl>
          </a:graphicData>
        </a:graphic>
      </p:graphicFrame>
      <p:graphicFrame>
        <p:nvGraphicFramePr>
          <p:cNvPr id="9" name="Table 8"/>
          <p:cNvGraphicFramePr>
            <a:graphicFrameLocks noGrp="1"/>
          </p:cNvGraphicFramePr>
          <p:nvPr>
            <p:extLst/>
          </p:nvPr>
        </p:nvGraphicFramePr>
        <p:xfrm>
          <a:off x="356203" y="4397129"/>
          <a:ext cx="9193594" cy="1683649"/>
        </p:xfrm>
        <a:graphic>
          <a:graphicData uri="http://schemas.openxmlformats.org/drawingml/2006/table">
            <a:tbl>
              <a:tblPr firstRow="1" bandRow="1">
                <a:tableStyleId>{5C22544A-7EE6-4342-B048-85BDC9FD1C3A}</a:tableStyleId>
              </a:tblPr>
              <a:tblGrid>
                <a:gridCol w="9193594"/>
              </a:tblGrid>
              <a:tr h="350071">
                <a:tc>
                  <a:txBody>
                    <a:bodyPr/>
                    <a:lstStyle/>
                    <a:p>
                      <a:pPr>
                        <a:lnSpc>
                          <a:spcPct val="85000"/>
                        </a:lnSpc>
                        <a:spcAft>
                          <a:spcPts val="600"/>
                        </a:spcAft>
                        <a:buClr>
                          <a:schemeClr val="accent2"/>
                        </a:buClr>
                        <a:buSzPct val="70000"/>
                      </a:pPr>
                      <a:r>
                        <a:rPr lang="en-GB" sz="1400" b="1" dirty="0" smtClean="0">
                          <a:solidFill>
                            <a:schemeClr val="bg1"/>
                          </a:solidFill>
                          <a:latin typeface="Times New Roman" panose="02020603050405020304" pitchFamily="18" charset="0"/>
                          <a:cs typeface="Times New Roman" panose="02020603050405020304" pitchFamily="18" charset="0"/>
                        </a:rPr>
                        <a:t>What is not ‘compliant’*</a:t>
                      </a:r>
                    </a:p>
                  </a:txBody>
                  <a:tcPr marL="93042" marR="93042" marT="46521" marB="46521">
                    <a:solidFill>
                      <a:schemeClr val="accent2"/>
                    </a:solidFill>
                  </a:tcPr>
                </a:tc>
              </a:tr>
              <a:tr h="1136213">
                <a:tc>
                  <a:txBody>
                    <a:bodyPr/>
                    <a:lstStyle/>
                    <a:p>
                      <a:pPr marL="171450" indent="-171450" algn="l" defTabSz="914400" rtl="0" eaLnBrk="1" latinLnBrk="0" hangingPunct="1">
                        <a:lnSpc>
                          <a:spcPct val="85000"/>
                        </a:lnSpc>
                        <a:spcAft>
                          <a:spcPts val="600"/>
                        </a:spcAft>
                        <a:buClr>
                          <a:schemeClr val="accent2"/>
                        </a:buClr>
                        <a:buSzPct val="70000"/>
                        <a:buFont typeface="Arial" panose="020B0604020202020204" pitchFamily="34" charset="0"/>
                        <a:buChar char="►"/>
                      </a:pPr>
                      <a:r>
                        <a:rPr lang="en-GB" sz="1400" kern="1200" baseline="0" dirty="0" smtClean="0">
                          <a:solidFill>
                            <a:schemeClr val="dk1"/>
                          </a:solidFill>
                          <a:latin typeface="Times New Roman" panose="02020603050405020304" pitchFamily="18" charset="0"/>
                          <a:ea typeface="+mn-ea"/>
                          <a:cs typeface="Times New Roman" panose="02020603050405020304" pitchFamily="18" charset="0"/>
                        </a:rPr>
                        <a:t>Using </a:t>
                      </a:r>
                      <a:r>
                        <a:rPr lang="en-GB" sz="1400" u="sng" kern="1200" baseline="0" dirty="0" smtClean="0">
                          <a:solidFill>
                            <a:schemeClr val="dk1"/>
                          </a:solidFill>
                          <a:latin typeface="Times New Roman" panose="02020603050405020304" pitchFamily="18" charset="0"/>
                          <a:ea typeface="+mn-ea"/>
                          <a:cs typeface="Times New Roman" panose="02020603050405020304" pitchFamily="18" charset="0"/>
                        </a:rPr>
                        <a:t>definition of default </a:t>
                      </a:r>
                      <a:r>
                        <a:rPr lang="en-GB" sz="1400" kern="1200" baseline="0" dirty="0" smtClean="0">
                          <a:solidFill>
                            <a:schemeClr val="dk1"/>
                          </a:solidFill>
                          <a:latin typeface="Times New Roman" panose="02020603050405020304" pitchFamily="18" charset="0"/>
                          <a:ea typeface="+mn-ea"/>
                          <a:cs typeface="Times New Roman" panose="02020603050405020304" pitchFamily="18" charset="0"/>
                        </a:rPr>
                        <a:t>when modelling probability of default for IFSR 9 purposes that results in </a:t>
                      </a:r>
                      <a:r>
                        <a:rPr lang="en-GB" sz="1400" u="sng" kern="1200" baseline="0" dirty="0" smtClean="0">
                          <a:solidFill>
                            <a:schemeClr val="dk1"/>
                          </a:solidFill>
                          <a:latin typeface="Times New Roman" panose="02020603050405020304" pitchFamily="18" charset="0"/>
                          <a:ea typeface="+mn-ea"/>
                          <a:cs typeface="Times New Roman" panose="02020603050405020304" pitchFamily="18" charset="0"/>
                        </a:rPr>
                        <a:t>fewer default </a:t>
                      </a:r>
                      <a:r>
                        <a:rPr lang="en-GB" sz="1400" kern="1200" baseline="0" dirty="0" smtClean="0">
                          <a:solidFill>
                            <a:schemeClr val="dk1"/>
                          </a:solidFill>
                          <a:latin typeface="Times New Roman" panose="02020603050405020304" pitchFamily="18" charset="0"/>
                          <a:ea typeface="+mn-ea"/>
                          <a:cs typeface="Times New Roman" panose="02020603050405020304" pitchFamily="18" charset="0"/>
                        </a:rPr>
                        <a:t>events being captured than are actually monitored and observed</a:t>
                      </a:r>
                    </a:p>
                    <a:p>
                      <a:pPr marL="171450" indent="-171450" algn="l" defTabSz="914400" rtl="0" eaLnBrk="1" latinLnBrk="0" hangingPunct="1">
                        <a:lnSpc>
                          <a:spcPct val="85000"/>
                        </a:lnSpc>
                        <a:spcAft>
                          <a:spcPts val="600"/>
                        </a:spcAft>
                        <a:buClr>
                          <a:schemeClr val="accent2"/>
                        </a:buClr>
                        <a:buSzPct val="70000"/>
                        <a:buFont typeface="Arial" panose="020B0604020202020204" pitchFamily="34" charset="0"/>
                        <a:buChar char="►"/>
                      </a:pPr>
                      <a:r>
                        <a:rPr lang="en-GB" sz="1400" kern="1200" baseline="0" dirty="0" smtClean="0">
                          <a:solidFill>
                            <a:schemeClr val="dk1"/>
                          </a:solidFill>
                          <a:latin typeface="Times New Roman" panose="02020603050405020304" pitchFamily="18" charset="0"/>
                          <a:ea typeface="+mn-ea"/>
                          <a:cs typeface="Times New Roman" panose="02020603050405020304" pitchFamily="18" charset="0"/>
                        </a:rPr>
                        <a:t>Using information designed for regulatory purposes </a:t>
                      </a:r>
                      <a:r>
                        <a:rPr lang="en-GB" sz="1400" u="sng" kern="1200" baseline="0" dirty="0" smtClean="0">
                          <a:solidFill>
                            <a:schemeClr val="dk1"/>
                          </a:solidFill>
                          <a:latin typeface="Times New Roman" panose="02020603050405020304" pitchFamily="18" charset="0"/>
                          <a:ea typeface="+mn-ea"/>
                          <a:cs typeface="Times New Roman" panose="02020603050405020304" pitchFamily="18" charset="0"/>
                        </a:rPr>
                        <a:t>without assessing </a:t>
                      </a:r>
                      <a:r>
                        <a:rPr lang="en-GB" sz="1400" kern="1200" baseline="0" dirty="0" smtClean="0">
                          <a:solidFill>
                            <a:schemeClr val="dk1"/>
                          </a:solidFill>
                          <a:latin typeface="Times New Roman" panose="02020603050405020304" pitchFamily="18" charset="0"/>
                          <a:ea typeface="+mn-ea"/>
                          <a:cs typeface="Times New Roman" panose="02020603050405020304" pitchFamily="18" charset="0"/>
                        </a:rPr>
                        <a:t>whether any adjustments are required for the information to be fit for use under IFRS 9</a:t>
                      </a:r>
                    </a:p>
                    <a:p>
                      <a:pPr marL="171450" indent="-171450" algn="l" defTabSz="914400" rtl="0" eaLnBrk="1" latinLnBrk="0" hangingPunct="1">
                        <a:lnSpc>
                          <a:spcPct val="85000"/>
                        </a:lnSpc>
                        <a:spcAft>
                          <a:spcPts val="600"/>
                        </a:spcAft>
                        <a:buClr>
                          <a:schemeClr val="accent2"/>
                        </a:buClr>
                        <a:buSzPct val="70000"/>
                        <a:buFont typeface="Arial" panose="020B0604020202020204" pitchFamily="34" charset="0"/>
                        <a:buChar char="►"/>
                      </a:pPr>
                      <a:r>
                        <a:rPr lang="en-GB" sz="1400" u="sng" kern="1200" baseline="0" dirty="0" smtClean="0">
                          <a:solidFill>
                            <a:schemeClr val="dk1"/>
                          </a:solidFill>
                          <a:latin typeface="Times New Roman" panose="02020603050405020304" pitchFamily="18" charset="0"/>
                          <a:ea typeface="+mn-ea"/>
                          <a:cs typeface="Times New Roman" panose="02020603050405020304" pitchFamily="18" charset="0"/>
                        </a:rPr>
                        <a:t>Not applying 90 days past due backstop </a:t>
                      </a:r>
                      <a:r>
                        <a:rPr lang="en-GB" sz="1400" kern="1200" baseline="0" dirty="0" smtClean="0">
                          <a:solidFill>
                            <a:schemeClr val="dk1"/>
                          </a:solidFill>
                          <a:latin typeface="Times New Roman" panose="02020603050405020304" pitchFamily="18" charset="0"/>
                          <a:ea typeface="+mn-ea"/>
                          <a:cs typeface="Times New Roman" panose="02020603050405020304" pitchFamily="18" charset="0"/>
                        </a:rPr>
                        <a:t>unless there is documented reasonable and supportable information as to why it is not appropriate</a:t>
                      </a:r>
                      <a:endParaRPr lang="en-GB" sz="1400" kern="1200" dirty="0">
                        <a:solidFill>
                          <a:schemeClr val="dk1"/>
                        </a:solidFill>
                        <a:latin typeface="Times New Roman" panose="02020603050405020304" pitchFamily="18" charset="0"/>
                        <a:ea typeface="+mn-ea"/>
                        <a:cs typeface="Times New Roman" panose="02020603050405020304" pitchFamily="18" charset="0"/>
                      </a:endParaRPr>
                    </a:p>
                  </a:txBody>
                  <a:tcPr marL="93042" marR="93042" marT="46521" marB="46521">
                    <a:solidFill>
                      <a:schemeClr val="bg1"/>
                    </a:solidFill>
                  </a:tcPr>
                </a:tc>
              </a:tr>
            </a:tbl>
          </a:graphicData>
        </a:graphic>
      </p:graphicFrame>
      <p:sp>
        <p:nvSpPr>
          <p:cNvPr id="10" name="TextBox 9"/>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40058160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Probability of Default (PD)</a:t>
            </a:r>
            <a:br>
              <a:rPr lang="en-US" sz="2400" dirty="0" smtClean="0"/>
            </a:br>
            <a:r>
              <a:rPr lang="en-US" sz="2000" i="1" dirty="0" smtClean="0"/>
              <a:t>GPPC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20</a:t>
            </a:fld>
            <a:endParaRPr lang="en-US" altLang="en-US"/>
          </a:p>
        </p:txBody>
      </p:sp>
      <p:sp>
        <p:nvSpPr>
          <p:cNvPr id="8" name="TextBox 7"/>
          <p:cNvSpPr txBox="1"/>
          <p:nvPr/>
        </p:nvSpPr>
        <p:spPr>
          <a:xfrm>
            <a:off x="4041915" y="6445871"/>
            <a:ext cx="5393634" cy="279400"/>
          </a:xfrm>
          <a:prstGeom prst="rect">
            <a:avLst/>
          </a:prstGeom>
          <a:noFill/>
        </p:spPr>
        <p:txBody>
          <a:bodyPr wrap="square" rtlCol="0">
            <a:spAutoFit/>
          </a:bodyPr>
          <a:lstStyle/>
          <a:p>
            <a:pPr algn="r"/>
            <a:r>
              <a:rPr lang="en-US" i="1" dirty="0" smtClean="0"/>
              <a:t>* As per </a:t>
            </a:r>
            <a:r>
              <a:rPr lang="en-US" i="1" dirty="0"/>
              <a:t>the GPPC (Global Public Policy </a:t>
            </a:r>
            <a:r>
              <a:rPr lang="en-US" i="1" dirty="0" smtClean="0"/>
              <a:t>Committee) </a:t>
            </a:r>
            <a:endParaRPr lang="en-IN" i="1" dirty="0"/>
          </a:p>
        </p:txBody>
      </p:sp>
      <p:graphicFrame>
        <p:nvGraphicFramePr>
          <p:cNvPr id="9" name="Table 8"/>
          <p:cNvGraphicFramePr>
            <a:graphicFrameLocks noGrp="1"/>
          </p:cNvGraphicFramePr>
          <p:nvPr>
            <p:extLst/>
          </p:nvPr>
        </p:nvGraphicFramePr>
        <p:xfrm>
          <a:off x="348869" y="1053026"/>
          <a:ext cx="9180542" cy="4950186"/>
        </p:xfrm>
        <a:graphic>
          <a:graphicData uri="http://schemas.openxmlformats.org/drawingml/2006/table">
            <a:tbl>
              <a:tblPr firstRow="1" bandRow="1">
                <a:tableStyleId>{5C22544A-7EE6-4342-B048-85BDC9FD1C3A}</a:tableStyleId>
              </a:tblPr>
              <a:tblGrid>
                <a:gridCol w="2127279"/>
                <a:gridCol w="7053263"/>
              </a:tblGrid>
              <a:tr h="225476">
                <a:tc>
                  <a:txBody>
                    <a:bodyPr/>
                    <a:lstStyle/>
                    <a:p>
                      <a:r>
                        <a:rPr lang="en-GB" sz="1400" dirty="0" smtClean="0">
                          <a:latin typeface="Times New Roman" panose="02020603050405020304" pitchFamily="18" charset="0"/>
                          <a:cs typeface="Times New Roman" panose="02020603050405020304" pitchFamily="18" charset="0"/>
                        </a:rPr>
                        <a:t>Sophisticated Approach*</a:t>
                      </a:r>
                      <a:endParaRPr lang="en-GB" sz="1400" dirty="0">
                        <a:latin typeface="Times New Roman" panose="02020603050405020304" pitchFamily="18" charset="0"/>
                        <a:cs typeface="Times New Roman" panose="02020603050405020304" pitchFamily="18" charset="0"/>
                      </a:endParaRPr>
                    </a:p>
                  </a:txBody>
                  <a:tcPr marL="93042" marR="93042" marT="46521" marB="46521">
                    <a:lnR w="12700" cap="flat" cmpd="sng" algn="ctr">
                      <a:solidFill>
                        <a:schemeClr val="tx1"/>
                      </a:solidFill>
                      <a:prstDash val="solid"/>
                      <a:round/>
                      <a:headEnd type="none" w="med" len="med"/>
                      <a:tailEnd type="none" w="med" len="med"/>
                    </a:lnR>
                    <a:solidFill>
                      <a:schemeClr val="accent2"/>
                    </a:solidFill>
                  </a:tcPr>
                </a:tc>
                <a:tc>
                  <a:txBody>
                    <a:bodyPr/>
                    <a:lstStyle/>
                    <a:p>
                      <a:endParaRPr lang="en-GB" sz="1400" dirty="0">
                        <a:latin typeface="Times New Roman" panose="02020603050405020304" pitchFamily="18" charset="0"/>
                        <a:cs typeface="Times New Roman" panose="02020603050405020304" pitchFamily="18" charset="0"/>
                      </a:endParaRPr>
                    </a:p>
                  </a:txBody>
                  <a:tcPr marL="93042" marR="93042" marT="46521" marB="46521">
                    <a:lnL w="12700" cap="flat" cmpd="sng" algn="ctr">
                      <a:solidFill>
                        <a:schemeClr val="tx1"/>
                      </a:solidFill>
                      <a:prstDash val="solid"/>
                      <a:round/>
                      <a:headEnd type="none" w="med" len="med"/>
                      <a:tailEnd type="none" w="med" len="med"/>
                    </a:lnL>
                    <a:solidFill>
                      <a:schemeClr val="accent2"/>
                    </a:solidFill>
                  </a:tcPr>
                </a:tc>
              </a:tr>
              <a:tr h="1395436">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12-month PDs</a:t>
                      </a:r>
                    </a:p>
                  </a:txBody>
                  <a:tcPr marL="93042" marR="93042" marT="46521" marB="46521"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Use of </a:t>
                      </a:r>
                      <a:r>
                        <a:rPr lang="en-IN" sz="1300" b="1" kern="1200" dirty="0" smtClean="0">
                          <a:solidFill>
                            <a:schemeClr val="tx1"/>
                          </a:solidFill>
                          <a:latin typeface="Times New Roman" pitchFamily="18" charset="0"/>
                          <a:ea typeface="+mn-ea"/>
                          <a:cs typeface="Times New Roman" pitchFamily="18" charset="0"/>
                        </a:rPr>
                        <a:t>IRB model </a:t>
                      </a:r>
                      <a:r>
                        <a:rPr lang="en-IN" sz="1300" kern="1200" dirty="0" smtClean="0">
                          <a:solidFill>
                            <a:schemeClr val="tx1"/>
                          </a:solidFill>
                          <a:latin typeface="Times New Roman" pitchFamily="18" charset="0"/>
                          <a:ea typeface="+mn-ea"/>
                          <a:cs typeface="Times New Roman" pitchFamily="18" charset="0"/>
                        </a:rPr>
                        <a:t>for regulatory purposes as starting point, if available</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Consider adjustment for </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Conversion to an unbiased (rather than conservative) estimate</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Removal of any bias toward historical data, (where not reflective of management’s view of the future) aligning definition of default used in model with that for IFRS 9</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Incorporating </a:t>
                      </a:r>
                      <a:r>
                        <a:rPr lang="en-IN" sz="1300" b="1" u="sng" kern="1200" dirty="0" smtClean="0">
                          <a:solidFill>
                            <a:schemeClr val="tx1"/>
                          </a:solidFill>
                          <a:latin typeface="Times New Roman" pitchFamily="18" charset="0"/>
                          <a:ea typeface="+mn-ea"/>
                          <a:cs typeface="Times New Roman" pitchFamily="18" charset="0"/>
                        </a:rPr>
                        <a:t>forward looking information</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Will need to develop new models where no IRB models exist</a:t>
                      </a:r>
                    </a:p>
                  </a:txBody>
                  <a:tcPr marL="93042" marR="93042" marT="46521" marB="46521">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1809161">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Lifetime PDs</a:t>
                      </a:r>
                    </a:p>
                  </a:txBody>
                  <a:tcPr marL="93042" marR="93042" marT="46521" marB="46521"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Build from 12-month PD model or develop a separate PD model</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If develop from 12-month model, develop lifetime PD curves or term structures to reflect movements in default risk over lifetime of exposure. May involve;</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Sourcing historical default data</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Performing vintage analysis to understand default rate changes over time</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Extrapolating trends to longer periods (if not available for maximum period of exposure)</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Performing analysis at an appropriately segmented level</a:t>
                      </a:r>
                    </a:p>
                    <a:p>
                      <a:pPr marL="742950"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Documenting policy for determining longer-term trends in rates of default</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If new models are developed then ensure all risk drivers and predictive power are identified and calibrated and based on historical data over suitable time period</a:t>
                      </a:r>
                    </a:p>
                  </a:txBody>
                  <a:tcPr marL="93042" marR="93042" marT="46521" marB="4652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bl>
          </a:graphicData>
        </a:graphic>
      </p:graphicFrame>
      <p:sp>
        <p:nvSpPr>
          <p:cNvPr id="6" name="TextBox 5"/>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97350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Probability of Default (PD)</a:t>
            </a:r>
            <a:br>
              <a:rPr lang="en-US" sz="2400" dirty="0" smtClean="0"/>
            </a:br>
            <a:r>
              <a:rPr lang="en-US" sz="2000" i="1" dirty="0" smtClean="0"/>
              <a:t>GPPC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21</a:t>
            </a:fld>
            <a:endParaRPr lang="en-US" altLang="en-US"/>
          </a:p>
        </p:txBody>
      </p:sp>
      <p:sp>
        <p:nvSpPr>
          <p:cNvPr id="8" name="TextBox 7"/>
          <p:cNvSpPr txBox="1"/>
          <p:nvPr/>
        </p:nvSpPr>
        <p:spPr>
          <a:xfrm>
            <a:off x="4041915" y="6445871"/>
            <a:ext cx="5393634" cy="279400"/>
          </a:xfrm>
          <a:prstGeom prst="rect">
            <a:avLst/>
          </a:prstGeom>
          <a:noFill/>
        </p:spPr>
        <p:txBody>
          <a:bodyPr wrap="square" rtlCol="0">
            <a:spAutoFit/>
          </a:bodyPr>
          <a:lstStyle/>
          <a:p>
            <a:pPr algn="r"/>
            <a:r>
              <a:rPr lang="en-US" i="1" dirty="0" smtClean="0"/>
              <a:t>* As per </a:t>
            </a:r>
            <a:r>
              <a:rPr lang="en-US" i="1" dirty="0"/>
              <a:t>the GPPC (Global Public Policy </a:t>
            </a:r>
            <a:r>
              <a:rPr lang="en-US" i="1" dirty="0" smtClean="0"/>
              <a:t>Committee) </a:t>
            </a:r>
            <a:endParaRPr lang="en-IN" i="1" dirty="0"/>
          </a:p>
        </p:txBody>
      </p:sp>
      <p:graphicFrame>
        <p:nvGraphicFramePr>
          <p:cNvPr id="9" name="Table 8"/>
          <p:cNvGraphicFramePr>
            <a:graphicFrameLocks noGrp="1"/>
          </p:cNvGraphicFramePr>
          <p:nvPr>
            <p:extLst/>
          </p:nvPr>
        </p:nvGraphicFramePr>
        <p:xfrm>
          <a:off x="348869" y="1053027"/>
          <a:ext cx="9180542" cy="1978386"/>
        </p:xfrm>
        <a:graphic>
          <a:graphicData uri="http://schemas.openxmlformats.org/drawingml/2006/table">
            <a:tbl>
              <a:tblPr firstRow="1" bandRow="1">
                <a:tableStyleId>{5C22544A-7EE6-4342-B048-85BDC9FD1C3A}</a:tableStyleId>
              </a:tblPr>
              <a:tblGrid>
                <a:gridCol w="2127279"/>
                <a:gridCol w="7053263"/>
              </a:tblGrid>
              <a:tr h="269633">
                <a:tc gridSpan="2">
                  <a:txBody>
                    <a:bodyPr/>
                    <a:lstStyle/>
                    <a:p>
                      <a:r>
                        <a:rPr lang="en-IN" sz="1400" dirty="0" smtClean="0">
                          <a:latin typeface="Times New Roman" panose="02020603050405020304" pitchFamily="18" charset="0"/>
                          <a:cs typeface="Times New Roman" panose="02020603050405020304" pitchFamily="18" charset="0"/>
                        </a:rPr>
                        <a:t>Considerations for a Simpler Approach*</a:t>
                      </a:r>
                    </a:p>
                  </a:txBody>
                  <a:tcPr marL="93042" marR="93042" marT="46521" marB="46521">
                    <a:solidFill>
                      <a:schemeClr val="accent2"/>
                    </a:solidFill>
                  </a:tcPr>
                </a:tc>
                <a:tc hMerge="1">
                  <a:txBody>
                    <a:bodyPr/>
                    <a:lstStyle/>
                    <a:p>
                      <a:endParaRPr lang="en-GB" sz="1400" dirty="0">
                        <a:latin typeface="Times New Roman" panose="02020603050405020304" pitchFamily="18" charset="0"/>
                        <a:cs typeface="Times New Roman" panose="02020603050405020304" pitchFamily="18" charset="0"/>
                      </a:endParaRPr>
                    </a:p>
                  </a:txBody>
                  <a:tcPr marL="93042" marR="93042" marT="46521" marB="46521">
                    <a:lnL w="12700" cap="flat" cmpd="sng" algn="ctr">
                      <a:solidFill>
                        <a:schemeClr val="tx1"/>
                      </a:solidFill>
                      <a:prstDash val="solid"/>
                      <a:round/>
                      <a:headEnd type="none" w="med" len="med"/>
                      <a:tailEnd type="none" w="med" len="med"/>
                    </a:lnL>
                    <a:solidFill>
                      <a:schemeClr val="accent2"/>
                    </a:solidFill>
                  </a:tcPr>
                </a:tc>
              </a:tr>
              <a:tr h="1075643">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12-month PDs</a:t>
                      </a:r>
                    </a:p>
                  </a:txBody>
                  <a:tcPr marL="93042" marR="93042" marT="46521" marB="46521"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If insufficient default history for a particular portfolio, use internal benchmarking similar risk portfolio/reduced level of segmentation</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Apply external ratings and external benchmarking</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Simpler alternatives available such as roll / transition rate method, or methods to use historical observed rates to estimate</a:t>
                      </a:r>
                    </a:p>
                  </a:txBody>
                  <a:tcPr marL="93042" marR="93042" marT="46521" marB="46521">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395698">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Lifetime PDs</a:t>
                      </a:r>
                    </a:p>
                  </a:txBody>
                  <a:tcPr marL="93042" marR="93042" marT="46521" marB="46521"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If using extrapolation approach, combine different risk segments if they are considered to have similar lifetime PD profiles </a:t>
                      </a:r>
                    </a:p>
                  </a:txBody>
                  <a:tcPr marL="93042" marR="93042" marT="46521" marB="4652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bl>
          </a:graphicData>
        </a:graphic>
      </p:graphicFrame>
      <p:graphicFrame>
        <p:nvGraphicFramePr>
          <p:cNvPr id="6" name="Table 5"/>
          <p:cNvGraphicFramePr>
            <a:graphicFrameLocks noGrp="1"/>
          </p:cNvGraphicFramePr>
          <p:nvPr>
            <p:extLst/>
          </p:nvPr>
        </p:nvGraphicFramePr>
        <p:xfrm>
          <a:off x="348869" y="3451788"/>
          <a:ext cx="9180542" cy="1528728"/>
        </p:xfrm>
        <a:graphic>
          <a:graphicData uri="http://schemas.openxmlformats.org/drawingml/2006/table">
            <a:tbl>
              <a:tblPr firstRow="1" bandRow="1">
                <a:tableStyleId>{5C22544A-7EE6-4342-B048-85BDC9FD1C3A}</a:tableStyleId>
              </a:tblPr>
              <a:tblGrid>
                <a:gridCol w="2127279"/>
                <a:gridCol w="7053263"/>
              </a:tblGrid>
              <a:tr h="128254">
                <a:tc gridSpan="2">
                  <a:txBody>
                    <a:bodyPr/>
                    <a:lstStyle/>
                    <a:p>
                      <a:r>
                        <a:rPr lang="en-IN" sz="1400" dirty="0" smtClean="0">
                          <a:latin typeface="Times New Roman" panose="02020603050405020304" pitchFamily="18" charset="0"/>
                          <a:cs typeface="Times New Roman" panose="02020603050405020304" pitchFamily="18" charset="0"/>
                        </a:rPr>
                        <a:t>What is not compliant*</a:t>
                      </a:r>
                    </a:p>
                  </a:txBody>
                  <a:tcPr marL="93042" marR="93042" marT="46521" marB="46521">
                    <a:solidFill>
                      <a:schemeClr val="accent2"/>
                    </a:solidFill>
                  </a:tcPr>
                </a:tc>
                <a:tc hMerge="1">
                  <a:txBody>
                    <a:bodyPr/>
                    <a:lstStyle/>
                    <a:p>
                      <a:endParaRPr lang="en-GB" sz="1400" dirty="0">
                        <a:latin typeface="Times New Roman" panose="02020603050405020304" pitchFamily="18" charset="0"/>
                        <a:cs typeface="Times New Roman" panose="02020603050405020304" pitchFamily="18" charset="0"/>
                      </a:endParaRPr>
                    </a:p>
                  </a:txBody>
                  <a:tcPr marL="93042" marR="93042" marT="46521" marB="46521">
                    <a:lnL w="12700" cap="flat" cmpd="sng" algn="ctr">
                      <a:solidFill>
                        <a:schemeClr val="tx1"/>
                      </a:solidFill>
                      <a:prstDash val="solid"/>
                      <a:round/>
                      <a:headEnd type="none" w="med" len="med"/>
                      <a:tailEnd type="none" w="med" len="med"/>
                    </a:lnL>
                    <a:solidFill>
                      <a:schemeClr val="accent2"/>
                    </a:solidFill>
                  </a:tcPr>
                </a:tc>
              </a:tr>
              <a:tr h="648710">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12-month PDs</a:t>
                      </a:r>
                    </a:p>
                  </a:txBody>
                  <a:tcPr marL="93042" marR="93042" marT="46521" marB="46521"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rowSpan="2">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Leveraging existing models</a:t>
                      </a:r>
                      <a:r>
                        <a:rPr lang="en-IN" sz="1300" kern="1200" dirty="0" smtClean="0">
                          <a:solidFill>
                            <a:schemeClr val="tx1"/>
                          </a:solidFill>
                          <a:latin typeface="Times New Roman" pitchFamily="18" charset="0"/>
                          <a:ea typeface="+mn-ea"/>
                          <a:cs typeface="Times New Roman" pitchFamily="18" charset="0"/>
                        </a:rPr>
                        <a:t> without, based on reasonable and supportable information, </a:t>
                      </a:r>
                      <a:r>
                        <a:rPr lang="en-IN" sz="1300" b="1" u="sng" kern="1200" dirty="0" smtClean="0">
                          <a:solidFill>
                            <a:schemeClr val="tx1"/>
                          </a:solidFill>
                          <a:latin typeface="Times New Roman" pitchFamily="18" charset="0"/>
                          <a:ea typeface="+mn-ea"/>
                          <a:cs typeface="Times New Roman" pitchFamily="18" charset="0"/>
                        </a:rPr>
                        <a:t>validating models </a:t>
                      </a:r>
                      <a:r>
                        <a:rPr lang="en-IN" sz="1300" kern="1200" dirty="0" smtClean="0">
                          <a:solidFill>
                            <a:schemeClr val="tx1"/>
                          </a:solidFill>
                          <a:latin typeface="Times New Roman" pitchFamily="18" charset="0"/>
                          <a:ea typeface="+mn-ea"/>
                          <a:cs typeface="Times New Roman" pitchFamily="18" charset="0"/>
                        </a:rPr>
                        <a:t>are fit for purpose under IFRS 9</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Assume a </a:t>
                      </a:r>
                      <a:r>
                        <a:rPr lang="en-IN" sz="1300" b="1" u="sng" kern="1200" dirty="0" smtClean="0">
                          <a:solidFill>
                            <a:schemeClr val="tx1"/>
                          </a:solidFill>
                          <a:latin typeface="Times New Roman" pitchFamily="18" charset="0"/>
                          <a:ea typeface="+mn-ea"/>
                          <a:cs typeface="Times New Roman" pitchFamily="18" charset="0"/>
                        </a:rPr>
                        <a:t>constant marginal rate of default </a:t>
                      </a:r>
                      <a:r>
                        <a:rPr lang="en-IN" sz="1300" kern="1200" dirty="0" smtClean="0">
                          <a:solidFill>
                            <a:schemeClr val="tx1"/>
                          </a:solidFill>
                          <a:latin typeface="Times New Roman" pitchFamily="18" charset="0"/>
                          <a:ea typeface="+mn-ea"/>
                          <a:cs typeface="Times New Roman" pitchFamily="18" charset="0"/>
                        </a:rPr>
                        <a:t>over remaining lifetime without appropriate supporting analysis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Grouping </a:t>
                      </a:r>
                      <a:r>
                        <a:rPr lang="en-IN" sz="1300" kern="1200" dirty="0" smtClean="0">
                          <a:solidFill>
                            <a:schemeClr val="tx1"/>
                          </a:solidFill>
                          <a:latin typeface="Times New Roman" pitchFamily="18" charset="0"/>
                          <a:ea typeface="+mn-ea"/>
                          <a:cs typeface="Times New Roman" pitchFamily="18" charset="0"/>
                        </a:rPr>
                        <a:t>together exposures that are not sufficiently similar</a:t>
                      </a:r>
                    </a:p>
                  </a:txBody>
                  <a:tcPr marL="93042" marR="93042" marT="46521" marB="46521">
                    <a:lnL w="12700" cap="flat" cmpd="sng" algn="ctr">
                      <a:solidFill>
                        <a:schemeClr val="tx1"/>
                      </a:solidFill>
                      <a:prstDash val="solid"/>
                      <a:round/>
                      <a:headEnd type="none" w="med" len="med"/>
                      <a:tailEnd type="none" w="med" len="med"/>
                    </a:lnL>
                    <a:solidFill>
                      <a:schemeClr val="bg1"/>
                    </a:solidFill>
                  </a:tcPr>
                </a:tc>
              </a:tr>
              <a:tr h="188218">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Lifetime PDs</a:t>
                      </a:r>
                    </a:p>
                  </a:txBody>
                  <a:tcPr marL="93042" marR="93042" marT="46521" marB="46521"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vMerge="1">
                  <a:txBody>
                    <a:bodyPr/>
                    <a:lstStyle/>
                    <a:p>
                      <a:pPr marL="0" marR="0" lvl="0" indent="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endParaRPr lang="en-IN" sz="1300" b="0" u="none" kern="1200" dirty="0" smtClean="0">
                        <a:solidFill>
                          <a:schemeClr val="tx1"/>
                        </a:solidFill>
                        <a:latin typeface="Times New Roman" pitchFamily="18" charset="0"/>
                        <a:ea typeface="+mn-ea"/>
                        <a:cs typeface="Times New Roman" pitchFamily="18" charset="0"/>
                      </a:endParaRPr>
                    </a:p>
                  </a:txBody>
                  <a:tcPr marL="93042" marR="93042" marT="46521" marB="4652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bl>
          </a:graphicData>
        </a:graphic>
      </p:graphicFrame>
      <p:sp>
        <p:nvSpPr>
          <p:cNvPr id="7" name="TextBox 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2946230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87338" y="959369"/>
            <a:ext cx="9385817" cy="5340729"/>
            <a:chOff x="626681" y="900871"/>
            <a:chExt cx="9670033" cy="5665971"/>
          </a:xfrm>
        </p:grpSpPr>
        <p:grpSp>
          <p:nvGrpSpPr>
            <p:cNvPr id="20" name="Group 19"/>
            <p:cNvGrpSpPr/>
            <p:nvPr/>
          </p:nvGrpSpPr>
          <p:grpSpPr>
            <a:xfrm>
              <a:off x="626681" y="900989"/>
              <a:ext cx="9670033" cy="5665853"/>
              <a:chOff x="626681" y="1008323"/>
              <a:chExt cx="9670033" cy="5665853"/>
            </a:xfrm>
          </p:grpSpPr>
          <p:sp>
            <p:nvSpPr>
              <p:cNvPr id="25" name="Rectangle 14"/>
              <p:cNvSpPr>
                <a:spLocks noChangeArrowheads="1"/>
              </p:cNvSpPr>
              <p:nvPr/>
            </p:nvSpPr>
            <p:spPr bwMode="gray">
              <a:xfrm>
                <a:off x="5152730" y="1008325"/>
                <a:ext cx="5143984" cy="5652473"/>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72855"/>
                  <a:gd name="connsiteY0" fmla="*/ 0 h 3660533"/>
                  <a:gd name="connsiteX1" fmla="*/ 5161441 w 5172855"/>
                  <a:gd name="connsiteY1" fmla="*/ 0 h 3660533"/>
                  <a:gd name="connsiteX2" fmla="*/ 5172549 w 5172855"/>
                  <a:gd name="connsiteY2" fmla="*/ 489657 h 3660533"/>
                  <a:gd name="connsiteX3" fmla="*/ 5161441 w 5172855"/>
                  <a:gd name="connsiteY3" fmla="*/ 3660533 h 3660533"/>
                  <a:gd name="connsiteX4" fmla="*/ 0 w 5172855"/>
                  <a:gd name="connsiteY4" fmla="*/ 3660533 h 3660533"/>
                  <a:gd name="connsiteX5" fmla="*/ 593766 w 5172855"/>
                  <a:gd name="connsiteY5" fmla="*/ 0 h 3660533"/>
                  <a:gd name="connsiteX0" fmla="*/ 593766 w 5163537"/>
                  <a:gd name="connsiteY0" fmla="*/ 0 h 3660533"/>
                  <a:gd name="connsiteX1" fmla="*/ 5161441 w 5163537"/>
                  <a:gd name="connsiteY1" fmla="*/ 0 h 3660533"/>
                  <a:gd name="connsiteX2" fmla="*/ 5162883 w 5163537"/>
                  <a:gd name="connsiteY2" fmla="*/ 502617 h 3660533"/>
                  <a:gd name="connsiteX3" fmla="*/ 5161441 w 5163537"/>
                  <a:gd name="connsiteY3" fmla="*/ 3660533 h 3660533"/>
                  <a:gd name="connsiteX4" fmla="*/ 0 w 5163537"/>
                  <a:gd name="connsiteY4" fmla="*/ 3660533 h 3660533"/>
                  <a:gd name="connsiteX5" fmla="*/ 593766 w 5163537"/>
                  <a:gd name="connsiteY5" fmla="*/ 0 h 3660533"/>
                  <a:gd name="connsiteX0" fmla="*/ 593766 w 5499312"/>
                  <a:gd name="connsiteY0" fmla="*/ 0 h 3660533"/>
                  <a:gd name="connsiteX1" fmla="*/ 5161441 w 5499312"/>
                  <a:gd name="connsiteY1" fmla="*/ 0 h 3660533"/>
                  <a:gd name="connsiteX2" fmla="*/ 5160175 w 5499312"/>
                  <a:gd name="connsiteY2" fmla="*/ 350657 h 3660533"/>
                  <a:gd name="connsiteX3" fmla="*/ 5162883 w 5499312"/>
                  <a:gd name="connsiteY3" fmla="*/ 502617 h 3660533"/>
                  <a:gd name="connsiteX4" fmla="*/ 5161441 w 5499312"/>
                  <a:gd name="connsiteY4" fmla="*/ 3660533 h 3660533"/>
                  <a:gd name="connsiteX5" fmla="*/ 0 w 5499312"/>
                  <a:gd name="connsiteY5" fmla="*/ 3660533 h 3660533"/>
                  <a:gd name="connsiteX6" fmla="*/ 593766 w 5499312"/>
                  <a:gd name="connsiteY6"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1441 w 5162883"/>
                  <a:gd name="connsiteY4" fmla="*/ 3660533 h 3660533"/>
                  <a:gd name="connsiteX5" fmla="*/ 0 w 5162883"/>
                  <a:gd name="connsiteY5" fmla="*/ 3660533 h 3660533"/>
                  <a:gd name="connsiteX6" fmla="*/ 593766 w 5162883"/>
                  <a:gd name="connsiteY6" fmla="*/ 0 h 3660533"/>
                  <a:gd name="connsiteX0" fmla="*/ 593766 w 5543294"/>
                  <a:gd name="connsiteY0" fmla="*/ 0 h 3660533"/>
                  <a:gd name="connsiteX1" fmla="*/ 5161441 w 5543294"/>
                  <a:gd name="connsiteY1" fmla="*/ 0 h 3660533"/>
                  <a:gd name="connsiteX2" fmla="*/ 5160175 w 5543294"/>
                  <a:gd name="connsiteY2" fmla="*/ 350657 h 3660533"/>
                  <a:gd name="connsiteX3" fmla="*/ 5162883 w 5543294"/>
                  <a:gd name="connsiteY3" fmla="*/ 502617 h 3660533"/>
                  <a:gd name="connsiteX4" fmla="*/ 5160174 w 5543294"/>
                  <a:gd name="connsiteY4" fmla="*/ 752490 h 3660533"/>
                  <a:gd name="connsiteX5" fmla="*/ 5161441 w 5543294"/>
                  <a:gd name="connsiteY5" fmla="*/ 3660533 h 3660533"/>
                  <a:gd name="connsiteX6" fmla="*/ 0 w 5543294"/>
                  <a:gd name="connsiteY6" fmla="*/ 3660533 h 3660533"/>
                  <a:gd name="connsiteX7" fmla="*/ 593766 w 5543294"/>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0174 w 5162883"/>
                  <a:gd name="connsiteY4" fmla="*/ 752490 h 3660533"/>
                  <a:gd name="connsiteX5" fmla="*/ 5161441 w 5162883"/>
                  <a:gd name="connsiteY5" fmla="*/ 3660533 h 3660533"/>
                  <a:gd name="connsiteX6" fmla="*/ 0 w 5162883"/>
                  <a:gd name="connsiteY6" fmla="*/ 3660533 h 3660533"/>
                  <a:gd name="connsiteX7" fmla="*/ 593766 w 5162883"/>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56560 w 5162883"/>
                  <a:gd name="connsiteY4" fmla="*/ 708688 h 3660533"/>
                  <a:gd name="connsiteX5" fmla="*/ 5160174 w 5162883"/>
                  <a:gd name="connsiteY5" fmla="*/ 752490 h 3660533"/>
                  <a:gd name="connsiteX6" fmla="*/ 5161441 w 5162883"/>
                  <a:gd name="connsiteY6" fmla="*/ 3660533 h 3660533"/>
                  <a:gd name="connsiteX7" fmla="*/ 0 w 5162883"/>
                  <a:gd name="connsiteY7" fmla="*/ 3660533 h 3660533"/>
                  <a:gd name="connsiteX8" fmla="*/ 593766 w 5162883"/>
                  <a:gd name="connsiteY8"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5156560 w 5163046"/>
                  <a:gd name="connsiteY5" fmla="*/ 708688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646320 w 5163046"/>
                  <a:gd name="connsiteY5" fmla="*/ 757335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272982"/>
                  <a:gd name="connsiteY0" fmla="*/ 0 h 3660533"/>
                  <a:gd name="connsiteX1" fmla="*/ 5161441 w 5272982"/>
                  <a:gd name="connsiteY1" fmla="*/ 0 h 3660533"/>
                  <a:gd name="connsiteX2" fmla="*/ 5160175 w 5272982"/>
                  <a:gd name="connsiteY2" fmla="*/ 350657 h 3660533"/>
                  <a:gd name="connsiteX3" fmla="*/ 5161096 w 5272982"/>
                  <a:gd name="connsiteY3" fmla="*/ 392488 h 3660533"/>
                  <a:gd name="connsiteX4" fmla="*/ 3646320 w 5272982"/>
                  <a:gd name="connsiteY4" fmla="*/ 757335 h 3660533"/>
                  <a:gd name="connsiteX5" fmla="*/ 5160174 w 5272982"/>
                  <a:gd name="connsiteY5" fmla="*/ 752490 h 3660533"/>
                  <a:gd name="connsiteX6" fmla="*/ 5161441 w 5272982"/>
                  <a:gd name="connsiteY6" fmla="*/ 3660533 h 3660533"/>
                  <a:gd name="connsiteX7" fmla="*/ 0 w 5272982"/>
                  <a:gd name="connsiteY7" fmla="*/ 3660533 h 3660533"/>
                  <a:gd name="connsiteX8" fmla="*/ 593766 w 5272982"/>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1096 w 5161441"/>
                  <a:gd name="connsiteY3" fmla="*/ 392488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542933"/>
                  <a:gd name="connsiteY0" fmla="*/ 0 h 3660533"/>
                  <a:gd name="connsiteX1" fmla="*/ 5161441 w 5542933"/>
                  <a:gd name="connsiteY1" fmla="*/ 0 h 3660533"/>
                  <a:gd name="connsiteX2" fmla="*/ 5160175 w 5542933"/>
                  <a:gd name="connsiteY2" fmla="*/ 350657 h 3660533"/>
                  <a:gd name="connsiteX3" fmla="*/ 3841338 w 5542933"/>
                  <a:gd name="connsiteY3" fmla="*/ 349922 h 3660533"/>
                  <a:gd name="connsiteX4" fmla="*/ 3646321 w 5542933"/>
                  <a:gd name="connsiteY4" fmla="*/ 753169 h 3660533"/>
                  <a:gd name="connsiteX5" fmla="*/ 5160174 w 5542933"/>
                  <a:gd name="connsiteY5" fmla="*/ 752490 h 3660533"/>
                  <a:gd name="connsiteX6" fmla="*/ 5158786 w 5542933"/>
                  <a:gd name="connsiteY6" fmla="*/ 2442821 h 3660533"/>
                  <a:gd name="connsiteX7" fmla="*/ 5161441 w 5542933"/>
                  <a:gd name="connsiteY7" fmla="*/ 3660533 h 3660533"/>
                  <a:gd name="connsiteX8" fmla="*/ 0 w 5542933"/>
                  <a:gd name="connsiteY8" fmla="*/ 3660533 h 3660533"/>
                  <a:gd name="connsiteX9" fmla="*/ 593766 w 5542933"/>
                  <a:gd name="connsiteY9" fmla="*/ 0 h 3660533"/>
                  <a:gd name="connsiteX0" fmla="*/ 593766 w 5271802"/>
                  <a:gd name="connsiteY0" fmla="*/ 0 h 3660533"/>
                  <a:gd name="connsiteX1" fmla="*/ 5161441 w 5271802"/>
                  <a:gd name="connsiteY1" fmla="*/ 0 h 3660533"/>
                  <a:gd name="connsiteX2" fmla="*/ 5160175 w 5271802"/>
                  <a:gd name="connsiteY2" fmla="*/ 350657 h 3660533"/>
                  <a:gd name="connsiteX3" fmla="*/ 3841338 w 5271802"/>
                  <a:gd name="connsiteY3" fmla="*/ 349922 h 3660533"/>
                  <a:gd name="connsiteX4" fmla="*/ 3646321 w 5271802"/>
                  <a:gd name="connsiteY4" fmla="*/ 753169 h 3660533"/>
                  <a:gd name="connsiteX5" fmla="*/ 5160174 w 5271802"/>
                  <a:gd name="connsiteY5" fmla="*/ 752490 h 3660533"/>
                  <a:gd name="connsiteX6" fmla="*/ 5158786 w 5271802"/>
                  <a:gd name="connsiteY6" fmla="*/ 2442821 h 3660533"/>
                  <a:gd name="connsiteX7" fmla="*/ 5161441 w 5271802"/>
                  <a:gd name="connsiteY7" fmla="*/ 3660533 h 3660533"/>
                  <a:gd name="connsiteX8" fmla="*/ 0 w 5271802"/>
                  <a:gd name="connsiteY8" fmla="*/ 3660533 h 3660533"/>
                  <a:gd name="connsiteX9" fmla="*/ 593766 w 5271802"/>
                  <a:gd name="connsiteY9"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442821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271900"/>
                  <a:gd name="connsiteY0" fmla="*/ 0 h 3660533"/>
                  <a:gd name="connsiteX1" fmla="*/ 5161441 w 5271900"/>
                  <a:gd name="connsiteY1" fmla="*/ 0 h 3660533"/>
                  <a:gd name="connsiteX2" fmla="*/ 5160175 w 5271900"/>
                  <a:gd name="connsiteY2" fmla="*/ 350657 h 3660533"/>
                  <a:gd name="connsiteX3" fmla="*/ 3841338 w 5271900"/>
                  <a:gd name="connsiteY3" fmla="*/ 349922 h 3660533"/>
                  <a:gd name="connsiteX4" fmla="*/ 3646321 w 5271900"/>
                  <a:gd name="connsiteY4" fmla="*/ 753169 h 3660533"/>
                  <a:gd name="connsiteX5" fmla="*/ 5160174 w 5271900"/>
                  <a:gd name="connsiteY5" fmla="*/ 752490 h 3660533"/>
                  <a:gd name="connsiteX6" fmla="*/ 5158786 w 5271900"/>
                  <a:gd name="connsiteY6" fmla="*/ 2051706 h 3660533"/>
                  <a:gd name="connsiteX7" fmla="*/ 5158786 w 5271900"/>
                  <a:gd name="connsiteY7" fmla="*/ 2442821 h 3660533"/>
                  <a:gd name="connsiteX8" fmla="*/ 5161441 w 5271900"/>
                  <a:gd name="connsiteY8" fmla="*/ 3660533 h 3660533"/>
                  <a:gd name="connsiteX9" fmla="*/ 0 w 5271900"/>
                  <a:gd name="connsiteY9" fmla="*/ 3660533 h 3660533"/>
                  <a:gd name="connsiteX10" fmla="*/ 593766 w 5271900"/>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42821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09433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1441 w 5543394"/>
                  <a:gd name="connsiteY12" fmla="*/ 3660533 h 3660533"/>
                  <a:gd name="connsiteX13" fmla="*/ 0 w 5543394"/>
                  <a:gd name="connsiteY13" fmla="*/ 3660533 h 3660533"/>
                  <a:gd name="connsiteX14" fmla="*/ 593766 w 5543394"/>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0174 w 5543394"/>
                  <a:gd name="connsiteY12" fmla="*/ 3350307 h 3660533"/>
                  <a:gd name="connsiteX13" fmla="*/ 5161441 w 5543394"/>
                  <a:gd name="connsiteY13" fmla="*/ 3660533 h 3660533"/>
                  <a:gd name="connsiteX14" fmla="*/ 0 w 5543394"/>
                  <a:gd name="connsiteY14" fmla="*/ 3660533 h 3660533"/>
                  <a:gd name="connsiteX15" fmla="*/ 593766 w 5543394"/>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58848 w 5161441"/>
                  <a:gd name="connsiteY12" fmla="*/ 3323150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3586 w 5161441"/>
                  <a:gd name="connsiteY12" fmla="*/ 3345464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99656 w 5161441"/>
                  <a:gd name="connsiteY11" fmla="*/ 2965086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5160174 w 5161441"/>
                  <a:gd name="connsiteY4" fmla="*/ 752490 h 3660533"/>
                  <a:gd name="connsiteX5" fmla="*/ 5158786 w 5161441"/>
                  <a:gd name="connsiteY5" fmla="*/ 2051706 h 3660533"/>
                  <a:gd name="connsiteX6" fmla="*/ 3853222 w 5161441"/>
                  <a:gd name="connsiteY6" fmla="*/ 2049322 h 3660533"/>
                  <a:gd name="connsiteX7" fmla="*/ 3661124 w 5161441"/>
                  <a:gd name="connsiteY7" fmla="*/ 2440436 h 3660533"/>
                  <a:gd name="connsiteX8" fmla="*/ 5158786 w 5161441"/>
                  <a:gd name="connsiteY8" fmla="*/ 2442821 h 3660533"/>
                  <a:gd name="connsiteX9" fmla="*/ 5160174 w 5161441"/>
                  <a:gd name="connsiteY9" fmla="*/ 2966098 h 3660533"/>
                  <a:gd name="connsiteX10" fmla="*/ 3799656 w 5161441"/>
                  <a:gd name="connsiteY10" fmla="*/ 2965086 h 3660533"/>
                  <a:gd name="connsiteX11" fmla="*/ 3606943 w 5161441"/>
                  <a:gd name="connsiteY11" fmla="*/ 3351042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853222 w 5161441"/>
                  <a:gd name="connsiteY5" fmla="*/ 2049322 h 3660533"/>
                  <a:gd name="connsiteX6" fmla="*/ 3661124 w 5161441"/>
                  <a:gd name="connsiteY6" fmla="*/ 2440436 h 3660533"/>
                  <a:gd name="connsiteX7" fmla="*/ 5158786 w 5161441"/>
                  <a:gd name="connsiteY7" fmla="*/ 2442821 h 3660533"/>
                  <a:gd name="connsiteX8" fmla="*/ 5160174 w 5161441"/>
                  <a:gd name="connsiteY8" fmla="*/ 2966098 h 3660533"/>
                  <a:gd name="connsiteX9" fmla="*/ 3799656 w 5161441"/>
                  <a:gd name="connsiteY9" fmla="*/ 2965086 h 3660533"/>
                  <a:gd name="connsiteX10" fmla="*/ 3606943 w 5161441"/>
                  <a:gd name="connsiteY10" fmla="*/ 3351042 h 3660533"/>
                  <a:gd name="connsiteX11" fmla="*/ 5160174 w 5161441"/>
                  <a:gd name="connsiteY11" fmla="*/ 3350307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661124 w 5161441"/>
                  <a:gd name="connsiteY5" fmla="*/ 2440436 h 3660533"/>
                  <a:gd name="connsiteX6" fmla="*/ 5158786 w 5161441"/>
                  <a:gd name="connsiteY6" fmla="*/ 2442821 h 3660533"/>
                  <a:gd name="connsiteX7" fmla="*/ 5160174 w 5161441"/>
                  <a:gd name="connsiteY7" fmla="*/ 2966098 h 3660533"/>
                  <a:gd name="connsiteX8" fmla="*/ 3799656 w 5161441"/>
                  <a:gd name="connsiteY8" fmla="*/ 2965086 h 3660533"/>
                  <a:gd name="connsiteX9" fmla="*/ 3606943 w 5161441"/>
                  <a:gd name="connsiteY9" fmla="*/ 3351042 h 3660533"/>
                  <a:gd name="connsiteX10" fmla="*/ 5160174 w 5161441"/>
                  <a:gd name="connsiteY10" fmla="*/ 3350307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799656 w 5161441"/>
                  <a:gd name="connsiteY7" fmla="*/ 2965086 h 3660533"/>
                  <a:gd name="connsiteX8" fmla="*/ 3606943 w 5161441"/>
                  <a:gd name="connsiteY8" fmla="*/ 3351042 h 3660533"/>
                  <a:gd name="connsiteX9" fmla="*/ 5160174 w 5161441"/>
                  <a:gd name="connsiteY9" fmla="*/ 3350307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606943 w 5161441"/>
                  <a:gd name="connsiteY7" fmla="*/ 3351042 h 3660533"/>
                  <a:gd name="connsiteX8" fmla="*/ 5160174 w 5161441"/>
                  <a:gd name="connsiteY8" fmla="*/ 3350307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5160174 w 5161441"/>
                  <a:gd name="connsiteY7" fmla="*/ 3350307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lnTo>
                      <a:pt x="5160175" y="350657"/>
                    </a:lnTo>
                    <a:cubicBezTo>
                      <a:pt x="5160175" y="484601"/>
                      <a:pt x="5160174" y="618546"/>
                      <a:pt x="5160174" y="752490"/>
                    </a:cubicBezTo>
                    <a:cubicBezTo>
                      <a:pt x="5159711" y="1185562"/>
                      <a:pt x="5159249" y="1618634"/>
                      <a:pt x="5158786" y="2051706"/>
                    </a:cubicBezTo>
                    <a:lnTo>
                      <a:pt x="5158786" y="2442821"/>
                    </a:lnTo>
                    <a:cubicBezTo>
                      <a:pt x="5159249" y="2617247"/>
                      <a:pt x="5159711" y="2791672"/>
                      <a:pt x="5160174" y="2966098"/>
                    </a:cubicBezTo>
                    <a:lnTo>
                      <a:pt x="5160174" y="3350307"/>
                    </a:lnTo>
                    <a:cubicBezTo>
                      <a:pt x="5160596" y="3453716"/>
                      <a:pt x="5161019" y="3557124"/>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808080"/>
                  </a:solidFill>
                </a:endParaRPr>
              </a:p>
            </p:txBody>
          </p:sp>
          <p:sp>
            <p:nvSpPr>
              <p:cNvPr id="22" name="Rectangle 13"/>
              <p:cNvSpPr>
                <a:spLocks noChangeArrowheads="1"/>
              </p:cNvSpPr>
              <p:nvPr/>
            </p:nvSpPr>
            <p:spPr bwMode="gray">
              <a:xfrm>
                <a:off x="5729909" y="1008323"/>
                <a:ext cx="4562000" cy="387394"/>
              </a:xfrm>
              <a:custGeom>
                <a:avLst/>
                <a:gdLst>
                  <a:gd name="connsiteX0" fmla="*/ 0 w 4423658"/>
                  <a:gd name="connsiteY0" fmla="*/ 0 h 343492"/>
                  <a:gd name="connsiteX1" fmla="*/ 4423658 w 4423658"/>
                  <a:gd name="connsiteY1" fmla="*/ 0 h 343492"/>
                  <a:gd name="connsiteX2" fmla="*/ 4423658 w 4423658"/>
                  <a:gd name="connsiteY2" fmla="*/ 343492 h 343492"/>
                  <a:gd name="connsiteX3" fmla="*/ 0 w 4423658"/>
                  <a:gd name="connsiteY3" fmla="*/ 343492 h 343492"/>
                  <a:gd name="connsiteX4" fmla="*/ 0 w 4423658"/>
                  <a:gd name="connsiteY4" fmla="*/ 0 h 343492"/>
                  <a:gd name="connsiteX0" fmla="*/ 71252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71252 w 4423658"/>
                  <a:gd name="connsiteY4" fmla="*/ 11875 h 343492"/>
                  <a:gd name="connsiteX0" fmla="*/ 60681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60681 w 4423658"/>
                  <a:gd name="connsiteY4" fmla="*/ 11875 h 343492"/>
                  <a:gd name="connsiteX0" fmla="*/ 52695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52695 w 4423658"/>
                  <a:gd name="connsiteY4" fmla="*/ 11875 h 343492"/>
                  <a:gd name="connsiteX0" fmla="*/ 60682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60682 w 4423658"/>
                  <a:gd name="connsiteY4" fmla="*/ 4824 h 343492"/>
                  <a:gd name="connsiteX0" fmla="*/ 36724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36724 w 4423658"/>
                  <a:gd name="connsiteY4" fmla="*/ 4824 h 34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658" h="343492">
                    <a:moveTo>
                      <a:pt x="36724" y="4824"/>
                    </a:moveTo>
                    <a:lnTo>
                      <a:pt x="4423658" y="0"/>
                    </a:lnTo>
                    <a:lnTo>
                      <a:pt x="4423658" y="343492"/>
                    </a:lnTo>
                    <a:lnTo>
                      <a:pt x="0" y="343492"/>
                    </a:lnTo>
                    <a:lnTo>
                      <a:pt x="36724" y="4824"/>
                    </a:lnTo>
                    <a:close/>
                  </a:path>
                </a:pathLst>
              </a:cu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4834" tIns="44114" rIns="84834" bIns="44114" anchor="ctr"/>
              <a:lstStyle/>
              <a:p>
                <a:pPr algn="ctr" defTabSz="983096" eaLnBrk="0" hangingPunct="0">
                  <a:spcAft>
                    <a:spcPct val="0"/>
                  </a:spcAft>
                  <a:buClr>
                    <a:srgbClr val="999999"/>
                  </a:buClr>
                  <a:buSzPct val="75000"/>
                  <a:defRPr/>
                </a:pPr>
                <a:r>
                  <a:rPr lang="de-DE" sz="1319" b="1" kern="0" dirty="0"/>
                  <a:t>Commentary</a:t>
                </a:r>
              </a:p>
            </p:txBody>
          </p:sp>
          <p:sp>
            <p:nvSpPr>
              <p:cNvPr id="23" name="Rectangle 13"/>
              <p:cNvSpPr>
                <a:spLocks noChangeArrowheads="1"/>
              </p:cNvSpPr>
              <p:nvPr/>
            </p:nvSpPr>
            <p:spPr bwMode="gray">
              <a:xfrm>
                <a:off x="626681" y="1008323"/>
                <a:ext cx="4930872"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rgbClr val="808080"/>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endParaRPr lang="de-DE" sz="1319" b="1" kern="0" dirty="0">
                  <a:solidFill>
                    <a:srgbClr val="FFFFFF"/>
                  </a:solidFill>
                </a:endParaRPr>
              </a:p>
            </p:txBody>
          </p:sp>
          <p:sp>
            <p:nvSpPr>
              <p:cNvPr id="24" name="Rectangle 14"/>
              <p:cNvSpPr>
                <a:spLocks noChangeArrowheads="1"/>
              </p:cNvSpPr>
              <p:nvPr/>
            </p:nvSpPr>
            <p:spPr bwMode="gray">
              <a:xfrm rot="10800000">
                <a:off x="626681" y="1021708"/>
                <a:ext cx="4932000" cy="5652468"/>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61441"/>
                  <a:gd name="connsiteY0" fmla="*/ 0 h 3660533"/>
                  <a:gd name="connsiteX1" fmla="*/ 5161441 w 5161441"/>
                  <a:gd name="connsiteY1" fmla="*/ 0 h 3660533"/>
                  <a:gd name="connsiteX2" fmla="*/ 5158253 w 5161441"/>
                  <a:gd name="connsiteY2" fmla="*/ 3307335 h 3660533"/>
                  <a:gd name="connsiteX3" fmla="*/ 5161441 w 5161441"/>
                  <a:gd name="connsiteY3" fmla="*/ 3660533 h 3660533"/>
                  <a:gd name="connsiteX4" fmla="*/ 0 w 5161441"/>
                  <a:gd name="connsiteY4" fmla="*/ 3660533 h 3660533"/>
                  <a:gd name="connsiteX5" fmla="*/ 593766 w 5161441"/>
                  <a:gd name="connsiteY5" fmla="*/ 0 h 3660533"/>
                  <a:gd name="connsiteX0" fmla="*/ 593766 w 5498844"/>
                  <a:gd name="connsiteY0" fmla="*/ 0 h 3660533"/>
                  <a:gd name="connsiteX1" fmla="*/ 5161441 w 5498844"/>
                  <a:gd name="connsiteY1" fmla="*/ 0 h 3660533"/>
                  <a:gd name="connsiteX2" fmla="*/ 5158253 w 5498844"/>
                  <a:gd name="connsiteY2" fmla="*/ 2920268 h 3660533"/>
                  <a:gd name="connsiteX3" fmla="*/ 5158253 w 5498844"/>
                  <a:gd name="connsiteY3" fmla="*/ 3307335 h 3660533"/>
                  <a:gd name="connsiteX4" fmla="*/ 5161441 w 5498844"/>
                  <a:gd name="connsiteY4" fmla="*/ 3660533 h 3660533"/>
                  <a:gd name="connsiteX5" fmla="*/ 0 w 5498844"/>
                  <a:gd name="connsiteY5" fmla="*/ 3660533 h 3660533"/>
                  <a:gd name="connsiteX6" fmla="*/ 593766 w 5498844"/>
                  <a:gd name="connsiteY6"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5158253 w 5161441"/>
                  <a:gd name="connsiteY3" fmla="*/ 3307335 h 3660533"/>
                  <a:gd name="connsiteX4" fmla="*/ 5161441 w 5161441"/>
                  <a:gd name="connsiteY4" fmla="*/ 3660533 h 3660533"/>
                  <a:gd name="connsiteX5" fmla="*/ 0 w 5161441"/>
                  <a:gd name="connsiteY5" fmla="*/ 3660533 h 3660533"/>
                  <a:gd name="connsiteX6" fmla="*/ 593766 w 5161441"/>
                  <a:gd name="connsiteY6"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223470 h 3660533"/>
                  <a:gd name="connsiteX4" fmla="*/ 5158253 w 5167281"/>
                  <a:gd name="connsiteY4" fmla="*/ 3307335 h 3660533"/>
                  <a:gd name="connsiteX5" fmla="*/ 5161441 w 5167281"/>
                  <a:gd name="connsiteY5" fmla="*/ 3660533 h 3660533"/>
                  <a:gd name="connsiteX6" fmla="*/ 0 w 5167281"/>
                  <a:gd name="connsiteY6" fmla="*/ 3660533 h 3660533"/>
                  <a:gd name="connsiteX7" fmla="*/ 593766 w 5167281"/>
                  <a:gd name="connsiteY7"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004132 h 3660533"/>
                  <a:gd name="connsiteX4" fmla="*/ 5167281 w 5167281"/>
                  <a:gd name="connsiteY4" fmla="*/ 3223470 h 3660533"/>
                  <a:gd name="connsiteX5" fmla="*/ 5158253 w 5167281"/>
                  <a:gd name="connsiteY5" fmla="*/ 3307335 h 3660533"/>
                  <a:gd name="connsiteX6" fmla="*/ 5161441 w 5167281"/>
                  <a:gd name="connsiteY6" fmla="*/ 3660533 h 3660533"/>
                  <a:gd name="connsiteX7" fmla="*/ 0 w 5167281"/>
                  <a:gd name="connsiteY7" fmla="*/ 3660533 h 3660533"/>
                  <a:gd name="connsiteX8" fmla="*/ 593766 w 5167281"/>
                  <a:gd name="connsiteY8" fmla="*/ 0 h 3660533"/>
                  <a:gd name="connsiteX0" fmla="*/ 593766 w 5167282"/>
                  <a:gd name="connsiteY0" fmla="*/ 0 h 3660533"/>
                  <a:gd name="connsiteX1" fmla="*/ 5161441 w 5167282"/>
                  <a:gd name="connsiteY1" fmla="*/ 0 h 3660533"/>
                  <a:gd name="connsiteX2" fmla="*/ 5158253 w 5167282"/>
                  <a:gd name="connsiteY2" fmla="*/ 2920268 h 3660533"/>
                  <a:gd name="connsiteX3" fmla="*/ 5167281 w 5167282"/>
                  <a:gd name="connsiteY3" fmla="*/ 3004132 h 3660533"/>
                  <a:gd name="connsiteX4" fmla="*/ 3786039 w 5167282"/>
                  <a:gd name="connsiteY4" fmla="*/ 3262177 h 3660533"/>
                  <a:gd name="connsiteX5" fmla="*/ 5158253 w 5167282"/>
                  <a:gd name="connsiteY5" fmla="*/ 3307335 h 3660533"/>
                  <a:gd name="connsiteX6" fmla="*/ 5161441 w 5167282"/>
                  <a:gd name="connsiteY6" fmla="*/ 3660533 h 3660533"/>
                  <a:gd name="connsiteX7" fmla="*/ 0 w 5167282"/>
                  <a:gd name="connsiteY7" fmla="*/ 3660533 h 3660533"/>
                  <a:gd name="connsiteX8" fmla="*/ 593766 w 5167282"/>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4093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499313"/>
                  <a:gd name="connsiteY0" fmla="*/ 0 h 3660533"/>
                  <a:gd name="connsiteX1" fmla="*/ 5161441 w 5499313"/>
                  <a:gd name="connsiteY1" fmla="*/ 0 h 3660533"/>
                  <a:gd name="connsiteX2" fmla="*/ 5159665 w 5499313"/>
                  <a:gd name="connsiteY2" fmla="*/ 1892248 h 3660533"/>
                  <a:gd name="connsiteX3" fmla="*/ 5158253 w 5499313"/>
                  <a:gd name="connsiteY3" fmla="*/ 2904063 h 3660533"/>
                  <a:gd name="connsiteX4" fmla="*/ 3876230 w 5499313"/>
                  <a:gd name="connsiteY4" fmla="*/ 2904093 h 3660533"/>
                  <a:gd name="connsiteX5" fmla="*/ 3695634 w 5499313"/>
                  <a:gd name="connsiteY5" fmla="*/ 3307365 h 3660533"/>
                  <a:gd name="connsiteX6" fmla="*/ 5158253 w 5499313"/>
                  <a:gd name="connsiteY6" fmla="*/ 3307335 h 3660533"/>
                  <a:gd name="connsiteX7" fmla="*/ 5161441 w 5499313"/>
                  <a:gd name="connsiteY7" fmla="*/ 3660533 h 3660533"/>
                  <a:gd name="connsiteX8" fmla="*/ 0 w 5499313"/>
                  <a:gd name="connsiteY8" fmla="*/ 3660533 h 3660533"/>
                  <a:gd name="connsiteX9" fmla="*/ 593766 w 5499313"/>
                  <a:gd name="connsiteY9" fmla="*/ 0 h 3660533"/>
                  <a:gd name="connsiteX0" fmla="*/ 593766 w 5253571"/>
                  <a:gd name="connsiteY0" fmla="*/ 0 h 3660533"/>
                  <a:gd name="connsiteX1" fmla="*/ 5161441 w 5253571"/>
                  <a:gd name="connsiteY1" fmla="*/ 0 h 3660533"/>
                  <a:gd name="connsiteX2" fmla="*/ 5159665 w 5253571"/>
                  <a:gd name="connsiteY2" fmla="*/ 1892248 h 3660533"/>
                  <a:gd name="connsiteX3" fmla="*/ 5158253 w 5253571"/>
                  <a:gd name="connsiteY3" fmla="*/ 2904063 h 3660533"/>
                  <a:gd name="connsiteX4" fmla="*/ 3876230 w 5253571"/>
                  <a:gd name="connsiteY4" fmla="*/ 2904093 h 3660533"/>
                  <a:gd name="connsiteX5" fmla="*/ 3695634 w 5253571"/>
                  <a:gd name="connsiteY5" fmla="*/ 3307365 h 3660533"/>
                  <a:gd name="connsiteX6" fmla="*/ 5158253 w 5253571"/>
                  <a:gd name="connsiteY6" fmla="*/ 3307335 h 3660533"/>
                  <a:gd name="connsiteX7" fmla="*/ 5161441 w 5253571"/>
                  <a:gd name="connsiteY7" fmla="*/ 3660533 h 3660533"/>
                  <a:gd name="connsiteX8" fmla="*/ 0 w 5253571"/>
                  <a:gd name="connsiteY8" fmla="*/ 3660533 h 3660533"/>
                  <a:gd name="connsiteX9" fmla="*/ 593766 w 5253571"/>
                  <a:gd name="connsiteY9" fmla="*/ 0 h 3660533"/>
                  <a:gd name="connsiteX0" fmla="*/ 593766 w 5161441"/>
                  <a:gd name="connsiteY0" fmla="*/ 0 h 3660533"/>
                  <a:gd name="connsiteX1" fmla="*/ 5161441 w 5161441"/>
                  <a:gd name="connsiteY1" fmla="*/ 0 h 3660533"/>
                  <a:gd name="connsiteX2" fmla="*/ 5159665 w 5161441"/>
                  <a:gd name="connsiteY2" fmla="*/ 1892248 h 3660533"/>
                  <a:gd name="connsiteX3" fmla="*/ 5158253 w 5161441"/>
                  <a:gd name="connsiteY3" fmla="*/ 2904063 h 3660533"/>
                  <a:gd name="connsiteX4" fmla="*/ 3876230 w 5161441"/>
                  <a:gd name="connsiteY4" fmla="*/ 2904093 h 3660533"/>
                  <a:gd name="connsiteX5" fmla="*/ 3695634 w 5161441"/>
                  <a:gd name="connsiteY5" fmla="*/ 3307365 h 3660533"/>
                  <a:gd name="connsiteX6" fmla="*/ 5158253 w 5161441"/>
                  <a:gd name="connsiteY6" fmla="*/ 3307335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892248 h 3660533"/>
                  <a:gd name="connsiteX4" fmla="*/ 5158253 w 5161441"/>
                  <a:gd name="connsiteY4" fmla="*/ 2904063 h 3660533"/>
                  <a:gd name="connsiteX5" fmla="*/ 3876230 w 5161441"/>
                  <a:gd name="connsiteY5" fmla="*/ 2904093 h 3660533"/>
                  <a:gd name="connsiteX6" fmla="*/ 3695634 w 5161441"/>
                  <a:gd name="connsiteY6" fmla="*/ 3307365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92248 h 3660533"/>
                  <a:gd name="connsiteX5" fmla="*/ 5158253 w 5161441"/>
                  <a:gd name="connsiteY5" fmla="*/ 2904063 h 3660533"/>
                  <a:gd name="connsiteX6" fmla="*/ 3876230 w 5161441"/>
                  <a:gd name="connsiteY6" fmla="*/ 2904093 h 3660533"/>
                  <a:gd name="connsiteX7" fmla="*/ 3695634 w 5161441"/>
                  <a:gd name="connsiteY7" fmla="*/ 3307365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5011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4 w 5161441"/>
                  <a:gd name="connsiteY4" fmla="*/ 1889524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5 w 5161441"/>
                  <a:gd name="connsiteY4" fmla="*/ 1893281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1324155 h 3660533"/>
                  <a:gd name="connsiteX3" fmla="*/ 5159665 w 5161441"/>
                  <a:gd name="connsiteY3" fmla="*/ 1480661 h 3660533"/>
                  <a:gd name="connsiteX4" fmla="*/ 3876188 w 5161441"/>
                  <a:gd name="connsiteY4" fmla="*/ 1480661 h 3660533"/>
                  <a:gd name="connsiteX5" fmla="*/ 3702405 w 5161441"/>
                  <a:gd name="connsiteY5" fmla="*/ 1893281 h 3660533"/>
                  <a:gd name="connsiteX6" fmla="*/ 5159665 w 5161441"/>
                  <a:gd name="connsiteY6" fmla="*/ 1892248 h 3660533"/>
                  <a:gd name="connsiteX7" fmla="*/ 5158253 w 5161441"/>
                  <a:gd name="connsiteY7" fmla="*/ 2904063 h 3660533"/>
                  <a:gd name="connsiteX8" fmla="*/ 3876230 w 5161441"/>
                  <a:gd name="connsiteY8" fmla="*/ 2904093 h 3660533"/>
                  <a:gd name="connsiteX9" fmla="*/ 3695634 w 5161441"/>
                  <a:gd name="connsiteY9" fmla="*/ 3307365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499177"/>
                  <a:gd name="connsiteY0" fmla="*/ 0 h 3660533"/>
                  <a:gd name="connsiteX1" fmla="*/ 5161441 w 5499177"/>
                  <a:gd name="connsiteY1" fmla="*/ 0 h 3660533"/>
                  <a:gd name="connsiteX2" fmla="*/ 5159381 w 5499177"/>
                  <a:gd name="connsiteY2" fmla="*/ 907453 h 3660533"/>
                  <a:gd name="connsiteX3" fmla="*/ 5159381 w 5499177"/>
                  <a:gd name="connsiteY3" fmla="*/ 1324155 h 3660533"/>
                  <a:gd name="connsiteX4" fmla="*/ 5159665 w 5499177"/>
                  <a:gd name="connsiteY4" fmla="*/ 1480661 h 3660533"/>
                  <a:gd name="connsiteX5" fmla="*/ 3876188 w 5499177"/>
                  <a:gd name="connsiteY5" fmla="*/ 1480661 h 3660533"/>
                  <a:gd name="connsiteX6" fmla="*/ 3702405 w 5499177"/>
                  <a:gd name="connsiteY6" fmla="*/ 1893281 h 3660533"/>
                  <a:gd name="connsiteX7" fmla="*/ 5159665 w 5499177"/>
                  <a:gd name="connsiteY7" fmla="*/ 1892248 h 3660533"/>
                  <a:gd name="connsiteX8" fmla="*/ 5158253 w 5499177"/>
                  <a:gd name="connsiteY8" fmla="*/ 2904063 h 3660533"/>
                  <a:gd name="connsiteX9" fmla="*/ 3876230 w 5499177"/>
                  <a:gd name="connsiteY9" fmla="*/ 2904093 h 3660533"/>
                  <a:gd name="connsiteX10" fmla="*/ 3695634 w 5499177"/>
                  <a:gd name="connsiteY10" fmla="*/ 3307365 h 3660533"/>
                  <a:gd name="connsiteX11" fmla="*/ 5158253 w 5499177"/>
                  <a:gd name="connsiteY11" fmla="*/ 3307335 h 3660533"/>
                  <a:gd name="connsiteX12" fmla="*/ 5161441 w 5499177"/>
                  <a:gd name="connsiteY12" fmla="*/ 3660533 h 3660533"/>
                  <a:gd name="connsiteX13" fmla="*/ 0 w 5499177"/>
                  <a:gd name="connsiteY13" fmla="*/ 3660533 h 3660533"/>
                  <a:gd name="connsiteX14" fmla="*/ 593766 w 5499177"/>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281417 h 3660533"/>
                  <a:gd name="connsiteX4" fmla="*/ 5159381 w 5161441"/>
                  <a:gd name="connsiteY4" fmla="*/ 1324155 h 3660533"/>
                  <a:gd name="connsiteX5" fmla="*/ 5159665 w 5161441"/>
                  <a:gd name="connsiteY5" fmla="*/ 1480661 h 3660533"/>
                  <a:gd name="connsiteX6" fmla="*/ 3876188 w 5161441"/>
                  <a:gd name="connsiteY6" fmla="*/ 1480661 h 3660533"/>
                  <a:gd name="connsiteX7" fmla="*/ 3702405 w 5161441"/>
                  <a:gd name="connsiteY7" fmla="*/ 1893281 h 3660533"/>
                  <a:gd name="connsiteX8" fmla="*/ 5159665 w 5161441"/>
                  <a:gd name="connsiteY8" fmla="*/ 1892248 h 3660533"/>
                  <a:gd name="connsiteX9" fmla="*/ 5158253 w 5161441"/>
                  <a:gd name="connsiteY9" fmla="*/ 2904063 h 3660533"/>
                  <a:gd name="connsiteX10" fmla="*/ 3876230 w 5161441"/>
                  <a:gd name="connsiteY10" fmla="*/ 2904093 h 3660533"/>
                  <a:gd name="connsiteX11" fmla="*/ 3695634 w 5161441"/>
                  <a:gd name="connsiteY11" fmla="*/ 3307365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5159381 w 5164365"/>
                  <a:gd name="connsiteY4" fmla="*/ 1281417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98415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297513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081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1690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5159665 w 5161441"/>
                  <a:gd name="connsiteY8" fmla="*/ 1870047 h 3660533"/>
                  <a:gd name="connsiteX9" fmla="*/ 5158253 w 5161441"/>
                  <a:gd name="connsiteY9" fmla="*/ 2904063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5159665 w 5161441"/>
                  <a:gd name="connsiteY7" fmla="*/ 1870047 h 3660533"/>
                  <a:gd name="connsiteX8" fmla="*/ 5158253 w 5161441"/>
                  <a:gd name="connsiteY8" fmla="*/ 2904063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5159381 w 5161441"/>
                  <a:gd name="connsiteY4" fmla="*/ 1301954 h 3660533"/>
                  <a:gd name="connsiteX5" fmla="*/ 5159665 w 5161441"/>
                  <a:gd name="connsiteY5" fmla="*/ 1458459 h 3660533"/>
                  <a:gd name="connsiteX6" fmla="*/ 5159665 w 5161441"/>
                  <a:gd name="connsiteY6" fmla="*/ 1870047 h 3660533"/>
                  <a:gd name="connsiteX7" fmla="*/ 5158253 w 5161441"/>
                  <a:gd name="connsiteY7" fmla="*/ 2904063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5159381 w 5161441"/>
                  <a:gd name="connsiteY3" fmla="*/ 1301954 h 3660533"/>
                  <a:gd name="connsiteX4" fmla="*/ 5159665 w 5161441"/>
                  <a:gd name="connsiteY4" fmla="*/ 1458459 h 3660533"/>
                  <a:gd name="connsiteX5" fmla="*/ 5159665 w 5161441"/>
                  <a:gd name="connsiteY5" fmla="*/ 1870047 h 3660533"/>
                  <a:gd name="connsiteX6" fmla="*/ 5158253 w 5161441"/>
                  <a:gd name="connsiteY6" fmla="*/ 2904063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cubicBezTo>
                      <a:pt x="5160754" y="302484"/>
                      <a:pt x="5160068" y="582768"/>
                      <a:pt x="5159381" y="885252"/>
                    </a:cubicBezTo>
                    <a:lnTo>
                      <a:pt x="5159381" y="1301954"/>
                    </a:lnTo>
                    <a:cubicBezTo>
                      <a:pt x="5159476" y="1354123"/>
                      <a:pt x="5159570" y="1406290"/>
                      <a:pt x="5159665" y="1458459"/>
                    </a:cubicBezTo>
                    <a:lnTo>
                      <a:pt x="5159665" y="1870047"/>
                    </a:lnTo>
                    <a:cubicBezTo>
                      <a:pt x="5159194" y="2207319"/>
                      <a:pt x="5158724" y="2566791"/>
                      <a:pt x="5158253" y="2904063"/>
                    </a:cubicBezTo>
                    <a:lnTo>
                      <a:pt x="5158253" y="3307335"/>
                    </a:lnTo>
                    <a:cubicBezTo>
                      <a:pt x="5159316" y="3425068"/>
                      <a:pt x="5160378" y="3542800"/>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vert="horz"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646464"/>
                  </a:solidFill>
                </a:endParaRPr>
              </a:p>
            </p:txBody>
          </p:sp>
        </p:grpSp>
        <p:sp>
          <p:nvSpPr>
            <p:cNvPr id="21" name="Rectangle 13"/>
            <p:cNvSpPr>
              <a:spLocks noChangeArrowheads="1"/>
            </p:cNvSpPr>
            <p:nvPr/>
          </p:nvSpPr>
          <p:spPr bwMode="gray">
            <a:xfrm>
              <a:off x="630176" y="900871"/>
              <a:ext cx="4932000"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chemeClr val="accent1"/>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r>
                <a:rPr lang="de-DE" sz="1319" b="1" kern="0" dirty="0">
                  <a:solidFill>
                    <a:srgbClr val="FFFFFF"/>
                  </a:solidFill>
                </a:rPr>
                <a:t>Data</a:t>
              </a:r>
            </a:p>
          </p:txBody>
        </p:sp>
      </p:grpSp>
      <p:sp>
        <p:nvSpPr>
          <p:cNvPr id="2" name="Title 1"/>
          <p:cNvSpPr>
            <a:spLocks noGrp="1"/>
          </p:cNvSpPr>
          <p:nvPr>
            <p:ph type="title"/>
          </p:nvPr>
        </p:nvSpPr>
        <p:spPr/>
        <p:txBody>
          <a:bodyPr/>
          <a:lstStyle/>
          <a:p>
            <a:r>
              <a:rPr lang="en-US" sz="2400" dirty="0" smtClean="0"/>
              <a:t>EY Survey</a:t>
            </a:r>
            <a:br>
              <a:rPr lang="en-US" sz="2400" dirty="0" smtClean="0"/>
            </a:br>
            <a:r>
              <a:rPr lang="en-US" sz="2000" i="1" dirty="0" smtClean="0"/>
              <a:t>Definition of Default</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22</a:t>
            </a:fld>
            <a:endParaRPr lang="en-US" altLang="en-US"/>
          </a:p>
        </p:txBody>
      </p:sp>
      <p:sp>
        <p:nvSpPr>
          <p:cNvPr id="14" name="TextBox 13"/>
          <p:cNvSpPr txBox="1"/>
          <p:nvPr/>
        </p:nvSpPr>
        <p:spPr>
          <a:xfrm>
            <a:off x="373350" y="1342948"/>
            <a:ext cx="3220280" cy="266355"/>
          </a:xfrm>
          <a:prstGeom prst="rect">
            <a:avLst/>
          </a:prstGeom>
          <a:noFill/>
        </p:spPr>
        <p:txBody>
          <a:bodyPr wrap="square" rtlCol="0">
            <a:spAutoFit/>
          </a:bodyPr>
          <a:lstStyle/>
          <a:p>
            <a:pPr defTabSz="861892">
              <a:spcAft>
                <a:spcPct val="50000"/>
              </a:spcAft>
              <a:buClr>
                <a:srgbClr val="FFE600"/>
              </a:buClr>
              <a:buSzPct val="80000"/>
            </a:pPr>
            <a:r>
              <a:rPr lang="en-GB" sz="1131" b="1" dirty="0">
                <a:solidFill>
                  <a:srgbClr val="000000"/>
                </a:solidFill>
              </a:rPr>
              <a:t>Plan to rebut the 90 days past due presumption</a:t>
            </a:r>
          </a:p>
        </p:txBody>
      </p:sp>
      <p:sp>
        <p:nvSpPr>
          <p:cNvPr id="15" name="TextBox 14"/>
          <p:cNvSpPr txBox="1"/>
          <p:nvPr/>
        </p:nvSpPr>
        <p:spPr>
          <a:xfrm>
            <a:off x="5240575" y="1337564"/>
            <a:ext cx="4378088" cy="2316019"/>
          </a:xfrm>
          <a:prstGeom prst="rect">
            <a:avLst/>
          </a:prstGeom>
          <a:noFill/>
        </p:spPr>
        <p:txBody>
          <a:bodyPr wrap="square" rtlCol="0">
            <a:spAutoFit/>
          </a:bodyPr>
          <a:lstStyle/>
          <a:p>
            <a:pPr defTabSz="861892">
              <a:spcAft>
                <a:spcPts val="565"/>
              </a:spcAft>
              <a:buClr>
                <a:srgbClr val="646464"/>
              </a:buClr>
              <a:buSzPct val="100000"/>
            </a:pPr>
            <a:r>
              <a:rPr lang="en-IN" sz="1100" b="1" dirty="0">
                <a:solidFill>
                  <a:srgbClr val="000000"/>
                </a:solidFill>
              </a:rPr>
              <a:t>Definition of default and the 90 DPD presumption</a:t>
            </a:r>
            <a:endParaRPr lang="de-DE" sz="1100" dirty="0">
              <a:solidFill>
                <a:srgbClr val="000000"/>
              </a:solidFill>
            </a:endParaRP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A number of banks see the opportunity of aligning the regulatory and accounting definitions of default</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This generally means aligning the number of DPD trigger to 90 days under IFRS 9, with some exceptions for certain portfolios such as mortgages for which the regulatory definition may allow longer delinquency </a:t>
            </a:r>
            <a:r>
              <a:rPr lang="en-IN" sz="1100" dirty="0" smtClean="0">
                <a:solidFill>
                  <a:srgbClr val="000000"/>
                </a:solidFill>
              </a:rPr>
              <a:t>periods</a:t>
            </a:r>
            <a:endParaRPr lang="de-DE" sz="1100" dirty="0">
              <a:solidFill>
                <a:srgbClr val="000000"/>
              </a:solidFill>
            </a:endParaRPr>
          </a:p>
          <a:p>
            <a:pPr marL="654248" lvl="1" indent="-188989" defTabSz="861892">
              <a:spcAft>
                <a:spcPts val="283"/>
              </a:spcAft>
              <a:buClr>
                <a:schemeClr val="tx1"/>
              </a:buClr>
              <a:buSzPct val="100000"/>
              <a:buFont typeface="Times New Roman" panose="02020603050405020304" pitchFamily="18" charset="0"/>
              <a:buChar char="‒"/>
            </a:pPr>
            <a:r>
              <a:rPr lang="en-IN" sz="1100" dirty="0">
                <a:solidFill>
                  <a:srgbClr val="000000"/>
                </a:solidFill>
              </a:rPr>
              <a:t>For these portfolios, participants appear divided as to whether to rebut the 90 DPD presumption or not, with many of them </a:t>
            </a:r>
            <a:r>
              <a:rPr lang="en-IN" sz="1100" dirty="0" smtClean="0">
                <a:solidFill>
                  <a:srgbClr val="000000"/>
                </a:solidFill>
              </a:rPr>
              <a:t>undecided</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Generally banks intend to align the accounting definition of ‘credit impaired‘ for transfer to Stage 3 with the definition of default.</a:t>
            </a:r>
            <a:endParaRPr lang="en-US" sz="1100" dirty="0">
              <a:solidFill>
                <a:srgbClr val="000000"/>
              </a:solidFill>
            </a:endParaRPr>
          </a:p>
        </p:txBody>
      </p:sp>
      <p:sp>
        <p:nvSpPr>
          <p:cNvPr id="26" name="TextBox 25"/>
          <p:cNvSpPr txBox="1"/>
          <p:nvPr/>
        </p:nvSpPr>
        <p:spPr>
          <a:xfrm>
            <a:off x="4947277" y="4017118"/>
            <a:ext cx="4721214" cy="2316019"/>
          </a:xfrm>
          <a:prstGeom prst="rect">
            <a:avLst/>
          </a:prstGeom>
          <a:noFill/>
        </p:spPr>
        <p:txBody>
          <a:bodyPr wrap="square" rtlCol="0">
            <a:spAutoFit/>
          </a:bodyPr>
          <a:lstStyle/>
          <a:p>
            <a:pPr defTabSz="861892">
              <a:spcAft>
                <a:spcPts val="565"/>
              </a:spcAft>
              <a:buClr>
                <a:srgbClr val="646464"/>
              </a:buClr>
              <a:buSzPct val="100000"/>
            </a:pPr>
            <a:r>
              <a:rPr lang="de-DE" sz="1100" b="1" dirty="0">
                <a:solidFill>
                  <a:srgbClr val="000000"/>
                </a:solidFill>
              </a:rPr>
              <a:t>Cross-asset default contagion</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Cross-asset contagion is overwhelmingly being included in definitions of default for wholesale exposures (only 1 bank is not planning to do this)  - this generally results in a higher EAD in stage 3 and a potentially lower LGD</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The picture is less uniform for retail exposures, and most banks  do not intend to imply contagion across all facilities from the same counterparty when it comes to retail portfolios</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We expect this mirrors banks‘ current risk management practices as well as local regulatory treatment</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Cross-asset default contagion rules will also impact significant deterioration criteria as their score/rating/PD/internal risk classification are updated accordingly</a:t>
            </a:r>
          </a:p>
        </p:txBody>
      </p:sp>
      <p:grpSp>
        <p:nvGrpSpPr>
          <p:cNvPr id="28" name="Group 27"/>
          <p:cNvGrpSpPr/>
          <p:nvPr/>
        </p:nvGrpSpPr>
        <p:grpSpPr>
          <a:xfrm>
            <a:off x="489930" y="1894433"/>
            <a:ext cx="3987838" cy="2816792"/>
            <a:chOff x="659762" y="2018312"/>
            <a:chExt cx="4572004" cy="2164646"/>
          </a:xfrm>
        </p:grpSpPr>
        <p:graphicFrame>
          <p:nvGraphicFramePr>
            <p:cNvPr id="29" name="Chart 28"/>
            <p:cNvGraphicFramePr>
              <a:graphicFrameLocks/>
            </p:cNvGraphicFramePr>
            <p:nvPr>
              <p:extLst/>
            </p:nvPr>
          </p:nvGraphicFramePr>
          <p:xfrm>
            <a:off x="659762" y="2018312"/>
            <a:ext cx="4572004" cy="2164646"/>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Box 29"/>
            <p:cNvSpPr txBox="1"/>
            <p:nvPr/>
          </p:nvSpPr>
          <p:spPr>
            <a:xfrm>
              <a:off x="3146792" y="2696020"/>
              <a:ext cx="558063" cy="182367"/>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GB" sz="942" dirty="0">
                  <a:solidFill>
                    <a:schemeClr val="bg1"/>
                  </a:solidFill>
                </a:rPr>
                <a:t>Yes</a:t>
              </a:r>
            </a:p>
          </p:txBody>
        </p:sp>
        <p:sp>
          <p:nvSpPr>
            <p:cNvPr id="31" name="TextBox 30"/>
            <p:cNvSpPr txBox="1"/>
            <p:nvPr/>
          </p:nvSpPr>
          <p:spPr>
            <a:xfrm>
              <a:off x="1911086" y="2797814"/>
              <a:ext cx="969344" cy="349507"/>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GB" sz="942" dirty="0">
                  <a:solidFill>
                    <a:schemeClr val="bg1"/>
                  </a:solidFill>
                </a:rPr>
                <a:t>Undecided</a:t>
              </a:r>
            </a:p>
            <a:p>
              <a:pPr defTabSz="861892" fontAlgn="base">
                <a:spcBef>
                  <a:spcPct val="0"/>
                </a:spcBef>
                <a:spcAft>
                  <a:spcPct val="50000"/>
                </a:spcAft>
                <a:buClr>
                  <a:srgbClr val="FFE600"/>
                </a:buClr>
                <a:buSzPct val="80000"/>
              </a:pPr>
              <a:endParaRPr lang="en-GB" sz="942" dirty="0">
                <a:solidFill>
                  <a:schemeClr val="bg1"/>
                </a:solidFill>
              </a:endParaRPr>
            </a:p>
          </p:txBody>
        </p:sp>
        <p:sp>
          <p:nvSpPr>
            <p:cNvPr id="32" name="TextBox 31"/>
            <p:cNvSpPr txBox="1"/>
            <p:nvPr/>
          </p:nvSpPr>
          <p:spPr>
            <a:xfrm>
              <a:off x="3019512" y="3624316"/>
              <a:ext cx="463754" cy="182367"/>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GB" sz="942" dirty="0">
                  <a:solidFill>
                    <a:schemeClr val="bg1"/>
                  </a:solidFill>
                </a:rPr>
                <a:t>No</a:t>
              </a:r>
            </a:p>
          </p:txBody>
        </p:sp>
      </p:grpSp>
      <p:sp>
        <p:nvSpPr>
          <p:cNvPr id="27" name="TextBox 2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428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87338" y="959368"/>
            <a:ext cx="9385817" cy="5340723"/>
            <a:chOff x="626681" y="900871"/>
            <a:chExt cx="9670033" cy="5665971"/>
          </a:xfrm>
        </p:grpSpPr>
        <p:grpSp>
          <p:nvGrpSpPr>
            <p:cNvPr id="20" name="Group 19"/>
            <p:cNvGrpSpPr/>
            <p:nvPr/>
          </p:nvGrpSpPr>
          <p:grpSpPr>
            <a:xfrm>
              <a:off x="626681" y="900989"/>
              <a:ext cx="9670033" cy="5665853"/>
              <a:chOff x="626681" y="1008323"/>
              <a:chExt cx="9670033" cy="5665853"/>
            </a:xfrm>
          </p:grpSpPr>
          <p:sp>
            <p:nvSpPr>
              <p:cNvPr id="25" name="Rectangle 14"/>
              <p:cNvSpPr>
                <a:spLocks noChangeArrowheads="1"/>
              </p:cNvSpPr>
              <p:nvPr/>
            </p:nvSpPr>
            <p:spPr bwMode="gray">
              <a:xfrm>
                <a:off x="5152730" y="1008325"/>
                <a:ext cx="5143984" cy="5652473"/>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72855"/>
                  <a:gd name="connsiteY0" fmla="*/ 0 h 3660533"/>
                  <a:gd name="connsiteX1" fmla="*/ 5161441 w 5172855"/>
                  <a:gd name="connsiteY1" fmla="*/ 0 h 3660533"/>
                  <a:gd name="connsiteX2" fmla="*/ 5172549 w 5172855"/>
                  <a:gd name="connsiteY2" fmla="*/ 489657 h 3660533"/>
                  <a:gd name="connsiteX3" fmla="*/ 5161441 w 5172855"/>
                  <a:gd name="connsiteY3" fmla="*/ 3660533 h 3660533"/>
                  <a:gd name="connsiteX4" fmla="*/ 0 w 5172855"/>
                  <a:gd name="connsiteY4" fmla="*/ 3660533 h 3660533"/>
                  <a:gd name="connsiteX5" fmla="*/ 593766 w 5172855"/>
                  <a:gd name="connsiteY5" fmla="*/ 0 h 3660533"/>
                  <a:gd name="connsiteX0" fmla="*/ 593766 w 5163537"/>
                  <a:gd name="connsiteY0" fmla="*/ 0 h 3660533"/>
                  <a:gd name="connsiteX1" fmla="*/ 5161441 w 5163537"/>
                  <a:gd name="connsiteY1" fmla="*/ 0 h 3660533"/>
                  <a:gd name="connsiteX2" fmla="*/ 5162883 w 5163537"/>
                  <a:gd name="connsiteY2" fmla="*/ 502617 h 3660533"/>
                  <a:gd name="connsiteX3" fmla="*/ 5161441 w 5163537"/>
                  <a:gd name="connsiteY3" fmla="*/ 3660533 h 3660533"/>
                  <a:gd name="connsiteX4" fmla="*/ 0 w 5163537"/>
                  <a:gd name="connsiteY4" fmla="*/ 3660533 h 3660533"/>
                  <a:gd name="connsiteX5" fmla="*/ 593766 w 5163537"/>
                  <a:gd name="connsiteY5" fmla="*/ 0 h 3660533"/>
                  <a:gd name="connsiteX0" fmla="*/ 593766 w 5499312"/>
                  <a:gd name="connsiteY0" fmla="*/ 0 h 3660533"/>
                  <a:gd name="connsiteX1" fmla="*/ 5161441 w 5499312"/>
                  <a:gd name="connsiteY1" fmla="*/ 0 h 3660533"/>
                  <a:gd name="connsiteX2" fmla="*/ 5160175 w 5499312"/>
                  <a:gd name="connsiteY2" fmla="*/ 350657 h 3660533"/>
                  <a:gd name="connsiteX3" fmla="*/ 5162883 w 5499312"/>
                  <a:gd name="connsiteY3" fmla="*/ 502617 h 3660533"/>
                  <a:gd name="connsiteX4" fmla="*/ 5161441 w 5499312"/>
                  <a:gd name="connsiteY4" fmla="*/ 3660533 h 3660533"/>
                  <a:gd name="connsiteX5" fmla="*/ 0 w 5499312"/>
                  <a:gd name="connsiteY5" fmla="*/ 3660533 h 3660533"/>
                  <a:gd name="connsiteX6" fmla="*/ 593766 w 5499312"/>
                  <a:gd name="connsiteY6"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1441 w 5162883"/>
                  <a:gd name="connsiteY4" fmla="*/ 3660533 h 3660533"/>
                  <a:gd name="connsiteX5" fmla="*/ 0 w 5162883"/>
                  <a:gd name="connsiteY5" fmla="*/ 3660533 h 3660533"/>
                  <a:gd name="connsiteX6" fmla="*/ 593766 w 5162883"/>
                  <a:gd name="connsiteY6" fmla="*/ 0 h 3660533"/>
                  <a:gd name="connsiteX0" fmla="*/ 593766 w 5543294"/>
                  <a:gd name="connsiteY0" fmla="*/ 0 h 3660533"/>
                  <a:gd name="connsiteX1" fmla="*/ 5161441 w 5543294"/>
                  <a:gd name="connsiteY1" fmla="*/ 0 h 3660533"/>
                  <a:gd name="connsiteX2" fmla="*/ 5160175 w 5543294"/>
                  <a:gd name="connsiteY2" fmla="*/ 350657 h 3660533"/>
                  <a:gd name="connsiteX3" fmla="*/ 5162883 w 5543294"/>
                  <a:gd name="connsiteY3" fmla="*/ 502617 h 3660533"/>
                  <a:gd name="connsiteX4" fmla="*/ 5160174 w 5543294"/>
                  <a:gd name="connsiteY4" fmla="*/ 752490 h 3660533"/>
                  <a:gd name="connsiteX5" fmla="*/ 5161441 w 5543294"/>
                  <a:gd name="connsiteY5" fmla="*/ 3660533 h 3660533"/>
                  <a:gd name="connsiteX6" fmla="*/ 0 w 5543294"/>
                  <a:gd name="connsiteY6" fmla="*/ 3660533 h 3660533"/>
                  <a:gd name="connsiteX7" fmla="*/ 593766 w 5543294"/>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0174 w 5162883"/>
                  <a:gd name="connsiteY4" fmla="*/ 752490 h 3660533"/>
                  <a:gd name="connsiteX5" fmla="*/ 5161441 w 5162883"/>
                  <a:gd name="connsiteY5" fmla="*/ 3660533 h 3660533"/>
                  <a:gd name="connsiteX6" fmla="*/ 0 w 5162883"/>
                  <a:gd name="connsiteY6" fmla="*/ 3660533 h 3660533"/>
                  <a:gd name="connsiteX7" fmla="*/ 593766 w 5162883"/>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56560 w 5162883"/>
                  <a:gd name="connsiteY4" fmla="*/ 708688 h 3660533"/>
                  <a:gd name="connsiteX5" fmla="*/ 5160174 w 5162883"/>
                  <a:gd name="connsiteY5" fmla="*/ 752490 h 3660533"/>
                  <a:gd name="connsiteX6" fmla="*/ 5161441 w 5162883"/>
                  <a:gd name="connsiteY6" fmla="*/ 3660533 h 3660533"/>
                  <a:gd name="connsiteX7" fmla="*/ 0 w 5162883"/>
                  <a:gd name="connsiteY7" fmla="*/ 3660533 h 3660533"/>
                  <a:gd name="connsiteX8" fmla="*/ 593766 w 5162883"/>
                  <a:gd name="connsiteY8"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5156560 w 5163046"/>
                  <a:gd name="connsiteY5" fmla="*/ 708688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646320 w 5163046"/>
                  <a:gd name="connsiteY5" fmla="*/ 757335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272982"/>
                  <a:gd name="connsiteY0" fmla="*/ 0 h 3660533"/>
                  <a:gd name="connsiteX1" fmla="*/ 5161441 w 5272982"/>
                  <a:gd name="connsiteY1" fmla="*/ 0 h 3660533"/>
                  <a:gd name="connsiteX2" fmla="*/ 5160175 w 5272982"/>
                  <a:gd name="connsiteY2" fmla="*/ 350657 h 3660533"/>
                  <a:gd name="connsiteX3" fmla="*/ 5161096 w 5272982"/>
                  <a:gd name="connsiteY3" fmla="*/ 392488 h 3660533"/>
                  <a:gd name="connsiteX4" fmla="*/ 3646320 w 5272982"/>
                  <a:gd name="connsiteY4" fmla="*/ 757335 h 3660533"/>
                  <a:gd name="connsiteX5" fmla="*/ 5160174 w 5272982"/>
                  <a:gd name="connsiteY5" fmla="*/ 752490 h 3660533"/>
                  <a:gd name="connsiteX6" fmla="*/ 5161441 w 5272982"/>
                  <a:gd name="connsiteY6" fmla="*/ 3660533 h 3660533"/>
                  <a:gd name="connsiteX7" fmla="*/ 0 w 5272982"/>
                  <a:gd name="connsiteY7" fmla="*/ 3660533 h 3660533"/>
                  <a:gd name="connsiteX8" fmla="*/ 593766 w 5272982"/>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1096 w 5161441"/>
                  <a:gd name="connsiteY3" fmla="*/ 392488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542933"/>
                  <a:gd name="connsiteY0" fmla="*/ 0 h 3660533"/>
                  <a:gd name="connsiteX1" fmla="*/ 5161441 w 5542933"/>
                  <a:gd name="connsiteY1" fmla="*/ 0 h 3660533"/>
                  <a:gd name="connsiteX2" fmla="*/ 5160175 w 5542933"/>
                  <a:gd name="connsiteY2" fmla="*/ 350657 h 3660533"/>
                  <a:gd name="connsiteX3" fmla="*/ 3841338 w 5542933"/>
                  <a:gd name="connsiteY3" fmla="*/ 349922 h 3660533"/>
                  <a:gd name="connsiteX4" fmla="*/ 3646321 w 5542933"/>
                  <a:gd name="connsiteY4" fmla="*/ 753169 h 3660533"/>
                  <a:gd name="connsiteX5" fmla="*/ 5160174 w 5542933"/>
                  <a:gd name="connsiteY5" fmla="*/ 752490 h 3660533"/>
                  <a:gd name="connsiteX6" fmla="*/ 5158786 w 5542933"/>
                  <a:gd name="connsiteY6" fmla="*/ 2442821 h 3660533"/>
                  <a:gd name="connsiteX7" fmla="*/ 5161441 w 5542933"/>
                  <a:gd name="connsiteY7" fmla="*/ 3660533 h 3660533"/>
                  <a:gd name="connsiteX8" fmla="*/ 0 w 5542933"/>
                  <a:gd name="connsiteY8" fmla="*/ 3660533 h 3660533"/>
                  <a:gd name="connsiteX9" fmla="*/ 593766 w 5542933"/>
                  <a:gd name="connsiteY9" fmla="*/ 0 h 3660533"/>
                  <a:gd name="connsiteX0" fmla="*/ 593766 w 5271802"/>
                  <a:gd name="connsiteY0" fmla="*/ 0 h 3660533"/>
                  <a:gd name="connsiteX1" fmla="*/ 5161441 w 5271802"/>
                  <a:gd name="connsiteY1" fmla="*/ 0 h 3660533"/>
                  <a:gd name="connsiteX2" fmla="*/ 5160175 w 5271802"/>
                  <a:gd name="connsiteY2" fmla="*/ 350657 h 3660533"/>
                  <a:gd name="connsiteX3" fmla="*/ 3841338 w 5271802"/>
                  <a:gd name="connsiteY3" fmla="*/ 349922 h 3660533"/>
                  <a:gd name="connsiteX4" fmla="*/ 3646321 w 5271802"/>
                  <a:gd name="connsiteY4" fmla="*/ 753169 h 3660533"/>
                  <a:gd name="connsiteX5" fmla="*/ 5160174 w 5271802"/>
                  <a:gd name="connsiteY5" fmla="*/ 752490 h 3660533"/>
                  <a:gd name="connsiteX6" fmla="*/ 5158786 w 5271802"/>
                  <a:gd name="connsiteY6" fmla="*/ 2442821 h 3660533"/>
                  <a:gd name="connsiteX7" fmla="*/ 5161441 w 5271802"/>
                  <a:gd name="connsiteY7" fmla="*/ 3660533 h 3660533"/>
                  <a:gd name="connsiteX8" fmla="*/ 0 w 5271802"/>
                  <a:gd name="connsiteY8" fmla="*/ 3660533 h 3660533"/>
                  <a:gd name="connsiteX9" fmla="*/ 593766 w 5271802"/>
                  <a:gd name="connsiteY9"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442821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271900"/>
                  <a:gd name="connsiteY0" fmla="*/ 0 h 3660533"/>
                  <a:gd name="connsiteX1" fmla="*/ 5161441 w 5271900"/>
                  <a:gd name="connsiteY1" fmla="*/ 0 h 3660533"/>
                  <a:gd name="connsiteX2" fmla="*/ 5160175 w 5271900"/>
                  <a:gd name="connsiteY2" fmla="*/ 350657 h 3660533"/>
                  <a:gd name="connsiteX3" fmla="*/ 3841338 w 5271900"/>
                  <a:gd name="connsiteY3" fmla="*/ 349922 h 3660533"/>
                  <a:gd name="connsiteX4" fmla="*/ 3646321 w 5271900"/>
                  <a:gd name="connsiteY4" fmla="*/ 753169 h 3660533"/>
                  <a:gd name="connsiteX5" fmla="*/ 5160174 w 5271900"/>
                  <a:gd name="connsiteY5" fmla="*/ 752490 h 3660533"/>
                  <a:gd name="connsiteX6" fmla="*/ 5158786 w 5271900"/>
                  <a:gd name="connsiteY6" fmla="*/ 2051706 h 3660533"/>
                  <a:gd name="connsiteX7" fmla="*/ 5158786 w 5271900"/>
                  <a:gd name="connsiteY7" fmla="*/ 2442821 h 3660533"/>
                  <a:gd name="connsiteX8" fmla="*/ 5161441 w 5271900"/>
                  <a:gd name="connsiteY8" fmla="*/ 3660533 h 3660533"/>
                  <a:gd name="connsiteX9" fmla="*/ 0 w 5271900"/>
                  <a:gd name="connsiteY9" fmla="*/ 3660533 h 3660533"/>
                  <a:gd name="connsiteX10" fmla="*/ 593766 w 5271900"/>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42821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09433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1441 w 5543394"/>
                  <a:gd name="connsiteY12" fmla="*/ 3660533 h 3660533"/>
                  <a:gd name="connsiteX13" fmla="*/ 0 w 5543394"/>
                  <a:gd name="connsiteY13" fmla="*/ 3660533 h 3660533"/>
                  <a:gd name="connsiteX14" fmla="*/ 593766 w 5543394"/>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0174 w 5543394"/>
                  <a:gd name="connsiteY12" fmla="*/ 3350307 h 3660533"/>
                  <a:gd name="connsiteX13" fmla="*/ 5161441 w 5543394"/>
                  <a:gd name="connsiteY13" fmla="*/ 3660533 h 3660533"/>
                  <a:gd name="connsiteX14" fmla="*/ 0 w 5543394"/>
                  <a:gd name="connsiteY14" fmla="*/ 3660533 h 3660533"/>
                  <a:gd name="connsiteX15" fmla="*/ 593766 w 5543394"/>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58848 w 5161441"/>
                  <a:gd name="connsiteY12" fmla="*/ 3323150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3586 w 5161441"/>
                  <a:gd name="connsiteY12" fmla="*/ 3345464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99656 w 5161441"/>
                  <a:gd name="connsiteY11" fmla="*/ 2965086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5160174 w 5161441"/>
                  <a:gd name="connsiteY4" fmla="*/ 752490 h 3660533"/>
                  <a:gd name="connsiteX5" fmla="*/ 5158786 w 5161441"/>
                  <a:gd name="connsiteY5" fmla="*/ 2051706 h 3660533"/>
                  <a:gd name="connsiteX6" fmla="*/ 3853222 w 5161441"/>
                  <a:gd name="connsiteY6" fmla="*/ 2049322 h 3660533"/>
                  <a:gd name="connsiteX7" fmla="*/ 3661124 w 5161441"/>
                  <a:gd name="connsiteY7" fmla="*/ 2440436 h 3660533"/>
                  <a:gd name="connsiteX8" fmla="*/ 5158786 w 5161441"/>
                  <a:gd name="connsiteY8" fmla="*/ 2442821 h 3660533"/>
                  <a:gd name="connsiteX9" fmla="*/ 5160174 w 5161441"/>
                  <a:gd name="connsiteY9" fmla="*/ 2966098 h 3660533"/>
                  <a:gd name="connsiteX10" fmla="*/ 3799656 w 5161441"/>
                  <a:gd name="connsiteY10" fmla="*/ 2965086 h 3660533"/>
                  <a:gd name="connsiteX11" fmla="*/ 3606943 w 5161441"/>
                  <a:gd name="connsiteY11" fmla="*/ 3351042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853222 w 5161441"/>
                  <a:gd name="connsiteY5" fmla="*/ 2049322 h 3660533"/>
                  <a:gd name="connsiteX6" fmla="*/ 3661124 w 5161441"/>
                  <a:gd name="connsiteY6" fmla="*/ 2440436 h 3660533"/>
                  <a:gd name="connsiteX7" fmla="*/ 5158786 w 5161441"/>
                  <a:gd name="connsiteY7" fmla="*/ 2442821 h 3660533"/>
                  <a:gd name="connsiteX8" fmla="*/ 5160174 w 5161441"/>
                  <a:gd name="connsiteY8" fmla="*/ 2966098 h 3660533"/>
                  <a:gd name="connsiteX9" fmla="*/ 3799656 w 5161441"/>
                  <a:gd name="connsiteY9" fmla="*/ 2965086 h 3660533"/>
                  <a:gd name="connsiteX10" fmla="*/ 3606943 w 5161441"/>
                  <a:gd name="connsiteY10" fmla="*/ 3351042 h 3660533"/>
                  <a:gd name="connsiteX11" fmla="*/ 5160174 w 5161441"/>
                  <a:gd name="connsiteY11" fmla="*/ 3350307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661124 w 5161441"/>
                  <a:gd name="connsiteY5" fmla="*/ 2440436 h 3660533"/>
                  <a:gd name="connsiteX6" fmla="*/ 5158786 w 5161441"/>
                  <a:gd name="connsiteY6" fmla="*/ 2442821 h 3660533"/>
                  <a:gd name="connsiteX7" fmla="*/ 5160174 w 5161441"/>
                  <a:gd name="connsiteY7" fmla="*/ 2966098 h 3660533"/>
                  <a:gd name="connsiteX8" fmla="*/ 3799656 w 5161441"/>
                  <a:gd name="connsiteY8" fmla="*/ 2965086 h 3660533"/>
                  <a:gd name="connsiteX9" fmla="*/ 3606943 w 5161441"/>
                  <a:gd name="connsiteY9" fmla="*/ 3351042 h 3660533"/>
                  <a:gd name="connsiteX10" fmla="*/ 5160174 w 5161441"/>
                  <a:gd name="connsiteY10" fmla="*/ 3350307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799656 w 5161441"/>
                  <a:gd name="connsiteY7" fmla="*/ 2965086 h 3660533"/>
                  <a:gd name="connsiteX8" fmla="*/ 3606943 w 5161441"/>
                  <a:gd name="connsiteY8" fmla="*/ 3351042 h 3660533"/>
                  <a:gd name="connsiteX9" fmla="*/ 5160174 w 5161441"/>
                  <a:gd name="connsiteY9" fmla="*/ 3350307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606943 w 5161441"/>
                  <a:gd name="connsiteY7" fmla="*/ 3351042 h 3660533"/>
                  <a:gd name="connsiteX8" fmla="*/ 5160174 w 5161441"/>
                  <a:gd name="connsiteY8" fmla="*/ 3350307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5160174 w 5161441"/>
                  <a:gd name="connsiteY7" fmla="*/ 3350307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lnTo>
                      <a:pt x="5160175" y="350657"/>
                    </a:lnTo>
                    <a:cubicBezTo>
                      <a:pt x="5160175" y="484601"/>
                      <a:pt x="5160174" y="618546"/>
                      <a:pt x="5160174" y="752490"/>
                    </a:cubicBezTo>
                    <a:cubicBezTo>
                      <a:pt x="5159711" y="1185562"/>
                      <a:pt x="5159249" y="1618634"/>
                      <a:pt x="5158786" y="2051706"/>
                    </a:cubicBezTo>
                    <a:lnTo>
                      <a:pt x="5158786" y="2442821"/>
                    </a:lnTo>
                    <a:cubicBezTo>
                      <a:pt x="5159249" y="2617247"/>
                      <a:pt x="5159711" y="2791672"/>
                      <a:pt x="5160174" y="2966098"/>
                    </a:cubicBezTo>
                    <a:lnTo>
                      <a:pt x="5160174" y="3350307"/>
                    </a:lnTo>
                    <a:cubicBezTo>
                      <a:pt x="5160596" y="3453716"/>
                      <a:pt x="5161019" y="3557124"/>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808080"/>
                  </a:solidFill>
                </a:endParaRPr>
              </a:p>
            </p:txBody>
          </p:sp>
          <p:sp>
            <p:nvSpPr>
              <p:cNvPr id="22" name="Rectangle 13"/>
              <p:cNvSpPr>
                <a:spLocks noChangeArrowheads="1"/>
              </p:cNvSpPr>
              <p:nvPr/>
            </p:nvSpPr>
            <p:spPr bwMode="gray">
              <a:xfrm>
                <a:off x="5729909" y="1008323"/>
                <a:ext cx="4562000" cy="387394"/>
              </a:xfrm>
              <a:custGeom>
                <a:avLst/>
                <a:gdLst>
                  <a:gd name="connsiteX0" fmla="*/ 0 w 4423658"/>
                  <a:gd name="connsiteY0" fmla="*/ 0 h 343492"/>
                  <a:gd name="connsiteX1" fmla="*/ 4423658 w 4423658"/>
                  <a:gd name="connsiteY1" fmla="*/ 0 h 343492"/>
                  <a:gd name="connsiteX2" fmla="*/ 4423658 w 4423658"/>
                  <a:gd name="connsiteY2" fmla="*/ 343492 h 343492"/>
                  <a:gd name="connsiteX3" fmla="*/ 0 w 4423658"/>
                  <a:gd name="connsiteY3" fmla="*/ 343492 h 343492"/>
                  <a:gd name="connsiteX4" fmla="*/ 0 w 4423658"/>
                  <a:gd name="connsiteY4" fmla="*/ 0 h 343492"/>
                  <a:gd name="connsiteX0" fmla="*/ 71252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71252 w 4423658"/>
                  <a:gd name="connsiteY4" fmla="*/ 11875 h 343492"/>
                  <a:gd name="connsiteX0" fmla="*/ 60681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60681 w 4423658"/>
                  <a:gd name="connsiteY4" fmla="*/ 11875 h 343492"/>
                  <a:gd name="connsiteX0" fmla="*/ 52695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52695 w 4423658"/>
                  <a:gd name="connsiteY4" fmla="*/ 11875 h 343492"/>
                  <a:gd name="connsiteX0" fmla="*/ 60682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60682 w 4423658"/>
                  <a:gd name="connsiteY4" fmla="*/ 4824 h 343492"/>
                  <a:gd name="connsiteX0" fmla="*/ 36724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36724 w 4423658"/>
                  <a:gd name="connsiteY4" fmla="*/ 4824 h 34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658" h="343492">
                    <a:moveTo>
                      <a:pt x="36724" y="4824"/>
                    </a:moveTo>
                    <a:lnTo>
                      <a:pt x="4423658" y="0"/>
                    </a:lnTo>
                    <a:lnTo>
                      <a:pt x="4423658" y="343492"/>
                    </a:lnTo>
                    <a:lnTo>
                      <a:pt x="0" y="343492"/>
                    </a:lnTo>
                    <a:lnTo>
                      <a:pt x="36724" y="4824"/>
                    </a:lnTo>
                    <a:close/>
                  </a:path>
                </a:pathLst>
              </a:cu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4834" tIns="44114" rIns="84834" bIns="44114" anchor="ctr"/>
              <a:lstStyle/>
              <a:p>
                <a:pPr algn="ctr" defTabSz="983096" eaLnBrk="0" hangingPunct="0">
                  <a:spcAft>
                    <a:spcPct val="0"/>
                  </a:spcAft>
                  <a:buClr>
                    <a:srgbClr val="999999"/>
                  </a:buClr>
                  <a:buSzPct val="75000"/>
                  <a:defRPr/>
                </a:pPr>
                <a:r>
                  <a:rPr lang="de-DE" sz="1319" b="1" kern="0" dirty="0"/>
                  <a:t>Commentary</a:t>
                </a:r>
              </a:p>
            </p:txBody>
          </p:sp>
          <p:sp>
            <p:nvSpPr>
              <p:cNvPr id="23" name="Rectangle 13"/>
              <p:cNvSpPr>
                <a:spLocks noChangeArrowheads="1"/>
              </p:cNvSpPr>
              <p:nvPr/>
            </p:nvSpPr>
            <p:spPr bwMode="gray">
              <a:xfrm>
                <a:off x="626681" y="1008323"/>
                <a:ext cx="4930872"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rgbClr val="808080"/>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endParaRPr lang="de-DE" sz="1319" b="1" kern="0" dirty="0">
                  <a:solidFill>
                    <a:srgbClr val="FFFFFF"/>
                  </a:solidFill>
                </a:endParaRPr>
              </a:p>
            </p:txBody>
          </p:sp>
          <p:sp>
            <p:nvSpPr>
              <p:cNvPr id="24" name="Rectangle 14"/>
              <p:cNvSpPr>
                <a:spLocks noChangeArrowheads="1"/>
              </p:cNvSpPr>
              <p:nvPr/>
            </p:nvSpPr>
            <p:spPr bwMode="gray">
              <a:xfrm rot="10800000">
                <a:off x="626681" y="1021708"/>
                <a:ext cx="4932000" cy="5652468"/>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61441"/>
                  <a:gd name="connsiteY0" fmla="*/ 0 h 3660533"/>
                  <a:gd name="connsiteX1" fmla="*/ 5161441 w 5161441"/>
                  <a:gd name="connsiteY1" fmla="*/ 0 h 3660533"/>
                  <a:gd name="connsiteX2" fmla="*/ 5158253 w 5161441"/>
                  <a:gd name="connsiteY2" fmla="*/ 3307335 h 3660533"/>
                  <a:gd name="connsiteX3" fmla="*/ 5161441 w 5161441"/>
                  <a:gd name="connsiteY3" fmla="*/ 3660533 h 3660533"/>
                  <a:gd name="connsiteX4" fmla="*/ 0 w 5161441"/>
                  <a:gd name="connsiteY4" fmla="*/ 3660533 h 3660533"/>
                  <a:gd name="connsiteX5" fmla="*/ 593766 w 5161441"/>
                  <a:gd name="connsiteY5" fmla="*/ 0 h 3660533"/>
                  <a:gd name="connsiteX0" fmla="*/ 593766 w 5498844"/>
                  <a:gd name="connsiteY0" fmla="*/ 0 h 3660533"/>
                  <a:gd name="connsiteX1" fmla="*/ 5161441 w 5498844"/>
                  <a:gd name="connsiteY1" fmla="*/ 0 h 3660533"/>
                  <a:gd name="connsiteX2" fmla="*/ 5158253 w 5498844"/>
                  <a:gd name="connsiteY2" fmla="*/ 2920268 h 3660533"/>
                  <a:gd name="connsiteX3" fmla="*/ 5158253 w 5498844"/>
                  <a:gd name="connsiteY3" fmla="*/ 3307335 h 3660533"/>
                  <a:gd name="connsiteX4" fmla="*/ 5161441 w 5498844"/>
                  <a:gd name="connsiteY4" fmla="*/ 3660533 h 3660533"/>
                  <a:gd name="connsiteX5" fmla="*/ 0 w 5498844"/>
                  <a:gd name="connsiteY5" fmla="*/ 3660533 h 3660533"/>
                  <a:gd name="connsiteX6" fmla="*/ 593766 w 5498844"/>
                  <a:gd name="connsiteY6"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5158253 w 5161441"/>
                  <a:gd name="connsiteY3" fmla="*/ 3307335 h 3660533"/>
                  <a:gd name="connsiteX4" fmla="*/ 5161441 w 5161441"/>
                  <a:gd name="connsiteY4" fmla="*/ 3660533 h 3660533"/>
                  <a:gd name="connsiteX5" fmla="*/ 0 w 5161441"/>
                  <a:gd name="connsiteY5" fmla="*/ 3660533 h 3660533"/>
                  <a:gd name="connsiteX6" fmla="*/ 593766 w 5161441"/>
                  <a:gd name="connsiteY6"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223470 h 3660533"/>
                  <a:gd name="connsiteX4" fmla="*/ 5158253 w 5167281"/>
                  <a:gd name="connsiteY4" fmla="*/ 3307335 h 3660533"/>
                  <a:gd name="connsiteX5" fmla="*/ 5161441 w 5167281"/>
                  <a:gd name="connsiteY5" fmla="*/ 3660533 h 3660533"/>
                  <a:gd name="connsiteX6" fmla="*/ 0 w 5167281"/>
                  <a:gd name="connsiteY6" fmla="*/ 3660533 h 3660533"/>
                  <a:gd name="connsiteX7" fmla="*/ 593766 w 5167281"/>
                  <a:gd name="connsiteY7"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004132 h 3660533"/>
                  <a:gd name="connsiteX4" fmla="*/ 5167281 w 5167281"/>
                  <a:gd name="connsiteY4" fmla="*/ 3223470 h 3660533"/>
                  <a:gd name="connsiteX5" fmla="*/ 5158253 w 5167281"/>
                  <a:gd name="connsiteY5" fmla="*/ 3307335 h 3660533"/>
                  <a:gd name="connsiteX6" fmla="*/ 5161441 w 5167281"/>
                  <a:gd name="connsiteY6" fmla="*/ 3660533 h 3660533"/>
                  <a:gd name="connsiteX7" fmla="*/ 0 w 5167281"/>
                  <a:gd name="connsiteY7" fmla="*/ 3660533 h 3660533"/>
                  <a:gd name="connsiteX8" fmla="*/ 593766 w 5167281"/>
                  <a:gd name="connsiteY8" fmla="*/ 0 h 3660533"/>
                  <a:gd name="connsiteX0" fmla="*/ 593766 w 5167282"/>
                  <a:gd name="connsiteY0" fmla="*/ 0 h 3660533"/>
                  <a:gd name="connsiteX1" fmla="*/ 5161441 w 5167282"/>
                  <a:gd name="connsiteY1" fmla="*/ 0 h 3660533"/>
                  <a:gd name="connsiteX2" fmla="*/ 5158253 w 5167282"/>
                  <a:gd name="connsiteY2" fmla="*/ 2920268 h 3660533"/>
                  <a:gd name="connsiteX3" fmla="*/ 5167281 w 5167282"/>
                  <a:gd name="connsiteY3" fmla="*/ 3004132 h 3660533"/>
                  <a:gd name="connsiteX4" fmla="*/ 3786039 w 5167282"/>
                  <a:gd name="connsiteY4" fmla="*/ 3262177 h 3660533"/>
                  <a:gd name="connsiteX5" fmla="*/ 5158253 w 5167282"/>
                  <a:gd name="connsiteY5" fmla="*/ 3307335 h 3660533"/>
                  <a:gd name="connsiteX6" fmla="*/ 5161441 w 5167282"/>
                  <a:gd name="connsiteY6" fmla="*/ 3660533 h 3660533"/>
                  <a:gd name="connsiteX7" fmla="*/ 0 w 5167282"/>
                  <a:gd name="connsiteY7" fmla="*/ 3660533 h 3660533"/>
                  <a:gd name="connsiteX8" fmla="*/ 593766 w 5167282"/>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4093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499313"/>
                  <a:gd name="connsiteY0" fmla="*/ 0 h 3660533"/>
                  <a:gd name="connsiteX1" fmla="*/ 5161441 w 5499313"/>
                  <a:gd name="connsiteY1" fmla="*/ 0 h 3660533"/>
                  <a:gd name="connsiteX2" fmla="*/ 5159665 w 5499313"/>
                  <a:gd name="connsiteY2" fmla="*/ 1892248 h 3660533"/>
                  <a:gd name="connsiteX3" fmla="*/ 5158253 w 5499313"/>
                  <a:gd name="connsiteY3" fmla="*/ 2904063 h 3660533"/>
                  <a:gd name="connsiteX4" fmla="*/ 3876230 w 5499313"/>
                  <a:gd name="connsiteY4" fmla="*/ 2904093 h 3660533"/>
                  <a:gd name="connsiteX5" fmla="*/ 3695634 w 5499313"/>
                  <a:gd name="connsiteY5" fmla="*/ 3307365 h 3660533"/>
                  <a:gd name="connsiteX6" fmla="*/ 5158253 w 5499313"/>
                  <a:gd name="connsiteY6" fmla="*/ 3307335 h 3660533"/>
                  <a:gd name="connsiteX7" fmla="*/ 5161441 w 5499313"/>
                  <a:gd name="connsiteY7" fmla="*/ 3660533 h 3660533"/>
                  <a:gd name="connsiteX8" fmla="*/ 0 w 5499313"/>
                  <a:gd name="connsiteY8" fmla="*/ 3660533 h 3660533"/>
                  <a:gd name="connsiteX9" fmla="*/ 593766 w 5499313"/>
                  <a:gd name="connsiteY9" fmla="*/ 0 h 3660533"/>
                  <a:gd name="connsiteX0" fmla="*/ 593766 w 5253571"/>
                  <a:gd name="connsiteY0" fmla="*/ 0 h 3660533"/>
                  <a:gd name="connsiteX1" fmla="*/ 5161441 w 5253571"/>
                  <a:gd name="connsiteY1" fmla="*/ 0 h 3660533"/>
                  <a:gd name="connsiteX2" fmla="*/ 5159665 w 5253571"/>
                  <a:gd name="connsiteY2" fmla="*/ 1892248 h 3660533"/>
                  <a:gd name="connsiteX3" fmla="*/ 5158253 w 5253571"/>
                  <a:gd name="connsiteY3" fmla="*/ 2904063 h 3660533"/>
                  <a:gd name="connsiteX4" fmla="*/ 3876230 w 5253571"/>
                  <a:gd name="connsiteY4" fmla="*/ 2904093 h 3660533"/>
                  <a:gd name="connsiteX5" fmla="*/ 3695634 w 5253571"/>
                  <a:gd name="connsiteY5" fmla="*/ 3307365 h 3660533"/>
                  <a:gd name="connsiteX6" fmla="*/ 5158253 w 5253571"/>
                  <a:gd name="connsiteY6" fmla="*/ 3307335 h 3660533"/>
                  <a:gd name="connsiteX7" fmla="*/ 5161441 w 5253571"/>
                  <a:gd name="connsiteY7" fmla="*/ 3660533 h 3660533"/>
                  <a:gd name="connsiteX8" fmla="*/ 0 w 5253571"/>
                  <a:gd name="connsiteY8" fmla="*/ 3660533 h 3660533"/>
                  <a:gd name="connsiteX9" fmla="*/ 593766 w 5253571"/>
                  <a:gd name="connsiteY9" fmla="*/ 0 h 3660533"/>
                  <a:gd name="connsiteX0" fmla="*/ 593766 w 5161441"/>
                  <a:gd name="connsiteY0" fmla="*/ 0 h 3660533"/>
                  <a:gd name="connsiteX1" fmla="*/ 5161441 w 5161441"/>
                  <a:gd name="connsiteY1" fmla="*/ 0 h 3660533"/>
                  <a:gd name="connsiteX2" fmla="*/ 5159665 w 5161441"/>
                  <a:gd name="connsiteY2" fmla="*/ 1892248 h 3660533"/>
                  <a:gd name="connsiteX3" fmla="*/ 5158253 w 5161441"/>
                  <a:gd name="connsiteY3" fmla="*/ 2904063 h 3660533"/>
                  <a:gd name="connsiteX4" fmla="*/ 3876230 w 5161441"/>
                  <a:gd name="connsiteY4" fmla="*/ 2904093 h 3660533"/>
                  <a:gd name="connsiteX5" fmla="*/ 3695634 w 5161441"/>
                  <a:gd name="connsiteY5" fmla="*/ 3307365 h 3660533"/>
                  <a:gd name="connsiteX6" fmla="*/ 5158253 w 5161441"/>
                  <a:gd name="connsiteY6" fmla="*/ 3307335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892248 h 3660533"/>
                  <a:gd name="connsiteX4" fmla="*/ 5158253 w 5161441"/>
                  <a:gd name="connsiteY4" fmla="*/ 2904063 h 3660533"/>
                  <a:gd name="connsiteX5" fmla="*/ 3876230 w 5161441"/>
                  <a:gd name="connsiteY5" fmla="*/ 2904093 h 3660533"/>
                  <a:gd name="connsiteX6" fmla="*/ 3695634 w 5161441"/>
                  <a:gd name="connsiteY6" fmla="*/ 3307365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92248 h 3660533"/>
                  <a:gd name="connsiteX5" fmla="*/ 5158253 w 5161441"/>
                  <a:gd name="connsiteY5" fmla="*/ 2904063 h 3660533"/>
                  <a:gd name="connsiteX6" fmla="*/ 3876230 w 5161441"/>
                  <a:gd name="connsiteY6" fmla="*/ 2904093 h 3660533"/>
                  <a:gd name="connsiteX7" fmla="*/ 3695634 w 5161441"/>
                  <a:gd name="connsiteY7" fmla="*/ 3307365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5011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4 w 5161441"/>
                  <a:gd name="connsiteY4" fmla="*/ 1889524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5 w 5161441"/>
                  <a:gd name="connsiteY4" fmla="*/ 1893281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1324155 h 3660533"/>
                  <a:gd name="connsiteX3" fmla="*/ 5159665 w 5161441"/>
                  <a:gd name="connsiteY3" fmla="*/ 1480661 h 3660533"/>
                  <a:gd name="connsiteX4" fmla="*/ 3876188 w 5161441"/>
                  <a:gd name="connsiteY4" fmla="*/ 1480661 h 3660533"/>
                  <a:gd name="connsiteX5" fmla="*/ 3702405 w 5161441"/>
                  <a:gd name="connsiteY5" fmla="*/ 1893281 h 3660533"/>
                  <a:gd name="connsiteX6" fmla="*/ 5159665 w 5161441"/>
                  <a:gd name="connsiteY6" fmla="*/ 1892248 h 3660533"/>
                  <a:gd name="connsiteX7" fmla="*/ 5158253 w 5161441"/>
                  <a:gd name="connsiteY7" fmla="*/ 2904063 h 3660533"/>
                  <a:gd name="connsiteX8" fmla="*/ 3876230 w 5161441"/>
                  <a:gd name="connsiteY8" fmla="*/ 2904093 h 3660533"/>
                  <a:gd name="connsiteX9" fmla="*/ 3695634 w 5161441"/>
                  <a:gd name="connsiteY9" fmla="*/ 3307365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499177"/>
                  <a:gd name="connsiteY0" fmla="*/ 0 h 3660533"/>
                  <a:gd name="connsiteX1" fmla="*/ 5161441 w 5499177"/>
                  <a:gd name="connsiteY1" fmla="*/ 0 h 3660533"/>
                  <a:gd name="connsiteX2" fmla="*/ 5159381 w 5499177"/>
                  <a:gd name="connsiteY2" fmla="*/ 907453 h 3660533"/>
                  <a:gd name="connsiteX3" fmla="*/ 5159381 w 5499177"/>
                  <a:gd name="connsiteY3" fmla="*/ 1324155 h 3660533"/>
                  <a:gd name="connsiteX4" fmla="*/ 5159665 w 5499177"/>
                  <a:gd name="connsiteY4" fmla="*/ 1480661 h 3660533"/>
                  <a:gd name="connsiteX5" fmla="*/ 3876188 w 5499177"/>
                  <a:gd name="connsiteY5" fmla="*/ 1480661 h 3660533"/>
                  <a:gd name="connsiteX6" fmla="*/ 3702405 w 5499177"/>
                  <a:gd name="connsiteY6" fmla="*/ 1893281 h 3660533"/>
                  <a:gd name="connsiteX7" fmla="*/ 5159665 w 5499177"/>
                  <a:gd name="connsiteY7" fmla="*/ 1892248 h 3660533"/>
                  <a:gd name="connsiteX8" fmla="*/ 5158253 w 5499177"/>
                  <a:gd name="connsiteY8" fmla="*/ 2904063 h 3660533"/>
                  <a:gd name="connsiteX9" fmla="*/ 3876230 w 5499177"/>
                  <a:gd name="connsiteY9" fmla="*/ 2904093 h 3660533"/>
                  <a:gd name="connsiteX10" fmla="*/ 3695634 w 5499177"/>
                  <a:gd name="connsiteY10" fmla="*/ 3307365 h 3660533"/>
                  <a:gd name="connsiteX11" fmla="*/ 5158253 w 5499177"/>
                  <a:gd name="connsiteY11" fmla="*/ 3307335 h 3660533"/>
                  <a:gd name="connsiteX12" fmla="*/ 5161441 w 5499177"/>
                  <a:gd name="connsiteY12" fmla="*/ 3660533 h 3660533"/>
                  <a:gd name="connsiteX13" fmla="*/ 0 w 5499177"/>
                  <a:gd name="connsiteY13" fmla="*/ 3660533 h 3660533"/>
                  <a:gd name="connsiteX14" fmla="*/ 593766 w 5499177"/>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281417 h 3660533"/>
                  <a:gd name="connsiteX4" fmla="*/ 5159381 w 5161441"/>
                  <a:gd name="connsiteY4" fmla="*/ 1324155 h 3660533"/>
                  <a:gd name="connsiteX5" fmla="*/ 5159665 w 5161441"/>
                  <a:gd name="connsiteY5" fmla="*/ 1480661 h 3660533"/>
                  <a:gd name="connsiteX6" fmla="*/ 3876188 w 5161441"/>
                  <a:gd name="connsiteY6" fmla="*/ 1480661 h 3660533"/>
                  <a:gd name="connsiteX7" fmla="*/ 3702405 w 5161441"/>
                  <a:gd name="connsiteY7" fmla="*/ 1893281 h 3660533"/>
                  <a:gd name="connsiteX8" fmla="*/ 5159665 w 5161441"/>
                  <a:gd name="connsiteY8" fmla="*/ 1892248 h 3660533"/>
                  <a:gd name="connsiteX9" fmla="*/ 5158253 w 5161441"/>
                  <a:gd name="connsiteY9" fmla="*/ 2904063 h 3660533"/>
                  <a:gd name="connsiteX10" fmla="*/ 3876230 w 5161441"/>
                  <a:gd name="connsiteY10" fmla="*/ 2904093 h 3660533"/>
                  <a:gd name="connsiteX11" fmla="*/ 3695634 w 5161441"/>
                  <a:gd name="connsiteY11" fmla="*/ 3307365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5159381 w 5164365"/>
                  <a:gd name="connsiteY4" fmla="*/ 1281417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98415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297513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081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1690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5159665 w 5161441"/>
                  <a:gd name="connsiteY8" fmla="*/ 1870047 h 3660533"/>
                  <a:gd name="connsiteX9" fmla="*/ 5158253 w 5161441"/>
                  <a:gd name="connsiteY9" fmla="*/ 2904063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5159665 w 5161441"/>
                  <a:gd name="connsiteY7" fmla="*/ 1870047 h 3660533"/>
                  <a:gd name="connsiteX8" fmla="*/ 5158253 w 5161441"/>
                  <a:gd name="connsiteY8" fmla="*/ 2904063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5159381 w 5161441"/>
                  <a:gd name="connsiteY4" fmla="*/ 1301954 h 3660533"/>
                  <a:gd name="connsiteX5" fmla="*/ 5159665 w 5161441"/>
                  <a:gd name="connsiteY5" fmla="*/ 1458459 h 3660533"/>
                  <a:gd name="connsiteX6" fmla="*/ 5159665 w 5161441"/>
                  <a:gd name="connsiteY6" fmla="*/ 1870047 h 3660533"/>
                  <a:gd name="connsiteX7" fmla="*/ 5158253 w 5161441"/>
                  <a:gd name="connsiteY7" fmla="*/ 2904063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5159381 w 5161441"/>
                  <a:gd name="connsiteY3" fmla="*/ 1301954 h 3660533"/>
                  <a:gd name="connsiteX4" fmla="*/ 5159665 w 5161441"/>
                  <a:gd name="connsiteY4" fmla="*/ 1458459 h 3660533"/>
                  <a:gd name="connsiteX5" fmla="*/ 5159665 w 5161441"/>
                  <a:gd name="connsiteY5" fmla="*/ 1870047 h 3660533"/>
                  <a:gd name="connsiteX6" fmla="*/ 5158253 w 5161441"/>
                  <a:gd name="connsiteY6" fmla="*/ 2904063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cubicBezTo>
                      <a:pt x="5160754" y="302484"/>
                      <a:pt x="5160068" y="582768"/>
                      <a:pt x="5159381" y="885252"/>
                    </a:cubicBezTo>
                    <a:lnTo>
                      <a:pt x="5159381" y="1301954"/>
                    </a:lnTo>
                    <a:cubicBezTo>
                      <a:pt x="5159476" y="1354123"/>
                      <a:pt x="5159570" y="1406290"/>
                      <a:pt x="5159665" y="1458459"/>
                    </a:cubicBezTo>
                    <a:lnTo>
                      <a:pt x="5159665" y="1870047"/>
                    </a:lnTo>
                    <a:cubicBezTo>
                      <a:pt x="5159194" y="2207319"/>
                      <a:pt x="5158724" y="2566791"/>
                      <a:pt x="5158253" y="2904063"/>
                    </a:cubicBezTo>
                    <a:lnTo>
                      <a:pt x="5158253" y="3307335"/>
                    </a:lnTo>
                    <a:cubicBezTo>
                      <a:pt x="5159316" y="3425068"/>
                      <a:pt x="5160378" y="3542800"/>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vert="horz"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646464"/>
                  </a:solidFill>
                </a:endParaRPr>
              </a:p>
            </p:txBody>
          </p:sp>
        </p:grpSp>
        <p:sp>
          <p:nvSpPr>
            <p:cNvPr id="21" name="Rectangle 13"/>
            <p:cNvSpPr>
              <a:spLocks noChangeArrowheads="1"/>
            </p:cNvSpPr>
            <p:nvPr/>
          </p:nvSpPr>
          <p:spPr bwMode="gray">
            <a:xfrm>
              <a:off x="630176" y="900871"/>
              <a:ext cx="4932000"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chemeClr val="accent1"/>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r>
                <a:rPr lang="de-DE" sz="1319" b="1" kern="0" dirty="0">
                  <a:solidFill>
                    <a:srgbClr val="FFFFFF"/>
                  </a:solidFill>
                </a:rPr>
                <a:t>Data</a:t>
              </a:r>
            </a:p>
          </p:txBody>
        </p:sp>
      </p:grpSp>
      <p:sp>
        <p:nvSpPr>
          <p:cNvPr id="2" name="Title 1"/>
          <p:cNvSpPr>
            <a:spLocks noGrp="1"/>
          </p:cNvSpPr>
          <p:nvPr>
            <p:ph type="title"/>
          </p:nvPr>
        </p:nvSpPr>
        <p:spPr/>
        <p:txBody>
          <a:bodyPr/>
          <a:lstStyle/>
          <a:p>
            <a:r>
              <a:rPr lang="en-US" sz="2400" dirty="0" smtClean="0"/>
              <a:t>EY Survey</a:t>
            </a:r>
            <a:br>
              <a:rPr lang="en-US" sz="2400" dirty="0" smtClean="0"/>
            </a:br>
            <a:r>
              <a:rPr lang="en-US" sz="2000" i="1" dirty="0" smtClean="0"/>
              <a:t>Probability of Default</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23</a:t>
            </a:fld>
            <a:endParaRPr lang="en-US" altLang="en-US"/>
          </a:p>
        </p:txBody>
      </p:sp>
      <p:sp>
        <p:nvSpPr>
          <p:cNvPr id="15" name="TextBox 14"/>
          <p:cNvSpPr txBox="1"/>
          <p:nvPr/>
        </p:nvSpPr>
        <p:spPr>
          <a:xfrm>
            <a:off x="5240575" y="1337564"/>
            <a:ext cx="4378088" cy="2823850"/>
          </a:xfrm>
          <a:prstGeom prst="rect">
            <a:avLst/>
          </a:prstGeom>
          <a:noFill/>
        </p:spPr>
        <p:txBody>
          <a:bodyPr wrap="square" rtlCol="0">
            <a:spAutoFit/>
          </a:bodyPr>
          <a:lstStyle/>
          <a:p>
            <a:pPr defTabSz="861892">
              <a:spcAft>
                <a:spcPts val="565"/>
              </a:spcAft>
              <a:buClr>
                <a:srgbClr val="646464"/>
              </a:buClr>
              <a:buSzPct val="100000"/>
            </a:pPr>
            <a:r>
              <a:rPr lang="en-IN" sz="1100" b="1" dirty="0">
                <a:solidFill>
                  <a:srgbClr val="000000"/>
                </a:solidFill>
              </a:rPr>
              <a:t>Developing IFRS 9 PDs</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Most banks intend to leverage their Basel PDs/underlying scorecards as a starting point, whilst a minority plan to use an approach that seeks to build new IFRS 9 models from scratch (primarily for standardised portfolios)</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When using Basel PDs/ underlying scorecards as a starting points, all banks recognize that there is a need for a different calibration required for IFRS 9, in order to transform a Basel PD into an </a:t>
            </a:r>
            <a:r>
              <a:rPr lang="en-IN" sz="1100" dirty="0" err="1">
                <a:solidFill>
                  <a:srgbClr val="000000"/>
                </a:solidFill>
              </a:rPr>
              <a:t>unbiaised</a:t>
            </a:r>
            <a:r>
              <a:rPr lang="en-IN" sz="1100" dirty="0">
                <a:solidFill>
                  <a:srgbClr val="000000"/>
                </a:solidFill>
              </a:rPr>
              <a:t> point in time metric and include forward looking expectations</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Most respondents are still debating the best method to re-calibrate models: typical approaches being considered include a cycle index approach or a parallel calibration replicating the Basel process. Calibrations must include forward looking expectations</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Roll rates or bespoke methods are also being considered, particularly for portfolios where no Basel model exists</a:t>
            </a:r>
            <a:endParaRPr lang="en-US" sz="1100" dirty="0">
              <a:solidFill>
                <a:srgbClr val="000000"/>
              </a:solidFill>
            </a:endParaRPr>
          </a:p>
        </p:txBody>
      </p:sp>
      <p:sp>
        <p:nvSpPr>
          <p:cNvPr id="26" name="TextBox 25"/>
          <p:cNvSpPr txBox="1"/>
          <p:nvPr/>
        </p:nvSpPr>
        <p:spPr>
          <a:xfrm>
            <a:off x="4947277" y="4118718"/>
            <a:ext cx="4721214" cy="1731243"/>
          </a:xfrm>
          <a:prstGeom prst="rect">
            <a:avLst/>
          </a:prstGeom>
          <a:noFill/>
        </p:spPr>
        <p:txBody>
          <a:bodyPr wrap="square" rtlCol="0">
            <a:spAutoFit/>
          </a:bodyPr>
          <a:lstStyle/>
          <a:p>
            <a:pPr defTabSz="861892">
              <a:spcAft>
                <a:spcPts val="565"/>
              </a:spcAft>
              <a:buClr>
                <a:srgbClr val="646464"/>
              </a:buClr>
              <a:buSzPct val="100000"/>
            </a:pPr>
            <a:r>
              <a:rPr lang="de-DE" sz="1100" b="1" dirty="0">
                <a:solidFill>
                  <a:srgbClr val="000000"/>
                </a:solidFill>
              </a:rPr>
              <a:t>Lifetime PD measurement</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Approximately half of the banks  already use Lifetime PDs for other processes for at least part of their businesses – e.g. economic capital and/or pricing. These banks are planning to leverage existing term structures for IFRS 9, even though significant work is required to adjust the existing PDs</a:t>
            </a:r>
          </a:p>
          <a:p>
            <a:pPr marL="197048" indent="-188989" defTabSz="861892">
              <a:spcAft>
                <a:spcPts val="283"/>
              </a:spcAft>
              <a:buClr>
                <a:schemeClr val="tx1"/>
              </a:buClr>
              <a:buSzPct val="100000"/>
              <a:buFont typeface="Wingdings" panose="05000000000000000000" pitchFamily="2" charset="2"/>
              <a:buChar char="§"/>
            </a:pPr>
            <a:r>
              <a:rPr lang="en-IN" sz="1100" dirty="0">
                <a:solidFill>
                  <a:srgbClr val="000000"/>
                </a:solidFill>
              </a:rPr>
              <a:t>Otherwise, a combination of transition matrices (Corporate) and extrapolations  of 12m  PDs (Retail) will be used to estimate lifetime PD. Where internal data is not available, Moody‘s data seems to be the first solution for Wholesale and central bank/national office of statistics for Retail</a:t>
            </a:r>
          </a:p>
        </p:txBody>
      </p:sp>
      <p:sp>
        <p:nvSpPr>
          <p:cNvPr id="33" name="TextBox 32"/>
          <p:cNvSpPr txBox="1"/>
          <p:nvPr/>
        </p:nvSpPr>
        <p:spPr>
          <a:xfrm>
            <a:off x="592031" y="1333697"/>
            <a:ext cx="3113864" cy="266355"/>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US" sz="1131" b="1" dirty="0">
                <a:solidFill>
                  <a:srgbClr val="000000"/>
                </a:solidFill>
              </a:rPr>
              <a:t>Use of Basel PDs as a starting point</a:t>
            </a:r>
          </a:p>
        </p:txBody>
      </p:sp>
      <p:sp>
        <p:nvSpPr>
          <p:cNvPr id="34" name="TextBox 33"/>
          <p:cNvSpPr txBox="1"/>
          <p:nvPr/>
        </p:nvSpPr>
        <p:spPr>
          <a:xfrm>
            <a:off x="689116" y="4077584"/>
            <a:ext cx="3665224" cy="266355"/>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US" sz="1131" b="1" dirty="0">
                <a:solidFill>
                  <a:srgbClr val="000000"/>
                </a:solidFill>
              </a:rPr>
              <a:t>Availability of Lifetime PDs </a:t>
            </a:r>
          </a:p>
        </p:txBody>
      </p:sp>
      <p:sp>
        <p:nvSpPr>
          <p:cNvPr id="35" name="TextBox 34"/>
          <p:cNvSpPr txBox="1"/>
          <p:nvPr/>
        </p:nvSpPr>
        <p:spPr>
          <a:xfrm>
            <a:off x="592030" y="2558719"/>
            <a:ext cx="4330821" cy="266355"/>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US" sz="1131" b="1" dirty="0">
                <a:solidFill>
                  <a:srgbClr val="000000"/>
                </a:solidFill>
              </a:rPr>
              <a:t>Forward-looking perspective in assessment of PDs</a:t>
            </a:r>
          </a:p>
        </p:txBody>
      </p:sp>
      <p:graphicFrame>
        <p:nvGraphicFramePr>
          <p:cNvPr id="37" name="Chart 36"/>
          <p:cNvGraphicFramePr>
            <a:graphicFrameLocks/>
          </p:cNvGraphicFramePr>
          <p:nvPr>
            <p:extLst/>
          </p:nvPr>
        </p:nvGraphicFramePr>
        <p:xfrm>
          <a:off x="2813801" y="4554581"/>
          <a:ext cx="2208646" cy="1695161"/>
        </p:xfrm>
        <a:graphic>
          <a:graphicData uri="http://schemas.openxmlformats.org/drawingml/2006/chart">
            <c:chart xmlns:c="http://schemas.openxmlformats.org/drawingml/2006/chart" xmlns:r="http://schemas.openxmlformats.org/officeDocument/2006/relationships" r:id="rId3"/>
          </a:graphicData>
        </a:graphic>
      </p:graphicFrame>
      <p:grpSp>
        <p:nvGrpSpPr>
          <p:cNvPr id="39" name="Group 38"/>
          <p:cNvGrpSpPr/>
          <p:nvPr/>
        </p:nvGrpSpPr>
        <p:grpSpPr>
          <a:xfrm>
            <a:off x="357334" y="1314503"/>
            <a:ext cx="4311624" cy="4221631"/>
            <a:chOff x="354933" y="1413008"/>
            <a:chExt cx="4228129" cy="4478724"/>
          </a:xfrm>
        </p:grpSpPr>
        <p:graphicFrame>
          <p:nvGraphicFramePr>
            <p:cNvPr id="41" name="Chart 40"/>
            <p:cNvGraphicFramePr>
              <a:graphicFrameLocks/>
            </p:cNvGraphicFramePr>
            <p:nvPr>
              <p:extLst/>
            </p:nvPr>
          </p:nvGraphicFramePr>
          <p:xfrm>
            <a:off x="354933" y="2694580"/>
            <a:ext cx="1996804" cy="166053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2" name="Chart 41"/>
            <p:cNvGraphicFramePr>
              <a:graphicFrameLocks/>
            </p:cNvGraphicFramePr>
            <p:nvPr>
              <p:extLst/>
            </p:nvPr>
          </p:nvGraphicFramePr>
          <p:xfrm>
            <a:off x="2086471" y="2681514"/>
            <a:ext cx="2496591" cy="168667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3" name="Chart 42"/>
            <p:cNvGraphicFramePr>
              <a:graphicFrameLocks/>
            </p:cNvGraphicFramePr>
            <p:nvPr>
              <p:extLst/>
            </p:nvPr>
          </p:nvGraphicFramePr>
          <p:xfrm>
            <a:off x="392537" y="4277231"/>
            <a:ext cx="1886481" cy="161450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4" name="Chart 43"/>
            <p:cNvGraphicFramePr>
              <a:graphicFrameLocks/>
            </p:cNvGraphicFramePr>
            <p:nvPr>
              <p:extLst/>
            </p:nvPr>
          </p:nvGraphicFramePr>
          <p:xfrm>
            <a:off x="488476" y="1413008"/>
            <a:ext cx="1872000" cy="1476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5" name="Chart 44"/>
            <p:cNvGraphicFramePr>
              <a:graphicFrameLocks/>
            </p:cNvGraphicFramePr>
            <p:nvPr>
              <p:extLst/>
            </p:nvPr>
          </p:nvGraphicFramePr>
          <p:xfrm>
            <a:off x="2019359" y="1413008"/>
            <a:ext cx="2562807" cy="1476000"/>
          </p:xfrm>
          <a:graphic>
            <a:graphicData uri="http://schemas.openxmlformats.org/drawingml/2006/chart">
              <c:chart xmlns:c="http://schemas.openxmlformats.org/drawingml/2006/chart" xmlns:r="http://schemas.openxmlformats.org/officeDocument/2006/relationships" r:id="rId8"/>
            </a:graphicData>
          </a:graphic>
        </p:graphicFrame>
      </p:grpSp>
      <p:graphicFrame>
        <p:nvGraphicFramePr>
          <p:cNvPr id="40" name="Chart 39"/>
          <p:cNvGraphicFramePr>
            <a:graphicFrameLocks/>
          </p:cNvGraphicFramePr>
          <p:nvPr>
            <p:extLst/>
          </p:nvPr>
        </p:nvGraphicFramePr>
        <p:xfrm>
          <a:off x="2219212" y="4010629"/>
          <a:ext cx="2208646" cy="1527176"/>
        </p:xfrm>
        <a:graphic>
          <a:graphicData uri="http://schemas.openxmlformats.org/drawingml/2006/chart">
            <c:chart xmlns:c="http://schemas.openxmlformats.org/drawingml/2006/chart" xmlns:r="http://schemas.openxmlformats.org/officeDocument/2006/relationships" r:id="rId9"/>
          </a:graphicData>
        </a:graphic>
      </p:graphicFrame>
      <p:sp>
        <p:nvSpPr>
          <p:cNvPr id="46" name="Rectangle 45"/>
          <p:cNvSpPr/>
          <p:nvPr/>
        </p:nvSpPr>
        <p:spPr>
          <a:xfrm>
            <a:off x="592030" y="3915175"/>
            <a:ext cx="3975534" cy="223010"/>
          </a:xfrm>
          <a:prstGeom prst="rect">
            <a:avLst/>
          </a:prstGeom>
        </p:spPr>
        <p:txBody>
          <a:bodyPr wrap="square">
            <a:spAutoFit/>
          </a:bodyPr>
          <a:lstStyle/>
          <a:p>
            <a:pPr marL="86787" lvl="1" defTabSz="861892" fontAlgn="base">
              <a:spcBef>
                <a:spcPct val="0"/>
              </a:spcBef>
              <a:buClr>
                <a:srgbClr val="FFE600"/>
              </a:buClr>
              <a:buSzPct val="80000"/>
            </a:pPr>
            <a:r>
              <a:rPr lang="de-DE" sz="849" dirty="0">
                <a:solidFill>
                  <a:srgbClr val="000000"/>
                </a:solidFill>
              </a:rPr>
              <a:t>Total exceeds 20 as some banks cited more than one factor</a:t>
            </a:r>
            <a:endParaRPr lang="de-DE" sz="849" dirty="0">
              <a:solidFill>
                <a:srgbClr val="FF0000"/>
              </a:solidFill>
            </a:endParaRPr>
          </a:p>
        </p:txBody>
      </p:sp>
      <p:sp>
        <p:nvSpPr>
          <p:cNvPr id="47" name="Rectangle 3"/>
          <p:cNvSpPr/>
          <p:nvPr/>
        </p:nvSpPr>
        <p:spPr bwMode="auto">
          <a:xfrm>
            <a:off x="290730" y="5354119"/>
            <a:ext cx="4337697" cy="950864"/>
          </a:xfrm>
          <a:custGeom>
            <a:avLst/>
            <a:gdLst>
              <a:gd name="connsiteX0" fmla="*/ 0 w 4323974"/>
              <a:gd name="connsiteY0" fmla="*/ 0 h 2763294"/>
              <a:gd name="connsiteX1" fmla="*/ 4323974 w 4323974"/>
              <a:gd name="connsiteY1" fmla="*/ 0 h 2763294"/>
              <a:gd name="connsiteX2" fmla="*/ 4323974 w 4323974"/>
              <a:gd name="connsiteY2" fmla="*/ 2763294 h 2763294"/>
              <a:gd name="connsiteX3" fmla="*/ 0 w 4323974"/>
              <a:gd name="connsiteY3" fmla="*/ 2763294 h 2763294"/>
              <a:gd name="connsiteX4" fmla="*/ 0 w 4323974"/>
              <a:gd name="connsiteY4" fmla="*/ 0 h 2763294"/>
              <a:gd name="connsiteX0" fmla="*/ 0 w 4575765"/>
              <a:gd name="connsiteY0" fmla="*/ 0 h 2763294"/>
              <a:gd name="connsiteX1" fmla="*/ 4575765 w 4575765"/>
              <a:gd name="connsiteY1" fmla="*/ 0 h 2763294"/>
              <a:gd name="connsiteX2" fmla="*/ 4323974 w 4575765"/>
              <a:gd name="connsiteY2" fmla="*/ 2763294 h 2763294"/>
              <a:gd name="connsiteX3" fmla="*/ 0 w 4575765"/>
              <a:gd name="connsiteY3" fmla="*/ 2763294 h 2763294"/>
              <a:gd name="connsiteX4" fmla="*/ 0 w 4575765"/>
              <a:gd name="connsiteY4" fmla="*/ 0 h 2763294"/>
              <a:gd name="connsiteX0" fmla="*/ 0 w 4523174"/>
              <a:gd name="connsiteY0" fmla="*/ 0 h 2763294"/>
              <a:gd name="connsiteX1" fmla="*/ 4523174 w 4523174"/>
              <a:gd name="connsiteY1" fmla="*/ 0 h 2763294"/>
              <a:gd name="connsiteX2" fmla="*/ 4323974 w 4523174"/>
              <a:gd name="connsiteY2" fmla="*/ 2763294 h 2763294"/>
              <a:gd name="connsiteX3" fmla="*/ 0 w 4523174"/>
              <a:gd name="connsiteY3" fmla="*/ 2763294 h 2763294"/>
              <a:gd name="connsiteX4" fmla="*/ 0 w 4523174"/>
              <a:gd name="connsiteY4" fmla="*/ 0 h 2763294"/>
              <a:gd name="connsiteX0" fmla="*/ 0 w 4494654"/>
              <a:gd name="connsiteY0" fmla="*/ 0 h 2763294"/>
              <a:gd name="connsiteX1" fmla="*/ 4494654 w 4494654"/>
              <a:gd name="connsiteY1" fmla="*/ 0 h 2763294"/>
              <a:gd name="connsiteX2" fmla="*/ 4323974 w 4494654"/>
              <a:gd name="connsiteY2" fmla="*/ 2763294 h 2763294"/>
              <a:gd name="connsiteX3" fmla="*/ 0 w 4494654"/>
              <a:gd name="connsiteY3" fmla="*/ 2763294 h 2763294"/>
              <a:gd name="connsiteX4" fmla="*/ 0 w 4494654"/>
              <a:gd name="connsiteY4" fmla="*/ 0 h 2763294"/>
              <a:gd name="connsiteX0" fmla="*/ 0 w 4475641"/>
              <a:gd name="connsiteY0" fmla="*/ 0 h 2763294"/>
              <a:gd name="connsiteX1" fmla="*/ 4475641 w 4475641"/>
              <a:gd name="connsiteY1" fmla="*/ 0 h 2763294"/>
              <a:gd name="connsiteX2" fmla="*/ 4323974 w 4475641"/>
              <a:gd name="connsiteY2" fmla="*/ 2763294 h 2763294"/>
              <a:gd name="connsiteX3" fmla="*/ 0 w 4475641"/>
              <a:gd name="connsiteY3" fmla="*/ 2763294 h 2763294"/>
              <a:gd name="connsiteX4" fmla="*/ 0 w 4475641"/>
              <a:gd name="connsiteY4" fmla="*/ 0 h 2763294"/>
              <a:gd name="connsiteX0" fmla="*/ 0 w 4485099"/>
              <a:gd name="connsiteY0" fmla="*/ 0 h 2763294"/>
              <a:gd name="connsiteX1" fmla="*/ 4485099 w 4485099"/>
              <a:gd name="connsiteY1" fmla="*/ 0 h 2763294"/>
              <a:gd name="connsiteX2" fmla="*/ 4323974 w 4485099"/>
              <a:gd name="connsiteY2" fmla="*/ 2763294 h 2763294"/>
              <a:gd name="connsiteX3" fmla="*/ 0 w 4485099"/>
              <a:gd name="connsiteY3" fmla="*/ 2763294 h 2763294"/>
              <a:gd name="connsiteX4" fmla="*/ 0 w 4485099"/>
              <a:gd name="connsiteY4" fmla="*/ 0 h 2763294"/>
              <a:gd name="connsiteX0" fmla="*/ 0 w 4437807"/>
              <a:gd name="connsiteY0" fmla="*/ 0 h 2763294"/>
              <a:gd name="connsiteX1" fmla="*/ 4437807 w 4437807"/>
              <a:gd name="connsiteY1" fmla="*/ 0 h 2763294"/>
              <a:gd name="connsiteX2" fmla="*/ 4323974 w 4437807"/>
              <a:gd name="connsiteY2" fmla="*/ 2763294 h 2763294"/>
              <a:gd name="connsiteX3" fmla="*/ 0 w 4437807"/>
              <a:gd name="connsiteY3" fmla="*/ 2763294 h 2763294"/>
              <a:gd name="connsiteX4" fmla="*/ 0 w 4437807"/>
              <a:gd name="connsiteY4" fmla="*/ 0 h 2763294"/>
              <a:gd name="connsiteX0" fmla="*/ 0 w 4428349"/>
              <a:gd name="connsiteY0" fmla="*/ 0 h 2763294"/>
              <a:gd name="connsiteX1" fmla="*/ 4428349 w 4428349"/>
              <a:gd name="connsiteY1" fmla="*/ 0 h 2763294"/>
              <a:gd name="connsiteX2" fmla="*/ 4323974 w 4428349"/>
              <a:gd name="connsiteY2" fmla="*/ 2763294 h 2763294"/>
              <a:gd name="connsiteX3" fmla="*/ 0 w 4428349"/>
              <a:gd name="connsiteY3" fmla="*/ 2763294 h 2763294"/>
              <a:gd name="connsiteX4" fmla="*/ 0 w 4428349"/>
              <a:gd name="connsiteY4" fmla="*/ 0 h 2763294"/>
              <a:gd name="connsiteX0" fmla="*/ 0 w 4447266"/>
              <a:gd name="connsiteY0" fmla="*/ 0 h 2763294"/>
              <a:gd name="connsiteX1" fmla="*/ 4447266 w 4447266"/>
              <a:gd name="connsiteY1" fmla="*/ 0 h 2763294"/>
              <a:gd name="connsiteX2" fmla="*/ 4323974 w 4447266"/>
              <a:gd name="connsiteY2" fmla="*/ 2763294 h 2763294"/>
              <a:gd name="connsiteX3" fmla="*/ 0 w 4447266"/>
              <a:gd name="connsiteY3" fmla="*/ 2763294 h 2763294"/>
              <a:gd name="connsiteX4" fmla="*/ 0 w 4447266"/>
              <a:gd name="connsiteY4" fmla="*/ 0 h 2763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7266" h="2763294">
                <a:moveTo>
                  <a:pt x="0" y="0"/>
                </a:moveTo>
                <a:lnTo>
                  <a:pt x="4447266" y="0"/>
                </a:lnTo>
                <a:lnTo>
                  <a:pt x="4323974" y="2763294"/>
                </a:lnTo>
                <a:lnTo>
                  <a:pt x="0" y="2763294"/>
                </a:lnTo>
                <a:lnTo>
                  <a:pt x="0" y="0"/>
                </a:lnTo>
                <a:close/>
              </a:path>
            </a:pathLst>
          </a:custGeom>
          <a:solidFill>
            <a:schemeClr val="accent1"/>
          </a:solidFill>
          <a:ln w="9525" cap="flat" cmpd="sng" algn="ctr">
            <a:solidFill>
              <a:schemeClr val="tx2"/>
            </a:solidFill>
            <a:prstDash val="solid"/>
            <a:round/>
            <a:headEnd type="none" w="med" len="med"/>
            <a:tailEnd type="none" w="med" len="med"/>
          </a:ln>
          <a:effectLst/>
        </p:spPr>
        <p:txBody>
          <a:bodyPr vert="horz" wrap="square" lIns="84834" tIns="44114" rIns="84834" bIns="44114" numCol="1" rtlCol="0" anchor="t" anchorCtr="0" compatLnSpc="1">
            <a:prstTxWarp prst="textNoShape">
              <a:avLst/>
            </a:prstTxWarp>
            <a:spAutoFit/>
          </a:bodyPr>
          <a:lstStyle/>
          <a:p>
            <a:pPr defTabSz="861892">
              <a:buClr>
                <a:srgbClr val="FFE600"/>
              </a:buClr>
              <a:buSzPct val="80000"/>
            </a:pPr>
            <a:r>
              <a:rPr lang="en-IN" b="1" dirty="0">
                <a:solidFill>
                  <a:schemeClr val="bg1"/>
                </a:solidFill>
              </a:rPr>
              <a:t>Adjustments required to Basel P</a:t>
            </a:r>
            <a:r>
              <a:rPr lang="en-IN" b="1" dirty="0" smtClean="0">
                <a:solidFill>
                  <a:schemeClr val="bg1"/>
                </a:solidFill>
              </a:rPr>
              <a:t>D </a:t>
            </a:r>
            <a:r>
              <a:rPr lang="en-IN" b="1" dirty="0">
                <a:solidFill>
                  <a:schemeClr val="bg1"/>
                </a:solidFill>
              </a:rPr>
              <a:t>when used as starting point</a:t>
            </a:r>
          </a:p>
          <a:p>
            <a:pPr marL="161605" indent="-161605" defTabSz="861892">
              <a:buClr>
                <a:schemeClr val="bg1"/>
              </a:buClr>
              <a:buSzPct val="80000"/>
              <a:buFont typeface="Arial" panose="020B0604020202020204" pitchFamily="34" charset="0"/>
              <a:buChar char="•"/>
            </a:pPr>
            <a:r>
              <a:rPr lang="en-IN" sz="1100" dirty="0" smtClean="0">
                <a:solidFill>
                  <a:schemeClr val="bg1"/>
                </a:solidFill>
              </a:rPr>
              <a:t>Transformation </a:t>
            </a:r>
            <a:r>
              <a:rPr lang="en-IN" sz="1100" dirty="0">
                <a:solidFill>
                  <a:schemeClr val="bg1"/>
                </a:solidFill>
              </a:rPr>
              <a:t>from ‘Through the cycle’ to ‘Point in time’</a:t>
            </a:r>
          </a:p>
          <a:p>
            <a:pPr marL="161605" indent="-161605" defTabSz="861892">
              <a:buClr>
                <a:schemeClr val="bg1"/>
              </a:buClr>
              <a:buSzPct val="80000"/>
              <a:buFont typeface="Arial" panose="020B0604020202020204" pitchFamily="34" charset="0"/>
              <a:buChar char="•"/>
            </a:pPr>
            <a:r>
              <a:rPr lang="en-IN" sz="1100" dirty="0">
                <a:solidFill>
                  <a:schemeClr val="bg1"/>
                </a:solidFill>
              </a:rPr>
              <a:t>Incorporation of forward-looking expectations </a:t>
            </a:r>
          </a:p>
          <a:p>
            <a:pPr marL="161605" indent="-161605" defTabSz="861892">
              <a:buClr>
                <a:schemeClr val="bg1"/>
              </a:buClr>
              <a:buSzPct val="80000"/>
              <a:buFont typeface="Arial" panose="020B0604020202020204" pitchFamily="34" charset="0"/>
              <a:buChar char="•"/>
            </a:pPr>
            <a:r>
              <a:rPr lang="en-IN" sz="1100" dirty="0">
                <a:solidFill>
                  <a:schemeClr val="bg1"/>
                </a:solidFill>
              </a:rPr>
              <a:t>Term structure (lifetime PD)</a:t>
            </a:r>
          </a:p>
          <a:p>
            <a:pPr marL="161605" indent="-161605" defTabSz="861892">
              <a:buClr>
                <a:schemeClr val="bg1"/>
              </a:buClr>
              <a:buSzPct val="80000"/>
              <a:buFont typeface="Arial" panose="020B0604020202020204" pitchFamily="34" charset="0"/>
              <a:buChar char="•"/>
            </a:pPr>
            <a:r>
              <a:rPr lang="en-IN" sz="1100" dirty="0">
                <a:solidFill>
                  <a:schemeClr val="bg1"/>
                </a:solidFill>
              </a:rPr>
              <a:t>Remove conservatism (unbiased)</a:t>
            </a:r>
          </a:p>
        </p:txBody>
      </p:sp>
      <p:sp>
        <p:nvSpPr>
          <p:cNvPr id="27" name="TextBox 2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550106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t>Probability of Default (PD)</a:t>
            </a:r>
          </a:p>
          <a:p>
            <a:pPr marL="2843213" lvl="5" indent="-446088">
              <a:buFont typeface="Courier New" panose="02070309020205020404" pitchFamily="49" charset="0"/>
              <a:buChar char="o"/>
            </a:pPr>
            <a:r>
              <a:rPr lang="en-US" dirty="0">
                <a:latin typeface="Times New Roman" pitchFamily="18" charset="0"/>
                <a:cs typeface="Times New Roman" pitchFamily="18" charset="0"/>
              </a:rPr>
              <a:t>Through the Cycle PD (TTC PD)</a:t>
            </a:r>
          </a:p>
          <a:p>
            <a:pPr marL="2843213" lvl="5" indent="-446088">
              <a:buFont typeface="Courier New" panose="02070309020205020404" pitchFamily="49" charset="0"/>
              <a:buChar char="o"/>
            </a:pPr>
            <a:r>
              <a:rPr lang="en-US" dirty="0">
                <a:solidFill>
                  <a:schemeClr val="bg1">
                    <a:lumMod val="75000"/>
                  </a:schemeClr>
                </a:solidFill>
                <a:latin typeface="Times New Roman" pitchFamily="18" charset="0"/>
                <a:cs typeface="Times New Roman" pitchFamily="18" charset="0"/>
              </a:rPr>
              <a:t>Point in Time PD (</a:t>
            </a:r>
            <a:r>
              <a:rPr lang="en-US" dirty="0" err="1">
                <a:solidFill>
                  <a:schemeClr val="bg1">
                    <a:lumMod val="75000"/>
                  </a:schemeClr>
                </a:solidFill>
                <a:latin typeface="Times New Roman" pitchFamily="18" charset="0"/>
                <a:cs typeface="Times New Roman" pitchFamily="18" charset="0"/>
              </a:rPr>
              <a:t>PiT</a:t>
            </a:r>
            <a:r>
              <a:rPr lang="en-US" dirty="0">
                <a:solidFill>
                  <a:schemeClr val="bg1">
                    <a:lumMod val="75000"/>
                  </a:schemeClr>
                </a:solidFill>
                <a:latin typeface="Times New Roman" pitchFamily="18" charset="0"/>
                <a:cs typeface="Times New Roman" pitchFamily="18" charset="0"/>
              </a:rPr>
              <a:t> PD)</a:t>
            </a:r>
          </a:p>
          <a:p>
            <a:pPr marL="808038" lvl="4" indent="-446088"/>
            <a:r>
              <a:rPr lang="en-US" sz="2000" dirty="0" smtClean="0">
                <a:solidFill>
                  <a:schemeClr val="bg1">
                    <a:lumMod val="75000"/>
                  </a:schemeClr>
                </a:solidFill>
              </a:rPr>
              <a:t>Loss Given Default (LGD)</a:t>
            </a:r>
          </a:p>
          <a:p>
            <a:pPr marL="808038" lvl="4" indent="-446088"/>
            <a:r>
              <a:rPr lang="en-US" sz="2000" dirty="0" smtClean="0">
                <a:solidFill>
                  <a:schemeClr val="bg1">
                    <a:lumMod val="75000"/>
                  </a:schemeClr>
                </a:solidFill>
              </a:rPr>
              <a:t>Exposure at Default (EAD)</a:t>
            </a:r>
            <a:endParaRPr lang="en-US" sz="2000" dirty="0">
              <a:solidFill>
                <a:schemeClr val="bg1">
                  <a:lumMod val="75000"/>
                </a:schemeClr>
              </a:solidFill>
            </a:endParaRPr>
          </a:p>
          <a:p>
            <a:pPr marL="808038" lvl="4" indent="-446088"/>
            <a:r>
              <a:rPr lang="en-US" sz="2000" dirty="0" smtClean="0">
                <a:solidFill>
                  <a:schemeClr val="bg1">
                    <a:lumMod val="75000"/>
                  </a:schemeClr>
                </a:solidFill>
              </a:rPr>
              <a:t>Expected Credit Loss (ECL) Computation</a:t>
            </a: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24</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1082041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Probability of Default (PD)</a:t>
            </a:r>
            <a:br>
              <a:rPr lang="en-US" sz="2400" dirty="0" smtClean="0"/>
            </a:br>
            <a:r>
              <a:rPr lang="en-US" sz="2000" i="1" dirty="0"/>
              <a:t>2. Developing Forward Looking </a:t>
            </a:r>
            <a:r>
              <a:rPr lang="en-US" sz="2000" i="1" dirty="0" err="1"/>
              <a:t>PiT</a:t>
            </a:r>
            <a:r>
              <a:rPr lang="en-US" sz="2000" i="1" dirty="0"/>
              <a:t> PD</a:t>
            </a:r>
            <a:endParaRPr lang="en-IN" sz="20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25</a:t>
            </a:fld>
            <a:endParaRPr lang="en-US" altLang="en-US"/>
          </a:p>
        </p:txBody>
      </p:sp>
      <p:sp>
        <p:nvSpPr>
          <p:cNvPr id="14" name="TextBox 13"/>
          <p:cNvSpPr txBox="1"/>
          <p:nvPr/>
        </p:nvSpPr>
        <p:spPr>
          <a:xfrm>
            <a:off x="1990725" y="1660843"/>
            <a:ext cx="6038850" cy="400110"/>
          </a:xfrm>
          <a:prstGeom prst="rect">
            <a:avLst/>
          </a:prstGeom>
          <a:solidFill>
            <a:srgbClr val="FF0000"/>
          </a:solidFill>
        </p:spPr>
        <p:txBody>
          <a:bodyPr wrap="square" rtlCol="0">
            <a:spAutoFit/>
          </a:bodyPr>
          <a:lstStyle/>
          <a:p>
            <a:r>
              <a:rPr lang="en-US" sz="2000" b="1" dirty="0" smtClean="0">
                <a:solidFill>
                  <a:schemeClr val="bg1"/>
                </a:solidFill>
              </a:rPr>
              <a:t>Draft pages with Tom for final edits then insertion</a:t>
            </a:r>
            <a:endParaRPr lang="en-US" sz="2000" b="1" dirty="0">
              <a:solidFill>
                <a:schemeClr val="bg1"/>
              </a:solidFill>
            </a:endParaRPr>
          </a:p>
        </p:txBody>
      </p:sp>
    </p:spTree>
    <p:extLst>
      <p:ext uri="{BB962C8B-B14F-4D97-AF65-F5344CB8AC3E}">
        <p14:creationId xmlns:p14="http://schemas.microsoft.com/office/powerpoint/2010/main" val="12488160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t>Loss Given Default (LGD)</a:t>
            </a:r>
          </a:p>
          <a:p>
            <a:pPr marL="808038" lvl="4" indent="-446088"/>
            <a:r>
              <a:rPr lang="en-US" sz="2000" dirty="0" smtClean="0">
                <a:solidFill>
                  <a:schemeClr val="bg1">
                    <a:lumMod val="75000"/>
                  </a:schemeClr>
                </a:solidFill>
              </a:rPr>
              <a:t>Exposure at Default (EAD)</a:t>
            </a:r>
          </a:p>
          <a:p>
            <a:pPr marL="808038" lvl="4" indent="-446088"/>
            <a:r>
              <a:rPr lang="en-US" sz="2000" dirty="0" smtClean="0">
                <a:solidFill>
                  <a:schemeClr val="bg1">
                    <a:lumMod val="75000"/>
                  </a:schemeClr>
                </a:solidFill>
              </a:rPr>
              <a:t>Expected Credit Loss (ECL) Computation</a:t>
            </a: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26</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9378018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Key Concepts</a:t>
            </a:r>
            <a:endParaRPr lang="en-IN" sz="2400" i="1" dirty="0"/>
          </a:p>
        </p:txBody>
      </p:sp>
      <p:sp>
        <p:nvSpPr>
          <p:cNvPr id="3" name="Content Placeholder 2"/>
          <p:cNvSpPr>
            <a:spLocks noGrp="1"/>
          </p:cNvSpPr>
          <p:nvPr>
            <p:ph idx="1"/>
          </p:nvPr>
        </p:nvSpPr>
        <p:spPr/>
        <p:txBody>
          <a:bodyPr/>
          <a:lstStyle/>
          <a:p>
            <a:r>
              <a:rPr lang="en-IN" sz="1400" dirty="0"/>
              <a:t>There is no facility rating model </a:t>
            </a:r>
            <a:r>
              <a:rPr lang="en-IN" sz="1400" dirty="0" smtClean="0"/>
              <a:t>in use at </a:t>
            </a:r>
            <a:r>
              <a:rPr lang="en-IN" sz="1400" dirty="0"/>
              <a:t>the Bank to derive internal LGD estimates. Different exposures are currently assigned LGD estimates based on the following: </a:t>
            </a:r>
          </a:p>
          <a:p>
            <a:pPr marL="715963">
              <a:buFont typeface="+mj-lt"/>
              <a:buAutoNum type="alphaLcParenR"/>
            </a:pPr>
            <a:r>
              <a:rPr lang="en-IN" sz="1400" dirty="0"/>
              <a:t>Unsecured exposure: </a:t>
            </a:r>
            <a:r>
              <a:rPr lang="en-IN" sz="1400" dirty="0" smtClean="0"/>
              <a:t>Basel based 75% Haircuts to be used for unsecured exposure</a:t>
            </a:r>
            <a:endParaRPr lang="en-IN" sz="1400" dirty="0"/>
          </a:p>
          <a:p>
            <a:pPr marL="715963">
              <a:buFont typeface="+mj-lt"/>
              <a:buAutoNum type="alphaLcParenR"/>
            </a:pPr>
            <a:r>
              <a:rPr lang="en-IN" sz="1400" dirty="0"/>
              <a:t>Secured exposure: </a:t>
            </a:r>
            <a:endParaRPr lang="en-IN" sz="1400" dirty="0" smtClean="0"/>
          </a:p>
          <a:p>
            <a:pPr marL="981075" lvl="1" indent="-285750">
              <a:buFont typeface="Wingdings" panose="05000000000000000000" pitchFamily="2" charset="2"/>
              <a:buChar char="§"/>
            </a:pPr>
            <a:r>
              <a:rPr lang="en-IN" sz="1400" dirty="0" smtClean="0"/>
              <a:t>Haircut </a:t>
            </a:r>
            <a:r>
              <a:rPr lang="en-IN" sz="1400" dirty="0"/>
              <a:t>applied on various collateral types </a:t>
            </a:r>
            <a:r>
              <a:rPr lang="en-IN" sz="1400" dirty="0" smtClean="0"/>
              <a:t>is based on QNB’s Expert Judgement. </a:t>
            </a:r>
          </a:p>
          <a:p>
            <a:pPr marL="981075" lvl="1" indent="-285750">
              <a:buFont typeface="Wingdings" panose="05000000000000000000" pitchFamily="2" charset="2"/>
              <a:buChar char="§"/>
            </a:pPr>
            <a:r>
              <a:rPr lang="en-IN" sz="1400" dirty="0" smtClean="0"/>
              <a:t>Proportional collateral is calculated at customer level based on exposure value.</a:t>
            </a:r>
          </a:p>
          <a:p>
            <a:r>
              <a:rPr lang="en-US" sz="1400" dirty="0" smtClean="0"/>
              <a:t>The final LGD is floored at 10% and maximum up to 75%.</a:t>
            </a:r>
            <a:endParaRPr lang="en-IN" sz="1400" dirty="0" smtClean="0"/>
          </a:p>
          <a:p>
            <a:r>
              <a:rPr lang="en-IN" sz="1400" dirty="0" smtClean="0"/>
              <a:t>Designing </a:t>
            </a:r>
            <a:r>
              <a:rPr lang="en-IN" sz="1400" dirty="0"/>
              <a:t>the LGD methodology for IFRS9 implies defining the methodologies for the following:</a:t>
            </a:r>
          </a:p>
          <a:p>
            <a:endParaRPr lang="en-IN" sz="1400"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27</a:t>
            </a:fld>
            <a:endParaRPr lang="en-US" altLang="en-US"/>
          </a:p>
        </p:txBody>
      </p:sp>
      <p:sp>
        <p:nvSpPr>
          <p:cNvPr id="6" name="Rectangle 5"/>
          <p:cNvSpPr/>
          <p:nvPr/>
        </p:nvSpPr>
        <p:spPr>
          <a:xfrm>
            <a:off x="573562" y="3686314"/>
            <a:ext cx="8926936" cy="802772"/>
          </a:xfrm>
          <a:prstGeom prst="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t" anchorCtr="0">
            <a:spAutoFit/>
          </a:bodyPr>
          <a:lstStyle/>
          <a:p>
            <a:pPr marL="228600" lvl="0" indent="-228600">
              <a:spcBef>
                <a:spcPts val="200"/>
              </a:spcBef>
              <a:spcAft>
                <a:spcPts val="300"/>
              </a:spcAft>
              <a:buFont typeface="+mj-lt"/>
              <a:buAutoNum type="alphaLcParenR"/>
            </a:pPr>
            <a:r>
              <a:rPr lang="en-US" sz="1400" dirty="0">
                <a:solidFill>
                  <a:schemeClr val="tx1"/>
                </a:solidFill>
                <a:latin typeface="Times New Roman" panose="02020603050405020304" pitchFamily="18" charset="0"/>
                <a:cs typeface="Times New Roman" panose="02020603050405020304" pitchFamily="18" charset="0"/>
              </a:rPr>
              <a:t>IFRS 9 requires a </a:t>
            </a:r>
            <a:r>
              <a:rPr lang="en-US" sz="1400" dirty="0" smtClean="0">
                <a:solidFill>
                  <a:schemeClr val="tx1"/>
                </a:solidFill>
                <a:latin typeface="Times New Roman" panose="02020603050405020304" pitchFamily="18" charset="0"/>
                <a:cs typeface="Times New Roman" panose="02020603050405020304" pitchFamily="18" charset="0"/>
              </a:rPr>
              <a:t>LGD term structure. As a first step, each exposure should be assigned a TTC LGD estimate </a:t>
            </a:r>
            <a:endParaRPr lang="en-US" sz="1400" dirty="0">
              <a:solidFill>
                <a:schemeClr val="tx1"/>
              </a:solidFill>
              <a:latin typeface="Times New Roman" panose="02020603050405020304" pitchFamily="18" charset="0"/>
              <a:cs typeface="Times New Roman" panose="02020603050405020304" pitchFamily="18" charset="0"/>
            </a:endParaRPr>
          </a:p>
          <a:p>
            <a:pPr marL="228600" lvl="0" indent="-228600">
              <a:spcBef>
                <a:spcPts val="200"/>
              </a:spcBef>
              <a:spcAft>
                <a:spcPts val="300"/>
              </a:spcAft>
              <a:buFont typeface="+mj-lt"/>
              <a:buAutoNum type="alphaLcParenR"/>
            </a:pPr>
            <a:r>
              <a:rPr lang="en-US" sz="1400" dirty="0" smtClean="0">
                <a:solidFill>
                  <a:schemeClr val="tx1"/>
                </a:solidFill>
                <a:latin typeface="Times New Roman" panose="02020603050405020304" pitchFamily="18" charset="0"/>
                <a:cs typeface="Times New Roman" panose="02020603050405020304" pitchFamily="18" charset="0"/>
              </a:rPr>
              <a:t>By </a:t>
            </a:r>
            <a:r>
              <a:rPr lang="en-US" sz="1400" dirty="0">
                <a:solidFill>
                  <a:schemeClr val="tx1"/>
                </a:solidFill>
                <a:latin typeface="Times New Roman" panose="02020603050405020304" pitchFamily="18" charset="0"/>
                <a:cs typeface="Times New Roman" panose="02020603050405020304" pitchFamily="18" charset="0"/>
              </a:rPr>
              <a:t>“Unconditional </a:t>
            </a:r>
            <a:r>
              <a:rPr lang="en-US" sz="1400" dirty="0" smtClean="0">
                <a:solidFill>
                  <a:schemeClr val="tx1"/>
                </a:solidFill>
                <a:latin typeface="Times New Roman" panose="02020603050405020304" pitchFamily="18" charset="0"/>
                <a:cs typeface="Times New Roman" panose="02020603050405020304" pitchFamily="18" charset="0"/>
              </a:rPr>
              <a:t>LGD”, the LGD estimate does </a:t>
            </a:r>
            <a:r>
              <a:rPr lang="en-US" sz="1400" dirty="0">
                <a:solidFill>
                  <a:schemeClr val="tx1"/>
                </a:solidFill>
                <a:latin typeface="Times New Roman" panose="02020603050405020304" pitchFamily="18" charset="0"/>
                <a:cs typeface="Times New Roman" panose="02020603050405020304" pitchFamily="18" charset="0"/>
              </a:rPr>
              <a:t>not </a:t>
            </a:r>
            <a:r>
              <a:rPr lang="en-US" sz="1400" dirty="0" smtClean="0">
                <a:solidFill>
                  <a:schemeClr val="tx1"/>
                </a:solidFill>
                <a:latin typeface="Times New Roman" panose="02020603050405020304" pitchFamily="18" charset="0"/>
                <a:cs typeface="Times New Roman" panose="02020603050405020304" pitchFamily="18" charset="0"/>
              </a:rPr>
              <a:t>consider the </a:t>
            </a:r>
            <a:r>
              <a:rPr lang="en-US" sz="1400" dirty="0">
                <a:solidFill>
                  <a:schemeClr val="tx1"/>
                </a:solidFill>
                <a:latin typeface="Times New Roman" panose="02020603050405020304" pitchFamily="18" charset="0"/>
                <a:cs typeface="Times New Roman" panose="02020603050405020304" pitchFamily="18" charset="0"/>
              </a:rPr>
              <a:t>impact of forward </a:t>
            </a:r>
            <a:r>
              <a:rPr lang="en-US" sz="1400" dirty="0" smtClean="0">
                <a:solidFill>
                  <a:schemeClr val="tx1"/>
                </a:solidFill>
                <a:latin typeface="Times New Roman" panose="02020603050405020304" pitchFamily="18" charset="0"/>
                <a:cs typeface="Times New Roman" panose="02020603050405020304" pitchFamily="18" charset="0"/>
              </a:rPr>
              <a:t>looking macro-economic </a:t>
            </a:r>
            <a:r>
              <a:rPr lang="en-US" sz="1400" dirty="0">
                <a:solidFill>
                  <a:schemeClr val="tx1"/>
                </a:solidFill>
                <a:latin typeface="Times New Roman" panose="02020603050405020304" pitchFamily="18" charset="0"/>
                <a:cs typeface="Times New Roman" panose="02020603050405020304" pitchFamily="18" charset="0"/>
              </a:rPr>
              <a:t>scenarios and is independent of future macro forecasts.</a:t>
            </a:r>
          </a:p>
        </p:txBody>
      </p:sp>
      <p:sp>
        <p:nvSpPr>
          <p:cNvPr id="7" name="Rectangle 6"/>
          <p:cNvSpPr/>
          <p:nvPr/>
        </p:nvSpPr>
        <p:spPr>
          <a:xfrm>
            <a:off x="573562" y="3444163"/>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2060"/>
                </a:solidFill>
                <a:latin typeface="Times New Roman" panose="02020603050405020304" pitchFamily="18" charset="0"/>
                <a:cs typeface="Times New Roman" panose="02020603050405020304" pitchFamily="18" charset="0"/>
              </a:rPr>
              <a:t>1</a:t>
            </a:r>
          </a:p>
        </p:txBody>
      </p:sp>
      <p:sp>
        <p:nvSpPr>
          <p:cNvPr id="8" name="Rectangle 7"/>
          <p:cNvSpPr/>
          <p:nvPr/>
        </p:nvSpPr>
        <p:spPr>
          <a:xfrm>
            <a:off x="861594" y="3444163"/>
            <a:ext cx="8640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bg1"/>
                </a:solidFill>
                <a:latin typeface="Times New Roman" panose="02020603050405020304" pitchFamily="18" charset="0"/>
                <a:cs typeface="Times New Roman" panose="02020603050405020304" pitchFamily="18" charset="0"/>
              </a:rPr>
              <a:t>Developing Unconditional LGD estimates </a:t>
            </a:r>
          </a:p>
        </p:txBody>
      </p:sp>
      <p:sp>
        <p:nvSpPr>
          <p:cNvPr id="9" name="Rectangle 8"/>
          <p:cNvSpPr/>
          <p:nvPr/>
        </p:nvSpPr>
        <p:spPr>
          <a:xfrm>
            <a:off x="573562" y="4863591"/>
            <a:ext cx="8926936" cy="1297779"/>
          </a:xfrm>
          <a:prstGeom prst="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t" anchorCtr="0">
            <a:spAutoFit/>
          </a:bodyPr>
          <a:lstStyle/>
          <a:p>
            <a:pPr marL="228600" lvl="0" indent="-228600">
              <a:spcBef>
                <a:spcPts val="200"/>
              </a:spcBef>
              <a:spcAft>
                <a:spcPts val="300"/>
              </a:spcAft>
              <a:buFont typeface="+mj-lt"/>
              <a:buAutoNum type="alphaLcParenR"/>
            </a:pPr>
            <a:r>
              <a:rPr lang="en-US" sz="1400" dirty="0">
                <a:solidFill>
                  <a:schemeClr val="tx1"/>
                </a:solidFill>
                <a:latin typeface="Times New Roman" panose="02020603050405020304" pitchFamily="18" charset="0"/>
                <a:cs typeface="Times New Roman" panose="02020603050405020304" pitchFamily="18" charset="0"/>
              </a:rPr>
              <a:t>The Unconditional </a:t>
            </a:r>
            <a:r>
              <a:rPr lang="en-US" sz="1400" dirty="0" smtClean="0">
                <a:solidFill>
                  <a:schemeClr val="tx1"/>
                </a:solidFill>
                <a:latin typeface="Times New Roman" panose="02020603050405020304" pitchFamily="18" charset="0"/>
                <a:cs typeface="Times New Roman" panose="02020603050405020304" pitchFamily="18" charset="0"/>
              </a:rPr>
              <a:t>LGD estimate must </a:t>
            </a:r>
            <a:r>
              <a:rPr lang="en-US" sz="1400" dirty="0">
                <a:solidFill>
                  <a:schemeClr val="tx1"/>
                </a:solidFill>
                <a:latin typeface="Times New Roman" panose="02020603050405020304" pitchFamily="18" charset="0"/>
                <a:cs typeface="Times New Roman" panose="02020603050405020304" pitchFamily="18" charset="0"/>
              </a:rPr>
              <a:t>then be conditioned to develop </a:t>
            </a:r>
            <a:r>
              <a:rPr lang="en-US" sz="1400" b="1" dirty="0">
                <a:solidFill>
                  <a:schemeClr val="tx1"/>
                </a:solidFill>
                <a:latin typeface="Times New Roman" panose="02020603050405020304" pitchFamily="18" charset="0"/>
                <a:cs typeface="Times New Roman" panose="02020603050405020304" pitchFamily="18" charset="0"/>
              </a:rPr>
              <a:t>Conditional </a:t>
            </a:r>
            <a:r>
              <a:rPr lang="en-US" sz="1400" b="1" dirty="0" smtClean="0">
                <a:solidFill>
                  <a:schemeClr val="tx1"/>
                </a:solidFill>
                <a:latin typeface="Times New Roman" panose="02020603050405020304" pitchFamily="18" charset="0"/>
                <a:cs typeface="Times New Roman" panose="02020603050405020304" pitchFamily="18" charset="0"/>
              </a:rPr>
              <a:t>LGD estimates </a:t>
            </a:r>
            <a:endParaRPr lang="en-US" sz="1400" dirty="0" smtClean="0">
              <a:solidFill>
                <a:schemeClr val="tx1"/>
              </a:solidFill>
              <a:latin typeface="Times New Roman" panose="02020603050405020304" pitchFamily="18" charset="0"/>
              <a:cs typeface="Times New Roman" panose="02020603050405020304" pitchFamily="18" charset="0"/>
            </a:endParaRPr>
          </a:p>
          <a:p>
            <a:pPr marL="228600" lvl="0" indent="-228600">
              <a:spcBef>
                <a:spcPts val="200"/>
              </a:spcBef>
              <a:spcAft>
                <a:spcPts val="300"/>
              </a:spcAft>
              <a:buFont typeface="+mj-lt"/>
              <a:buAutoNum type="alphaLcParenR"/>
            </a:pPr>
            <a:r>
              <a:rPr lang="en-US" sz="1400" dirty="0" smtClean="0">
                <a:solidFill>
                  <a:schemeClr val="tx1"/>
                </a:solidFill>
                <a:latin typeface="Times New Roman" panose="02020603050405020304" pitchFamily="18" charset="0"/>
                <a:cs typeface="Times New Roman" panose="02020603050405020304" pitchFamily="18" charset="0"/>
              </a:rPr>
              <a:t>“Conditional” implies that the LGD at a certain forward point in time is conditional or dependent </a:t>
            </a:r>
            <a:r>
              <a:rPr lang="en-US" sz="1400" dirty="0">
                <a:solidFill>
                  <a:schemeClr val="tx1"/>
                </a:solidFill>
                <a:latin typeface="Times New Roman" panose="02020603050405020304" pitchFamily="18" charset="0"/>
                <a:cs typeface="Times New Roman" panose="02020603050405020304" pitchFamily="18" charset="0"/>
              </a:rPr>
              <a:t>on the forecast of the economic conditions at that point in time</a:t>
            </a:r>
          </a:p>
          <a:p>
            <a:pPr marL="228600" lvl="0" indent="-228600">
              <a:spcBef>
                <a:spcPts val="200"/>
              </a:spcBef>
              <a:spcAft>
                <a:spcPts val="300"/>
              </a:spcAft>
              <a:buFont typeface="+mj-lt"/>
              <a:buAutoNum type="alphaLcParenR"/>
            </a:pPr>
            <a:r>
              <a:rPr lang="en-US" sz="1400" dirty="0" smtClean="0">
                <a:solidFill>
                  <a:schemeClr val="tx1"/>
                </a:solidFill>
                <a:latin typeface="Times New Roman" panose="02020603050405020304" pitchFamily="18" charset="0"/>
                <a:cs typeface="Times New Roman" panose="02020603050405020304" pitchFamily="18" charset="0"/>
              </a:rPr>
              <a:t>This </a:t>
            </a:r>
            <a:r>
              <a:rPr lang="en-US" sz="1400" dirty="0">
                <a:solidFill>
                  <a:schemeClr val="tx1"/>
                </a:solidFill>
                <a:latin typeface="Times New Roman" panose="02020603050405020304" pitchFamily="18" charset="0"/>
                <a:cs typeface="Times New Roman" panose="02020603050405020304" pitchFamily="18" charset="0"/>
              </a:rPr>
              <a:t>conditioning </a:t>
            </a:r>
            <a:r>
              <a:rPr lang="en-US" sz="1400" dirty="0" smtClean="0">
                <a:solidFill>
                  <a:schemeClr val="tx1"/>
                </a:solidFill>
                <a:latin typeface="Times New Roman" panose="02020603050405020304" pitchFamily="18" charset="0"/>
                <a:cs typeface="Times New Roman" panose="02020603050405020304" pitchFamily="18" charset="0"/>
              </a:rPr>
              <a:t>should </a:t>
            </a:r>
            <a:r>
              <a:rPr lang="en-US" sz="1400" dirty="0">
                <a:solidFill>
                  <a:schemeClr val="tx1"/>
                </a:solidFill>
                <a:latin typeface="Times New Roman" panose="02020603050405020304" pitchFamily="18" charset="0"/>
                <a:cs typeface="Times New Roman" panose="02020603050405020304" pitchFamily="18" charset="0"/>
              </a:rPr>
              <a:t>be based on </a:t>
            </a:r>
            <a:r>
              <a:rPr lang="en-US" sz="1400" dirty="0" smtClean="0">
                <a:solidFill>
                  <a:schemeClr val="tx1"/>
                </a:solidFill>
                <a:latin typeface="Times New Roman" panose="02020603050405020304" pitchFamily="18" charset="0"/>
                <a:cs typeface="Times New Roman" panose="02020603050405020304" pitchFamily="18" charset="0"/>
              </a:rPr>
              <a:t>a forecast </a:t>
            </a:r>
            <a:r>
              <a:rPr lang="en-US" sz="1400" dirty="0">
                <a:solidFill>
                  <a:schemeClr val="tx1"/>
                </a:solidFill>
                <a:latin typeface="Times New Roman" panose="02020603050405020304" pitchFamily="18" charset="0"/>
                <a:cs typeface="Times New Roman" panose="02020603050405020304" pitchFamily="18" charset="0"/>
              </a:rPr>
              <a:t>of macro-economic factors and other relevant </a:t>
            </a:r>
            <a:r>
              <a:rPr lang="en-US" sz="1400" dirty="0" smtClean="0">
                <a:solidFill>
                  <a:schemeClr val="tx1"/>
                </a:solidFill>
                <a:latin typeface="Times New Roman" panose="02020603050405020304" pitchFamily="18" charset="0"/>
                <a:cs typeface="Times New Roman" panose="02020603050405020304" pitchFamily="18" charset="0"/>
              </a:rPr>
              <a:t>forward looking </a:t>
            </a:r>
            <a:r>
              <a:rPr lang="en-US" sz="1400" dirty="0">
                <a:solidFill>
                  <a:schemeClr val="tx1"/>
                </a:solidFill>
                <a:latin typeface="Times New Roman" panose="02020603050405020304" pitchFamily="18" charset="0"/>
                <a:cs typeface="Times New Roman" panose="02020603050405020304" pitchFamily="18" charset="0"/>
              </a:rPr>
              <a:t>information.</a:t>
            </a:r>
          </a:p>
        </p:txBody>
      </p:sp>
      <p:sp>
        <p:nvSpPr>
          <p:cNvPr id="10" name="Rectangle 9"/>
          <p:cNvSpPr/>
          <p:nvPr/>
        </p:nvSpPr>
        <p:spPr>
          <a:xfrm>
            <a:off x="573562" y="4621441"/>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mtClean="0">
                <a:solidFill>
                  <a:srgbClr val="002060"/>
                </a:solidFill>
                <a:latin typeface="Times New Roman" panose="02020603050405020304" pitchFamily="18" charset="0"/>
                <a:cs typeface="Times New Roman" panose="02020603050405020304" pitchFamily="18" charset="0"/>
              </a:rPr>
              <a:t>2</a:t>
            </a:r>
            <a:endParaRPr lang="en-US" sz="1400" b="1" dirty="0" smtClean="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861594" y="4621441"/>
            <a:ext cx="8640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bg1"/>
                </a:solidFill>
                <a:latin typeface="Times New Roman" panose="02020603050405020304" pitchFamily="18" charset="0"/>
                <a:cs typeface="Times New Roman" panose="02020603050405020304" pitchFamily="18" charset="0"/>
              </a:rPr>
              <a:t>Developing Forward Looking Methodology to Condition LGD estimates based on Macroeconomic Factor(s) </a:t>
            </a:r>
          </a:p>
        </p:txBody>
      </p:sp>
      <p:sp>
        <p:nvSpPr>
          <p:cNvPr id="12" name="TextBox 11"/>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9229544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28</a:t>
            </a:fld>
            <a:endParaRPr lang="en-US" altLang="en-US"/>
          </a:p>
        </p:txBody>
      </p:sp>
      <p:sp>
        <p:nvSpPr>
          <p:cNvPr id="12" name="Content Placeholder 2"/>
          <p:cNvSpPr>
            <a:spLocks noGrp="1"/>
          </p:cNvSpPr>
          <p:nvPr>
            <p:ph sz="half" idx="1"/>
          </p:nvPr>
        </p:nvSpPr>
        <p:spPr>
          <a:xfrm>
            <a:off x="287339" y="1181100"/>
            <a:ext cx="3843014" cy="5178797"/>
          </a:xfrm>
        </p:spPr>
        <p:txBody>
          <a:bodyPr lIns="72000" tIns="72000" rIns="72000"/>
          <a:lstStyle/>
          <a:p>
            <a:pPr marL="0" indent="0">
              <a:buNone/>
            </a:pPr>
            <a:r>
              <a:rPr lang="en-US" sz="1600" b="1" dirty="0">
                <a:solidFill>
                  <a:schemeClr val="tx2"/>
                </a:solidFill>
              </a:rPr>
              <a:t>Methodology for </a:t>
            </a:r>
            <a:r>
              <a:rPr lang="en-US" sz="1600" b="1" dirty="0" smtClean="0">
                <a:solidFill>
                  <a:schemeClr val="tx2"/>
                </a:solidFill>
              </a:rPr>
              <a:t>Basel Regulatory Capital</a:t>
            </a:r>
            <a:endParaRPr lang="en-US" sz="1600" b="1" dirty="0">
              <a:solidFill>
                <a:schemeClr val="tx2"/>
              </a:solidFill>
            </a:endParaRPr>
          </a:p>
          <a:p>
            <a:pPr marL="400050" indent="-400050">
              <a:buFont typeface="+mj-lt"/>
              <a:buAutoNum type="romanLcPeriod"/>
            </a:pPr>
            <a:r>
              <a:rPr lang="en-US" sz="1400" b="1" dirty="0"/>
              <a:t>Downturn</a:t>
            </a:r>
            <a:r>
              <a:rPr lang="en-US" sz="1400" dirty="0"/>
              <a:t> LGD (consistent losses expected to be suffered during a severe but plausible economic downturn)</a:t>
            </a:r>
          </a:p>
          <a:p>
            <a:pPr marL="400050" indent="-400050">
              <a:buFont typeface="+mj-lt"/>
              <a:buAutoNum type="romanLcPeriod"/>
            </a:pPr>
            <a:r>
              <a:rPr lang="en-US" sz="1400" b="1" dirty="0"/>
              <a:t>Regulatory floors </a:t>
            </a:r>
            <a:r>
              <a:rPr lang="en-US" sz="1400" dirty="0"/>
              <a:t>may apply to mitigate risk of underestimating downturn LGD due to lack of historical data</a:t>
            </a:r>
          </a:p>
          <a:p>
            <a:pPr marL="400050" indent="-400050">
              <a:buFont typeface="+mj-lt"/>
              <a:buAutoNum type="romanLcPeriod"/>
            </a:pPr>
            <a:r>
              <a:rPr lang="en-US" sz="1400" dirty="0"/>
              <a:t>Discounted using </a:t>
            </a:r>
            <a:r>
              <a:rPr lang="en-US" sz="1400" b="1" dirty="0"/>
              <a:t>cost of capital</a:t>
            </a:r>
          </a:p>
          <a:p>
            <a:pPr marL="400050" indent="-400050">
              <a:buFont typeface="+mj-lt"/>
              <a:buAutoNum type="romanLcPeriod"/>
            </a:pPr>
            <a:r>
              <a:rPr lang="en-US" sz="1400" dirty="0"/>
              <a:t>All </a:t>
            </a:r>
            <a:r>
              <a:rPr lang="en-US" sz="1400" b="1" dirty="0"/>
              <a:t>collection costs </a:t>
            </a:r>
            <a:r>
              <a:rPr lang="en-US" sz="1400" dirty="0"/>
              <a:t>included</a:t>
            </a:r>
            <a:endParaRPr lang="en-GB" sz="1400" dirty="0"/>
          </a:p>
        </p:txBody>
      </p:sp>
      <p:sp>
        <p:nvSpPr>
          <p:cNvPr id="13" name="Content Placeholder 2"/>
          <p:cNvSpPr txBox="1">
            <a:spLocks/>
          </p:cNvSpPr>
          <p:nvPr/>
        </p:nvSpPr>
        <p:spPr>
          <a:xfrm>
            <a:off x="4408166" y="1181100"/>
            <a:ext cx="5210497" cy="5178797"/>
          </a:xfrm>
          <a:prstGeom prst="rect">
            <a:avLst/>
          </a:prstGeom>
        </p:spPr>
        <p:txBody>
          <a:bodyPr lIns="72000" tIns="72000" rIns="72000"/>
          <a:lst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chemeClr val="tx2"/>
                </a:solidFill>
              </a:rPr>
              <a:t>Methodology for </a:t>
            </a:r>
            <a:r>
              <a:rPr lang="en-GB" sz="1600" b="1" dirty="0">
                <a:solidFill>
                  <a:schemeClr val="tx2"/>
                </a:solidFill>
              </a:rPr>
              <a:t>IFRS 9</a:t>
            </a:r>
          </a:p>
          <a:p>
            <a:pPr marL="400050" indent="-400050" fontAlgn="ctr">
              <a:buFont typeface="+mj-lt"/>
              <a:buAutoNum type="romanLcPeriod"/>
            </a:pPr>
            <a:r>
              <a:rPr lang="en-GB" sz="1400" b="1" dirty="0" smtClean="0"/>
              <a:t>Removal of all downturn </a:t>
            </a:r>
            <a:r>
              <a:rPr lang="en-GB" sz="1400" dirty="0" smtClean="0"/>
              <a:t>calibrations and </a:t>
            </a:r>
            <a:r>
              <a:rPr lang="en-GB" sz="1400" b="1" dirty="0" smtClean="0"/>
              <a:t>floors</a:t>
            </a:r>
          </a:p>
          <a:p>
            <a:pPr marL="400050" indent="-400050" fontAlgn="ctr">
              <a:buFont typeface="+mj-lt"/>
              <a:buAutoNum type="romanLcPeriod"/>
            </a:pPr>
            <a:r>
              <a:rPr lang="en-GB" sz="1400" dirty="0" smtClean="0"/>
              <a:t>Development of </a:t>
            </a:r>
            <a:r>
              <a:rPr lang="en-GB" sz="1400" b="1" dirty="0" smtClean="0"/>
              <a:t>LGD term structures</a:t>
            </a:r>
          </a:p>
          <a:p>
            <a:pPr marL="400050" indent="-400050" fontAlgn="ctr">
              <a:buFont typeface="+mj-lt"/>
              <a:buAutoNum type="romanLcPeriod"/>
            </a:pPr>
            <a:r>
              <a:rPr lang="en-GB" sz="1400" dirty="0" smtClean="0"/>
              <a:t>For stage 3, past </a:t>
            </a:r>
            <a:r>
              <a:rPr lang="en-GB" sz="1400" b="1" dirty="0" smtClean="0"/>
              <a:t>recovery cash flows </a:t>
            </a:r>
            <a:r>
              <a:rPr lang="en-GB" sz="1400" dirty="0" smtClean="0"/>
              <a:t>to be considered</a:t>
            </a:r>
          </a:p>
          <a:p>
            <a:pPr marL="400050" indent="-400050" fontAlgn="ctr">
              <a:buFont typeface="+mj-lt"/>
              <a:buAutoNum type="romanLcPeriod"/>
            </a:pPr>
            <a:r>
              <a:rPr lang="en-GB" sz="1400" dirty="0" smtClean="0"/>
              <a:t>Inclusion of </a:t>
            </a:r>
            <a:r>
              <a:rPr lang="en-GB" sz="1400" b="1" dirty="0" smtClean="0"/>
              <a:t>future economic forecasting </a:t>
            </a:r>
            <a:r>
              <a:rPr lang="en-GB" sz="1400" dirty="0" smtClean="0"/>
              <a:t>(depending on macro approach – avoid double counting if correlation with PD is high) (5.5.17c) </a:t>
            </a:r>
          </a:p>
          <a:p>
            <a:pPr marL="400050" indent="-400050" fontAlgn="ctr">
              <a:buFont typeface="+mj-lt"/>
              <a:buAutoNum type="romanLcPeriod"/>
            </a:pPr>
            <a:r>
              <a:rPr lang="en-GB" sz="1400" dirty="0" smtClean="0"/>
              <a:t>Discount defaults using the  </a:t>
            </a:r>
            <a:r>
              <a:rPr lang="en-GB" sz="1400" b="1" dirty="0" smtClean="0"/>
              <a:t>Effective Interest Rate (EIR) </a:t>
            </a:r>
            <a:r>
              <a:rPr lang="en-GB" sz="1400" dirty="0" smtClean="0"/>
              <a:t>at origination (or approximation thereof) up to reporting date. (not cost of capital) (B5.5.44) </a:t>
            </a:r>
          </a:p>
          <a:p>
            <a:pPr marL="400050" indent="-400050">
              <a:buFont typeface="+mj-lt"/>
              <a:buAutoNum type="romanLcPeriod"/>
            </a:pPr>
            <a:r>
              <a:rPr lang="de-DE" sz="1400" dirty="0" smtClean="0"/>
              <a:t>Adjustments in consideration of costs (Collateral addressed in B5.5.55)</a:t>
            </a:r>
            <a:endParaRPr lang="en-GB" sz="1400" dirty="0" smtClean="0"/>
          </a:p>
          <a:p>
            <a:pPr marL="400050" indent="-400050" fontAlgn="ctr">
              <a:buFont typeface="+mj-lt"/>
              <a:buAutoNum type="romanLcPeriod"/>
            </a:pPr>
            <a:r>
              <a:rPr lang="en-GB" sz="1400" b="1" dirty="0" smtClean="0"/>
              <a:t>Improving the governance and auditability </a:t>
            </a:r>
            <a:r>
              <a:rPr lang="en-GB" sz="1400" dirty="0" smtClean="0"/>
              <a:t>of the internal files which provide information on costs</a:t>
            </a:r>
          </a:p>
          <a:p>
            <a:pPr marL="400050" indent="-400050" fontAlgn="ctr">
              <a:buFont typeface="+mj-lt"/>
              <a:buAutoNum type="romanLcPeriod"/>
            </a:pPr>
            <a:r>
              <a:rPr lang="en-GB" sz="1400" dirty="0" smtClean="0"/>
              <a:t>LGD measured at </a:t>
            </a:r>
            <a:r>
              <a:rPr lang="en-GB" sz="1400" b="1" dirty="0" smtClean="0"/>
              <a:t>facility level </a:t>
            </a:r>
          </a:p>
          <a:p>
            <a:pPr marL="400050" indent="-400050" fontAlgn="ctr">
              <a:buFont typeface="+mj-lt"/>
              <a:buAutoNum type="romanLcPeriod"/>
            </a:pPr>
            <a:r>
              <a:rPr lang="en-GB" sz="1400" dirty="0" smtClean="0"/>
              <a:t>Consideration of </a:t>
            </a:r>
            <a:r>
              <a:rPr lang="en-GB" sz="1400" b="1" dirty="0" smtClean="0"/>
              <a:t>other sources of recoveries </a:t>
            </a:r>
            <a:r>
              <a:rPr lang="en-GB" sz="1400" dirty="0" smtClean="0"/>
              <a:t>than collateral realisation (IFRS 9 B5.5.55)</a:t>
            </a:r>
            <a:endParaRPr lang="en-GB" sz="1400" dirty="0"/>
          </a:p>
        </p:txBody>
      </p:sp>
      <p:cxnSp>
        <p:nvCxnSpPr>
          <p:cNvPr id="15" name="Straight Connector 14"/>
          <p:cNvCxnSpPr/>
          <p:nvPr/>
        </p:nvCxnSpPr>
        <p:spPr>
          <a:xfrm>
            <a:off x="4288898" y="1154596"/>
            <a:ext cx="0" cy="533897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536623" y="2486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27505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29</a:t>
            </a:fld>
            <a:endParaRPr lang="en-US" altLang="en-US"/>
          </a:p>
        </p:txBody>
      </p:sp>
      <p:graphicFrame>
        <p:nvGraphicFramePr>
          <p:cNvPr id="7" name="Table 6"/>
          <p:cNvGraphicFramePr>
            <a:graphicFrameLocks noGrp="1"/>
          </p:cNvGraphicFramePr>
          <p:nvPr>
            <p:extLst/>
          </p:nvPr>
        </p:nvGraphicFramePr>
        <p:xfrm>
          <a:off x="348869" y="1053026"/>
          <a:ext cx="9193594" cy="5291476"/>
        </p:xfrm>
        <a:graphic>
          <a:graphicData uri="http://schemas.openxmlformats.org/drawingml/2006/table">
            <a:tbl>
              <a:tblPr firstRow="1" bandRow="1">
                <a:tableStyleId>{5C22544A-7EE6-4342-B048-85BDC9FD1C3A}</a:tableStyleId>
              </a:tblPr>
              <a:tblGrid>
                <a:gridCol w="9193594"/>
              </a:tblGrid>
              <a:tr h="369374">
                <a:tc>
                  <a:txBody>
                    <a:bodyPr/>
                    <a:lstStyle/>
                    <a:p>
                      <a:r>
                        <a:rPr lang="en-GB" sz="1400" dirty="0" smtClean="0">
                          <a:latin typeface="Times New Roman" panose="02020603050405020304" pitchFamily="18" charset="0"/>
                          <a:cs typeface="Times New Roman" panose="02020603050405020304" pitchFamily="18" charset="0"/>
                        </a:rPr>
                        <a:t>Sophisticated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r>
              <a:tr h="4922102">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Common LGD methodology applied </a:t>
                      </a:r>
                      <a:r>
                        <a:rPr lang="en-GB" sz="1300" b="1" u="sng" kern="1200" dirty="0" smtClean="0">
                          <a:solidFill>
                            <a:schemeClr val="tx1"/>
                          </a:solidFill>
                          <a:latin typeface="Times New Roman" pitchFamily="18" charset="0"/>
                          <a:ea typeface="+mn-ea"/>
                          <a:cs typeface="Times New Roman" pitchFamily="18" charset="0"/>
                        </a:rPr>
                        <a:t>consistently</a:t>
                      </a:r>
                      <a:r>
                        <a:rPr lang="en-GB" sz="1300" kern="1200" dirty="0" smtClean="0">
                          <a:solidFill>
                            <a:schemeClr val="tx1"/>
                          </a:solidFill>
                          <a:latin typeface="Times New Roman" pitchFamily="18" charset="0"/>
                          <a:ea typeface="+mn-ea"/>
                          <a:cs typeface="Times New Roman" pitchFamily="18" charset="0"/>
                        </a:rPr>
                        <a:t> </a:t>
                      </a:r>
                      <a:br>
                        <a:rPr lang="en-GB" sz="1300" kern="1200" dirty="0" smtClean="0">
                          <a:solidFill>
                            <a:schemeClr val="tx1"/>
                          </a:solidFill>
                          <a:latin typeface="Times New Roman" pitchFamily="18" charset="0"/>
                          <a:ea typeface="+mn-ea"/>
                          <a:cs typeface="Times New Roman" pitchFamily="18" charset="0"/>
                        </a:rPr>
                      </a:br>
                      <a:r>
                        <a:rPr lang="en-GB" sz="1300" kern="1200" dirty="0" smtClean="0">
                          <a:solidFill>
                            <a:schemeClr val="tx1"/>
                          </a:solidFill>
                          <a:latin typeface="Times New Roman" pitchFamily="18" charset="0"/>
                          <a:ea typeface="+mn-ea"/>
                          <a:cs typeface="Times New Roman" pitchFamily="18" charset="0"/>
                        </a:rPr>
                        <a:t>(i.e. Modelling approach for LGD generally does not vary depending on stage)</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b="1" u="sng" kern="1200" dirty="0" smtClean="0">
                          <a:solidFill>
                            <a:schemeClr val="tx1"/>
                          </a:solidFill>
                          <a:latin typeface="Times New Roman" pitchFamily="18" charset="0"/>
                          <a:ea typeface="+mn-ea"/>
                          <a:cs typeface="Times New Roman" pitchFamily="18" charset="0"/>
                        </a:rPr>
                        <a:t>Secured exposures</a:t>
                      </a:r>
                      <a:r>
                        <a:rPr lang="en-GB" sz="1300" kern="1200" dirty="0" smtClean="0">
                          <a:solidFill>
                            <a:schemeClr val="tx1"/>
                          </a:solidFill>
                          <a:latin typeface="Times New Roman" pitchFamily="18" charset="0"/>
                          <a:ea typeface="+mn-ea"/>
                          <a:cs typeface="Times New Roman" pitchFamily="18" charset="0"/>
                        </a:rPr>
                        <a:t>, the approach considers at a minimum, the following components:</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Forecasts of future collateral valuations</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Time to realisation of collateral </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Allocation of collateral across exposures where there are a number to the same counterparty</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Cure rates</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External costs of realisation of collateral</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b="1" u="sng" kern="1200" dirty="0" smtClean="0">
                          <a:solidFill>
                            <a:schemeClr val="tx1"/>
                          </a:solidFill>
                          <a:latin typeface="Times New Roman" pitchFamily="18" charset="0"/>
                          <a:ea typeface="+mn-ea"/>
                          <a:cs typeface="Times New Roman" pitchFamily="18" charset="0"/>
                        </a:rPr>
                        <a:t>Unsecured exposures</a:t>
                      </a:r>
                      <a:r>
                        <a:rPr lang="en-GB" sz="1300" kern="1200" dirty="0" smtClean="0">
                          <a:solidFill>
                            <a:schemeClr val="tx1"/>
                          </a:solidFill>
                          <a:latin typeface="Times New Roman" pitchFamily="18" charset="0"/>
                          <a:ea typeface="+mn-ea"/>
                          <a:cs typeface="Times New Roman" pitchFamily="18" charset="0"/>
                        </a:rPr>
                        <a:t>, the approach considers at a minimum, the following components:</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Time to recovery</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Recovery rates</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Cure rates </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Considers whether dependent on </a:t>
                      </a:r>
                      <a:r>
                        <a:rPr lang="en-GB" sz="1300" b="1" u="sng" kern="1200" dirty="0" smtClean="0">
                          <a:solidFill>
                            <a:schemeClr val="tx1"/>
                          </a:solidFill>
                          <a:latin typeface="Times New Roman" pitchFamily="18" charset="0"/>
                          <a:ea typeface="+mn-ea"/>
                          <a:cs typeface="Times New Roman" pitchFamily="18" charset="0"/>
                        </a:rPr>
                        <a:t>macro-economic factors</a:t>
                      </a:r>
                      <a:r>
                        <a:rPr lang="en-GB" sz="1300" kern="1200" dirty="0" smtClean="0">
                          <a:solidFill>
                            <a:schemeClr val="tx1"/>
                          </a:solidFill>
                          <a:latin typeface="Times New Roman" pitchFamily="18" charset="0"/>
                          <a:ea typeface="+mn-ea"/>
                          <a:cs typeface="Times New Roman" pitchFamily="18" charset="0"/>
                        </a:rPr>
                        <a:t>, and reflect such dependencies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Any </a:t>
                      </a:r>
                      <a:r>
                        <a:rPr lang="en-GB" sz="1300" b="1" u="sng" kern="1200" dirty="0" smtClean="0">
                          <a:solidFill>
                            <a:schemeClr val="tx1"/>
                          </a:solidFill>
                          <a:latin typeface="Times New Roman" pitchFamily="18" charset="0"/>
                          <a:ea typeface="+mn-ea"/>
                          <a:cs typeface="Times New Roman" pitchFamily="18" charset="0"/>
                        </a:rPr>
                        <a:t>correlation/interdependency</a:t>
                      </a:r>
                      <a:r>
                        <a:rPr lang="en-GB" sz="1300" kern="1200" dirty="0" smtClean="0">
                          <a:solidFill>
                            <a:schemeClr val="tx1"/>
                          </a:solidFill>
                          <a:latin typeface="Times New Roman" pitchFamily="18" charset="0"/>
                          <a:ea typeface="+mn-ea"/>
                          <a:cs typeface="Times New Roman" pitchFamily="18" charset="0"/>
                        </a:rPr>
                        <a:t> between LGD components should be reflected in LGD estimate</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b="1" u="sng" kern="1200" dirty="0" smtClean="0">
                          <a:solidFill>
                            <a:schemeClr val="tx1"/>
                          </a:solidFill>
                          <a:latin typeface="Times New Roman" pitchFamily="18" charset="0"/>
                          <a:ea typeface="+mn-ea"/>
                          <a:cs typeface="Times New Roman" pitchFamily="18" charset="0"/>
                        </a:rPr>
                        <a:t>Data history </a:t>
                      </a:r>
                      <a:r>
                        <a:rPr lang="en-GB" sz="1300" kern="1200" dirty="0" smtClean="0">
                          <a:solidFill>
                            <a:schemeClr val="tx1"/>
                          </a:solidFill>
                          <a:latin typeface="Times New Roman" pitchFamily="18" charset="0"/>
                          <a:ea typeface="+mn-ea"/>
                          <a:cs typeface="Times New Roman" pitchFamily="18" charset="0"/>
                        </a:rPr>
                        <a:t>supports LGD modelling and components cover suitable period</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Reflects discounting of cash shortfalls; considering timing using </a:t>
                      </a:r>
                      <a:r>
                        <a:rPr lang="en-GB" sz="1300" b="1" u="sng" kern="1200" dirty="0" smtClean="0">
                          <a:solidFill>
                            <a:schemeClr val="tx1"/>
                          </a:solidFill>
                          <a:latin typeface="Times New Roman" pitchFamily="18" charset="0"/>
                          <a:ea typeface="+mn-ea"/>
                          <a:cs typeface="Times New Roman" pitchFamily="18" charset="0"/>
                        </a:rPr>
                        <a:t>EIR</a:t>
                      </a:r>
                      <a:r>
                        <a:rPr lang="en-GB" sz="1300" kern="1200" dirty="0" smtClean="0">
                          <a:solidFill>
                            <a:schemeClr val="tx1"/>
                          </a:solidFill>
                          <a:latin typeface="Times New Roman" pitchFamily="18" charset="0"/>
                          <a:ea typeface="+mn-ea"/>
                          <a:cs typeface="Times New Roman" pitchFamily="18" charset="0"/>
                        </a:rPr>
                        <a:t>, adjusted for any necessary discount rates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LGD reflects </a:t>
                      </a:r>
                      <a:r>
                        <a:rPr lang="en-GB" sz="1300" b="1" u="sng" kern="1200" dirty="0" smtClean="0">
                          <a:solidFill>
                            <a:schemeClr val="tx1"/>
                          </a:solidFill>
                          <a:latin typeface="Times New Roman" pitchFamily="18" charset="0"/>
                          <a:ea typeface="+mn-ea"/>
                          <a:cs typeface="Times New Roman" pitchFamily="18" charset="0"/>
                        </a:rPr>
                        <a:t>credit enhancements</a:t>
                      </a:r>
                      <a:r>
                        <a:rPr lang="en-GB" sz="1300" kern="1200" dirty="0" smtClean="0">
                          <a:solidFill>
                            <a:schemeClr val="tx1"/>
                          </a:solidFill>
                          <a:latin typeface="Times New Roman" pitchFamily="18" charset="0"/>
                          <a:ea typeface="+mn-ea"/>
                          <a:cs typeface="Times New Roman" pitchFamily="18" charset="0"/>
                        </a:rPr>
                        <a:t>, that are integral to the exposure and not separately accounted for</a:t>
                      </a:r>
                      <a:endParaRPr lang="en-GB" sz="1300" kern="1200" dirty="0">
                        <a:solidFill>
                          <a:schemeClr val="tx1"/>
                        </a:solidFill>
                        <a:latin typeface="Times New Roman" pitchFamily="18" charset="0"/>
                        <a:ea typeface="+mn-ea"/>
                        <a:cs typeface="Times New Roman" pitchFamily="18" charset="0"/>
                      </a:endParaRPr>
                    </a:p>
                  </a:txBody>
                  <a:tcPr marL="93042" marR="93042" marT="46521" marB="46521">
                    <a:solidFill>
                      <a:schemeClr val="bg1"/>
                    </a:solidFill>
                  </a:tcPr>
                </a:tc>
              </a:tr>
            </a:tbl>
          </a:graphicData>
        </a:graphic>
      </p:graphicFrame>
      <p:sp>
        <p:nvSpPr>
          <p:cNvPr id="5" name="TextBox 4"/>
          <p:cNvSpPr txBox="1"/>
          <p:nvPr/>
        </p:nvSpPr>
        <p:spPr>
          <a:xfrm>
            <a:off x="4041915" y="6445871"/>
            <a:ext cx="5393634" cy="279400"/>
          </a:xfrm>
          <a:prstGeom prst="rect">
            <a:avLst/>
          </a:prstGeom>
          <a:noFill/>
        </p:spPr>
        <p:txBody>
          <a:bodyPr wrap="square" rtlCol="0">
            <a:spAutoFit/>
          </a:bodyPr>
          <a:lstStyle/>
          <a:p>
            <a:pPr algn="r"/>
            <a:r>
              <a:rPr lang="en-US" i="1" dirty="0" smtClean="0"/>
              <a:t>* As per the </a:t>
            </a:r>
            <a:r>
              <a:rPr lang="en-US" i="1" dirty="0"/>
              <a:t>GPPC </a:t>
            </a:r>
            <a:r>
              <a:rPr lang="en-US" i="1" dirty="0" smtClean="0"/>
              <a:t>(</a:t>
            </a:r>
            <a:r>
              <a:rPr lang="en-US" i="1" dirty="0"/>
              <a:t>Global Public Policy </a:t>
            </a:r>
            <a:r>
              <a:rPr lang="en-US" i="1" dirty="0" smtClean="0"/>
              <a:t>Committee)</a:t>
            </a:r>
            <a:endParaRPr lang="en-IN" i="1" dirty="0"/>
          </a:p>
        </p:txBody>
      </p:sp>
      <p:sp>
        <p:nvSpPr>
          <p:cNvPr id="6" name="TextBox 5"/>
          <p:cNvSpPr txBox="1"/>
          <p:nvPr/>
        </p:nvSpPr>
        <p:spPr>
          <a:xfrm>
            <a:off x="8536623" y="2486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42487585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30</a:t>
            </a:fld>
            <a:endParaRPr lang="en-US" altLang="en-US"/>
          </a:p>
        </p:txBody>
      </p:sp>
      <p:graphicFrame>
        <p:nvGraphicFramePr>
          <p:cNvPr id="5" name="Table 4"/>
          <p:cNvGraphicFramePr>
            <a:graphicFrameLocks noGrp="1"/>
          </p:cNvGraphicFramePr>
          <p:nvPr>
            <p:extLst/>
          </p:nvPr>
        </p:nvGraphicFramePr>
        <p:xfrm>
          <a:off x="356203" y="1060565"/>
          <a:ext cx="9193594" cy="1524161"/>
        </p:xfrm>
        <a:graphic>
          <a:graphicData uri="http://schemas.openxmlformats.org/drawingml/2006/table">
            <a:tbl>
              <a:tblPr firstRow="1" bandRow="1">
                <a:tableStyleId>{5C22544A-7EE6-4342-B048-85BDC9FD1C3A}</a:tableStyleId>
              </a:tblPr>
              <a:tblGrid>
                <a:gridCol w="9193594"/>
              </a:tblGrid>
              <a:tr h="395429">
                <a:tc>
                  <a:txBody>
                    <a:bodyPr/>
                    <a:lstStyle/>
                    <a:p>
                      <a:r>
                        <a:rPr lang="en-GB" sz="1400" dirty="0" smtClean="0">
                          <a:latin typeface="Times New Roman" panose="02020603050405020304" pitchFamily="18" charset="0"/>
                          <a:cs typeface="Times New Roman" panose="02020603050405020304" pitchFamily="18" charset="0"/>
                        </a:rPr>
                        <a:t>Considerations for a Simpler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r>
              <a:tr h="1128732">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Use </a:t>
                      </a:r>
                      <a:r>
                        <a:rPr lang="en-GB" sz="1300" b="1" u="sng" kern="1200" dirty="0" smtClean="0">
                          <a:solidFill>
                            <a:schemeClr val="tx1"/>
                          </a:solidFill>
                          <a:latin typeface="Times New Roman" pitchFamily="18" charset="0"/>
                          <a:ea typeface="+mn-ea"/>
                          <a:cs typeface="Times New Roman" pitchFamily="18" charset="0"/>
                        </a:rPr>
                        <a:t>portfolio averages </a:t>
                      </a:r>
                      <a:r>
                        <a:rPr lang="en-GB" sz="1300" kern="1200" dirty="0" smtClean="0">
                          <a:solidFill>
                            <a:schemeClr val="tx1"/>
                          </a:solidFill>
                          <a:latin typeface="Times New Roman" pitchFamily="18" charset="0"/>
                          <a:ea typeface="+mn-ea"/>
                          <a:cs typeface="Times New Roman" pitchFamily="18" charset="0"/>
                        </a:rPr>
                        <a:t>for some components as opposed to applying granular detail to each of the components </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Less depth of analysis when estimating the impact of </a:t>
                      </a:r>
                      <a:r>
                        <a:rPr lang="en-GB" sz="1300" b="1" u="sng" kern="1200" dirty="0" smtClean="0">
                          <a:solidFill>
                            <a:schemeClr val="tx1"/>
                          </a:solidFill>
                          <a:latin typeface="Times New Roman" pitchFamily="18" charset="0"/>
                          <a:ea typeface="+mn-ea"/>
                          <a:cs typeface="Times New Roman" pitchFamily="18" charset="0"/>
                        </a:rPr>
                        <a:t>macroeconomic dependency</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b="1" u="sng" kern="1200" dirty="0" smtClean="0">
                          <a:solidFill>
                            <a:schemeClr val="tx1"/>
                          </a:solidFill>
                          <a:latin typeface="Times New Roman" pitchFamily="18" charset="0"/>
                          <a:ea typeface="+mn-ea"/>
                          <a:cs typeface="Times New Roman" pitchFamily="18" charset="0"/>
                        </a:rPr>
                        <a:t>Data histories </a:t>
                      </a:r>
                      <a:r>
                        <a:rPr lang="en-GB" sz="1300" kern="1200" dirty="0" smtClean="0">
                          <a:solidFill>
                            <a:schemeClr val="tx1"/>
                          </a:solidFill>
                          <a:latin typeface="Times New Roman" pitchFamily="18" charset="0"/>
                          <a:ea typeface="+mn-ea"/>
                          <a:cs typeface="Times New Roman" pitchFamily="18" charset="0"/>
                        </a:rPr>
                        <a:t>used to support the analysis may be shorter / not cover full range of variables used</a:t>
                      </a:r>
                      <a:endParaRPr lang="en-GB" sz="1300" kern="1200" dirty="0">
                        <a:solidFill>
                          <a:schemeClr val="tx1"/>
                        </a:solidFill>
                        <a:latin typeface="Times New Roman" pitchFamily="18" charset="0"/>
                        <a:ea typeface="+mn-ea"/>
                        <a:cs typeface="Times New Roman" pitchFamily="18" charset="0"/>
                      </a:endParaRPr>
                    </a:p>
                  </a:txBody>
                  <a:tcPr marL="93042" marR="93042" marT="46521" marB="46521">
                    <a:solidFill>
                      <a:schemeClr val="bg1"/>
                    </a:solidFill>
                  </a:tcPr>
                </a:tc>
              </a:tr>
            </a:tbl>
          </a:graphicData>
        </a:graphic>
      </p:graphicFrame>
      <p:graphicFrame>
        <p:nvGraphicFramePr>
          <p:cNvPr id="6" name="Table 5"/>
          <p:cNvGraphicFramePr>
            <a:graphicFrameLocks noGrp="1"/>
          </p:cNvGraphicFramePr>
          <p:nvPr>
            <p:extLst/>
          </p:nvPr>
        </p:nvGraphicFramePr>
        <p:xfrm>
          <a:off x="356203" y="2860429"/>
          <a:ext cx="9193594" cy="1486284"/>
        </p:xfrm>
        <a:graphic>
          <a:graphicData uri="http://schemas.openxmlformats.org/drawingml/2006/table">
            <a:tbl>
              <a:tblPr firstRow="1" bandRow="1">
                <a:tableStyleId>{5C22544A-7EE6-4342-B048-85BDC9FD1C3A}</a:tableStyleId>
              </a:tblPr>
              <a:tblGrid>
                <a:gridCol w="9193594"/>
              </a:tblGrid>
              <a:tr h="350071">
                <a:tc>
                  <a:txBody>
                    <a:bodyPr/>
                    <a:lstStyle/>
                    <a:p>
                      <a:pPr>
                        <a:lnSpc>
                          <a:spcPct val="85000"/>
                        </a:lnSpc>
                        <a:spcAft>
                          <a:spcPts val="600"/>
                        </a:spcAft>
                        <a:buClr>
                          <a:schemeClr val="accent2"/>
                        </a:buClr>
                        <a:buSzPct val="70000"/>
                      </a:pPr>
                      <a:r>
                        <a:rPr lang="en-GB" sz="1400" b="1" dirty="0" smtClean="0">
                          <a:solidFill>
                            <a:schemeClr val="bg1"/>
                          </a:solidFill>
                          <a:latin typeface="Times New Roman" panose="02020603050405020304" pitchFamily="18" charset="0"/>
                          <a:cs typeface="Times New Roman" panose="02020603050405020304" pitchFamily="18" charset="0"/>
                        </a:rPr>
                        <a:t>What is not ‘compliant’*</a:t>
                      </a:r>
                    </a:p>
                  </a:txBody>
                  <a:tcPr marL="93042" marR="93042" marT="46521" marB="46521">
                    <a:solidFill>
                      <a:schemeClr val="accent2"/>
                    </a:solidFill>
                  </a:tcPr>
                </a:tc>
              </a:tr>
              <a:tr h="1136213">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Performing </a:t>
                      </a:r>
                      <a:r>
                        <a:rPr lang="en-GB" sz="1300" b="1" u="sng" kern="1200" dirty="0" smtClean="0">
                          <a:solidFill>
                            <a:schemeClr val="tx1"/>
                          </a:solidFill>
                          <a:latin typeface="Times New Roman" pitchFamily="18" charset="0"/>
                          <a:ea typeface="+mn-ea"/>
                          <a:cs typeface="Times New Roman" pitchFamily="18" charset="0"/>
                        </a:rPr>
                        <a:t>no analysis as to macro-economic dependency </a:t>
                      </a:r>
                      <a:r>
                        <a:rPr lang="en-GB" sz="1300" kern="1200" dirty="0" smtClean="0">
                          <a:solidFill>
                            <a:schemeClr val="tx1"/>
                          </a:solidFill>
                          <a:latin typeface="Times New Roman" pitchFamily="18" charset="0"/>
                          <a:ea typeface="+mn-ea"/>
                          <a:cs typeface="Times New Roman" pitchFamily="18" charset="0"/>
                        </a:rPr>
                        <a:t>of LGD or its components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kern="1200" dirty="0" smtClean="0">
                          <a:solidFill>
                            <a:schemeClr val="tx1"/>
                          </a:solidFill>
                          <a:latin typeface="Times New Roman" pitchFamily="18" charset="0"/>
                          <a:ea typeface="+mn-ea"/>
                          <a:cs typeface="Times New Roman" pitchFamily="18" charset="0"/>
                        </a:rPr>
                        <a:t>Using </a:t>
                      </a:r>
                      <a:r>
                        <a:rPr lang="en-GB" sz="1300" b="1" u="sng" kern="1200" dirty="0" smtClean="0">
                          <a:solidFill>
                            <a:schemeClr val="tx1"/>
                          </a:solidFill>
                          <a:latin typeface="Times New Roman" pitchFamily="18" charset="0"/>
                          <a:ea typeface="+mn-ea"/>
                          <a:cs typeface="Times New Roman" pitchFamily="18" charset="0"/>
                        </a:rPr>
                        <a:t>regulatory LGD values without </a:t>
                      </a:r>
                      <a:r>
                        <a:rPr lang="en-GB" sz="1300" kern="1200" dirty="0" smtClean="0">
                          <a:solidFill>
                            <a:schemeClr val="tx1"/>
                          </a:solidFill>
                          <a:latin typeface="Times New Roman" pitchFamily="18" charset="0"/>
                          <a:ea typeface="+mn-ea"/>
                          <a:cs typeface="Times New Roman" pitchFamily="18" charset="0"/>
                        </a:rPr>
                        <a:t>analysing if </a:t>
                      </a:r>
                      <a:r>
                        <a:rPr lang="en-GB" sz="1300" b="1" u="sng" kern="1200" dirty="0" smtClean="0">
                          <a:solidFill>
                            <a:schemeClr val="tx1"/>
                          </a:solidFill>
                          <a:latin typeface="Times New Roman" pitchFamily="18" charset="0"/>
                          <a:ea typeface="+mn-ea"/>
                          <a:cs typeface="Times New Roman" pitchFamily="18" charset="0"/>
                        </a:rPr>
                        <a:t>adjustments </a:t>
                      </a:r>
                      <a:r>
                        <a:rPr lang="en-GB" sz="1300" kern="1200" dirty="0" smtClean="0">
                          <a:solidFill>
                            <a:schemeClr val="tx1"/>
                          </a:solidFill>
                          <a:latin typeface="Times New Roman" pitchFamily="18" charset="0"/>
                          <a:ea typeface="+mn-ea"/>
                          <a:cs typeface="Times New Roman" pitchFamily="18" charset="0"/>
                        </a:rPr>
                        <a:t>are required</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GB" sz="1300" b="1" u="sng" kern="1200" dirty="0" smtClean="0">
                          <a:solidFill>
                            <a:schemeClr val="tx1"/>
                          </a:solidFill>
                          <a:latin typeface="Times New Roman" pitchFamily="18" charset="0"/>
                          <a:ea typeface="+mn-ea"/>
                          <a:cs typeface="Times New Roman" pitchFamily="18" charset="0"/>
                        </a:rPr>
                        <a:t>Failing to update collateral values </a:t>
                      </a:r>
                      <a:r>
                        <a:rPr lang="en-GB" sz="1300" kern="1200" dirty="0" smtClean="0">
                          <a:solidFill>
                            <a:schemeClr val="tx1"/>
                          </a:solidFill>
                          <a:latin typeface="Times New Roman" pitchFamily="18" charset="0"/>
                          <a:ea typeface="+mn-ea"/>
                          <a:cs typeface="Times New Roman" pitchFamily="18" charset="0"/>
                        </a:rPr>
                        <a:t>when modelling the term structure of LGD</a:t>
                      </a:r>
                    </a:p>
                  </a:txBody>
                  <a:tcPr marL="93042" marR="93042" marT="46521" marB="46521">
                    <a:solidFill>
                      <a:schemeClr val="bg1"/>
                    </a:solidFill>
                  </a:tcPr>
                </a:tc>
              </a:tr>
            </a:tbl>
          </a:graphicData>
        </a:graphic>
      </p:graphicFrame>
      <p:sp>
        <p:nvSpPr>
          <p:cNvPr id="8" name="TextBox 7"/>
          <p:cNvSpPr txBox="1"/>
          <p:nvPr/>
        </p:nvSpPr>
        <p:spPr>
          <a:xfrm>
            <a:off x="4041915" y="6445871"/>
            <a:ext cx="5393634" cy="279400"/>
          </a:xfrm>
          <a:prstGeom prst="rect">
            <a:avLst/>
          </a:prstGeom>
          <a:noFill/>
        </p:spPr>
        <p:txBody>
          <a:bodyPr wrap="square" rtlCol="0">
            <a:spAutoFit/>
          </a:bodyPr>
          <a:lstStyle/>
          <a:p>
            <a:pPr algn="r"/>
            <a:r>
              <a:rPr lang="en-US" i="1" dirty="0" smtClean="0"/>
              <a:t>* As per </a:t>
            </a:r>
            <a:r>
              <a:rPr lang="en-US" i="1" dirty="0"/>
              <a:t>the GPPC (Global Public Policy </a:t>
            </a:r>
            <a:r>
              <a:rPr lang="en-US" i="1" dirty="0" smtClean="0"/>
              <a:t>Committee) </a:t>
            </a:r>
            <a:endParaRPr lang="en-IN" i="1" dirty="0"/>
          </a:p>
        </p:txBody>
      </p:sp>
      <p:sp>
        <p:nvSpPr>
          <p:cNvPr id="7" name="TextBox 6"/>
          <p:cNvSpPr txBox="1"/>
          <p:nvPr/>
        </p:nvSpPr>
        <p:spPr>
          <a:xfrm>
            <a:off x="8536623" y="1851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3543656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87338" y="959368"/>
            <a:ext cx="9385817" cy="5340723"/>
            <a:chOff x="626681" y="900871"/>
            <a:chExt cx="9670033" cy="5665971"/>
          </a:xfrm>
        </p:grpSpPr>
        <p:grpSp>
          <p:nvGrpSpPr>
            <p:cNvPr id="20" name="Group 19"/>
            <p:cNvGrpSpPr/>
            <p:nvPr/>
          </p:nvGrpSpPr>
          <p:grpSpPr>
            <a:xfrm>
              <a:off x="626681" y="900989"/>
              <a:ext cx="9670033" cy="5665853"/>
              <a:chOff x="626681" y="1008323"/>
              <a:chExt cx="9670033" cy="5665853"/>
            </a:xfrm>
          </p:grpSpPr>
          <p:sp>
            <p:nvSpPr>
              <p:cNvPr id="25" name="Rectangle 14"/>
              <p:cNvSpPr>
                <a:spLocks noChangeArrowheads="1"/>
              </p:cNvSpPr>
              <p:nvPr/>
            </p:nvSpPr>
            <p:spPr bwMode="gray">
              <a:xfrm>
                <a:off x="5152730" y="1008325"/>
                <a:ext cx="5143984" cy="5652473"/>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72855"/>
                  <a:gd name="connsiteY0" fmla="*/ 0 h 3660533"/>
                  <a:gd name="connsiteX1" fmla="*/ 5161441 w 5172855"/>
                  <a:gd name="connsiteY1" fmla="*/ 0 h 3660533"/>
                  <a:gd name="connsiteX2" fmla="*/ 5172549 w 5172855"/>
                  <a:gd name="connsiteY2" fmla="*/ 489657 h 3660533"/>
                  <a:gd name="connsiteX3" fmla="*/ 5161441 w 5172855"/>
                  <a:gd name="connsiteY3" fmla="*/ 3660533 h 3660533"/>
                  <a:gd name="connsiteX4" fmla="*/ 0 w 5172855"/>
                  <a:gd name="connsiteY4" fmla="*/ 3660533 h 3660533"/>
                  <a:gd name="connsiteX5" fmla="*/ 593766 w 5172855"/>
                  <a:gd name="connsiteY5" fmla="*/ 0 h 3660533"/>
                  <a:gd name="connsiteX0" fmla="*/ 593766 w 5163537"/>
                  <a:gd name="connsiteY0" fmla="*/ 0 h 3660533"/>
                  <a:gd name="connsiteX1" fmla="*/ 5161441 w 5163537"/>
                  <a:gd name="connsiteY1" fmla="*/ 0 h 3660533"/>
                  <a:gd name="connsiteX2" fmla="*/ 5162883 w 5163537"/>
                  <a:gd name="connsiteY2" fmla="*/ 502617 h 3660533"/>
                  <a:gd name="connsiteX3" fmla="*/ 5161441 w 5163537"/>
                  <a:gd name="connsiteY3" fmla="*/ 3660533 h 3660533"/>
                  <a:gd name="connsiteX4" fmla="*/ 0 w 5163537"/>
                  <a:gd name="connsiteY4" fmla="*/ 3660533 h 3660533"/>
                  <a:gd name="connsiteX5" fmla="*/ 593766 w 5163537"/>
                  <a:gd name="connsiteY5" fmla="*/ 0 h 3660533"/>
                  <a:gd name="connsiteX0" fmla="*/ 593766 w 5499312"/>
                  <a:gd name="connsiteY0" fmla="*/ 0 h 3660533"/>
                  <a:gd name="connsiteX1" fmla="*/ 5161441 w 5499312"/>
                  <a:gd name="connsiteY1" fmla="*/ 0 h 3660533"/>
                  <a:gd name="connsiteX2" fmla="*/ 5160175 w 5499312"/>
                  <a:gd name="connsiteY2" fmla="*/ 350657 h 3660533"/>
                  <a:gd name="connsiteX3" fmla="*/ 5162883 w 5499312"/>
                  <a:gd name="connsiteY3" fmla="*/ 502617 h 3660533"/>
                  <a:gd name="connsiteX4" fmla="*/ 5161441 w 5499312"/>
                  <a:gd name="connsiteY4" fmla="*/ 3660533 h 3660533"/>
                  <a:gd name="connsiteX5" fmla="*/ 0 w 5499312"/>
                  <a:gd name="connsiteY5" fmla="*/ 3660533 h 3660533"/>
                  <a:gd name="connsiteX6" fmla="*/ 593766 w 5499312"/>
                  <a:gd name="connsiteY6"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1441 w 5162883"/>
                  <a:gd name="connsiteY4" fmla="*/ 3660533 h 3660533"/>
                  <a:gd name="connsiteX5" fmla="*/ 0 w 5162883"/>
                  <a:gd name="connsiteY5" fmla="*/ 3660533 h 3660533"/>
                  <a:gd name="connsiteX6" fmla="*/ 593766 w 5162883"/>
                  <a:gd name="connsiteY6" fmla="*/ 0 h 3660533"/>
                  <a:gd name="connsiteX0" fmla="*/ 593766 w 5543294"/>
                  <a:gd name="connsiteY0" fmla="*/ 0 h 3660533"/>
                  <a:gd name="connsiteX1" fmla="*/ 5161441 w 5543294"/>
                  <a:gd name="connsiteY1" fmla="*/ 0 h 3660533"/>
                  <a:gd name="connsiteX2" fmla="*/ 5160175 w 5543294"/>
                  <a:gd name="connsiteY2" fmla="*/ 350657 h 3660533"/>
                  <a:gd name="connsiteX3" fmla="*/ 5162883 w 5543294"/>
                  <a:gd name="connsiteY3" fmla="*/ 502617 h 3660533"/>
                  <a:gd name="connsiteX4" fmla="*/ 5160174 w 5543294"/>
                  <a:gd name="connsiteY4" fmla="*/ 752490 h 3660533"/>
                  <a:gd name="connsiteX5" fmla="*/ 5161441 w 5543294"/>
                  <a:gd name="connsiteY5" fmla="*/ 3660533 h 3660533"/>
                  <a:gd name="connsiteX6" fmla="*/ 0 w 5543294"/>
                  <a:gd name="connsiteY6" fmla="*/ 3660533 h 3660533"/>
                  <a:gd name="connsiteX7" fmla="*/ 593766 w 5543294"/>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0174 w 5162883"/>
                  <a:gd name="connsiteY4" fmla="*/ 752490 h 3660533"/>
                  <a:gd name="connsiteX5" fmla="*/ 5161441 w 5162883"/>
                  <a:gd name="connsiteY5" fmla="*/ 3660533 h 3660533"/>
                  <a:gd name="connsiteX6" fmla="*/ 0 w 5162883"/>
                  <a:gd name="connsiteY6" fmla="*/ 3660533 h 3660533"/>
                  <a:gd name="connsiteX7" fmla="*/ 593766 w 5162883"/>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56560 w 5162883"/>
                  <a:gd name="connsiteY4" fmla="*/ 708688 h 3660533"/>
                  <a:gd name="connsiteX5" fmla="*/ 5160174 w 5162883"/>
                  <a:gd name="connsiteY5" fmla="*/ 752490 h 3660533"/>
                  <a:gd name="connsiteX6" fmla="*/ 5161441 w 5162883"/>
                  <a:gd name="connsiteY6" fmla="*/ 3660533 h 3660533"/>
                  <a:gd name="connsiteX7" fmla="*/ 0 w 5162883"/>
                  <a:gd name="connsiteY7" fmla="*/ 3660533 h 3660533"/>
                  <a:gd name="connsiteX8" fmla="*/ 593766 w 5162883"/>
                  <a:gd name="connsiteY8"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5156560 w 5163046"/>
                  <a:gd name="connsiteY5" fmla="*/ 708688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646320 w 5163046"/>
                  <a:gd name="connsiteY5" fmla="*/ 757335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272982"/>
                  <a:gd name="connsiteY0" fmla="*/ 0 h 3660533"/>
                  <a:gd name="connsiteX1" fmla="*/ 5161441 w 5272982"/>
                  <a:gd name="connsiteY1" fmla="*/ 0 h 3660533"/>
                  <a:gd name="connsiteX2" fmla="*/ 5160175 w 5272982"/>
                  <a:gd name="connsiteY2" fmla="*/ 350657 h 3660533"/>
                  <a:gd name="connsiteX3" fmla="*/ 5161096 w 5272982"/>
                  <a:gd name="connsiteY3" fmla="*/ 392488 h 3660533"/>
                  <a:gd name="connsiteX4" fmla="*/ 3646320 w 5272982"/>
                  <a:gd name="connsiteY4" fmla="*/ 757335 h 3660533"/>
                  <a:gd name="connsiteX5" fmla="*/ 5160174 w 5272982"/>
                  <a:gd name="connsiteY5" fmla="*/ 752490 h 3660533"/>
                  <a:gd name="connsiteX6" fmla="*/ 5161441 w 5272982"/>
                  <a:gd name="connsiteY6" fmla="*/ 3660533 h 3660533"/>
                  <a:gd name="connsiteX7" fmla="*/ 0 w 5272982"/>
                  <a:gd name="connsiteY7" fmla="*/ 3660533 h 3660533"/>
                  <a:gd name="connsiteX8" fmla="*/ 593766 w 5272982"/>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1096 w 5161441"/>
                  <a:gd name="connsiteY3" fmla="*/ 392488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542933"/>
                  <a:gd name="connsiteY0" fmla="*/ 0 h 3660533"/>
                  <a:gd name="connsiteX1" fmla="*/ 5161441 w 5542933"/>
                  <a:gd name="connsiteY1" fmla="*/ 0 h 3660533"/>
                  <a:gd name="connsiteX2" fmla="*/ 5160175 w 5542933"/>
                  <a:gd name="connsiteY2" fmla="*/ 350657 h 3660533"/>
                  <a:gd name="connsiteX3" fmla="*/ 3841338 w 5542933"/>
                  <a:gd name="connsiteY3" fmla="*/ 349922 h 3660533"/>
                  <a:gd name="connsiteX4" fmla="*/ 3646321 w 5542933"/>
                  <a:gd name="connsiteY4" fmla="*/ 753169 h 3660533"/>
                  <a:gd name="connsiteX5" fmla="*/ 5160174 w 5542933"/>
                  <a:gd name="connsiteY5" fmla="*/ 752490 h 3660533"/>
                  <a:gd name="connsiteX6" fmla="*/ 5158786 w 5542933"/>
                  <a:gd name="connsiteY6" fmla="*/ 2442821 h 3660533"/>
                  <a:gd name="connsiteX7" fmla="*/ 5161441 w 5542933"/>
                  <a:gd name="connsiteY7" fmla="*/ 3660533 h 3660533"/>
                  <a:gd name="connsiteX8" fmla="*/ 0 w 5542933"/>
                  <a:gd name="connsiteY8" fmla="*/ 3660533 h 3660533"/>
                  <a:gd name="connsiteX9" fmla="*/ 593766 w 5542933"/>
                  <a:gd name="connsiteY9" fmla="*/ 0 h 3660533"/>
                  <a:gd name="connsiteX0" fmla="*/ 593766 w 5271802"/>
                  <a:gd name="connsiteY0" fmla="*/ 0 h 3660533"/>
                  <a:gd name="connsiteX1" fmla="*/ 5161441 w 5271802"/>
                  <a:gd name="connsiteY1" fmla="*/ 0 h 3660533"/>
                  <a:gd name="connsiteX2" fmla="*/ 5160175 w 5271802"/>
                  <a:gd name="connsiteY2" fmla="*/ 350657 h 3660533"/>
                  <a:gd name="connsiteX3" fmla="*/ 3841338 w 5271802"/>
                  <a:gd name="connsiteY3" fmla="*/ 349922 h 3660533"/>
                  <a:gd name="connsiteX4" fmla="*/ 3646321 w 5271802"/>
                  <a:gd name="connsiteY4" fmla="*/ 753169 h 3660533"/>
                  <a:gd name="connsiteX5" fmla="*/ 5160174 w 5271802"/>
                  <a:gd name="connsiteY5" fmla="*/ 752490 h 3660533"/>
                  <a:gd name="connsiteX6" fmla="*/ 5158786 w 5271802"/>
                  <a:gd name="connsiteY6" fmla="*/ 2442821 h 3660533"/>
                  <a:gd name="connsiteX7" fmla="*/ 5161441 w 5271802"/>
                  <a:gd name="connsiteY7" fmla="*/ 3660533 h 3660533"/>
                  <a:gd name="connsiteX8" fmla="*/ 0 w 5271802"/>
                  <a:gd name="connsiteY8" fmla="*/ 3660533 h 3660533"/>
                  <a:gd name="connsiteX9" fmla="*/ 593766 w 5271802"/>
                  <a:gd name="connsiteY9"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442821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271900"/>
                  <a:gd name="connsiteY0" fmla="*/ 0 h 3660533"/>
                  <a:gd name="connsiteX1" fmla="*/ 5161441 w 5271900"/>
                  <a:gd name="connsiteY1" fmla="*/ 0 h 3660533"/>
                  <a:gd name="connsiteX2" fmla="*/ 5160175 w 5271900"/>
                  <a:gd name="connsiteY2" fmla="*/ 350657 h 3660533"/>
                  <a:gd name="connsiteX3" fmla="*/ 3841338 w 5271900"/>
                  <a:gd name="connsiteY3" fmla="*/ 349922 h 3660533"/>
                  <a:gd name="connsiteX4" fmla="*/ 3646321 w 5271900"/>
                  <a:gd name="connsiteY4" fmla="*/ 753169 h 3660533"/>
                  <a:gd name="connsiteX5" fmla="*/ 5160174 w 5271900"/>
                  <a:gd name="connsiteY5" fmla="*/ 752490 h 3660533"/>
                  <a:gd name="connsiteX6" fmla="*/ 5158786 w 5271900"/>
                  <a:gd name="connsiteY6" fmla="*/ 2051706 h 3660533"/>
                  <a:gd name="connsiteX7" fmla="*/ 5158786 w 5271900"/>
                  <a:gd name="connsiteY7" fmla="*/ 2442821 h 3660533"/>
                  <a:gd name="connsiteX8" fmla="*/ 5161441 w 5271900"/>
                  <a:gd name="connsiteY8" fmla="*/ 3660533 h 3660533"/>
                  <a:gd name="connsiteX9" fmla="*/ 0 w 5271900"/>
                  <a:gd name="connsiteY9" fmla="*/ 3660533 h 3660533"/>
                  <a:gd name="connsiteX10" fmla="*/ 593766 w 5271900"/>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42821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09433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1441 w 5543394"/>
                  <a:gd name="connsiteY12" fmla="*/ 3660533 h 3660533"/>
                  <a:gd name="connsiteX13" fmla="*/ 0 w 5543394"/>
                  <a:gd name="connsiteY13" fmla="*/ 3660533 h 3660533"/>
                  <a:gd name="connsiteX14" fmla="*/ 593766 w 5543394"/>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0174 w 5543394"/>
                  <a:gd name="connsiteY12" fmla="*/ 3350307 h 3660533"/>
                  <a:gd name="connsiteX13" fmla="*/ 5161441 w 5543394"/>
                  <a:gd name="connsiteY13" fmla="*/ 3660533 h 3660533"/>
                  <a:gd name="connsiteX14" fmla="*/ 0 w 5543394"/>
                  <a:gd name="connsiteY14" fmla="*/ 3660533 h 3660533"/>
                  <a:gd name="connsiteX15" fmla="*/ 593766 w 5543394"/>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58848 w 5161441"/>
                  <a:gd name="connsiteY12" fmla="*/ 3323150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3586 w 5161441"/>
                  <a:gd name="connsiteY12" fmla="*/ 3345464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99656 w 5161441"/>
                  <a:gd name="connsiteY11" fmla="*/ 2965086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5160174 w 5161441"/>
                  <a:gd name="connsiteY4" fmla="*/ 752490 h 3660533"/>
                  <a:gd name="connsiteX5" fmla="*/ 5158786 w 5161441"/>
                  <a:gd name="connsiteY5" fmla="*/ 2051706 h 3660533"/>
                  <a:gd name="connsiteX6" fmla="*/ 3853222 w 5161441"/>
                  <a:gd name="connsiteY6" fmla="*/ 2049322 h 3660533"/>
                  <a:gd name="connsiteX7" fmla="*/ 3661124 w 5161441"/>
                  <a:gd name="connsiteY7" fmla="*/ 2440436 h 3660533"/>
                  <a:gd name="connsiteX8" fmla="*/ 5158786 w 5161441"/>
                  <a:gd name="connsiteY8" fmla="*/ 2442821 h 3660533"/>
                  <a:gd name="connsiteX9" fmla="*/ 5160174 w 5161441"/>
                  <a:gd name="connsiteY9" fmla="*/ 2966098 h 3660533"/>
                  <a:gd name="connsiteX10" fmla="*/ 3799656 w 5161441"/>
                  <a:gd name="connsiteY10" fmla="*/ 2965086 h 3660533"/>
                  <a:gd name="connsiteX11" fmla="*/ 3606943 w 5161441"/>
                  <a:gd name="connsiteY11" fmla="*/ 3351042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853222 w 5161441"/>
                  <a:gd name="connsiteY5" fmla="*/ 2049322 h 3660533"/>
                  <a:gd name="connsiteX6" fmla="*/ 3661124 w 5161441"/>
                  <a:gd name="connsiteY6" fmla="*/ 2440436 h 3660533"/>
                  <a:gd name="connsiteX7" fmla="*/ 5158786 w 5161441"/>
                  <a:gd name="connsiteY7" fmla="*/ 2442821 h 3660533"/>
                  <a:gd name="connsiteX8" fmla="*/ 5160174 w 5161441"/>
                  <a:gd name="connsiteY8" fmla="*/ 2966098 h 3660533"/>
                  <a:gd name="connsiteX9" fmla="*/ 3799656 w 5161441"/>
                  <a:gd name="connsiteY9" fmla="*/ 2965086 h 3660533"/>
                  <a:gd name="connsiteX10" fmla="*/ 3606943 w 5161441"/>
                  <a:gd name="connsiteY10" fmla="*/ 3351042 h 3660533"/>
                  <a:gd name="connsiteX11" fmla="*/ 5160174 w 5161441"/>
                  <a:gd name="connsiteY11" fmla="*/ 3350307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661124 w 5161441"/>
                  <a:gd name="connsiteY5" fmla="*/ 2440436 h 3660533"/>
                  <a:gd name="connsiteX6" fmla="*/ 5158786 w 5161441"/>
                  <a:gd name="connsiteY6" fmla="*/ 2442821 h 3660533"/>
                  <a:gd name="connsiteX7" fmla="*/ 5160174 w 5161441"/>
                  <a:gd name="connsiteY7" fmla="*/ 2966098 h 3660533"/>
                  <a:gd name="connsiteX8" fmla="*/ 3799656 w 5161441"/>
                  <a:gd name="connsiteY8" fmla="*/ 2965086 h 3660533"/>
                  <a:gd name="connsiteX9" fmla="*/ 3606943 w 5161441"/>
                  <a:gd name="connsiteY9" fmla="*/ 3351042 h 3660533"/>
                  <a:gd name="connsiteX10" fmla="*/ 5160174 w 5161441"/>
                  <a:gd name="connsiteY10" fmla="*/ 3350307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799656 w 5161441"/>
                  <a:gd name="connsiteY7" fmla="*/ 2965086 h 3660533"/>
                  <a:gd name="connsiteX8" fmla="*/ 3606943 w 5161441"/>
                  <a:gd name="connsiteY8" fmla="*/ 3351042 h 3660533"/>
                  <a:gd name="connsiteX9" fmla="*/ 5160174 w 5161441"/>
                  <a:gd name="connsiteY9" fmla="*/ 3350307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606943 w 5161441"/>
                  <a:gd name="connsiteY7" fmla="*/ 3351042 h 3660533"/>
                  <a:gd name="connsiteX8" fmla="*/ 5160174 w 5161441"/>
                  <a:gd name="connsiteY8" fmla="*/ 3350307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5160174 w 5161441"/>
                  <a:gd name="connsiteY7" fmla="*/ 3350307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lnTo>
                      <a:pt x="5160175" y="350657"/>
                    </a:lnTo>
                    <a:cubicBezTo>
                      <a:pt x="5160175" y="484601"/>
                      <a:pt x="5160174" y="618546"/>
                      <a:pt x="5160174" y="752490"/>
                    </a:cubicBezTo>
                    <a:cubicBezTo>
                      <a:pt x="5159711" y="1185562"/>
                      <a:pt x="5159249" y="1618634"/>
                      <a:pt x="5158786" y="2051706"/>
                    </a:cubicBezTo>
                    <a:lnTo>
                      <a:pt x="5158786" y="2442821"/>
                    </a:lnTo>
                    <a:cubicBezTo>
                      <a:pt x="5159249" y="2617247"/>
                      <a:pt x="5159711" y="2791672"/>
                      <a:pt x="5160174" y="2966098"/>
                    </a:cubicBezTo>
                    <a:lnTo>
                      <a:pt x="5160174" y="3350307"/>
                    </a:lnTo>
                    <a:cubicBezTo>
                      <a:pt x="5160596" y="3453716"/>
                      <a:pt x="5161019" y="3557124"/>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808080"/>
                  </a:solidFill>
                </a:endParaRPr>
              </a:p>
            </p:txBody>
          </p:sp>
          <p:sp>
            <p:nvSpPr>
              <p:cNvPr id="22" name="Rectangle 13"/>
              <p:cNvSpPr>
                <a:spLocks noChangeArrowheads="1"/>
              </p:cNvSpPr>
              <p:nvPr/>
            </p:nvSpPr>
            <p:spPr bwMode="gray">
              <a:xfrm>
                <a:off x="5729909" y="1008323"/>
                <a:ext cx="4562000" cy="387394"/>
              </a:xfrm>
              <a:custGeom>
                <a:avLst/>
                <a:gdLst>
                  <a:gd name="connsiteX0" fmla="*/ 0 w 4423658"/>
                  <a:gd name="connsiteY0" fmla="*/ 0 h 343492"/>
                  <a:gd name="connsiteX1" fmla="*/ 4423658 w 4423658"/>
                  <a:gd name="connsiteY1" fmla="*/ 0 h 343492"/>
                  <a:gd name="connsiteX2" fmla="*/ 4423658 w 4423658"/>
                  <a:gd name="connsiteY2" fmla="*/ 343492 h 343492"/>
                  <a:gd name="connsiteX3" fmla="*/ 0 w 4423658"/>
                  <a:gd name="connsiteY3" fmla="*/ 343492 h 343492"/>
                  <a:gd name="connsiteX4" fmla="*/ 0 w 4423658"/>
                  <a:gd name="connsiteY4" fmla="*/ 0 h 343492"/>
                  <a:gd name="connsiteX0" fmla="*/ 71252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71252 w 4423658"/>
                  <a:gd name="connsiteY4" fmla="*/ 11875 h 343492"/>
                  <a:gd name="connsiteX0" fmla="*/ 60681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60681 w 4423658"/>
                  <a:gd name="connsiteY4" fmla="*/ 11875 h 343492"/>
                  <a:gd name="connsiteX0" fmla="*/ 52695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52695 w 4423658"/>
                  <a:gd name="connsiteY4" fmla="*/ 11875 h 343492"/>
                  <a:gd name="connsiteX0" fmla="*/ 60682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60682 w 4423658"/>
                  <a:gd name="connsiteY4" fmla="*/ 4824 h 343492"/>
                  <a:gd name="connsiteX0" fmla="*/ 36724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36724 w 4423658"/>
                  <a:gd name="connsiteY4" fmla="*/ 4824 h 34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658" h="343492">
                    <a:moveTo>
                      <a:pt x="36724" y="4824"/>
                    </a:moveTo>
                    <a:lnTo>
                      <a:pt x="4423658" y="0"/>
                    </a:lnTo>
                    <a:lnTo>
                      <a:pt x="4423658" y="343492"/>
                    </a:lnTo>
                    <a:lnTo>
                      <a:pt x="0" y="343492"/>
                    </a:lnTo>
                    <a:lnTo>
                      <a:pt x="36724" y="4824"/>
                    </a:lnTo>
                    <a:close/>
                  </a:path>
                </a:pathLst>
              </a:cu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4834" tIns="44114" rIns="84834" bIns="44114" anchor="ctr"/>
              <a:lstStyle/>
              <a:p>
                <a:pPr algn="ctr" defTabSz="983096" eaLnBrk="0" hangingPunct="0">
                  <a:spcAft>
                    <a:spcPct val="0"/>
                  </a:spcAft>
                  <a:buClr>
                    <a:srgbClr val="999999"/>
                  </a:buClr>
                  <a:buSzPct val="75000"/>
                  <a:defRPr/>
                </a:pPr>
                <a:r>
                  <a:rPr lang="de-DE" sz="1319" b="1" kern="0" dirty="0"/>
                  <a:t>Commentary</a:t>
                </a:r>
              </a:p>
            </p:txBody>
          </p:sp>
          <p:sp>
            <p:nvSpPr>
              <p:cNvPr id="23" name="Rectangle 13"/>
              <p:cNvSpPr>
                <a:spLocks noChangeArrowheads="1"/>
              </p:cNvSpPr>
              <p:nvPr/>
            </p:nvSpPr>
            <p:spPr bwMode="gray">
              <a:xfrm>
                <a:off x="626681" y="1008323"/>
                <a:ext cx="4930872"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rgbClr val="808080"/>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endParaRPr lang="de-DE" sz="1319" b="1" kern="0" dirty="0">
                  <a:solidFill>
                    <a:srgbClr val="FFFFFF"/>
                  </a:solidFill>
                </a:endParaRPr>
              </a:p>
            </p:txBody>
          </p:sp>
          <p:sp>
            <p:nvSpPr>
              <p:cNvPr id="24" name="Rectangle 14"/>
              <p:cNvSpPr>
                <a:spLocks noChangeArrowheads="1"/>
              </p:cNvSpPr>
              <p:nvPr/>
            </p:nvSpPr>
            <p:spPr bwMode="gray">
              <a:xfrm rot="10800000">
                <a:off x="626681" y="1021708"/>
                <a:ext cx="4932000" cy="5652468"/>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61441"/>
                  <a:gd name="connsiteY0" fmla="*/ 0 h 3660533"/>
                  <a:gd name="connsiteX1" fmla="*/ 5161441 w 5161441"/>
                  <a:gd name="connsiteY1" fmla="*/ 0 h 3660533"/>
                  <a:gd name="connsiteX2" fmla="*/ 5158253 w 5161441"/>
                  <a:gd name="connsiteY2" fmla="*/ 3307335 h 3660533"/>
                  <a:gd name="connsiteX3" fmla="*/ 5161441 w 5161441"/>
                  <a:gd name="connsiteY3" fmla="*/ 3660533 h 3660533"/>
                  <a:gd name="connsiteX4" fmla="*/ 0 w 5161441"/>
                  <a:gd name="connsiteY4" fmla="*/ 3660533 h 3660533"/>
                  <a:gd name="connsiteX5" fmla="*/ 593766 w 5161441"/>
                  <a:gd name="connsiteY5" fmla="*/ 0 h 3660533"/>
                  <a:gd name="connsiteX0" fmla="*/ 593766 w 5498844"/>
                  <a:gd name="connsiteY0" fmla="*/ 0 h 3660533"/>
                  <a:gd name="connsiteX1" fmla="*/ 5161441 w 5498844"/>
                  <a:gd name="connsiteY1" fmla="*/ 0 h 3660533"/>
                  <a:gd name="connsiteX2" fmla="*/ 5158253 w 5498844"/>
                  <a:gd name="connsiteY2" fmla="*/ 2920268 h 3660533"/>
                  <a:gd name="connsiteX3" fmla="*/ 5158253 w 5498844"/>
                  <a:gd name="connsiteY3" fmla="*/ 3307335 h 3660533"/>
                  <a:gd name="connsiteX4" fmla="*/ 5161441 w 5498844"/>
                  <a:gd name="connsiteY4" fmla="*/ 3660533 h 3660533"/>
                  <a:gd name="connsiteX5" fmla="*/ 0 w 5498844"/>
                  <a:gd name="connsiteY5" fmla="*/ 3660533 h 3660533"/>
                  <a:gd name="connsiteX6" fmla="*/ 593766 w 5498844"/>
                  <a:gd name="connsiteY6"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5158253 w 5161441"/>
                  <a:gd name="connsiteY3" fmla="*/ 3307335 h 3660533"/>
                  <a:gd name="connsiteX4" fmla="*/ 5161441 w 5161441"/>
                  <a:gd name="connsiteY4" fmla="*/ 3660533 h 3660533"/>
                  <a:gd name="connsiteX5" fmla="*/ 0 w 5161441"/>
                  <a:gd name="connsiteY5" fmla="*/ 3660533 h 3660533"/>
                  <a:gd name="connsiteX6" fmla="*/ 593766 w 5161441"/>
                  <a:gd name="connsiteY6"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223470 h 3660533"/>
                  <a:gd name="connsiteX4" fmla="*/ 5158253 w 5167281"/>
                  <a:gd name="connsiteY4" fmla="*/ 3307335 h 3660533"/>
                  <a:gd name="connsiteX5" fmla="*/ 5161441 w 5167281"/>
                  <a:gd name="connsiteY5" fmla="*/ 3660533 h 3660533"/>
                  <a:gd name="connsiteX6" fmla="*/ 0 w 5167281"/>
                  <a:gd name="connsiteY6" fmla="*/ 3660533 h 3660533"/>
                  <a:gd name="connsiteX7" fmla="*/ 593766 w 5167281"/>
                  <a:gd name="connsiteY7"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004132 h 3660533"/>
                  <a:gd name="connsiteX4" fmla="*/ 5167281 w 5167281"/>
                  <a:gd name="connsiteY4" fmla="*/ 3223470 h 3660533"/>
                  <a:gd name="connsiteX5" fmla="*/ 5158253 w 5167281"/>
                  <a:gd name="connsiteY5" fmla="*/ 3307335 h 3660533"/>
                  <a:gd name="connsiteX6" fmla="*/ 5161441 w 5167281"/>
                  <a:gd name="connsiteY6" fmla="*/ 3660533 h 3660533"/>
                  <a:gd name="connsiteX7" fmla="*/ 0 w 5167281"/>
                  <a:gd name="connsiteY7" fmla="*/ 3660533 h 3660533"/>
                  <a:gd name="connsiteX8" fmla="*/ 593766 w 5167281"/>
                  <a:gd name="connsiteY8" fmla="*/ 0 h 3660533"/>
                  <a:gd name="connsiteX0" fmla="*/ 593766 w 5167282"/>
                  <a:gd name="connsiteY0" fmla="*/ 0 h 3660533"/>
                  <a:gd name="connsiteX1" fmla="*/ 5161441 w 5167282"/>
                  <a:gd name="connsiteY1" fmla="*/ 0 h 3660533"/>
                  <a:gd name="connsiteX2" fmla="*/ 5158253 w 5167282"/>
                  <a:gd name="connsiteY2" fmla="*/ 2920268 h 3660533"/>
                  <a:gd name="connsiteX3" fmla="*/ 5167281 w 5167282"/>
                  <a:gd name="connsiteY3" fmla="*/ 3004132 h 3660533"/>
                  <a:gd name="connsiteX4" fmla="*/ 3786039 w 5167282"/>
                  <a:gd name="connsiteY4" fmla="*/ 3262177 h 3660533"/>
                  <a:gd name="connsiteX5" fmla="*/ 5158253 w 5167282"/>
                  <a:gd name="connsiteY5" fmla="*/ 3307335 h 3660533"/>
                  <a:gd name="connsiteX6" fmla="*/ 5161441 w 5167282"/>
                  <a:gd name="connsiteY6" fmla="*/ 3660533 h 3660533"/>
                  <a:gd name="connsiteX7" fmla="*/ 0 w 5167282"/>
                  <a:gd name="connsiteY7" fmla="*/ 3660533 h 3660533"/>
                  <a:gd name="connsiteX8" fmla="*/ 593766 w 5167282"/>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4093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499313"/>
                  <a:gd name="connsiteY0" fmla="*/ 0 h 3660533"/>
                  <a:gd name="connsiteX1" fmla="*/ 5161441 w 5499313"/>
                  <a:gd name="connsiteY1" fmla="*/ 0 h 3660533"/>
                  <a:gd name="connsiteX2" fmla="*/ 5159665 w 5499313"/>
                  <a:gd name="connsiteY2" fmla="*/ 1892248 h 3660533"/>
                  <a:gd name="connsiteX3" fmla="*/ 5158253 w 5499313"/>
                  <a:gd name="connsiteY3" fmla="*/ 2904063 h 3660533"/>
                  <a:gd name="connsiteX4" fmla="*/ 3876230 w 5499313"/>
                  <a:gd name="connsiteY4" fmla="*/ 2904093 h 3660533"/>
                  <a:gd name="connsiteX5" fmla="*/ 3695634 w 5499313"/>
                  <a:gd name="connsiteY5" fmla="*/ 3307365 h 3660533"/>
                  <a:gd name="connsiteX6" fmla="*/ 5158253 w 5499313"/>
                  <a:gd name="connsiteY6" fmla="*/ 3307335 h 3660533"/>
                  <a:gd name="connsiteX7" fmla="*/ 5161441 w 5499313"/>
                  <a:gd name="connsiteY7" fmla="*/ 3660533 h 3660533"/>
                  <a:gd name="connsiteX8" fmla="*/ 0 w 5499313"/>
                  <a:gd name="connsiteY8" fmla="*/ 3660533 h 3660533"/>
                  <a:gd name="connsiteX9" fmla="*/ 593766 w 5499313"/>
                  <a:gd name="connsiteY9" fmla="*/ 0 h 3660533"/>
                  <a:gd name="connsiteX0" fmla="*/ 593766 w 5253571"/>
                  <a:gd name="connsiteY0" fmla="*/ 0 h 3660533"/>
                  <a:gd name="connsiteX1" fmla="*/ 5161441 w 5253571"/>
                  <a:gd name="connsiteY1" fmla="*/ 0 h 3660533"/>
                  <a:gd name="connsiteX2" fmla="*/ 5159665 w 5253571"/>
                  <a:gd name="connsiteY2" fmla="*/ 1892248 h 3660533"/>
                  <a:gd name="connsiteX3" fmla="*/ 5158253 w 5253571"/>
                  <a:gd name="connsiteY3" fmla="*/ 2904063 h 3660533"/>
                  <a:gd name="connsiteX4" fmla="*/ 3876230 w 5253571"/>
                  <a:gd name="connsiteY4" fmla="*/ 2904093 h 3660533"/>
                  <a:gd name="connsiteX5" fmla="*/ 3695634 w 5253571"/>
                  <a:gd name="connsiteY5" fmla="*/ 3307365 h 3660533"/>
                  <a:gd name="connsiteX6" fmla="*/ 5158253 w 5253571"/>
                  <a:gd name="connsiteY6" fmla="*/ 3307335 h 3660533"/>
                  <a:gd name="connsiteX7" fmla="*/ 5161441 w 5253571"/>
                  <a:gd name="connsiteY7" fmla="*/ 3660533 h 3660533"/>
                  <a:gd name="connsiteX8" fmla="*/ 0 w 5253571"/>
                  <a:gd name="connsiteY8" fmla="*/ 3660533 h 3660533"/>
                  <a:gd name="connsiteX9" fmla="*/ 593766 w 5253571"/>
                  <a:gd name="connsiteY9" fmla="*/ 0 h 3660533"/>
                  <a:gd name="connsiteX0" fmla="*/ 593766 w 5161441"/>
                  <a:gd name="connsiteY0" fmla="*/ 0 h 3660533"/>
                  <a:gd name="connsiteX1" fmla="*/ 5161441 w 5161441"/>
                  <a:gd name="connsiteY1" fmla="*/ 0 h 3660533"/>
                  <a:gd name="connsiteX2" fmla="*/ 5159665 w 5161441"/>
                  <a:gd name="connsiteY2" fmla="*/ 1892248 h 3660533"/>
                  <a:gd name="connsiteX3" fmla="*/ 5158253 w 5161441"/>
                  <a:gd name="connsiteY3" fmla="*/ 2904063 h 3660533"/>
                  <a:gd name="connsiteX4" fmla="*/ 3876230 w 5161441"/>
                  <a:gd name="connsiteY4" fmla="*/ 2904093 h 3660533"/>
                  <a:gd name="connsiteX5" fmla="*/ 3695634 w 5161441"/>
                  <a:gd name="connsiteY5" fmla="*/ 3307365 h 3660533"/>
                  <a:gd name="connsiteX6" fmla="*/ 5158253 w 5161441"/>
                  <a:gd name="connsiteY6" fmla="*/ 3307335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892248 h 3660533"/>
                  <a:gd name="connsiteX4" fmla="*/ 5158253 w 5161441"/>
                  <a:gd name="connsiteY4" fmla="*/ 2904063 h 3660533"/>
                  <a:gd name="connsiteX5" fmla="*/ 3876230 w 5161441"/>
                  <a:gd name="connsiteY5" fmla="*/ 2904093 h 3660533"/>
                  <a:gd name="connsiteX6" fmla="*/ 3695634 w 5161441"/>
                  <a:gd name="connsiteY6" fmla="*/ 3307365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92248 h 3660533"/>
                  <a:gd name="connsiteX5" fmla="*/ 5158253 w 5161441"/>
                  <a:gd name="connsiteY5" fmla="*/ 2904063 h 3660533"/>
                  <a:gd name="connsiteX6" fmla="*/ 3876230 w 5161441"/>
                  <a:gd name="connsiteY6" fmla="*/ 2904093 h 3660533"/>
                  <a:gd name="connsiteX7" fmla="*/ 3695634 w 5161441"/>
                  <a:gd name="connsiteY7" fmla="*/ 3307365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5011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4 w 5161441"/>
                  <a:gd name="connsiteY4" fmla="*/ 1889524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5 w 5161441"/>
                  <a:gd name="connsiteY4" fmla="*/ 1893281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1324155 h 3660533"/>
                  <a:gd name="connsiteX3" fmla="*/ 5159665 w 5161441"/>
                  <a:gd name="connsiteY3" fmla="*/ 1480661 h 3660533"/>
                  <a:gd name="connsiteX4" fmla="*/ 3876188 w 5161441"/>
                  <a:gd name="connsiteY4" fmla="*/ 1480661 h 3660533"/>
                  <a:gd name="connsiteX5" fmla="*/ 3702405 w 5161441"/>
                  <a:gd name="connsiteY5" fmla="*/ 1893281 h 3660533"/>
                  <a:gd name="connsiteX6" fmla="*/ 5159665 w 5161441"/>
                  <a:gd name="connsiteY6" fmla="*/ 1892248 h 3660533"/>
                  <a:gd name="connsiteX7" fmla="*/ 5158253 w 5161441"/>
                  <a:gd name="connsiteY7" fmla="*/ 2904063 h 3660533"/>
                  <a:gd name="connsiteX8" fmla="*/ 3876230 w 5161441"/>
                  <a:gd name="connsiteY8" fmla="*/ 2904093 h 3660533"/>
                  <a:gd name="connsiteX9" fmla="*/ 3695634 w 5161441"/>
                  <a:gd name="connsiteY9" fmla="*/ 3307365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499177"/>
                  <a:gd name="connsiteY0" fmla="*/ 0 h 3660533"/>
                  <a:gd name="connsiteX1" fmla="*/ 5161441 w 5499177"/>
                  <a:gd name="connsiteY1" fmla="*/ 0 h 3660533"/>
                  <a:gd name="connsiteX2" fmla="*/ 5159381 w 5499177"/>
                  <a:gd name="connsiteY2" fmla="*/ 907453 h 3660533"/>
                  <a:gd name="connsiteX3" fmla="*/ 5159381 w 5499177"/>
                  <a:gd name="connsiteY3" fmla="*/ 1324155 h 3660533"/>
                  <a:gd name="connsiteX4" fmla="*/ 5159665 w 5499177"/>
                  <a:gd name="connsiteY4" fmla="*/ 1480661 h 3660533"/>
                  <a:gd name="connsiteX5" fmla="*/ 3876188 w 5499177"/>
                  <a:gd name="connsiteY5" fmla="*/ 1480661 h 3660533"/>
                  <a:gd name="connsiteX6" fmla="*/ 3702405 w 5499177"/>
                  <a:gd name="connsiteY6" fmla="*/ 1893281 h 3660533"/>
                  <a:gd name="connsiteX7" fmla="*/ 5159665 w 5499177"/>
                  <a:gd name="connsiteY7" fmla="*/ 1892248 h 3660533"/>
                  <a:gd name="connsiteX8" fmla="*/ 5158253 w 5499177"/>
                  <a:gd name="connsiteY8" fmla="*/ 2904063 h 3660533"/>
                  <a:gd name="connsiteX9" fmla="*/ 3876230 w 5499177"/>
                  <a:gd name="connsiteY9" fmla="*/ 2904093 h 3660533"/>
                  <a:gd name="connsiteX10" fmla="*/ 3695634 w 5499177"/>
                  <a:gd name="connsiteY10" fmla="*/ 3307365 h 3660533"/>
                  <a:gd name="connsiteX11" fmla="*/ 5158253 w 5499177"/>
                  <a:gd name="connsiteY11" fmla="*/ 3307335 h 3660533"/>
                  <a:gd name="connsiteX12" fmla="*/ 5161441 w 5499177"/>
                  <a:gd name="connsiteY12" fmla="*/ 3660533 h 3660533"/>
                  <a:gd name="connsiteX13" fmla="*/ 0 w 5499177"/>
                  <a:gd name="connsiteY13" fmla="*/ 3660533 h 3660533"/>
                  <a:gd name="connsiteX14" fmla="*/ 593766 w 5499177"/>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281417 h 3660533"/>
                  <a:gd name="connsiteX4" fmla="*/ 5159381 w 5161441"/>
                  <a:gd name="connsiteY4" fmla="*/ 1324155 h 3660533"/>
                  <a:gd name="connsiteX5" fmla="*/ 5159665 w 5161441"/>
                  <a:gd name="connsiteY5" fmla="*/ 1480661 h 3660533"/>
                  <a:gd name="connsiteX6" fmla="*/ 3876188 w 5161441"/>
                  <a:gd name="connsiteY6" fmla="*/ 1480661 h 3660533"/>
                  <a:gd name="connsiteX7" fmla="*/ 3702405 w 5161441"/>
                  <a:gd name="connsiteY7" fmla="*/ 1893281 h 3660533"/>
                  <a:gd name="connsiteX8" fmla="*/ 5159665 w 5161441"/>
                  <a:gd name="connsiteY8" fmla="*/ 1892248 h 3660533"/>
                  <a:gd name="connsiteX9" fmla="*/ 5158253 w 5161441"/>
                  <a:gd name="connsiteY9" fmla="*/ 2904063 h 3660533"/>
                  <a:gd name="connsiteX10" fmla="*/ 3876230 w 5161441"/>
                  <a:gd name="connsiteY10" fmla="*/ 2904093 h 3660533"/>
                  <a:gd name="connsiteX11" fmla="*/ 3695634 w 5161441"/>
                  <a:gd name="connsiteY11" fmla="*/ 3307365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5159381 w 5164365"/>
                  <a:gd name="connsiteY4" fmla="*/ 1281417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98415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297513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081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1690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5159665 w 5161441"/>
                  <a:gd name="connsiteY8" fmla="*/ 1870047 h 3660533"/>
                  <a:gd name="connsiteX9" fmla="*/ 5158253 w 5161441"/>
                  <a:gd name="connsiteY9" fmla="*/ 2904063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5159665 w 5161441"/>
                  <a:gd name="connsiteY7" fmla="*/ 1870047 h 3660533"/>
                  <a:gd name="connsiteX8" fmla="*/ 5158253 w 5161441"/>
                  <a:gd name="connsiteY8" fmla="*/ 2904063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5159381 w 5161441"/>
                  <a:gd name="connsiteY4" fmla="*/ 1301954 h 3660533"/>
                  <a:gd name="connsiteX5" fmla="*/ 5159665 w 5161441"/>
                  <a:gd name="connsiteY5" fmla="*/ 1458459 h 3660533"/>
                  <a:gd name="connsiteX6" fmla="*/ 5159665 w 5161441"/>
                  <a:gd name="connsiteY6" fmla="*/ 1870047 h 3660533"/>
                  <a:gd name="connsiteX7" fmla="*/ 5158253 w 5161441"/>
                  <a:gd name="connsiteY7" fmla="*/ 2904063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5159381 w 5161441"/>
                  <a:gd name="connsiteY3" fmla="*/ 1301954 h 3660533"/>
                  <a:gd name="connsiteX4" fmla="*/ 5159665 w 5161441"/>
                  <a:gd name="connsiteY4" fmla="*/ 1458459 h 3660533"/>
                  <a:gd name="connsiteX5" fmla="*/ 5159665 w 5161441"/>
                  <a:gd name="connsiteY5" fmla="*/ 1870047 h 3660533"/>
                  <a:gd name="connsiteX6" fmla="*/ 5158253 w 5161441"/>
                  <a:gd name="connsiteY6" fmla="*/ 2904063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cubicBezTo>
                      <a:pt x="5160754" y="302484"/>
                      <a:pt x="5160068" y="582768"/>
                      <a:pt x="5159381" y="885252"/>
                    </a:cubicBezTo>
                    <a:lnTo>
                      <a:pt x="5159381" y="1301954"/>
                    </a:lnTo>
                    <a:cubicBezTo>
                      <a:pt x="5159476" y="1354123"/>
                      <a:pt x="5159570" y="1406290"/>
                      <a:pt x="5159665" y="1458459"/>
                    </a:cubicBezTo>
                    <a:lnTo>
                      <a:pt x="5159665" y="1870047"/>
                    </a:lnTo>
                    <a:cubicBezTo>
                      <a:pt x="5159194" y="2207319"/>
                      <a:pt x="5158724" y="2566791"/>
                      <a:pt x="5158253" y="2904063"/>
                    </a:cubicBezTo>
                    <a:lnTo>
                      <a:pt x="5158253" y="3307335"/>
                    </a:lnTo>
                    <a:cubicBezTo>
                      <a:pt x="5159316" y="3425068"/>
                      <a:pt x="5160378" y="3542800"/>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vert="horz"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646464"/>
                  </a:solidFill>
                </a:endParaRPr>
              </a:p>
            </p:txBody>
          </p:sp>
        </p:grpSp>
        <p:sp>
          <p:nvSpPr>
            <p:cNvPr id="21" name="Rectangle 13"/>
            <p:cNvSpPr>
              <a:spLocks noChangeArrowheads="1"/>
            </p:cNvSpPr>
            <p:nvPr/>
          </p:nvSpPr>
          <p:spPr bwMode="gray">
            <a:xfrm>
              <a:off x="630176" y="900871"/>
              <a:ext cx="4932000"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chemeClr val="accent1"/>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r>
                <a:rPr lang="de-DE" sz="1319" b="1" kern="0" dirty="0">
                  <a:solidFill>
                    <a:srgbClr val="FFFFFF"/>
                  </a:solidFill>
                </a:rPr>
                <a:t>Data</a:t>
              </a:r>
            </a:p>
          </p:txBody>
        </p:sp>
      </p:grpSp>
      <p:sp>
        <p:nvSpPr>
          <p:cNvPr id="2" name="Title 1"/>
          <p:cNvSpPr>
            <a:spLocks noGrp="1"/>
          </p:cNvSpPr>
          <p:nvPr>
            <p:ph type="title"/>
          </p:nvPr>
        </p:nvSpPr>
        <p:spPr/>
        <p:txBody>
          <a:bodyPr/>
          <a:lstStyle/>
          <a:p>
            <a:r>
              <a:rPr lang="en-US" sz="2400" dirty="0"/>
              <a:t>Loss Given Default (LGD)</a:t>
            </a:r>
            <a:r>
              <a:rPr lang="en-US" sz="2800" dirty="0"/>
              <a:t/>
            </a:r>
            <a:br>
              <a:rPr lang="en-US" sz="2800" dirty="0"/>
            </a:br>
            <a:r>
              <a:rPr lang="en-US" sz="2000" i="1" dirty="0"/>
              <a:t>Regulatory and Technical Views</a:t>
            </a:r>
            <a:endParaRPr lang="en-IN" sz="20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31</a:t>
            </a:fld>
            <a:endParaRPr lang="en-US" altLang="en-US"/>
          </a:p>
        </p:txBody>
      </p:sp>
      <p:sp>
        <p:nvSpPr>
          <p:cNvPr id="15" name="TextBox 14"/>
          <p:cNvSpPr txBox="1"/>
          <p:nvPr/>
        </p:nvSpPr>
        <p:spPr>
          <a:xfrm>
            <a:off x="5220769" y="1322157"/>
            <a:ext cx="4378088" cy="2593018"/>
          </a:xfrm>
          <a:prstGeom prst="rect">
            <a:avLst/>
          </a:prstGeom>
          <a:noFill/>
        </p:spPr>
        <p:txBody>
          <a:bodyPr wrap="square" rtlCol="0">
            <a:spAutoFit/>
          </a:bodyPr>
          <a:lstStyle/>
          <a:p>
            <a:pPr algn="just" defTabSz="861892">
              <a:spcAft>
                <a:spcPts val="565"/>
              </a:spcAft>
              <a:buClr>
                <a:srgbClr val="646464"/>
              </a:buClr>
              <a:buSzPct val="100000"/>
            </a:pPr>
            <a:r>
              <a:rPr lang="de-DE" sz="1050" b="1" dirty="0">
                <a:solidFill>
                  <a:srgbClr val="000000"/>
                </a:solidFill>
              </a:rPr>
              <a:t>Developing IFRS 9 LGDs</a:t>
            </a:r>
            <a:endParaRPr lang="de-DE" sz="1050" dirty="0">
              <a:solidFill>
                <a:srgbClr val="000000"/>
              </a:solidFill>
            </a:endParaRPr>
          </a:p>
          <a:p>
            <a:pPr marL="197048" indent="-188989" algn="just" defTabSz="861892">
              <a:spcAft>
                <a:spcPts val="283"/>
              </a:spcAft>
              <a:buClr>
                <a:schemeClr val="tx1"/>
              </a:buClr>
              <a:buSzPct val="100000"/>
              <a:buFont typeface="Wingdings" panose="05000000000000000000" pitchFamily="2" charset="2"/>
              <a:buChar char="§"/>
            </a:pPr>
            <a:r>
              <a:rPr lang="de-DE" sz="1050" b="1" dirty="0">
                <a:solidFill>
                  <a:srgbClr val="000000"/>
                </a:solidFill>
              </a:rPr>
              <a:t>Most participants plan to use Basel LGDs </a:t>
            </a:r>
            <a:r>
              <a:rPr lang="de-DE" sz="1050" dirty="0">
                <a:solidFill>
                  <a:srgbClr val="000000"/>
                </a:solidFill>
              </a:rPr>
              <a:t>as a starting point </a:t>
            </a:r>
          </a:p>
          <a:p>
            <a:pPr marL="357188" lvl="2" indent="-188913" algn="just" defTabSz="861892">
              <a:spcAft>
                <a:spcPts val="283"/>
              </a:spcAft>
              <a:buClr>
                <a:schemeClr val="tx1"/>
              </a:buClr>
              <a:buSzPct val="100000"/>
              <a:buFont typeface="Wingdings" panose="05000000000000000000" pitchFamily="2" charset="2"/>
              <a:buChar char="§"/>
            </a:pPr>
            <a:r>
              <a:rPr lang="de-DE" sz="1050" dirty="0">
                <a:solidFill>
                  <a:srgbClr val="000000"/>
                </a:solidFill>
              </a:rPr>
              <a:t>Most common adjustments are </a:t>
            </a:r>
            <a:r>
              <a:rPr lang="de-DE" sz="1050" b="1" dirty="0">
                <a:solidFill>
                  <a:srgbClr val="000000"/>
                </a:solidFill>
              </a:rPr>
              <a:t>removal of downturn calibrations and floors, discounting, recovery costs &amp; consideration of derivatives</a:t>
            </a:r>
          </a:p>
          <a:p>
            <a:pPr marL="357188" lvl="2" indent="-188913" algn="just" defTabSz="861892">
              <a:spcAft>
                <a:spcPts val="283"/>
              </a:spcAft>
              <a:buClr>
                <a:schemeClr val="tx1"/>
              </a:buClr>
              <a:buSzPct val="100000"/>
              <a:buFont typeface="Wingdings" panose="05000000000000000000" pitchFamily="2" charset="2"/>
              <a:buChar char="§"/>
            </a:pPr>
            <a:r>
              <a:rPr lang="de-DE" sz="1050" dirty="0">
                <a:solidFill>
                  <a:srgbClr val="000000"/>
                </a:solidFill>
              </a:rPr>
              <a:t>Nearly half of the respondents are still investigating how best to discount LGDs using facility EIRs.  An emerging approach is to </a:t>
            </a:r>
            <a:r>
              <a:rPr lang="de-DE" sz="1050" b="1" dirty="0">
                <a:solidFill>
                  <a:srgbClr val="000000"/>
                </a:solidFill>
              </a:rPr>
              <a:t>apply a top down adjustment at portfolio level </a:t>
            </a:r>
            <a:r>
              <a:rPr lang="de-DE" sz="1050" dirty="0">
                <a:solidFill>
                  <a:srgbClr val="000000"/>
                </a:solidFill>
              </a:rPr>
              <a:t>to account for different discount rates and discount period.  Interestingly, granular re-estimation is not the preferred approach</a:t>
            </a:r>
          </a:p>
          <a:p>
            <a:pPr marL="357188" lvl="2" indent="-188913" algn="just" defTabSz="861892">
              <a:spcAft>
                <a:spcPts val="283"/>
              </a:spcAft>
              <a:buClr>
                <a:schemeClr val="tx1"/>
              </a:buClr>
              <a:buSzPct val="100000"/>
              <a:buFont typeface="Wingdings" panose="05000000000000000000" pitchFamily="2" charset="2"/>
              <a:buChar char="§"/>
            </a:pPr>
            <a:r>
              <a:rPr lang="en-GB" sz="1050" dirty="0">
                <a:solidFill>
                  <a:srgbClr val="000000"/>
                </a:solidFill>
              </a:rPr>
              <a:t>Some banks already have LGDs available with a discounting effect based on contract rates while others only have LGDs discounted with different rates</a:t>
            </a:r>
            <a:endParaRPr lang="de-DE" sz="1050" dirty="0">
              <a:solidFill>
                <a:srgbClr val="000000"/>
              </a:solidFill>
            </a:endParaRPr>
          </a:p>
          <a:p>
            <a:pPr marL="197048" indent="-188989" algn="just" defTabSz="861892">
              <a:spcAft>
                <a:spcPts val="283"/>
              </a:spcAft>
              <a:buClr>
                <a:schemeClr val="tx1"/>
              </a:buClr>
              <a:buSzPct val="100000"/>
              <a:buFont typeface="Wingdings" panose="05000000000000000000" pitchFamily="2" charset="2"/>
              <a:buChar char="§"/>
            </a:pPr>
            <a:r>
              <a:rPr lang="de-DE" sz="1050" dirty="0">
                <a:solidFill>
                  <a:srgbClr val="000000"/>
                </a:solidFill>
              </a:rPr>
              <a:t>Where Basel LGDs are not available, about half the firms are looking at </a:t>
            </a:r>
            <a:r>
              <a:rPr lang="de-DE" sz="1050" b="1" dirty="0">
                <a:solidFill>
                  <a:srgbClr val="000000"/>
                </a:solidFill>
              </a:rPr>
              <a:t>using historical loss rates </a:t>
            </a:r>
          </a:p>
        </p:txBody>
      </p:sp>
      <p:sp>
        <p:nvSpPr>
          <p:cNvPr id="26" name="TextBox 25"/>
          <p:cNvSpPr txBox="1"/>
          <p:nvPr/>
        </p:nvSpPr>
        <p:spPr>
          <a:xfrm>
            <a:off x="4947277" y="3927790"/>
            <a:ext cx="4721214" cy="2223686"/>
          </a:xfrm>
          <a:prstGeom prst="rect">
            <a:avLst/>
          </a:prstGeom>
          <a:noFill/>
        </p:spPr>
        <p:txBody>
          <a:bodyPr wrap="square" rtlCol="0">
            <a:spAutoFit/>
          </a:bodyPr>
          <a:lstStyle/>
          <a:p>
            <a:pPr defTabSz="861892">
              <a:spcAft>
                <a:spcPts val="565"/>
              </a:spcAft>
              <a:buClr>
                <a:srgbClr val="646464"/>
              </a:buClr>
              <a:buSzPct val="100000"/>
            </a:pPr>
            <a:r>
              <a:rPr lang="de-DE" sz="1050" b="1" dirty="0">
                <a:solidFill>
                  <a:srgbClr val="000000"/>
                </a:solidFill>
              </a:rPr>
              <a:t>Lifetime and forward looking assessment of LGDs</a:t>
            </a:r>
          </a:p>
          <a:p>
            <a:pPr marL="197048" indent="-188989" algn="just" defTabSz="861892">
              <a:spcAft>
                <a:spcPts val="283"/>
              </a:spcAft>
              <a:buClr>
                <a:schemeClr val="tx1"/>
              </a:buClr>
              <a:buSzPct val="100000"/>
              <a:buFont typeface="Wingdings" panose="05000000000000000000" pitchFamily="2" charset="2"/>
              <a:buChar char="§"/>
            </a:pPr>
            <a:r>
              <a:rPr lang="de-DE" sz="1050" dirty="0">
                <a:solidFill>
                  <a:srgbClr val="000000"/>
                </a:solidFill>
              </a:rPr>
              <a:t>Many banks are </a:t>
            </a:r>
            <a:r>
              <a:rPr lang="de-DE" sz="1050" b="1" dirty="0">
                <a:solidFill>
                  <a:srgbClr val="000000"/>
                </a:solidFill>
              </a:rPr>
              <a:t>yet to determine </a:t>
            </a:r>
            <a:r>
              <a:rPr lang="de-DE" sz="1050" dirty="0">
                <a:solidFill>
                  <a:srgbClr val="000000"/>
                </a:solidFill>
              </a:rPr>
              <a:t>how best to derive lifetime estimates of LGD, showing less advancement on their thought process on LGDs compared to PDs</a:t>
            </a:r>
          </a:p>
          <a:p>
            <a:pPr marL="197048" indent="-188989" algn="just" defTabSz="861892">
              <a:spcAft>
                <a:spcPts val="283"/>
              </a:spcAft>
              <a:buClr>
                <a:schemeClr val="tx1"/>
              </a:buClr>
              <a:buSzPct val="100000"/>
              <a:buFont typeface="Wingdings" panose="05000000000000000000" pitchFamily="2" charset="2"/>
              <a:buChar char="§"/>
            </a:pPr>
            <a:r>
              <a:rPr lang="de-DE" sz="1050" dirty="0">
                <a:solidFill>
                  <a:srgbClr val="000000"/>
                </a:solidFill>
              </a:rPr>
              <a:t>The </a:t>
            </a:r>
            <a:r>
              <a:rPr lang="de-DE" sz="1050" b="1" dirty="0">
                <a:solidFill>
                  <a:srgbClr val="000000"/>
                </a:solidFill>
              </a:rPr>
              <a:t>incorporation of macro-economic variables </a:t>
            </a:r>
            <a:r>
              <a:rPr lang="de-DE" sz="1050" dirty="0">
                <a:solidFill>
                  <a:srgbClr val="000000"/>
                </a:solidFill>
              </a:rPr>
              <a:t>in the estimates is being actively considered by most banks, with use of stress testing process for modelled portfolios and use of judgement for non-modelled portfolios being the  most popular</a:t>
            </a:r>
          </a:p>
          <a:p>
            <a:pPr marL="197048" indent="-188989" algn="just" defTabSz="861892">
              <a:spcAft>
                <a:spcPts val="283"/>
              </a:spcAft>
              <a:buClr>
                <a:schemeClr val="tx1"/>
              </a:buClr>
              <a:buSzPct val="100000"/>
              <a:buFont typeface="Wingdings" panose="05000000000000000000" pitchFamily="2" charset="2"/>
              <a:buChar char="§"/>
            </a:pPr>
            <a:r>
              <a:rPr lang="de-DE" sz="1050" dirty="0">
                <a:solidFill>
                  <a:srgbClr val="000000"/>
                </a:solidFill>
              </a:rPr>
              <a:t>For those not intending to use adjusted Basel LGD, most banks intend to rely on historical loss rates calibrated to PIT and forward looking expectations</a:t>
            </a:r>
          </a:p>
          <a:p>
            <a:pPr marL="197048" indent="-188989" algn="just" defTabSz="861892">
              <a:spcAft>
                <a:spcPts val="283"/>
              </a:spcAft>
              <a:buClr>
                <a:schemeClr val="tx1"/>
              </a:buClr>
              <a:buSzPct val="100000"/>
              <a:buFont typeface="Wingdings" panose="05000000000000000000" pitchFamily="2" charset="2"/>
              <a:buChar char="§"/>
            </a:pPr>
            <a:r>
              <a:rPr lang="de-DE" sz="1050" dirty="0">
                <a:solidFill>
                  <a:srgbClr val="000000"/>
                </a:solidFill>
              </a:rPr>
              <a:t>Most banks are undecided when it comes to the use of time dependant LGDs that reflect the payment pattern and the evolution in the values of collaterals. Those who do intend to use time-dependant LGDs tend to exclude unsecured portfolios</a:t>
            </a:r>
            <a:endParaRPr lang="en-GB" sz="1050" dirty="0">
              <a:solidFill>
                <a:srgbClr val="000000"/>
              </a:solidFill>
            </a:endParaRPr>
          </a:p>
        </p:txBody>
      </p:sp>
      <p:graphicFrame>
        <p:nvGraphicFramePr>
          <p:cNvPr id="37" name="Chart 36"/>
          <p:cNvGraphicFramePr>
            <a:graphicFrameLocks/>
          </p:cNvGraphicFramePr>
          <p:nvPr>
            <p:extLst/>
          </p:nvPr>
        </p:nvGraphicFramePr>
        <p:xfrm>
          <a:off x="2813801" y="4554581"/>
          <a:ext cx="2208646" cy="1695161"/>
        </p:xfrm>
        <a:graphic>
          <a:graphicData uri="http://schemas.openxmlformats.org/drawingml/2006/chart">
            <c:chart xmlns:c="http://schemas.openxmlformats.org/drawingml/2006/chart" xmlns:r="http://schemas.openxmlformats.org/officeDocument/2006/relationships" r:id="rId3"/>
          </a:graphicData>
        </a:graphic>
      </p:graphicFrame>
      <p:sp>
        <p:nvSpPr>
          <p:cNvPr id="47" name="Rectangle 3"/>
          <p:cNvSpPr/>
          <p:nvPr/>
        </p:nvSpPr>
        <p:spPr bwMode="auto">
          <a:xfrm>
            <a:off x="290730" y="5354119"/>
            <a:ext cx="4337697" cy="957020"/>
          </a:xfrm>
          <a:custGeom>
            <a:avLst/>
            <a:gdLst>
              <a:gd name="connsiteX0" fmla="*/ 0 w 4323974"/>
              <a:gd name="connsiteY0" fmla="*/ 0 h 2763294"/>
              <a:gd name="connsiteX1" fmla="*/ 4323974 w 4323974"/>
              <a:gd name="connsiteY1" fmla="*/ 0 h 2763294"/>
              <a:gd name="connsiteX2" fmla="*/ 4323974 w 4323974"/>
              <a:gd name="connsiteY2" fmla="*/ 2763294 h 2763294"/>
              <a:gd name="connsiteX3" fmla="*/ 0 w 4323974"/>
              <a:gd name="connsiteY3" fmla="*/ 2763294 h 2763294"/>
              <a:gd name="connsiteX4" fmla="*/ 0 w 4323974"/>
              <a:gd name="connsiteY4" fmla="*/ 0 h 2763294"/>
              <a:gd name="connsiteX0" fmla="*/ 0 w 4575765"/>
              <a:gd name="connsiteY0" fmla="*/ 0 h 2763294"/>
              <a:gd name="connsiteX1" fmla="*/ 4575765 w 4575765"/>
              <a:gd name="connsiteY1" fmla="*/ 0 h 2763294"/>
              <a:gd name="connsiteX2" fmla="*/ 4323974 w 4575765"/>
              <a:gd name="connsiteY2" fmla="*/ 2763294 h 2763294"/>
              <a:gd name="connsiteX3" fmla="*/ 0 w 4575765"/>
              <a:gd name="connsiteY3" fmla="*/ 2763294 h 2763294"/>
              <a:gd name="connsiteX4" fmla="*/ 0 w 4575765"/>
              <a:gd name="connsiteY4" fmla="*/ 0 h 2763294"/>
              <a:gd name="connsiteX0" fmla="*/ 0 w 4523174"/>
              <a:gd name="connsiteY0" fmla="*/ 0 h 2763294"/>
              <a:gd name="connsiteX1" fmla="*/ 4523174 w 4523174"/>
              <a:gd name="connsiteY1" fmla="*/ 0 h 2763294"/>
              <a:gd name="connsiteX2" fmla="*/ 4323974 w 4523174"/>
              <a:gd name="connsiteY2" fmla="*/ 2763294 h 2763294"/>
              <a:gd name="connsiteX3" fmla="*/ 0 w 4523174"/>
              <a:gd name="connsiteY3" fmla="*/ 2763294 h 2763294"/>
              <a:gd name="connsiteX4" fmla="*/ 0 w 4523174"/>
              <a:gd name="connsiteY4" fmla="*/ 0 h 2763294"/>
              <a:gd name="connsiteX0" fmla="*/ 0 w 4494654"/>
              <a:gd name="connsiteY0" fmla="*/ 0 h 2763294"/>
              <a:gd name="connsiteX1" fmla="*/ 4494654 w 4494654"/>
              <a:gd name="connsiteY1" fmla="*/ 0 h 2763294"/>
              <a:gd name="connsiteX2" fmla="*/ 4323974 w 4494654"/>
              <a:gd name="connsiteY2" fmla="*/ 2763294 h 2763294"/>
              <a:gd name="connsiteX3" fmla="*/ 0 w 4494654"/>
              <a:gd name="connsiteY3" fmla="*/ 2763294 h 2763294"/>
              <a:gd name="connsiteX4" fmla="*/ 0 w 4494654"/>
              <a:gd name="connsiteY4" fmla="*/ 0 h 2763294"/>
              <a:gd name="connsiteX0" fmla="*/ 0 w 4475641"/>
              <a:gd name="connsiteY0" fmla="*/ 0 h 2763294"/>
              <a:gd name="connsiteX1" fmla="*/ 4475641 w 4475641"/>
              <a:gd name="connsiteY1" fmla="*/ 0 h 2763294"/>
              <a:gd name="connsiteX2" fmla="*/ 4323974 w 4475641"/>
              <a:gd name="connsiteY2" fmla="*/ 2763294 h 2763294"/>
              <a:gd name="connsiteX3" fmla="*/ 0 w 4475641"/>
              <a:gd name="connsiteY3" fmla="*/ 2763294 h 2763294"/>
              <a:gd name="connsiteX4" fmla="*/ 0 w 4475641"/>
              <a:gd name="connsiteY4" fmla="*/ 0 h 2763294"/>
              <a:gd name="connsiteX0" fmla="*/ 0 w 4485099"/>
              <a:gd name="connsiteY0" fmla="*/ 0 h 2763294"/>
              <a:gd name="connsiteX1" fmla="*/ 4485099 w 4485099"/>
              <a:gd name="connsiteY1" fmla="*/ 0 h 2763294"/>
              <a:gd name="connsiteX2" fmla="*/ 4323974 w 4485099"/>
              <a:gd name="connsiteY2" fmla="*/ 2763294 h 2763294"/>
              <a:gd name="connsiteX3" fmla="*/ 0 w 4485099"/>
              <a:gd name="connsiteY3" fmla="*/ 2763294 h 2763294"/>
              <a:gd name="connsiteX4" fmla="*/ 0 w 4485099"/>
              <a:gd name="connsiteY4" fmla="*/ 0 h 2763294"/>
              <a:gd name="connsiteX0" fmla="*/ 0 w 4437807"/>
              <a:gd name="connsiteY0" fmla="*/ 0 h 2763294"/>
              <a:gd name="connsiteX1" fmla="*/ 4437807 w 4437807"/>
              <a:gd name="connsiteY1" fmla="*/ 0 h 2763294"/>
              <a:gd name="connsiteX2" fmla="*/ 4323974 w 4437807"/>
              <a:gd name="connsiteY2" fmla="*/ 2763294 h 2763294"/>
              <a:gd name="connsiteX3" fmla="*/ 0 w 4437807"/>
              <a:gd name="connsiteY3" fmla="*/ 2763294 h 2763294"/>
              <a:gd name="connsiteX4" fmla="*/ 0 w 4437807"/>
              <a:gd name="connsiteY4" fmla="*/ 0 h 2763294"/>
              <a:gd name="connsiteX0" fmla="*/ 0 w 4428349"/>
              <a:gd name="connsiteY0" fmla="*/ 0 h 2763294"/>
              <a:gd name="connsiteX1" fmla="*/ 4428349 w 4428349"/>
              <a:gd name="connsiteY1" fmla="*/ 0 h 2763294"/>
              <a:gd name="connsiteX2" fmla="*/ 4323974 w 4428349"/>
              <a:gd name="connsiteY2" fmla="*/ 2763294 h 2763294"/>
              <a:gd name="connsiteX3" fmla="*/ 0 w 4428349"/>
              <a:gd name="connsiteY3" fmla="*/ 2763294 h 2763294"/>
              <a:gd name="connsiteX4" fmla="*/ 0 w 4428349"/>
              <a:gd name="connsiteY4" fmla="*/ 0 h 2763294"/>
              <a:gd name="connsiteX0" fmla="*/ 0 w 4447266"/>
              <a:gd name="connsiteY0" fmla="*/ 0 h 2763294"/>
              <a:gd name="connsiteX1" fmla="*/ 4447266 w 4447266"/>
              <a:gd name="connsiteY1" fmla="*/ 0 h 2763294"/>
              <a:gd name="connsiteX2" fmla="*/ 4323974 w 4447266"/>
              <a:gd name="connsiteY2" fmla="*/ 2763294 h 2763294"/>
              <a:gd name="connsiteX3" fmla="*/ 0 w 4447266"/>
              <a:gd name="connsiteY3" fmla="*/ 2763294 h 2763294"/>
              <a:gd name="connsiteX4" fmla="*/ 0 w 4447266"/>
              <a:gd name="connsiteY4" fmla="*/ 0 h 2763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7266" h="2763294">
                <a:moveTo>
                  <a:pt x="0" y="0"/>
                </a:moveTo>
                <a:lnTo>
                  <a:pt x="4447266" y="0"/>
                </a:lnTo>
                <a:lnTo>
                  <a:pt x="4323974" y="2763294"/>
                </a:lnTo>
                <a:lnTo>
                  <a:pt x="0" y="2763294"/>
                </a:lnTo>
                <a:lnTo>
                  <a:pt x="0" y="0"/>
                </a:lnTo>
                <a:close/>
              </a:path>
            </a:pathLst>
          </a:custGeom>
          <a:solidFill>
            <a:schemeClr val="accent1"/>
          </a:solidFill>
          <a:ln w="9525" cap="flat" cmpd="sng" algn="ctr">
            <a:solidFill>
              <a:schemeClr val="tx2"/>
            </a:solidFill>
            <a:prstDash val="solid"/>
            <a:round/>
            <a:headEnd type="none" w="med" len="med"/>
            <a:tailEnd type="none" w="med" len="med"/>
          </a:ln>
          <a:effectLst/>
        </p:spPr>
        <p:txBody>
          <a:bodyPr vert="horz" wrap="square" lIns="84834" tIns="44114" rIns="84834" bIns="44114" numCol="1" rtlCol="0" anchor="t" anchorCtr="0" compatLnSpc="1">
            <a:prstTxWarp prst="textNoShape">
              <a:avLst/>
            </a:prstTxWarp>
            <a:spAutoFit/>
          </a:bodyPr>
          <a:lstStyle/>
          <a:p>
            <a:pPr defTabSz="861892">
              <a:buClr>
                <a:srgbClr val="FFE600"/>
              </a:buClr>
              <a:buSzPct val="80000"/>
            </a:pPr>
            <a:r>
              <a:rPr lang="en-GB" sz="940" b="1" dirty="0" smtClean="0">
                <a:solidFill>
                  <a:schemeClr val="bg1"/>
                </a:solidFill>
              </a:rPr>
              <a:t>Adjustments required to Basel LGD when used as starting point</a:t>
            </a:r>
          </a:p>
          <a:p>
            <a:pPr marL="161605" indent="-161605" defTabSz="861892">
              <a:buClr>
                <a:schemeClr val="bg1"/>
              </a:buClr>
              <a:buSzPct val="80000"/>
              <a:buFont typeface="Arial" panose="020B0604020202020204" pitchFamily="34" charset="0"/>
              <a:buChar char="•"/>
            </a:pPr>
            <a:r>
              <a:rPr lang="en-GB" sz="940" dirty="0" smtClean="0">
                <a:solidFill>
                  <a:schemeClr val="bg1"/>
                </a:solidFill>
              </a:rPr>
              <a:t>Removal of ‘downturn’ calibration</a:t>
            </a:r>
          </a:p>
          <a:p>
            <a:pPr marL="161605" indent="-161605" defTabSz="861892">
              <a:buClr>
                <a:schemeClr val="bg1"/>
              </a:buClr>
              <a:buSzPct val="80000"/>
              <a:buFont typeface="Arial" panose="020B0604020202020204" pitchFamily="34" charset="0"/>
              <a:buChar char="•"/>
            </a:pPr>
            <a:r>
              <a:rPr lang="en-GB" sz="940" dirty="0" smtClean="0">
                <a:solidFill>
                  <a:schemeClr val="bg1"/>
                </a:solidFill>
              </a:rPr>
              <a:t>Removal of floors</a:t>
            </a:r>
          </a:p>
          <a:p>
            <a:pPr marL="161605" indent="-161605" defTabSz="861892">
              <a:buClr>
                <a:schemeClr val="bg1"/>
              </a:buClr>
              <a:buSzPct val="80000"/>
              <a:buFont typeface="Arial" panose="020B0604020202020204" pitchFamily="34" charset="0"/>
              <a:buChar char="•"/>
            </a:pPr>
            <a:r>
              <a:rPr lang="en-GB" sz="940" dirty="0" smtClean="0">
                <a:solidFill>
                  <a:schemeClr val="bg1"/>
                </a:solidFill>
              </a:rPr>
              <a:t>Application of lifetime and forward-looking expectations</a:t>
            </a:r>
          </a:p>
          <a:p>
            <a:pPr marL="161605" indent="-161605" defTabSz="861892">
              <a:buClr>
                <a:schemeClr val="bg1"/>
              </a:buClr>
              <a:buSzPct val="80000"/>
              <a:buFont typeface="Arial" panose="020B0604020202020204" pitchFamily="34" charset="0"/>
              <a:buChar char="•"/>
            </a:pPr>
            <a:r>
              <a:rPr lang="en-GB" sz="940" dirty="0" smtClean="0">
                <a:solidFill>
                  <a:schemeClr val="bg1"/>
                </a:solidFill>
              </a:rPr>
              <a:t>Discounting</a:t>
            </a:r>
          </a:p>
          <a:p>
            <a:pPr marL="161605" indent="-161605" defTabSz="861892">
              <a:buClr>
                <a:schemeClr val="bg1"/>
              </a:buClr>
              <a:buSzPct val="80000"/>
              <a:buFont typeface="Arial" panose="020B0604020202020204" pitchFamily="34" charset="0"/>
              <a:buChar char="•"/>
            </a:pPr>
            <a:r>
              <a:rPr lang="en-GB" sz="940" dirty="0" smtClean="0">
                <a:solidFill>
                  <a:schemeClr val="bg1"/>
                </a:solidFill>
              </a:rPr>
              <a:t>Recovery costs</a:t>
            </a:r>
            <a:endParaRPr lang="en-GB" sz="940" dirty="0">
              <a:solidFill>
                <a:schemeClr val="bg1"/>
              </a:solidFill>
            </a:endParaRPr>
          </a:p>
        </p:txBody>
      </p:sp>
      <p:graphicFrame>
        <p:nvGraphicFramePr>
          <p:cNvPr id="27" name="Chart 26"/>
          <p:cNvGraphicFramePr>
            <a:graphicFrameLocks/>
          </p:cNvGraphicFramePr>
          <p:nvPr>
            <p:extLst/>
          </p:nvPr>
        </p:nvGraphicFramePr>
        <p:xfrm>
          <a:off x="344988" y="3067611"/>
          <a:ext cx="4580858" cy="1967400"/>
        </p:xfrm>
        <a:graphic>
          <a:graphicData uri="http://schemas.openxmlformats.org/drawingml/2006/chart">
            <c:chart xmlns:c="http://schemas.openxmlformats.org/drawingml/2006/chart" xmlns:r="http://schemas.openxmlformats.org/officeDocument/2006/relationships" r:id="rId4"/>
          </a:graphicData>
        </a:graphic>
      </p:graphicFrame>
      <p:grpSp>
        <p:nvGrpSpPr>
          <p:cNvPr id="29" name="Group 28"/>
          <p:cNvGrpSpPr/>
          <p:nvPr/>
        </p:nvGrpSpPr>
        <p:grpSpPr>
          <a:xfrm>
            <a:off x="453898" y="1432019"/>
            <a:ext cx="4350305" cy="1442174"/>
            <a:chOff x="763525" y="1519293"/>
            <a:chExt cx="4615233" cy="1530000"/>
          </a:xfrm>
        </p:grpSpPr>
        <p:graphicFrame>
          <p:nvGraphicFramePr>
            <p:cNvPr id="30" name="Chart 29"/>
            <p:cNvGraphicFramePr>
              <a:graphicFrameLocks/>
            </p:cNvGraphicFramePr>
            <p:nvPr>
              <p:extLst/>
            </p:nvPr>
          </p:nvGraphicFramePr>
          <p:xfrm>
            <a:off x="763525" y="1519293"/>
            <a:ext cx="1598400" cy="153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1" name="Chart 30"/>
            <p:cNvGraphicFramePr>
              <a:graphicFrameLocks/>
            </p:cNvGraphicFramePr>
            <p:nvPr>
              <p:extLst/>
            </p:nvPr>
          </p:nvGraphicFramePr>
          <p:xfrm>
            <a:off x="1991815" y="1519924"/>
            <a:ext cx="1598582" cy="152873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2" name="Chart 31"/>
            <p:cNvGraphicFramePr>
              <a:graphicFrameLocks/>
            </p:cNvGraphicFramePr>
            <p:nvPr>
              <p:extLst/>
            </p:nvPr>
          </p:nvGraphicFramePr>
          <p:xfrm>
            <a:off x="2735500" y="1519293"/>
            <a:ext cx="2643258" cy="1530000"/>
          </p:xfrm>
          <a:graphic>
            <a:graphicData uri="http://schemas.openxmlformats.org/drawingml/2006/chart">
              <c:chart xmlns:c="http://schemas.openxmlformats.org/drawingml/2006/chart" xmlns:r="http://schemas.openxmlformats.org/officeDocument/2006/relationships" r:id="rId7"/>
            </a:graphicData>
          </a:graphic>
        </p:graphicFrame>
      </p:grpSp>
      <p:sp>
        <p:nvSpPr>
          <p:cNvPr id="36" name="TextBox 35"/>
          <p:cNvSpPr txBox="1"/>
          <p:nvPr/>
        </p:nvSpPr>
        <p:spPr>
          <a:xfrm>
            <a:off x="373350" y="1342948"/>
            <a:ext cx="3220280" cy="266355"/>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US" sz="1131" b="1" dirty="0">
                <a:solidFill>
                  <a:srgbClr val="000000"/>
                </a:solidFill>
              </a:rPr>
              <a:t>Use of Basel LGDs as a starting point </a:t>
            </a:r>
          </a:p>
        </p:txBody>
      </p:sp>
      <p:sp>
        <p:nvSpPr>
          <p:cNvPr id="38" name="Rectangle 37"/>
          <p:cNvSpPr/>
          <p:nvPr/>
        </p:nvSpPr>
        <p:spPr>
          <a:xfrm>
            <a:off x="326062" y="4962457"/>
            <a:ext cx="3975534" cy="237309"/>
          </a:xfrm>
          <a:prstGeom prst="rect">
            <a:avLst/>
          </a:prstGeom>
        </p:spPr>
        <p:txBody>
          <a:bodyPr wrap="square">
            <a:spAutoFit/>
          </a:bodyPr>
          <a:lstStyle/>
          <a:p>
            <a:pPr marL="86787" lvl="1" defTabSz="861892" fontAlgn="base">
              <a:spcBef>
                <a:spcPct val="0"/>
              </a:spcBef>
              <a:buClr>
                <a:srgbClr val="FFE600"/>
              </a:buClr>
              <a:buSzPct val="80000"/>
            </a:pPr>
            <a:r>
              <a:rPr lang="de-DE" sz="942" dirty="0">
                <a:solidFill>
                  <a:srgbClr val="000000"/>
                </a:solidFill>
              </a:rPr>
              <a:t>Total exceeds 20 as some banks selected more than one factor</a:t>
            </a:r>
            <a:endParaRPr lang="de-DE" sz="942" dirty="0">
              <a:solidFill>
                <a:srgbClr val="FF0000"/>
              </a:solidFill>
            </a:endParaRPr>
          </a:p>
        </p:txBody>
      </p:sp>
      <p:sp>
        <p:nvSpPr>
          <p:cNvPr id="48" name="TextBox 47"/>
          <p:cNvSpPr txBox="1"/>
          <p:nvPr/>
        </p:nvSpPr>
        <p:spPr>
          <a:xfrm>
            <a:off x="552271" y="2847691"/>
            <a:ext cx="4330821" cy="266355"/>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US" sz="1131" b="1" dirty="0">
                <a:solidFill>
                  <a:srgbClr val="000000"/>
                </a:solidFill>
              </a:rPr>
              <a:t>Forward-looking perspective in assessment of LGDs</a:t>
            </a:r>
          </a:p>
        </p:txBody>
      </p:sp>
      <p:sp>
        <p:nvSpPr>
          <p:cNvPr id="28" name="TextBox 27"/>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488836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t>Loss Given Default (LGD)</a:t>
            </a:r>
          </a:p>
          <a:p>
            <a:pPr marL="2843213" lvl="5" indent="-446088"/>
            <a:r>
              <a:rPr lang="en-US" dirty="0">
                <a:latin typeface="Times New Roman" pitchFamily="18" charset="0"/>
                <a:cs typeface="Times New Roman" pitchFamily="18" charset="0"/>
              </a:rPr>
              <a:t>Through the Cycle (TTC) LGD</a:t>
            </a:r>
          </a:p>
          <a:p>
            <a:pPr marL="2843213" lvl="5" indent="-446088"/>
            <a:r>
              <a:rPr lang="en-US" dirty="0">
                <a:solidFill>
                  <a:schemeClr val="bg1">
                    <a:lumMod val="75000"/>
                  </a:schemeClr>
                </a:solidFill>
                <a:latin typeface="Times New Roman" pitchFamily="18" charset="0"/>
                <a:cs typeface="Times New Roman" pitchFamily="18" charset="0"/>
              </a:rPr>
              <a:t>Point in Time (</a:t>
            </a:r>
            <a:r>
              <a:rPr lang="en-US" dirty="0" err="1">
                <a:solidFill>
                  <a:schemeClr val="bg1">
                    <a:lumMod val="75000"/>
                  </a:schemeClr>
                </a:solidFill>
                <a:latin typeface="Times New Roman" pitchFamily="18" charset="0"/>
                <a:cs typeface="Times New Roman" pitchFamily="18" charset="0"/>
              </a:rPr>
              <a:t>PiT</a:t>
            </a:r>
            <a:r>
              <a:rPr lang="en-US" dirty="0">
                <a:solidFill>
                  <a:schemeClr val="bg1">
                    <a:lumMod val="75000"/>
                  </a:schemeClr>
                </a:solidFill>
                <a:latin typeface="Times New Roman" pitchFamily="18" charset="0"/>
                <a:cs typeface="Times New Roman" pitchFamily="18" charset="0"/>
              </a:rPr>
              <a:t>) LGD </a:t>
            </a:r>
          </a:p>
          <a:p>
            <a:pPr marL="808038" lvl="4" indent="-446088"/>
            <a:r>
              <a:rPr lang="en-US" sz="2000" dirty="0" smtClean="0">
                <a:solidFill>
                  <a:schemeClr val="bg1">
                    <a:lumMod val="75000"/>
                  </a:schemeClr>
                </a:solidFill>
              </a:rPr>
              <a:t>Exposure at Default (EAD)</a:t>
            </a:r>
          </a:p>
          <a:p>
            <a:pPr marL="808038" lvl="4" indent="-446088"/>
            <a:r>
              <a:rPr lang="en-US" sz="2000" dirty="0" smtClean="0">
                <a:solidFill>
                  <a:schemeClr val="bg1">
                    <a:lumMod val="75000"/>
                  </a:schemeClr>
                </a:solidFill>
              </a:rPr>
              <a:t>Expected Credit Loss (ECL) Computation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32</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2390548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Unconditional LGD : Available Options</a:t>
            </a:r>
            <a:r>
              <a:rPr lang="en-US" sz="2400" dirty="0" smtClean="0"/>
              <a:t/>
            </a:r>
            <a:br>
              <a:rPr lang="en-US" sz="2400" dirty="0" smtClean="0"/>
            </a:br>
            <a:endParaRPr lang="en-IN" sz="2400" i="1" dirty="0"/>
          </a:p>
        </p:txBody>
      </p:sp>
      <p:sp>
        <p:nvSpPr>
          <p:cNvPr id="13" name="Rounded Rectangle 12"/>
          <p:cNvSpPr/>
          <p:nvPr/>
        </p:nvSpPr>
        <p:spPr>
          <a:xfrm>
            <a:off x="416447" y="3680289"/>
            <a:ext cx="1476676" cy="1196513"/>
          </a:xfrm>
          <a:prstGeom prst="roundRect">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b="1" dirty="0" smtClean="0">
                <a:solidFill>
                  <a:srgbClr val="002060"/>
                </a:solidFill>
                <a:latin typeface="Times New Roman" panose="02020603050405020304" pitchFamily="18" charset="0"/>
                <a:cs typeface="Times New Roman" panose="02020603050405020304" pitchFamily="18" charset="0"/>
              </a:rPr>
              <a:t>Basel FIRB Approach </a:t>
            </a:r>
            <a:r>
              <a:rPr lang="en-IN" sz="1300" i="1" dirty="0" smtClean="0">
                <a:solidFill>
                  <a:srgbClr val="002060"/>
                </a:solidFill>
                <a:latin typeface="Times New Roman" panose="02020603050405020304" pitchFamily="18" charset="0"/>
                <a:cs typeface="Times New Roman" panose="02020603050405020304" pitchFamily="18" charset="0"/>
              </a:rPr>
              <a:t>(Original QIA)</a:t>
            </a:r>
            <a:endParaRPr lang="en-US" sz="1300" i="1" dirty="0">
              <a:solidFill>
                <a:srgbClr val="002060"/>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1893122" y="3746549"/>
            <a:ext cx="7295643" cy="1090495"/>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ctr" anchorCtr="0"/>
          <a:lstStyle/>
          <a:p>
            <a:pPr marL="185738"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Use the LGD rules as per the FIRB approach under Basel and any relevant QCB guidance in computing LGD for each facility</a:t>
            </a:r>
          </a:p>
          <a:p>
            <a:pPr marL="185738" indent="-185738" eaLnBrk="0" hangingPunct="0">
              <a:lnSpc>
                <a:spcPct val="90000"/>
              </a:lnSpc>
              <a:spcBef>
                <a:spcPct val="60000"/>
              </a:spcBef>
              <a:buFont typeface="Times New Roman" panose="02020603050405020304" pitchFamily="18" charset="0"/>
              <a:buChar char="•"/>
            </a:pPr>
            <a:r>
              <a:rPr lang="en-US" sz="1300" dirty="0">
                <a:solidFill>
                  <a:schemeClr val="tx1"/>
                </a:solidFill>
                <a:latin typeface="Times New Roman" pitchFamily="18" charset="0"/>
                <a:cs typeface="Times New Roman" pitchFamily="18" charset="0"/>
              </a:rPr>
              <a:t>The approach will tend to produce conservative LGDs, considering Basel LGDs are intrinsically for capital adequacy purposes, and also include an element of down-turn conservativism</a:t>
            </a:r>
          </a:p>
        </p:txBody>
      </p:sp>
      <p:sp>
        <p:nvSpPr>
          <p:cNvPr id="15" name="Oval 14"/>
          <p:cNvSpPr/>
          <p:nvPr/>
        </p:nvSpPr>
        <p:spPr>
          <a:xfrm>
            <a:off x="412882" y="3587525"/>
            <a:ext cx="288032" cy="216024"/>
          </a:xfrm>
          <a:prstGeom prst="ellipse">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3</a:t>
            </a:r>
            <a:endParaRPr lang="en-US" sz="1100" b="1"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416447" y="1056649"/>
            <a:ext cx="1476676" cy="1073950"/>
          </a:xfrm>
          <a:prstGeom prst="roundRect">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b="1" dirty="0" smtClean="0">
                <a:solidFill>
                  <a:srgbClr val="002060"/>
                </a:solidFill>
                <a:latin typeface="Times New Roman" panose="02020603050405020304" pitchFamily="18" charset="0"/>
                <a:cs typeface="Times New Roman" panose="02020603050405020304" pitchFamily="18" charset="0"/>
              </a:rPr>
              <a:t>Recovery Rate Approach</a:t>
            </a:r>
            <a:endParaRPr lang="en-US" sz="1300" b="1" dirty="0">
              <a:solidFill>
                <a:srgbClr val="002060"/>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1893122" y="1083153"/>
            <a:ext cx="7295643" cy="1023943"/>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ctr" anchorCtr="0"/>
          <a:lstStyle/>
          <a:p>
            <a:pPr marL="185738"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With the availability of recovery data for each facility historically, the recovery rate can be computed – which then forms the basis for LGD estimation</a:t>
            </a:r>
          </a:p>
          <a:p>
            <a:pPr marL="185738" indent="-185738" eaLnBrk="0" hangingPunct="0">
              <a:lnSpc>
                <a:spcPct val="90000"/>
              </a:lnSpc>
              <a:spcBef>
                <a:spcPct val="60000"/>
              </a:spcBef>
              <a:buFont typeface="Times New Roman" panose="02020603050405020304" pitchFamily="18" charset="0"/>
              <a:buChar char="•"/>
            </a:pPr>
            <a:r>
              <a:rPr lang="en-US" sz="1300" dirty="0">
                <a:solidFill>
                  <a:schemeClr val="tx1"/>
                </a:solidFill>
                <a:latin typeface="Times New Roman" pitchFamily="18" charset="0"/>
                <a:cs typeface="Times New Roman" pitchFamily="18" charset="0"/>
              </a:rPr>
              <a:t>At QNB, recovery data is not directly available and is not available historically to build estimates for a modelled LGD</a:t>
            </a:r>
          </a:p>
        </p:txBody>
      </p:sp>
      <p:sp>
        <p:nvSpPr>
          <p:cNvPr id="18" name="Oval 17"/>
          <p:cNvSpPr/>
          <p:nvPr/>
        </p:nvSpPr>
        <p:spPr>
          <a:xfrm>
            <a:off x="412882" y="963885"/>
            <a:ext cx="288032" cy="216024"/>
          </a:xfrm>
          <a:prstGeom prst="ellipse">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1</a:t>
            </a:r>
            <a:endParaRPr lang="en-US" sz="1100" b="1" dirty="0">
              <a:latin typeface="Times New Roman" panose="02020603050405020304" pitchFamily="18" charset="0"/>
              <a:cs typeface="Times New Roman" panose="02020603050405020304" pitchFamily="18" charset="0"/>
            </a:endParaRPr>
          </a:p>
        </p:txBody>
      </p:sp>
      <p:sp>
        <p:nvSpPr>
          <p:cNvPr id="19" name="Rounded Rectangle 18"/>
          <p:cNvSpPr/>
          <p:nvPr/>
        </p:nvSpPr>
        <p:spPr>
          <a:xfrm>
            <a:off x="412882" y="2348591"/>
            <a:ext cx="1476676" cy="1163236"/>
          </a:xfrm>
          <a:prstGeom prst="roundRect">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b="1" dirty="0" smtClean="0">
                <a:solidFill>
                  <a:srgbClr val="002060"/>
                </a:solidFill>
                <a:latin typeface="Times New Roman" panose="02020603050405020304" pitchFamily="18" charset="0"/>
                <a:cs typeface="Times New Roman" panose="02020603050405020304" pitchFamily="18" charset="0"/>
              </a:rPr>
              <a:t>Loss Estimate-based Approach</a:t>
            </a:r>
            <a:endParaRPr lang="en-US" sz="1300" b="1" dirty="0">
              <a:solidFill>
                <a:srgbClr val="002060"/>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1889557" y="2388347"/>
            <a:ext cx="7295643" cy="109697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ctr" anchorCtr="0"/>
          <a:lstStyle/>
          <a:p>
            <a:pPr marL="185738"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Based on the availability of write-offs that can be considered an estimate of losses on defaulted accounts, an LGD% can be computed</a:t>
            </a:r>
          </a:p>
          <a:p>
            <a:pPr marL="185738" indent="-185738" eaLnBrk="0" hangingPunct="0">
              <a:lnSpc>
                <a:spcPct val="90000"/>
              </a:lnSpc>
              <a:spcBef>
                <a:spcPct val="60000"/>
              </a:spcBef>
              <a:buFont typeface="Times New Roman" panose="02020603050405020304" pitchFamily="18" charset="0"/>
              <a:buChar char="•"/>
            </a:pPr>
            <a:r>
              <a:rPr lang="en-US" sz="1300" dirty="0">
                <a:solidFill>
                  <a:schemeClr val="tx1"/>
                </a:solidFill>
                <a:latin typeface="Times New Roman" pitchFamily="18" charset="0"/>
                <a:cs typeface="Times New Roman" pitchFamily="18" charset="0"/>
              </a:rPr>
              <a:t>Given that the specific work-out period is not available for this computation, and the data is only available for a few customers (&lt;50) historically, this approach is also not viable</a:t>
            </a:r>
          </a:p>
        </p:txBody>
      </p:sp>
      <p:sp>
        <p:nvSpPr>
          <p:cNvPr id="21" name="Oval 20"/>
          <p:cNvSpPr/>
          <p:nvPr/>
        </p:nvSpPr>
        <p:spPr>
          <a:xfrm>
            <a:off x="412882" y="2243845"/>
            <a:ext cx="288032" cy="216024"/>
          </a:xfrm>
          <a:prstGeom prst="ellipse">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Times New Roman" panose="02020603050405020304" pitchFamily="18" charset="0"/>
                <a:cs typeface="Times New Roman" panose="02020603050405020304" pitchFamily="18" charset="0"/>
              </a:rPr>
              <a:t>2</a:t>
            </a:r>
          </a:p>
        </p:txBody>
      </p:sp>
      <p:sp>
        <p:nvSpPr>
          <p:cNvPr id="22" name="Rounded Rectangle 21"/>
          <p:cNvSpPr/>
          <p:nvPr/>
        </p:nvSpPr>
        <p:spPr>
          <a:xfrm>
            <a:off x="412882" y="5028196"/>
            <a:ext cx="1476676" cy="1147317"/>
          </a:xfrm>
          <a:prstGeom prst="roundRect">
            <a:avLst/>
          </a:prstGeom>
          <a:solidFill>
            <a:schemeClr val="bg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rgbClr val="002060"/>
                </a:solidFill>
                <a:latin typeface="Times New Roman" panose="02020603050405020304" pitchFamily="18" charset="0"/>
                <a:cs typeface="Times New Roman" panose="02020603050405020304" pitchFamily="18" charset="0"/>
              </a:rPr>
              <a:t>QNB-Specific Haircut Approach</a:t>
            </a:r>
            <a:endParaRPr lang="en-US" sz="1300" b="1" dirty="0">
              <a:solidFill>
                <a:srgbClr val="002060"/>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93122" y="5147913"/>
            <a:ext cx="7295643" cy="948086"/>
          </a:xfrm>
          <a:prstGeom prst="rect">
            <a:avLst/>
          </a:prstGeom>
          <a:solidFill>
            <a:schemeClr val="tx2">
              <a:lumMod val="10000"/>
              <a:lumOff val="9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rtlCol="0" anchor="ctr" anchorCtr="0"/>
          <a:lstStyle/>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For the secured portion of exposures, compute LGD based on haircuts applied for each collateral type – with haircuts derived based on regulatory &amp; expert inputs</a:t>
            </a:r>
          </a:p>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For the unsecured portion, apply the Basel &amp; QCB minimum of 75% of LGD for </a:t>
            </a:r>
            <a:r>
              <a:rPr lang="en-US" sz="1300" smtClean="0">
                <a:solidFill>
                  <a:schemeClr val="tx1"/>
                </a:solidFill>
                <a:latin typeface="Times New Roman" pitchFamily="18" charset="0"/>
                <a:cs typeface="Times New Roman" pitchFamily="18" charset="0"/>
              </a:rPr>
              <a:t>all amounts</a:t>
            </a:r>
            <a:endParaRPr lang="en-US" sz="1300" dirty="0" smtClean="0">
              <a:solidFill>
                <a:schemeClr val="tx1"/>
              </a:solidFill>
              <a:latin typeface="Times New Roman" pitchFamily="18" charset="0"/>
              <a:cs typeface="Times New Roman" pitchFamily="18" charset="0"/>
            </a:endParaRPr>
          </a:p>
        </p:txBody>
      </p:sp>
      <p:sp>
        <p:nvSpPr>
          <p:cNvPr id="24" name="Oval 23"/>
          <p:cNvSpPr/>
          <p:nvPr/>
        </p:nvSpPr>
        <p:spPr>
          <a:xfrm>
            <a:off x="412882" y="4962385"/>
            <a:ext cx="288032" cy="216024"/>
          </a:xfrm>
          <a:prstGeom prst="ellipse">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4</a:t>
            </a:r>
            <a:endParaRPr lang="en-US" sz="1100" b="1"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674328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Unconditional LGD : QNB Chosen Approach	</a:t>
            </a:r>
            <a:r>
              <a:rPr lang="en-US" sz="2400" dirty="0" smtClean="0"/>
              <a:t/>
            </a:r>
            <a:br>
              <a:rPr lang="en-US" sz="2400" dirty="0" smtClean="0"/>
            </a:br>
            <a:endParaRPr lang="en-IN" sz="2400" i="1" dirty="0"/>
          </a:p>
        </p:txBody>
      </p:sp>
      <p:sp>
        <p:nvSpPr>
          <p:cNvPr id="16" name="Rectangle 15"/>
          <p:cNvSpPr/>
          <p:nvPr/>
        </p:nvSpPr>
        <p:spPr>
          <a:xfrm>
            <a:off x="5586392" y="1745228"/>
            <a:ext cx="685800" cy="201168"/>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2060"/>
                </a:solidFill>
                <a:latin typeface="Times New Roman" panose="02020603050405020304" pitchFamily="18" charset="0"/>
                <a:cs typeface="Times New Roman" panose="02020603050405020304" pitchFamily="18" charset="0"/>
              </a:rPr>
              <a:t>Step 1</a:t>
            </a:r>
          </a:p>
        </p:txBody>
      </p:sp>
      <p:sp>
        <p:nvSpPr>
          <p:cNvPr id="17" name="Rectangle 16"/>
          <p:cNvSpPr/>
          <p:nvPr/>
        </p:nvSpPr>
        <p:spPr>
          <a:xfrm>
            <a:off x="6272192" y="1733248"/>
            <a:ext cx="3240000" cy="216000"/>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b="1" dirty="0" smtClean="0">
                <a:solidFill>
                  <a:schemeClr val="bg1"/>
                </a:solidFill>
                <a:latin typeface="Times New Roman" panose="02020603050405020304" pitchFamily="18" charset="0"/>
                <a:cs typeface="Times New Roman" panose="02020603050405020304" pitchFamily="18" charset="0"/>
              </a:rPr>
              <a:t>Customer Level Outstanding – Total Exposure</a:t>
            </a:r>
          </a:p>
        </p:txBody>
      </p:sp>
      <p:sp>
        <p:nvSpPr>
          <p:cNvPr id="11" name="Rectangle 10"/>
          <p:cNvSpPr/>
          <p:nvPr/>
        </p:nvSpPr>
        <p:spPr>
          <a:xfrm>
            <a:off x="386981" y="1112759"/>
            <a:ext cx="9366619" cy="63246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300" dirty="0" smtClean="0">
                <a:solidFill>
                  <a:schemeClr val="tx1"/>
                </a:solidFill>
                <a:latin typeface="Times New Roman" pitchFamily="18" charset="0"/>
                <a:cs typeface="Times New Roman" pitchFamily="18" charset="0"/>
              </a:rPr>
              <a:t>The approach eventually chosen for LGD is cognizant of the limited available </a:t>
            </a:r>
            <a:r>
              <a:rPr lang="en-IN" sz="1300" dirty="0">
                <a:solidFill>
                  <a:schemeClr val="tx1"/>
                </a:solidFill>
                <a:latin typeface="Times New Roman" pitchFamily="18" charset="0"/>
                <a:cs typeface="Times New Roman" pitchFamily="18" charset="0"/>
              </a:rPr>
              <a:t>data (i.e. loss </a:t>
            </a:r>
            <a:r>
              <a:rPr lang="en-IN" sz="1300" dirty="0" smtClean="0">
                <a:solidFill>
                  <a:schemeClr val="tx1"/>
                </a:solidFill>
                <a:latin typeface="Times New Roman" pitchFamily="18" charset="0"/>
                <a:cs typeface="Times New Roman" pitchFamily="18" charset="0"/>
              </a:rPr>
              <a:t>rates </a:t>
            </a:r>
            <a:r>
              <a:rPr lang="en-IN" sz="1300" dirty="0">
                <a:solidFill>
                  <a:schemeClr val="tx1"/>
                </a:solidFill>
                <a:latin typeface="Times New Roman" pitchFamily="18" charset="0"/>
                <a:cs typeface="Times New Roman" pitchFamily="18" charset="0"/>
              </a:rPr>
              <a:t>and recovery </a:t>
            </a:r>
            <a:r>
              <a:rPr lang="en-IN" sz="1300" dirty="0" smtClean="0">
                <a:solidFill>
                  <a:schemeClr val="tx1"/>
                </a:solidFill>
                <a:latin typeface="Times New Roman" pitchFamily="18" charset="0"/>
                <a:cs typeface="Times New Roman" pitchFamily="18" charset="0"/>
              </a:rPr>
              <a:t>rates), the existence of multiple loans and multiple collaterals for a single customer and the inability </a:t>
            </a:r>
            <a:r>
              <a:rPr lang="en-IN" sz="1300" dirty="0">
                <a:solidFill>
                  <a:schemeClr val="tx1"/>
                </a:solidFill>
                <a:latin typeface="Times New Roman" pitchFamily="18" charset="0"/>
                <a:cs typeface="Times New Roman" pitchFamily="18" charset="0"/>
              </a:rPr>
              <a:t>to map collateral </a:t>
            </a:r>
            <a:r>
              <a:rPr lang="en-IN" sz="1300" dirty="0" smtClean="0">
                <a:solidFill>
                  <a:schemeClr val="tx1"/>
                </a:solidFill>
                <a:latin typeface="Times New Roman" pitchFamily="18" charset="0"/>
                <a:cs typeface="Times New Roman" pitchFamily="18" charset="0"/>
              </a:rPr>
              <a:t>to individual facilities.  As a result, the following 4 step process is followed:-</a:t>
            </a:r>
            <a:endParaRPr lang="en-US" sz="1300" dirty="0" smtClean="0">
              <a:solidFill>
                <a:schemeClr val="tx1"/>
              </a:solidFill>
              <a:latin typeface="Times New Roman" pitchFamily="18" charset="0"/>
              <a:cs typeface="Times New Roman" pitchFamily="18" charset="0"/>
            </a:endParaRPr>
          </a:p>
        </p:txBody>
      </p:sp>
      <p:graphicFrame>
        <p:nvGraphicFramePr>
          <p:cNvPr id="6" name="Table 5"/>
          <p:cNvGraphicFramePr>
            <a:graphicFrameLocks noGrp="1"/>
          </p:cNvGraphicFramePr>
          <p:nvPr>
            <p:extLst/>
          </p:nvPr>
        </p:nvGraphicFramePr>
        <p:xfrm>
          <a:off x="5586392" y="1964666"/>
          <a:ext cx="3927078" cy="1213485"/>
        </p:xfrm>
        <a:graphic>
          <a:graphicData uri="http://schemas.openxmlformats.org/drawingml/2006/table">
            <a:tbl>
              <a:tblPr/>
              <a:tblGrid>
                <a:gridCol w="1309026"/>
                <a:gridCol w="1309026"/>
                <a:gridCol w="1309026"/>
              </a:tblGrid>
              <a:tr h="341383">
                <a:tc>
                  <a:txBody>
                    <a:bodyPr/>
                    <a:lstStyle/>
                    <a:p>
                      <a:pPr algn="ctr" rtl="0" fontAlgn="ctr"/>
                      <a:r>
                        <a:rPr lang="en-GB" sz="1200" b="1" i="0" u="none" strike="noStrike" dirty="0">
                          <a:solidFill>
                            <a:srgbClr val="FFFFFF"/>
                          </a:solidFill>
                          <a:effectLst/>
                          <a:latin typeface="Times New Roman" panose="02020603050405020304" pitchFamily="18" charset="0"/>
                        </a:rPr>
                        <a:t>Customer ID</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a:solidFill>
                            <a:srgbClr val="FFFFFF"/>
                          </a:solidFill>
                          <a:effectLst/>
                          <a:latin typeface="Times New Roman" panose="02020603050405020304" pitchFamily="18" charset="0"/>
                        </a:rPr>
                        <a:t>Facility ID</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a:solidFill>
                            <a:srgbClr val="FFFFFF"/>
                          </a:solidFill>
                          <a:effectLst/>
                          <a:latin typeface="Times New Roman" panose="02020603050405020304" pitchFamily="18" charset="0"/>
                        </a:rPr>
                        <a:t>Outstanding </a:t>
                      </a:r>
                      <a:r>
                        <a:rPr lang="en-GB" sz="1200" b="1" i="0" u="none" strike="noStrike" dirty="0" smtClean="0">
                          <a:solidFill>
                            <a:srgbClr val="FFFFFF"/>
                          </a:solidFill>
                          <a:effectLst/>
                          <a:latin typeface="Times New Roman" panose="02020603050405020304" pitchFamily="18" charset="0"/>
                        </a:rPr>
                        <a:t>Exposure</a:t>
                      </a:r>
                      <a:endParaRPr lang="en-GB" sz="1200" b="1"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209550">
                <a:tc>
                  <a:txBody>
                    <a:bodyPr/>
                    <a:lstStyle/>
                    <a:p>
                      <a:pPr algn="ctr" rtl="0" fontAlgn="ctr"/>
                      <a:r>
                        <a:rPr lang="en-GB" sz="1200" b="0" i="0" u="none" strike="noStrike">
                          <a:solidFill>
                            <a:srgbClr val="000000"/>
                          </a:solidFill>
                          <a:effectLst/>
                          <a:latin typeface="Times New Roman" panose="02020603050405020304" pitchFamily="18" charset="0"/>
                        </a:rPr>
                        <a:t>20202020</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0" i="0" u="none" strike="noStrike">
                          <a:solidFill>
                            <a:srgbClr val="000000"/>
                          </a:solidFill>
                          <a:effectLst/>
                          <a:latin typeface="Times New Roman" panose="02020603050405020304" pitchFamily="18" charset="0"/>
                        </a:rPr>
                        <a:t>Facility_1</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200" b="0" i="0" u="none" strike="noStrike" dirty="0" smtClean="0">
                          <a:solidFill>
                            <a:srgbClr val="000000"/>
                          </a:solidFill>
                          <a:effectLst/>
                          <a:latin typeface="Times New Roman" panose="02020603050405020304" pitchFamily="18" charset="0"/>
                        </a:rPr>
                        <a:t>900,000</a:t>
                      </a:r>
                      <a:endParaRPr lang="en-GB"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09550">
                <a:tc>
                  <a:txBody>
                    <a:bodyPr/>
                    <a:lstStyle/>
                    <a:p>
                      <a:pPr algn="ctr" rtl="0" fontAlgn="ctr"/>
                      <a:r>
                        <a:rPr lang="en-GB" sz="1200" b="0" i="0" u="none" strike="noStrike">
                          <a:solidFill>
                            <a:srgbClr val="000000"/>
                          </a:solidFill>
                          <a:effectLst/>
                          <a:latin typeface="Times New Roman" panose="02020603050405020304" pitchFamily="18" charset="0"/>
                        </a:rPr>
                        <a:t>20202020</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0" i="0" u="none" strike="noStrike">
                          <a:solidFill>
                            <a:srgbClr val="000000"/>
                          </a:solidFill>
                          <a:effectLst/>
                          <a:latin typeface="Times New Roman" panose="02020603050405020304" pitchFamily="18" charset="0"/>
                        </a:rPr>
                        <a:t>Facility_2</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200" b="0" i="0" u="none" strike="noStrike" dirty="0" smtClean="0">
                          <a:solidFill>
                            <a:srgbClr val="000000"/>
                          </a:solidFill>
                          <a:effectLst/>
                          <a:latin typeface="Times New Roman" panose="02020603050405020304" pitchFamily="18" charset="0"/>
                        </a:rPr>
                        <a:t>2,100,000</a:t>
                      </a:r>
                      <a:endParaRPr lang="en-GB"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09550">
                <a:tc>
                  <a:txBody>
                    <a:bodyPr/>
                    <a:lstStyle/>
                    <a:p>
                      <a:pPr algn="ctr" rtl="0" fontAlgn="ctr"/>
                      <a:r>
                        <a:rPr lang="en-GB" sz="1200" b="0" i="0" u="none" strike="noStrike">
                          <a:solidFill>
                            <a:srgbClr val="000000"/>
                          </a:solidFill>
                          <a:effectLst/>
                          <a:latin typeface="Times New Roman" panose="02020603050405020304" pitchFamily="18" charset="0"/>
                        </a:rPr>
                        <a:t>20202020</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0" i="0" u="none" strike="noStrike">
                          <a:solidFill>
                            <a:srgbClr val="000000"/>
                          </a:solidFill>
                          <a:effectLst/>
                          <a:latin typeface="Times New Roman" panose="02020603050405020304" pitchFamily="18" charset="0"/>
                        </a:rPr>
                        <a:t>Facility_3</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200" b="0" i="0" u="none" strike="noStrike" dirty="0" smtClean="0">
                          <a:solidFill>
                            <a:srgbClr val="000000"/>
                          </a:solidFill>
                          <a:effectLst/>
                          <a:latin typeface="Times New Roman" panose="02020603050405020304" pitchFamily="18" charset="0"/>
                        </a:rPr>
                        <a:t>4,000,000</a:t>
                      </a:r>
                      <a:endParaRPr lang="en-GB"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09550">
                <a:tc gridSpan="2">
                  <a:txBody>
                    <a:bodyPr/>
                    <a:lstStyle/>
                    <a:p>
                      <a:pPr algn="ctr" rtl="0" fontAlgn="ctr"/>
                      <a:r>
                        <a:rPr lang="en-GB" sz="1200" b="1" i="0" u="none" strike="noStrike" dirty="0">
                          <a:solidFill>
                            <a:srgbClr val="000000"/>
                          </a:solidFill>
                          <a:effectLst/>
                          <a:latin typeface="Times New Roman" panose="02020603050405020304" pitchFamily="18" charset="0"/>
                        </a:rPr>
                        <a:t>Total </a:t>
                      </a:r>
                      <a:r>
                        <a:rPr lang="en-GB" sz="1200" b="1" i="0" u="none" strike="noStrike" dirty="0" smtClean="0">
                          <a:solidFill>
                            <a:srgbClr val="000000"/>
                          </a:solidFill>
                          <a:effectLst/>
                          <a:latin typeface="Times New Roman" panose="02020603050405020304" pitchFamily="18" charset="0"/>
                        </a:rPr>
                        <a:t>Outstanding</a:t>
                      </a:r>
                      <a:endParaRPr lang="en-GB" sz="12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n-GB"/>
                    </a:p>
                  </a:txBody>
                  <a:tcPr/>
                </a:tc>
                <a:tc>
                  <a:txBody>
                    <a:bodyPr/>
                    <a:lstStyle/>
                    <a:p>
                      <a:pPr algn="r" rtl="0" fontAlgn="ctr"/>
                      <a:r>
                        <a:rPr lang="en-GB" sz="1200" b="1" i="0" u="none" strike="noStrike" dirty="0">
                          <a:solidFill>
                            <a:srgbClr val="548235"/>
                          </a:solidFill>
                          <a:effectLst/>
                          <a:latin typeface="Times New Roman" panose="02020603050405020304" pitchFamily="18" charset="0"/>
                        </a:rPr>
                        <a:t>           7,000,000 </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9" name="Rectangle 8"/>
          <p:cNvSpPr/>
          <p:nvPr/>
        </p:nvSpPr>
        <p:spPr>
          <a:xfrm>
            <a:off x="145573" y="1857456"/>
            <a:ext cx="5199411" cy="117261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265112" lvl="1" eaLnBrk="0" hangingPunct="0">
              <a:lnSpc>
                <a:spcPct val="90000"/>
              </a:lnSpc>
              <a:spcBef>
                <a:spcPct val="60000"/>
              </a:spcBef>
            </a:pPr>
            <a:r>
              <a:rPr lang="en-IN" sz="1300" b="1" dirty="0" smtClean="0">
                <a:solidFill>
                  <a:schemeClr val="tx1"/>
                </a:solidFill>
                <a:latin typeface="Times New Roman" pitchFamily="18" charset="0"/>
                <a:cs typeface="Times New Roman" pitchFamily="18" charset="0"/>
              </a:rPr>
              <a:t>Step 1 </a:t>
            </a:r>
            <a:r>
              <a:rPr lang="en-IN" sz="1300" dirty="0" smtClean="0">
                <a:solidFill>
                  <a:schemeClr val="tx1"/>
                </a:solidFill>
                <a:latin typeface="Times New Roman" pitchFamily="18" charset="0"/>
                <a:cs typeface="Times New Roman" pitchFamily="18" charset="0"/>
              </a:rPr>
              <a:t>– Ascertain the total exposure for a customer across all facilities.</a:t>
            </a:r>
          </a:p>
          <a:p>
            <a:pPr marL="265112" lvl="1" eaLnBrk="0" hangingPunct="0">
              <a:lnSpc>
                <a:spcPct val="90000"/>
              </a:lnSpc>
              <a:spcBef>
                <a:spcPct val="60000"/>
              </a:spcBef>
            </a:pPr>
            <a:r>
              <a:rPr lang="en-IN" sz="1300" b="1" dirty="0" smtClean="0">
                <a:solidFill>
                  <a:schemeClr val="tx1"/>
                </a:solidFill>
                <a:latin typeface="Times New Roman" pitchFamily="18" charset="0"/>
                <a:cs typeface="Times New Roman" pitchFamily="18" charset="0"/>
              </a:rPr>
              <a:t>Step 2 </a:t>
            </a:r>
            <a:r>
              <a:rPr lang="en-IN" sz="1300" dirty="0" smtClean="0">
                <a:solidFill>
                  <a:schemeClr val="tx1"/>
                </a:solidFill>
                <a:latin typeface="Times New Roman" pitchFamily="18" charset="0"/>
                <a:cs typeface="Times New Roman" pitchFamily="18" charset="0"/>
              </a:rPr>
              <a:t>– Compute the post-haircut value of all collaterals.</a:t>
            </a:r>
          </a:p>
          <a:p>
            <a:pPr marL="265112" lvl="1" eaLnBrk="0" hangingPunct="0">
              <a:lnSpc>
                <a:spcPct val="90000"/>
              </a:lnSpc>
              <a:spcBef>
                <a:spcPct val="60000"/>
              </a:spcBef>
            </a:pPr>
            <a:r>
              <a:rPr lang="en-US" sz="1300" b="1" dirty="0" smtClean="0">
                <a:solidFill>
                  <a:schemeClr val="tx1"/>
                </a:solidFill>
                <a:latin typeface="Times New Roman" pitchFamily="18" charset="0"/>
                <a:cs typeface="Times New Roman" pitchFamily="18" charset="0"/>
              </a:rPr>
              <a:t>Step 3 </a:t>
            </a:r>
            <a:r>
              <a:rPr lang="en-US" sz="1300" dirty="0" smtClean="0">
                <a:solidFill>
                  <a:schemeClr val="tx1"/>
                </a:solidFill>
                <a:latin typeface="Times New Roman" pitchFamily="18" charset="0"/>
                <a:cs typeface="Times New Roman" pitchFamily="18" charset="0"/>
              </a:rPr>
              <a:t>– Apply an LGD of 75% to the residual unsecured exposure.</a:t>
            </a:r>
          </a:p>
          <a:p>
            <a:pPr marL="265112" lvl="1" eaLnBrk="0" hangingPunct="0">
              <a:lnSpc>
                <a:spcPct val="90000"/>
              </a:lnSpc>
              <a:spcBef>
                <a:spcPct val="60000"/>
              </a:spcBef>
            </a:pPr>
            <a:r>
              <a:rPr lang="en-US" sz="1300" b="1" dirty="0" smtClean="0">
                <a:solidFill>
                  <a:schemeClr val="tx1"/>
                </a:solidFill>
                <a:latin typeface="Times New Roman" pitchFamily="18" charset="0"/>
                <a:cs typeface="Times New Roman" pitchFamily="18" charset="0"/>
              </a:rPr>
              <a:t>Step 4 </a:t>
            </a:r>
            <a:r>
              <a:rPr lang="en-US" sz="1300" dirty="0" smtClean="0">
                <a:solidFill>
                  <a:schemeClr val="tx1"/>
                </a:solidFill>
                <a:latin typeface="Times New Roman" pitchFamily="18" charset="0"/>
                <a:cs typeface="Times New Roman" pitchFamily="18" charset="0"/>
              </a:rPr>
              <a:t>– Derive the composite LGD for the total exposure.</a:t>
            </a:r>
          </a:p>
        </p:txBody>
      </p:sp>
      <p:sp>
        <p:nvSpPr>
          <p:cNvPr id="10" name="Rectangle 9"/>
          <p:cNvSpPr/>
          <p:nvPr/>
        </p:nvSpPr>
        <p:spPr>
          <a:xfrm>
            <a:off x="520761" y="3247615"/>
            <a:ext cx="685800" cy="261610"/>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2060"/>
                </a:solidFill>
                <a:latin typeface="Times New Roman" panose="02020603050405020304" pitchFamily="18" charset="0"/>
                <a:cs typeface="Times New Roman" panose="02020603050405020304" pitchFamily="18" charset="0"/>
              </a:rPr>
              <a:t>Step 2</a:t>
            </a:r>
          </a:p>
        </p:txBody>
      </p:sp>
      <p:sp>
        <p:nvSpPr>
          <p:cNvPr id="12" name="Rectangle 11"/>
          <p:cNvSpPr/>
          <p:nvPr/>
        </p:nvSpPr>
        <p:spPr>
          <a:xfrm>
            <a:off x="1206561" y="3247615"/>
            <a:ext cx="4188399" cy="261610"/>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100" b="1" dirty="0" smtClean="0">
                <a:solidFill>
                  <a:schemeClr val="bg1"/>
                </a:solidFill>
                <a:latin typeface="Times New Roman" panose="02020603050405020304" pitchFamily="18" charset="0"/>
                <a:cs typeface="Times New Roman" panose="02020603050405020304" pitchFamily="18" charset="0"/>
              </a:rPr>
              <a:t>Haircut Adjusted Collateral</a:t>
            </a:r>
          </a:p>
        </p:txBody>
      </p:sp>
      <p:graphicFrame>
        <p:nvGraphicFramePr>
          <p:cNvPr id="14" name="Table 13"/>
          <p:cNvGraphicFramePr>
            <a:graphicFrameLocks noGrp="1"/>
          </p:cNvGraphicFramePr>
          <p:nvPr>
            <p:extLst/>
          </p:nvPr>
        </p:nvGraphicFramePr>
        <p:xfrm>
          <a:off x="520761" y="3509225"/>
          <a:ext cx="4874199" cy="1385790"/>
        </p:xfrm>
        <a:graphic>
          <a:graphicData uri="http://schemas.openxmlformats.org/drawingml/2006/table">
            <a:tbl>
              <a:tblPr/>
              <a:tblGrid>
                <a:gridCol w="688279"/>
                <a:gridCol w="701040"/>
                <a:gridCol w="883920"/>
                <a:gridCol w="543495"/>
                <a:gridCol w="790369"/>
                <a:gridCol w="1267096"/>
              </a:tblGrid>
              <a:tr h="610206">
                <a:tc>
                  <a:txBody>
                    <a:bodyPr/>
                    <a:lstStyle/>
                    <a:p>
                      <a:pPr algn="ctr" rtl="0" fontAlgn="ctr"/>
                      <a:r>
                        <a:rPr lang="en-GB" sz="1100" b="1" i="0" u="none" strike="noStrike" dirty="0" smtClean="0">
                          <a:solidFill>
                            <a:srgbClr val="FFFFFF"/>
                          </a:solidFill>
                          <a:effectLst/>
                          <a:latin typeface="Times New Roman" panose="02020603050405020304" pitchFamily="18" charset="0"/>
                        </a:rPr>
                        <a:t>Customer</a:t>
                      </a:r>
                    </a:p>
                    <a:p>
                      <a:pPr algn="ctr" rtl="0" fontAlgn="ctr"/>
                      <a:r>
                        <a:rPr lang="en-GB" sz="1100" b="1" i="0" u="none" strike="noStrike" dirty="0" smtClean="0">
                          <a:solidFill>
                            <a:srgbClr val="FFFFFF"/>
                          </a:solidFill>
                          <a:effectLst/>
                          <a:latin typeface="Times New Roman" panose="02020603050405020304" pitchFamily="18" charset="0"/>
                        </a:rPr>
                        <a:t>ID</a:t>
                      </a:r>
                      <a:endParaRPr lang="en-GB" sz="1100" b="1" i="0" u="none" strike="noStrike" dirty="0">
                        <a:solidFill>
                          <a:srgbClr val="FFFFFF"/>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100" b="1" i="0" u="none" strike="noStrike" dirty="0" smtClean="0">
                          <a:solidFill>
                            <a:srgbClr val="FFFFFF"/>
                          </a:solidFill>
                          <a:effectLst/>
                          <a:latin typeface="Times New Roman" panose="02020603050405020304" pitchFamily="18" charset="0"/>
                        </a:rPr>
                        <a:t>Collateral</a:t>
                      </a:r>
                    </a:p>
                    <a:p>
                      <a:pPr algn="ctr" rtl="0" fontAlgn="ctr"/>
                      <a:r>
                        <a:rPr lang="en-GB" sz="1100" b="1" i="0" u="none" strike="noStrike" dirty="0" smtClean="0">
                          <a:solidFill>
                            <a:srgbClr val="FFFFFF"/>
                          </a:solidFill>
                          <a:effectLst/>
                          <a:latin typeface="Times New Roman" panose="02020603050405020304" pitchFamily="18" charset="0"/>
                        </a:rPr>
                        <a:t>Type</a:t>
                      </a:r>
                      <a:endParaRPr lang="en-GB" sz="1100" b="1" i="0" u="none" strike="noStrike" dirty="0">
                        <a:solidFill>
                          <a:srgbClr val="FFFFFF"/>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100" b="1" i="0" u="none" strike="noStrike" dirty="0">
                          <a:solidFill>
                            <a:srgbClr val="FFFFFF"/>
                          </a:solidFill>
                          <a:effectLst/>
                          <a:latin typeface="Times New Roman" panose="02020603050405020304" pitchFamily="18" charset="0"/>
                        </a:rPr>
                        <a:t>Collateral </a:t>
                      </a:r>
                      <a:endParaRPr lang="en-GB" sz="1100" b="1" i="0" u="none" strike="noStrike" dirty="0" smtClean="0">
                        <a:solidFill>
                          <a:srgbClr val="FFFFFF"/>
                        </a:solidFill>
                        <a:effectLst/>
                        <a:latin typeface="Times New Roman" panose="02020603050405020304" pitchFamily="18" charset="0"/>
                      </a:endParaRPr>
                    </a:p>
                    <a:p>
                      <a:pPr algn="ctr" rtl="0" fontAlgn="ctr"/>
                      <a:r>
                        <a:rPr lang="en-GB" sz="1100" b="1" i="0" u="none" strike="noStrike" dirty="0" smtClean="0">
                          <a:solidFill>
                            <a:srgbClr val="FFFFFF"/>
                          </a:solidFill>
                          <a:effectLst/>
                          <a:latin typeface="Times New Roman" panose="02020603050405020304" pitchFamily="18" charset="0"/>
                        </a:rPr>
                        <a:t>Description</a:t>
                      </a:r>
                      <a:endParaRPr lang="en-GB" sz="1100" b="1" i="0" u="none" strike="noStrike" dirty="0">
                        <a:solidFill>
                          <a:srgbClr val="FFFFFF"/>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100" b="1" i="0" u="none" strike="noStrike">
                          <a:solidFill>
                            <a:srgbClr val="FFFFFF"/>
                          </a:solidFill>
                          <a:effectLst/>
                          <a:latin typeface="Times New Roman" panose="02020603050405020304" pitchFamily="18" charset="0"/>
                        </a:rPr>
                        <a:t>Haircut</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100" b="1" i="0" u="none" strike="noStrike">
                          <a:solidFill>
                            <a:srgbClr val="FFFFFF"/>
                          </a:solidFill>
                          <a:effectLst/>
                          <a:latin typeface="Times New Roman" panose="02020603050405020304" pitchFamily="18" charset="0"/>
                        </a:rPr>
                        <a:t>Collateral Amount</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100" b="1" i="0" u="none" strike="noStrike">
                          <a:solidFill>
                            <a:srgbClr val="FFFFFF"/>
                          </a:solidFill>
                          <a:effectLst/>
                          <a:latin typeface="Times New Roman" panose="02020603050405020304" pitchFamily="18" charset="0"/>
                        </a:rPr>
                        <a:t>Haircut Adjusted Collateral Amount</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91615">
                <a:tc>
                  <a:txBody>
                    <a:bodyPr/>
                    <a:lstStyle/>
                    <a:p>
                      <a:pPr algn="ctr" rtl="0" fontAlgn="ctr"/>
                      <a:r>
                        <a:rPr lang="en-GB" sz="1100" b="0" i="0" u="none" strike="noStrike">
                          <a:solidFill>
                            <a:srgbClr val="000000"/>
                          </a:solidFill>
                          <a:effectLst/>
                          <a:latin typeface="Times New Roman" panose="02020603050405020304" pitchFamily="18" charset="0"/>
                        </a:rPr>
                        <a:t>20202020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100" b="0" i="0" u="none" strike="noStrike">
                          <a:solidFill>
                            <a:srgbClr val="000000"/>
                          </a:solidFill>
                          <a:effectLst/>
                          <a:latin typeface="Times New Roman" panose="02020603050405020304" pitchFamily="18" charset="0"/>
                        </a:rPr>
                        <a:t>DED</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100" b="0" i="0" u="none" strike="noStrike" dirty="0">
                          <a:solidFill>
                            <a:srgbClr val="000000"/>
                          </a:solidFill>
                          <a:effectLst/>
                          <a:latin typeface="Times New Roman" panose="02020603050405020304" pitchFamily="18" charset="0"/>
                        </a:rPr>
                        <a:t>Title </a:t>
                      </a:r>
                      <a:r>
                        <a:rPr lang="en-GB" sz="1100" b="0" i="0" u="none" strike="noStrike" dirty="0" smtClean="0">
                          <a:solidFill>
                            <a:srgbClr val="000000"/>
                          </a:solidFill>
                          <a:effectLst/>
                          <a:latin typeface="Times New Roman" panose="02020603050405020304" pitchFamily="18" charset="0"/>
                        </a:rPr>
                        <a:t>Deeds</a:t>
                      </a:r>
                      <a:endParaRPr lang="en-GB" sz="1100" b="0" i="0" u="none" strike="noStrike" dirty="0">
                        <a:solidFill>
                          <a:srgbClr val="000000"/>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b"/>
                      <a:r>
                        <a:rPr lang="en-GB" sz="1100" b="0" i="0" u="none" strike="noStrike">
                          <a:solidFill>
                            <a:srgbClr val="000000"/>
                          </a:solidFill>
                          <a:effectLst/>
                          <a:latin typeface="Times New Roman" panose="02020603050405020304" pitchFamily="18" charset="0"/>
                        </a:rPr>
                        <a:t>50%</a:t>
                      </a:r>
                    </a:p>
                  </a:txBody>
                  <a:tcPr marL="9125" marR="9125" marT="9125" marB="0" anchor="b">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0" i="0" u="none" strike="noStrike" dirty="0">
                          <a:solidFill>
                            <a:srgbClr val="000000"/>
                          </a:solidFill>
                          <a:effectLst/>
                          <a:latin typeface="Times New Roman" panose="02020603050405020304" pitchFamily="18" charset="0"/>
                        </a:rPr>
                        <a:t>3,000,000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0" i="0" u="none" strike="noStrike">
                          <a:solidFill>
                            <a:srgbClr val="000000"/>
                          </a:solidFill>
                          <a:effectLst/>
                          <a:latin typeface="Times New Roman" panose="02020603050405020304" pitchFamily="18" charset="0"/>
                        </a:rPr>
                        <a:t>1,500,000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91615">
                <a:tc>
                  <a:txBody>
                    <a:bodyPr/>
                    <a:lstStyle/>
                    <a:p>
                      <a:pPr algn="ctr" rtl="0" fontAlgn="ctr"/>
                      <a:r>
                        <a:rPr lang="en-GB" sz="1100" b="0" i="0" u="none" strike="noStrike">
                          <a:solidFill>
                            <a:srgbClr val="000000"/>
                          </a:solidFill>
                          <a:effectLst/>
                          <a:latin typeface="Times New Roman" panose="02020603050405020304" pitchFamily="18" charset="0"/>
                        </a:rPr>
                        <a:t>20202020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100" b="0" i="0" u="none" strike="noStrike">
                          <a:solidFill>
                            <a:srgbClr val="000000"/>
                          </a:solidFill>
                          <a:effectLst/>
                          <a:latin typeface="Times New Roman" panose="02020603050405020304" pitchFamily="18" charset="0"/>
                        </a:rPr>
                        <a:t>FXF</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100" b="0" i="0" u="none" strike="noStrike" dirty="0" smtClean="0">
                          <a:solidFill>
                            <a:srgbClr val="000000"/>
                          </a:solidFill>
                          <a:effectLst/>
                          <a:latin typeface="Times New Roman" panose="02020603050405020304" pitchFamily="18" charset="0"/>
                        </a:rPr>
                        <a:t>FCY</a:t>
                      </a:r>
                      <a:r>
                        <a:rPr lang="en-GB" sz="1100" b="0" i="0" u="none" strike="noStrike" baseline="0" dirty="0" smtClean="0">
                          <a:solidFill>
                            <a:srgbClr val="000000"/>
                          </a:solidFill>
                          <a:effectLst/>
                          <a:latin typeface="Times New Roman" panose="02020603050405020304" pitchFamily="18" charset="0"/>
                        </a:rPr>
                        <a:t> </a:t>
                      </a:r>
                      <a:r>
                        <a:rPr lang="en-GB" sz="1100" b="0" i="0" u="none" strike="noStrike" dirty="0" smtClean="0">
                          <a:solidFill>
                            <a:srgbClr val="000000"/>
                          </a:solidFill>
                          <a:effectLst/>
                          <a:latin typeface="Times New Roman" panose="02020603050405020304" pitchFamily="18" charset="0"/>
                        </a:rPr>
                        <a:t>Deposits</a:t>
                      </a:r>
                      <a:endParaRPr lang="en-GB" sz="1100" b="0" i="0" u="none" strike="noStrike" dirty="0">
                        <a:solidFill>
                          <a:srgbClr val="000000"/>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b"/>
                      <a:r>
                        <a:rPr lang="en-GB" sz="1100" b="0" i="0" u="none" strike="noStrike">
                          <a:solidFill>
                            <a:srgbClr val="000000"/>
                          </a:solidFill>
                          <a:effectLst/>
                          <a:latin typeface="Times New Roman" panose="02020603050405020304" pitchFamily="18" charset="0"/>
                        </a:rPr>
                        <a:t>0%</a:t>
                      </a:r>
                    </a:p>
                  </a:txBody>
                  <a:tcPr marL="9125" marR="9125" marT="9125" marB="0" anchor="b">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0" i="0" u="none" strike="noStrike" dirty="0">
                          <a:solidFill>
                            <a:srgbClr val="000000"/>
                          </a:solidFill>
                          <a:effectLst/>
                          <a:latin typeface="Times New Roman" panose="02020603050405020304" pitchFamily="18" charset="0"/>
                        </a:rPr>
                        <a:t>2,000,000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0" i="0" u="none" strike="noStrike" dirty="0">
                          <a:solidFill>
                            <a:srgbClr val="000000"/>
                          </a:solidFill>
                          <a:effectLst/>
                          <a:latin typeface="Times New Roman" panose="02020603050405020304" pitchFamily="18" charset="0"/>
                        </a:rPr>
                        <a:t>2,000,000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91615">
                <a:tc>
                  <a:txBody>
                    <a:bodyPr/>
                    <a:lstStyle/>
                    <a:p>
                      <a:pPr algn="ctr" rtl="0" fontAlgn="ctr"/>
                      <a:r>
                        <a:rPr lang="en-GB" sz="1100" b="0" i="0" u="none" strike="noStrike">
                          <a:solidFill>
                            <a:srgbClr val="000000"/>
                          </a:solidFill>
                          <a:effectLst/>
                          <a:latin typeface="Times New Roman" panose="02020603050405020304" pitchFamily="18" charset="0"/>
                        </a:rPr>
                        <a:t>20202020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100" b="0" i="0" u="none" strike="noStrike" dirty="0" smtClean="0">
                          <a:solidFill>
                            <a:srgbClr val="000000"/>
                          </a:solidFill>
                          <a:effectLst/>
                          <a:latin typeface="Times New Roman" panose="02020603050405020304" pitchFamily="18" charset="0"/>
                        </a:rPr>
                        <a:t>BOD</a:t>
                      </a:r>
                      <a:endParaRPr lang="en-GB" sz="1100" b="0" i="0" u="none" strike="noStrike" dirty="0">
                        <a:solidFill>
                          <a:srgbClr val="000000"/>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100" b="0" i="0" u="none" strike="noStrike">
                          <a:solidFill>
                            <a:srgbClr val="000000"/>
                          </a:solidFill>
                          <a:effectLst/>
                          <a:latin typeface="Times New Roman" panose="02020603050405020304" pitchFamily="18" charset="0"/>
                        </a:rPr>
                        <a:t>Bonds</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b"/>
                      <a:r>
                        <a:rPr lang="en-GB" sz="1100" b="0" i="0" u="none" strike="noStrike">
                          <a:solidFill>
                            <a:srgbClr val="000000"/>
                          </a:solidFill>
                          <a:effectLst/>
                          <a:latin typeface="Times New Roman" panose="02020603050405020304" pitchFamily="18" charset="0"/>
                        </a:rPr>
                        <a:t>25%</a:t>
                      </a:r>
                    </a:p>
                  </a:txBody>
                  <a:tcPr marL="9125" marR="9125" marT="9125" marB="0" anchor="b">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0" i="0" u="none" strike="noStrike">
                          <a:solidFill>
                            <a:srgbClr val="000000"/>
                          </a:solidFill>
                          <a:effectLst/>
                          <a:latin typeface="Times New Roman" panose="02020603050405020304" pitchFamily="18" charset="0"/>
                        </a:rPr>
                        <a:t>500,000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0" i="0" u="none" strike="noStrike" dirty="0">
                          <a:solidFill>
                            <a:srgbClr val="000000"/>
                          </a:solidFill>
                          <a:effectLst/>
                          <a:latin typeface="Times New Roman" panose="02020603050405020304" pitchFamily="18" charset="0"/>
                        </a:rPr>
                        <a:t>375,000</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00739">
                <a:tc gridSpan="4">
                  <a:txBody>
                    <a:bodyPr/>
                    <a:lstStyle/>
                    <a:p>
                      <a:pPr algn="ctr" rtl="0" fontAlgn="ctr"/>
                      <a:r>
                        <a:rPr lang="en-GB" sz="1100" b="1" i="0" u="none" strike="noStrike" dirty="0" smtClean="0">
                          <a:solidFill>
                            <a:srgbClr val="000000"/>
                          </a:solidFill>
                          <a:effectLst/>
                          <a:latin typeface="Times New Roman" panose="02020603050405020304" pitchFamily="18" charset="0"/>
                        </a:rPr>
                        <a:t>Totals</a:t>
                      </a:r>
                      <a:endParaRPr lang="en-GB" sz="1100" b="1" i="0" u="none" strike="noStrike" dirty="0">
                        <a:solidFill>
                          <a:srgbClr val="000000"/>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r" rtl="0" fontAlgn="ctr"/>
                      <a:r>
                        <a:rPr lang="en-GB" sz="1100" b="1" i="0" u="none" strike="noStrike" dirty="0" smtClean="0">
                          <a:solidFill>
                            <a:srgbClr val="548235"/>
                          </a:solidFill>
                          <a:effectLst/>
                          <a:latin typeface="Times New Roman" panose="02020603050405020304" pitchFamily="18" charset="0"/>
                        </a:rPr>
                        <a:t>     5,500,000 </a:t>
                      </a:r>
                      <a:endParaRPr lang="en-GB" sz="1100" b="1" i="0" u="none" strike="noStrike" dirty="0">
                        <a:solidFill>
                          <a:srgbClr val="548235"/>
                        </a:solidFill>
                        <a:effectLst/>
                        <a:latin typeface="Times New Roman" panose="02020603050405020304" pitchFamily="18" charset="0"/>
                      </a:endParaRP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rtl="0" fontAlgn="ctr"/>
                      <a:r>
                        <a:rPr lang="en-GB" sz="1100" b="1" i="0" u="none" strike="noStrike" dirty="0">
                          <a:solidFill>
                            <a:srgbClr val="548235"/>
                          </a:solidFill>
                          <a:effectLst/>
                          <a:latin typeface="Times New Roman" panose="02020603050405020304" pitchFamily="18" charset="0"/>
                        </a:rPr>
                        <a:t>                3,875,000 </a:t>
                      </a:r>
                    </a:p>
                  </a:txBody>
                  <a:tcPr marL="9125" marR="9125" marT="91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5" name="Rectangle 14"/>
          <p:cNvSpPr/>
          <p:nvPr/>
        </p:nvSpPr>
        <p:spPr>
          <a:xfrm>
            <a:off x="520760" y="5156625"/>
            <a:ext cx="1074359" cy="261610"/>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2060"/>
                </a:solidFill>
                <a:latin typeface="Times New Roman" panose="02020603050405020304" pitchFamily="18" charset="0"/>
                <a:cs typeface="Times New Roman" panose="02020603050405020304" pitchFamily="18" charset="0"/>
              </a:rPr>
              <a:t>Steps 3 and 4</a:t>
            </a:r>
          </a:p>
        </p:txBody>
      </p:sp>
      <p:sp>
        <p:nvSpPr>
          <p:cNvPr id="18" name="Rectangle 17"/>
          <p:cNvSpPr/>
          <p:nvPr/>
        </p:nvSpPr>
        <p:spPr>
          <a:xfrm>
            <a:off x="1596311" y="5147612"/>
            <a:ext cx="7872809" cy="261610"/>
          </a:xfrm>
          <a:prstGeom prst="rect">
            <a:avLst/>
          </a:prstGeom>
          <a:solidFill>
            <a:schemeClr val="accent2"/>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100" b="1" dirty="0" smtClean="0">
                <a:solidFill>
                  <a:schemeClr val="bg1"/>
                </a:solidFill>
                <a:latin typeface="Times New Roman" panose="02020603050405020304" pitchFamily="18" charset="0"/>
                <a:cs typeface="Times New Roman" panose="02020603050405020304" pitchFamily="18" charset="0"/>
              </a:rPr>
              <a:t>Final LGD Calculation Based on Secured and Unsecured EAD</a:t>
            </a:r>
          </a:p>
        </p:txBody>
      </p:sp>
      <p:graphicFrame>
        <p:nvGraphicFramePr>
          <p:cNvPr id="19" name="Table 18"/>
          <p:cNvGraphicFramePr>
            <a:graphicFrameLocks noGrp="1"/>
          </p:cNvGraphicFramePr>
          <p:nvPr>
            <p:extLst/>
          </p:nvPr>
        </p:nvGraphicFramePr>
        <p:xfrm>
          <a:off x="520761" y="5428310"/>
          <a:ext cx="8948359" cy="912956"/>
        </p:xfrm>
        <a:graphic>
          <a:graphicData uri="http://schemas.openxmlformats.org/drawingml/2006/table">
            <a:tbl>
              <a:tblPr/>
              <a:tblGrid>
                <a:gridCol w="808795"/>
                <a:gridCol w="1413644"/>
                <a:gridCol w="1137920"/>
                <a:gridCol w="1056640"/>
                <a:gridCol w="1249680"/>
                <a:gridCol w="1595120"/>
                <a:gridCol w="1686560"/>
              </a:tblGrid>
              <a:tr h="505130">
                <a:tc>
                  <a:txBody>
                    <a:bodyPr/>
                    <a:lstStyle/>
                    <a:p>
                      <a:pPr algn="ctr" rtl="0" fontAlgn="ctr"/>
                      <a:r>
                        <a:rPr lang="en-GB" sz="1200" b="1" i="0" u="none" strike="noStrike" dirty="0">
                          <a:solidFill>
                            <a:srgbClr val="FFFFFF"/>
                          </a:solidFill>
                          <a:effectLst/>
                          <a:latin typeface="Times New Roman" panose="02020603050405020304" pitchFamily="18" charset="0"/>
                        </a:rPr>
                        <a:t>Customer ID</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a:solidFill>
                            <a:srgbClr val="FFFFFF"/>
                          </a:solidFill>
                          <a:effectLst/>
                          <a:latin typeface="Times New Roman" panose="02020603050405020304" pitchFamily="18" charset="0"/>
                        </a:rPr>
                        <a:t>Haircut Adjusted Collateral Amount</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a:solidFill>
                            <a:srgbClr val="FFFFFF"/>
                          </a:solidFill>
                          <a:effectLst/>
                          <a:latin typeface="Times New Roman" panose="02020603050405020304" pitchFamily="18" charset="0"/>
                        </a:rPr>
                        <a:t>Outstanding Exposure</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a:solidFill>
                            <a:srgbClr val="FFFFFF"/>
                          </a:solidFill>
                          <a:effectLst/>
                          <a:latin typeface="Times New Roman" panose="02020603050405020304" pitchFamily="18" charset="0"/>
                        </a:rPr>
                        <a:t>Unsecured EAD</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smtClean="0">
                          <a:solidFill>
                            <a:srgbClr val="FFFFFF"/>
                          </a:solidFill>
                          <a:effectLst/>
                          <a:latin typeface="Times New Roman" panose="02020603050405020304" pitchFamily="18" charset="0"/>
                        </a:rPr>
                        <a:t>Unsecured </a:t>
                      </a:r>
                      <a:r>
                        <a:rPr lang="en-GB" sz="1200" b="1" i="0" u="none" strike="noStrike" dirty="0">
                          <a:solidFill>
                            <a:srgbClr val="FFFFFF"/>
                          </a:solidFill>
                          <a:effectLst/>
                          <a:latin typeface="Times New Roman" panose="02020603050405020304" pitchFamily="18" charset="0"/>
                        </a:rPr>
                        <a:t>LGD</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smtClean="0">
                          <a:solidFill>
                            <a:srgbClr val="FFFFFF"/>
                          </a:solidFill>
                          <a:effectLst/>
                          <a:latin typeface="Times New Roman" panose="02020603050405020304" pitchFamily="18" charset="0"/>
                        </a:rPr>
                        <a:t>Unsecured Loss Amount</a:t>
                      </a:r>
                      <a:endParaRPr lang="en-GB" sz="1200" b="1" i="0" u="none" strike="noStrike" dirty="0">
                        <a:solidFill>
                          <a:srgbClr val="FFFFFF"/>
                        </a:solidFill>
                        <a:effectLst/>
                        <a:latin typeface="Times New Roman" panose="02020603050405020304" pitchFamily="18" charset="0"/>
                      </a:endParaRP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1200" b="1" i="0" u="none" strike="noStrike" dirty="0" smtClean="0">
                          <a:solidFill>
                            <a:srgbClr val="FFFFFF"/>
                          </a:solidFill>
                          <a:effectLst/>
                          <a:latin typeface="Times New Roman" panose="02020603050405020304" pitchFamily="18" charset="0"/>
                        </a:rPr>
                        <a:t>Composite LGD</a:t>
                      </a:r>
                      <a:endParaRPr lang="en-GB" sz="1200" b="1" i="0" u="none" strike="noStrike" dirty="0">
                        <a:solidFill>
                          <a:srgbClr val="FFFFFF"/>
                        </a:solidFill>
                        <a:effectLst/>
                        <a:latin typeface="Times New Roman" panose="02020603050405020304" pitchFamily="18" charset="0"/>
                      </a:endParaRP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w="12700" cap="flat" cmpd="sng" algn="ctr">
                      <a:solidFill>
                        <a:srgbClr val="BFBFBF"/>
                      </a:solidFill>
                      <a:prstDash val="solid"/>
                      <a:round/>
                      <a:headEnd type="none" w="med" len="med"/>
                      <a:tailEnd type="none" w="med" len="med"/>
                    </a:lnB>
                    <a:solidFill>
                      <a:srgbClr val="000F33"/>
                    </a:solidFill>
                  </a:tcPr>
                </a:tc>
              </a:tr>
              <a:tr h="407826">
                <a:tc>
                  <a:txBody>
                    <a:bodyPr/>
                    <a:lstStyle/>
                    <a:p>
                      <a:pPr algn="ctr" rtl="0" fontAlgn="ctr"/>
                      <a:r>
                        <a:rPr lang="en-GB" sz="1200" b="1" i="0" u="none" strike="noStrike" dirty="0">
                          <a:solidFill>
                            <a:srgbClr val="000000"/>
                          </a:solidFill>
                          <a:effectLst/>
                          <a:latin typeface="Times New Roman" panose="02020603050405020304" pitchFamily="18" charset="0"/>
                        </a:rPr>
                        <a:t>20202020</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1" i="0" u="none" strike="noStrike" dirty="0" smtClean="0">
                          <a:solidFill>
                            <a:srgbClr val="000000"/>
                          </a:solidFill>
                          <a:effectLst/>
                          <a:latin typeface="Times New Roman" panose="02020603050405020304" pitchFamily="18" charset="0"/>
                        </a:rPr>
                        <a:t>3,875,000 </a:t>
                      </a:r>
                      <a:endParaRPr lang="en-GB" sz="1200" b="1" i="0" u="none" strike="noStrike" dirty="0">
                        <a:solidFill>
                          <a:srgbClr val="000000"/>
                        </a:solidFill>
                        <a:effectLst/>
                        <a:latin typeface="Times New Roman" panose="02020603050405020304" pitchFamily="18" charset="0"/>
                      </a:endParaRP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1" i="0" u="none" strike="noStrike" dirty="0" smtClean="0">
                          <a:solidFill>
                            <a:srgbClr val="000000"/>
                          </a:solidFill>
                          <a:effectLst/>
                          <a:latin typeface="Times New Roman" panose="02020603050405020304" pitchFamily="18" charset="0"/>
                        </a:rPr>
                        <a:t>7,000,000 </a:t>
                      </a:r>
                      <a:endParaRPr lang="en-GB" sz="1200" b="1" i="0" u="none" strike="noStrike" dirty="0">
                        <a:solidFill>
                          <a:srgbClr val="000000"/>
                        </a:solidFill>
                        <a:effectLst/>
                        <a:latin typeface="Times New Roman" panose="02020603050405020304" pitchFamily="18" charset="0"/>
                      </a:endParaRP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1" i="0" u="none" strike="noStrike" dirty="0" smtClean="0">
                          <a:solidFill>
                            <a:srgbClr val="000000"/>
                          </a:solidFill>
                          <a:effectLst/>
                          <a:latin typeface="Times New Roman" panose="02020603050405020304" pitchFamily="18" charset="0"/>
                        </a:rPr>
                        <a:t>3,125,000 </a:t>
                      </a:r>
                      <a:endParaRPr lang="en-GB" sz="1200" b="1" i="0" u="none" strike="noStrike" dirty="0">
                        <a:solidFill>
                          <a:srgbClr val="000000"/>
                        </a:solidFill>
                        <a:effectLst/>
                        <a:latin typeface="Times New Roman" panose="02020603050405020304" pitchFamily="18" charset="0"/>
                      </a:endParaRP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1" i="0" u="none" strike="noStrike" dirty="0">
                          <a:solidFill>
                            <a:srgbClr val="000000"/>
                          </a:solidFill>
                          <a:effectLst/>
                          <a:latin typeface="Times New Roman" panose="02020603050405020304" pitchFamily="18" charset="0"/>
                        </a:rPr>
                        <a:t>75.00%</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1200" b="1" i="0" u="none" strike="noStrike" dirty="0" smtClean="0">
                          <a:solidFill>
                            <a:srgbClr val="000000"/>
                          </a:solidFill>
                          <a:effectLst/>
                          <a:latin typeface="Times New Roman" panose="02020603050405020304" pitchFamily="18" charset="0"/>
                        </a:rPr>
                        <a:t>2,343,750</a:t>
                      </a:r>
                      <a:endParaRPr lang="en-GB" sz="1200" b="1" i="0" u="none" strike="noStrike" dirty="0">
                        <a:solidFill>
                          <a:srgbClr val="000000"/>
                        </a:solidFill>
                        <a:effectLst/>
                        <a:latin typeface="Times New Roman" panose="02020603050405020304" pitchFamily="18" charset="0"/>
                      </a:endParaRP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chemeClr val="bg1"/>
                    </a:solidFill>
                  </a:tcPr>
                </a:tc>
                <a:tc>
                  <a:txBody>
                    <a:bodyPr/>
                    <a:lstStyle/>
                    <a:p>
                      <a:pPr algn="ctr" rtl="0" fontAlgn="ctr"/>
                      <a:r>
                        <a:rPr lang="en-GB" sz="1200" b="1" i="0" u="none" strike="noStrike" dirty="0">
                          <a:solidFill>
                            <a:srgbClr val="000000"/>
                          </a:solidFill>
                          <a:effectLst/>
                          <a:latin typeface="Times New Roman" panose="02020603050405020304" pitchFamily="18" charset="0"/>
                        </a:rPr>
                        <a:t>33.48%</a:t>
                      </a:r>
                    </a:p>
                  </a:txBody>
                  <a:tcPr marL="8412" marR="8412" marT="8412"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9BC2E6"/>
                    </a:solidFill>
                  </a:tcPr>
                </a:tc>
              </a:tr>
            </a:tbl>
          </a:graphicData>
        </a:graphic>
      </p:graphicFrame>
      <p:sp>
        <p:nvSpPr>
          <p:cNvPr id="20" name="Rectangle 19"/>
          <p:cNvSpPr/>
          <p:nvPr/>
        </p:nvSpPr>
        <p:spPr>
          <a:xfrm>
            <a:off x="5532715" y="3247615"/>
            <a:ext cx="3979477" cy="178509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265112" lvl="1" eaLnBrk="0" hangingPunct="0">
              <a:spcBef>
                <a:spcPts val="0"/>
              </a:spcBef>
            </a:pPr>
            <a:r>
              <a:rPr lang="en-US" sz="1300" dirty="0" smtClean="0">
                <a:solidFill>
                  <a:schemeClr val="tx1"/>
                </a:solidFill>
                <a:latin typeface="Times New Roman" pitchFamily="18" charset="0"/>
                <a:cs typeface="Times New Roman" pitchFamily="18" charset="0"/>
              </a:rPr>
              <a:t>The final </a:t>
            </a:r>
            <a:r>
              <a:rPr lang="en-US" sz="1300" b="1" dirty="0" smtClean="0">
                <a:solidFill>
                  <a:schemeClr val="tx1"/>
                </a:solidFill>
                <a:latin typeface="Times New Roman" pitchFamily="18" charset="0"/>
                <a:cs typeface="Times New Roman" pitchFamily="18" charset="0"/>
              </a:rPr>
              <a:t>composite LGD </a:t>
            </a:r>
            <a:r>
              <a:rPr lang="en-US" sz="1300" dirty="0" smtClean="0">
                <a:solidFill>
                  <a:schemeClr val="tx1"/>
                </a:solidFill>
                <a:latin typeface="Times New Roman" pitchFamily="18" charset="0"/>
                <a:cs typeface="Times New Roman" pitchFamily="18" charset="0"/>
              </a:rPr>
              <a:t>of 33.48% is the residual unsecured loss as a percentage of the total outstanding exposure, which will then be applied consistently to each facility EAD in the ECL calculator.</a:t>
            </a:r>
          </a:p>
          <a:p>
            <a:pPr marL="265112" lvl="1" eaLnBrk="0" hangingPunct="0">
              <a:spcBef>
                <a:spcPts val="0"/>
              </a:spcBef>
            </a:pPr>
            <a:endParaRPr lang="en-US" sz="600" dirty="0">
              <a:solidFill>
                <a:schemeClr val="tx1"/>
              </a:solidFill>
              <a:latin typeface="Times New Roman" pitchFamily="18" charset="0"/>
              <a:cs typeface="Times New Roman" pitchFamily="18" charset="0"/>
            </a:endParaRPr>
          </a:p>
          <a:p>
            <a:pPr marL="265112" lvl="1" eaLnBrk="0" hangingPunct="0">
              <a:spcBef>
                <a:spcPts val="0"/>
              </a:spcBef>
            </a:pPr>
            <a:r>
              <a:rPr lang="en-US" sz="1300" dirty="0" smtClean="0">
                <a:solidFill>
                  <a:schemeClr val="tx1"/>
                </a:solidFill>
                <a:latin typeface="Times New Roman" pitchFamily="18" charset="0"/>
                <a:cs typeface="Times New Roman" pitchFamily="18" charset="0"/>
              </a:rPr>
              <a:t>Should the </a:t>
            </a:r>
            <a:r>
              <a:rPr lang="en-US" sz="1300" b="1" dirty="0" smtClean="0">
                <a:solidFill>
                  <a:schemeClr val="tx1"/>
                </a:solidFill>
                <a:latin typeface="Times New Roman" pitchFamily="18" charset="0"/>
                <a:cs typeface="Times New Roman" pitchFamily="18" charset="0"/>
              </a:rPr>
              <a:t>composite LGD </a:t>
            </a:r>
            <a:r>
              <a:rPr lang="en-US" sz="1300" dirty="0" smtClean="0">
                <a:solidFill>
                  <a:schemeClr val="tx1"/>
                </a:solidFill>
                <a:latin typeface="Times New Roman" pitchFamily="18" charset="0"/>
                <a:cs typeface="Times New Roman" pitchFamily="18" charset="0"/>
              </a:rPr>
              <a:t>be less than 10% (due to a high level of collateralization) then it will be </a:t>
            </a:r>
            <a:r>
              <a:rPr lang="en-US" sz="1300" b="1" dirty="0" smtClean="0">
                <a:solidFill>
                  <a:schemeClr val="tx1"/>
                </a:solidFill>
                <a:latin typeface="Times New Roman" pitchFamily="18" charset="0"/>
                <a:cs typeface="Times New Roman" pitchFamily="18" charset="0"/>
              </a:rPr>
              <a:t>floored at 10%.</a:t>
            </a:r>
          </a:p>
        </p:txBody>
      </p:sp>
      <p:sp>
        <p:nvSpPr>
          <p:cNvPr id="21" name="TextBox 20"/>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659565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Unconditional LGD : </a:t>
            </a:r>
            <a:r>
              <a:rPr lang="en-US" sz="2000" i="1" dirty="0"/>
              <a:t>QNB-Specific Haircut </a:t>
            </a:r>
            <a:r>
              <a:rPr lang="en-US" sz="2000" i="1" dirty="0" smtClean="0"/>
              <a:t>Approach</a:t>
            </a:r>
            <a:r>
              <a:rPr lang="en-US" sz="2400" dirty="0" smtClean="0"/>
              <a:t/>
            </a:r>
            <a:br>
              <a:rPr lang="en-US" sz="2400" dirty="0" smtClean="0"/>
            </a:br>
            <a:endParaRPr lang="en-IN" sz="2400" i="1" dirty="0"/>
          </a:p>
        </p:txBody>
      </p:sp>
      <p:sp>
        <p:nvSpPr>
          <p:cNvPr id="14" name="Rectangle 13"/>
          <p:cNvSpPr/>
          <p:nvPr/>
        </p:nvSpPr>
        <p:spPr>
          <a:xfrm>
            <a:off x="386981" y="1073003"/>
            <a:ext cx="9366619" cy="526142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Given </a:t>
            </a:r>
            <a:r>
              <a:rPr lang="en-US" sz="1300" dirty="0">
                <a:solidFill>
                  <a:schemeClr val="tx1"/>
                </a:solidFill>
                <a:latin typeface="Times New Roman" pitchFamily="18" charset="0"/>
                <a:cs typeface="Times New Roman" pitchFamily="18" charset="0"/>
              </a:rPr>
              <a:t>the nature of the QNB portfolio (with </a:t>
            </a:r>
            <a:r>
              <a:rPr lang="en-US" sz="1300" b="1" dirty="0">
                <a:solidFill>
                  <a:schemeClr val="tx1"/>
                </a:solidFill>
                <a:latin typeface="Times New Roman" pitchFamily="18" charset="0"/>
                <a:cs typeface="Times New Roman" pitchFamily="18" charset="0"/>
              </a:rPr>
              <a:t>low defaults </a:t>
            </a:r>
            <a:r>
              <a:rPr lang="en-US" sz="1300" dirty="0">
                <a:solidFill>
                  <a:schemeClr val="tx1"/>
                </a:solidFill>
                <a:latin typeface="Times New Roman" pitchFamily="18" charset="0"/>
                <a:cs typeface="Times New Roman" pitchFamily="18" charset="0"/>
              </a:rPr>
              <a:t>and </a:t>
            </a:r>
            <a:r>
              <a:rPr lang="en-US" sz="1300" b="1" dirty="0">
                <a:solidFill>
                  <a:schemeClr val="tx1"/>
                </a:solidFill>
                <a:latin typeface="Times New Roman" pitchFamily="18" charset="0"/>
                <a:cs typeface="Times New Roman" pitchFamily="18" charset="0"/>
              </a:rPr>
              <a:t>high collateral levels</a:t>
            </a:r>
            <a:r>
              <a:rPr lang="en-US" sz="1300" dirty="0" smtClean="0">
                <a:solidFill>
                  <a:schemeClr val="tx1"/>
                </a:solidFill>
                <a:latin typeface="Times New Roman" pitchFamily="18" charset="0"/>
                <a:cs typeface="Times New Roman" pitchFamily="18" charset="0"/>
              </a:rPr>
              <a:t>), using the FIRB approach for LGD estimation, while a relevant and applicable option, may require considering a few revisions to the base approach</a:t>
            </a:r>
          </a:p>
          <a:p>
            <a:pPr marL="1857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The </a:t>
            </a:r>
            <a:r>
              <a:rPr lang="en-US" sz="1300" dirty="0">
                <a:solidFill>
                  <a:schemeClr val="tx1"/>
                </a:solidFill>
                <a:latin typeface="Times New Roman" pitchFamily="18" charset="0"/>
                <a:cs typeface="Times New Roman" pitchFamily="18" charset="0"/>
              </a:rPr>
              <a:t>FIRB LGD estimates, as well as the construct of the approach with </a:t>
            </a:r>
            <a:r>
              <a:rPr lang="en-US" sz="1300" b="1" dirty="0">
                <a:solidFill>
                  <a:schemeClr val="tx1"/>
                </a:solidFill>
                <a:latin typeface="Times New Roman" pitchFamily="18" charset="0"/>
                <a:cs typeface="Times New Roman" pitchFamily="18" charset="0"/>
              </a:rPr>
              <a:t>FIRB LGD</a:t>
            </a:r>
            <a:r>
              <a:rPr lang="en-US" sz="1300" dirty="0">
                <a:solidFill>
                  <a:schemeClr val="tx1"/>
                </a:solidFill>
                <a:latin typeface="Times New Roman" pitchFamily="18" charset="0"/>
                <a:cs typeface="Times New Roman" pitchFamily="18" charset="0"/>
              </a:rPr>
              <a:t>, are based on </a:t>
            </a:r>
            <a:r>
              <a:rPr lang="en-US" sz="1300" b="1" dirty="0">
                <a:solidFill>
                  <a:schemeClr val="tx1"/>
                </a:solidFill>
                <a:latin typeface="Times New Roman" pitchFamily="18" charset="0"/>
                <a:cs typeface="Times New Roman" pitchFamily="18" charset="0"/>
              </a:rPr>
              <a:t>conservatism </a:t>
            </a:r>
            <a:r>
              <a:rPr lang="en-US" sz="1300" dirty="0">
                <a:solidFill>
                  <a:schemeClr val="tx1"/>
                </a:solidFill>
                <a:latin typeface="Times New Roman" pitchFamily="18" charset="0"/>
                <a:cs typeface="Times New Roman" pitchFamily="18" charset="0"/>
              </a:rPr>
              <a:t>given the use of these estimates in regulatory capital computations. This conservatism is manifested in the following ways:</a:t>
            </a:r>
          </a:p>
          <a:p>
            <a:pPr marL="6429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The use of the </a:t>
            </a:r>
            <a:r>
              <a:rPr lang="en-US" sz="1300" b="1" dirty="0" smtClean="0">
                <a:solidFill>
                  <a:schemeClr val="tx1"/>
                </a:solidFill>
                <a:latin typeface="Times New Roman" pitchFamily="18" charset="0"/>
                <a:cs typeface="Times New Roman" pitchFamily="18" charset="0"/>
              </a:rPr>
              <a:t>base LGD </a:t>
            </a:r>
            <a:r>
              <a:rPr lang="en-US" sz="1300" dirty="0" smtClean="0">
                <a:solidFill>
                  <a:schemeClr val="tx1"/>
                </a:solidFill>
                <a:latin typeface="Times New Roman" pitchFamily="18" charset="0"/>
                <a:cs typeface="Times New Roman" pitchFamily="18" charset="0"/>
              </a:rPr>
              <a:t>for a collateral type </a:t>
            </a:r>
            <a:r>
              <a:rPr lang="en-US" sz="1300" b="1" dirty="0" smtClean="0">
                <a:solidFill>
                  <a:schemeClr val="tx1"/>
                </a:solidFill>
                <a:latin typeface="Times New Roman" pitchFamily="18" charset="0"/>
                <a:cs typeface="Times New Roman" pitchFamily="18" charset="0"/>
              </a:rPr>
              <a:t>even when fully secured</a:t>
            </a:r>
          </a:p>
          <a:p>
            <a:pPr marL="6429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A </a:t>
            </a:r>
            <a:r>
              <a:rPr lang="en-US" sz="1300" b="1" dirty="0" smtClean="0">
                <a:solidFill>
                  <a:schemeClr val="tx1"/>
                </a:solidFill>
                <a:latin typeface="Times New Roman" pitchFamily="18" charset="0"/>
                <a:cs typeface="Times New Roman" pitchFamily="18" charset="0"/>
              </a:rPr>
              <a:t>regulatory floor </a:t>
            </a:r>
            <a:r>
              <a:rPr lang="en-US" sz="1300" dirty="0" smtClean="0">
                <a:solidFill>
                  <a:schemeClr val="tx1"/>
                </a:solidFill>
                <a:latin typeface="Times New Roman" pitchFamily="18" charset="0"/>
                <a:cs typeface="Times New Roman" pitchFamily="18" charset="0"/>
              </a:rPr>
              <a:t>for the LGD estimates</a:t>
            </a:r>
          </a:p>
          <a:p>
            <a:pPr marL="642938" lvl="1" indent="-185738" eaLnBrk="0" hangingPunct="0">
              <a:lnSpc>
                <a:spcPct val="90000"/>
              </a:lnSpc>
              <a:spcBef>
                <a:spcPct val="60000"/>
              </a:spcBef>
              <a:spcAft>
                <a:spcPts val="1200"/>
              </a:spcAft>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A </a:t>
            </a:r>
            <a:r>
              <a:rPr lang="en-US" sz="1300" b="1" dirty="0" smtClean="0">
                <a:solidFill>
                  <a:schemeClr val="tx1"/>
                </a:solidFill>
                <a:latin typeface="Times New Roman" pitchFamily="18" charset="0"/>
                <a:cs typeface="Times New Roman" pitchFamily="18" charset="0"/>
              </a:rPr>
              <a:t>downturn buffer </a:t>
            </a:r>
            <a:r>
              <a:rPr lang="en-US" sz="1300" dirty="0" smtClean="0">
                <a:solidFill>
                  <a:schemeClr val="tx1"/>
                </a:solidFill>
                <a:latin typeface="Times New Roman" pitchFamily="18" charset="0"/>
                <a:cs typeface="Times New Roman" pitchFamily="18" charset="0"/>
              </a:rPr>
              <a:t>built into the prescribed LGD estimates</a:t>
            </a:r>
            <a:endParaRPr lang="en-US" sz="1300" dirty="0">
              <a:solidFill>
                <a:schemeClr val="tx1"/>
              </a:solidFill>
              <a:latin typeface="Times New Roman" pitchFamily="18" charset="0"/>
              <a:cs typeface="Times New Roman" pitchFamily="18" charset="0"/>
            </a:endParaRPr>
          </a:p>
          <a:p>
            <a:pPr eaLnBrk="0" hangingPunct="0">
              <a:lnSpc>
                <a:spcPct val="90000"/>
              </a:lnSpc>
              <a:spcBef>
                <a:spcPts val="1200"/>
              </a:spcBef>
            </a:pPr>
            <a:r>
              <a:rPr lang="en-US" sz="1300" dirty="0" smtClean="0">
                <a:solidFill>
                  <a:schemeClr val="tx1"/>
                </a:solidFill>
                <a:latin typeface="Times New Roman" pitchFamily="18" charset="0"/>
                <a:cs typeface="Times New Roman" pitchFamily="18" charset="0"/>
              </a:rPr>
              <a:t>For QNB, the </a:t>
            </a:r>
            <a:r>
              <a:rPr lang="en-US" sz="1300" b="1" dirty="0" smtClean="0">
                <a:solidFill>
                  <a:schemeClr val="tx1"/>
                </a:solidFill>
                <a:latin typeface="Times New Roman" pitchFamily="18" charset="0"/>
                <a:cs typeface="Times New Roman" pitchFamily="18" charset="0"/>
              </a:rPr>
              <a:t>adjustments to the base LGD computation </a:t>
            </a:r>
            <a:r>
              <a:rPr lang="en-US" sz="1300" dirty="0" smtClean="0">
                <a:solidFill>
                  <a:schemeClr val="tx1"/>
                </a:solidFill>
                <a:latin typeface="Times New Roman" pitchFamily="18" charset="0"/>
                <a:cs typeface="Times New Roman" pitchFamily="18" charset="0"/>
              </a:rPr>
              <a:t>could be as follows:</a:t>
            </a:r>
          </a:p>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Use a </a:t>
            </a:r>
            <a:r>
              <a:rPr lang="en-US" sz="1300" b="1" dirty="0" smtClean="0">
                <a:solidFill>
                  <a:schemeClr val="tx1"/>
                </a:solidFill>
                <a:latin typeface="Times New Roman" pitchFamily="18" charset="0"/>
                <a:cs typeface="Times New Roman" pitchFamily="18" charset="0"/>
              </a:rPr>
              <a:t>floor of 10%*</a:t>
            </a:r>
            <a:r>
              <a:rPr lang="en-US" sz="1300" dirty="0" smtClean="0">
                <a:solidFill>
                  <a:schemeClr val="tx1"/>
                </a:solidFill>
                <a:latin typeface="Times New Roman" pitchFamily="18" charset="0"/>
                <a:cs typeface="Times New Roman" pitchFamily="18" charset="0"/>
              </a:rPr>
              <a:t> for the estimated LGD, to adjust conservatively for any valuation / haircut estimate biases or errors</a:t>
            </a:r>
          </a:p>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For the </a:t>
            </a:r>
            <a:r>
              <a:rPr lang="en-US" sz="1300" b="1" dirty="0" smtClean="0">
                <a:solidFill>
                  <a:schemeClr val="tx1"/>
                </a:solidFill>
                <a:latin typeface="Times New Roman" pitchFamily="18" charset="0"/>
                <a:cs typeface="Times New Roman" pitchFamily="18" charset="0"/>
              </a:rPr>
              <a:t>unsecured portion</a:t>
            </a:r>
            <a:r>
              <a:rPr lang="en-US" sz="1300" dirty="0" smtClean="0">
                <a:solidFill>
                  <a:schemeClr val="tx1"/>
                </a:solidFill>
                <a:latin typeface="Times New Roman" pitchFamily="18" charset="0"/>
                <a:cs typeface="Times New Roman" pitchFamily="18" charset="0"/>
              </a:rPr>
              <a:t>, </a:t>
            </a:r>
          </a:p>
          <a:p>
            <a:pPr marL="6429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Use the </a:t>
            </a:r>
            <a:r>
              <a:rPr lang="en-US" sz="1300" b="1" dirty="0">
                <a:solidFill>
                  <a:schemeClr val="tx1"/>
                </a:solidFill>
                <a:latin typeface="Times New Roman" pitchFamily="18" charset="0"/>
                <a:cs typeface="Times New Roman" pitchFamily="18" charset="0"/>
              </a:rPr>
              <a:t>7</a:t>
            </a:r>
            <a:r>
              <a:rPr lang="en-US" sz="1300" b="1" dirty="0" smtClean="0">
                <a:solidFill>
                  <a:schemeClr val="tx1"/>
                </a:solidFill>
                <a:latin typeface="Times New Roman" pitchFamily="18" charset="0"/>
                <a:cs typeface="Times New Roman" pitchFamily="18" charset="0"/>
              </a:rPr>
              <a:t>5% LGD </a:t>
            </a:r>
            <a:r>
              <a:rPr lang="en-US" sz="1300" dirty="0" smtClean="0">
                <a:solidFill>
                  <a:schemeClr val="tx1"/>
                </a:solidFill>
                <a:latin typeface="Times New Roman" pitchFamily="18" charset="0"/>
                <a:cs typeface="Times New Roman" pitchFamily="18" charset="0"/>
              </a:rPr>
              <a:t>– this is aligned with QCB guidance, as well as Basel guidance for subordinated claims</a:t>
            </a:r>
          </a:p>
          <a:p>
            <a:pPr marL="6429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Any further adjustments to increase the LGD would be needed only if there are specific loan types for which loss rates are deemed to be higher</a:t>
            </a:r>
          </a:p>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For the </a:t>
            </a:r>
            <a:r>
              <a:rPr lang="en-US" sz="1300" b="1" dirty="0" smtClean="0">
                <a:solidFill>
                  <a:schemeClr val="tx1"/>
                </a:solidFill>
                <a:latin typeface="Times New Roman" pitchFamily="18" charset="0"/>
                <a:cs typeface="Times New Roman" pitchFamily="18" charset="0"/>
              </a:rPr>
              <a:t>secured portion</a:t>
            </a:r>
            <a:r>
              <a:rPr lang="en-US" sz="1300" dirty="0" smtClean="0">
                <a:solidFill>
                  <a:schemeClr val="tx1"/>
                </a:solidFill>
                <a:latin typeface="Times New Roman" pitchFamily="18" charset="0"/>
                <a:cs typeface="Times New Roman" pitchFamily="18" charset="0"/>
              </a:rPr>
              <a:t>,</a:t>
            </a:r>
          </a:p>
          <a:p>
            <a:pPr marL="6429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Use </a:t>
            </a:r>
            <a:r>
              <a:rPr lang="en-US" sz="1300" b="1" dirty="0" smtClean="0">
                <a:solidFill>
                  <a:schemeClr val="tx1"/>
                </a:solidFill>
                <a:latin typeface="Times New Roman" pitchFamily="18" charset="0"/>
                <a:cs typeface="Times New Roman" pitchFamily="18" charset="0"/>
              </a:rPr>
              <a:t>haircuts on the entire collateral value</a:t>
            </a:r>
            <a:r>
              <a:rPr lang="en-US" sz="1300" dirty="0" smtClean="0">
                <a:solidFill>
                  <a:schemeClr val="tx1"/>
                </a:solidFill>
                <a:latin typeface="Times New Roman" pitchFamily="18" charset="0"/>
                <a:cs typeface="Times New Roman" pitchFamily="18" charset="0"/>
              </a:rPr>
              <a:t>, and not the exposure value – this is in line with QCB’s IFRS9 clarification of not having to use the lower of exposure or collateral value</a:t>
            </a:r>
          </a:p>
          <a:p>
            <a:pPr marL="642938" lvl="1" indent="-185738" eaLnBrk="0" hangingPunct="0">
              <a:lnSpc>
                <a:spcPct val="90000"/>
              </a:lnSpc>
              <a:spcBef>
                <a:spcPct val="60000"/>
              </a:spcBef>
              <a:buFont typeface="Times New Roman" panose="02020603050405020304" pitchFamily="18" charset="0"/>
              <a:buChar char="•"/>
            </a:pPr>
            <a:r>
              <a:rPr lang="en-US" sz="1300" b="1" dirty="0" smtClean="0">
                <a:solidFill>
                  <a:schemeClr val="tx1"/>
                </a:solidFill>
                <a:latin typeface="Times New Roman" pitchFamily="18" charset="0"/>
                <a:cs typeface="Times New Roman" pitchFamily="18" charset="0"/>
              </a:rPr>
              <a:t>Haircuts</a:t>
            </a:r>
            <a:r>
              <a:rPr lang="en-US" sz="1300" dirty="0" smtClean="0">
                <a:solidFill>
                  <a:schemeClr val="tx1"/>
                </a:solidFill>
                <a:latin typeface="Times New Roman" pitchFamily="18" charset="0"/>
                <a:cs typeface="Times New Roman" pitchFamily="18" charset="0"/>
              </a:rPr>
              <a:t> will have to be for each collateral type, and these can be </a:t>
            </a:r>
            <a:r>
              <a:rPr lang="en-US" sz="1300" b="1" dirty="0" smtClean="0">
                <a:solidFill>
                  <a:schemeClr val="tx1"/>
                </a:solidFill>
                <a:latin typeface="Times New Roman" pitchFamily="18" charset="0"/>
                <a:cs typeface="Times New Roman" pitchFamily="18" charset="0"/>
              </a:rPr>
              <a:t>guided directly by QCB / Basel regulations </a:t>
            </a:r>
            <a:r>
              <a:rPr lang="en-US" sz="1300" dirty="0" smtClean="0">
                <a:solidFill>
                  <a:schemeClr val="tx1"/>
                </a:solidFill>
                <a:latin typeface="Times New Roman" pitchFamily="18" charset="0"/>
                <a:cs typeface="Times New Roman" pitchFamily="18" charset="0"/>
              </a:rPr>
              <a:t>where available</a:t>
            </a:r>
          </a:p>
          <a:p>
            <a:pPr marL="642938" lvl="1"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However, for those collateral types, where haircuts are not driven by regulatory guidance, an </a:t>
            </a:r>
            <a:r>
              <a:rPr lang="en-US" sz="1300" b="1" dirty="0" smtClean="0">
                <a:solidFill>
                  <a:schemeClr val="tx1"/>
                </a:solidFill>
                <a:latin typeface="Times New Roman" pitchFamily="18" charset="0"/>
                <a:cs typeface="Times New Roman" pitchFamily="18" charset="0"/>
              </a:rPr>
              <a:t>objective approach </a:t>
            </a:r>
            <a:r>
              <a:rPr lang="en-US" sz="1300" dirty="0" smtClean="0">
                <a:solidFill>
                  <a:schemeClr val="tx1"/>
                </a:solidFill>
                <a:latin typeface="Times New Roman" pitchFamily="18" charset="0"/>
                <a:cs typeface="Times New Roman" pitchFamily="18" charset="0"/>
              </a:rPr>
              <a:t>(albeit based on expert judgement) would be used </a:t>
            </a:r>
            <a:r>
              <a:rPr lang="en-US" sz="1300" b="1" dirty="0" smtClean="0">
                <a:solidFill>
                  <a:schemeClr val="tx1"/>
                </a:solidFill>
                <a:latin typeface="Times New Roman" pitchFamily="18" charset="0"/>
                <a:cs typeface="Times New Roman" pitchFamily="18" charset="0"/>
              </a:rPr>
              <a:t>to estimate haircuts</a:t>
            </a:r>
          </a:p>
        </p:txBody>
      </p:sp>
      <p:cxnSp>
        <p:nvCxnSpPr>
          <p:cNvPr id="11" name="Straight Connector 10"/>
          <p:cNvCxnSpPr/>
          <p:nvPr/>
        </p:nvCxnSpPr>
        <p:spPr>
          <a:xfrm>
            <a:off x="361581" y="2971800"/>
            <a:ext cx="92316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84104" y="6374297"/>
            <a:ext cx="6082748" cy="430887"/>
          </a:xfrm>
          <a:prstGeom prst="rect">
            <a:avLst/>
          </a:prstGeom>
          <a:noFill/>
        </p:spPr>
        <p:txBody>
          <a:bodyPr wrap="square" rtlCol="0">
            <a:spAutoFit/>
          </a:bodyPr>
          <a:lstStyle/>
          <a:p>
            <a:pPr algn="r"/>
            <a:r>
              <a:rPr lang="en-US" sz="1100" i="1" dirty="0" smtClean="0"/>
              <a:t>* Based on QNB research, lowest LGD observed globally was in Japan (8%); the 10% floor implies conservatism to adjust for the more efficient legal and liquid market forces in Japan</a:t>
            </a:r>
            <a:endParaRPr lang="en-IN" sz="1100" i="1" dirty="0"/>
          </a:p>
        </p:txBody>
      </p:sp>
      <p:sp>
        <p:nvSpPr>
          <p:cNvPr id="6" name="TextBox 5"/>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011099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EAB92969-8876-436D-8477-9215F712A2ED}" type="slidenum">
              <a:rPr lang="en-US" altLang="en-US" smtClean="0"/>
              <a:pPr/>
              <a:t>36</a:t>
            </a:fld>
            <a:endParaRPr lang="en-US" altLang="en-US"/>
          </a:p>
        </p:txBody>
      </p:sp>
      <p:sp>
        <p:nvSpPr>
          <p:cNvPr id="8" name="Title 1"/>
          <p:cNvSpPr>
            <a:spLocks noGrp="1"/>
          </p:cNvSpPr>
          <p:nvPr>
            <p:ph type="title"/>
          </p:nvPr>
        </p:nvSpPr>
        <p:spPr>
          <a:xfrm>
            <a:off x="287338" y="258763"/>
            <a:ext cx="9331325" cy="922337"/>
          </a:xfrm>
        </p:spPr>
        <p:txBody>
          <a:bodyPr/>
          <a:lstStyle/>
          <a:p>
            <a:r>
              <a:rPr lang="en-US" sz="2400" dirty="0" smtClean="0"/>
              <a:t>Loss Given Default (LGD)</a:t>
            </a:r>
            <a:br>
              <a:rPr lang="en-US" sz="2400" dirty="0" smtClean="0"/>
            </a:br>
            <a:r>
              <a:rPr lang="en-US" sz="2000" i="1" dirty="0" smtClean="0"/>
              <a:t>Eligible Collateral Overview</a:t>
            </a:r>
            <a:endParaRPr lang="en-IN" sz="2400" i="1" dirty="0"/>
          </a:p>
        </p:txBody>
      </p:sp>
      <p:graphicFrame>
        <p:nvGraphicFramePr>
          <p:cNvPr id="11" name="Table 10"/>
          <p:cNvGraphicFramePr>
            <a:graphicFrameLocks noGrp="1"/>
          </p:cNvGraphicFramePr>
          <p:nvPr>
            <p:extLst/>
          </p:nvPr>
        </p:nvGraphicFramePr>
        <p:xfrm>
          <a:off x="287338" y="981068"/>
          <a:ext cx="9331326" cy="4975516"/>
        </p:xfrm>
        <a:graphic>
          <a:graphicData uri="http://schemas.openxmlformats.org/drawingml/2006/table">
            <a:tbl>
              <a:tblPr/>
              <a:tblGrid>
                <a:gridCol w="685424"/>
                <a:gridCol w="1464313"/>
                <a:gridCol w="763325"/>
                <a:gridCol w="1074723"/>
                <a:gridCol w="931230"/>
                <a:gridCol w="1151917"/>
                <a:gridCol w="1105786"/>
                <a:gridCol w="2154608"/>
              </a:tblGrid>
              <a:tr h="529308">
                <a:tc>
                  <a:txBody>
                    <a:bodyPr/>
                    <a:lstStyle/>
                    <a:p>
                      <a:pPr algn="ctr" rtl="0" fontAlgn="ctr"/>
                      <a:r>
                        <a:rPr lang="en-GB" sz="900" b="1" i="0" u="none" strike="noStrike" dirty="0">
                          <a:solidFill>
                            <a:srgbClr val="FFFFFF"/>
                          </a:solidFill>
                          <a:effectLst/>
                          <a:latin typeface="Times New Roman" panose="02020603050405020304" pitchFamily="18" charset="0"/>
                        </a:rPr>
                        <a:t>Collateral Type</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900" b="1" i="0" u="none" strike="noStrike">
                          <a:solidFill>
                            <a:srgbClr val="FFFFFF"/>
                          </a:solidFill>
                          <a:effectLst/>
                          <a:latin typeface="Times New Roman" panose="02020603050405020304" pitchFamily="18" charset="0"/>
                        </a:rPr>
                        <a:t>Collateral Name</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900" b="1" i="0" u="none" strike="noStrike">
                          <a:solidFill>
                            <a:srgbClr val="000000"/>
                          </a:solidFill>
                          <a:effectLst/>
                          <a:latin typeface="Times New Roman" panose="02020603050405020304" pitchFamily="18" charset="0"/>
                        </a:rPr>
                        <a:t>Haircut</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0DDFF"/>
                    </a:solidFill>
                  </a:tcPr>
                </a:tc>
                <a:tc>
                  <a:txBody>
                    <a:bodyPr/>
                    <a:lstStyle/>
                    <a:p>
                      <a:pPr algn="ctr" rtl="0" fontAlgn="ctr"/>
                      <a:r>
                        <a:rPr lang="en-IN" sz="900" b="1" i="0" u="none" strike="noStrike" dirty="0">
                          <a:solidFill>
                            <a:srgbClr val="FFFFFF"/>
                          </a:solidFill>
                          <a:effectLst/>
                          <a:latin typeface="Times New Roman" panose="02020603050405020304" pitchFamily="18" charset="0"/>
                        </a:rPr>
                        <a:t>Eligible as per QNB Policy?</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900" b="1" i="0" u="none" strike="noStrike" dirty="0">
                          <a:solidFill>
                            <a:srgbClr val="FFFFFF"/>
                          </a:solidFill>
                          <a:effectLst/>
                          <a:latin typeface="Times New Roman" panose="02020603050405020304" pitchFamily="18" charset="0"/>
                        </a:rPr>
                        <a:t>Eligible as per </a:t>
                      </a:r>
                      <a:r>
                        <a:rPr lang="en-GB" sz="900" b="1" i="0" u="none" strike="noStrike" dirty="0" smtClean="0">
                          <a:solidFill>
                            <a:srgbClr val="FFFFFF"/>
                          </a:solidFill>
                          <a:effectLst/>
                          <a:latin typeface="Times New Roman" panose="02020603050405020304" pitchFamily="18" charset="0"/>
                        </a:rPr>
                        <a:t>QCB (Basel) </a:t>
                      </a:r>
                      <a:r>
                        <a:rPr lang="en-GB" sz="900" b="1" i="0" u="none" strike="noStrike" dirty="0">
                          <a:solidFill>
                            <a:srgbClr val="FFFFFF"/>
                          </a:solidFill>
                          <a:effectLst/>
                          <a:latin typeface="Times New Roman" panose="02020603050405020304" pitchFamily="18" charset="0"/>
                        </a:rPr>
                        <a:t>?</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900" b="1" i="0" u="none" strike="noStrike">
                          <a:solidFill>
                            <a:srgbClr val="FFFFFF"/>
                          </a:solidFill>
                          <a:effectLst/>
                          <a:latin typeface="Times New Roman" panose="02020603050405020304" pitchFamily="18" charset="0"/>
                        </a:rPr>
                        <a:t>Proposed for IFRS9?</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900" b="1" i="0" u="none" strike="noStrike" dirty="0">
                          <a:solidFill>
                            <a:srgbClr val="FFFFFF"/>
                          </a:solidFill>
                          <a:effectLst/>
                          <a:latin typeface="Times New Roman" panose="02020603050405020304" pitchFamily="18" charset="0"/>
                        </a:rPr>
                        <a:t>Re-valuation Frequency</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GB" sz="900" b="1" i="0" u="none" strike="noStrike">
                          <a:solidFill>
                            <a:srgbClr val="FFFFFF"/>
                          </a:solidFill>
                          <a:effectLst/>
                          <a:latin typeface="Times New Roman" panose="02020603050405020304" pitchFamily="18" charset="0"/>
                        </a:rPr>
                        <a:t>Comments</a:t>
                      </a:r>
                    </a:p>
                  </a:txBody>
                  <a:tcPr marL="7375" marR="7375" marT="73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ASG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Assignments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No</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800" b="0" i="0" u="none" strike="noStrike">
                          <a:solidFill>
                            <a:srgbClr val="000000"/>
                          </a:solidFill>
                          <a:effectLst/>
                          <a:latin typeface="Times New Roman" panose="02020603050405020304" pitchFamily="18" charset="0"/>
                        </a:rPr>
                        <a:t>* Not Available,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BLD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Commercial Building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Yearly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As per title deed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BLC</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Commercial Building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Yearly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dirty="0">
                          <a:solidFill>
                            <a:srgbClr val="000000"/>
                          </a:solidFill>
                          <a:effectLst/>
                          <a:latin typeface="Times New Roman" panose="02020603050405020304" pitchFamily="18" charset="0"/>
                        </a:rPr>
                        <a:t>* As per title deed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BLR</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Residential Building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Yearly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As per title deed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BOD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Local Bonds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25%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Daily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COG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Corporate Guarantee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800" b="0" i="0" u="none" strike="noStrike">
                          <a:solidFill>
                            <a:srgbClr val="000000"/>
                          </a:solidFill>
                          <a:effectLst/>
                          <a:latin typeface="Times New Roman" panose="02020603050405020304" pitchFamily="18" charset="0"/>
                        </a:rPr>
                        <a:t>* Not Available,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DED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Title Deed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No</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FGF</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Foreign Bank Guarantee Fccy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20%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FGL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Foreign Bank Guarantee Lcy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10%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FXF</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Fixed Deposits Fccy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FXL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Fixed Deposits Lcy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GOV</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SoQ Guarantee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IST</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International Stocks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25%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Treated as Local Shares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LGF</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Local Bank Fund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800" b="0" i="0" u="none" strike="noStrike">
                          <a:solidFill>
                            <a:srgbClr val="000000"/>
                          </a:solidFill>
                          <a:effectLst/>
                          <a:latin typeface="Times New Roman" panose="02020603050405020304" pitchFamily="18" charset="0"/>
                        </a:rPr>
                        <a:t>* Treated as Local Bank Guarantee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LGL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Local Bank Guarantee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10%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LND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Land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*Treated as Title Deed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LSH</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Local Shares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Daily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MAE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Machinery and Equipment</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75%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MRF</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Margin Foreign Currency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800" b="0" i="0" u="none" strike="noStrike">
                          <a:solidFill>
                            <a:srgbClr val="000000"/>
                          </a:solidFill>
                          <a:effectLst/>
                          <a:latin typeface="Times New Roman" panose="02020603050405020304" pitchFamily="18" charset="0"/>
                        </a:rPr>
                        <a:t>* Not Available,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MRL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Margin Local Currency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800" b="0" i="0" u="none" strike="noStrike">
                          <a:solidFill>
                            <a:srgbClr val="000000"/>
                          </a:solidFill>
                          <a:effectLst/>
                          <a:latin typeface="Times New Roman" panose="02020603050405020304" pitchFamily="18" charset="0"/>
                        </a:rPr>
                        <a:t>* Not Available,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OTH</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Others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75%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Treated as Vessels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PCG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Personal Guarantee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PLG</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Special Personal Guarantee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MOV</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Mortgage</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50%</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*Treated as Title Deed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Mult Coll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Multicollateral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71008">
                <a:tc>
                  <a:txBody>
                    <a:bodyPr/>
                    <a:lstStyle/>
                    <a:p>
                      <a:pPr algn="ctr" rtl="0" fontAlgn="ctr"/>
                      <a:r>
                        <a:rPr lang="en-GB" sz="800" b="0" i="0" u="none" strike="noStrike">
                          <a:solidFill>
                            <a:srgbClr val="000000"/>
                          </a:solidFill>
                          <a:effectLst/>
                          <a:latin typeface="Times New Roman" panose="02020603050405020304" pitchFamily="18" charset="0"/>
                        </a:rPr>
                        <a:t>SAL</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Salary</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45%</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dirty="0" smtClean="0">
                          <a:solidFill>
                            <a:srgbClr val="000000"/>
                          </a:solidFill>
                          <a:effectLst/>
                          <a:latin typeface="Times New Roman" panose="02020603050405020304" pitchFamily="18" charset="0"/>
                        </a:rPr>
                        <a:t>Yes</a:t>
                      </a:r>
                      <a:endParaRPr lang="en-GB" sz="800" b="0" i="0" u="none" strike="noStrike" dirty="0">
                        <a:solidFill>
                          <a:srgbClr val="000000"/>
                        </a:solidFill>
                        <a:effectLst/>
                        <a:latin typeface="Times New Roman" panose="02020603050405020304" pitchFamily="18" charset="0"/>
                      </a:endParaRP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Yes</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GB" sz="800" b="0" i="0" u="none" strike="noStrike">
                          <a:solidFill>
                            <a:srgbClr val="000000"/>
                          </a:solidFill>
                          <a:effectLst/>
                          <a:latin typeface="Times New Roman" panose="02020603050405020304" pitchFamily="18" charset="0"/>
                        </a:rPr>
                        <a:t> </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800" b="0" i="0" u="none" strike="noStrike" dirty="0">
                          <a:solidFill>
                            <a:srgbClr val="000000"/>
                          </a:solidFill>
                          <a:effectLst/>
                          <a:latin typeface="Times New Roman" panose="02020603050405020304" pitchFamily="18" charset="0"/>
                        </a:rPr>
                        <a:t>* Not Available, Treated as Unsecured</a:t>
                      </a:r>
                    </a:p>
                  </a:txBody>
                  <a:tcPr marL="7375" marR="7375" marT="737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6" name="TextBox 5"/>
          <p:cNvSpPr txBox="1"/>
          <p:nvPr/>
        </p:nvSpPr>
        <p:spPr>
          <a:xfrm>
            <a:off x="7505700" y="251143"/>
            <a:ext cx="2112963" cy="707886"/>
          </a:xfrm>
          <a:prstGeom prst="rect">
            <a:avLst/>
          </a:prstGeom>
          <a:solidFill>
            <a:srgbClr val="FF0000"/>
          </a:solidFill>
        </p:spPr>
        <p:txBody>
          <a:bodyPr wrap="square" rtlCol="0">
            <a:spAutoFit/>
          </a:bodyPr>
          <a:lstStyle/>
          <a:p>
            <a:r>
              <a:rPr lang="en-US" sz="2000" b="1" dirty="0" smtClean="0">
                <a:solidFill>
                  <a:schemeClr val="bg1"/>
                </a:solidFill>
              </a:rPr>
              <a:t>IS THIS TABLE COMPLETE</a:t>
            </a:r>
            <a:endParaRPr lang="en-US" sz="2000" b="1" dirty="0">
              <a:solidFill>
                <a:schemeClr val="bg1"/>
              </a:solidFill>
            </a:endParaRPr>
          </a:p>
        </p:txBody>
      </p:sp>
    </p:spTree>
    <p:extLst>
      <p:ext uri="{BB962C8B-B14F-4D97-AF65-F5344CB8AC3E}">
        <p14:creationId xmlns:p14="http://schemas.microsoft.com/office/powerpoint/2010/main" val="22359102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t>Loss Given Default (LGD)</a:t>
            </a:r>
          </a:p>
          <a:p>
            <a:pPr marL="2843213" lvl="5" indent="-446088"/>
            <a:r>
              <a:rPr lang="en-US" dirty="0">
                <a:solidFill>
                  <a:schemeClr val="bg1">
                    <a:lumMod val="75000"/>
                  </a:schemeClr>
                </a:solidFill>
                <a:latin typeface="Times New Roman" pitchFamily="18" charset="0"/>
                <a:cs typeface="Times New Roman" pitchFamily="18" charset="0"/>
              </a:rPr>
              <a:t>Through the Cycle (TTC) LGD</a:t>
            </a:r>
          </a:p>
          <a:p>
            <a:pPr marL="2843213" lvl="5" indent="-446088"/>
            <a:r>
              <a:rPr lang="en-US" dirty="0">
                <a:latin typeface="Times New Roman" pitchFamily="18" charset="0"/>
                <a:cs typeface="Times New Roman" pitchFamily="18" charset="0"/>
              </a:rPr>
              <a:t>Point in Time (</a:t>
            </a:r>
            <a:r>
              <a:rPr lang="en-US" dirty="0" err="1">
                <a:latin typeface="Times New Roman" pitchFamily="18" charset="0"/>
                <a:cs typeface="Times New Roman" pitchFamily="18" charset="0"/>
              </a:rPr>
              <a:t>PiT</a:t>
            </a:r>
            <a:r>
              <a:rPr lang="en-US" dirty="0">
                <a:latin typeface="Times New Roman" pitchFamily="18" charset="0"/>
                <a:cs typeface="Times New Roman" pitchFamily="18" charset="0"/>
              </a:rPr>
              <a:t>) LGD </a:t>
            </a:r>
          </a:p>
          <a:p>
            <a:pPr marL="808038" lvl="4" indent="-446088"/>
            <a:r>
              <a:rPr lang="en-US" sz="2000" dirty="0" smtClean="0">
                <a:solidFill>
                  <a:schemeClr val="bg1">
                    <a:lumMod val="75000"/>
                  </a:schemeClr>
                </a:solidFill>
              </a:rPr>
              <a:t>Exposure at Default (EAD)</a:t>
            </a:r>
          </a:p>
          <a:p>
            <a:pPr marL="808038" lvl="4" indent="-446088"/>
            <a:r>
              <a:rPr lang="en-US" sz="2000" dirty="0" smtClean="0">
                <a:solidFill>
                  <a:schemeClr val="bg1">
                    <a:lumMod val="75000"/>
                  </a:schemeClr>
                </a:solidFill>
              </a:rPr>
              <a:t>Expected Credit Loss (ECL) Computation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37</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4378118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Loss Given Default (LGD)</a:t>
            </a:r>
            <a:r>
              <a:rPr lang="en-US" sz="2800" dirty="0"/>
              <a:t/>
            </a:r>
            <a:br>
              <a:rPr lang="en-US" sz="2800" dirty="0"/>
            </a:br>
            <a:r>
              <a:rPr lang="en-US" sz="2000" i="1" dirty="0"/>
              <a:t>Conditional LGD : Developing Forward Looking </a:t>
            </a:r>
            <a:r>
              <a:rPr lang="en-US" sz="2000" i="1" dirty="0" err="1"/>
              <a:t>PiT</a:t>
            </a:r>
            <a:r>
              <a:rPr lang="en-US" sz="2000" i="1" dirty="0"/>
              <a:t> LGD</a:t>
            </a:r>
            <a:r>
              <a:rPr lang="en-US" sz="2800" dirty="0"/>
              <a:t/>
            </a:r>
            <a:br>
              <a:rPr lang="en-US" sz="2800" dirty="0"/>
            </a:br>
            <a:endParaRPr lang="en-IN" sz="2400" i="1" dirty="0"/>
          </a:p>
        </p:txBody>
      </p:sp>
      <p:sp>
        <p:nvSpPr>
          <p:cNvPr id="14" name="Rectangle 13"/>
          <p:cNvSpPr/>
          <p:nvPr/>
        </p:nvSpPr>
        <p:spPr>
          <a:xfrm>
            <a:off x="386981" y="1073003"/>
            <a:ext cx="9366619" cy="123263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85738" indent="-185738" eaLnBrk="0" hangingPunct="0">
              <a:lnSpc>
                <a:spcPct val="90000"/>
              </a:lnSpc>
              <a:spcBef>
                <a:spcPct val="60000"/>
              </a:spcBef>
              <a:buFont typeface="Times New Roman" panose="02020603050405020304" pitchFamily="18" charset="0"/>
              <a:buChar char="•"/>
            </a:pPr>
            <a:r>
              <a:rPr lang="en-US" sz="1300" dirty="0">
                <a:solidFill>
                  <a:schemeClr val="tx1"/>
                </a:solidFill>
                <a:latin typeface="Times New Roman" pitchFamily="18" charset="0"/>
                <a:cs typeface="Times New Roman" pitchFamily="18" charset="0"/>
              </a:rPr>
              <a:t>The ‘unconditional’ LGD curve discussed in the previous sub-section needs to be conditioned (i.e. linked to macroeconomic scenarios) to arrive at forward looking ‘conditional’ LGD curve as required under </a:t>
            </a:r>
            <a:r>
              <a:rPr lang="en-US" sz="1300" dirty="0" smtClean="0">
                <a:solidFill>
                  <a:schemeClr val="tx1"/>
                </a:solidFill>
                <a:latin typeface="Times New Roman" pitchFamily="18" charset="0"/>
                <a:cs typeface="Times New Roman" pitchFamily="18" charset="0"/>
              </a:rPr>
              <a:t>IFRS 9.</a:t>
            </a:r>
          </a:p>
          <a:p>
            <a:pPr marL="185738"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The forward looking LGD curve would account for the changing expectation of macroeconomic environment over time</a:t>
            </a:r>
            <a:r>
              <a:rPr lang="en-IN" sz="1300" dirty="0" smtClean="0">
                <a:solidFill>
                  <a:schemeClr val="tx1"/>
                </a:solidFill>
                <a:latin typeface="Times New Roman" pitchFamily="18" charset="0"/>
                <a:cs typeface="Times New Roman" pitchFamily="18" charset="0"/>
              </a:rPr>
              <a:t>.</a:t>
            </a:r>
          </a:p>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The following exhibit illustrates the two key steps for developing a forward looking methodology to Condition LGD estimates based on macroeconomic factors:</a:t>
            </a:r>
          </a:p>
        </p:txBody>
      </p:sp>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15" y="2898367"/>
            <a:ext cx="8537945" cy="2938907"/>
          </a:xfrm>
          <a:prstGeom prst="rect">
            <a:avLst/>
          </a:prstGeom>
          <a:noFill/>
          <a:ln>
            <a:noFill/>
          </a:ln>
        </p:spPr>
      </p:pic>
      <p:sp>
        <p:nvSpPr>
          <p:cNvPr id="5" name="TextBox 4"/>
          <p:cNvSpPr txBox="1"/>
          <p:nvPr/>
        </p:nvSpPr>
        <p:spPr>
          <a:xfrm>
            <a:off x="6797040" y="251143"/>
            <a:ext cx="2821623" cy="707886"/>
          </a:xfrm>
          <a:prstGeom prst="rect">
            <a:avLst/>
          </a:prstGeom>
          <a:solidFill>
            <a:srgbClr val="FF0000"/>
          </a:solidFill>
        </p:spPr>
        <p:txBody>
          <a:bodyPr wrap="square" rtlCol="0">
            <a:spAutoFit/>
          </a:bodyPr>
          <a:lstStyle/>
          <a:p>
            <a:r>
              <a:rPr lang="en-US" sz="2000" b="1" dirty="0" smtClean="0">
                <a:solidFill>
                  <a:schemeClr val="bg1"/>
                </a:solidFill>
              </a:rPr>
              <a:t>IS THIS WHAT THE TOOL DOES</a:t>
            </a:r>
            <a:endParaRPr lang="en-US" sz="2000" b="1" dirty="0">
              <a:solidFill>
                <a:schemeClr val="bg1"/>
              </a:solidFill>
            </a:endParaRPr>
          </a:p>
        </p:txBody>
      </p:sp>
    </p:spTree>
    <p:extLst>
      <p:ext uri="{BB962C8B-B14F-4D97-AF65-F5344CB8AC3E}">
        <p14:creationId xmlns:p14="http://schemas.microsoft.com/office/powerpoint/2010/main" val="158390551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Loss Given Default (LGD)</a:t>
            </a:r>
            <a:r>
              <a:rPr lang="en-US" sz="2800" dirty="0"/>
              <a:t/>
            </a:r>
            <a:br>
              <a:rPr lang="en-US" sz="2800" dirty="0"/>
            </a:br>
            <a:r>
              <a:rPr lang="en-US" sz="2000" i="1" dirty="0"/>
              <a:t>Conditional LGD : Developing Forward Looking </a:t>
            </a:r>
            <a:r>
              <a:rPr lang="en-US" sz="2000" i="1" dirty="0" err="1"/>
              <a:t>PiT</a:t>
            </a:r>
            <a:r>
              <a:rPr lang="en-US" sz="2000" i="1" dirty="0"/>
              <a:t> LGD</a:t>
            </a:r>
            <a:r>
              <a:rPr lang="en-US" sz="2800" dirty="0"/>
              <a:t/>
            </a:r>
            <a:br>
              <a:rPr lang="en-US" sz="2800" dirty="0"/>
            </a:br>
            <a:endParaRPr lang="en-IN" sz="2400" i="1" dirty="0"/>
          </a:p>
        </p:txBody>
      </p:sp>
      <p:sp>
        <p:nvSpPr>
          <p:cNvPr id="14" name="Rectangle 13"/>
          <p:cNvSpPr/>
          <p:nvPr/>
        </p:nvSpPr>
        <p:spPr>
          <a:xfrm>
            <a:off x="386982" y="1073003"/>
            <a:ext cx="9231682" cy="459355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The </a:t>
            </a:r>
            <a:r>
              <a:rPr lang="en-IN" sz="1300" dirty="0">
                <a:solidFill>
                  <a:schemeClr val="tx1"/>
                </a:solidFill>
                <a:latin typeface="Times New Roman" pitchFamily="18" charset="0"/>
                <a:cs typeface="Times New Roman" pitchFamily="18" charset="0"/>
              </a:rPr>
              <a:t>Bank has evaluated different feasible options keeping in view the availability of data and practicality of methodologies to be </a:t>
            </a:r>
            <a:r>
              <a:rPr lang="en-IN" sz="1300" dirty="0" smtClean="0">
                <a:solidFill>
                  <a:schemeClr val="tx1"/>
                </a:solidFill>
                <a:latin typeface="Times New Roman" pitchFamily="18" charset="0"/>
                <a:cs typeface="Times New Roman" pitchFamily="18" charset="0"/>
              </a:rPr>
              <a:t>used. </a:t>
            </a:r>
            <a:r>
              <a:rPr lang="en-IN" sz="1300" dirty="0">
                <a:solidFill>
                  <a:schemeClr val="tx1"/>
                </a:solidFill>
                <a:latin typeface="Times New Roman" pitchFamily="18" charset="0"/>
                <a:cs typeface="Times New Roman" pitchFamily="18" charset="0"/>
              </a:rPr>
              <a:t>It needs to be kept in mind that IFRS 9 </a:t>
            </a:r>
            <a:r>
              <a:rPr lang="en-IN" sz="1300" dirty="0" smtClean="0">
                <a:solidFill>
                  <a:schemeClr val="tx1"/>
                </a:solidFill>
                <a:latin typeface="Times New Roman" pitchFamily="18" charset="0"/>
                <a:cs typeface="Times New Roman" pitchFamily="18" charset="0"/>
              </a:rPr>
              <a:t>modelling </a:t>
            </a:r>
            <a:r>
              <a:rPr lang="en-IN" sz="1300" dirty="0">
                <a:solidFill>
                  <a:schemeClr val="tx1"/>
                </a:solidFill>
                <a:latin typeface="Times New Roman" pitchFamily="18" charset="0"/>
                <a:cs typeface="Times New Roman" pitchFamily="18" charset="0"/>
              </a:rPr>
              <a:t>methodology is an evolving area with relatively little prescriptive regulatory guidance on </a:t>
            </a:r>
            <a:r>
              <a:rPr lang="en-IN" sz="1300" dirty="0" smtClean="0">
                <a:solidFill>
                  <a:schemeClr val="tx1"/>
                </a:solidFill>
                <a:latin typeface="Times New Roman" pitchFamily="18" charset="0"/>
                <a:cs typeface="Times New Roman" pitchFamily="18" charset="0"/>
              </a:rPr>
              <a:t>modelling </a:t>
            </a:r>
            <a:r>
              <a:rPr lang="en-IN" sz="1300" dirty="0">
                <a:solidFill>
                  <a:schemeClr val="tx1"/>
                </a:solidFill>
                <a:latin typeface="Times New Roman" pitchFamily="18" charset="0"/>
                <a:cs typeface="Times New Roman" pitchFamily="18" charset="0"/>
              </a:rPr>
              <a:t>methods</a:t>
            </a:r>
            <a:r>
              <a:rPr lang="en-IN" sz="1300" dirty="0" smtClean="0">
                <a:solidFill>
                  <a:schemeClr val="tx1"/>
                </a:solidFill>
                <a:latin typeface="Times New Roman" pitchFamily="18" charset="0"/>
                <a:cs typeface="Times New Roman" pitchFamily="18" charset="0"/>
              </a:rPr>
              <a:t>.</a:t>
            </a:r>
          </a:p>
          <a:p>
            <a:pPr marL="185738"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Undoubtedly, as different banks in the region and across the globe move towards IFRS 9 compliance, industry accepted practices and methodologies with different levels of sophistication will evolve</a:t>
            </a:r>
            <a:r>
              <a:rPr lang="en-IN" sz="1300" dirty="0" smtClean="0">
                <a:solidFill>
                  <a:schemeClr val="tx1"/>
                </a:solidFill>
                <a:latin typeface="Times New Roman" pitchFamily="18" charset="0"/>
                <a:cs typeface="Times New Roman" pitchFamily="18" charset="0"/>
              </a:rPr>
              <a:t>.</a:t>
            </a:r>
          </a:p>
          <a:p>
            <a:pPr marL="185738"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Given lack of historical data to build internal data driven macroeconomic linkage of LGD estimates to changing macroeconomic environment, the Bank has decided to use closed form function provided by </a:t>
            </a:r>
            <a:r>
              <a:rPr lang="en-IN" sz="1300" dirty="0">
                <a:solidFill>
                  <a:srgbClr val="FF0000"/>
                </a:solidFill>
                <a:latin typeface="Times New Roman" pitchFamily="18" charset="0"/>
                <a:cs typeface="Times New Roman" pitchFamily="18" charset="0"/>
              </a:rPr>
              <a:t>Frye Jacob </a:t>
            </a:r>
            <a:r>
              <a:rPr lang="en-IN" sz="1300" dirty="0" smtClean="0">
                <a:solidFill>
                  <a:srgbClr val="FF0000"/>
                </a:solidFill>
                <a:latin typeface="Times New Roman" pitchFamily="18" charset="0"/>
                <a:cs typeface="Times New Roman" pitchFamily="18" charset="0"/>
              </a:rPr>
              <a:t>Equation*  </a:t>
            </a:r>
            <a:r>
              <a:rPr lang="en-IN" sz="1300" dirty="0">
                <a:solidFill>
                  <a:srgbClr val="FF0000"/>
                </a:solidFill>
                <a:latin typeface="Times New Roman" pitchFamily="18" charset="0"/>
                <a:cs typeface="Times New Roman" pitchFamily="18" charset="0"/>
              </a:rPr>
              <a:t>(Frye, </a:t>
            </a:r>
            <a:r>
              <a:rPr lang="en-IN" sz="1300" dirty="0" smtClean="0">
                <a:solidFill>
                  <a:srgbClr val="FF0000"/>
                </a:solidFill>
                <a:latin typeface="Times New Roman" pitchFamily="18" charset="0"/>
                <a:cs typeface="Times New Roman" pitchFamily="18" charset="0"/>
              </a:rPr>
              <a:t>2011).</a:t>
            </a:r>
            <a:endParaRPr lang="en-IN" sz="1300" dirty="0">
              <a:solidFill>
                <a:srgbClr val="FF0000"/>
              </a:solidFill>
              <a:latin typeface="Times New Roman" pitchFamily="18" charset="0"/>
              <a:cs typeface="Times New Roman" pitchFamily="18" charset="0"/>
            </a:endParaRPr>
          </a:p>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Therefore</a:t>
            </a:r>
            <a:r>
              <a:rPr lang="en-IN" sz="1300" dirty="0">
                <a:solidFill>
                  <a:schemeClr val="tx1"/>
                </a:solidFill>
                <a:latin typeface="Times New Roman" pitchFamily="18" charset="0"/>
                <a:cs typeface="Times New Roman" pitchFamily="18" charset="0"/>
              </a:rPr>
              <a:t>, the design proposed in this document represents, in the view of the Bank, is the best option that would enable successful transition to IFRS 9 </a:t>
            </a:r>
            <a:r>
              <a:rPr lang="en-IN" sz="1300" dirty="0" smtClean="0">
                <a:solidFill>
                  <a:schemeClr val="tx1"/>
                </a:solidFill>
                <a:latin typeface="Times New Roman" pitchFamily="18" charset="0"/>
                <a:cs typeface="Times New Roman" pitchFamily="18" charset="0"/>
              </a:rPr>
              <a:t>impairment </a:t>
            </a:r>
            <a:r>
              <a:rPr lang="en-IN" sz="1300" dirty="0">
                <a:solidFill>
                  <a:schemeClr val="tx1"/>
                </a:solidFill>
                <a:latin typeface="Times New Roman" pitchFamily="18" charset="0"/>
                <a:cs typeface="Times New Roman" pitchFamily="18" charset="0"/>
              </a:rPr>
              <a:t>while meeting the requirements of the guidelines in letter as well as in spirit. </a:t>
            </a:r>
          </a:p>
          <a:p>
            <a:pPr eaLnBrk="0" hangingPunct="0">
              <a:lnSpc>
                <a:spcPct val="90000"/>
              </a:lnSpc>
              <a:spcBef>
                <a:spcPct val="60000"/>
              </a:spcBef>
            </a:pPr>
            <a:endParaRPr lang="en-IN" sz="1300" dirty="0" smtClean="0">
              <a:solidFill>
                <a:schemeClr val="tx1"/>
              </a:solidFill>
              <a:latin typeface="Times New Roman" pitchFamily="18" charset="0"/>
              <a:cs typeface="Times New Roman" pitchFamily="18" charset="0"/>
            </a:endParaRPr>
          </a:p>
          <a:p>
            <a:pPr eaLnBrk="0" hangingPunct="0">
              <a:lnSpc>
                <a:spcPct val="90000"/>
              </a:lnSpc>
              <a:spcBef>
                <a:spcPct val="60000"/>
              </a:spcBef>
            </a:pPr>
            <a:r>
              <a:rPr lang="en-IN" sz="1300" b="1" dirty="0" smtClean="0">
                <a:solidFill>
                  <a:schemeClr val="tx1"/>
                </a:solidFill>
                <a:latin typeface="Times New Roman" pitchFamily="18" charset="0"/>
                <a:cs typeface="Times New Roman" pitchFamily="18" charset="0"/>
              </a:rPr>
              <a:t>Jacob Frye Approach</a:t>
            </a:r>
          </a:p>
          <a:p>
            <a:pPr marL="185738" lvl="0" indent="-185738" eaLnBrk="0" hangingPunct="0">
              <a:lnSpc>
                <a:spcPct val="90000"/>
              </a:lnSpc>
              <a:spcBef>
                <a:spcPct val="60000"/>
              </a:spcBef>
              <a:buFont typeface="Times New Roman" panose="02020603050405020304" pitchFamily="18" charset="0"/>
              <a:buChar char="•"/>
            </a:pPr>
            <a:r>
              <a:rPr lang="en-US" sz="1300" dirty="0">
                <a:solidFill>
                  <a:schemeClr val="tx1"/>
                </a:solidFill>
                <a:latin typeface="Times New Roman" pitchFamily="18" charset="0"/>
                <a:cs typeface="Times New Roman" pitchFamily="18" charset="0"/>
              </a:rPr>
              <a:t>Federal Reserve Bank of Chicago has published a paper defining the approach for conditioning the LGD provided the PD is conditioned based on </a:t>
            </a:r>
            <a:r>
              <a:rPr lang="en-US" sz="1300" dirty="0" err="1">
                <a:solidFill>
                  <a:schemeClr val="tx1"/>
                </a:solidFill>
                <a:latin typeface="Times New Roman" pitchFamily="18" charset="0"/>
                <a:cs typeface="Times New Roman" pitchFamily="18" charset="0"/>
              </a:rPr>
              <a:t>Vasicek</a:t>
            </a:r>
            <a:r>
              <a:rPr lang="en-US" sz="1300" dirty="0">
                <a:solidFill>
                  <a:schemeClr val="tx1"/>
                </a:solidFill>
                <a:latin typeface="Times New Roman" pitchFamily="18" charset="0"/>
                <a:cs typeface="Times New Roman" pitchFamily="18" charset="0"/>
              </a:rPr>
              <a:t> model. The approach defines a closed form solution to derive conditional LGD </a:t>
            </a:r>
            <a:r>
              <a:rPr lang="en-US" sz="1300" dirty="0" smtClean="0">
                <a:solidFill>
                  <a:schemeClr val="tx1"/>
                </a:solidFill>
                <a:latin typeface="Times New Roman" pitchFamily="18" charset="0"/>
                <a:cs typeface="Times New Roman" pitchFamily="18" charset="0"/>
              </a:rPr>
              <a:t>estimates. </a:t>
            </a:r>
          </a:p>
          <a:p>
            <a:pPr marL="185738" lvl="0" indent="-185738" eaLnBrk="0" hangingPunct="0">
              <a:lnSpc>
                <a:spcPct val="90000"/>
              </a:lnSpc>
              <a:spcBef>
                <a:spcPct val="60000"/>
              </a:spcBef>
              <a:buFont typeface="Times New Roman" panose="02020603050405020304" pitchFamily="18" charset="0"/>
              <a:buChar char="•"/>
            </a:pPr>
            <a:r>
              <a:rPr lang="en-IN" sz="1300" dirty="0">
                <a:solidFill>
                  <a:schemeClr val="tx1"/>
                </a:solidFill>
                <a:latin typeface="Times New Roman" pitchFamily="18" charset="0"/>
                <a:cs typeface="Times New Roman" pitchFamily="18" charset="0"/>
              </a:rPr>
              <a:t>The equation predicts LGD as a function of default rate. The equation proposes that LGD of a given facility has a linear relationship with the default risk of an obligor</a:t>
            </a:r>
            <a:r>
              <a:rPr lang="en-IN" sz="1300" dirty="0" smtClean="0">
                <a:solidFill>
                  <a:schemeClr val="tx1"/>
                </a:solidFill>
                <a:latin typeface="Times New Roman" pitchFamily="18" charset="0"/>
                <a:cs typeface="Times New Roman" pitchFamily="18" charset="0"/>
              </a:rPr>
              <a:t>.</a:t>
            </a:r>
            <a:endParaRPr lang="en-US" sz="1400" dirty="0">
              <a:solidFill>
                <a:srgbClr val="002060"/>
              </a:solidFill>
              <a:latin typeface="Times New Roman" panose="02020603050405020304" pitchFamily="18" charset="0"/>
              <a:cs typeface="Times New Roman" panose="02020603050405020304" pitchFamily="18" charset="0"/>
            </a:endParaRPr>
          </a:p>
          <a:p>
            <a:pPr marL="185738"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It essentially uses </a:t>
            </a:r>
            <a:r>
              <a:rPr lang="en-US" sz="1300" dirty="0" err="1" smtClean="0">
                <a:solidFill>
                  <a:schemeClr val="tx1"/>
                </a:solidFill>
                <a:latin typeface="Times New Roman" pitchFamily="18" charset="0"/>
                <a:cs typeface="Times New Roman" pitchFamily="18" charset="0"/>
              </a:rPr>
              <a:t>Vasicek</a:t>
            </a:r>
            <a:r>
              <a:rPr lang="en-US" sz="1300" dirty="0" smtClean="0">
                <a:solidFill>
                  <a:schemeClr val="tx1"/>
                </a:solidFill>
                <a:latin typeface="Times New Roman" pitchFamily="18" charset="0"/>
                <a:cs typeface="Times New Roman" pitchFamily="18" charset="0"/>
              </a:rPr>
              <a:t> </a:t>
            </a:r>
            <a:r>
              <a:rPr lang="en-US" sz="1300" dirty="0">
                <a:solidFill>
                  <a:schemeClr val="tx1"/>
                </a:solidFill>
                <a:latin typeface="Times New Roman" pitchFamily="18" charset="0"/>
                <a:cs typeface="Times New Roman" pitchFamily="18" charset="0"/>
              </a:rPr>
              <a:t>inputs </a:t>
            </a:r>
            <a:r>
              <a:rPr lang="en-US" sz="1300" dirty="0" smtClean="0">
                <a:solidFill>
                  <a:schemeClr val="tx1"/>
                </a:solidFill>
                <a:latin typeface="Times New Roman" pitchFamily="18" charset="0"/>
                <a:cs typeface="Times New Roman" pitchFamily="18" charset="0"/>
              </a:rPr>
              <a:t>and factors which </a:t>
            </a:r>
            <a:r>
              <a:rPr lang="en-US" sz="1300" dirty="0">
                <a:solidFill>
                  <a:schemeClr val="tx1"/>
                </a:solidFill>
                <a:latin typeface="Times New Roman" pitchFamily="18" charset="0"/>
                <a:cs typeface="Times New Roman" pitchFamily="18" charset="0"/>
              </a:rPr>
              <a:t>are </a:t>
            </a:r>
            <a:r>
              <a:rPr lang="en-US" sz="1300" dirty="0" smtClean="0">
                <a:solidFill>
                  <a:schemeClr val="tx1"/>
                </a:solidFill>
                <a:latin typeface="Times New Roman" pitchFamily="18" charset="0"/>
                <a:cs typeface="Times New Roman" pitchFamily="18" charset="0"/>
              </a:rPr>
              <a:t>also used </a:t>
            </a:r>
            <a:r>
              <a:rPr lang="en-US" sz="1300" dirty="0">
                <a:solidFill>
                  <a:schemeClr val="tx1"/>
                </a:solidFill>
                <a:latin typeface="Times New Roman" pitchFamily="18" charset="0"/>
                <a:cs typeface="Times New Roman" pitchFamily="18" charset="0"/>
              </a:rPr>
              <a:t>as </a:t>
            </a:r>
            <a:r>
              <a:rPr lang="en-US" sz="1300" dirty="0" smtClean="0">
                <a:solidFill>
                  <a:schemeClr val="tx1"/>
                </a:solidFill>
                <a:latin typeface="Times New Roman" pitchFamily="18" charset="0"/>
                <a:cs typeface="Times New Roman" pitchFamily="18" charset="0"/>
              </a:rPr>
              <a:t>part of </a:t>
            </a:r>
            <a:r>
              <a:rPr lang="en-US" sz="1300" dirty="0">
                <a:solidFill>
                  <a:schemeClr val="tx1"/>
                </a:solidFill>
                <a:latin typeface="Times New Roman" pitchFamily="18" charset="0"/>
                <a:cs typeface="Times New Roman" pitchFamily="18" charset="0"/>
              </a:rPr>
              <a:t>PIT PD estimation </a:t>
            </a:r>
            <a:r>
              <a:rPr lang="en-US" sz="1300" dirty="0" smtClean="0">
                <a:solidFill>
                  <a:schemeClr val="tx1"/>
                </a:solidFill>
                <a:latin typeface="Times New Roman" pitchFamily="18" charset="0"/>
                <a:cs typeface="Times New Roman" pitchFamily="18" charset="0"/>
              </a:rPr>
              <a:t>to derive conditional LGD estimates incorporating macro-economic condition using CCI Factors, Asset Correlation, Marginal PD’s and forward looking </a:t>
            </a:r>
            <a:r>
              <a:rPr lang="en-US" sz="1300" dirty="0" err="1" smtClean="0">
                <a:solidFill>
                  <a:schemeClr val="tx1"/>
                </a:solidFill>
                <a:latin typeface="Times New Roman" pitchFamily="18" charset="0"/>
                <a:cs typeface="Times New Roman" pitchFamily="18" charset="0"/>
              </a:rPr>
              <a:t>PiT</a:t>
            </a:r>
            <a:r>
              <a:rPr lang="en-US" sz="1300" dirty="0" smtClean="0">
                <a:solidFill>
                  <a:schemeClr val="tx1"/>
                </a:solidFill>
                <a:latin typeface="Times New Roman" pitchFamily="18" charset="0"/>
                <a:cs typeface="Times New Roman" pitchFamily="18" charset="0"/>
              </a:rPr>
              <a:t> PD itself as an input.</a:t>
            </a:r>
            <a:endParaRPr lang="en-IN" sz="1300" b="1" dirty="0" smtClean="0">
              <a:solidFill>
                <a:schemeClr val="tx1"/>
              </a:solidFill>
              <a:latin typeface="Times New Roman" pitchFamily="18" charset="0"/>
              <a:cs typeface="Times New Roman" pitchFamily="18" charset="0"/>
            </a:endParaRPr>
          </a:p>
          <a:p>
            <a:pPr eaLnBrk="0" hangingPunct="0">
              <a:lnSpc>
                <a:spcPct val="90000"/>
              </a:lnSpc>
              <a:spcBef>
                <a:spcPct val="60000"/>
              </a:spcBef>
            </a:pPr>
            <a:r>
              <a:rPr lang="en-IN" sz="1300" dirty="0" smtClean="0">
                <a:solidFill>
                  <a:schemeClr val="tx1"/>
                </a:solidFill>
                <a:latin typeface="Times New Roman" pitchFamily="18" charset="0"/>
                <a:cs typeface="Times New Roman" pitchFamily="18" charset="0"/>
              </a:rPr>
              <a:t> </a:t>
            </a:r>
            <a:endParaRPr lang="en-IN" sz="1300" dirty="0">
              <a:solidFill>
                <a:schemeClr val="tx1"/>
              </a:solidFill>
              <a:latin typeface="Times New Roman" pitchFamily="18" charset="0"/>
              <a:cs typeface="Times New Roman" pitchFamily="18" charset="0"/>
            </a:endParaRPr>
          </a:p>
        </p:txBody>
      </p:sp>
      <p:sp>
        <p:nvSpPr>
          <p:cNvPr id="3" name="TextBox 2"/>
          <p:cNvSpPr txBox="1"/>
          <p:nvPr/>
        </p:nvSpPr>
        <p:spPr>
          <a:xfrm>
            <a:off x="244544" y="5890430"/>
            <a:ext cx="9509055" cy="430887"/>
          </a:xfrm>
          <a:prstGeom prst="rect">
            <a:avLst/>
          </a:prstGeom>
          <a:noFill/>
        </p:spPr>
        <p:txBody>
          <a:bodyPr wrap="square" rtlCol="0">
            <a:spAutoFit/>
          </a:bodyPr>
          <a:lstStyle/>
          <a:p>
            <a:r>
              <a:rPr lang="en-US" sz="1050" dirty="0" smtClean="0"/>
              <a:t>*</a:t>
            </a:r>
            <a:r>
              <a:rPr lang="en-US" sz="1050" dirty="0"/>
              <a:t>Credit Loss and Systematic LGD, Submitted to the Journal of Credit Risk, October 6 2011 by Jon Frye </a:t>
            </a:r>
            <a:r>
              <a:rPr lang="en-US" sz="1050" u="sng" dirty="0">
                <a:hlinkClick r:id="rId2"/>
              </a:rPr>
              <a:t>http://www.risk.net/journal-credit-risk/2164245/credit-loss-and-systematic-loss-given-default</a:t>
            </a:r>
            <a:endParaRPr lang="en-GB" sz="1050" dirty="0"/>
          </a:p>
        </p:txBody>
      </p:sp>
      <p:cxnSp>
        <p:nvCxnSpPr>
          <p:cNvPr id="7" name="Straight Connector 6"/>
          <p:cNvCxnSpPr/>
          <p:nvPr/>
        </p:nvCxnSpPr>
        <p:spPr>
          <a:xfrm>
            <a:off x="361581" y="3289017"/>
            <a:ext cx="92316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553200" y="251143"/>
            <a:ext cx="3065463" cy="400110"/>
          </a:xfrm>
          <a:prstGeom prst="rect">
            <a:avLst/>
          </a:prstGeom>
          <a:solidFill>
            <a:srgbClr val="FF0000"/>
          </a:solidFill>
        </p:spPr>
        <p:txBody>
          <a:bodyPr wrap="square" rtlCol="0">
            <a:spAutoFit/>
          </a:bodyPr>
          <a:lstStyle/>
          <a:p>
            <a:r>
              <a:rPr lang="en-US" sz="2000" b="1" dirty="0" smtClean="0">
                <a:solidFill>
                  <a:schemeClr val="bg1"/>
                </a:solidFill>
              </a:rPr>
              <a:t>Vishal to explain to Karl</a:t>
            </a:r>
            <a:endParaRPr lang="en-US" sz="2000" b="1" dirty="0">
              <a:solidFill>
                <a:schemeClr val="bg1"/>
              </a:solidFill>
            </a:endParaRPr>
          </a:p>
        </p:txBody>
      </p:sp>
    </p:spTree>
    <p:extLst>
      <p:ext uri="{BB962C8B-B14F-4D97-AF65-F5344CB8AC3E}">
        <p14:creationId xmlns:p14="http://schemas.microsoft.com/office/powerpoint/2010/main" val="24944213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Conditional LGD : Developing Forward Looking </a:t>
            </a:r>
            <a:r>
              <a:rPr lang="en-US" sz="2000" i="1" dirty="0" err="1" smtClean="0"/>
              <a:t>PiT</a:t>
            </a:r>
            <a:r>
              <a:rPr lang="en-US" sz="2000" i="1" dirty="0" smtClean="0"/>
              <a:t> LGD</a:t>
            </a:r>
            <a:r>
              <a:rPr lang="en-US" sz="2400" dirty="0" smtClean="0"/>
              <a:t/>
            </a:r>
            <a:br>
              <a:rPr lang="en-US" sz="2400" dirty="0" smtClean="0"/>
            </a:br>
            <a:endParaRPr lang="en-IN" sz="2400" i="1" dirty="0"/>
          </a:p>
        </p:txBody>
      </p:sp>
      <mc:AlternateContent xmlns:mc="http://schemas.openxmlformats.org/markup-compatibility/2006" xmlns:a14="http://schemas.microsoft.com/office/drawing/2010/main">
        <mc:Choice Requires="a14">
          <p:sp>
            <p:nvSpPr>
              <p:cNvPr id="4" name="Rectangle 3"/>
              <p:cNvSpPr/>
              <p:nvPr/>
            </p:nvSpPr>
            <p:spPr>
              <a:xfrm>
                <a:off x="287337" y="1117302"/>
                <a:ext cx="9218167" cy="504675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300" b="1" dirty="0" smtClean="0">
                    <a:solidFill>
                      <a:schemeClr val="tx1"/>
                    </a:solidFill>
                    <a:latin typeface="Times New Roman" pitchFamily="18" charset="0"/>
                    <a:cs typeface="Times New Roman" pitchFamily="18" charset="0"/>
                  </a:rPr>
                  <a:t>Jacob Frye Equation</a:t>
                </a:r>
                <a:endParaRPr lang="en-IN" sz="1300" b="1" dirty="0">
                  <a:solidFill>
                    <a:schemeClr val="tx1"/>
                  </a:solidFill>
                  <a:latin typeface="Times New Roman" pitchFamily="18" charset="0"/>
                  <a:cs typeface="Times New Roman" pitchFamily="18" charset="0"/>
                </a:endParaRPr>
              </a:p>
              <a:p>
                <a:pPr marL="185738" lvl="0" indent="-185738" eaLnBrk="0" hangingPunct="0">
                  <a:lnSpc>
                    <a:spcPct val="90000"/>
                  </a:lnSpc>
                  <a:spcBef>
                    <a:spcPct val="60000"/>
                  </a:spcBef>
                  <a:buFont typeface="Times New Roman" panose="02020603050405020304" pitchFamily="18" charset="0"/>
                  <a:buChar char="•"/>
                </a:pPr>
                <a:r>
                  <a:rPr lang="en-US" sz="1300" dirty="0">
                    <a:solidFill>
                      <a:schemeClr val="tx1"/>
                    </a:solidFill>
                    <a:latin typeface="Times New Roman" pitchFamily="18" charset="0"/>
                    <a:cs typeface="Times New Roman" pitchFamily="18" charset="0"/>
                  </a:rPr>
                  <a:t>S</a:t>
                </a:r>
                <a:r>
                  <a:rPr lang="en-US" sz="1300" dirty="0" smtClean="0">
                    <a:solidFill>
                      <a:schemeClr val="tx1"/>
                    </a:solidFill>
                    <a:latin typeface="Times New Roman" pitchFamily="18" charset="0"/>
                    <a:cs typeface="Times New Roman" pitchFamily="18" charset="0"/>
                  </a:rPr>
                  <a:t>tep-by-step approach to Frye Jacob Equation is explained below:</a:t>
                </a:r>
              </a:p>
              <a:p>
                <a:pPr marL="185738" lvl="0"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Expected Loss is computed using the Marginal TTC PD’s and Unconditional Workout LGD’s</a:t>
                </a:r>
                <a:endParaRPr lang="en-IN" sz="1300" dirty="0" smtClean="0">
                  <a:solidFill>
                    <a:schemeClr val="tx1"/>
                  </a:solidFill>
                  <a:latin typeface="Times New Roman" pitchFamily="18" charset="0"/>
                  <a:cs typeface="Times New Roman" pitchFamily="18" charset="0"/>
                </a:endParaRPr>
              </a:p>
              <a:p>
                <a:pPr eaLnBrk="0" hangingPunct="0">
                  <a:lnSpc>
                    <a:spcPct val="90000"/>
                  </a:lnSpc>
                  <a:spcBef>
                    <a:spcPct val="60000"/>
                  </a:spcBef>
                </a:pPr>
                <a:r>
                  <a:rPr lang="en-IN" sz="1300" dirty="0" smtClean="0">
                    <a:solidFill>
                      <a:schemeClr val="tx1"/>
                    </a:solidFill>
                    <a:latin typeface="Times New Roman" pitchFamily="18" charset="0"/>
                    <a:cs typeface="Times New Roman" pitchFamily="18" charset="0"/>
                  </a:rPr>
                  <a:t>		   </a:t>
                </a:r>
                <a14:m>
                  <m:oMath xmlns:m="http://schemas.openxmlformats.org/officeDocument/2006/math">
                    <m:r>
                      <a:rPr lang="en-US" sz="1400" i="1">
                        <a:solidFill>
                          <a:schemeClr val="tx1"/>
                        </a:solidFill>
                        <a:latin typeface="Cambria Math" panose="02040503050406030204" pitchFamily="18" charset="0"/>
                      </a:rPr>
                      <m:t>𝐸𝐿</m:t>
                    </m:r>
                    <m:r>
                      <a:rPr lang="en-US" sz="1400" i="1">
                        <a:solidFill>
                          <a:schemeClr val="tx1"/>
                        </a:solidFill>
                        <a:latin typeface="Cambria Math" panose="02040503050406030204" pitchFamily="18" charset="0"/>
                      </a:rPr>
                      <m:t>=</m:t>
                    </m:r>
                    <m:r>
                      <a:rPr lang="en-US" sz="1400" b="0" i="1" smtClean="0">
                        <a:solidFill>
                          <a:schemeClr val="tx1"/>
                        </a:solidFill>
                        <a:latin typeface="Cambria Math" panose="02040503050406030204" pitchFamily="18" charset="0"/>
                      </a:rPr>
                      <m:t>𝑀𝑎𝑟𝑔𝑖𝑛𝑎𝑙</m:t>
                    </m:r>
                    <m:r>
                      <a:rPr lang="en-US" sz="1400" b="0" i="1" smtClean="0">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𝑇𝑇𝐶</m:t>
                    </m:r>
                    <m:r>
                      <a:rPr lang="en-US" sz="1400" i="1">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𝑃𝐷</m:t>
                    </m:r>
                    <m:r>
                      <a:rPr lang="en-US" sz="1400" i="1">
                        <a:solidFill>
                          <a:schemeClr val="tx1"/>
                        </a:solidFill>
                        <a:latin typeface="Cambria Math" panose="02040503050406030204" pitchFamily="18" charset="0"/>
                      </a:rPr>
                      <m:t>∗</m:t>
                    </m:r>
                    <m:r>
                      <a:rPr lang="en-US" sz="1400" i="1">
                        <a:solidFill>
                          <a:schemeClr val="tx1"/>
                        </a:solidFill>
                        <a:latin typeface="Cambria Math" panose="02040503050406030204" pitchFamily="18" charset="0"/>
                      </a:rPr>
                      <m:t>𝑈𝑛𝑐𝑜𝑛𝑑𝑖𝑡𝑖𝑜𝑛𝑎𝑙</m:t>
                    </m:r>
                    <m:r>
                      <a:rPr lang="en-US" sz="1400" i="1">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𝐿𝐺𝐷</m:t>
                    </m:r>
                    <m:r>
                      <a:rPr lang="en-US" sz="1400" i="1">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𝑒𝑠𝑡𝑖𝑚𝑎𝑡𝑒</m:t>
                    </m:r>
                  </m:oMath>
                </a14:m>
                <a:endParaRPr lang="en-US" sz="1400" dirty="0" smtClean="0">
                  <a:solidFill>
                    <a:schemeClr val="tx1"/>
                  </a:solidFill>
                  <a:latin typeface="Times New Roman" pitchFamily="18" charset="0"/>
                  <a:cs typeface="Times New Roman" pitchFamily="18" charset="0"/>
                </a:endParaRPr>
              </a:p>
              <a:p>
                <a:pPr eaLnBrk="0" hangingPunct="0">
                  <a:lnSpc>
                    <a:spcPct val="90000"/>
                  </a:lnSpc>
                  <a:spcBef>
                    <a:spcPct val="60000"/>
                  </a:spcBef>
                </a:pPr>
                <a:r>
                  <a:rPr lang="en-US" sz="1400" dirty="0" smtClean="0">
                    <a:solidFill>
                      <a:schemeClr val="tx1"/>
                    </a:solidFill>
                    <a:latin typeface="Times New Roman" pitchFamily="18" charset="0"/>
                    <a:cs typeface="Times New Roman" pitchFamily="18" charset="0"/>
                  </a:rPr>
                  <a:t>Where,</a:t>
                </a:r>
              </a:p>
              <a:p>
                <a:pPr eaLnBrk="0" hangingPunct="0">
                  <a:lnSpc>
                    <a:spcPct val="90000"/>
                  </a:lnSpc>
                  <a:spcBef>
                    <a:spcPct val="60000"/>
                  </a:spcBef>
                </a:pPr>
                <a:r>
                  <a:rPr lang="en-US" sz="1300" dirty="0">
                    <a:solidFill>
                      <a:schemeClr val="tx1"/>
                    </a:solidFill>
                    <a:latin typeface="Times New Roman" pitchFamily="18" charset="0"/>
                    <a:cs typeface="Times New Roman" pitchFamily="18" charset="0"/>
                  </a:rPr>
                  <a:t>	</a:t>
                </a:r>
                <a:r>
                  <a:rPr lang="en-IN" sz="1300" dirty="0" smtClean="0">
                    <a:solidFill>
                      <a:schemeClr val="tx1"/>
                    </a:solidFill>
                    <a:latin typeface="Times New Roman" panose="02020603050405020304" pitchFamily="18" charset="0"/>
                    <a:cs typeface="Times New Roman" panose="02020603050405020304" pitchFamily="18" charset="0"/>
                  </a:rPr>
                  <a:t>Marginal </a:t>
                </a:r>
                <a:r>
                  <a:rPr lang="en-IN" sz="1300" dirty="0">
                    <a:solidFill>
                      <a:schemeClr val="tx1"/>
                    </a:solidFill>
                    <a:latin typeface="Times New Roman" panose="02020603050405020304" pitchFamily="18" charset="0"/>
                    <a:cs typeface="Times New Roman" panose="02020603050405020304" pitchFamily="18" charset="0"/>
                  </a:rPr>
                  <a:t>TTC PD is derived from QNB PD Term </a:t>
                </a:r>
                <a:r>
                  <a:rPr lang="en-IN" sz="1300" dirty="0" smtClean="0">
                    <a:solidFill>
                      <a:schemeClr val="tx1"/>
                    </a:solidFill>
                    <a:latin typeface="Times New Roman" panose="02020603050405020304" pitchFamily="18" charset="0"/>
                    <a:cs typeface="Times New Roman" panose="02020603050405020304" pitchFamily="18" charset="0"/>
                  </a:rPr>
                  <a:t>Structure</a:t>
                </a:r>
                <a:endParaRPr lang="en-GB" sz="1300" dirty="0">
                  <a:solidFill>
                    <a:schemeClr val="tx1"/>
                  </a:solidFill>
                  <a:latin typeface="Times New Roman" panose="02020603050405020304" pitchFamily="18" charset="0"/>
                  <a:cs typeface="Times New Roman" panose="02020603050405020304" pitchFamily="18" charset="0"/>
                </a:endParaRPr>
              </a:p>
              <a:p>
                <a:r>
                  <a:rPr lang="en-US" sz="1300" dirty="0">
                    <a:solidFill>
                      <a:schemeClr val="tx1"/>
                    </a:solidFill>
                    <a:latin typeface="Times New Roman" panose="02020603050405020304" pitchFamily="18" charset="0"/>
                    <a:cs typeface="Times New Roman" panose="02020603050405020304" pitchFamily="18" charset="0"/>
                  </a:rPr>
                  <a:t>	</a:t>
                </a:r>
                <a:r>
                  <a:rPr lang="en-US" sz="1300" dirty="0" smtClean="0">
                    <a:solidFill>
                      <a:schemeClr val="tx1"/>
                    </a:solidFill>
                    <a:latin typeface="Times New Roman" pitchFamily="18" charset="0"/>
                    <a:cs typeface="Times New Roman" pitchFamily="18" charset="0"/>
                  </a:rPr>
                  <a:t>Unconditional LGD Estimate is derived based on the methodology elaborated in section above</a:t>
                </a:r>
              </a:p>
              <a:p>
                <a:pPr marL="185738" lvl="0" indent="-185738" eaLnBrk="0" hangingPunct="0">
                  <a:lnSpc>
                    <a:spcPct val="90000"/>
                  </a:lnSpc>
                  <a:spcBef>
                    <a:spcPct val="60000"/>
                  </a:spcBef>
                  <a:buFont typeface="Times New Roman" panose="02020603050405020304" pitchFamily="18" charset="0"/>
                  <a:buChar char="•"/>
                </a:pPr>
                <a:r>
                  <a:rPr lang="en-US" sz="1300" dirty="0" smtClean="0">
                    <a:solidFill>
                      <a:schemeClr val="tx1"/>
                    </a:solidFill>
                    <a:latin typeface="Times New Roman" pitchFamily="18" charset="0"/>
                    <a:cs typeface="Times New Roman" pitchFamily="18" charset="0"/>
                  </a:rPr>
                  <a:t>Once the EL is computed a Risk Index Factor (k-Factor) is determined using the logic below</a:t>
                </a:r>
              </a:p>
              <a:p>
                <a:pPr lvl="0" eaLnBrk="0" hangingPunct="0">
                  <a:lnSpc>
                    <a:spcPct val="90000"/>
                  </a:lnSpc>
                  <a:spcBef>
                    <a:spcPct val="60000"/>
                  </a:spcBef>
                </a:pPr>
                <a:r>
                  <a:rPr lang="en-US" sz="1300" dirty="0">
                    <a:solidFill>
                      <a:schemeClr val="tx1"/>
                    </a:solidFill>
                    <a:latin typeface="Times New Roman" pitchFamily="18" charset="0"/>
                    <a:cs typeface="Times New Roman" pitchFamily="18" charset="0"/>
                  </a:rPr>
                  <a:t>	</a:t>
                </a:r>
                <a:r>
                  <a:rPr lang="en-US" sz="1300" dirty="0" smtClean="0">
                    <a:solidFill>
                      <a:schemeClr val="tx1"/>
                    </a:solidFill>
                    <a:latin typeface="Times New Roman" pitchFamily="18" charset="0"/>
                    <a:cs typeface="Times New Roman" pitchFamily="18" charset="0"/>
                  </a:rPr>
                  <a:t>	   </a:t>
                </a:r>
                <a14:m>
                  <m:oMath xmlns:m="http://schemas.openxmlformats.org/officeDocument/2006/math">
                    <m:r>
                      <a:rPr lang="en-US" sz="1400" i="1">
                        <a:solidFill>
                          <a:schemeClr val="tx1"/>
                        </a:solidFill>
                        <a:latin typeface="Cambria Math" panose="02040503050406030204" pitchFamily="18" charset="0"/>
                      </a:rPr>
                      <m:t>𝑘</m:t>
                    </m:r>
                    <m:r>
                      <a:rPr lang="en-US" sz="1400" i="1">
                        <a:solidFill>
                          <a:schemeClr val="tx1"/>
                        </a:solidFill>
                        <a:latin typeface="Cambria Math" panose="02040503050406030204" pitchFamily="18" charset="0"/>
                      </a:rPr>
                      <m:t>= </m:t>
                    </m:r>
                    <m:f>
                      <m:fPr>
                        <m:type m:val="lin"/>
                        <m:ctrlPr>
                          <a:rPr lang="en-GB" sz="1400" i="1">
                            <a:solidFill>
                              <a:schemeClr val="tx1"/>
                            </a:solidFill>
                            <a:latin typeface="Cambria Math" panose="02040503050406030204" pitchFamily="18" charset="0"/>
                          </a:rPr>
                        </m:ctrlPr>
                      </m:fPr>
                      <m:num>
                        <m:r>
                          <a:rPr lang="en-US" sz="1400" i="1">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r>
                              <a:rPr lang="en-US" sz="1400" i="1">
                                <a:solidFill>
                                  <a:schemeClr val="tx1"/>
                                </a:solidFill>
                                <a:latin typeface="Cambria Math" panose="02040503050406030204" pitchFamily="18" charset="0"/>
                              </a:rPr>
                              <m:t>∅</m:t>
                            </m:r>
                          </m:e>
                          <m:sup>
                            <m:r>
                              <a:rPr lang="en-US" sz="1400" i="1">
                                <a:solidFill>
                                  <a:schemeClr val="tx1"/>
                                </a:solidFill>
                                <a:latin typeface="Cambria Math" panose="02040503050406030204" pitchFamily="18" charset="0"/>
                              </a:rPr>
                              <m:t>−1</m:t>
                            </m:r>
                          </m:sup>
                        </m:sSup>
                        <m:d>
                          <m:dPr>
                            <m:ctrlPr>
                              <a:rPr lang="en-GB" sz="1400" i="1">
                                <a:solidFill>
                                  <a:schemeClr val="tx1"/>
                                </a:solidFill>
                                <a:latin typeface="Cambria Math" panose="02040503050406030204" pitchFamily="18" charset="0"/>
                              </a:rPr>
                            </m:ctrlPr>
                          </m:dPr>
                          <m:e>
                            <m:r>
                              <a:rPr lang="en-US" sz="1400" i="1">
                                <a:solidFill>
                                  <a:schemeClr val="tx1"/>
                                </a:solidFill>
                                <a:latin typeface="Cambria Math" panose="02040503050406030204" pitchFamily="18" charset="0"/>
                              </a:rPr>
                              <m:t>𝑃𝐷</m:t>
                            </m:r>
                          </m:e>
                        </m:d>
                        <m:r>
                          <a:rPr lang="en-US" sz="1400" i="1">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r>
                              <a:rPr lang="en-US" sz="1400" i="1">
                                <a:solidFill>
                                  <a:schemeClr val="tx1"/>
                                </a:solidFill>
                                <a:latin typeface="Cambria Math" panose="02040503050406030204" pitchFamily="18" charset="0"/>
                              </a:rPr>
                              <m:t>∅</m:t>
                            </m:r>
                          </m:e>
                          <m:sup>
                            <m:r>
                              <a:rPr lang="en-US" sz="1400" i="1">
                                <a:solidFill>
                                  <a:schemeClr val="tx1"/>
                                </a:solidFill>
                                <a:latin typeface="Cambria Math" panose="02040503050406030204" pitchFamily="18" charset="0"/>
                              </a:rPr>
                              <m:t>−1</m:t>
                            </m:r>
                          </m:sup>
                        </m:sSup>
                        <m:d>
                          <m:dPr>
                            <m:ctrlPr>
                              <a:rPr lang="en-GB" sz="1400" i="1">
                                <a:solidFill>
                                  <a:schemeClr val="tx1"/>
                                </a:solidFill>
                                <a:latin typeface="Cambria Math" panose="02040503050406030204" pitchFamily="18" charset="0"/>
                              </a:rPr>
                            </m:ctrlPr>
                          </m:dPr>
                          <m:e>
                            <m:r>
                              <a:rPr lang="en-US" sz="1400" i="1">
                                <a:solidFill>
                                  <a:schemeClr val="tx1"/>
                                </a:solidFill>
                                <a:latin typeface="Cambria Math" panose="02040503050406030204" pitchFamily="18" charset="0"/>
                              </a:rPr>
                              <m:t>𝐸𝐿</m:t>
                            </m:r>
                          </m:e>
                        </m:d>
                        <m:r>
                          <a:rPr lang="en-US" sz="1400" i="1">
                            <a:solidFill>
                              <a:schemeClr val="tx1"/>
                            </a:solidFill>
                            <a:latin typeface="Cambria Math" panose="02040503050406030204" pitchFamily="18" charset="0"/>
                          </a:rPr>
                          <m:t>)</m:t>
                        </m:r>
                      </m:num>
                      <m:den>
                        <m:rad>
                          <m:radPr>
                            <m:degHide m:val="on"/>
                            <m:ctrlPr>
                              <a:rPr lang="en-GB" sz="1400" i="1">
                                <a:solidFill>
                                  <a:schemeClr val="tx1"/>
                                </a:solidFill>
                                <a:latin typeface="Cambria Math" panose="02040503050406030204" pitchFamily="18" charset="0"/>
                              </a:rPr>
                            </m:ctrlPr>
                          </m:radPr>
                          <m:deg/>
                          <m:e>
                            <m:r>
                              <a:rPr lang="en-US" sz="1400" i="1">
                                <a:solidFill>
                                  <a:schemeClr val="tx1"/>
                                </a:solidFill>
                                <a:latin typeface="Cambria Math" panose="02040503050406030204" pitchFamily="18" charset="0"/>
                              </a:rPr>
                              <m:t>1−</m:t>
                            </m:r>
                            <m:r>
                              <a:rPr lang="en-US" sz="1400" i="1">
                                <a:solidFill>
                                  <a:schemeClr val="tx1"/>
                                </a:solidFill>
                                <a:latin typeface="Cambria Math" panose="02040503050406030204" pitchFamily="18" charset="0"/>
                              </a:rPr>
                              <m:t>𝜌</m:t>
                            </m:r>
                          </m:e>
                        </m:rad>
                      </m:den>
                    </m:f>
                  </m:oMath>
                </a14:m>
                <a:endParaRPr lang="en-US" sz="1400" i="1" dirty="0">
                  <a:solidFill>
                    <a:schemeClr val="tx1"/>
                  </a:solidFill>
                  <a:latin typeface="Times New Roman" pitchFamily="18" charset="0"/>
                  <a:cs typeface="Times New Roman" pitchFamily="18" charset="0"/>
                </a:endParaRPr>
              </a:p>
              <a:p>
                <a:pPr eaLnBrk="0" hangingPunct="0">
                  <a:lnSpc>
                    <a:spcPct val="90000"/>
                  </a:lnSpc>
                  <a:spcBef>
                    <a:spcPct val="60000"/>
                  </a:spcBef>
                </a:pPr>
                <a:r>
                  <a:rPr lang="en-US" sz="1300" dirty="0" smtClean="0">
                    <a:solidFill>
                      <a:schemeClr val="tx1"/>
                    </a:solidFill>
                    <a:latin typeface="Times New Roman" panose="02020603050405020304" pitchFamily="18" charset="0"/>
                    <a:cs typeface="Times New Roman" panose="02020603050405020304" pitchFamily="18" charset="0"/>
                  </a:rPr>
                  <a:t>Where,</a:t>
                </a:r>
              </a:p>
              <a:p>
                <a:r>
                  <a:rPr lang="en-US" sz="1300" dirty="0" smtClean="0">
                    <a:solidFill>
                      <a:schemeClr val="tx1"/>
                    </a:solidFill>
                    <a:latin typeface="Times New Roman" panose="02020603050405020304" pitchFamily="18" charset="0"/>
                    <a:cs typeface="Times New Roman" panose="02020603050405020304" pitchFamily="18" charset="0"/>
                  </a:rPr>
                  <a:t>	PD </a:t>
                </a:r>
                <a:r>
                  <a:rPr lang="en-US" sz="1300" dirty="0">
                    <a:solidFill>
                      <a:schemeClr val="tx1"/>
                    </a:solidFill>
                    <a:latin typeface="Times New Roman" panose="02020603050405020304" pitchFamily="18" charset="0"/>
                    <a:cs typeface="Times New Roman" panose="02020603050405020304" pitchFamily="18" charset="0"/>
                  </a:rPr>
                  <a:t>= Through the Cycle </a:t>
                </a:r>
                <a:r>
                  <a:rPr lang="en-US" sz="1300" dirty="0" smtClean="0">
                    <a:solidFill>
                      <a:schemeClr val="tx1"/>
                    </a:solidFill>
                    <a:latin typeface="Times New Roman" panose="02020603050405020304" pitchFamily="18" charset="0"/>
                    <a:cs typeface="Times New Roman" panose="02020603050405020304" pitchFamily="18" charset="0"/>
                  </a:rPr>
                  <a:t>Marginal PD </a:t>
                </a:r>
                <a:endParaRPr lang="en-GB" sz="1300" dirty="0">
                  <a:solidFill>
                    <a:schemeClr val="tx1"/>
                  </a:solidFill>
                  <a:latin typeface="Times New Roman" panose="02020603050405020304" pitchFamily="18" charset="0"/>
                  <a:cs typeface="Times New Roman" panose="02020603050405020304" pitchFamily="18" charset="0"/>
                </a:endParaRPr>
              </a:p>
              <a:p>
                <a:r>
                  <a:rPr lang="en-US" sz="1300" dirty="0" smtClean="0">
                    <a:solidFill>
                      <a:schemeClr val="tx1"/>
                    </a:solidFill>
                    <a:latin typeface="Times New Roman" panose="02020603050405020304" pitchFamily="18" charset="0"/>
                    <a:cs typeface="Times New Roman" panose="02020603050405020304" pitchFamily="18" charset="0"/>
                  </a:rPr>
                  <a:t>	EL </a:t>
                </a:r>
                <a:r>
                  <a:rPr lang="en-US" sz="1300" dirty="0">
                    <a:solidFill>
                      <a:schemeClr val="tx1"/>
                    </a:solidFill>
                    <a:latin typeface="Times New Roman" panose="02020603050405020304" pitchFamily="18" charset="0"/>
                    <a:cs typeface="Times New Roman" panose="02020603050405020304" pitchFamily="18" charset="0"/>
                  </a:rPr>
                  <a:t>= Through the Cycle Expected Loss as discussed above </a:t>
                </a:r>
                <a:endParaRPr lang="en-GB" sz="1300" dirty="0">
                  <a:solidFill>
                    <a:schemeClr val="tx1"/>
                  </a:solidFill>
                  <a:latin typeface="Times New Roman" panose="02020603050405020304" pitchFamily="18" charset="0"/>
                  <a:cs typeface="Times New Roman" panose="02020603050405020304" pitchFamily="18" charset="0"/>
                </a:endParaRPr>
              </a:p>
              <a:p>
                <a:r>
                  <a:rPr lang="en-US" sz="1300" dirty="0" smtClean="0">
                    <a:solidFill>
                      <a:schemeClr val="tx1"/>
                    </a:solidFill>
                    <a:latin typeface="Times New Roman" panose="02020603050405020304" pitchFamily="18" charset="0"/>
                    <a:cs typeface="Times New Roman" panose="02020603050405020304" pitchFamily="18" charset="0"/>
                  </a:rPr>
                  <a:t>	ρ </a:t>
                </a:r>
                <a:r>
                  <a:rPr lang="en-US" sz="1300" dirty="0">
                    <a:solidFill>
                      <a:schemeClr val="tx1"/>
                    </a:solidFill>
                    <a:latin typeface="Times New Roman" panose="02020603050405020304" pitchFamily="18" charset="0"/>
                    <a:cs typeface="Times New Roman" panose="02020603050405020304" pitchFamily="18" charset="0"/>
                  </a:rPr>
                  <a:t>= Asset correlation </a:t>
                </a:r>
                <a:r>
                  <a:rPr lang="en-US" sz="1300" dirty="0" smtClean="0">
                    <a:solidFill>
                      <a:schemeClr val="tx1"/>
                    </a:solidFill>
                    <a:latin typeface="Times New Roman" panose="02020603050405020304" pitchFamily="18" charset="0"/>
                    <a:cs typeface="Times New Roman" panose="02020603050405020304" pitchFamily="18" charset="0"/>
                  </a:rPr>
                  <a:t>– Derived using Basel formulae</a:t>
                </a:r>
                <a:endParaRPr lang="en-GB" sz="1300" dirty="0">
                  <a:solidFill>
                    <a:schemeClr val="tx1"/>
                  </a:solidFill>
                  <a:latin typeface="Times New Roman" panose="02020603050405020304" pitchFamily="18" charset="0"/>
                  <a:cs typeface="Times New Roman" panose="02020603050405020304" pitchFamily="18" charset="0"/>
                </a:endParaRPr>
              </a:p>
              <a:p>
                <a:pPr marL="185738" lvl="0"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After, the </a:t>
                </a:r>
                <a:r>
                  <a:rPr lang="en-IN" sz="1300" dirty="0">
                    <a:solidFill>
                      <a:schemeClr val="tx1"/>
                    </a:solidFill>
                    <a:latin typeface="Times New Roman" pitchFamily="18" charset="0"/>
                    <a:cs typeface="Times New Roman" pitchFamily="18" charset="0"/>
                  </a:rPr>
                  <a:t>risk index is derived it is used to determine the macro adjusted conditional LGD estimated based on the following </a:t>
                </a:r>
                <a:r>
                  <a:rPr lang="en-IN" sz="1300" dirty="0" smtClean="0">
                    <a:solidFill>
                      <a:schemeClr val="tx1"/>
                    </a:solidFill>
                    <a:latin typeface="Times New Roman" pitchFamily="18" charset="0"/>
                    <a:cs typeface="Times New Roman" pitchFamily="18" charset="0"/>
                  </a:rPr>
                  <a:t>formulae:</a:t>
                </a:r>
              </a:p>
              <a:p>
                <a:pPr lvl="0" eaLnBrk="0" hangingPunct="0">
                  <a:lnSpc>
                    <a:spcPct val="90000"/>
                  </a:lnSpc>
                  <a:spcBef>
                    <a:spcPct val="60000"/>
                  </a:spcBef>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rPr>
                        <m:t>𝐶𝑜𝑛𝑑𝑖𝑡𝑖𝑜𝑛𝑎𝑙</m:t>
                      </m:r>
                      <m:r>
                        <a:rPr lang="en-US" sz="1400" i="1" smtClean="0">
                          <a:solidFill>
                            <a:schemeClr val="tx1"/>
                          </a:solidFill>
                          <a:latin typeface="Cambria Math" panose="02040503050406030204" pitchFamily="18" charset="0"/>
                        </a:rPr>
                        <m:t> </m:t>
                      </m:r>
                      <m:r>
                        <a:rPr lang="en-US" sz="1400" i="1" smtClean="0">
                          <a:solidFill>
                            <a:schemeClr val="tx1"/>
                          </a:solidFill>
                          <a:latin typeface="Cambria Math" panose="02040503050406030204" pitchFamily="18" charset="0"/>
                        </a:rPr>
                        <m:t>𝐿𝐺𝐷</m:t>
                      </m:r>
                      <m:r>
                        <a:rPr lang="en-US" sz="1400" i="1" smtClean="0">
                          <a:solidFill>
                            <a:schemeClr val="tx1"/>
                          </a:solidFill>
                          <a:latin typeface="Cambria Math" panose="02040503050406030204" pitchFamily="18" charset="0"/>
                        </a:rPr>
                        <m:t>= </m:t>
                      </m:r>
                      <m:f>
                        <m:fPr>
                          <m:type m:val="lin"/>
                          <m:ctrlPr>
                            <a:rPr lang="en-GB" sz="1400" i="1">
                              <a:solidFill>
                                <a:schemeClr val="tx1"/>
                              </a:solidFill>
                              <a:latin typeface="Cambria Math" panose="02040503050406030204" pitchFamily="18" charset="0"/>
                            </a:rPr>
                          </m:ctrlPr>
                        </m:fPr>
                        <m:num>
                          <m:r>
                            <a:rPr lang="en-US" sz="1400" i="1">
                              <a:solidFill>
                                <a:schemeClr val="tx1"/>
                              </a:solidFill>
                              <a:latin typeface="Cambria Math" panose="02040503050406030204" pitchFamily="18" charset="0"/>
                            </a:rPr>
                            <m:t>∅(</m:t>
                          </m:r>
                          <m:sSup>
                            <m:sSupPr>
                              <m:ctrlPr>
                                <a:rPr lang="en-GB" sz="1400" i="1">
                                  <a:solidFill>
                                    <a:schemeClr val="tx1"/>
                                  </a:solidFill>
                                  <a:latin typeface="Cambria Math" panose="02040503050406030204" pitchFamily="18" charset="0"/>
                                </a:rPr>
                              </m:ctrlPr>
                            </m:sSupPr>
                            <m:e>
                              <m:r>
                                <a:rPr lang="en-US" sz="1400" i="1">
                                  <a:solidFill>
                                    <a:schemeClr val="tx1"/>
                                  </a:solidFill>
                                  <a:latin typeface="Cambria Math" panose="02040503050406030204" pitchFamily="18" charset="0"/>
                                </a:rPr>
                                <m:t>∅</m:t>
                              </m:r>
                            </m:e>
                            <m:sup>
                              <m:r>
                                <a:rPr lang="en-US" sz="1400" i="1">
                                  <a:solidFill>
                                    <a:schemeClr val="tx1"/>
                                  </a:solidFill>
                                  <a:latin typeface="Cambria Math" panose="02040503050406030204" pitchFamily="18" charset="0"/>
                                </a:rPr>
                                <m:t>−1</m:t>
                              </m:r>
                            </m:sup>
                          </m:sSup>
                          <m:d>
                            <m:dPr>
                              <m:ctrlPr>
                                <a:rPr lang="en-GB" sz="1400" i="1">
                                  <a:solidFill>
                                    <a:schemeClr val="tx1"/>
                                  </a:solidFill>
                                  <a:latin typeface="Cambria Math" panose="02040503050406030204" pitchFamily="18" charset="0"/>
                                </a:rPr>
                              </m:ctrlPr>
                            </m:dPr>
                            <m:e>
                              <m:r>
                                <a:rPr lang="en-US" sz="1400" i="1">
                                  <a:solidFill>
                                    <a:schemeClr val="tx1"/>
                                  </a:solidFill>
                                  <a:latin typeface="Cambria Math" panose="02040503050406030204" pitchFamily="18" charset="0"/>
                                </a:rPr>
                                <m:t>𝐶𝑜𝑛𝑑𝑖𝑡𝑖𝑜𝑛𝑎𝑙</m:t>
                              </m:r>
                              <m:r>
                                <a:rPr lang="en-US" sz="1400" i="1">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𝑃𝐷</m:t>
                              </m:r>
                            </m:e>
                          </m:d>
                          <m:r>
                            <a:rPr lang="en-US" sz="1400" i="1">
                              <a:solidFill>
                                <a:schemeClr val="tx1"/>
                              </a:solidFill>
                              <a:latin typeface="Cambria Math" panose="02040503050406030204" pitchFamily="18" charset="0"/>
                            </a:rPr>
                            <m:t>−</m:t>
                          </m:r>
                          <m:r>
                            <a:rPr lang="en-US" sz="1400" i="1">
                              <a:solidFill>
                                <a:schemeClr val="tx1"/>
                              </a:solidFill>
                              <a:latin typeface="Cambria Math" panose="02040503050406030204" pitchFamily="18" charset="0"/>
                            </a:rPr>
                            <m:t>𝑘</m:t>
                          </m:r>
                          <m:r>
                            <a:rPr lang="en-US" sz="1400" i="1">
                              <a:solidFill>
                                <a:schemeClr val="tx1"/>
                              </a:solidFill>
                              <a:latin typeface="Cambria Math" panose="02040503050406030204" pitchFamily="18" charset="0"/>
                            </a:rPr>
                            <m:t>)</m:t>
                          </m:r>
                        </m:num>
                        <m:den>
                          <m:r>
                            <a:rPr lang="en-US" sz="1400" i="1">
                              <a:solidFill>
                                <a:schemeClr val="tx1"/>
                              </a:solidFill>
                              <a:latin typeface="Cambria Math" panose="02040503050406030204" pitchFamily="18" charset="0"/>
                            </a:rPr>
                            <m:t>𝐶𝑜𝑛𝑑𝑖𝑡𝑖𝑜𝑛𝑎𝑙</m:t>
                          </m:r>
                          <m:r>
                            <a:rPr lang="en-US" sz="1400" i="1">
                              <a:solidFill>
                                <a:schemeClr val="tx1"/>
                              </a:solidFill>
                              <a:latin typeface="Cambria Math" panose="02040503050406030204" pitchFamily="18" charset="0"/>
                            </a:rPr>
                            <m:t> </m:t>
                          </m:r>
                          <m:r>
                            <a:rPr lang="en-US" sz="1400" i="1">
                              <a:solidFill>
                                <a:schemeClr val="tx1"/>
                              </a:solidFill>
                              <a:latin typeface="Cambria Math" panose="02040503050406030204" pitchFamily="18" charset="0"/>
                            </a:rPr>
                            <m:t>𝑃𝐷</m:t>
                          </m:r>
                        </m:den>
                      </m:f>
                    </m:oMath>
                  </m:oMathPara>
                </a14:m>
                <a:endParaRPr lang="en-US" sz="1400" dirty="0" smtClean="0">
                  <a:solidFill>
                    <a:schemeClr val="tx1"/>
                  </a:solidFill>
                  <a:latin typeface="Times New Roman" panose="02020603050405020304" pitchFamily="18" charset="0"/>
                </a:endParaRPr>
              </a:p>
              <a:p>
                <a:pPr lvl="0" eaLnBrk="0" hangingPunct="0">
                  <a:lnSpc>
                    <a:spcPct val="90000"/>
                  </a:lnSpc>
                  <a:spcBef>
                    <a:spcPct val="60000"/>
                  </a:spcBef>
                </a:pPr>
                <a:r>
                  <a:rPr lang="en-US" sz="1300" dirty="0" smtClean="0">
                    <a:solidFill>
                      <a:schemeClr val="tx1"/>
                    </a:solidFill>
                    <a:latin typeface="Times New Roman" panose="02020603050405020304" pitchFamily="18" charset="0"/>
                    <a:cs typeface="Times New Roman" panose="02020603050405020304" pitchFamily="18" charset="0"/>
                  </a:rPr>
                  <a:t>Where,</a:t>
                </a:r>
              </a:p>
              <a:p>
                <a:r>
                  <a:rPr lang="en-US" sz="1300" dirty="0">
                    <a:solidFill>
                      <a:schemeClr val="tx1"/>
                    </a:solidFill>
                    <a:latin typeface="Times New Roman" panose="02020603050405020304" pitchFamily="18" charset="0"/>
                    <a:cs typeface="Times New Roman" panose="02020603050405020304" pitchFamily="18" charset="0"/>
                  </a:rPr>
                  <a:t>	</a:t>
                </a:r>
                <a:r>
                  <a:rPr lang="en-US" sz="1300" dirty="0" smtClean="0">
                    <a:solidFill>
                      <a:schemeClr val="tx1"/>
                    </a:solidFill>
                    <a:latin typeface="Times New Roman" panose="02020603050405020304" pitchFamily="18" charset="0"/>
                    <a:cs typeface="Times New Roman" panose="02020603050405020304" pitchFamily="18" charset="0"/>
                  </a:rPr>
                  <a:t>Conditional PD </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smtClean="0">
                    <a:solidFill>
                      <a:schemeClr val="tx1"/>
                    </a:solidFill>
                    <a:latin typeface="Times New Roman" panose="02020603050405020304" pitchFamily="18" charset="0"/>
                    <a:cs typeface="Times New Roman" panose="02020603050405020304" pitchFamily="18" charset="0"/>
                  </a:rPr>
                  <a:t>PiT</a:t>
                </a:r>
                <a:r>
                  <a:rPr lang="en-US" sz="1300" dirty="0" smtClean="0">
                    <a:solidFill>
                      <a:schemeClr val="tx1"/>
                    </a:solidFill>
                    <a:latin typeface="Times New Roman" panose="02020603050405020304" pitchFamily="18" charset="0"/>
                    <a:cs typeface="Times New Roman" panose="02020603050405020304" pitchFamily="18" charset="0"/>
                  </a:rPr>
                  <a:t> PD </a:t>
                </a:r>
                <a:endParaRPr lang="en-GB" sz="1300" dirty="0">
                  <a:solidFill>
                    <a:schemeClr val="tx1"/>
                  </a:solidFill>
                  <a:latin typeface="Times New Roman" panose="02020603050405020304" pitchFamily="18" charset="0"/>
                  <a:cs typeface="Times New Roman" panose="02020603050405020304" pitchFamily="18" charset="0"/>
                </a:endParaRPr>
              </a:p>
              <a:p>
                <a:r>
                  <a:rPr lang="en-US" sz="1300" dirty="0">
                    <a:solidFill>
                      <a:schemeClr val="tx1"/>
                    </a:solidFill>
                    <a:latin typeface="Times New Roman" panose="02020603050405020304" pitchFamily="18" charset="0"/>
                    <a:cs typeface="Times New Roman" panose="02020603050405020304" pitchFamily="18" charset="0"/>
                  </a:rPr>
                  <a:t>	k</a:t>
                </a:r>
                <a:r>
                  <a:rPr lang="en-US" sz="1300" dirty="0" smtClean="0">
                    <a:solidFill>
                      <a:schemeClr val="tx1"/>
                    </a:solidFill>
                    <a:latin typeface="Times New Roman" panose="02020603050405020304" pitchFamily="18" charset="0"/>
                    <a:cs typeface="Times New Roman" panose="02020603050405020304" pitchFamily="18" charset="0"/>
                  </a:rPr>
                  <a:t> </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smtClean="0">
                    <a:solidFill>
                      <a:schemeClr val="tx1"/>
                    </a:solidFill>
                    <a:latin typeface="Times New Roman" panose="02020603050405020304" pitchFamily="18" charset="0"/>
                    <a:cs typeface="Times New Roman" panose="02020603050405020304" pitchFamily="18" charset="0"/>
                  </a:rPr>
                  <a:t>Risk Index Factor Derived above</a:t>
                </a:r>
              </a:p>
            </p:txBody>
          </p:sp>
        </mc:Choice>
        <mc:Fallback xmlns="">
          <p:sp>
            <p:nvSpPr>
              <p:cNvPr id="4" name="Rectangle 3"/>
              <p:cNvSpPr>
                <a:spLocks noRot="1" noChangeAspect="1" noMove="1" noResize="1" noEditPoints="1" noAdjustHandles="1" noChangeArrowheads="1" noChangeShapeType="1" noTextEdit="1"/>
              </p:cNvSpPr>
              <p:nvPr/>
            </p:nvSpPr>
            <p:spPr>
              <a:xfrm>
                <a:off x="287337" y="1117302"/>
                <a:ext cx="9218167" cy="5046754"/>
              </a:xfrm>
              <a:prstGeom prst="rect">
                <a:avLst/>
              </a:prstGeom>
              <a:blipFill rotWithShape="0">
                <a:blip r:embed="rId2"/>
                <a:stretch>
                  <a:fillRect l="-198" t="-483"/>
                </a:stretch>
              </a:blipFill>
              <a:ln w="9525">
                <a:noFill/>
              </a:ln>
            </p:spPr>
            <p:txBody>
              <a:bodyPr/>
              <a:lstStyle/>
              <a:p>
                <a:r>
                  <a:rPr lang="en-GB">
                    <a:noFill/>
                  </a:rPr>
                  <a:t> </a:t>
                </a:r>
              </a:p>
            </p:txBody>
          </p:sp>
        </mc:Fallback>
      </mc:AlternateContent>
      <p:sp>
        <p:nvSpPr>
          <p:cNvPr id="5" name="TextBox 4"/>
          <p:cNvSpPr txBox="1"/>
          <p:nvPr/>
        </p:nvSpPr>
        <p:spPr>
          <a:xfrm>
            <a:off x="6553200" y="251143"/>
            <a:ext cx="3065463" cy="400110"/>
          </a:xfrm>
          <a:prstGeom prst="rect">
            <a:avLst/>
          </a:prstGeom>
          <a:solidFill>
            <a:srgbClr val="FF0000"/>
          </a:solidFill>
        </p:spPr>
        <p:txBody>
          <a:bodyPr wrap="square" rtlCol="0">
            <a:spAutoFit/>
          </a:bodyPr>
          <a:lstStyle/>
          <a:p>
            <a:r>
              <a:rPr lang="en-US" sz="2000" b="1" dirty="0" smtClean="0">
                <a:solidFill>
                  <a:schemeClr val="bg1"/>
                </a:solidFill>
              </a:rPr>
              <a:t>Vishal to explain to Karl</a:t>
            </a:r>
            <a:endParaRPr lang="en-US" sz="2000" b="1" dirty="0">
              <a:solidFill>
                <a:schemeClr val="bg1"/>
              </a:solidFill>
            </a:endParaRPr>
          </a:p>
        </p:txBody>
      </p:sp>
    </p:spTree>
    <p:extLst>
      <p:ext uri="{BB962C8B-B14F-4D97-AF65-F5344CB8AC3E}">
        <p14:creationId xmlns:p14="http://schemas.microsoft.com/office/powerpoint/2010/main" val="14189911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Loss Given Default (LGD)</a:t>
            </a:r>
            <a:br>
              <a:rPr lang="en-US" sz="2400" dirty="0" smtClean="0"/>
            </a:br>
            <a:r>
              <a:rPr lang="en-US" sz="2000" i="1" dirty="0" smtClean="0"/>
              <a:t>Conditional LGD : Illustration- Developing Forward Looking </a:t>
            </a:r>
            <a:r>
              <a:rPr lang="en-US" sz="2000" i="1" dirty="0" err="1" smtClean="0"/>
              <a:t>PiT</a:t>
            </a:r>
            <a:r>
              <a:rPr lang="en-US" sz="2000" i="1" dirty="0" smtClean="0"/>
              <a:t> LGD</a:t>
            </a:r>
            <a:r>
              <a:rPr lang="en-US" sz="2400" dirty="0" smtClean="0"/>
              <a:t/>
            </a:r>
            <a:br>
              <a:rPr lang="en-US" sz="2400" dirty="0" smtClean="0"/>
            </a:br>
            <a:endParaRPr lang="en-IN" sz="2400" i="1" dirty="0"/>
          </a:p>
        </p:txBody>
      </p:sp>
      <p:graphicFrame>
        <p:nvGraphicFramePr>
          <p:cNvPr id="8" name="Table 7"/>
          <p:cNvGraphicFramePr>
            <a:graphicFrameLocks noGrp="1"/>
          </p:cNvGraphicFramePr>
          <p:nvPr>
            <p:extLst/>
          </p:nvPr>
        </p:nvGraphicFramePr>
        <p:xfrm>
          <a:off x="287338" y="1319368"/>
          <a:ext cx="9331322" cy="596522"/>
        </p:xfrm>
        <a:graphic>
          <a:graphicData uri="http://schemas.openxmlformats.org/drawingml/2006/table">
            <a:tbl>
              <a:tblPr/>
              <a:tblGrid>
                <a:gridCol w="1333046"/>
                <a:gridCol w="1333046"/>
                <a:gridCol w="1333046"/>
                <a:gridCol w="1333046"/>
                <a:gridCol w="1333046"/>
                <a:gridCol w="1333046"/>
                <a:gridCol w="1333046"/>
              </a:tblGrid>
              <a:tr h="298261">
                <a:tc>
                  <a:txBody>
                    <a:bodyPr/>
                    <a:lstStyle/>
                    <a:p>
                      <a:pPr algn="ctr" fontAlgn="ctr"/>
                      <a:r>
                        <a:rPr lang="en-US" sz="1050" b="0" i="0" u="none" strike="noStrike" dirty="0">
                          <a:solidFill>
                            <a:schemeClr val="bg1"/>
                          </a:solidFill>
                          <a:effectLst/>
                          <a:latin typeface="Times New Roman" panose="02020603050405020304" pitchFamily="18" charset="0"/>
                          <a:cs typeface="Times New Roman" panose="02020603050405020304" pitchFamily="18" charset="0"/>
                        </a:rPr>
                        <a:t>Rep. Date</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marL="0" algn="ctr" defTabSz="914400" rtl="0" eaLnBrk="1" fontAlgn="ctr" latinLnBrk="0" hangingPunct="1"/>
                      <a:r>
                        <a:rPr lang="en-US" sz="1050" b="0" i="0" u="none" strike="noStrike" kern="1200" dirty="0" smtClean="0">
                          <a:solidFill>
                            <a:schemeClr val="bg1"/>
                          </a:solidFill>
                          <a:effectLst/>
                          <a:latin typeface="Times New Roman" panose="02020603050405020304" pitchFamily="18" charset="0"/>
                          <a:ea typeface="+mn-ea"/>
                          <a:cs typeface="Times New Roman" panose="02020603050405020304" pitchFamily="18" charset="0"/>
                        </a:rPr>
                        <a:t>Customer ID</a:t>
                      </a:r>
                      <a:endParaRPr lang="en-US" sz="1050" b="0" i="0" u="none" strike="noStrike" kern="1200" dirty="0">
                        <a:solidFill>
                          <a:schemeClr val="bg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marL="0" algn="ctr" defTabSz="914400" rtl="0" eaLnBrk="1" fontAlgn="ctr" latinLnBrk="0" hangingPunct="1"/>
                      <a:r>
                        <a:rPr lang="en-US" sz="1050" b="0" i="0" u="none" strike="noStrike" kern="1200" dirty="0" smtClean="0">
                          <a:solidFill>
                            <a:schemeClr val="bg1"/>
                          </a:solidFill>
                          <a:effectLst/>
                          <a:latin typeface="Times New Roman" panose="02020603050405020304" pitchFamily="18" charset="0"/>
                          <a:ea typeface="+mn-ea"/>
                          <a:cs typeface="Times New Roman" panose="02020603050405020304" pitchFamily="18" charset="0"/>
                        </a:rPr>
                        <a:t>Maturity Date</a:t>
                      </a:r>
                      <a:endParaRPr lang="en-US" sz="1050" b="0" i="0" u="none" strike="noStrike" kern="1200" dirty="0">
                        <a:solidFill>
                          <a:schemeClr val="bg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marL="0" algn="ctr" defTabSz="914400" rtl="0" eaLnBrk="1" fontAlgn="ctr" latinLnBrk="0" hangingPunct="1"/>
                      <a:r>
                        <a:rPr lang="en-US" sz="1050" b="0" i="0" u="none" strike="noStrike" kern="1200" dirty="0" smtClean="0">
                          <a:solidFill>
                            <a:schemeClr val="bg1"/>
                          </a:solidFill>
                          <a:effectLst/>
                          <a:latin typeface="Times New Roman" panose="02020603050405020304" pitchFamily="18" charset="0"/>
                          <a:ea typeface="+mn-ea"/>
                          <a:cs typeface="Times New Roman" panose="02020603050405020304" pitchFamily="18" charset="0"/>
                        </a:rPr>
                        <a:t>Collateral</a:t>
                      </a:r>
                      <a:r>
                        <a:rPr lang="en-US" sz="1050" b="0" i="0" u="none" strike="noStrike" kern="1200" baseline="0" dirty="0" smtClean="0">
                          <a:solidFill>
                            <a:schemeClr val="bg1"/>
                          </a:solidFill>
                          <a:effectLst/>
                          <a:latin typeface="Times New Roman" panose="02020603050405020304" pitchFamily="18" charset="0"/>
                          <a:ea typeface="+mn-ea"/>
                          <a:cs typeface="Times New Roman" panose="02020603050405020304" pitchFamily="18" charset="0"/>
                        </a:rPr>
                        <a:t> Amount</a:t>
                      </a:r>
                      <a:endParaRPr lang="en-US" sz="1050" b="0" i="0" u="none" strike="noStrike" kern="1200" dirty="0">
                        <a:solidFill>
                          <a:schemeClr val="bg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marL="0" algn="ctr" defTabSz="914400" rtl="0" eaLnBrk="1" fontAlgn="ctr" latinLnBrk="0" hangingPunct="1"/>
                      <a:r>
                        <a:rPr lang="en-US" sz="1050" b="0" i="0" u="none" strike="noStrike" kern="1200" dirty="0" smtClean="0">
                          <a:solidFill>
                            <a:schemeClr val="bg1"/>
                          </a:solidFill>
                          <a:effectLst/>
                          <a:latin typeface="Times New Roman" panose="02020603050405020304" pitchFamily="18" charset="0"/>
                          <a:ea typeface="+mn-ea"/>
                          <a:cs typeface="Times New Roman" panose="02020603050405020304" pitchFamily="18" charset="0"/>
                        </a:rPr>
                        <a:t>Outstanding</a:t>
                      </a:r>
                      <a:r>
                        <a:rPr lang="en-US" sz="1050" b="0" i="0" u="none" strike="noStrike" kern="1200" baseline="0" dirty="0" smtClean="0">
                          <a:solidFill>
                            <a:schemeClr val="bg1"/>
                          </a:solidFill>
                          <a:effectLst/>
                          <a:latin typeface="Times New Roman" panose="02020603050405020304" pitchFamily="18" charset="0"/>
                          <a:ea typeface="+mn-ea"/>
                          <a:cs typeface="Times New Roman" panose="02020603050405020304" pitchFamily="18" charset="0"/>
                        </a:rPr>
                        <a:t> Amount</a:t>
                      </a:r>
                      <a:endParaRPr lang="en-US" sz="1050" b="0" i="0" u="none" strike="noStrike" kern="1200" dirty="0">
                        <a:solidFill>
                          <a:schemeClr val="bg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marL="0" algn="ctr" defTabSz="914400" rtl="0" eaLnBrk="1" fontAlgn="ctr" latinLnBrk="0" hangingPunct="1"/>
                      <a:r>
                        <a:rPr lang="en-US" sz="1050" b="0" i="0" u="none" strike="noStrike" kern="1200" dirty="0" smtClean="0">
                          <a:solidFill>
                            <a:schemeClr val="bg1"/>
                          </a:solidFill>
                          <a:effectLst/>
                          <a:latin typeface="Times New Roman" panose="02020603050405020304" pitchFamily="18" charset="0"/>
                          <a:ea typeface="+mn-ea"/>
                          <a:cs typeface="Times New Roman" panose="02020603050405020304" pitchFamily="18" charset="0"/>
                        </a:rPr>
                        <a:t>Final TTC LGD</a:t>
                      </a:r>
                      <a:endParaRPr lang="en-US" sz="1050" b="0" i="0" u="none" strike="noStrike" kern="1200" dirty="0">
                        <a:solidFill>
                          <a:schemeClr val="bg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marL="0" algn="ctr" defTabSz="914400" rtl="0" eaLnBrk="1" fontAlgn="ctr" latinLnBrk="0" hangingPunct="1"/>
                      <a:r>
                        <a:rPr lang="en-US" sz="1050" b="0" i="0" u="none" strike="noStrike" kern="1200" dirty="0" smtClean="0">
                          <a:solidFill>
                            <a:schemeClr val="bg1"/>
                          </a:solidFill>
                          <a:effectLst/>
                          <a:latin typeface="Times New Roman" panose="02020603050405020304" pitchFamily="18" charset="0"/>
                          <a:ea typeface="+mn-ea"/>
                          <a:cs typeface="Times New Roman" panose="02020603050405020304" pitchFamily="18" charset="0"/>
                        </a:rPr>
                        <a:t>Obligor Risk Rating</a:t>
                      </a:r>
                      <a:endParaRPr lang="en-US" sz="1050" b="0" i="0" u="none" strike="noStrike" kern="1200" dirty="0">
                        <a:solidFill>
                          <a:schemeClr val="bg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298261">
                <a:tc>
                  <a:txBody>
                    <a:bodyPr/>
                    <a:lstStyle/>
                    <a:p>
                      <a:pPr algn="ctr" rtl="0" fontAlgn="ctr"/>
                      <a:r>
                        <a:rPr lang="en-IN" sz="1100" b="0" i="0" u="none" strike="noStrike" dirty="0" smtClean="0">
                          <a:solidFill>
                            <a:srgbClr val="000000"/>
                          </a:solidFill>
                          <a:effectLst/>
                          <a:latin typeface="Times New Roman" panose="02020603050405020304" pitchFamily="18" charset="0"/>
                        </a:rPr>
                        <a:t>31 Dec 2016</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20202020</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31 Dec 2018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35,777,777</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7,000,000</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7% (from slide above)</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5</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Box 11"/>
          <p:cNvSpPr txBox="1"/>
          <p:nvPr/>
        </p:nvSpPr>
        <p:spPr>
          <a:xfrm>
            <a:off x="287378" y="1009508"/>
            <a:ext cx="2458612" cy="292388"/>
          </a:xfrm>
          <a:prstGeom prst="rect">
            <a:avLst/>
          </a:prstGeom>
          <a:noFill/>
        </p:spPr>
        <p:txBody>
          <a:bodyPr wrap="square" rtlCol="0">
            <a:spAutoFit/>
          </a:bodyPr>
          <a:lstStyle/>
          <a:p>
            <a:r>
              <a:rPr lang="en-US" sz="1300" b="1" dirty="0" smtClean="0">
                <a:solidFill>
                  <a:srgbClr val="000F33"/>
                </a:solidFill>
              </a:rPr>
              <a:t>Contract Inputs </a:t>
            </a:r>
            <a:endParaRPr lang="en-US" sz="1300" b="1" dirty="0">
              <a:solidFill>
                <a:srgbClr val="000F33"/>
              </a:solidFill>
            </a:endParaRPr>
          </a:p>
        </p:txBody>
      </p:sp>
      <p:graphicFrame>
        <p:nvGraphicFramePr>
          <p:cNvPr id="15" name="Chart 14"/>
          <p:cNvGraphicFramePr/>
          <p:nvPr>
            <p:extLst/>
          </p:nvPr>
        </p:nvGraphicFramePr>
        <p:xfrm>
          <a:off x="5443866" y="2326462"/>
          <a:ext cx="4174794" cy="371558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301552" y="1991246"/>
            <a:ext cx="4855235" cy="292388"/>
          </a:xfrm>
          <a:prstGeom prst="rect">
            <a:avLst/>
          </a:prstGeom>
          <a:noFill/>
        </p:spPr>
        <p:txBody>
          <a:bodyPr wrap="square" rtlCol="0">
            <a:spAutoFit/>
          </a:bodyPr>
          <a:lstStyle/>
          <a:p>
            <a:r>
              <a:rPr lang="en-US" sz="1300" b="1" dirty="0" smtClean="0">
                <a:solidFill>
                  <a:srgbClr val="000F33"/>
                </a:solidFill>
              </a:rPr>
              <a:t>Step 1: Deriving Expected Loss = Marginal TTC PD x TTC LGD</a:t>
            </a:r>
            <a:endParaRPr lang="en-US" sz="1300" b="1" dirty="0">
              <a:solidFill>
                <a:srgbClr val="000F33"/>
              </a:solidFill>
            </a:endParaRPr>
          </a:p>
        </p:txBody>
      </p:sp>
      <p:graphicFrame>
        <p:nvGraphicFramePr>
          <p:cNvPr id="13" name="Table 12"/>
          <p:cNvGraphicFramePr>
            <a:graphicFrameLocks noGrp="1"/>
          </p:cNvGraphicFramePr>
          <p:nvPr>
            <p:extLst/>
          </p:nvPr>
        </p:nvGraphicFramePr>
        <p:xfrm>
          <a:off x="312145" y="2313930"/>
          <a:ext cx="3848730" cy="604713"/>
        </p:xfrm>
        <a:graphic>
          <a:graphicData uri="http://schemas.openxmlformats.org/drawingml/2006/table">
            <a:tbl>
              <a:tblPr/>
              <a:tblGrid>
                <a:gridCol w="878702"/>
                <a:gridCol w="1105786"/>
                <a:gridCol w="1020725"/>
                <a:gridCol w="843517"/>
              </a:tblGrid>
              <a:tr h="250383">
                <a:tc>
                  <a:txBody>
                    <a:bodyPr/>
                    <a:lstStyle/>
                    <a:p>
                      <a:pPr algn="ctr" rtl="0" fontAlgn="ctr"/>
                      <a:endParaRPr lang="en-IN" sz="110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Obligor</a:t>
                      </a:r>
                      <a:r>
                        <a:rPr lang="en-IN" sz="1050" b="0" i="0" u="none" strike="noStrike" baseline="0" dirty="0" smtClean="0">
                          <a:solidFill>
                            <a:srgbClr val="FFFFFF"/>
                          </a:solidFill>
                          <a:effectLst/>
                          <a:latin typeface="Times New Roman" panose="02020603050405020304" pitchFamily="18" charset="0"/>
                        </a:rPr>
                        <a:t> Risk Rating</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Marginal TTC PD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TTC LGD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34599">
                <a:tc>
                  <a:txBody>
                    <a:bodyPr/>
                    <a:lstStyle/>
                    <a:p>
                      <a:pPr algn="ctr" rtl="0" fontAlgn="ctr"/>
                      <a:r>
                        <a:rPr lang="en-IN" sz="1100" b="1" i="0" u="none" strike="noStrike" dirty="0" smtClean="0">
                          <a:solidFill>
                            <a:srgbClr val="000000"/>
                          </a:solidFill>
                          <a:effectLst/>
                          <a:latin typeface="Times New Roman" panose="02020603050405020304" pitchFamily="18" charset="0"/>
                        </a:rPr>
                        <a:t>2017</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5</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1.278%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7%</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34599">
                <a:tc>
                  <a:txBody>
                    <a:bodyPr/>
                    <a:lstStyle/>
                    <a:p>
                      <a:pPr algn="ctr" rtl="0" fontAlgn="ctr"/>
                      <a:r>
                        <a:rPr lang="en-IN" sz="1100" b="1" i="0" u="none" strike="noStrike" dirty="0" smtClean="0">
                          <a:solidFill>
                            <a:srgbClr val="000000"/>
                          </a:solidFill>
                          <a:effectLst/>
                          <a:latin typeface="Times New Roman" panose="02020603050405020304" pitchFamily="18" charset="0"/>
                        </a:rPr>
                        <a:t>2018</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5</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1.568%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7%</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graphicFrame>
        <p:nvGraphicFramePr>
          <p:cNvPr id="18" name="Table 17"/>
          <p:cNvGraphicFramePr>
            <a:graphicFrameLocks noGrp="1"/>
          </p:cNvGraphicFramePr>
          <p:nvPr>
            <p:extLst/>
          </p:nvPr>
        </p:nvGraphicFramePr>
        <p:xfrm>
          <a:off x="4256445" y="2326461"/>
          <a:ext cx="1028700" cy="606103"/>
        </p:xfrm>
        <a:graphic>
          <a:graphicData uri="http://schemas.openxmlformats.org/drawingml/2006/table">
            <a:tbl>
              <a:tblPr/>
              <a:tblGrid>
                <a:gridCol w="1028700"/>
              </a:tblGrid>
              <a:tr h="251773">
                <a:tc>
                  <a:txBody>
                    <a:bodyPr/>
                    <a:lstStyle/>
                    <a:p>
                      <a:pPr algn="ctr" rtl="0" fontAlgn="ctr"/>
                      <a:r>
                        <a:rPr lang="en-IN" sz="1050" b="0" i="0" u="none" strike="noStrike" dirty="0" smtClean="0">
                          <a:solidFill>
                            <a:srgbClr val="FFFFFF"/>
                          </a:solidFill>
                          <a:effectLst/>
                          <a:latin typeface="Times New Roman" panose="02020603050405020304" pitchFamily="18" charset="0"/>
                        </a:rPr>
                        <a:t>Expected Loss</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0" i="0" u="none" strike="noStrike" dirty="0" smtClean="0">
                          <a:solidFill>
                            <a:srgbClr val="000000"/>
                          </a:solidFill>
                          <a:effectLst/>
                          <a:latin typeface="Times New Roman" panose="02020603050405020304" pitchFamily="18" charset="0"/>
                        </a:rPr>
                        <a:t>0.09%</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r h="129364">
                <a:tc>
                  <a:txBody>
                    <a:bodyPr/>
                    <a:lstStyle/>
                    <a:p>
                      <a:pPr algn="ctr" rtl="0" fontAlgn="ctr"/>
                      <a:r>
                        <a:rPr lang="en-IN" sz="1100" b="0" i="0" u="none" strike="noStrike" dirty="0" smtClean="0">
                          <a:solidFill>
                            <a:srgbClr val="000000"/>
                          </a:solidFill>
                          <a:effectLst/>
                          <a:latin typeface="Times New Roman" panose="02020603050405020304" pitchFamily="18" charset="0"/>
                        </a:rPr>
                        <a:t>0.11%</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bl>
          </a:graphicData>
        </a:graphic>
      </p:graphicFrame>
      <p:sp>
        <p:nvSpPr>
          <p:cNvPr id="19" name="TextBox 18"/>
          <p:cNvSpPr txBox="1"/>
          <p:nvPr/>
        </p:nvSpPr>
        <p:spPr>
          <a:xfrm>
            <a:off x="326360" y="3004879"/>
            <a:ext cx="4681575" cy="292388"/>
          </a:xfrm>
          <a:prstGeom prst="rect">
            <a:avLst/>
          </a:prstGeom>
          <a:noFill/>
        </p:spPr>
        <p:txBody>
          <a:bodyPr wrap="square" rtlCol="0">
            <a:spAutoFit/>
          </a:bodyPr>
          <a:lstStyle/>
          <a:p>
            <a:r>
              <a:rPr lang="en-US" sz="1300" b="1" dirty="0" smtClean="0">
                <a:solidFill>
                  <a:srgbClr val="000F33"/>
                </a:solidFill>
              </a:rPr>
              <a:t>Step 2: Risk Index Factor (k-Factor is derived)</a:t>
            </a:r>
            <a:endParaRPr lang="en-US" sz="1300" b="1" dirty="0">
              <a:solidFill>
                <a:srgbClr val="000F33"/>
              </a:solidFill>
            </a:endParaRPr>
          </a:p>
        </p:txBody>
      </p:sp>
      <p:graphicFrame>
        <p:nvGraphicFramePr>
          <p:cNvPr id="20" name="Table 19"/>
          <p:cNvGraphicFramePr>
            <a:graphicFrameLocks noGrp="1"/>
          </p:cNvGraphicFramePr>
          <p:nvPr>
            <p:extLst/>
          </p:nvPr>
        </p:nvGraphicFramePr>
        <p:xfrm>
          <a:off x="305053" y="3295671"/>
          <a:ext cx="3862912" cy="606103"/>
        </p:xfrm>
        <a:graphic>
          <a:graphicData uri="http://schemas.openxmlformats.org/drawingml/2006/table">
            <a:tbl>
              <a:tblPr/>
              <a:tblGrid>
                <a:gridCol w="885794"/>
                <a:gridCol w="1137683"/>
                <a:gridCol w="967563"/>
                <a:gridCol w="871872"/>
              </a:tblGrid>
              <a:tr h="251773">
                <a:tc>
                  <a:txBody>
                    <a:bodyPr/>
                    <a:lstStyle/>
                    <a:p>
                      <a:pPr algn="ctr" rtl="0" fontAlgn="ctr"/>
                      <a:endParaRPr lang="en-IN" sz="110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Marginal TTC PD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Expected Loss</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Asset Corr.</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2017</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1.278%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7%</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18.33%</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2018</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1.568%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7%</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17.48%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graphicFrame>
        <p:nvGraphicFramePr>
          <p:cNvPr id="21" name="Table 20"/>
          <p:cNvGraphicFramePr>
            <a:graphicFrameLocks noGrp="1"/>
          </p:cNvGraphicFramePr>
          <p:nvPr>
            <p:extLst/>
          </p:nvPr>
        </p:nvGraphicFramePr>
        <p:xfrm>
          <a:off x="4247128" y="3295671"/>
          <a:ext cx="1028700" cy="606103"/>
        </p:xfrm>
        <a:graphic>
          <a:graphicData uri="http://schemas.openxmlformats.org/drawingml/2006/table">
            <a:tbl>
              <a:tblPr/>
              <a:tblGrid>
                <a:gridCol w="1028700"/>
              </a:tblGrid>
              <a:tr h="251773">
                <a:tc>
                  <a:txBody>
                    <a:bodyPr/>
                    <a:lstStyle/>
                    <a:p>
                      <a:pPr algn="ctr" rtl="0" fontAlgn="ctr"/>
                      <a:r>
                        <a:rPr lang="en-IN" sz="1050" b="0" i="0" u="none" strike="noStrike" dirty="0" smtClean="0">
                          <a:solidFill>
                            <a:srgbClr val="FFFFFF"/>
                          </a:solidFill>
                          <a:effectLst/>
                          <a:latin typeface="Times New Roman" panose="02020603050405020304" pitchFamily="18" charset="0"/>
                        </a:rPr>
                        <a:t>k-Factor</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0" i="0" u="none" strike="noStrike" dirty="0" smtClean="0">
                          <a:solidFill>
                            <a:srgbClr val="000000"/>
                          </a:solidFill>
                          <a:effectLst/>
                          <a:latin typeface="Times New Roman" panose="02020603050405020304" pitchFamily="18" charset="0"/>
                        </a:rPr>
                        <a:t>0.99</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r h="129364">
                <a:tc>
                  <a:txBody>
                    <a:bodyPr/>
                    <a:lstStyle/>
                    <a:p>
                      <a:pPr algn="ctr" rtl="0" fontAlgn="ctr"/>
                      <a:r>
                        <a:rPr lang="en-IN" sz="1100" b="0" i="0" u="none" strike="noStrike" dirty="0" smtClean="0">
                          <a:solidFill>
                            <a:srgbClr val="000000"/>
                          </a:solidFill>
                          <a:effectLst/>
                          <a:latin typeface="Times New Roman" panose="02020603050405020304" pitchFamily="18" charset="0"/>
                        </a:rPr>
                        <a:t>1.00</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bl>
          </a:graphicData>
        </a:graphic>
      </p:graphicFrame>
      <p:sp>
        <p:nvSpPr>
          <p:cNvPr id="22" name="TextBox 21"/>
          <p:cNvSpPr txBox="1"/>
          <p:nvPr/>
        </p:nvSpPr>
        <p:spPr>
          <a:xfrm>
            <a:off x="351167" y="3986620"/>
            <a:ext cx="4924661" cy="292388"/>
          </a:xfrm>
          <a:prstGeom prst="rect">
            <a:avLst/>
          </a:prstGeom>
          <a:noFill/>
        </p:spPr>
        <p:txBody>
          <a:bodyPr wrap="square" rtlCol="0">
            <a:spAutoFit/>
          </a:bodyPr>
          <a:lstStyle/>
          <a:p>
            <a:r>
              <a:rPr lang="en-US" sz="1300" b="1" dirty="0" smtClean="0">
                <a:solidFill>
                  <a:srgbClr val="000F33"/>
                </a:solidFill>
              </a:rPr>
              <a:t>Step 3: Conditional </a:t>
            </a:r>
            <a:r>
              <a:rPr lang="en-US" sz="1300" b="1" dirty="0" err="1" smtClean="0">
                <a:solidFill>
                  <a:srgbClr val="000F33"/>
                </a:solidFill>
              </a:rPr>
              <a:t>PiT</a:t>
            </a:r>
            <a:r>
              <a:rPr lang="en-US" sz="1300" b="1" dirty="0" smtClean="0">
                <a:solidFill>
                  <a:srgbClr val="000F33"/>
                </a:solidFill>
              </a:rPr>
              <a:t> PD’s are derived using </a:t>
            </a:r>
            <a:r>
              <a:rPr lang="en-US" sz="1300" b="1" dirty="0" err="1" smtClean="0">
                <a:solidFill>
                  <a:srgbClr val="000F33"/>
                </a:solidFill>
              </a:rPr>
              <a:t>Vasicek</a:t>
            </a:r>
            <a:r>
              <a:rPr lang="en-US" sz="1300" b="1" dirty="0" smtClean="0">
                <a:solidFill>
                  <a:srgbClr val="000F33"/>
                </a:solidFill>
              </a:rPr>
              <a:t> Formulae</a:t>
            </a:r>
            <a:endParaRPr lang="en-US" sz="1300" b="1" dirty="0">
              <a:solidFill>
                <a:srgbClr val="000F33"/>
              </a:solidFill>
            </a:endParaRPr>
          </a:p>
        </p:txBody>
      </p:sp>
      <p:graphicFrame>
        <p:nvGraphicFramePr>
          <p:cNvPr id="23" name="Table 22"/>
          <p:cNvGraphicFramePr>
            <a:graphicFrameLocks noGrp="1"/>
          </p:cNvGraphicFramePr>
          <p:nvPr>
            <p:extLst/>
          </p:nvPr>
        </p:nvGraphicFramePr>
        <p:xfrm>
          <a:off x="297963" y="4309306"/>
          <a:ext cx="3862912" cy="606103"/>
        </p:xfrm>
        <a:graphic>
          <a:graphicData uri="http://schemas.openxmlformats.org/drawingml/2006/table">
            <a:tbl>
              <a:tblPr/>
              <a:tblGrid>
                <a:gridCol w="860986"/>
                <a:gridCol w="1162491"/>
                <a:gridCol w="967563"/>
                <a:gridCol w="871872"/>
              </a:tblGrid>
              <a:tr h="251773">
                <a:tc>
                  <a:txBody>
                    <a:bodyPr/>
                    <a:lstStyle/>
                    <a:p>
                      <a:pPr algn="ctr" rtl="0" fontAlgn="ctr"/>
                      <a:endParaRPr lang="en-IN" sz="110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Marginal TTC PD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CCI Factor</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Asset Corr.</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2017</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1.278%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-0.05</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18.33%</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2018</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1.568%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-0.05</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17.48%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extLst/>
          </p:nvPr>
        </p:nvGraphicFramePr>
        <p:xfrm>
          <a:off x="4240038" y="4309306"/>
          <a:ext cx="1028700" cy="606103"/>
        </p:xfrm>
        <a:graphic>
          <a:graphicData uri="http://schemas.openxmlformats.org/drawingml/2006/table">
            <a:tbl>
              <a:tblPr/>
              <a:tblGrid>
                <a:gridCol w="1028700"/>
              </a:tblGrid>
              <a:tr h="251773">
                <a:tc>
                  <a:txBody>
                    <a:bodyPr/>
                    <a:lstStyle/>
                    <a:p>
                      <a:pPr algn="ctr" rtl="0" fontAlgn="ctr"/>
                      <a:r>
                        <a:rPr lang="en-IN" sz="1050" b="0" i="0" u="none" strike="noStrike" dirty="0" smtClean="0">
                          <a:solidFill>
                            <a:srgbClr val="FFFFFF"/>
                          </a:solidFill>
                          <a:effectLst/>
                          <a:latin typeface="Times New Roman" panose="02020603050405020304" pitchFamily="18" charset="0"/>
                        </a:rPr>
                        <a:t>Conditional PD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0" i="0" u="none" strike="noStrike" dirty="0" smtClean="0">
                          <a:solidFill>
                            <a:srgbClr val="000000"/>
                          </a:solidFill>
                          <a:effectLst/>
                          <a:latin typeface="Times New Roman" panose="02020603050405020304" pitchFamily="18" charset="0"/>
                        </a:rPr>
                        <a:t>0.720%</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r h="129364">
                <a:tc>
                  <a:txBody>
                    <a:bodyPr/>
                    <a:lstStyle/>
                    <a:p>
                      <a:pPr algn="ctr" rtl="0" fontAlgn="ctr"/>
                      <a:r>
                        <a:rPr lang="en-IN" sz="1100" b="0" i="0" u="none" strike="noStrike" dirty="0" smtClean="0">
                          <a:solidFill>
                            <a:srgbClr val="000000"/>
                          </a:solidFill>
                          <a:effectLst/>
                          <a:latin typeface="Times New Roman" panose="02020603050405020304" pitchFamily="18" charset="0"/>
                        </a:rPr>
                        <a:t>0.948%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bl>
          </a:graphicData>
        </a:graphic>
      </p:graphicFrame>
      <p:sp>
        <p:nvSpPr>
          <p:cNvPr id="25" name="TextBox 24"/>
          <p:cNvSpPr txBox="1"/>
          <p:nvPr/>
        </p:nvSpPr>
        <p:spPr>
          <a:xfrm>
            <a:off x="332722" y="5047713"/>
            <a:ext cx="4924661" cy="292388"/>
          </a:xfrm>
          <a:prstGeom prst="rect">
            <a:avLst/>
          </a:prstGeom>
          <a:noFill/>
        </p:spPr>
        <p:txBody>
          <a:bodyPr wrap="square" rtlCol="0">
            <a:spAutoFit/>
          </a:bodyPr>
          <a:lstStyle/>
          <a:p>
            <a:r>
              <a:rPr lang="en-US" sz="1300" b="1" dirty="0" smtClean="0">
                <a:solidFill>
                  <a:srgbClr val="000F33"/>
                </a:solidFill>
              </a:rPr>
              <a:t>Step 4: Conditional LGD is derived using Frye-Jacob Equation</a:t>
            </a:r>
            <a:endParaRPr lang="en-US" sz="1300" b="1" dirty="0">
              <a:solidFill>
                <a:srgbClr val="000F33"/>
              </a:solidFill>
            </a:endParaRPr>
          </a:p>
        </p:txBody>
      </p:sp>
      <p:graphicFrame>
        <p:nvGraphicFramePr>
          <p:cNvPr id="26" name="Table 25"/>
          <p:cNvGraphicFramePr>
            <a:graphicFrameLocks noGrp="1"/>
          </p:cNvGraphicFramePr>
          <p:nvPr>
            <p:extLst/>
          </p:nvPr>
        </p:nvGraphicFramePr>
        <p:xfrm>
          <a:off x="312138" y="5439906"/>
          <a:ext cx="3862912" cy="606103"/>
        </p:xfrm>
        <a:graphic>
          <a:graphicData uri="http://schemas.openxmlformats.org/drawingml/2006/table">
            <a:tbl>
              <a:tblPr/>
              <a:tblGrid>
                <a:gridCol w="857443"/>
                <a:gridCol w="1166034"/>
                <a:gridCol w="967563"/>
                <a:gridCol w="871872"/>
              </a:tblGrid>
              <a:tr h="251773">
                <a:tc>
                  <a:txBody>
                    <a:bodyPr/>
                    <a:lstStyle/>
                    <a:p>
                      <a:pPr algn="ctr" rtl="0" fontAlgn="ctr"/>
                      <a:endParaRPr lang="en-IN" sz="110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Expected Loss</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k-Factor</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c>
                  <a:txBody>
                    <a:bodyPr/>
                    <a:lstStyle/>
                    <a:p>
                      <a:pPr algn="ctr" rtl="0" fontAlgn="ctr"/>
                      <a:r>
                        <a:rPr lang="en-IN" sz="1050" b="0" i="0" u="none" strike="noStrike" dirty="0" smtClean="0">
                          <a:solidFill>
                            <a:srgbClr val="FFFFFF"/>
                          </a:solidFill>
                          <a:effectLst/>
                          <a:latin typeface="Times New Roman" panose="02020603050405020304" pitchFamily="18" charset="0"/>
                        </a:rPr>
                        <a:t>Conditional PD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2017</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0.09%</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18.33%</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0.720%</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2018</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0.11%</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17.48%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IN" sz="1100" b="0" i="0" u="none" strike="noStrike" dirty="0" smtClean="0">
                          <a:solidFill>
                            <a:srgbClr val="000000"/>
                          </a:solidFill>
                          <a:effectLst/>
                          <a:latin typeface="Times New Roman" panose="02020603050405020304" pitchFamily="18" charset="0"/>
                        </a:rPr>
                        <a:t>0.948%</a:t>
                      </a:r>
                      <a:endParaRPr lang="en-IN" sz="11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graphicFrame>
        <p:nvGraphicFramePr>
          <p:cNvPr id="27" name="Table 26"/>
          <p:cNvGraphicFramePr>
            <a:graphicFrameLocks noGrp="1"/>
          </p:cNvGraphicFramePr>
          <p:nvPr>
            <p:extLst/>
          </p:nvPr>
        </p:nvGraphicFramePr>
        <p:xfrm>
          <a:off x="4256445" y="5435943"/>
          <a:ext cx="1028700" cy="606103"/>
        </p:xfrm>
        <a:graphic>
          <a:graphicData uri="http://schemas.openxmlformats.org/drawingml/2006/table">
            <a:tbl>
              <a:tblPr/>
              <a:tblGrid>
                <a:gridCol w="1028700"/>
              </a:tblGrid>
              <a:tr h="251773">
                <a:tc>
                  <a:txBody>
                    <a:bodyPr/>
                    <a:lstStyle/>
                    <a:p>
                      <a:pPr algn="ctr" rtl="0" fontAlgn="ctr"/>
                      <a:r>
                        <a:rPr lang="en-IN" sz="1050" b="0" i="0" u="none" strike="noStrike" dirty="0" smtClean="0">
                          <a:solidFill>
                            <a:srgbClr val="FFFFFF"/>
                          </a:solidFill>
                          <a:effectLst/>
                          <a:latin typeface="Times New Roman" panose="02020603050405020304" pitchFamily="18" charset="0"/>
                        </a:rPr>
                        <a:t>Conditional LGD</a:t>
                      </a:r>
                      <a:endParaRPr lang="en-IN" sz="1050" b="0"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0F33"/>
                    </a:solidFill>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4.16%</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r h="129364">
                <a:tc>
                  <a:txBody>
                    <a:bodyPr/>
                    <a:lstStyle/>
                    <a:p>
                      <a:pPr algn="ctr" rtl="0" fontAlgn="ctr"/>
                      <a:r>
                        <a:rPr lang="en-IN" sz="1100" b="1" i="0" u="none" strike="noStrike" dirty="0" smtClean="0">
                          <a:solidFill>
                            <a:srgbClr val="000000"/>
                          </a:solidFill>
                          <a:effectLst/>
                          <a:latin typeface="Times New Roman" panose="02020603050405020304" pitchFamily="18" charset="0"/>
                        </a:rPr>
                        <a:t>4.21%</a:t>
                      </a:r>
                      <a:endParaRPr lang="en-IN" sz="1100" b="1"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1DFFF"/>
                    </a:solidFill>
                  </a:tcPr>
                </a:tc>
              </a:tr>
            </a:tbl>
          </a:graphicData>
        </a:graphic>
      </p:graphicFrame>
      <p:sp>
        <p:nvSpPr>
          <p:cNvPr id="28" name="TextBox 27"/>
          <p:cNvSpPr txBox="1"/>
          <p:nvPr/>
        </p:nvSpPr>
        <p:spPr>
          <a:xfrm>
            <a:off x="3962400" y="183407"/>
            <a:ext cx="5857875" cy="400110"/>
          </a:xfrm>
          <a:prstGeom prst="rect">
            <a:avLst/>
          </a:prstGeom>
          <a:solidFill>
            <a:srgbClr val="FF0000"/>
          </a:solidFill>
        </p:spPr>
        <p:txBody>
          <a:bodyPr wrap="square" rtlCol="0">
            <a:spAutoFit/>
          </a:bodyPr>
          <a:lstStyle/>
          <a:p>
            <a:r>
              <a:rPr lang="en-US" sz="2000" b="1" dirty="0" smtClean="0">
                <a:solidFill>
                  <a:schemeClr val="bg1"/>
                </a:solidFill>
              </a:rPr>
              <a:t>NOT CLEAR WHAT THIS PAGE IS SHOWING</a:t>
            </a:r>
            <a:endParaRPr lang="en-US" sz="2000" b="1" dirty="0">
              <a:solidFill>
                <a:schemeClr val="bg1"/>
              </a:solidFill>
            </a:endParaRPr>
          </a:p>
        </p:txBody>
      </p:sp>
    </p:spTree>
    <p:extLst>
      <p:ext uri="{BB962C8B-B14F-4D97-AF65-F5344CB8AC3E}">
        <p14:creationId xmlns:p14="http://schemas.microsoft.com/office/powerpoint/2010/main" val="35439954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solidFill>
                  <a:schemeClr val="bg1">
                    <a:lumMod val="75000"/>
                  </a:schemeClr>
                </a:solidFill>
              </a:rPr>
              <a:t>Loss Given Default (LGD)</a:t>
            </a:r>
          </a:p>
          <a:p>
            <a:pPr marL="808038" lvl="4" indent="-446088"/>
            <a:r>
              <a:rPr lang="en-US" sz="2000" dirty="0" smtClean="0"/>
              <a:t>Exposure at Default (EAD)</a:t>
            </a:r>
          </a:p>
          <a:p>
            <a:pPr marL="808038" lvl="4" indent="-446088"/>
            <a:r>
              <a:rPr lang="en-US" sz="2000" dirty="0" smtClean="0">
                <a:solidFill>
                  <a:schemeClr val="bg1">
                    <a:lumMod val="75000"/>
                  </a:schemeClr>
                </a:solidFill>
              </a:rPr>
              <a:t>Expected Credit Loss (ECL) Computation</a:t>
            </a: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42</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91863432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Exposure at Default (EAD)</a:t>
            </a:r>
            <a:br>
              <a:rPr lang="en-US" sz="2400" dirty="0" smtClean="0"/>
            </a:br>
            <a:r>
              <a:rPr lang="en-US" sz="2000" i="1" dirty="0" smtClean="0"/>
              <a:t>Key Aspects</a:t>
            </a:r>
            <a:endParaRPr lang="en-IN" sz="2800"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43</a:t>
            </a:fld>
            <a:endParaRPr lang="en-US" altLang="en-US"/>
          </a:p>
        </p:txBody>
      </p:sp>
      <p:sp>
        <p:nvSpPr>
          <p:cNvPr id="14" name="Content Placeholder 2"/>
          <p:cNvSpPr>
            <a:spLocks noGrp="1"/>
          </p:cNvSpPr>
          <p:nvPr>
            <p:ph idx="1"/>
          </p:nvPr>
        </p:nvSpPr>
        <p:spPr>
          <a:xfrm>
            <a:off x="287338" y="1173163"/>
            <a:ext cx="9331325" cy="904863"/>
          </a:xfrm>
        </p:spPr>
        <p:txBody>
          <a:bodyPr>
            <a:spAutoFit/>
          </a:bodyPr>
          <a:lstStyle/>
          <a:p>
            <a:r>
              <a:rPr lang="en-US" sz="1400" dirty="0" smtClean="0"/>
              <a:t>This section explains how the </a:t>
            </a:r>
            <a:r>
              <a:rPr lang="en-US" sz="1400" dirty="0"/>
              <a:t>bank </a:t>
            </a:r>
            <a:r>
              <a:rPr lang="en-US" sz="1400" dirty="0" smtClean="0"/>
              <a:t>evaluated </a:t>
            </a:r>
            <a:r>
              <a:rPr lang="en-US" sz="1400" dirty="0"/>
              <a:t>different </a:t>
            </a:r>
            <a:r>
              <a:rPr lang="en-US" sz="1400" dirty="0" smtClean="0"/>
              <a:t>feasible and available options for calculating EAD keeping in view of data availability, practicality </a:t>
            </a:r>
            <a:r>
              <a:rPr lang="en-US" sz="1400" dirty="0"/>
              <a:t>of methodologies </a:t>
            </a:r>
            <a:r>
              <a:rPr lang="en-US" sz="1400" dirty="0" smtClean="0"/>
              <a:t>and ease of implementation.</a:t>
            </a:r>
          </a:p>
          <a:p>
            <a:r>
              <a:rPr lang="en-IN" sz="1400" dirty="0"/>
              <a:t>From an IFRS 9 </a:t>
            </a:r>
            <a:r>
              <a:rPr lang="en-IN" sz="1400" dirty="0" smtClean="0"/>
              <a:t>perspective, </a:t>
            </a:r>
            <a:r>
              <a:rPr lang="en-IN" sz="1400" dirty="0"/>
              <a:t>there are different considerations for developing an EAD model based on the nature of products. Modelling </a:t>
            </a:r>
            <a:r>
              <a:rPr lang="en-IN" sz="1400" dirty="0" smtClean="0"/>
              <a:t>/ Calculation of </a:t>
            </a:r>
            <a:r>
              <a:rPr lang="en-IN" sz="1400" dirty="0"/>
              <a:t>EAD will be based on the respective portfolio </a:t>
            </a:r>
            <a:r>
              <a:rPr lang="en-IN" sz="1400" dirty="0" smtClean="0"/>
              <a:t>types</a:t>
            </a:r>
            <a:r>
              <a:rPr lang="en-US" sz="1400" dirty="0" smtClean="0"/>
              <a:t> that can be summarized as below:</a:t>
            </a:r>
            <a:endParaRPr lang="en-IN" sz="1400" dirty="0"/>
          </a:p>
        </p:txBody>
      </p:sp>
      <p:graphicFrame>
        <p:nvGraphicFramePr>
          <p:cNvPr id="3" name="Diagram 2"/>
          <p:cNvGraphicFramePr/>
          <p:nvPr>
            <p:extLst>
              <p:ext uri="{D42A27DB-BD31-4B8C-83A1-F6EECF244321}">
                <p14:modId xmlns:p14="http://schemas.microsoft.com/office/powerpoint/2010/main" val="727935030"/>
              </p:ext>
            </p:extLst>
          </p:nvPr>
        </p:nvGraphicFramePr>
        <p:xfrm>
          <a:off x="2235200" y="2326752"/>
          <a:ext cx="5435600" cy="20235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Content Placeholder 2"/>
          <p:cNvSpPr txBox="1">
            <a:spLocks/>
          </p:cNvSpPr>
          <p:nvPr/>
        </p:nvSpPr>
        <p:spPr bwMode="auto">
          <a:xfrm>
            <a:off x="287337" y="4599011"/>
            <a:ext cx="9331325"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1400" dirty="0"/>
              <a:t>Wherever proposed modelling approach are unreliable due to lack of availability of data, the Bank will use regulatory estimates (majorly Basel inputs) for ECL Computation as part of IFRS 9 until the Bank is equipped with sufficient data to compute reliable estimates using modelling methodologies.</a:t>
            </a:r>
          </a:p>
        </p:txBody>
      </p:sp>
      <p:sp>
        <p:nvSpPr>
          <p:cNvPr id="7" name="TextBox 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9569211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Exposure at Default (EAD)</a:t>
            </a:r>
            <a:br>
              <a:rPr lang="en-US" sz="2400" dirty="0" smtClean="0"/>
            </a:br>
            <a:r>
              <a:rPr lang="en-US" sz="2000" i="1" dirty="0" smtClean="0"/>
              <a:t>On Balance Sheet Exposures Treatment</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44</a:t>
            </a:fld>
            <a:endParaRPr lang="en-US" altLang="en-US"/>
          </a:p>
        </p:txBody>
      </p:sp>
      <p:sp>
        <p:nvSpPr>
          <p:cNvPr id="6" name="Rectangle 5"/>
          <p:cNvSpPr/>
          <p:nvPr/>
        </p:nvSpPr>
        <p:spPr>
          <a:xfrm>
            <a:off x="287338" y="1517374"/>
            <a:ext cx="8934856" cy="2646866"/>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71426" indent="-171426">
              <a:spcBef>
                <a:spcPts val="300"/>
              </a:spcBef>
              <a:spcAft>
                <a:spcPts val="500"/>
              </a:spcAft>
              <a:buFont typeface="Courier New" panose="02070309020205020404" pitchFamily="49" charset="0"/>
              <a:buChar char="o"/>
            </a:pPr>
            <a:r>
              <a:rPr lang="en-IN" sz="1400" dirty="0" smtClean="0">
                <a:solidFill>
                  <a:srgbClr val="002060"/>
                </a:solidFill>
                <a:latin typeface="Times New Roman" panose="02020603050405020304" pitchFamily="18" charset="0"/>
                <a:cs typeface="Times New Roman" panose="02020603050405020304" pitchFamily="18" charset="0"/>
              </a:rPr>
              <a:t>These are those facilities which a bank can’t cancel or revoke</a:t>
            </a:r>
            <a:r>
              <a:rPr lang="en-IN" sz="1400" dirty="0">
                <a:solidFill>
                  <a:srgbClr val="002060"/>
                </a:solidFill>
                <a:latin typeface="Times New Roman" panose="02020603050405020304" pitchFamily="18" charset="0"/>
                <a:cs typeface="Times New Roman" panose="02020603050405020304" pitchFamily="18" charset="0"/>
              </a:rPr>
              <a:t>. </a:t>
            </a:r>
            <a:r>
              <a:rPr lang="en-IN" sz="1400" dirty="0" smtClean="0">
                <a:solidFill>
                  <a:srgbClr val="002060"/>
                </a:solidFill>
                <a:latin typeface="Times New Roman" panose="02020603050405020304" pitchFamily="18" charset="0"/>
                <a:cs typeface="Times New Roman" panose="02020603050405020304" pitchFamily="18" charset="0"/>
              </a:rPr>
              <a:t>This </a:t>
            </a:r>
            <a:r>
              <a:rPr lang="en-IN" sz="1400" dirty="0">
                <a:solidFill>
                  <a:srgbClr val="002060"/>
                </a:solidFill>
                <a:latin typeface="Times New Roman" panose="02020603050405020304" pitchFamily="18" charset="0"/>
                <a:cs typeface="Times New Roman" panose="02020603050405020304" pitchFamily="18" charset="0"/>
              </a:rPr>
              <a:t>typically includes structure finance, term loans etc</a:t>
            </a:r>
            <a:r>
              <a:rPr lang="en-IN" sz="1400" dirty="0" smtClean="0">
                <a:solidFill>
                  <a:srgbClr val="002060"/>
                </a:solidFill>
                <a:latin typeface="Times New Roman" panose="02020603050405020304" pitchFamily="18" charset="0"/>
                <a:cs typeface="Times New Roman" panose="02020603050405020304" pitchFamily="18" charset="0"/>
              </a:rPr>
              <a:t>.</a:t>
            </a:r>
          </a:p>
          <a:p>
            <a:pPr marL="171426" indent="-171426">
              <a:spcBef>
                <a:spcPts val="300"/>
              </a:spcBef>
              <a:spcAft>
                <a:spcPts val="500"/>
              </a:spcAft>
              <a:buFont typeface="Courier New" panose="02070309020205020404" pitchFamily="49" charset="0"/>
              <a:buChar char="o"/>
            </a:pPr>
            <a:r>
              <a:rPr lang="en-IN" sz="1400" dirty="0">
                <a:solidFill>
                  <a:srgbClr val="002060"/>
                </a:solidFill>
                <a:latin typeface="Times New Roman" panose="02020603050405020304" pitchFamily="18" charset="0"/>
                <a:cs typeface="Times New Roman" panose="02020603050405020304" pitchFamily="18" charset="0"/>
              </a:rPr>
              <a:t>As part of </a:t>
            </a:r>
            <a:r>
              <a:rPr lang="en-IN" sz="1400" dirty="0" smtClean="0">
                <a:solidFill>
                  <a:srgbClr val="002060"/>
                </a:solidFill>
                <a:latin typeface="Times New Roman" panose="02020603050405020304" pitchFamily="18" charset="0"/>
                <a:cs typeface="Times New Roman" panose="02020603050405020304" pitchFamily="18" charset="0"/>
              </a:rPr>
              <a:t>calculation approach historical data on outstanding </a:t>
            </a:r>
            <a:r>
              <a:rPr lang="en-IN" sz="1400" dirty="0">
                <a:solidFill>
                  <a:srgbClr val="002060"/>
                </a:solidFill>
                <a:latin typeface="Times New Roman" panose="02020603050405020304" pitchFamily="18" charset="0"/>
                <a:cs typeface="Times New Roman" panose="02020603050405020304" pitchFamily="18" charset="0"/>
              </a:rPr>
              <a:t>amount, limit and revolving/non-revolving </a:t>
            </a:r>
            <a:r>
              <a:rPr lang="en-IN" sz="1400" dirty="0" smtClean="0">
                <a:solidFill>
                  <a:srgbClr val="002060"/>
                </a:solidFill>
                <a:latin typeface="Times New Roman" panose="02020603050405020304" pitchFamily="18" charset="0"/>
                <a:cs typeface="Times New Roman" panose="02020603050405020304" pitchFamily="18" charset="0"/>
              </a:rPr>
              <a:t>tags are required for defaulted accounts.</a:t>
            </a:r>
          </a:p>
          <a:p>
            <a:pPr marL="171426" indent="-171426">
              <a:spcBef>
                <a:spcPts val="300"/>
              </a:spcBef>
              <a:spcAft>
                <a:spcPts val="500"/>
              </a:spcAft>
              <a:buFont typeface="Courier New" panose="02070309020205020404" pitchFamily="49" charset="0"/>
              <a:buChar char="o"/>
            </a:pPr>
            <a:r>
              <a:rPr lang="en-US" sz="1400" dirty="0" smtClean="0">
                <a:solidFill>
                  <a:srgbClr val="002060"/>
                </a:solidFill>
                <a:latin typeface="Times New Roman" panose="02020603050405020304" pitchFamily="18" charset="0"/>
                <a:cs typeface="Times New Roman" panose="02020603050405020304" pitchFamily="18" charset="0"/>
              </a:rPr>
              <a:t>In case of data issues which is a prominent case with Banks in the GCC region, standard regulatory based approach can be used. Such as:</a:t>
            </a:r>
          </a:p>
          <a:p>
            <a:pPr marL="171426" indent="-171426">
              <a:spcBef>
                <a:spcPts val="300"/>
              </a:spcBef>
              <a:spcAft>
                <a:spcPts val="500"/>
              </a:spcAft>
              <a:buFont typeface="Courier New" panose="02070309020205020404" pitchFamily="49" charset="0"/>
              <a:buChar char="o"/>
            </a:pPr>
            <a:r>
              <a:rPr lang="en-IN" sz="1400" dirty="0">
                <a:solidFill>
                  <a:srgbClr val="002060"/>
                </a:solidFill>
                <a:latin typeface="Times New Roman" panose="02020603050405020304" pitchFamily="18" charset="0"/>
                <a:cs typeface="Times New Roman" panose="02020603050405020304" pitchFamily="18" charset="0"/>
              </a:rPr>
              <a:t>For Loans Maturing within 1 Year</a:t>
            </a:r>
            <a:r>
              <a:rPr lang="en-IN" sz="1400" dirty="0" smtClean="0">
                <a:solidFill>
                  <a:srgbClr val="002060"/>
                </a:solidFill>
                <a:latin typeface="Times New Roman" panose="02020603050405020304" pitchFamily="18" charset="0"/>
                <a:cs typeface="Times New Roman" panose="02020603050405020304" pitchFamily="18" charset="0"/>
              </a:rPr>
              <a:t>,</a:t>
            </a:r>
          </a:p>
          <a:p>
            <a:pPr>
              <a:spcBef>
                <a:spcPts val="300"/>
              </a:spcBef>
              <a:spcAft>
                <a:spcPts val="500"/>
              </a:spcAft>
            </a:pPr>
            <a:r>
              <a:rPr lang="en-IN" sz="1400" dirty="0" smtClean="0">
                <a:solidFill>
                  <a:srgbClr val="002060"/>
                </a:solidFill>
                <a:latin typeface="Times New Roman" panose="02020603050405020304" pitchFamily="18" charset="0"/>
                <a:cs typeface="Times New Roman" panose="02020603050405020304" pitchFamily="18" charset="0"/>
              </a:rPr>
              <a:t>		</a:t>
            </a:r>
            <a:r>
              <a:rPr lang="en-IN" sz="1400" b="1" dirty="0" smtClean="0">
                <a:solidFill>
                  <a:srgbClr val="002060"/>
                </a:solidFill>
                <a:latin typeface="Times New Roman" panose="02020603050405020304" pitchFamily="18" charset="0"/>
                <a:cs typeface="Times New Roman" panose="02020603050405020304" pitchFamily="18" charset="0"/>
              </a:rPr>
              <a:t>EAD </a:t>
            </a:r>
            <a:r>
              <a:rPr lang="en-IN" sz="1400" b="1" dirty="0">
                <a:solidFill>
                  <a:srgbClr val="002060"/>
                </a:solidFill>
                <a:latin typeface="Times New Roman" panose="02020603050405020304" pitchFamily="18" charset="0"/>
                <a:cs typeface="Times New Roman" panose="02020603050405020304" pitchFamily="18" charset="0"/>
              </a:rPr>
              <a:t>= Outstanding Amount + Unutilized Amount * 20</a:t>
            </a:r>
            <a:r>
              <a:rPr lang="en-IN" sz="1400" b="1" dirty="0" smtClean="0">
                <a:solidFill>
                  <a:srgbClr val="002060"/>
                </a:solidFill>
                <a:latin typeface="Times New Roman" panose="02020603050405020304" pitchFamily="18" charset="0"/>
                <a:cs typeface="Times New Roman" panose="02020603050405020304" pitchFamily="18" charset="0"/>
              </a:rPr>
              <a:t>%</a:t>
            </a:r>
          </a:p>
          <a:p>
            <a:pPr marL="171426" indent="-171426">
              <a:spcBef>
                <a:spcPts val="300"/>
              </a:spcBef>
              <a:spcAft>
                <a:spcPts val="500"/>
              </a:spcAft>
              <a:buFont typeface="Courier New" panose="02070309020205020404" pitchFamily="49" charset="0"/>
              <a:buChar char="o"/>
            </a:pPr>
            <a:r>
              <a:rPr lang="en-IN" sz="1400" dirty="0">
                <a:solidFill>
                  <a:srgbClr val="002060"/>
                </a:solidFill>
                <a:latin typeface="Times New Roman" panose="02020603050405020304" pitchFamily="18" charset="0"/>
                <a:cs typeface="Times New Roman" panose="02020603050405020304" pitchFamily="18" charset="0"/>
              </a:rPr>
              <a:t>For Loans Maturing in more than 1 </a:t>
            </a:r>
            <a:r>
              <a:rPr lang="en-IN" sz="1400" dirty="0" smtClean="0">
                <a:solidFill>
                  <a:srgbClr val="002060"/>
                </a:solidFill>
                <a:latin typeface="Times New Roman" panose="02020603050405020304" pitchFamily="18" charset="0"/>
                <a:cs typeface="Times New Roman" panose="02020603050405020304" pitchFamily="18" charset="0"/>
              </a:rPr>
              <a:t>Year</a:t>
            </a:r>
          </a:p>
          <a:p>
            <a:pPr>
              <a:spcBef>
                <a:spcPts val="300"/>
              </a:spcBef>
              <a:spcAft>
                <a:spcPts val="500"/>
              </a:spcAft>
            </a:pPr>
            <a:r>
              <a:rPr lang="en-IN" sz="1400" dirty="0" smtClean="0">
                <a:solidFill>
                  <a:srgbClr val="002060"/>
                </a:solidFill>
                <a:latin typeface="Times New Roman" panose="02020603050405020304" pitchFamily="18" charset="0"/>
                <a:cs typeface="Times New Roman" panose="02020603050405020304" pitchFamily="18" charset="0"/>
              </a:rPr>
              <a:t>		</a:t>
            </a:r>
            <a:r>
              <a:rPr lang="en-IN" sz="1400" b="1" dirty="0" smtClean="0">
                <a:solidFill>
                  <a:srgbClr val="002060"/>
                </a:solidFill>
                <a:latin typeface="Times New Roman" panose="02020603050405020304" pitchFamily="18" charset="0"/>
                <a:cs typeface="Times New Roman" panose="02020603050405020304" pitchFamily="18" charset="0"/>
              </a:rPr>
              <a:t>EAD </a:t>
            </a:r>
            <a:r>
              <a:rPr lang="en-IN" sz="1400" b="1" dirty="0">
                <a:solidFill>
                  <a:srgbClr val="002060"/>
                </a:solidFill>
                <a:latin typeface="Times New Roman" panose="02020603050405020304" pitchFamily="18" charset="0"/>
                <a:cs typeface="Times New Roman" panose="02020603050405020304" pitchFamily="18" charset="0"/>
              </a:rPr>
              <a:t>= Outstanding Amount + Unutilized Amount * 50</a:t>
            </a:r>
            <a:r>
              <a:rPr lang="en-IN" sz="1400" b="1" dirty="0" smtClean="0">
                <a:solidFill>
                  <a:srgbClr val="002060"/>
                </a:solidFill>
                <a:latin typeface="Times New Roman" panose="02020603050405020304" pitchFamily="18" charset="0"/>
                <a:cs typeface="Times New Roman" panose="02020603050405020304" pitchFamily="18" charset="0"/>
              </a:rPr>
              <a:t>%</a:t>
            </a:r>
            <a:endParaRPr lang="en-US" sz="1400" dirty="0">
              <a:solidFill>
                <a:srgbClr val="002060"/>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294162" y="1276327"/>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2060"/>
                </a:solidFill>
                <a:latin typeface="Times New Roman" panose="02020603050405020304" pitchFamily="18" charset="0"/>
                <a:cs typeface="Times New Roman" panose="02020603050405020304" pitchFamily="18" charset="0"/>
              </a:rPr>
              <a:t>1</a:t>
            </a:r>
          </a:p>
        </p:txBody>
      </p:sp>
      <p:sp>
        <p:nvSpPr>
          <p:cNvPr id="15" name="Rectangle 14"/>
          <p:cNvSpPr/>
          <p:nvPr/>
        </p:nvSpPr>
        <p:spPr>
          <a:xfrm>
            <a:off x="582194" y="1276327"/>
            <a:ext cx="8640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latin typeface="Times New Roman" panose="02020603050405020304" pitchFamily="18" charset="0"/>
                <a:cs typeface="Times New Roman" panose="02020603050405020304" pitchFamily="18" charset="0"/>
              </a:rPr>
              <a:t>Committed or </a:t>
            </a:r>
            <a:r>
              <a:rPr lang="en-US" b="1" dirty="0" smtClean="0">
                <a:solidFill>
                  <a:schemeClr val="bg1"/>
                </a:solidFill>
                <a:latin typeface="Times New Roman" panose="02020603050405020304" pitchFamily="18" charset="0"/>
                <a:cs typeface="Times New Roman" panose="02020603050405020304" pitchFamily="18" charset="0"/>
              </a:rPr>
              <a:t>Irrevocable Facilities</a:t>
            </a:r>
          </a:p>
        </p:txBody>
      </p:sp>
      <p:sp>
        <p:nvSpPr>
          <p:cNvPr id="16" name="Rectangle 15"/>
          <p:cNvSpPr/>
          <p:nvPr/>
        </p:nvSpPr>
        <p:spPr>
          <a:xfrm>
            <a:off x="274638" y="4266038"/>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2060"/>
                </a:solidFill>
                <a:latin typeface="Times New Roman" panose="02020603050405020304" pitchFamily="18" charset="0"/>
                <a:cs typeface="Times New Roman" panose="02020603050405020304" pitchFamily="18" charset="0"/>
              </a:rPr>
              <a:t>2</a:t>
            </a:r>
          </a:p>
        </p:txBody>
      </p:sp>
      <p:sp>
        <p:nvSpPr>
          <p:cNvPr id="17" name="Rectangle 16"/>
          <p:cNvSpPr/>
          <p:nvPr/>
        </p:nvSpPr>
        <p:spPr>
          <a:xfrm>
            <a:off x="562670" y="4266038"/>
            <a:ext cx="8640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latin typeface="Times New Roman" panose="02020603050405020304" pitchFamily="18" charset="0"/>
                <a:cs typeface="Times New Roman" panose="02020603050405020304" pitchFamily="18" charset="0"/>
              </a:rPr>
              <a:t>Uncommitted or </a:t>
            </a:r>
            <a:r>
              <a:rPr lang="en-US" b="1" dirty="0" smtClean="0">
                <a:solidFill>
                  <a:schemeClr val="bg1"/>
                </a:solidFill>
                <a:latin typeface="Times New Roman" panose="02020603050405020304" pitchFamily="18" charset="0"/>
                <a:cs typeface="Times New Roman" panose="02020603050405020304" pitchFamily="18" charset="0"/>
              </a:rPr>
              <a:t>Revocable Facilities</a:t>
            </a:r>
          </a:p>
        </p:txBody>
      </p:sp>
      <p:sp>
        <p:nvSpPr>
          <p:cNvPr id="19" name="Rectangle 18"/>
          <p:cNvSpPr/>
          <p:nvPr/>
        </p:nvSpPr>
        <p:spPr>
          <a:xfrm>
            <a:off x="280514" y="4481324"/>
            <a:ext cx="8934856" cy="1261872"/>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71426" indent="-171426">
              <a:spcBef>
                <a:spcPts val="300"/>
              </a:spcBef>
              <a:spcAft>
                <a:spcPts val="500"/>
              </a:spcAft>
              <a:buFont typeface="Courier New" panose="02070309020205020404" pitchFamily="49" charset="0"/>
              <a:buChar char="o"/>
            </a:pPr>
            <a:r>
              <a:rPr lang="en-IN" sz="1400" dirty="0" smtClean="0">
                <a:solidFill>
                  <a:srgbClr val="002060"/>
                </a:solidFill>
                <a:latin typeface="Times New Roman" panose="02020603050405020304" pitchFamily="18" charset="0"/>
                <a:cs typeface="Times New Roman" panose="02020603050405020304" pitchFamily="18" charset="0"/>
              </a:rPr>
              <a:t>These are those facilities which can be </a:t>
            </a:r>
            <a:r>
              <a:rPr lang="en-IN" sz="1400" dirty="0">
                <a:solidFill>
                  <a:srgbClr val="002060"/>
                </a:solidFill>
                <a:latin typeface="Times New Roman" panose="02020603050405020304" pitchFamily="18" charset="0"/>
                <a:cs typeface="Times New Roman" panose="02020603050405020304" pitchFamily="18" charset="0"/>
              </a:rPr>
              <a:t>cancelled by the bank at any given point of </a:t>
            </a:r>
            <a:r>
              <a:rPr lang="en-IN" sz="1400" dirty="0" smtClean="0">
                <a:solidFill>
                  <a:srgbClr val="002060"/>
                </a:solidFill>
                <a:latin typeface="Times New Roman" panose="02020603050405020304" pitchFamily="18" charset="0"/>
                <a:cs typeface="Times New Roman" panose="02020603050405020304" pitchFamily="18" charset="0"/>
              </a:rPr>
              <a:t>time.</a:t>
            </a:r>
            <a:endParaRPr lang="en-IN" sz="1400" dirty="0">
              <a:solidFill>
                <a:srgbClr val="002060"/>
              </a:solidFill>
              <a:latin typeface="Times New Roman" panose="02020603050405020304" pitchFamily="18" charset="0"/>
              <a:cs typeface="Times New Roman" panose="02020603050405020304" pitchFamily="18" charset="0"/>
            </a:endParaRPr>
          </a:p>
          <a:p>
            <a:pPr marL="171426" indent="-171426">
              <a:spcBef>
                <a:spcPts val="300"/>
              </a:spcBef>
              <a:spcAft>
                <a:spcPts val="500"/>
              </a:spcAft>
              <a:buFont typeface="Courier New" panose="02070309020205020404" pitchFamily="49" charset="0"/>
              <a:buChar char="o"/>
            </a:pPr>
            <a:r>
              <a:rPr lang="en-IN" sz="1400" dirty="0">
                <a:solidFill>
                  <a:srgbClr val="002060"/>
                </a:solidFill>
                <a:latin typeface="Times New Roman" panose="02020603050405020304" pitchFamily="18" charset="0"/>
                <a:cs typeface="Times New Roman" panose="02020603050405020304" pitchFamily="18" charset="0"/>
              </a:rPr>
              <a:t>For these facilities, Bank </a:t>
            </a:r>
            <a:r>
              <a:rPr lang="en-IN" sz="1400" dirty="0" smtClean="0">
                <a:solidFill>
                  <a:srgbClr val="002060"/>
                </a:solidFill>
                <a:latin typeface="Times New Roman" panose="02020603050405020304" pitchFamily="18" charset="0"/>
                <a:cs typeface="Times New Roman" panose="02020603050405020304" pitchFamily="18" charset="0"/>
              </a:rPr>
              <a:t>can use </a:t>
            </a:r>
            <a:r>
              <a:rPr lang="en-IN" sz="1400" dirty="0">
                <a:solidFill>
                  <a:srgbClr val="FF0000"/>
                </a:solidFill>
                <a:latin typeface="Times New Roman" panose="02020603050405020304" pitchFamily="18" charset="0"/>
                <a:cs typeface="Times New Roman" panose="02020603050405020304" pitchFamily="18" charset="0"/>
              </a:rPr>
              <a:t>regulatory EAD estimates of 0% </a:t>
            </a:r>
            <a:r>
              <a:rPr lang="en-IN" sz="1400" dirty="0">
                <a:solidFill>
                  <a:srgbClr val="002060"/>
                </a:solidFill>
                <a:latin typeface="Times New Roman" panose="02020603050405020304" pitchFamily="18" charset="0"/>
                <a:cs typeface="Times New Roman" panose="02020603050405020304" pitchFamily="18" charset="0"/>
              </a:rPr>
              <a:t>and EAD is equal to the total outstanding amount</a:t>
            </a:r>
            <a:r>
              <a:rPr lang="en-IN" sz="1400" dirty="0" smtClean="0">
                <a:solidFill>
                  <a:srgbClr val="002060"/>
                </a:solidFill>
                <a:latin typeface="Times New Roman" panose="02020603050405020304" pitchFamily="18" charset="0"/>
                <a:cs typeface="Times New Roman" panose="02020603050405020304" pitchFamily="18" charset="0"/>
              </a:rPr>
              <a:t>.</a:t>
            </a:r>
          </a:p>
          <a:p>
            <a:pPr lvl="7">
              <a:spcBef>
                <a:spcPts val="300"/>
              </a:spcBef>
              <a:spcAft>
                <a:spcPts val="500"/>
              </a:spcAft>
            </a:pPr>
            <a:r>
              <a:rPr lang="en-US" sz="1400" b="1" dirty="0">
                <a:solidFill>
                  <a:srgbClr val="002060"/>
                </a:solidFill>
                <a:latin typeface="Times New Roman" panose="02020603050405020304" pitchFamily="18" charset="0"/>
                <a:cs typeface="Times New Roman" panose="02020603050405020304" pitchFamily="18" charset="0"/>
              </a:rPr>
              <a:t>EAD = Outstanding Amount</a:t>
            </a:r>
          </a:p>
          <a:p>
            <a:pPr marL="171426" indent="-171426">
              <a:spcBef>
                <a:spcPts val="300"/>
              </a:spcBef>
              <a:spcAft>
                <a:spcPts val="500"/>
              </a:spcAft>
              <a:buFont typeface="Courier New" panose="02070309020205020404" pitchFamily="49" charset="0"/>
              <a:buChar char="o"/>
            </a:pPr>
            <a:endParaRPr lang="en-IN" sz="1400" dirty="0">
              <a:solidFill>
                <a:srgbClr val="00206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6048376" y="260668"/>
            <a:ext cx="3570288" cy="707886"/>
          </a:xfrm>
          <a:prstGeom prst="rect">
            <a:avLst/>
          </a:prstGeom>
          <a:solidFill>
            <a:srgbClr val="FF0000"/>
          </a:solidFill>
        </p:spPr>
        <p:txBody>
          <a:bodyPr wrap="square" rtlCol="0">
            <a:spAutoFit/>
          </a:bodyPr>
          <a:lstStyle/>
          <a:p>
            <a:r>
              <a:rPr lang="en-US" sz="2000" b="1" dirty="0" smtClean="0">
                <a:solidFill>
                  <a:schemeClr val="bg1"/>
                </a:solidFill>
              </a:rPr>
              <a:t>Vishal to confirm to Karl that this is how the Tool works</a:t>
            </a:r>
            <a:endParaRPr lang="en-US" sz="2000" b="1" dirty="0">
              <a:solidFill>
                <a:schemeClr val="bg1"/>
              </a:solidFill>
            </a:endParaRPr>
          </a:p>
        </p:txBody>
      </p:sp>
    </p:spTree>
    <p:extLst>
      <p:ext uri="{BB962C8B-B14F-4D97-AF65-F5344CB8AC3E}">
        <p14:creationId xmlns:p14="http://schemas.microsoft.com/office/powerpoint/2010/main" val="8779906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Exposure at Default (EAD)</a:t>
            </a:r>
            <a:br>
              <a:rPr lang="en-US" sz="2400" dirty="0" smtClean="0"/>
            </a:br>
            <a:r>
              <a:rPr lang="en-US" sz="2000" i="1" dirty="0" smtClean="0"/>
              <a:t>Off Balance Sheet Exposures Treatment</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45</a:t>
            </a:fld>
            <a:endParaRPr lang="en-US" altLang="en-US"/>
          </a:p>
        </p:txBody>
      </p:sp>
      <p:sp>
        <p:nvSpPr>
          <p:cNvPr id="6" name="Rectangle 5"/>
          <p:cNvSpPr/>
          <p:nvPr/>
        </p:nvSpPr>
        <p:spPr>
          <a:xfrm>
            <a:off x="287338" y="1517374"/>
            <a:ext cx="8934856" cy="2328831"/>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71426" indent="-171426">
              <a:spcBef>
                <a:spcPts val="300"/>
              </a:spcBef>
              <a:spcAft>
                <a:spcPts val="500"/>
              </a:spcAft>
              <a:buFont typeface="Courier New" panose="02070309020205020404" pitchFamily="49" charset="0"/>
              <a:buChar char="o"/>
            </a:pPr>
            <a:r>
              <a:rPr lang="en-IN" sz="1400" dirty="0">
                <a:solidFill>
                  <a:srgbClr val="002060"/>
                </a:solidFill>
                <a:latin typeface="Times New Roman" panose="02020603050405020304" pitchFamily="18" charset="0"/>
                <a:cs typeface="Times New Roman" panose="02020603050405020304" pitchFamily="18" charset="0"/>
              </a:rPr>
              <a:t>As part of non-funded exposure, banks first </a:t>
            </a:r>
            <a:r>
              <a:rPr lang="en-IN" sz="1400" dirty="0" smtClean="0">
                <a:solidFill>
                  <a:srgbClr val="002060"/>
                </a:solidFill>
                <a:latin typeface="Times New Roman" panose="02020603050405020304" pitchFamily="18" charset="0"/>
                <a:cs typeface="Times New Roman" panose="02020603050405020304" pitchFamily="18" charset="0"/>
              </a:rPr>
              <a:t>need </a:t>
            </a:r>
            <a:r>
              <a:rPr lang="en-IN" sz="1400" dirty="0">
                <a:solidFill>
                  <a:srgbClr val="002060"/>
                </a:solidFill>
                <a:latin typeface="Times New Roman" panose="02020603050405020304" pitchFamily="18" charset="0"/>
                <a:cs typeface="Times New Roman" panose="02020603050405020304" pitchFamily="18" charset="0"/>
              </a:rPr>
              <a:t>to convert Off- Balance Sheet Exposures to On-Balance Sheet Exposures using Credit Conversion Factor (CCF</a:t>
            </a:r>
            <a:r>
              <a:rPr lang="en-IN" sz="1400" dirty="0" smtClean="0">
                <a:solidFill>
                  <a:srgbClr val="002060"/>
                </a:solidFill>
                <a:latin typeface="Times New Roman" panose="02020603050405020304" pitchFamily="18" charset="0"/>
                <a:cs typeface="Times New Roman" panose="02020603050405020304" pitchFamily="18" charset="0"/>
              </a:rPr>
              <a:t>).</a:t>
            </a:r>
          </a:p>
          <a:p>
            <a:pPr marL="171426" indent="-171426">
              <a:spcBef>
                <a:spcPts val="300"/>
              </a:spcBef>
              <a:spcAft>
                <a:spcPts val="500"/>
              </a:spcAft>
              <a:buFont typeface="Courier New" panose="02070309020205020404" pitchFamily="49" charset="0"/>
              <a:buChar char="o"/>
            </a:pPr>
            <a:r>
              <a:rPr lang="en-IN" sz="1400" dirty="0">
                <a:solidFill>
                  <a:srgbClr val="002060"/>
                </a:solidFill>
                <a:latin typeface="Times New Roman" panose="02020603050405020304" pitchFamily="18" charset="0"/>
                <a:cs typeface="Times New Roman" panose="02020603050405020304" pitchFamily="18" charset="0"/>
              </a:rPr>
              <a:t>Basel bifurcates the CCF percentages based on the nature of product i.e. </a:t>
            </a:r>
          </a:p>
          <a:p>
            <a:pPr marL="800100" lvl="1" indent="-342900">
              <a:spcBef>
                <a:spcPts val="300"/>
              </a:spcBef>
              <a:spcAft>
                <a:spcPts val="500"/>
              </a:spcAft>
              <a:buFont typeface="+mj-lt"/>
              <a:buAutoNum type="alphaLcParenR"/>
            </a:pPr>
            <a:r>
              <a:rPr lang="en-IN" sz="1400" dirty="0" smtClean="0">
                <a:solidFill>
                  <a:srgbClr val="002060"/>
                </a:solidFill>
                <a:latin typeface="Times New Roman" panose="02020603050405020304" pitchFamily="18" charset="0"/>
                <a:cs typeface="Times New Roman" panose="02020603050405020304" pitchFamily="18" charset="0"/>
              </a:rPr>
              <a:t>Trade </a:t>
            </a:r>
            <a:r>
              <a:rPr lang="en-IN" sz="1400" dirty="0">
                <a:solidFill>
                  <a:srgbClr val="002060"/>
                </a:solidFill>
                <a:latin typeface="Times New Roman" panose="02020603050405020304" pitchFamily="18" charset="0"/>
                <a:cs typeface="Times New Roman" panose="02020603050405020304" pitchFamily="18" charset="0"/>
              </a:rPr>
              <a:t>Related Contingencies (TRC) – 20% Regulatory CCF</a:t>
            </a:r>
          </a:p>
          <a:p>
            <a:pPr marL="800100" lvl="1" indent="-342900">
              <a:spcBef>
                <a:spcPts val="300"/>
              </a:spcBef>
              <a:spcAft>
                <a:spcPts val="500"/>
              </a:spcAft>
              <a:buFont typeface="+mj-lt"/>
              <a:buAutoNum type="alphaLcParenR"/>
            </a:pPr>
            <a:r>
              <a:rPr lang="en-IN" sz="1400" dirty="0" smtClean="0">
                <a:solidFill>
                  <a:srgbClr val="002060"/>
                </a:solidFill>
                <a:latin typeface="Times New Roman" panose="02020603050405020304" pitchFamily="18" charset="0"/>
                <a:cs typeface="Times New Roman" panose="02020603050405020304" pitchFamily="18" charset="0"/>
              </a:rPr>
              <a:t>Performance </a:t>
            </a:r>
            <a:r>
              <a:rPr lang="en-IN" sz="1400" dirty="0">
                <a:solidFill>
                  <a:srgbClr val="002060"/>
                </a:solidFill>
                <a:latin typeface="Times New Roman" panose="02020603050405020304" pitchFamily="18" charset="0"/>
                <a:cs typeface="Times New Roman" panose="02020603050405020304" pitchFamily="18" charset="0"/>
              </a:rPr>
              <a:t>Related Contingencies (PRC) – 50% Regulatory </a:t>
            </a:r>
            <a:r>
              <a:rPr lang="en-IN" sz="1400" dirty="0" smtClean="0">
                <a:solidFill>
                  <a:srgbClr val="002060"/>
                </a:solidFill>
                <a:latin typeface="Times New Roman" panose="02020603050405020304" pitchFamily="18" charset="0"/>
                <a:cs typeface="Times New Roman" panose="02020603050405020304" pitchFamily="18" charset="0"/>
              </a:rPr>
              <a:t>CCF</a:t>
            </a:r>
          </a:p>
          <a:p>
            <a:pPr marL="800100" lvl="1" indent="-342900">
              <a:spcBef>
                <a:spcPts val="300"/>
              </a:spcBef>
              <a:spcAft>
                <a:spcPts val="500"/>
              </a:spcAft>
              <a:buFont typeface="+mj-lt"/>
              <a:buAutoNum type="alphaLcParenR"/>
            </a:pPr>
            <a:r>
              <a:rPr lang="en-IN" sz="1400" dirty="0" smtClean="0">
                <a:solidFill>
                  <a:srgbClr val="002060"/>
                </a:solidFill>
                <a:latin typeface="Times New Roman" panose="02020603050405020304" pitchFamily="18" charset="0"/>
                <a:cs typeface="Times New Roman" panose="02020603050405020304" pitchFamily="18" charset="0"/>
              </a:rPr>
              <a:t>Direct </a:t>
            </a:r>
            <a:r>
              <a:rPr lang="en-IN" sz="1400" dirty="0">
                <a:solidFill>
                  <a:srgbClr val="002060"/>
                </a:solidFill>
                <a:latin typeface="Times New Roman" panose="02020603050405020304" pitchFamily="18" charset="0"/>
                <a:cs typeface="Times New Roman" panose="02020603050405020304" pitchFamily="18" charset="0"/>
              </a:rPr>
              <a:t>Credit Substitutes (DCS) - 100% Regulatory CCF</a:t>
            </a:r>
          </a:p>
          <a:p>
            <a:pPr marL="171426" indent="-171426">
              <a:spcBef>
                <a:spcPts val="300"/>
              </a:spcBef>
              <a:spcAft>
                <a:spcPts val="500"/>
              </a:spcAft>
              <a:buFont typeface="Courier New" panose="02070309020205020404" pitchFamily="49" charset="0"/>
              <a:buChar char="o"/>
            </a:pPr>
            <a:r>
              <a:rPr lang="en-US" sz="1400" dirty="0" smtClean="0">
                <a:solidFill>
                  <a:srgbClr val="002060"/>
                </a:solidFill>
                <a:latin typeface="Times New Roman" panose="02020603050405020304" pitchFamily="18" charset="0"/>
                <a:cs typeface="Times New Roman" panose="02020603050405020304" pitchFamily="18" charset="0"/>
              </a:rPr>
              <a:t>The Bank </a:t>
            </a:r>
            <a:r>
              <a:rPr lang="en-US" sz="1400" dirty="0" smtClean="0">
                <a:solidFill>
                  <a:srgbClr val="FF0000"/>
                </a:solidFill>
                <a:latin typeface="Times New Roman" panose="02020603050405020304" pitchFamily="18" charset="0"/>
                <a:cs typeface="Times New Roman" panose="02020603050405020304" pitchFamily="18" charset="0"/>
              </a:rPr>
              <a:t>can then conduct</a:t>
            </a:r>
            <a:r>
              <a:rPr lang="en-US" sz="1400" dirty="0" smtClean="0">
                <a:solidFill>
                  <a:srgbClr val="002060"/>
                </a:solidFill>
                <a:latin typeface="Times New Roman" panose="02020603050405020304" pitchFamily="18" charset="0"/>
                <a:cs typeface="Times New Roman" panose="02020603050405020304" pitchFamily="18" charset="0"/>
              </a:rPr>
              <a:t> an internal analysis on </a:t>
            </a:r>
            <a:r>
              <a:rPr lang="en-IN" sz="1400" dirty="0">
                <a:solidFill>
                  <a:srgbClr val="002060"/>
                </a:solidFill>
                <a:latin typeface="Times New Roman" panose="02020603050405020304" pitchFamily="18" charset="0"/>
                <a:cs typeface="Times New Roman" panose="02020603050405020304" pitchFamily="18" charset="0"/>
              </a:rPr>
              <a:t>LCs portfolio to assess the actual devolvement rate of products in this </a:t>
            </a:r>
            <a:r>
              <a:rPr lang="en-IN" sz="1400" dirty="0" smtClean="0">
                <a:solidFill>
                  <a:srgbClr val="002060"/>
                </a:solidFill>
                <a:latin typeface="Times New Roman" panose="02020603050405020304" pitchFamily="18" charset="0"/>
                <a:cs typeface="Times New Roman" panose="02020603050405020304" pitchFamily="18" charset="0"/>
              </a:rPr>
              <a:t>category. If the rate matches the actual CCF of the corresponding LC then the CCF can be used as a proxy.</a:t>
            </a:r>
            <a:endParaRPr lang="en-US" sz="1400" dirty="0">
              <a:solidFill>
                <a:srgbClr val="002060"/>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294162" y="1276327"/>
            <a:ext cx="288032" cy="216024"/>
          </a:xfrm>
          <a:prstGeom prst="rect">
            <a:avLst/>
          </a:prstGeom>
          <a:solidFill>
            <a:schemeClr val="accent5"/>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Times New Roman" panose="02020603050405020304" pitchFamily="18" charset="0"/>
                <a:cs typeface="Times New Roman" panose="02020603050405020304" pitchFamily="18" charset="0"/>
              </a:rPr>
              <a:t>3</a:t>
            </a:r>
            <a:endParaRPr lang="en-US" b="1" dirty="0" smtClean="0">
              <a:solidFill>
                <a:srgbClr val="002060"/>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582194" y="1276327"/>
            <a:ext cx="8640000" cy="216024"/>
          </a:xfrm>
          <a:prstGeom prst="rect">
            <a:avLst/>
          </a:prstGeom>
          <a:solidFill>
            <a:schemeClr val="accent2"/>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latin typeface="Times New Roman" panose="02020603050405020304" pitchFamily="18" charset="0"/>
                <a:cs typeface="Times New Roman" panose="02020603050405020304" pitchFamily="18" charset="0"/>
              </a:rPr>
              <a:t>Committed or </a:t>
            </a:r>
            <a:r>
              <a:rPr lang="en-US" b="1" dirty="0" smtClean="0">
                <a:solidFill>
                  <a:schemeClr val="bg1"/>
                </a:solidFill>
                <a:latin typeface="Times New Roman" panose="02020603050405020304" pitchFamily="18" charset="0"/>
                <a:cs typeface="Times New Roman" panose="02020603050405020304" pitchFamily="18" charset="0"/>
              </a:rPr>
              <a:t>Irrevocable Facilities</a:t>
            </a:r>
          </a:p>
        </p:txBody>
      </p:sp>
      <p:sp>
        <p:nvSpPr>
          <p:cNvPr id="8" name="TextBox 7"/>
          <p:cNvSpPr txBox="1"/>
          <p:nvPr/>
        </p:nvSpPr>
        <p:spPr>
          <a:xfrm>
            <a:off x="6048376" y="260668"/>
            <a:ext cx="3570288" cy="707886"/>
          </a:xfrm>
          <a:prstGeom prst="rect">
            <a:avLst/>
          </a:prstGeom>
          <a:solidFill>
            <a:srgbClr val="FF0000"/>
          </a:solidFill>
        </p:spPr>
        <p:txBody>
          <a:bodyPr wrap="square" rtlCol="0">
            <a:spAutoFit/>
          </a:bodyPr>
          <a:lstStyle/>
          <a:p>
            <a:r>
              <a:rPr lang="en-US" sz="2000" b="1" dirty="0" smtClean="0">
                <a:solidFill>
                  <a:schemeClr val="bg1"/>
                </a:solidFill>
              </a:rPr>
              <a:t>Vishal to confirm to Karl that this is how the Tool works</a:t>
            </a:r>
            <a:endParaRPr lang="en-US" sz="2000" b="1" dirty="0">
              <a:solidFill>
                <a:schemeClr val="bg1"/>
              </a:solidFill>
            </a:endParaRPr>
          </a:p>
        </p:txBody>
      </p:sp>
    </p:spTree>
    <p:extLst>
      <p:ext uri="{BB962C8B-B14F-4D97-AF65-F5344CB8AC3E}">
        <p14:creationId xmlns:p14="http://schemas.microsoft.com/office/powerpoint/2010/main" val="138305368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Exposure at Default (EAD)</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46</a:t>
            </a:fld>
            <a:endParaRPr lang="en-US" altLang="en-US"/>
          </a:p>
        </p:txBody>
      </p:sp>
      <p:sp>
        <p:nvSpPr>
          <p:cNvPr id="12" name="Content Placeholder 2"/>
          <p:cNvSpPr>
            <a:spLocks noGrp="1"/>
          </p:cNvSpPr>
          <p:nvPr>
            <p:ph sz="half" idx="1"/>
          </p:nvPr>
        </p:nvSpPr>
        <p:spPr>
          <a:xfrm>
            <a:off x="287339" y="1181100"/>
            <a:ext cx="3843014" cy="5178797"/>
          </a:xfrm>
        </p:spPr>
        <p:txBody>
          <a:bodyPr lIns="72000" tIns="72000" rIns="72000"/>
          <a:lstStyle/>
          <a:p>
            <a:pPr marL="0" indent="0">
              <a:buNone/>
            </a:pPr>
            <a:r>
              <a:rPr lang="en-US" sz="1600" b="1" dirty="0">
                <a:solidFill>
                  <a:schemeClr val="tx2"/>
                </a:solidFill>
              </a:rPr>
              <a:t>Methodology for </a:t>
            </a:r>
            <a:r>
              <a:rPr lang="en-US" sz="1600" b="1" dirty="0" smtClean="0">
                <a:solidFill>
                  <a:schemeClr val="tx2"/>
                </a:solidFill>
              </a:rPr>
              <a:t>Basel Regulatory Capital</a:t>
            </a:r>
            <a:endParaRPr lang="en-US" sz="1600" b="1" dirty="0">
              <a:solidFill>
                <a:schemeClr val="tx2"/>
              </a:solidFill>
            </a:endParaRPr>
          </a:p>
          <a:p>
            <a:pPr marL="400050" indent="-400050">
              <a:buFont typeface="+mj-lt"/>
              <a:buAutoNum type="romanLcPeriod"/>
            </a:pPr>
            <a:r>
              <a:rPr lang="en-IN" sz="1400" dirty="0"/>
              <a:t>Cannot be lower than current balance</a:t>
            </a:r>
          </a:p>
          <a:p>
            <a:pPr marL="400050" indent="-400050">
              <a:buFont typeface="+mj-lt"/>
              <a:buAutoNum type="romanLcPeriod"/>
            </a:pPr>
            <a:r>
              <a:rPr lang="en-IN" sz="1400" dirty="0"/>
              <a:t>EL always calculated for the entire year - Maturity of &lt;1year not </a:t>
            </a:r>
            <a:r>
              <a:rPr lang="en-IN" sz="1400" dirty="0" smtClean="0"/>
              <a:t>considered</a:t>
            </a:r>
            <a:endParaRPr lang="en-IN" sz="1400" dirty="0"/>
          </a:p>
        </p:txBody>
      </p:sp>
      <p:sp>
        <p:nvSpPr>
          <p:cNvPr id="13" name="Content Placeholder 2"/>
          <p:cNvSpPr txBox="1">
            <a:spLocks/>
          </p:cNvSpPr>
          <p:nvPr/>
        </p:nvSpPr>
        <p:spPr>
          <a:xfrm>
            <a:off x="4408166" y="1181100"/>
            <a:ext cx="5210497" cy="5178797"/>
          </a:xfrm>
          <a:prstGeom prst="rect">
            <a:avLst/>
          </a:prstGeom>
        </p:spPr>
        <p:txBody>
          <a:bodyPr lIns="72000" tIns="72000" rIns="72000"/>
          <a:lst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chemeClr val="tx2"/>
                </a:solidFill>
              </a:rPr>
              <a:t>Methodology for </a:t>
            </a:r>
            <a:r>
              <a:rPr lang="en-GB" sz="1600" b="1" dirty="0">
                <a:solidFill>
                  <a:schemeClr val="tx2"/>
                </a:solidFill>
              </a:rPr>
              <a:t>IFRS 9</a:t>
            </a:r>
          </a:p>
          <a:p>
            <a:pPr marL="400050" indent="-400050" fontAlgn="ctr">
              <a:buFont typeface="+mj-lt"/>
              <a:buAutoNum type="romanLcPeriod"/>
            </a:pPr>
            <a:r>
              <a:rPr lang="en-IN" sz="1400" dirty="0"/>
              <a:t>Contractual amortization schedules over the remaining contractual life </a:t>
            </a:r>
          </a:p>
          <a:p>
            <a:pPr marL="400050" indent="-400050" fontAlgn="ctr">
              <a:buFont typeface="+mj-lt"/>
              <a:buAutoNum type="romanLcPeriod"/>
            </a:pPr>
            <a:r>
              <a:rPr lang="en-GB" sz="1400" dirty="0" err="1"/>
              <a:t>Optionalities</a:t>
            </a:r>
            <a:r>
              <a:rPr lang="en-GB" sz="1400" dirty="0"/>
              <a:t> (behavioural)</a:t>
            </a:r>
          </a:p>
          <a:p>
            <a:pPr marL="400050" indent="-400050" fontAlgn="ctr">
              <a:buFont typeface="+mj-lt"/>
              <a:buAutoNum type="romanLcPeriod"/>
            </a:pPr>
            <a:r>
              <a:rPr lang="en-GB" sz="1400" dirty="0"/>
              <a:t>Prepayment /early redemption rights</a:t>
            </a:r>
          </a:p>
          <a:p>
            <a:pPr marL="400050" indent="-400050" fontAlgn="ctr">
              <a:buFont typeface="+mj-lt"/>
              <a:buAutoNum type="romanLcPeriod"/>
            </a:pPr>
            <a:r>
              <a:rPr lang="en-GB" sz="1400" dirty="0"/>
              <a:t>Overpayment </a:t>
            </a:r>
            <a:r>
              <a:rPr lang="en-GB" sz="1400" dirty="0" smtClean="0"/>
              <a:t>rights</a:t>
            </a:r>
          </a:p>
          <a:p>
            <a:pPr marL="400050" indent="-400050" fontAlgn="ctr">
              <a:buFont typeface="+mj-lt"/>
              <a:buAutoNum type="romanLcPeriod"/>
            </a:pPr>
            <a:r>
              <a:rPr lang="en-GB" sz="1400" dirty="0"/>
              <a:t>Extension </a:t>
            </a:r>
            <a:r>
              <a:rPr lang="en-GB" sz="1400" dirty="0" smtClean="0"/>
              <a:t>clauses</a:t>
            </a:r>
          </a:p>
          <a:p>
            <a:pPr marL="400050" indent="-400050" fontAlgn="ctr">
              <a:buFont typeface="+mj-lt"/>
              <a:buAutoNum type="romanLcPeriod"/>
            </a:pPr>
            <a:r>
              <a:rPr lang="en-IN" sz="1400" dirty="0"/>
              <a:t>Changes in amortisation schedule ( e.g. product switch)</a:t>
            </a:r>
          </a:p>
          <a:p>
            <a:pPr marL="400050" indent="-400050" fontAlgn="ctr">
              <a:buFont typeface="+mj-lt"/>
              <a:buAutoNum type="romanLcPeriod"/>
            </a:pPr>
            <a:r>
              <a:rPr lang="en-IN" sz="1400" dirty="0"/>
              <a:t>Incorporating of forward-looking information: Macroeconomic factors impact</a:t>
            </a:r>
          </a:p>
          <a:p>
            <a:pPr marL="400050" indent="-400050" fontAlgn="ctr">
              <a:buFont typeface="+mj-lt"/>
              <a:buAutoNum type="romanLcPeriod"/>
            </a:pPr>
            <a:r>
              <a:rPr lang="en-IN" sz="1400" dirty="0"/>
              <a:t>Lifetime can be shorter than 1 </a:t>
            </a:r>
            <a:r>
              <a:rPr lang="en-IN" sz="1400" dirty="0" smtClean="0"/>
              <a:t>year</a:t>
            </a:r>
            <a:endParaRPr lang="en-IN" sz="1400" dirty="0"/>
          </a:p>
        </p:txBody>
      </p:sp>
      <p:cxnSp>
        <p:nvCxnSpPr>
          <p:cNvPr id="15" name="Straight Connector 14"/>
          <p:cNvCxnSpPr/>
          <p:nvPr/>
        </p:nvCxnSpPr>
        <p:spPr>
          <a:xfrm>
            <a:off x="4288898" y="1154596"/>
            <a:ext cx="0" cy="533897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1524849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Exposure at Default (EAD)</a:t>
            </a:r>
            <a:r>
              <a:rPr lang="en-US" sz="2400" dirty="0" smtClean="0"/>
              <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47</a:t>
            </a:fld>
            <a:endParaRPr lang="en-US" altLang="en-US"/>
          </a:p>
        </p:txBody>
      </p:sp>
      <p:graphicFrame>
        <p:nvGraphicFramePr>
          <p:cNvPr id="7" name="Table 6"/>
          <p:cNvGraphicFramePr>
            <a:graphicFrameLocks noGrp="1"/>
          </p:cNvGraphicFramePr>
          <p:nvPr>
            <p:extLst>
              <p:ext uri="{D42A27DB-BD31-4B8C-83A1-F6EECF244321}">
                <p14:modId xmlns:p14="http://schemas.microsoft.com/office/powerpoint/2010/main" val="2159231198"/>
              </p:ext>
            </p:extLst>
          </p:nvPr>
        </p:nvGraphicFramePr>
        <p:xfrm>
          <a:off x="348869" y="1053026"/>
          <a:ext cx="9180542" cy="4831314"/>
        </p:xfrm>
        <a:graphic>
          <a:graphicData uri="http://schemas.openxmlformats.org/drawingml/2006/table">
            <a:tbl>
              <a:tblPr firstRow="1" bandRow="1">
                <a:tableStyleId>{5C22544A-7EE6-4342-B048-85BDC9FD1C3A}</a:tableStyleId>
              </a:tblPr>
              <a:tblGrid>
                <a:gridCol w="2127279"/>
                <a:gridCol w="7053263"/>
              </a:tblGrid>
              <a:tr h="281970">
                <a:tc>
                  <a:txBody>
                    <a:bodyPr/>
                    <a:lstStyle/>
                    <a:p>
                      <a:r>
                        <a:rPr lang="en-GB" sz="1400" dirty="0" smtClean="0">
                          <a:latin typeface="Times New Roman" panose="02020603050405020304" pitchFamily="18" charset="0"/>
                          <a:cs typeface="Times New Roman" panose="02020603050405020304" pitchFamily="18" charset="0"/>
                        </a:rPr>
                        <a:t>Sophisticated Approach*</a:t>
                      </a:r>
                      <a:endParaRPr lang="en-GB" sz="1400" dirty="0">
                        <a:latin typeface="Times New Roman" panose="02020603050405020304" pitchFamily="18" charset="0"/>
                        <a:cs typeface="Times New Roman" panose="02020603050405020304" pitchFamily="18" charset="0"/>
                      </a:endParaRPr>
                    </a:p>
                  </a:txBody>
                  <a:tcPr marL="93042" marR="93042" marT="46521" marB="46521">
                    <a:lnR w="12700" cap="flat" cmpd="sng" algn="ctr">
                      <a:solidFill>
                        <a:schemeClr val="tx1"/>
                      </a:solidFill>
                      <a:prstDash val="solid"/>
                      <a:round/>
                      <a:headEnd type="none" w="med" len="med"/>
                      <a:tailEnd type="none" w="med" len="med"/>
                    </a:lnR>
                    <a:solidFill>
                      <a:schemeClr val="accent2"/>
                    </a:solidFill>
                  </a:tcPr>
                </a:tc>
                <a:tc>
                  <a:txBody>
                    <a:bodyPr/>
                    <a:lstStyle/>
                    <a:p>
                      <a:endParaRPr lang="en-GB" sz="1400" dirty="0">
                        <a:latin typeface="Times New Roman" panose="02020603050405020304" pitchFamily="18" charset="0"/>
                        <a:cs typeface="Times New Roman" panose="02020603050405020304" pitchFamily="18" charset="0"/>
                      </a:endParaRPr>
                    </a:p>
                  </a:txBody>
                  <a:tcPr marL="93042" marR="93042" marT="46521" marB="46521">
                    <a:lnL w="12700" cap="flat" cmpd="sng" algn="ctr">
                      <a:solidFill>
                        <a:schemeClr val="tx1"/>
                      </a:solidFill>
                      <a:prstDash val="solid"/>
                      <a:round/>
                      <a:headEnd type="none" w="med" len="med"/>
                      <a:tailEnd type="none" w="med" len="med"/>
                    </a:lnL>
                    <a:solidFill>
                      <a:schemeClr val="accent2"/>
                    </a:solidFill>
                  </a:tcPr>
                </a:tc>
              </a:tr>
              <a:tr h="1562433">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Period of exposure</a:t>
                      </a:r>
                    </a:p>
                  </a:txBody>
                  <a:tcPr marL="93042" marR="93042" marT="46521" marB="46521"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Maximum period over which expected credit losses are measured is the </a:t>
                      </a:r>
                      <a:r>
                        <a:rPr lang="en-IN" sz="1300" b="1" u="sng" kern="1200" dirty="0" smtClean="0">
                          <a:solidFill>
                            <a:schemeClr val="tx1"/>
                          </a:solidFill>
                          <a:latin typeface="Times New Roman" pitchFamily="18" charset="0"/>
                          <a:ea typeface="+mn-ea"/>
                          <a:cs typeface="Times New Roman" pitchFamily="18" charset="0"/>
                        </a:rPr>
                        <a:t>maximum contractual period </a:t>
                      </a:r>
                      <a:r>
                        <a:rPr lang="en-IN" sz="1300" kern="1200" dirty="0" smtClean="0">
                          <a:solidFill>
                            <a:schemeClr val="tx1"/>
                          </a:solidFill>
                          <a:latin typeface="Times New Roman" pitchFamily="18" charset="0"/>
                          <a:ea typeface="+mn-ea"/>
                          <a:cs typeface="Times New Roman" pitchFamily="18" charset="0"/>
                        </a:rPr>
                        <a:t>over which entity is exposed to credit risk, in accordance with substantive terms of the contract, except for revolving credit facilities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Revolving credit facilities – period of exposure is determined by considering expected credit risk management actions which serve to mitigate credit risk</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Considers normal credit risk mitigation process</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Analyses what actually happens in practice</a:t>
                      </a:r>
                    </a:p>
                  </a:txBody>
                  <a:tcPr marL="93042" marR="93042" marT="46521" marB="46521">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2601670">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Exposure at default</a:t>
                      </a:r>
                    </a:p>
                  </a:txBody>
                  <a:tcPr marL="93042" marR="93042" marT="46521" marB="46521"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Reflects expected changes in the balance outstanding over the lifetime of the loan exposure permitted by current contractual terms including</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Required </a:t>
                      </a:r>
                      <a:r>
                        <a:rPr lang="en-IN" sz="1300" b="1" u="sng" kern="1200" dirty="0" smtClean="0">
                          <a:solidFill>
                            <a:schemeClr val="tx1"/>
                          </a:solidFill>
                          <a:latin typeface="Times New Roman" pitchFamily="18" charset="0"/>
                          <a:ea typeface="+mn-ea"/>
                          <a:cs typeface="Times New Roman" pitchFamily="18" charset="0"/>
                        </a:rPr>
                        <a:t>repayments/amortisation schedule</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Full </a:t>
                      </a:r>
                      <a:r>
                        <a:rPr lang="en-IN" sz="1300" b="1" u="sng" kern="1200" dirty="0" smtClean="0">
                          <a:solidFill>
                            <a:schemeClr val="tx1"/>
                          </a:solidFill>
                          <a:latin typeface="Times New Roman" pitchFamily="18" charset="0"/>
                          <a:ea typeface="+mn-ea"/>
                          <a:cs typeface="Times New Roman" pitchFamily="18" charset="0"/>
                        </a:rPr>
                        <a:t>early repayment</a:t>
                      </a:r>
                    </a:p>
                    <a:p>
                      <a:pPr marL="542925" marR="0" lvl="1" indent="-285750"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Monthly overpayments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endParaRPr lang="en-GB" sz="1300" kern="1200" dirty="0" smtClean="0">
                        <a:solidFill>
                          <a:schemeClr val="tx1"/>
                        </a:solidFill>
                        <a:latin typeface="Times New Roman" pitchFamily="18" charset="0"/>
                        <a:ea typeface="+mn-ea"/>
                        <a:cs typeface="Times New Roman" pitchFamily="18" charset="0"/>
                      </a:endParaRP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Cash-flow model </a:t>
                      </a:r>
                      <a:r>
                        <a:rPr lang="en-IN" sz="1300" kern="1200" dirty="0" smtClean="0">
                          <a:solidFill>
                            <a:schemeClr val="tx1"/>
                          </a:solidFill>
                          <a:latin typeface="Times New Roman" pitchFamily="18" charset="0"/>
                          <a:ea typeface="+mn-ea"/>
                          <a:cs typeface="Times New Roman" pitchFamily="18" charset="0"/>
                        </a:rPr>
                        <a:t>to calculate estimated exposure at each future month end</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Cash-flow model reflects movements in the EAD in months before default</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EAD models differentiated to reflect different risk characteristics of different portfolios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endParaRPr lang="en-GB" sz="1300" kern="1200" dirty="0">
                        <a:solidFill>
                          <a:schemeClr val="tx1"/>
                        </a:solidFill>
                        <a:latin typeface="Times New Roman" pitchFamily="18" charset="0"/>
                        <a:ea typeface="+mn-ea"/>
                        <a:cs typeface="Times New Roman" pitchFamily="18" charset="0"/>
                      </a:endParaRPr>
                    </a:p>
                  </a:txBody>
                  <a:tcPr marL="93042" marR="93042" marT="46521" marB="4652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bl>
          </a:graphicData>
        </a:graphic>
      </p:graphicFrame>
      <p:sp>
        <p:nvSpPr>
          <p:cNvPr id="5" name="TextBox 4"/>
          <p:cNvSpPr txBox="1"/>
          <p:nvPr/>
        </p:nvSpPr>
        <p:spPr>
          <a:xfrm>
            <a:off x="4041915" y="6445871"/>
            <a:ext cx="5393634" cy="279400"/>
          </a:xfrm>
          <a:prstGeom prst="rect">
            <a:avLst/>
          </a:prstGeom>
          <a:noFill/>
        </p:spPr>
        <p:txBody>
          <a:bodyPr wrap="square" rtlCol="0">
            <a:spAutoFit/>
          </a:bodyPr>
          <a:lstStyle/>
          <a:p>
            <a:pPr algn="r"/>
            <a:r>
              <a:rPr lang="en-US" i="1" dirty="0" smtClean="0"/>
              <a:t>* As per the </a:t>
            </a:r>
            <a:r>
              <a:rPr lang="en-US" i="1" dirty="0"/>
              <a:t>GPPC </a:t>
            </a:r>
            <a:r>
              <a:rPr lang="en-US" i="1" dirty="0" smtClean="0"/>
              <a:t>(</a:t>
            </a:r>
            <a:r>
              <a:rPr lang="en-US" i="1" dirty="0"/>
              <a:t>Global Public Policy </a:t>
            </a:r>
            <a:r>
              <a:rPr lang="en-US" i="1" dirty="0" smtClean="0"/>
              <a:t>Committee)</a:t>
            </a:r>
            <a:endParaRPr lang="en-IN" i="1" dirty="0"/>
          </a:p>
        </p:txBody>
      </p:sp>
      <p:sp>
        <p:nvSpPr>
          <p:cNvPr id="6" name="TextBox 5"/>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8820584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Exposure at Default (EAD)</a:t>
            </a:r>
            <a:r>
              <a:rPr lang="en-US" sz="2400" dirty="0" smtClean="0"/>
              <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48</a:t>
            </a:fld>
            <a:endParaRPr lang="en-US" altLang="en-US"/>
          </a:p>
        </p:txBody>
      </p:sp>
      <p:sp>
        <p:nvSpPr>
          <p:cNvPr id="8" name="TextBox 7"/>
          <p:cNvSpPr txBox="1"/>
          <p:nvPr/>
        </p:nvSpPr>
        <p:spPr>
          <a:xfrm>
            <a:off x="4041915" y="6445871"/>
            <a:ext cx="5393634" cy="279400"/>
          </a:xfrm>
          <a:prstGeom prst="rect">
            <a:avLst/>
          </a:prstGeom>
          <a:noFill/>
        </p:spPr>
        <p:txBody>
          <a:bodyPr wrap="square" rtlCol="0">
            <a:spAutoFit/>
          </a:bodyPr>
          <a:lstStyle/>
          <a:p>
            <a:pPr algn="r"/>
            <a:r>
              <a:rPr lang="en-US" i="1" dirty="0" smtClean="0"/>
              <a:t>* As per </a:t>
            </a:r>
            <a:r>
              <a:rPr lang="en-US" i="1" dirty="0"/>
              <a:t>the GPPC (Global Public Policy </a:t>
            </a:r>
            <a:r>
              <a:rPr lang="en-US" i="1" dirty="0" smtClean="0"/>
              <a:t>Committee) </a:t>
            </a:r>
            <a:endParaRPr lang="en-IN" i="1" dirty="0"/>
          </a:p>
        </p:txBody>
      </p:sp>
      <p:graphicFrame>
        <p:nvGraphicFramePr>
          <p:cNvPr id="7" name="Table 6"/>
          <p:cNvGraphicFramePr>
            <a:graphicFrameLocks noGrp="1"/>
          </p:cNvGraphicFramePr>
          <p:nvPr>
            <p:extLst>
              <p:ext uri="{D42A27DB-BD31-4B8C-83A1-F6EECF244321}">
                <p14:modId xmlns:p14="http://schemas.microsoft.com/office/powerpoint/2010/main" val="1956745990"/>
              </p:ext>
            </p:extLst>
          </p:nvPr>
        </p:nvGraphicFramePr>
        <p:xfrm>
          <a:off x="348869" y="1045029"/>
          <a:ext cx="9180542" cy="1986384"/>
        </p:xfrm>
        <a:graphic>
          <a:graphicData uri="http://schemas.openxmlformats.org/drawingml/2006/table">
            <a:tbl>
              <a:tblPr firstRow="1" bandRow="1">
                <a:tableStyleId>{5C22544A-7EE6-4342-B048-85BDC9FD1C3A}</a:tableStyleId>
              </a:tblPr>
              <a:tblGrid>
                <a:gridCol w="2127279"/>
                <a:gridCol w="7053263"/>
              </a:tblGrid>
              <a:tr h="314400">
                <a:tc gridSpan="2">
                  <a:txBody>
                    <a:bodyPr/>
                    <a:lstStyle/>
                    <a:p>
                      <a:r>
                        <a:rPr lang="en-IN" sz="1400" dirty="0" smtClean="0">
                          <a:latin typeface="Times New Roman" panose="02020603050405020304" pitchFamily="18" charset="0"/>
                          <a:cs typeface="Times New Roman" panose="02020603050405020304" pitchFamily="18" charset="0"/>
                        </a:rPr>
                        <a:t>Considerations for a Simpler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c hMerge="1">
                  <a:txBody>
                    <a:bodyPr/>
                    <a:lstStyle/>
                    <a:p>
                      <a:endParaRPr lang="en-GB" sz="1400" dirty="0">
                        <a:latin typeface="Times New Roman" panose="02020603050405020304" pitchFamily="18" charset="0"/>
                        <a:cs typeface="Times New Roman" panose="02020603050405020304" pitchFamily="18" charset="0"/>
                      </a:endParaRPr>
                    </a:p>
                  </a:txBody>
                  <a:tcPr marL="93042" marR="93042" marT="46521" marB="46521">
                    <a:lnL w="12700" cap="flat" cmpd="sng" algn="ctr">
                      <a:solidFill>
                        <a:schemeClr val="tx1"/>
                      </a:solidFill>
                      <a:prstDash val="solid"/>
                      <a:round/>
                      <a:headEnd type="none" w="med" len="med"/>
                      <a:tailEnd type="none" w="med" len="med"/>
                    </a:lnL>
                    <a:solidFill>
                      <a:schemeClr val="accent2"/>
                    </a:solidFill>
                  </a:tcPr>
                </a:tc>
              </a:tr>
              <a:tr h="481586">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Period of exposure</a:t>
                      </a:r>
                    </a:p>
                  </a:txBody>
                  <a:tcPr marL="93042" marR="93042" marT="46521" marB="46521"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If the period of exposure is taken to be less than a full period specified by IFRS 9 (e.g. the point at which a specific percentage of the balance has been repaid), provide evidence that the impact on ECLs is immaterial</a:t>
                      </a:r>
                    </a:p>
                  </a:txBody>
                  <a:tcPr marL="93042" marR="93042" marT="46521" marB="46521">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796907">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Exposure at default</a:t>
                      </a:r>
                    </a:p>
                  </a:txBody>
                  <a:tcPr marL="93042" marR="93042" marT="46521" marB="46521"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Justify use of an approximation of the </a:t>
                      </a:r>
                      <a:r>
                        <a:rPr lang="en-IN" sz="1300" b="1" u="sng" kern="1200" dirty="0" smtClean="0">
                          <a:solidFill>
                            <a:schemeClr val="tx1"/>
                          </a:solidFill>
                          <a:latin typeface="Times New Roman" pitchFamily="18" charset="0"/>
                          <a:ea typeface="+mn-ea"/>
                          <a:cs typeface="Times New Roman" pitchFamily="18" charset="0"/>
                        </a:rPr>
                        <a:t>current-12 month EAD</a:t>
                      </a:r>
                      <a:r>
                        <a:rPr lang="en-IN" sz="1300" b="0" u="none" kern="1200" dirty="0" smtClean="0">
                          <a:solidFill>
                            <a:schemeClr val="tx1"/>
                          </a:solidFill>
                          <a:latin typeface="Times New Roman" pitchFamily="18" charset="0"/>
                          <a:ea typeface="+mn-ea"/>
                          <a:cs typeface="Times New Roman" pitchFamily="18" charset="0"/>
                        </a:rPr>
                        <a:t> as a proxy for the EAD remaining life</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Justify the use of segmented </a:t>
                      </a:r>
                      <a:r>
                        <a:rPr lang="en-IN" sz="1300" b="1" u="sng" kern="1200" dirty="0" smtClean="0">
                          <a:solidFill>
                            <a:schemeClr val="tx1"/>
                          </a:solidFill>
                          <a:latin typeface="Times New Roman" pitchFamily="18" charset="0"/>
                          <a:ea typeface="+mn-ea"/>
                          <a:cs typeface="Times New Roman" pitchFamily="18" charset="0"/>
                        </a:rPr>
                        <a:t>credit conversion factor</a:t>
                      </a:r>
                      <a:r>
                        <a:rPr lang="en-IN" sz="1300" b="0" u="none" kern="1200" dirty="0" smtClean="0">
                          <a:solidFill>
                            <a:schemeClr val="tx1"/>
                          </a:solidFill>
                          <a:latin typeface="Times New Roman" pitchFamily="18" charset="0"/>
                          <a:ea typeface="+mn-ea"/>
                          <a:cs typeface="Times New Roman" pitchFamily="18" charset="0"/>
                        </a:rPr>
                        <a:t> (CCF) models is appropriate </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May use fewer levels of risk segmentation, if provides reasonable and supportable evidence</a:t>
                      </a:r>
                    </a:p>
                  </a:txBody>
                  <a:tcPr marL="93042" marR="93042" marT="46521" marB="4652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10628988"/>
              </p:ext>
            </p:extLst>
          </p:nvPr>
        </p:nvGraphicFramePr>
        <p:xfrm>
          <a:off x="348869" y="3429683"/>
          <a:ext cx="9180542" cy="2155325"/>
        </p:xfrm>
        <a:graphic>
          <a:graphicData uri="http://schemas.openxmlformats.org/drawingml/2006/table">
            <a:tbl>
              <a:tblPr firstRow="1" bandRow="1">
                <a:tableStyleId>{5C22544A-7EE6-4342-B048-85BDC9FD1C3A}</a:tableStyleId>
              </a:tblPr>
              <a:tblGrid>
                <a:gridCol w="2127279"/>
                <a:gridCol w="7053263"/>
              </a:tblGrid>
              <a:tr h="3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smtClean="0">
                          <a:solidFill>
                            <a:schemeClr val="bg1"/>
                          </a:solidFill>
                          <a:latin typeface="Times New Roman" panose="02020603050405020304" pitchFamily="18" charset="0"/>
                          <a:cs typeface="Times New Roman" panose="02020603050405020304" pitchFamily="18" charset="0"/>
                        </a:rPr>
                        <a:t>What is not ‘compliant’*</a:t>
                      </a:r>
                    </a:p>
                  </a:txBody>
                  <a:tcPr marL="93042" marR="93042" marT="46521" marB="46521">
                    <a:lnR w="12700" cap="flat" cmpd="sng" algn="ctr">
                      <a:solidFill>
                        <a:schemeClr val="tx1"/>
                      </a:solidFill>
                      <a:prstDash val="solid"/>
                      <a:round/>
                      <a:headEnd type="none" w="med" len="med"/>
                      <a:tailEnd type="none" w="med" len="med"/>
                    </a:lnR>
                    <a:solidFill>
                      <a:schemeClr val="accent2"/>
                    </a:solidFill>
                  </a:tcPr>
                </a:tc>
                <a:tc>
                  <a:txBody>
                    <a:bodyPr/>
                    <a:lstStyle/>
                    <a:p>
                      <a:endParaRPr lang="en-GB" sz="1400" dirty="0">
                        <a:latin typeface="Times New Roman" panose="02020603050405020304" pitchFamily="18" charset="0"/>
                        <a:cs typeface="Times New Roman" panose="02020603050405020304" pitchFamily="18" charset="0"/>
                      </a:endParaRPr>
                    </a:p>
                  </a:txBody>
                  <a:tcPr marL="93042" marR="93042" marT="46521" marB="46521">
                    <a:lnL w="12700" cap="flat" cmpd="sng" algn="ctr">
                      <a:solidFill>
                        <a:schemeClr val="tx1"/>
                      </a:solidFill>
                      <a:prstDash val="solid"/>
                      <a:round/>
                      <a:headEnd type="none" w="med" len="med"/>
                      <a:tailEnd type="none" w="med" len="med"/>
                    </a:lnL>
                    <a:solidFill>
                      <a:schemeClr val="accent2"/>
                    </a:solidFill>
                  </a:tcPr>
                </a:tc>
              </a:tr>
              <a:tr h="481586">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Period of exposure</a:t>
                      </a:r>
                    </a:p>
                  </a:txBody>
                  <a:tcPr marL="93042" marR="93042" marT="46521" marB="46521"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Define period of exposure longer or shorter than </a:t>
                      </a:r>
                      <a:r>
                        <a:rPr lang="en-IN" sz="1300" b="1" u="sng" kern="1200" dirty="0" smtClean="0">
                          <a:solidFill>
                            <a:schemeClr val="tx1"/>
                          </a:solidFill>
                          <a:latin typeface="Times New Roman" pitchFamily="18" charset="0"/>
                          <a:ea typeface="+mn-ea"/>
                          <a:cs typeface="Times New Roman" pitchFamily="18" charset="0"/>
                        </a:rPr>
                        <a:t>maximum contractual period</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Determining period of exposure equal to </a:t>
                      </a:r>
                      <a:r>
                        <a:rPr lang="en-IN" sz="1300" b="1" u="sng" kern="1200" dirty="0" smtClean="0">
                          <a:solidFill>
                            <a:schemeClr val="tx1"/>
                          </a:solidFill>
                          <a:latin typeface="Times New Roman" pitchFamily="18" charset="0"/>
                          <a:ea typeface="+mn-ea"/>
                          <a:cs typeface="Times New Roman" pitchFamily="18" charset="0"/>
                        </a:rPr>
                        <a:t>historical average </a:t>
                      </a:r>
                      <a:r>
                        <a:rPr lang="en-IN" sz="1300" kern="1200" dirty="0" smtClean="0">
                          <a:solidFill>
                            <a:schemeClr val="tx1"/>
                          </a:solidFill>
                          <a:latin typeface="Times New Roman" pitchFamily="18" charset="0"/>
                          <a:ea typeface="+mn-ea"/>
                          <a:cs typeface="Times New Roman" pitchFamily="18" charset="0"/>
                        </a:rPr>
                        <a:t>life of loans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Revolving credit facilities</a:t>
                      </a:r>
                      <a:r>
                        <a:rPr lang="en-IN" sz="1300" kern="1200" dirty="0" smtClean="0">
                          <a:solidFill>
                            <a:schemeClr val="tx1"/>
                          </a:solidFill>
                          <a:latin typeface="Times New Roman" pitchFamily="18" charset="0"/>
                          <a:ea typeface="+mn-ea"/>
                          <a:cs typeface="Times New Roman" pitchFamily="18" charset="0"/>
                        </a:rPr>
                        <a:t>, using legally enforceable contractual period unless shown that in practice this is consistently applied</a:t>
                      </a:r>
                    </a:p>
                  </a:txBody>
                  <a:tcPr marL="93042" marR="93042" marT="46521" marB="46521">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796907">
                <a:tc>
                  <a:txBody>
                    <a:bodyPr/>
                    <a:lstStyle/>
                    <a:p>
                      <a:pPr marL="0" marR="0" indent="0" algn="ctr"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None/>
                        <a:tabLst/>
                        <a:defRPr/>
                      </a:pPr>
                      <a:r>
                        <a:rPr lang="en-GB" sz="1300" kern="1200" dirty="0" smtClean="0">
                          <a:solidFill>
                            <a:schemeClr val="tx1"/>
                          </a:solidFill>
                          <a:latin typeface="Times New Roman" pitchFamily="18" charset="0"/>
                          <a:ea typeface="+mn-ea"/>
                          <a:cs typeface="Times New Roman" pitchFamily="18" charset="0"/>
                        </a:rPr>
                        <a:t>Exposure at default</a:t>
                      </a:r>
                    </a:p>
                  </a:txBody>
                  <a:tcPr marL="93042" marR="93042" marT="46521" marB="46521"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Using new or existing EAD models developed for other purposes without demonstrating that models are </a:t>
                      </a:r>
                      <a:r>
                        <a:rPr lang="en-IN" sz="1300" b="1" u="sng" kern="1200" dirty="0" smtClean="0">
                          <a:solidFill>
                            <a:schemeClr val="tx1"/>
                          </a:solidFill>
                          <a:latin typeface="Times New Roman" pitchFamily="18" charset="0"/>
                          <a:ea typeface="+mn-ea"/>
                          <a:cs typeface="Times New Roman" pitchFamily="18" charset="0"/>
                        </a:rPr>
                        <a:t>fit for purpose</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0" u="none" kern="1200" dirty="0" smtClean="0">
                          <a:solidFill>
                            <a:schemeClr val="tx1"/>
                          </a:solidFill>
                          <a:latin typeface="Times New Roman" pitchFamily="18" charset="0"/>
                          <a:ea typeface="+mn-ea"/>
                          <a:cs typeface="Times New Roman" pitchFamily="18" charset="0"/>
                        </a:rPr>
                        <a:t>Using 12 month EADs as a proxy for a lifetime of EADs without appropriate justification</a:t>
                      </a:r>
                    </a:p>
                  </a:txBody>
                  <a:tcPr marL="93042" marR="93042" marT="46521" marB="4652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bl>
          </a:graphicData>
        </a:graphic>
      </p:graphicFrame>
      <p:sp>
        <p:nvSpPr>
          <p:cNvPr id="10" name="TextBox 9"/>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716925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Credit Conversion Factor (CCF)</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49</a:t>
            </a:fld>
            <a:endParaRPr lang="en-US" altLang="en-US"/>
          </a:p>
        </p:txBody>
      </p:sp>
      <p:sp>
        <p:nvSpPr>
          <p:cNvPr id="12" name="Content Placeholder 2"/>
          <p:cNvSpPr>
            <a:spLocks noGrp="1"/>
          </p:cNvSpPr>
          <p:nvPr>
            <p:ph sz="half" idx="1"/>
          </p:nvPr>
        </p:nvSpPr>
        <p:spPr>
          <a:xfrm>
            <a:off x="287339" y="1181100"/>
            <a:ext cx="3843014" cy="5178797"/>
          </a:xfrm>
        </p:spPr>
        <p:txBody>
          <a:bodyPr lIns="72000" tIns="72000" rIns="72000"/>
          <a:lstStyle/>
          <a:p>
            <a:pPr marL="0" indent="0">
              <a:buNone/>
            </a:pPr>
            <a:r>
              <a:rPr lang="en-US" sz="1600" b="1" dirty="0">
                <a:solidFill>
                  <a:schemeClr val="tx2"/>
                </a:solidFill>
              </a:rPr>
              <a:t>Methodology for </a:t>
            </a:r>
            <a:r>
              <a:rPr lang="en-US" sz="1600" b="1" dirty="0" smtClean="0">
                <a:solidFill>
                  <a:schemeClr val="tx2"/>
                </a:solidFill>
              </a:rPr>
              <a:t>Basel Regulatory Capital</a:t>
            </a:r>
            <a:endParaRPr lang="en-US" sz="1600" b="1" dirty="0">
              <a:solidFill>
                <a:schemeClr val="tx2"/>
              </a:solidFill>
            </a:endParaRPr>
          </a:p>
          <a:p>
            <a:pPr marL="400050" indent="-400050">
              <a:buFont typeface="+mj-lt"/>
              <a:buAutoNum type="romanLcPeriod"/>
            </a:pPr>
            <a:r>
              <a:rPr lang="en-IN" sz="1400" dirty="0"/>
              <a:t>Usually just </a:t>
            </a:r>
            <a:br>
              <a:rPr lang="en-IN" sz="1400" dirty="0"/>
            </a:br>
            <a:r>
              <a:rPr lang="en-IN" sz="1400" dirty="0"/>
              <a:t>EAD =CCF*Undrawn Line of Credit</a:t>
            </a:r>
          </a:p>
          <a:p>
            <a:pPr marL="400050" indent="-400050">
              <a:buFont typeface="+mj-lt"/>
              <a:buAutoNum type="romanLcPeriod"/>
            </a:pPr>
            <a:r>
              <a:rPr lang="en-IN" sz="1400" dirty="0"/>
              <a:t>EL always calculated for the entire year – Maturity or revocability not considered</a:t>
            </a:r>
          </a:p>
          <a:p>
            <a:pPr marL="400050" indent="-400050">
              <a:buFont typeface="+mj-lt"/>
              <a:buAutoNum type="romanLcPeriod"/>
            </a:pPr>
            <a:r>
              <a:rPr lang="en-IN" sz="1400" dirty="0"/>
              <a:t>Downturn adjusted</a:t>
            </a:r>
          </a:p>
          <a:p>
            <a:pPr marL="400050" indent="-400050">
              <a:buFont typeface="+mj-lt"/>
              <a:buAutoNum type="romanLcPeriod"/>
            </a:pPr>
            <a:r>
              <a:rPr lang="en-IN" sz="1400" dirty="0"/>
              <a:t>Application of regulatory factors</a:t>
            </a:r>
          </a:p>
          <a:p>
            <a:pPr marL="400050" indent="-400050">
              <a:buFont typeface="+mj-lt"/>
              <a:buAutoNum type="romanLcPeriod"/>
            </a:pPr>
            <a:r>
              <a:rPr lang="en-IN" sz="1400" dirty="0"/>
              <a:t>CCF&gt;1 theoretically possible</a:t>
            </a:r>
          </a:p>
          <a:p>
            <a:pPr marL="400050" indent="-400050">
              <a:buFont typeface="+mj-lt"/>
              <a:buAutoNum type="romanLcPeriod"/>
            </a:pPr>
            <a:r>
              <a:rPr lang="en-IN" sz="1400" dirty="0"/>
              <a:t>No consideration of Macro effects</a:t>
            </a:r>
          </a:p>
        </p:txBody>
      </p:sp>
      <p:sp>
        <p:nvSpPr>
          <p:cNvPr id="13" name="Content Placeholder 2"/>
          <p:cNvSpPr txBox="1">
            <a:spLocks/>
          </p:cNvSpPr>
          <p:nvPr/>
        </p:nvSpPr>
        <p:spPr>
          <a:xfrm>
            <a:off x="4408166" y="1181100"/>
            <a:ext cx="5210497" cy="5178797"/>
          </a:xfrm>
          <a:prstGeom prst="rect">
            <a:avLst/>
          </a:prstGeom>
        </p:spPr>
        <p:txBody>
          <a:bodyPr lIns="72000" tIns="72000" rIns="72000"/>
          <a:lst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chemeClr val="tx2"/>
                </a:solidFill>
              </a:rPr>
              <a:t>Methodology for </a:t>
            </a:r>
            <a:r>
              <a:rPr lang="en-GB" sz="1600" b="1" dirty="0">
                <a:solidFill>
                  <a:schemeClr val="tx2"/>
                </a:solidFill>
              </a:rPr>
              <a:t>IFRS 9</a:t>
            </a:r>
          </a:p>
          <a:p>
            <a:pPr marL="400050" indent="-400050" fontAlgn="ctr">
              <a:buFont typeface="+mj-lt"/>
              <a:buAutoNum type="romanLcPeriod"/>
            </a:pPr>
            <a:r>
              <a:rPr lang="en-IN" sz="1400" dirty="0"/>
              <a:t>In scope only contractually irrevocable undrawn commitments  (e.g. mortgage  pipeline) and revolving credit facilities (B5.5.20) </a:t>
            </a:r>
          </a:p>
          <a:p>
            <a:pPr marL="400050" indent="-400050" fontAlgn="ctr">
              <a:buFont typeface="+mj-lt"/>
              <a:buAutoNum type="romanLcPeriod"/>
            </a:pPr>
            <a:r>
              <a:rPr lang="en-IN" sz="1400" dirty="0"/>
              <a:t>Requirement to cap the EAD to the contractually agreed limit or current balance if accounts are already over their limit</a:t>
            </a:r>
          </a:p>
          <a:p>
            <a:pPr marL="400050" indent="-400050" fontAlgn="ctr">
              <a:buFont typeface="+mj-lt"/>
              <a:buAutoNum type="romanLcPeriod"/>
            </a:pPr>
            <a:r>
              <a:rPr lang="en-IN" sz="1400" dirty="0"/>
              <a:t>Consideration of macroeconomic forward-looking effects on the drawing behaviour (CCF development/calibration, utilisation rates) (B5.5.52) </a:t>
            </a:r>
          </a:p>
          <a:p>
            <a:pPr marL="400050" indent="-400050" fontAlgn="ctr">
              <a:buFont typeface="+mj-lt"/>
              <a:buAutoNum type="romanLcPeriod"/>
            </a:pPr>
            <a:r>
              <a:rPr lang="en-IN" sz="1400" dirty="0"/>
              <a:t>Removal of downturn calibrations / adjustments in the CCF parameter (5.5.17a) </a:t>
            </a:r>
          </a:p>
          <a:p>
            <a:pPr marL="400050" indent="-400050" fontAlgn="ctr">
              <a:buFont typeface="+mj-lt"/>
              <a:buAutoNum type="romanLcPeriod"/>
            </a:pPr>
            <a:r>
              <a:rPr lang="en-IN" sz="1400" dirty="0"/>
              <a:t>Removal of floors in the estimation of CCF Factors</a:t>
            </a:r>
          </a:p>
          <a:p>
            <a:pPr marL="400050" indent="-400050" fontAlgn="ctr">
              <a:buFont typeface="+mj-lt"/>
              <a:buAutoNum type="romanLcPeriod"/>
            </a:pPr>
            <a:r>
              <a:rPr lang="en-IN" sz="1400" dirty="0"/>
              <a:t>Addressing the case if lifetime ≠ period used for estimating CCF parameter, e.g. application of multi-year CCFs  (depending on behavioural lifetime methodology) </a:t>
            </a:r>
          </a:p>
          <a:p>
            <a:pPr marL="400050" indent="-400050" fontAlgn="ctr">
              <a:buFont typeface="+mj-lt"/>
              <a:buAutoNum type="romanLcPeriod"/>
            </a:pPr>
            <a:r>
              <a:rPr lang="en-IN" sz="1400" dirty="0"/>
              <a:t>Lifetime can be shorter than 1 year</a:t>
            </a:r>
          </a:p>
        </p:txBody>
      </p:sp>
      <p:cxnSp>
        <p:nvCxnSpPr>
          <p:cNvPr id="15" name="Straight Connector 14"/>
          <p:cNvCxnSpPr/>
          <p:nvPr/>
        </p:nvCxnSpPr>
        <p:spPr>
          <a:xfrm>
            <a:off x="4288898" y="1154596"/>
            <a:ext cx="0" cy="533897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3912426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299907" y="898761"/>
            <a:ext cx="9385817" cy="5340723"/>
            <a:chOff x="626681" y="900871"/>
            <a:chExt cx="9670033" cy="5665971"/>
          </a:xfrm>
        </p:grpSpPr>
        <p:grpSp>
          <p:nvGrpSpPr>
            <p:cNvPr id="20" name="Group 19"/>
            <p:cNvGrpSpPr/>
            <p:nvPr/>
          </p:nvGrpSpPr>
          <p:grpSpPr>
            <a:xfrm>
              <a:off x="626681" y="900989"/>
              <a:ext cx="9670033" cy="5665853"/>
              <a:chOff x="626681" y="1008323"/>
              <a:chExt cx="9670033" cy="5665853"/>
            </a:xfrm>
          </p:grpSpPr>
          <p:sp>
            <p:nvSpPr>
              <p:cNvPr id="25" name="Rectangle 14"/>
              <p:cNvSpPr>
                <a:spLocks noChangeArrowheads="1"/>
              </p:cNvSpPr>
              <p:nvPr/>
            </p:nvSpPr>
            <p:spPr bwMode="gray">
              <a:xfrm>
                <a:off x="5152730" y="1008325"/>
                <a:ext cx="5143984" cy="5652473"/>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72855"/>
                  <a:gd name="connsiteY0" fmla="*/ 0 h 3660533"/>
                  <a:gd name="connsiteX1" fmla="*/ 5161441 w 5172855"/>
                  <a:gd name="connsiteY1" fmla="*/ 0 h 3660533"/>
                  <a:gd name="connsiteX2" fmla="*/ 5172549 w 5172855"/>
                  <a:gd name="connsiteY2" fmla="*/ 489657 h 3660533"/>
                  <a:gd name="connsiteX3" fmla="*/ 5161441 w 5172855"/>
                  <a:gd name="connsiteY3" fmla="*/ 3660533 h 3660533"/>
                  <a:gd name="connsiteX4" fmla="*/ 0 w 5172855"/>
                  <a:gd name="connsiteY4" fmla="*/ 3660533 h 3660533"/>
                  <a:gd name="connsiteX5" fmla="*/ 593766 w 5172855"/>
                  <a:gd name="connsiteY5" fmla="*/ 0 h 3660533"/>
                  <a:gd name="connsiteX0" fmla="*/ 593766 w 5163537"/>
                  <a:gd name="connsiteY0" fmla="*/ 0 h 3660533"/>
                  <a:gd name="connsiteX1" fmla="*/ 5161441 w 5163537"/>
                  <a:gd name="connsiteY1" fmla="*/ 0 h 3660533"/>
                  <a:gd name="connsiteX2" fmla="*/ 5162883 w 5163537"/>
                  <a:gd name="connsiteY2" fmla="*/ 502617 h 3660533"/>
                  <a:gd name="connsiteX3" fmla="*/ 5161441 w 5163537"/>
                  <a:gd name="connsiteY3" fmla="*/ 3660533 h 3660533"/>
                  <a:gd name="connsiteX4" fmla="*/ 0 w 5163537"/>
                  <a:gd name="connsiteY4" fmla="*/ 3660533 h 3660533"/>
                  <a:gd name="connsiteX5" fmla="*/ 593766 w 5163537"/>
                  <a:gd name="connsiteY5" fmla="*/ 0 h 3660533"/>
                  <a:gd name="connsiteX0" fmla="*/ 593766 w 5499312"/>
                  <a:gd name="connsiteY0" fmla="*/ 0 h 3660533"/>
                  <a:gd name="connsiteX1" fmla="*/ 5161441 w 5499312"/>
                  <a:gd name="connsiteY1" fmla="*/ 0 h 3660533"/>
                  <a:gd name="connsiteX2" fmla="*/ 5160175 w 5499312"/>
                  <a:gd name="connsiteY2" fmla="*/ 350657 h 3660533"/>
                  <a:gd name="connsiteX3" fmla="*/ 5162883 w 5499312"/>
                  <a:gd name="connsiteY3" fmla="*/ 502617 h 3660533"/>
                  <a:gd name="connsiteX4" fmla="*/ 5161441 w 5499312"/>
                  <a:gd name="connsiteY4" fmla="*/ 3660533 h 3660533"/>
                  <a:gd name="connsiteX5" fmla="*/ 0 w 5499312"/>
                  <a:gd name="connsiteY5" fmla="*/ 3660533 h 3660533"/>
                  <a:gd name="connsiteX6" fmla="*/ 593766 w 5499312"/>
                  <a:gd name="connsiteY6"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1441 w 5162883"/>
                  <a:gd name="connsiteY4" fmla="*/ 3660533 h 3660533"/>
                  <a:gd name="connsiteX5" fmla="*/ 0 w 5162883"/>
                  <a:gd name="connsiteY5" fmla="*/ 3660533 h 3660533"/>
                  <a:gd name="connsiteX6" fmla="*/ 593766 w 5162883"/>
                  <a:gd name="connsiteY6" fmla="*/ 0 h 3660533"/>
                  <a:gd name="connsiteX0" fmla="*/ 593766 w 5543294"/>
                  <a:gd name="connsiteY0" fmla="*/ 0 h 3660533"/>
                  <a:gd name="connsiteX1" fmla="*/ 5161441 w 5543294"/>
                  <a:gd name="connsiteY1" fmla="*/ 0 h 3660533"/>
                  <a:gd name="connsiteX2" fmla="*/ 5160175 w 5543294"/>
                  <a:gd name="connsiteY2" fmla="*/ 350657 h 3660533"/>
                  <a:gd name="connsiteX3" fmla="*/ 5162883 w 5543294"/>
                  <a:gd name="connsiteY3" fmla="*/ 502617 h 3660533"/>
                  <a:gd name="connsiteX4" fmla="*/ 5160174 w 5543294"/>
                  <a:gd name="connsiteY4" fmla="*/ 752490 h 3660533"/>
                  <a:gd name="connsiteX5" fmla="*/ 5161441 w 5543294"/>
                  <a:gd name="connsiteY5" fmla="*/ 3660533 h 3660533"/>
                  <a:gd name="connsiteX6" fmla="*/ 0 w 5543294"/>
                  <a:gd name="connsiteY6" fmla="*/ 3660533 h 3660533"/>
                  <a:gd name="connsiteX7" fmla="*/ 593766 w 5543294"/>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0174 w 5162883"/>
                  <a:gd name="connsiteY4" fmla="*/ 752490 h 3660533"/>
                  <a:gd name="connsiteX5" fmla="*/ 5161441 w 5162883"/>
                  <a:gd name="connsiteY5" fmla="*/ 3660533 h 3660533"/>
                  <a:gd name="connsiteX6" fmla="*/ 0 w 5162883"/>
                  <a:gd name="connsiteY6" fmla="*/ 3660533 h 3660533"/>
                  <a:gd name="connsiteX7" fmla="*/ 593766 w 5162883"/>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56560 w 5162883"/>
                  <a:gd name="connsiteY4" fmla="*/ 708688 h 3660533"/>
                  <a:gd name="connsiteX5" fmla="*/ 5160174 w 5162883"/>
                  <a:gd name="connsiteY5" fmla="*/ 752490 h 3660533"/>
                  <a:gd name="connsiteX6" fmla="*/ 5161441 w 5162883"/>
                  <a:gd name="connsiteY6" fmla="*/ 3660533 h 3660533"/>
                  <a:gd name="connsiteX7" fmla="*/ 0 w 5162883"/>
                  <a:gd name="connsiteY7" fmla="*/ 3660533 h 3660533"/>
                  <a:gd name="connsiteX8" fmla="*/ 593766 w 5162883"/>
                  <a:gd name="connsiteY8"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5156560 w 5163046"/>
                  <a:gd name="connsiteY5" fmla="*/ 708688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646320 w 5163046"/>
                  <a:gd name="connsiteY5" fmla="*/ 757335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272982"/>
                  <a:gd name="connsiteY0" fmla="*/ 0 h 3660533"/>
                  <a:gd name="connsiteX1" fmla="*/ 5161441 w 5272982"/>
                  <a:gd name="connsiteY1" fmla="*/ 0 h 3660533"/>
                  <a:gd name="connsiteX2" fmla="*/ 5160175 w 5272982"/>
                  <a:gd name="connsiteY2" fmla="*/ 350657 h 3660533"/>
                  <a:gd name="connsiteX3" fmla="*/ 5161096 w 5272982"/>
                  <a:gd name="connsiteY3" fmla="*/ 392488 h 3660533"/>
                  <a:gd name="connsiteX4" fmla="*/ 3646320 w 5272982"/>
                  <a:gd name="connsiteY4" fmla="*/ 757335 h 3660533"/>
                  <a:gd name="connsiteX5" fmla="*/ 5160174 w 5272982"/>
                  <a:gd name="connsiteY5" fmla="*/ 752490 h 3660533"/>
                  <a:gd name="connsiteX6" fmla="*/ 5161441 w 5272982"/>
                  <a:gd name="connsiteY6" fmla="*/ 3660533 h 3660533"/>
                  <a:gd name="connsiteX7" fmla="*/ 0 w 5272982"/>
                  <a:gd name="connsiteY7" fmla="*/ 3660533 h 3660533"/>
                  <a:gd name="connsiteX8" fmla="*/ 593766 w 5272982"/>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1096 w 5161441"/>
                  <a:gd name="connsiteY3" fmla="*/ 392488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542933"/>
                  <a:gd name="connsiteY0" fmla="*/ 0 h 3660533"/>
                  <a:gd name="connsiteX1" fmla="*/ 5161441 w 5542933"/>
                  <a:gd name="connsiteY1" fmla="*/ 0 h 3660533"/>
                  <a:gd name="connsiteX2" fmla="*/ 5160175 w 5542933"/>
                  <a:gd name="connsiteY2" fmla="*/ 350657 h 3660533"/>
                  <a:gd name="connsiteX3" fmla="*/ 3841338 w 5542933"/>
                  <a:gd name="connsiteY3" fmla="*/ 349922 h 3660533"/>
                  <a:gd name="connsiteX4" fmla="*/ 3646321 w 5542933"/>
                  <a:gd name="connsiteY4" fmla="*/ 753169 h 3660533"/>
                  <a:gd name="connsiteX5" fmla="*/ 5160174 w 5542933"/>
                  <a:gd name="connsiteY5" fmla="*/ 752490 h 3660533"/>
                  <a:gd name="connsiteX6" fmla="*/ 5158786 w 5542933"/>
                  <a:gd name="connsiteY6" fmla="*/ 2442821 h 3660533"/>
                  <a:gd name="connsiteX7" fmla="*/ 5161441 w 5542933"/>
                  <a:gd name="connsiteY7" fmla="*/ 3660533 h 3660533"/>
                  <a:gd name="connsiteX8" fmla="*/ 0 w 5542933"/>
                  <a:gd name="connsiteY8" fmla="*/ 3660533 h 3660533"/>
                  <a:gd name="connsiteX9" fmla="*/ 593766 w 5542933"/>
                  <a:gd name="connsiteY9" fmla="*/ 0 h 3660533"/>
                  <a:gd name="connsiteX0" fmla="*/ 593766 w 5271802"/>
                  <a:gd name="connsiteY0" fmla="*/ 0 h 3660533"/>
                  <a:gd name="connsiteX1" fmla="*/ 5161441 w 5271802"/>
                  <a:gd name="connsiteY1" fmla="*/ 0 h 3660533"/>
                  <a:gd name="connsiteX2" fmla="*/ 5160175 w 5271802"/>
                  <a:gd name="connsiteY2" fmla="*/ 350657 h 3660533"/>
                  <a:gd name="connsiteX3" fmla="*/ 3841338 w 5271802"/>
                  <a:gd name="connsiteY3" fmla="*/ 349922 h 3660533"/>
                  <a:gd name="connsiteX4" fmla="*/ 3646321 w 5271802"/>
                  <a:gd name="connsiteY4" fmla="*/ 753169 h 3660533"/>
                  <a:gd name="connsiteX5" fmla="*/ 5160174 w 5271802"/>
                  <a:gd name="connsiteY5" fmla="*/ 752490 h 3660533"/>
                  <a:gd name="connsiteX6" fmla="*/ 5158786 w 5271802"/>
                  <a:gd name="connsiteY6" fmla="*/ 2442821 h 3660533"/>
                  <a:gd name="connsiteX7" fmla="*/ 5161441 w 5271802"/>
                  <a:gd name="connsiteY7" fmla="*/ 3660533 h 3660533"/>
                  <a:gd name="connsiteX8" fmla="*/ 0 w 5271802"/>
                  <a:gd name="connsiteY8" fmla="*/ 3660533 h 3660533"/>
                  <a:gd name="connsiteX9" fmla="*/ 593766 w 5271802"/>
                  <a:gd name="connsiteY9"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442821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271900"/>
                  <a:gd name="connsiteY0" fmla="*/ 0 h 3660533"/>
                  <a:gd name="connsiteX1" fmla="*/ 5161441 w 5271900"/>
                  <a:gd name="connsiteY1" fmla="*/ 0 h 3660533"/>
                  <a:gd name="connsiteX2" fmla="*/ 5160175 w 5271900"/>
                  <a:gd name="connsiteY2" fmla="*/ 350657 h 3660533"/>
                  <a:gd name="connsiteX3" fmla="*/ 3841338 w 5271900"/>
                  <a:gd name="connsiteY3" fmla="*/ 349922 h 3660533"/>
                  <a:gd name="connsiteX4" fmla="*/ 3646321 w 5271900"/>
                  <a:gd name="connsiteY4" fmla="*/ 753169 h 3660533"/>
                  <a:gd name="connsiteX5" fmla="*/ 5160174 w 5271900"/>
                  <a:gd name="connsiteY5" fmla="*/ 752490 h 3660533"/>
                  <a:gd name="connsiteX6" fmla="*/ 5158786 w 5271900"/>
                  <a:gd name="connsiteY6" fmla="*/ 2051706 h 3660533"/>
                  <a:gd name="connsiteX7" fmla="*/ 5158786 w 5271900"/>
                  <a:gd name="connsiteY7" fmla="*/ 2442821 h 3660533"/>
                  <a:gd name="connsiteX8" fmla="*/ 5161441 w 5271900"/>
                  <a:gd name="connsiteY8" fmla="*/ 3660533 h 3660533"/>
                  <a:gd name="connsiteX9" fmla="*/ 0 w 5271900"/>
                  <a:gd name="connsiteY9" fmla="*/ 3660533 h 3660533"/>
                  <a:gd name="connsiteX10" fmla="*/ 593766 w 5271900"/>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42821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09433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1441 w 5543394"/>
                  <a:gd name="connsiteY12" fmla="*/ 3660533 h 3660533"/>
                  <a:gd name="connsiteX13" fmla="*/ 0 w 5543394"/>
                  <a:gd name="connsiteY13" fmla="*/ 3660533 h 3660533"/>
                  <a:gd name="connsiteX14" fmla="*/ 593766 w 5543394"/>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0174 w 5543394"/>
                  <a:gd name="connsiteY12" fmla="*/ 3350307 h 3660533"/>
                  <a:gd name="connsiteX13" fmla="*/ 5161441 w 5543394"/>
                  <a:gd name="connsiteY13" fmla="*/ 3660533 h 3660533"/>
                  <a:gd name="connsiteX14" fmla="*/ 0 w 5543394"/>
                  <a:gd name="connsiteY14" fmla="*/ 3660533 h 3660533"/>
                  <a:gd name="connsiteX15" fmla="*/ 593766 w 5543394"/>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58848 w 5161441"/>
                  <a:gd name="connsiteY12" fmla="*/ 3323150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3586 w 5161441"/>
                  <a:gd name="connsiteY12" fmla="*/ 3345464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99656 w 5161441"/>
                  <a:gd name="connsiteY11" fmla="*/ 2965086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5160174 w 5161441"/>
                  <a:gd name="connsiteY4" fmla="*/ 752490 h 3660533"/>
                  <a:gd name="connsiteX5" fmla="*/ 5158786 w 5161441"/>
                  <a:gd name="connsiteY5" fmla="*/ 2051706 h 3660533"/>
                  <a:gd name="connsiteX6" fmla="*/ 3853222 w 5161441"/>
                  <a:gd name="connsiteY6" fmla="*/ 2049322 h 3660533"/>
                  <a:gd name="connsiteX7" fmla="*/ 3661124 w 5161441"/>
                  <a:gd name="connsiteY7" fmla="*/ 2440436 h 3660533"/>
                  <a:gd name="connsiteX8" fmla="*/ 5158786 w 5161441"/>
                  <a:gd name="connsiteY8" fmla="*/ 2442821 h 3660533"/>
                  <a:gd name="connsiteX9" fmla="*/ 5160174 w 5161441"/>
                  <a:gd name="connsiteY9" fmla="*/ 2966098 h 3660533"/>
                  <a:gd name="connsiteX10" fmla="*/ 3799656 w 5161441"/>
                  <a:gd name="connsiteY10" fmla="*/ 2965086 h 3660533"/>
                  <a:gd name="connsiteX11" fmla="*/ 3606943 w 5161441"/>
                  <a:gd name="connsiteY11" fmla="*/ 3351042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853222 w 5161441"/>
                  <a:gd name="connsiteY5" fmla="*/ 2049322 h 3660533"/>
                  <a:gd name="connsiteX6" fmla="*/ 3661124 w 5161441"/>
                  <a:gd name="connsiteY6" fmla="*/ 2440436 h 3660533"/>
                  <a:gd name="connsiteX7" fmla="*/ 5158786 w 5161441"/>
                  <a:gd name="connsiteY7" fmla="*/ 2442821 h 3660533"/>
                  <a:gd name="connsiteX8" fmla="*/ 5160174 w 5161441"/>
                  <a:gd name="connsiteY8" fmla="*/ 2966098 h 3660533"/>
                  <a:gd name="connsiteX9" fmla="*/ 3799656 w 5161441"/>
                  <a:gd name="connsiteY9" fmla="*/ 2965086 h 3660533"/>
                  <a:gd name="connsiteX10" fmla="*/ 3606943 w 5161441"/>
                  <a:gd name="connsiteY10" fmla="*/ 3351042 h 3660533"/>
                  <a:gd name="connsiteX11" fmla="*/ 5160174 w 5161441"/>
                  <a:gd name="connsiteY11" fmla="*/ 3350307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661124 w 5161441"/>
                  <a:gd name="connsiteY5" fmla="*/ 2440436 h 3660533"/>
                  <a:gd name="connsiteX6" fmla="*/ 5158786 w 5161441"/>
                  <a:gd name="connsiteY6" fmla="*/ 2442821 h 3660533"/>
                  <a:gd name="connsiteX7" fmla="*/ 5160174 w 5161441"/>
                  <a:gd name="connsiteY7" fmla="*/ 2966098 h 3660533"/>
                  <a:gd name="connsiteX8" fmla="*/ 3799656 w 5161441"/>
                  <a:gd name="connsiteY8" fmla="*/ 2965086 h 3660533"/>
                  <a:gd name="connsiteX9" fmla="*/ 3606943 w 5161441"/>
                  <a:gd name="connsiteY9" fmla="*/ 3351042 h 3660533"/>
                  <a:gd name="connsiteX10" fmla="*/ 5160174 w 5161441"/>
                  <a:gd name="connsiteY10" fmla="*/ 3350307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799656 w 5161441"/>
                  <a:gd name="connsiteY7" fmla="*/ 2965086 h 3660533"/>
                  <a:gd name="connsiteX8" fmla="*/ 3606943 w 5161441"/>
                  <a:gd name="connsiteY8" fmla="*/ 3351042 h 3660533"/>
                  <a:gd name="connsiteX9" fmla="*/ 5160174 w 5161441"/>
                  <a:gd name="connsiteY9" fmla="*/ 3350307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606943 w 5161441"/>
                  <a:gd name="connsiteY7" fmla="*/ 3351042 h 3660533"/>
                  <a:gd name="connsiteX8" fmla="*/ 5160174 w 5161441"/>
                  <a:gd name="connsiteY8" fmla="*/ 3350307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5160174 w 5161441"/>
                  <a:gd name="connsiteY7" fmla="*/ 3350307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lnTo>
                      <a:pt x="5160175" y="350657"/>
                    </a:lnTo>
                    <a:cubicBezTo>
                      <a:pt x="5160175" y="484601"/>
                      <a:pt x="5160174" y="618546"/>
                      <a:pt x="5160174" y="752490"/>
                    </a:cubicBezTo>
                    <a:cubicBezTo>
                      <a:pt x="5159711" y="1185562"/>
                      <a:pt x="5159249" y="1618634"/>
                      <a:pt x="5158786" y="2051706"/>
                    </a:cubicBezTo>
                    <a:lnTo>
                      <a:pt x="5158786" y="2442821"/>
                    </a:lnTo>
                    <a:cubicBezTo>
                      <a:pt x="5159249" y="2617247"/>
                      <a:pt x="5159711" y="2791672"/>
                      <a:pt x="5160174" y="2966098"/>
                    </a:cubicBezTo>
                    <a:lnTo>
                      <a:pt x="5160174" y="3350307"/>
                    </a:lnTo>
                    <a:cubicBezTo>
                      <a:pt x="5160596" y="3453716"/>
                      <a:pt x="5161019" y="3557124"/>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808080"/>
                  </a:solidFill>
                </a:endParaRPr>
              </a:p>
            </p:txBody>
          </p:sp>
          <p:sp>
            <p:nvSpPr>
              <p:cNvPr id="22" name="Rectangle 13"/>
              <p:cNvSpPr>
                <a:spLocks noChangeArrowheads="1"/>
              </p:cNvSpPr>
              <p:nvPr/>
            </p:nvSpPr>
            <p:spPr bwMode="gray">
              <a:xfrm>
                <a:off x="5729909" y="1008323"/>
                <a:ext cx="4562000" cy="387394"/>
              </a:xfrm>
              <a:custGeom>
                <a:avLst/>
                <a:gdLst>
                  <a:gd name="connsiteX0" fmla="*/ 0 w 4423658"/>
                  <a:gd name="connsiteY0" fmla="*/ 0 h 343492"/>
                  <a:gd name="connsiteX1" fmla="*/ 4423658 w 4423658"/>
                  <a:gd name="connsiteY1" fmla="*/ 0 h 343492"/>
                  <a:gd name="connsiteX2" fmla="*/ 4423658 w 4423658"/>
                  <a:gd name="connsiteY2" fmla="*/ 343492 h 343492"/>
                  <a:gd name="connsiteX3" fmla="*/ 0 w 4423658"/>
                  <a:gd name="connsiteY3" fmla="*/ 343492 h 343492"/>
                  <a:gd name="connsiteX4" fmla="*/ 0 w 4423658"/>
                  <a:gd name="connsiteY4" fmla="*/ 0 h 343492"/>
                  <a:gd name="connsiteX0" fmla="*/ 71252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71252 w 4423658"/>
                  <a:gd name="connsiteY4" fmla="*/ 11875 h 343492"/>
                  <a:gd name="connsiteX0" fmla="*/ 60681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60681 w 4423658"/>
                  <a:gd name="connsiteY4" fmla="*/ 11875 h 343492"/>
                  <a:gd name="connsiteX0" fmla="*/ 52695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52695 w 4423658"/>
                  <a:gd name="connsiteY4" fmla="*/ 11875 h 343492"/>
                  <a:gd name="connsiteX0" fmla="*/ 60682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60682 w 4423658"/>
                  <a:gd name="connsiteY4" fmla="*/ 4824 h 343492"/>
                  <a:gd name="connsiteX0" fmla="*/ 36724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36724 w 4423658"/>
                  <a:gd name="connsiteY4" fmla="*/ 4824 h 34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658" h="343492">
                    <a:moveTo>
                      <a:pt x="36724" y="4824"/>
                    </a:moveTo>
                    <a:lnTo>
                      <a:pt x="4423658" y="0"/>
                    </a:lnTo>
                    <a:lnTo>
                      <a:pt x="4423658" y="343492"/>
                    </a:lnTo>
                    <a:lnTo>
                      <a:pt x="0" y="343492"/>
                    </a:lnTo>
                    <a:lnTo>
                      <a:pt x="36724" y="4824"/>
                    </a:lnTo>
                    <a:close/>
                  </a:path>
                </a:pathLst>
              </a:cu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4834" tIns="44114" rIns="84834" bIns="44114" anchor="ctr"/>
              <a:lstStyle/>
              <a:p>
                <a:pPr algn="ctr" defTabSz="983096" eaLnBrk="0" hangingPunct="0">
                  <a:spcAft>
                    <a:spcPct val="0"/>
                  </a:spcAft>
                  <a:buClr>
                    <a:srgbClr val="999999"/>
                  </a:buClr>
                  <a:buSzPct val="75000"/>
                  <a:defRPr/>
                </a:pPr>
                <a:r>
                  <a:rPr lang="de-DE" sz="1319" b="1" kern="0" dirty="0"/>
                  <a:t>Commentary</a:t>
                </a:r>
              </a:p>
            </p:txBody>
          </p:sp>
          <p:sp>
            <p:nvSpPr>
              <p:cNvPr id="23" name="Rectangle 13"/>
              <p:cNvSpPr>
                <a:spLocks noChangeArrowheads="1"/>
              </p:cNvSpPr>
              <p:nvPr/>
            </p:nvSpPr>
            <p:spPr bwMode="gray">
              <a:xfrm>
                <a:off x="626681" y="1008323"/>
                <a:ext cx="4930872"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rgbClr val="808080"/>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endParaRPr lang="de-DE" sz="1319" b="1" kern="0" dirty="0">
                  <a:solidFill>
                    <a:srgbClr val="FFFFFF"/>
                  </a:solidFill>
                </a:endParaRPr>
              </a:p>
            </p:txBody>
          </p:sp>
          <p:sp>
            <p:nvSpPr>
              <p:cNvPr id="24" name="Rectangle 14"/>
              <p:cNvSpPr>
                <a:spLocks noChangeArrowheads="1"/>
              </p:cNvSpPr>
              <p:nvPr/>
            </p:nvSpPr>
            <p:spPr bwMode="gray">
              <a:xfrm rot="10800000">
                <a:off x="626681" y="1021708"/>
                <a:ext cx="4932000" cy="5652468"/>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61441"/>
                  <a:gd name="connsiteY0" fmla="*/ 0 h 3660533"/>
                  <a:gd name="connsiteX1" fmla="*/ 5161441 w 5161441"/>
                  <a:gd name="connsiteY1" fmla="*/ 0 h 3660533"/>
                  <a:gd name="connsiteX2" fmla="*/ 5158253 w 5161441"/>
                  <a:gd name="connsiteY2" fmla="*/ 3307335 h 3660533"/>
                  <a:gd name="connsiteX3" fmla="*/ 5161441 w 5161441"/>
                  <a:gd name="connsiteY3" fmla="*/ 3660533 h 3660533"/>
                  <a:gd name="connsiteX4" fmla="*/ 0 w 5161441"/>
                  <a:gd name="connsiteY4" fmla="*/ 3660533 h 3660533"/>
                  <a:gd name="connsiteX5" fmla="*/ 593766 w 5161441"/>
                  <a:gd name="connsiteY5" fmla="*/ 0 h 3660533"/>
                  <a:gd name="connsiteX0" fmla="*/ 593766 w 5498844"/>
                  <a:gd name="connsiteY0" fmla="*/ 0 h 3660533"/>
                  <a:gd name="connsiteX1" fmla="*/ 5161441 w 5498844"/>
                  <a:gd name="connsiteY1" fmla="*/ 0 h 3660533"/>
                  <a:gd name="connsiteX2" fmla="*/ 5158253 w 5498844"/>
                  <a:gd name="connsiteY2" fmla="*/ 2920268 h 3660533"/>
                  <a:gd name="connsiteX3" fmla="*/ 5158253 w 5498844"/>
                  <a:gd name="connsiteY3" fmla="*/ 3307335 h 3660533"/>
                  <a:gd name="connsiteX4" fmla="*/ 5161441 w 5498844"/>
                  <a:gd name="connsiteY4" fmla="*/ 3660533 h 3660533"/>
                  <a:gd name="connsiteX5" fmla="*/ 0 w 5498844"/>
                  <a:gd name="connsiteY5" fmla="*/ 3660533 h 3660533"/>
                  <a:gd name="connsiteX6" fmla="*/ 593766 w 5498844"/>
                  <a:gd name="connsiteY6"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5158253 w 5161441"/>
                  <a:gd name="connsiteY3" fmla="*/ 3307335 h 3660533"/>
                  <a:gd name="connsiteX4" fmla="*/ 5161441 w 5161441"/>
                  <a:gd name="connsiteY4" fmla="*/ 3660533 h 3660533"/>
                  <a:gd name="connsiteX5" fmla="*/ 0 w 5161441"/>
                  <a:gd name="connsiteY5" fmla="*/ 3660533 h 3660533"/>
                  <a:gd name="connsiteX6" fmla="*/ 593766 w 5161441"/>
                  <a:gd name="connsiteY6"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223470 h 3660533"/>
                  <a:gd name="connsiteX4" fmla="*/ 5158253 w 5167281"/>
                  <a:gd name="connsiteY4" fmla="*/ 3307335 h 3660533"/>
                  <a:gd name="connsiteX5" fmla="*/ 5161441 w 5167281"/>
                  <a:gd name="connsiteY5" fmla="*/ 3660533 h 3660533"/>
                  <a:gd name="connsiteX6" fmla="*/ 0 w 5167281"/>
                  <a:gd name="connsiteY6" fmla="*/ 3660533 h 3660533"/>
                  <a:gd name="connsiteX7" fmla="*/ 593766 w 5167281"/>
                  <a:gd name="connsiteY7"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004132 h 3660533"/>
                  <a:gd name="connsiteX4" fmla="*/ 5167281 w 5167281"/>
                  <a:gd name="connsiteY4" fmla="*/ 3223470 h 3660533"/>
                  <a:gd name="connsiteX5" fmla="*/ 5158253 w 5167281"/>
                  <a:gd name="connsiteY5" fmla="*/ 3307335 h 3660533"/>
                  <a:gd name="connsiteX6" fmla="*/ 5161441 w 5167281"/>
                  <a:gd name="connsiteY6" fmla="*/ 3660533 h 3660533"/>
                  <a:gd name="connsiteX7" fmla="*/ 0 w 5167281"/>
                  <a:gd name="connsiteY7" fmla="*/ 3660533 h 3660533"/>
                  <a:gd name="connsiteX8" fmla="*/ 593766 w 5167281"/>
                  <a:gd name="connsiteY8" fmla="*/ 0 h 3660533"/>
                  <a:gd name="connsiteX0" fmla="*/ 593766 w 5167282"/>
                  <a:gd name="connsiteY0" fmla="*/ 0 h 3660533"/>
                  <a:gd name="connsiteX1" fmla="*/ 5161441 w 5167282"/>
                  <a:gd name="connsiteY1" fmla="*/ 0 h 3660533"/>
                  <a:gd name="connsiteX2" fmla="*/ 5158253 w 5167282"/>
                  <a:gd name="connsiteY2" fmla="*/ 2920268 h 3660533"/>
                  <a:gd name="connsiteX3" fmla="*/ 5167281 w 5167282"/>
                  <a:gd name="connsiteY3" fmla="*/ 3004132 h 3660533"/>
                  <a:gd name="connsiteX4" fmla="*/ 3786039 w 5167282"/>
                  <a:gd name="connsiteY4" fmla="*/ 3262177 h 3660533"/>
                  <a:gd name="connsiteX5" fmla="*/ 5158253 w 5167282"/>
                  <a:gd name="connsiteY5" fmla="*/ 3307335 h 3660533"/>
                  <a:gd name="connsiteX6" fmla="*/ 5161441 w 5167282"/>
                  <a:gd name="connsiteY6" fmla="*/ 3660533 h 3660533"/>
                  <a:gd name="connsiteX7" fmla="*/ 0 w 5167282"/>
                  <a:gd name="connsiteY7" fmla="*/ 3660533 h 3660533"/>
                  <a:gd name="connsiteX8" fmla="*/ 593766 w 5167282"/>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4093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499313"/>
                  <a:gd name="connsiteY0" fmla="*/ 0 h 3660533"/>
                  <a:gd name="connsiteX1" fmla="*/ 5161441 w 5499313"/>
                  <a:gd name="connsiteY1" fmla="*/ 0 h 3660533"/>
                  <a:gd name="connsiteX2" fmla="*/ 5159665 w 5499313"/>
                  <a:gd name="connsiteY2" fmla="*/ 1892248 h 3660533"/>
                  <a:gd name="connsiteX3" fmla="*/ 5158253 w 5499313"/>
                  <a:gd name="connsiteY3" fmla="*/ 2904063 h 3660533"/>
                  <a:gd name="connsiteX4" fmla="*/ 3876230 w 5499313"/>
                  <a:gd name="connsiteY4" fmla="*/ 2904093 h 3660533"/>
                  <a:gd name="connsiteX5" fmla="*/ 3695634 w 5499313"/>
                  <a:gd name="connsiteY5" fmla="*/ 3307365 h 3660533"/>
                  <a:gd name="connsiteX6" fmla="*/ 5158253 w 5499313"/>
                  <a:gd name="connsiteY6" fmla="*/ 3307335 h 3660533"/>
                  <a:gd name="connsiteX7" fmla="*/ 5161441 w 5499313"/>
                  <a:gd name="connsiteY7" fmla="*/ 3660533 h 3660533"/>
                  <a:gd name="connsiteX8" fmla="*/ 0 w 5499313"/>
                  <a:gd name="connsiteY8" fmla="*/ 3660533 h 3660533"/>
                  <a:gd name="connsiteX9" fmla="*/ 593766 w 5499313"/>
                  <a:gd name="connsiteY9" fmla="*/ 0 h 3660533"/>
                  <a:gd name="connsiteX0" fmla="*/ 593766 w 5253571"/>
                  <a:gd name="connsiteY0" fmla="*/ 0 h 3660533"/>
                  <a:gd name="connsiteX1" fmla="*/ 5161441 w 5253571"/>
                  <a:gd name="connsiteY1" fmla="*/ 0 h 3660533"/>
                  <a:gd name="connsiteX2" fmla="*/ 5159665 w 5253571"/>
                  <a:gd name="connsiteY2" fmla="*/ 1892248 h 3660533"/>
                  <a:gd name="connsiteX3" fmla="*/ 5158253 w 5253571"/>
                  <a:gd name="connsiteY3" fmla="*/ 2904063 h 3660533"/>
                  <a:gd name="connsiteX4" fmla="*/ 3876230 w 5253571"/>
                  <a:gd name="connsiteY4" fmla="*/ 2904093 h 3660533"/>
                  <a:gd name="connsiteX5" fmla="*/ 3695634 w 5253571"/>
                  <a:gd name="connsiteY5" fmla="*/ 3307365 h 3660533"/>
                  <a:gd name="connsiteX6" fmla="*/ 5158253 w 5253571"/>
                  <a:gd name="connsiteY6" fmla="*/ 3307335 h 3660533"/>
                  <a:gd name="connsiteX7" fmla="*/ 5161441 w 5253571"/>
                  <a:gd name="connsiteY7" fmla="*/ 3660533 h 3660533"/>
                  <a:gd name="connsiteX8" fmla="*/ 0 w 5253571"/>
                  <a:gd name="connsiteY8" fmla="*/ 3660533 h 3660533"/>
                  <a:gd name="connsiteX9" fmla="*/ 593766 w 5253571"/>
                  <a:gd name="connsiteY9" fmla="*/ 0 h 3660533"/>
                  <a:gd name="connsiteX0" fmla="*/ 593766 w 5161441"/>
                  <a:gd name="connsiteY0" fmla="*/ 0 h 3660533"/>
                  <a:gd name="connsiteX1" fmla="*/ 5161441 w 5161441"/>
                  <a:gd name="connsiteY1" fmla="*/ 0 h 3660533"/>
                  <a:gd name="connsiteX2" fmla="*/ 5159665 w 5161441"/>
                  <a:gd name="connsiteY2" fmla="*/ 1892248 h 3660533"/>
                  <a:gd name="connsiteX3" fmla="*/ 5158253 w 5161441"/>
                  <a:gd name="connsiteY3" fmla="*/ 2904063 h 3660533"/>
                  <a:gd name="connsiteX4" fmla="*/ 3876230 w 5161441"/>
                  <a:gd name="connsiteY4" fmla="*/ 2904093 h 3660533"/>
                  <a:gd name="connsiteX5" fmla="*/ 3695634 w 5161441"/>
                  <a:gd name="connsiteY5" fmla="*/ 3307365 h 3660533"/>
                  <a:gd name="connsiteX6" fmla="*/ 5158253 w 5161441"/>
                  <a:gd name="connsiteY6" fmla="*/ 3307335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892248 h 3660533"/>
                  <a:gd name="connsiteX4" fmla="*/ 5158253 w 5161441"/>
                  <a:gd name="connsiteY4" fmla="*/ 2904063 h 3660533"/>
                  <a:gd name="connsiteX5" fmla="*/ 3876230 w 5161441"/>
                  <a:gd name="connsiteY5" fmla="*/ 2904093 h 3660533"/>
                  <a:gd name="connsiteX6" fmla="*/ 3695634 w 5161441"/>
                  <a:gd name="connsiteY6" fmla="*/ 3307365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92248 h 3660533"/>
                  <a:gd name="connsiteX5" fmla="*/ 5158253 w 5161441"/>
                  <a:gd name="connsiteY5" fmla="*/ 2904063 h 3660533"/>
                  <a:gd name="connsiteX6" fmla="*/ 3876230 w 5161441"/>
                  <a:gd name="connsiteY6" fmla="*/ 2904093 h 3660533"/>
                  <a:gd name="connsiteX7" fmla="*/ 3695634 w 5161441"/>
                  <a:gd name="connsiteY7" fmla="*/ 3307365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5011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4 w 5161441"/>
                  <a:gd name="connsiteY4" fmla="*/ 1889524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5 w 5161441"/>
                  <a:gd name="connsiteY4" fmla="*/ 1893281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1324155 h 3660533"/>
                  <a:gd name="connsiteX3" fmla="*/ 5159665 w 5161441"/>
                  <a:gd name="connsiteY3" fmla="*/ 1480661 h 3660533"/>
                  <a:gd name="connsiteX4" fmla="*/ 3876188 w 5161441"/>
                  <a:gd name="connsiteY4" fmla="*/ 1480661 h 3660533"/>
                  <a:gd name="connsiteX5" fmla="*/ 3702405 w 5161441"/>
                  <a:gd name="connsiteY5" fmla="*/ 1893281 h 3660533"/>
                  <a:gd name="connsiteX6" fmla="*/ 5159665 w 5161441"/>
                  <a:gd name="connsiteY6" fmla="*/ 1892248 h 3660533"/>
                  <a:gd name="connsiteX7" fmla="*/ 5158253 w 5161441"/>
                  <a:gd name="connsiteY7" fmla="*/ 2904063 h 3660533"/>
                  <a:gd name="connsiteX8" fmla="*/ 3876230 w 5161441"/>
                  <a:gd name="connsiteY8" fmla="*/ 2904093 h 3660533"/>
                  <a:gd name="connsiteX9" fmla="*/ 3695634 w 5161441"/>
                  <a:gd name="connsiteY9" fmla="*/ 3307365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499177"/>
                  <a:gd name="connsiteY0" fmla="*/ 0 h 3660533"/>
                  <a:gd name="connsiteX1" fmla="*/ 5161441 w 5499177"/>
                  <a:gd name="connsiteY1" fmla="*/ 0 h 3660533"/>
                  <a:gd name="connsiteX2" fmla="*/ 5159381 w 5499177"/>
                  <a:gd name="connsiteY2" fmla="*/ 907453 h 3660533"/>
                  <a:gd name="connsiteX3" fmla="*/ 5159381 w 5499177"/>
                  <a:gd name="connsiteY3" fmla="*/ 1324155 h 3660533"/>
                  <a:gd name="connsiteX4" fmla="*/ 5159665 w 5499177"/>
                  <a:gd name="connsiteY4" fmla="*/ 1480661 h 3660533"/>
                  <a:gd name="connsiteX5" fmla="*/ 3876188 w 5499177"/>
                  <a:gd name="connsiteY5" fmla="*/ 1480661 h 3660533"/>
                  <a:gd name="connsiteX6" fmla="*/ 3702405 w 5499177"/>
                  <a:gd name="connsiteY6" fmla="*/ 1893281 h 3660533"/>
                  <a:gd name="connsiteX7" fmla="*/ 5159665 w 5499177"/>
                  <a:gd name="connsiteY7" fmla="*/ 1892248 h 3660533"/>
                  <a:gd name="connsiteX8" fmla="*/ 5158253 w 5499177"/>
                  <a:gd name="connsiteY8" fmla="*/ 2904063 h 3660533"/>
                  <a:gd name="connsiteX9" fmla="*/ 3876230 w 5499177"/>
                  <a:gd name="connsiteY9" fmla="*/ 2904093 h 3660533"/>
                  <a:gd name="connsiteX10" fmla="*/ 3695634 w 5499177"/>
                  <a:gd name="connsiteY10" fmla="*/ 3307365 h 3660533"/>
                  <a:gd name="connsiteX11" fmla="*/ 5158253 w 5499177"/>
                  <a:gd name="connsiteY11" fmla="*/ 3307335 h 3660533"/>
                  <a:gd name="connsiteX12" fmla="*/ 5161441 w 5499177"/>
                  <a:gd name="connsiteY12" fmla="*/ 3660533 h 3660533"/>
                  <a:gd name="connsiteX13" fmla="*/ 0 w 5499177"/>
                  <a:gd name="connsiteY13" fmla="*/ 3660533 h 3660533"/>
                  <a:gd name="connsiteX14" fmla="*/ 593766 w 5499177"/>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281417 h 3660533"/>
                  <a:gd name="connsiteX4" fmla="*/ 5159381 w 5161441"/>
                  <a:gd name="connsiteY4" fmla="*/ 1324155 h 3660533"/>
                  <a:gd name="connsiteX5" fmla="*/ 5159665 w 5161441"/>
                  <a:gd name="connsiteY5" fmla="*/ 1480661 h 3660533"/>
                  <a:gd name="connsiteX6" fmla="*/ 3876188 w 5161441"/>
                  <a:gd name="connsiteY6" fmla="*/ 1480661 h 3660533"/>
                  <a:gd name="connsiteX7" fmla="*/ 3702405 w 5161441"/>
                  <a:gd name="connsiteY7" fmla="*/ 1893281 h 3660533"/>
                  <a:gd name="connsiteX8" fmla="*/ 5159665 w 5161441"/>
                  <a:gd name="connsiteY8" fmla="*/ 1892248 h 3660533"/>
                  <a:gd name="connsiteX9" fmla="*/ 5158253 w 5161441"/>
                  <a:gd name="connsiteY9" fmla="*/ 2904063 h 3660533"/>
                  <a:gd name="connsiteX10" fmla="*/ 3876230 w 5161441"/>
                  <a:gd name="connsiteY10" fmla="*/ 2904093 h 3660533"/>
                  <a:gd name="connsiteX11" fmla="*/ 3695634 w 5161441"/>
                  <a:gd name="connsiteY11" fmla="*/ 3307365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5159381 w 5164365"/>
                  <a:gd name="connsiteY4" fmla="*/ 1281417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98415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297513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081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1690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5159665 w 5161441"/>
                  <a:gd name="connsiteY8" fmla="*/ 1870047 h 3660533"/>
                  <a:gd name="connsiteX9" fmla="*/ 5158253 w 5161441"/>
                  <a:gd name="connsiteY9" fmla="*/ 2904063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5159665 w 5161441"/>
                  <a:gd name="connsiteY7" fmla="*/ 1870047 h 3660533"/>
                  <a:gd name="connsiteX8" fmla="*/ 5158253 w 5161441"/>
                  <a:gd name="connsiteY8" fmla="*/ 2904063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5159381 w 5161441"/>
                  <a:gd name="connsiteY4" fmla="*/ 1301954 h 3660533"/>
                  <a:gd name="connsiteX5" fmla="*/ 5159665 w 5161441"/>
                  <a:gd name="connsiteY5" fmla="*/ 1458459 h 3660533"/>
                  <a:gd name="connsiteX6" fmla="*/ 5159665 w 5161441"/>
                  <a:gd name="connsiteY6" fmla="*/ 1870047 h 3660533"/>
                  <a:gd name="connsiteX7" fmla="*/ 5158253 w 5161441"/>
                  <a:gd name="connsiteY7" fmla="*/ 2904063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5159381 w 5161441"/>
                  <a:gd name="connsiteY3" fmla="*/ 1301954 h 3660533"/>
                  <a:gd name="connsiteX4" fmla="*/ 5159665 w 5161441"/>
                  <a:gd name="connsiteY4" fmla="*/ 1458459 h 3660533"/>
                  <a:gd name="connsiteX5" fmla="*/ 5159665 w 5161441"/>
                  <a:gd name="connsiteY5" fmla="*/ 1870047 h 3660533"/>
                  <a:gd name="connsiteX6" fmla="*/ 5158253 w 5161441"/>
                  <a:gd name="connsiteY6" fmla="*/ 2904063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cubicBezTo>
                      <a:pt x="5160754" y="302484"/>
                      <a:pt x="5160068" y="582768"/>
                      <a:pt x="5159381" y="885252"/>
                    </a:cubicBezTo>
                    <a:lnTo>
                      <a:pt x="5159381" y="1301954"/>
                    </a:lnTo>
                    <a:cubicBezTo>
                      <a:pt x="5159476" y="1354123"/>
                      <a:pt x="5159570" y="1406290"/>
                      <a:pt x="5159665" y="1458459"/>
                    </a:cubicBezTo>
                    <a:lnTo>
                      <a:pt x="5159665" y="1870047"/>
                    </a:lnTo>
                    <a:cubicBezTo>
                      <a:pt x="5159194" y="2207319"/>
                      <a:pt x="5158724" y="2566791"/>
                      <a:pt x="5158253" y="2904063"/>
                    </a:cubicBezTo>
                    <a:lnTo>
                      <a:pt x="5158253" y="3307335"/>
                    </a:lnTo>
                    <a:cubicBezTo>
                      <a:pt x="5159316" y="3425068"/>
                      <a:pt x="5160378" y="3542800"/>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vert="horz"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646464"/>
                  </a:solidFill>
                </a:endParaRPr>
              </a:p>
            </p:txBody>
          </p:sp>
        </p:grpSp>
        <p:sp>
          <p:nvSpPr>
            <p:cNvPr id="21" name="Rectangle 13"/>
            <p:cNvSpPr>
              <a:spLocks noChangeArrowheads="1"/>
            </p:cNvSpPr>
            <p:nvPr/>
          </p:nvSpPr>
          <p:spPr bwMode="gray">
            <a:xfrm>
              <a:off x="630176" y="900871"/>
              <a:ext cx="4932000"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chemeClr val="accent1"/>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r>
                <a:rPr lang="de-DE" sz="1319" b="1" kern="0" dirty="0">
                  <a:solidFill>
                    <a:srgbClr val="FFFFFF"/>
                  </a:solidFill>
                </a:rPr>
                <a:t>Data</a:t>
              </a:r>
            </a:p>
          </p:txBody>
        </p:sp>
      </p:grpSp>
      <p:sp>
        <p:nvSpPr>
          <p:cNvPr id="2" name="Title 1"/>
          <p:cNvSpPr>
            <a:spLocks noGrp="1"/>
          </p:cNvSpPr>
          <p:nvPr>
            <p:ph type="title"/>
          </p:nvPr>
        </p:nvSpPr>
        <p:spPr/>
        <p:txBody>
          <a:bodyPr/>
          <a:lstStyle/>
          <a:p>
            <a:r>
              <a:rPr lang="en-US" sz="2400" dirty="0" smtClean="0"/>
              <a:t>Loss Given Default (LGD)</a:t>
            </a:r>
            <a:r>
              <a:rPr lang="en-US" sz="2800" dirty="0" smtClean="0"/>
              <a:t/>
            </a:r>
            <a:br>
              <a:rPr lang="en-US" sz="2800" dirty="0" smtClean="0"/>
            </a:br>
            <a:r>
              <a:rPr lang="en-US" sz="2000" i="1" dirty="0" smtClean="0"/>
              <a:t>Regulatory and Technical Views</a:t>
            </a:r>
            <a:endParaRPr lang="en-IN" sz="20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50</a:t>
            </a:fld>
            <a:endParaRPr lang="en-US" altLang="en-US"/>
          </a:p>
        </p:txBody>
      </p:sp>
      <p:sp>
        <p:nvSpPr>
          <p:cNvPr id="47" name="Rectangle 3"/>
          <p:cNvSpPr/>
          <p:nvPr/>
        </p:nvSpPr>
        <p:spPr bwMode="auto">
          <a:xfrm>
            <a:off x="290730" y="5354119"/>
            <a:ext cx="4337697" cy="889309"/>
          </a:xfrm>
          <a:custGeom>
            <a:avLst/>
            <a:gdLst>
              <a:gd name="connsiteX0" fmla="*/ 0 w 4323974"/>
              <a:gd name="connsiteY0" fmla="*/ 0 h 2763294"/>
              <a:gd name="connsiteX1" fmla="*/ 4323974 w 4323974"/>
              <a:gd name="connsiteY1" fmla="*/ 0 h 2763294"/>
              <a:gd name="connsiteX2" fmla="*/ 4323974 w 4323974"/>
              <a:gd name="connsiteY2" fmla="*/ 2763294 h 2763294"/>
              <a:gd name="connsiteX3" fmla="*/ 0 w 4323974"/>
              <a:gd name="connsiteY3" fmla="*/ 2763294 h 2763294"/>
              <a:gd name="connsiteX4" fmla="*/ 0 w 4323974"/>
              <a:gd name="connsiteY4" fmla="*/ 0 h 2763294"/>
              <a:gd name="connsiteX0" fmla="*/ 0 w 4575765"/>
              <a:gd name="connsiteY0" fmla="*/ 0 h 2763294"/>
              <a:gd name="connsiteX1" fmla="*/ 4575765 w 4575765"/>
              <a:gd name="connsiteY1" fmla="*/ 0 h 2763294"/>
              <a:gd name="connsiteX2" fmla="*/ 4323974 w 4575765"/>
              <a:gd name="connsiteY2" fmla="*/ 2763294 h 2763294"/>
              <a:gd name="connsiteX3" fmla="*/ 0 w 4575765"/>
              <a:gd name="connsiteY3" fmla="*/ 2763294 h 2763294"/>
              <a:gd name="connsiteX4" fmla="*/ 0 w 4575765"/>
              <a:gd name="connsiteY4" fmla="*/ 0 h 2763294"/>
              <a:gd name="connsiteX0" fmla="*/ 0 w 4523174"/>
              <a:gd name="connsiteY0" fmla="*/ 0 h 2763294"/>
              <a:gd name="connsiteX1" fmla="*/ 4523174 w 4523174"/>
              <a:gd name="connsiteY1" fmla="*/ 0 h 2763294"/>
              <a:gd name="connsiteX2" fmla="*/ 4323974 w 4523174"/>
              <a:gd name="connsiteY2" fmla="*/ 2763294 h 2763294"/>
              <a:gd name="connsiteX3" fmla="*/ 0 w 4523174"/>
              <a:gd name="connsiteY3" fmla="*/ 2763294 h 2763294"/>
              <a:gd name="connsiteX4" fmla="*/ 0 w 4523174"/>
              <a:gd name="connsiteY4" fmla="*/ 0 h 2763294"/>
              <a:gd name="connsiteX0" fmla="*/ 0 w 4494654"/>
              <a:gd name="connsiteY0" fmla="*/ 0 h 2763294"/>
              <a:gd name="connsiteX1" fmla="*/ 4494654 w 4494654"/>
              <a:gd name="connsiteY1" fmla="*/ 0 h 2763294"/>
              <a:gd name="connsiteX2" fmla="*/ 4323974 w 4494654"/>
              <a:gd name="connsiteY2" fmla="*/ 2763294 h 2763294"/>
              <a:gd name="connsiteX3" fmla="*/ 0 w 4494654"/>
              <a:gd name="connsiteY3" fmla="*/ 2763294 h 2763294"/>
              <a:gd name="connsiteX4" fmla="*/ 0 w 4494654"/>
              <a:gd name="connsiteY4" fmla="*/ 0 h 2763294"/>
              <a:gd name="connsiteX0" fmla="*/ 0 w 4475641"/>
              <a:gd name="connsiteY0" fmla="*/ 0 h 2763294"/>
              <a:gd name="connsiteX1" fmla="*/ 4475641 w 4475641"/>
              <a:gd name="connsiteY1" fmla="*/ 0 h 2763294"/>
              <a:gd name="connsiteX2" fmla="*/ 4323974 w 4475641"/>
              <a:gd name="connsiteY2" fmla="*/ 2763294 h 2763294"/>
              <a:gd name="connsiteX3" fmla="*/ 0 w 4475641"/>
              <a:gd name="connsiteY3" fmla="*/ 2763294 h 2763294"/>
              <a:gd name="connsiteX4" fmla="*/ 0 w 4475641"/>
              <a:gd name="connsiteY4" fmla="*/ 0 h 2763294"/>
              <a:gd name="connsiteX0" fmla="*/ 0 w 4485099"/>
              <a:gd name="connsiteY0" fmla="*/ 0 h 2763294"/>
              <a:gd name="connsiteX1" fmla="*/ 4485099 w 4485099"/>
              <a:gd name="connsiteY1" fmla="*/ 0 h 2763294"/>
              <a:gd name="connsiteX2" fmla="*/ 4323974 w 4485099"/>
              <a:gd name="connsiteY2" fmla="*/ 2763294 h 2763294"/>
              <a:gd name="connsiteX3" fmla="*/ 0 w 4485099"/>
              <a:gd name="connsiteY3" fmla="*/ 2763294 h 2763294"/>
              <a:gd name="connsiteX4" fmla="*/ 0 w 4485099"/>
              <a:gd name="connsiteY4" fmla="*/ 0 h 2763294"/>
              <a:gd name="connsiteX0" fmla="*/ 0 w 4437807"/>
              <a:gd name="connsiteY0" fmla="*/ 0 h 2763294"/>
              <a:gd name="connsiteX1" fmla="*/ 4437807 w 4437807"/>
              <a:gd name="connsiteY1" fmla="*/ 0 h 2763294"/>
              <a:gd name="connsiteX2" fmla="*/ 4323974 w 4437807"/>
              <a:gd name="connsiteY2" fmla="*/ 2763294 h 2763294"/>
              <a:gd name="connsiteX3" fmla="*/ 0 w 4437807"/>
              <a:gd name="connsiteY3" fmla="*/ 2763294 h 2763294"/>
              <a:gd name="connsiteX4" fmla="*/ 0 w 4437807"/>
              <a:gd name="connsiteY4" fmla="*/ 0 h 2763294"/>
              <a:gd name="connsiteX0" fmla="*/ 0 w 4428349"/>
              <a:gd name="connsiteY0" fmla="*/ 0 h 2763294"/>
              <a:gd name="connsiteX1" fmla="*/ 4428349 w 4428349"/>
              <a:gd name="connsiteY1" fmla="*/ 0 h 2763294"/>
              <a:gd name="connsiteX2" fmla="*/ 4323974 w 4428349"/>
              <a:gd name="connsiteY2" fmla="*/ 2763294 h 2763294"/>
              <a:gd name="connsiteX3" fmla="*/ 0 w 4428349"/>
              <a:gd name="connsiteY3" fmla="*/ 2763294 h 2763294"/>
              <a:gd name="connsiteX4" fmla="*/ 0 w 4428349"/>
              <a:gd name="connsiteY4" fmla="*/ 0 h 2763294"/>
              <a:gd name="connsiteX0" fmla="*/ 0 w 4447266"/>
              <a:gd name="connsiteY0" fmla="*/ 0 h 2763294"/>
              <a:gd name="connsiteX1" fmla="*/ 4447266 w 4447266"/>
              <a:gd name="connsiteY1" fmla="*/ 0 h 2763294"/>
              <a:gd name="connsiteX2" fmla="*/ 4323974 w 4447266"/>
              <a:gd name="connsiteY2" fmla="*/ 2763294 h 2763294"/>
              <a:gd name="connsiteX3" fmla="*/ 0 w 4447266"/>
              <a:gd name="connsiteY3" fmla="*/ 2763294 h 2763294"/>
              <a:gd name="connsiteX4" fmla="*/ 0 w 4447266"/>
              <a:gd name="connsiteY4" fmla="*/ 0 h 2763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7266" h="2763294">
                <a:moveTo>
                  <a:pt x="0" y="0"/>
                </a:moveTo>
                <a:lnTo>
                  <a:pt x="4447266" y="0"/>
                </a:lnTo>
                <a:lnTo>
                  <a:pt x="4323974" y="2763294"/>
                </a:lnTo>
                <a:lnTo>
                  <a:pt x="0" y="2763294"/>
                </a:lnTo>
                <a:lnTo>
                  <a:pt x="0" y="0"/>
                </a:lnTo>
                <a:close/>
              </a:path>
            </a:pathLst>
          </a:custGeom>
          <a:solidFill>
            <a:schemeClr val="accent1"/>
          </a:solidFill>
          <a:ln w="9525" cap="flat" cmpd="sng" algn="ctr">
            <a:solidFill>
              <a:schemeClr val="tx2"/>
            </a:solidFill>
            <a:prstDash val="solid"/>
            <a:round/>
            <a:headEnd type="none" w="med" len="med"/>
            <a:tailEnd type="none" w="med" len="med"/>
          </a:ln>
          <a:effectLst/>
        </p:spPr>
        <p:txBody>
          <a:bodyPr vert="horz" wrap="square" lIns="84834" tIns="44114" rIns="84834" bIns="44114" numCol="1" rtlCol="0" anchor="t" anchorCtr="0" compatLnSpc="1">
            <a:prstTxWarp prst="textNoShape">
              <a:avLst/>
            </a:prstTxWarp>
            <a:spAutoFit/>
          </a:bodyPr>
          <a:lstStyle/>
          <a:p>
            <a:pPr defTabSz="861892">
              <a:buClr>
                <a:srgbClr val="FFE600"/>
              </a:buClr>
              <a:buSzPct val="80000"/>
            </a:pPr>
            <a:r>
              <a:rPr lang="en-IN" sz="1000" b="1" dirty="0">
                <a:solidFill>
                  <a:schemeClr val="bg1"/>
                </a:solidFill>
              </a:rPr>
              <a:t>Adjustments required to Basel EAD when used as starting point</a:t>
            </a:r>
          </a:p>
          <a:p>
            <a:pPr marL="161605" indent="-161605" defTabSz="861892">
              <a:buClr>
                <a:schemeClr val="bg1"/>
              </a:buClr>
              <a:buSzPct val="80000"/>
              <a:buFont typeface="Arial" panose="020B0604020202020204" pitchFamily="34" charset="0"/>
              <a:buChar char="•"/>
            </a:pPr>
            <a:r>
              <a:rPr lang="en-IN" sz="1000" dirty="0">
                <a:solidFill>
                  <a:schemeClr val="bg1"/>
                </a:solidFill>
              </a:rPr>
              <a:t>Application of lifetime</a:t>
            </a:r>
          </a:p>
          <a:p>
            <a:pPr marL="161605" indent="-161605" defTabSz="861892">
              <a:buClr>
                <a:schemeClr val="bg1"/>
              </a:buClr>
              <a:buSzPct val="80000"/>
              <a:buFont typeface="Arial" panose="020B0604020202020204" pitchFamily="34" charset="0"/>
              <a:buChar char="•"/>
            </a:pPr>
            <a:r>
              <a:rPr lang="en-IN" sz="1000" dirty="0">
                <a:solidFill>
                  <a:schemeClr val="bg1"/>
                </a:solidFill>
              </a:rPr>
              <a:t>Removal of ‘downturn’ calibration</a:t>
            </a:r>
          </a:p>
          <a:p>
            <a:pPr marL="161605" indent="-161605" defTabSz="861892">
              <a:buClr>
                <a:schemeClr val="bg1"/>
              </a:buClr>
              <a:buSzPct val="80000"/>
              <a:buFont typeface="Arial" panose="020B0604020202020204" pitchFamily="34" charset="0"/>
              <a:buChar char="•"/>
            </a:pPr>
            <a:r>
              <a:rPr lang="en-IN" sz="1000" dirty="0">
                <a:solidFill>
                  <a:schemeClr val="bg1"/>
                </a:solidFill>
              </a:rPr>
              <a:t>Assessment of committed/non-committed lines of credit</a:t>
            </a:r>
          </a:p>
          <a:p>
            <a:pPr marL="161605" indent="-161605" defTabSz="861892">
              <a:buClr>
                <a:schemeClr val="bg1"/>
              </a:buClr>
              <a:buSzPct val="80000"/>
              <a:buFont typeface="Arial" panose="020B0604020202020204" pitchFamily="34" charset="0"/>
              <a:buChar char="•"/>
            </a:pPr>
            <a:r>
              <a:rPr lang="en-IN" sz="1000" dirty="0">
                <a:solidFill>
                  <a:schemeClr val="bg1"/>
                </a:solidFill>
              </a:rPr>
              <a:t>Inclusion of pre-payment probability</a:t>
            </a:r>
          </a:p>
        </p:txBody>
      </p:sp>
      <p:sp>
        <p:nvSpPr>
          <p:cNvPr id="28" name="TextBox 27"/>
          <p:cNvSpPr txBox="1"/>
          <p:nvPr/>
        </p:nvSpPr>
        <p:spPr>
          <a:xfrm>
            <a:off x="373350" y="1342948"/>
            <a:ext cx="3220280" cy="266355"/>
          </a:xfrm>
          <a:prstGeom prst="rect">
            <a:avLst/>
          </a:prstGeom>
          <a:noFill/>
        </p:spPr>
        <p:txBody>
          <a:bodyPr wrap="square" rtlCol="0">
            <a:spAutoFit/>
          </a:bodyPr>
          <a:lstStyle/>
          <a:p>
            <a:pPr defTabSz="861892">
              <a:spcAft>
                <a:spcPct val="50000"/>
              </a:spcAft>
              <a:buClr>
                <a:srgbClr val="FFE600"/>
              </a:buClr>
              <a:buSzPct val="80000"/>
            </a:pPr>
            <a:r>
              <a:rPr lang="en-IN" sz="1131" b="1" dirty="0">
                <a:solidFill>
                  <a:srgbClr val="000000"/>
                </a:solidFill>
              </a:rPr>
              <a:t>Calculating EAD for committed authorisations</a:t>
            </a:r>
          </a:p>
        </p:txBody>
      </p:sp>
      <p:sp>
        <p:nvSpPr>
          <p:cNvPr id="34" name="TextBox 33"/>
          <p:cNvSpPr txBox="1"/>
          <p:nvPr/>
        </p:nvSpPr>
        <p:spPr>
          <a:xfrm>
            <a:off x="5240575" y="1337564"/>
            <a:ext cx="4378088" cy="3447098"/>
          </a:xfrm>
          <a:prstGeom prst="rect">
            <a:avLst/>
          </a:prstGeom>
          <a:noFill/>
        </p:spPr>
        <p:txBody>
          <a:bodyPr wrap="square" rtlCol="0">
            <a:spAutoFit/>
          </a:bodyPr>
          <a:lstStyle/>
          <a:p>
            <a:pPr defTabSz="861892">
              <a:spcAft>
                <a:spcPts val="565"/>
              </a:spcAft>
              <a:buClr>
                <a:srgbClr val="646464"/>
              </a:buClr>
              <a:buSzPct val="100000"/>
            </a:pPr>
            <a:r>
              <a:rPr lang="de-DE" sz="1600" b="1" dirty="0">
                <a:solidFill>
                  <a:srgbClr val="000000"/>
                </a:solidFill>
              </a:rPr>
              <a:t>Exposure estimation </a:t>
            </a: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There is a clear trend with the majority of banks planning to use adjusted Basel CCFs. The rationales for the adjustments include:</a:t>
            </a:r>
          </a:p>
          <a:p>
            <a:pPr marL="293809" indent="-285750" defTabSz="861892">
              <a:spcAft>
                <a:spcPts val="283"/>
              </a:spcAft>
              <a:buClr>
                <a:schemeClr val="tx1"/>
              </a:buClr>
              <a:buSzPct val="100000"/>
              <a:buFont typeface="Times New Roman" panose="02020603050405020304" pitchFamily="18" charset="0"/>
              <a:buChar char="‒"/>
            </a:pPr>
            <a:r>
              <a:rPr lang="en-IN" sz="1400" dirty="0">
                <a:solidFill>
                  <a:srgbClr val="000000"/>
                </a:solidFill>
              </a:rPr>
              <a:t>Basing the IFRS 9 exposure estimation on amortising profiles for non-revolving products (including pre-payment patterns)</a:t>
            </a:r>
          </a:p>
          <a:p>
            <a:pPr marL="293809" indent="-285750" defTabSz="861892">
              <a:spcAft>
                <a:spcPts val="283"/>
              </a:spcAft>
              <a:buClr>
                <a:schemeClr val="tx1"/>
              </a:buClr>
              <a:buSzPct val="100000"/>
              <a:buFont typeface="Times New Roman" panose="02020603050405020304" pitchFamily="18" charset="0"/>
              <a:buChar char="‒"/>
            </a:pPr>
            <a:r>
              <a:rPr lang="en-IN" sz="1400" dirty="0">
                <a:solidFill>
                  <a:srgbClr val="000000"/>
                </a:solidFill>
              </a:rPr>
              <a:t>Creating links with liquidity models</a:t>
            </a:r>
          </a:p>
          <a:p>
            <a:pPr marL="293809" indent="-285750" defTabSz="861892">
              <a:spcAft>
                <a:spcPts val="283"/>
              </a:spcAft>
              <a:buClr>
                <a:schemeClr val="tx1"/>
              </a:buClr>
              <a:buSzPct val="100000"/>
              <a:buFont typeface="Times New Roman" panose="02020603050405020304" pitchFamily="18" charset="0"/>
              <a:buChar char="‒"/>
            </a:pPr>
            <a:r>
              <a:rPr lang="en-IN" sz="1400" dirty="0">
                <a:solidFill>
                  <a:srgbClr val="000000"/>
                </a:solidFill>
              </a:rPr>
              <a:t>Include only committed limits in the calculation of EAD</a:t>
            </a:r>
          </a:p>
          <a:p>
            <a:pPr marL="293809" indent="-285750" defTabSz="861892">
              <a:spcAft>
                <a:spcPts val="283"/>
              </a:spcAft>
              <a:buClr>
                <a:schemeClr val="tx1"/>
              </a:buClr>
              <a:buSzPct val="100000"/>
              <a:buFont typeface="Times New Roman" panose="02020603050405020304" pitchFamily="18" charset="0"/>
              <a:buChar char="‒"/>
            </a:pPr>
            <a:r>
              <a:rPr lang="en-IN" sz="1400" dirty="0">
                <a:solidFill>
                  <a:srgbClr val="000000"/>
                </a:solidFill>
              </a:rPr>
              <a:t>Remove conservatism from CCF estimation</a:t>
            </a:r>
          </a:p>
          <a:p>
            <a:pPr marL="197048" indent="-188989" defTabSz="861892">
              <a:spcAft>
                <a:spcPts val="283"/>
              </a:spcAft>
              <a:buClr>
                <a:schemeClr val="tx1"/>
              </a:buClr>
              <a:buSzPct val="100000"/>
              <a:buFont typeface="Wingdings" panose="05000000000000000000" pitchFamily="2" charset="2"/>
              <a:buChar char="§"/>
            </a:pPr>
            <a:endParaRPr lang="en-IN" sz="1400" dirty="0">
              <a:solidFill>
                <a:srgbClr val="000000"/>
              </a:solidFill>
            </a:endParaRP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Only 2 banks are planning on using Basel standardised CCFs and 5 have not made a final decision yet</a:t>
            </a:r>
          </a:p>
        </p:txBody>
      </p:sp>
      <p:graphicFrame>
        <p:nvGraphicFramePr>
          <p:cNvPr id="43" name="Chart 42"/>
          <p:cNvGraphicFramePr>
            <a:graphicFrameLocks/>
          </p:cNvGraphicFramePr>
          <p:nvPr>
            <p:extLst/>
          </p:nvPr>
        </p:nvGraphicFramePr>
        <p:xfrm>
          <a:off x="299907" y="1894433"/>
          <a:ext cx="4309554" cy="2579231"/>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468323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303380" y="959368"/>
            <a:ext cx="9385817" cy="5340723"/>
            <a:chOff x="626681" y="900871"/>
            <a:chExt cx="9670033" cy="5665971"/>
          </a:xfrm>
        </p:grpSpPr>
        <p:grpSp>
          <p:nvGrpSpPr>
            <p:cNvPr id="20" name="Group 19"/>
            <p:cNvGrpSpPr/>
            <p:nvPr/>
          </p:nvGrpSpPr>
          <p:grpSpPr>
            <a:xfrm>
              <a:off x="626681" y="900989"/>
              <a:ext cx="9670033" cy="5665853"/>
              <a:chOff x="626681" y="1008323"/>
              <a:chExt cx="9670033" cy="5665853"/>
            </a:xfrm>
          </p:grpSpPr>
          <p:sp>
            <p:nvSpPr>
              <p:cNvPr id="25" name="Rectangle 14"/>
              <p:cNvSpPr>
                <a:spLocks noChangeArrowheads="1"/>
              </p:cNvSpPr>
              <p:nvPr/>
            </p:nvSpPr>
            <p:spPr bwMode="gray">
              <a:xfrm>
                <a:off x="5152730" y="1008325"/>
                <a:ext cx="5143984" cy="5652473"/>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72855"/>
                  <a:gd name="connsiteY0" fmla="*/ 0 h 3660533"/>
                  <a:gd name="connsiteX1" fmla="*/ 5161441 w 5172855"/>
                  <a:gd name="connsiteY1" fmla="*/ 0 h 3660533"/>
                  <a:gd name="connsiteX2" fmla="*/ 5172549 w 5172855"/>
                  <a:gd name="connsiteY2" fmla="*/ 489657 h 3660533"/>
                  <a:gd name="connsiteX3" fmla="*/ 5161441 w 5172855"/>
                  <a:gd name="connsiteY3" fmla="*/ 3660533 h 3660533"/>
                  <a:gd name="connsiteX4" fmla="*/ 0 w 5172855"/>
                  <a:gd name="connsiteY4" fmla="*/ 3660533 h 3660533"/>
                  <a:gd name="connsiteX5" fmla="*/ 593766 w 5172855"/>
                  <a:gd name="connsiteY5" fmla="*/ 0 h 3660533"/>
                  <a:gd name="connsiteX0" fmla="*/ 593766 w 5163537"/>
                  <a:gd name="connsiteY0" fmla="*/ 0 h 3660533"/>
                  <a:gd name="connsiteX1" fmla="*/ 5161441 w 5163537"/>
                  <a:gd name="connsiteY1" fmla="*/ 0 h 3660533"/>
                  <a:gd name="connsiteX2" fmla="*/ 5162883 w 5163537"/>
                  <a:gd name="connsiteY2" fmla="*/ 502617 h 3660533"/>
                  <a:gd name="connsiteX3" fmla="*/ 5161441 w 5163537"/>
                  <a:gd name="connsiteY3" fmla="*/ 3660533 h 3660533"/>
                  <a:gd name="connsiteX4" fmla="*/ 0 w 5163537"/>
                  <a:gd name="connsiteY4" fmla="*/ 3660533 h 3660533"/>
                  <a:gd name="connsiteX5" fmla="*/ 593766 w 5163537"/>
                  <a:gd name="connsiteY5" fmla="*/ 0 h 3660533"/>
                  <a:gd name="connsiteX0" fmla="*/ 593766 w 5499312"/>
                  <a:gd name="connsiteY0" fmla="*/ 0 h 3660533"/>
                  <a:gd name="connsiteX1" fmla="*/ 5161441 w 5499312"/>
                  <a:gd name="connsiteY1" fmla="*/ 0 h 3660533"/>
                  <a:gd name="connsiteX2" fmla="*/ 5160175 w 5499312"/>
                  <a:gd name="connsiteY2" fmla="*/ 350657 h 3660533"/>
                  <a:gd name="connsiteX3" fmla="*/ 5162883 w 5499312"/>
                  <a:gd name="connsiteY3" fmla="*/ 502617 h 3660533"/>
                  <a:gd name="connsiteX4" fmla="*/ 5161441 w 5499312"/>
                  <a:gd name="connsiteY4" fmla="*/ 3660533 h 3660533"/>
                  <a:gd name="connsiteX5" fmla="*/ 0 w 5499312"/>
                  <a:gd name="connsiteY5" fmla="*/ 3660533 h 3660533"/>
                  <a:gd name="connsiteX6" fmla="*/ 593766 w 5499312"/>
                  <a:gd name="connsiteY6"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1441 w 5162883"/>
                  <a:gd name="connsiteY4" fmla="*/ 3660533 h 3660533"/>
                  <a:gd name="connsiteX5" fmla="*/ 0 w 5162883"/>
                  <a:gd name="connsiteY5" fmla="*/ 3660533 h 3660533"/>
                  <a:gd name="connsiteX6" fmla="*/ 593766 w 5162883"/>
                  <a:gd name="connsiteY6" fmla="*/ 0 h 3660533"/>
                  <a:gd name="connsiteX0" fmla="*/ 593766 w 5543294"/>
                  <a:gd name="connsiteY0" fmla="*/ 0 h 3660533"/>
                  <a:gd name="connsiteX1" fmla="*/ 5161441 w 5543294"/>
                  <a:gd name="connsiteY1" fmla="*/ 0 h 3660533"/>
                  <a:gd name="connsiteX2" fmla="*/ 5160175 w 5543294"/>
                  <a:gd name="connsiteY2" fmla="*/ 350657 h 3660533"/>
                  <a:gd name="connsiteX3" fmla="*/ 5162883 w 5543294"/>
                  <a:gd name="connsiteY3" fmla="*/ 502617 h 3660533"/>
                  <a:gd name="connsiteX4" fmla="*/ 5160174 w 5543294"/>
                  <a:gd name="connsiteY4" fmla="*/ 752490 h 3660533"/>
                  <a:gd name="connsiteX5" fmla="*/ 5161441 w 5543294"/>
                  <a:gd name="connsiteY5" fmla="*/ 3660533 h 3660533"/>
                  <a:gd name="connsiteX6" fmla="*/ 0 w 5543294"/>
                  <a:gd name="connsiteY6" fmla="*/ 3660533 h 3660533"/>
                  <a:gd name="connsiteX7" fmla="*/ 593766 w 5543294"/>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0174 w 5162883"/>
                  <a:gd name="connsiteY4" fmla="*/ 752490 h 3660533"/>
                  <a:gd name="connsiteX5" fmla="*/ 5161441 w 5162883"/>
                  <a:gd name="connsiteY5" fmla="*/ 3660533 h 3660533"/>
                  <a:gd name="connsiteX6" fmla="*/ 0 w 5162883"/>
                  <a:gd name="connsiteY6" fmla="*/ 3660533 h 3660533"/>
                  <a:gd name="connsiteX7" fmla="*/ 593766 w 5162883"/>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56560 w 5162883"/>
                  <a:gd name="connsiteY4" fmla="*/ 708688 h 3660533"/>
                  <a:gd name="connsiteX5" fmla="*/ 5160174 w 5162883"/>
                  <a:gd name="connsiteY5" fmla="*/ 752490 h 3660533"/>
                  <a:gd name="connsiteX6" fmla="*/ 5161441 w 5162883"/>
                  <a:gd name="connsiteY6" fmla="*/ 3660533 h 3660533"/>
                  <a:gd name="connsiteX7" fmla="*/ 0 w 5162883"/>
                  <a:gd name="connsiteY7" fmla="*/ 3660533 h 3660533"/>
                  <a:gd name="connsiteX8" fmla="*/ 593766 w 5162883"/>
                  <a:gd name="connsiteY8"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5156560 w 5163046"/>
                  <a:gd name="connsiteY5" fmla="*/ 708688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646320 w 5163046"/>
                  <a:gd name="connsiteY5" fmla="*/ 757335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272982"/>
                  <a:gd name="connsiteY0" fmla="*/ 0 h 3660533"/>
                  <a:gd name="connsiteX1" fmla="*/ 5161441 w 5272982"/>
                  <a:gd name="connsiteY1" fmla="*/ 0 h 3660533"/>
                  <a:gd name="connsiteX2" fmla="*/ 5160175 w 5272982"/>
                  <a:gd name="connsiteY2" fmla="*/ 350657 h 3660533"/>
                  <a:gd name="connsiteX3" fmla="*/ 5161096 w 5272982"/>
                  <a:gd name="connsiteY3" fmla="*/ 392488 h 3660533"/>
                  <a:gd name="connsiteX4" fmla="*/ 3646320 w 5272982"/>
                  <a:gd name="connsiteY4" fmla="*/ 757335 h 3660533"/>
                  <a:gd name="connsiteX5" fmla="*/ 5160174 w 5272982"/>
                  <a:gd name="connsiteY5" fmla="*/ 752490 h 3660533"/>
                  <a:gd name="connsiteX6" fmla="*/ 5161441 w 5272982"/>
                  <a:gd name="connsiteY6" fmla="*/ 3660533 h 3660533"/>
                  <a:gd name="connsiteX7" fmla="*/ 0 w 5272982"/>
                  <a:gd name="connsiteY7" fmla="*/ 3660533 h 3660533"/>
                  <a:gd name="connsiteX8" fmla="*/ 593766 w 5272982"/>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1096 w 5161441"/>
                  <a:gd name="connsiteY3" fmla="*/ 392488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542933"/>
                  <a:gd name="connsiteY0" fmla="*/ 0 h 3660533"/>
                  <a:gd name="connsiteX1" fmla="*/ 5161441 w 5542933"/>
                  <a:gd name="connsiteY1" fmla="*/ 0 h 3660533"/>
                  <a:gd name="connsiteX2" fmla="*/ 5160175 w 5542933"/>
                  <a:gd name="connsiteY2" fmla="*/ 350657 h 3660533"/>
                  <a:gd name="connsiteX3" fmla="*/ 3841338 w 5542933"/>
                  <a:gd name="connsiteY3" fmla="*/ 349922 h 3660533"/>
                  <a:gd name="connsiteX4" fmla="*/ 3646321 w 5542933"/>
                  <a:gd name="connsiteY4" fmla="*/ 753169 h 3660533"/>
                  <a:gd name="connsiteX5" fmla="*/ 5160174 w 5542933"/>
                  <a:gd name="connsiteY5" fmla="*/ 752490 h 3660533"/>
                  <a:gd name="connsiteX6" fmla="*/ 5158786 w 5542933"/>
                  <a:gd name="connsiteY6" fmla="*/ 2442821 h 3660533"/>
                  <a:gd name="connsiteX7" fmla="*/ 5161441 w 5542933"/>
                  <a:gd name="connsiteY7" fmla="*/ 3660533 h 3660533"/>
                  <a:gd name="connsiteX8" fmla="*/ 0 w 5542933"/>
                  <a:gd name="connsiteY8" fmla="*/ 3660533 h 3660533"/>
                  <a:gd name="connsiteX9" fmla="*/ 593766 w 5542933"/>
                  <a:gd name="connsiteY9" fmla="*/ 0 h 3660533"/>
                  <a:gd name="connsiteX0" fmla="*/ 593766 w 5271802"/>
                  <a:gd name="connsiteY0" fmla="*/ 0 h 3660533"/>
                  <a:gd name="connsiteX1" fmla="*/ 5161441 w 5271802"/>
                  <a:gd name="connsiteY1" fmla="*/ 0 h 3660533"/>
                  <a:gd name="connsiteX2" fmla="*/ 5160175 w 5271802"/>
                  <a:gd name="connsiteY2" fmla="*/ 350657 h 3660533"/>
                  <a:gd name="connsiteX3" fmla="*/ 3841338 w 5271802"/>
                  <a:gd name="connsiteY3" fmla="*/ 349922 h 3660533"/>
                  <a:gd name="connsiteX4" fmla="*/ 3646321 w 5271802"/>
                  <a:gd name="connsiteY4" fmla="*/ 753169 h 3660533"/>
                  <a:gd name="connsiteX5" fmla="*/ 5160174 w 5271802"/>
                  <a:gd name="connsiteY5" fmla="*/ 752490 h 3660533"/>
                  <a:gd name="connsiteX6" fmla="*/ 5158786 w 5271802"/>
                  <a:gd name="connsiteY6" fmla="*/ 2442821 h 3660533"/>
                  <a:gd name="connsiteX7" fmla="*/ 5161441 w 5271802"/>
                  <a:gd name="connsiteY7" fmla="*/ 3660533 h 3660533"/>
                  <a:gd name="connsiteX8" fmla="*/ 0 w 5271802"/>
                  <a:gd name="connsiteY8" fmla="*/ 3660533 h 3660533"/>
                  <a:gd name="connsiteX9" fmla="*/ 593766 w 5271802"/>
                  <a:gd name="connsiteY9"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442821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271900"/>
                  <a:gd name="connsiteY0" fmla="*/ 0 h 3660533"/>
                  <a:gd name="connsiteX1" fmla="*/ 5161441 w 5271900"/>
                  <a:gd name="connsiteY1" fmla="*/ 0 h 3660533"/>
                  <a:gd name="connsiteX2" fmla="*/ 5160175 w 5271900"/>
                  <a:gd name="connsiteY2" fmla="*/ 350657 h 3660533"/>
                  <a:gd name="connsiteX3" fmla="*/ 3841338 w 5271900"/>
                  <a:gd name="connsiteY3" fmla="*/ 349922 h 3660533"/>
                  <a:gd name="connsiteX4" fmla="*/ 3646321 w 5271900"/>
                  <a:gd name="connsiteY4" fmla="*/ 753169 h 3660533"/>
                  <a:gd name="connsiteX5" fmla="*/ 5160174 w 5271900"/>
                  <a:gd name="connsiteY5" fmla="*/ 752490 h 3660533"/>
                  <a:gd name="connsiteX6" fmla="*/ 5158786 w 5271900"/>
                  <a:gd name="connsiteY6" fmla="*/ 2051706 h 3660533"/>
                  <a:gd name="connsiteX7" fmla="*/ 5158786 w 5271900"/>
                  <a:gd name="connsiteY7" fmla="*/ 2442821 h 3660533"/>
                  <a:gd name="connsiteX8" fmla="*/ 5161441 w 5271900"/>
                  <a:gd name="connsiteY8" fmla="*/ 3660533 h 3660533"/>
                  <a:gd name="connsiteX9" fmla="*/ 0 w 5271900"/>
                  <a:gd name="connsiteY9" fmla="*/ 3660533 h 3660533"/>
                  <a:gd name="connsiteX10" fmla="*/ 593766 w 5271900"/>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42821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09433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1441 w 5543394"/>
                  <a:gd name="connsiteY12" fmla="*/ 3660533 h 3660533"/>
                  <a:gd name="connsiteX13" fmla="*/ 0 w 5543394"/>
                  <a:gd name="connsiteY13" fmla="*/ 3660533 h 3660533"/>
                  <a:gd name="connsiteX14" fmla="*/ 593766 w 5543394"/>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0174 w 5543394"/>
                  <a:gd name="connsiteY12" fmla="*/ 3350307 h 3660533"/>
                  <a:gd name="connsiteX13" fmla="*/ 5161441 w 5543394"/>
                  <a:gd name="connsiteY13" fmla="*/ 3660533 h 3660533"/>
                  <a:gd name="connsiteX14" fmla="*/ 0 w 5543394"/>
                  <a:gd name="connsiteY14" fmla="*/ 3660533 h 3660533"/>
                  <a:gd name="connsiteX15" fmla="*/ 593766 w 5543394"/>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58848 w 5161441"/>
                  <a:gd name="connsiteY12" fmla="*/ 3323150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3586 w 5161441"/>
                  <a:gd name="connsiteY12" fmla="*/ 3345464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99656 w 5161441"/>
                  <a:gd name="connsiteY11" fmla="*/ 2965086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5160174 w 5161441"/>
                  <a:gd name="connsiteY4" fmla="*/ 752490 h 3660533"/>
                  <a:gd name="connsiteX5" fmla="*/ 5158786 w 5161441"/>
                  <a:gd name="connsiteY5" fmla="*/ 2051706 h 3660533"/>
                  <a:gd name="connsiteX6" fmla="*/ 3853222 w 5161441"/>
                  <a:gd name="connsiteY6" fmla="*/ 2049322 h 3660533"/>
                  <a:gd name="connsiteX7" fmla="*/ 3661124 w 5161441"/>
                  <a:gd name="connsiteY7" fmla="*/ 2440436 h 3660533"/>
                  <a:gd name="connsiteX8" fmla="*/ 5158786 w 5161441"/>
                  <a:gd name="connsiteY8" fmla="*/ 2442821 h 3660533"/>
                  <a:gd name="connsiteX9" fmla="*/ 5160174 w 5161441"/>
                  <a:gd name="connsiteY9" fmla="*/ 2966098 h 3660533"/>
                  <a:gd name="connsiteX10" fmla="*/ 3799656 w 5161441"/>
                  <a:gd name="connsiteY10" fmla="*/ 2965086 h 3660533"/>
                  <a:gd name="connsiteX11" fmla="*/ 3606943 w 5161441"/>
                  <a:gd name="connsiteY11" fmla="*/ 3351042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853222 w 5161441"/>
                  <a:gd name="connsiteY5" fmla="*/ 2049322 h 3660533"/>
                  <a:gd name="connsiteX6" fmla="*/ 3661124 w 5161441"/>
                  <a:gd name="connsiteY6" fmla="*/ 2440436 h 3660533"/>
                  <a:gd name="connsiteX7" fmla="*/ 5158786 w 5161441"/>
                  <a:gd name="connsiteY7" fmla="*/ 2442821 h 3660533"/>
                  <a:gd name="connsiteX8" fmla="*/ 5160174 w 5161441"/>
                  <a:gd name="connsiteY8" fmla="*/ 2966098 h 3660533"/>
                  <a:gd name="connsiteX9" fmla="*/ 3799656 w 5161441"/>
                  <a:gd name="connsiteY9" fmla="*/ 2965086 h 3660533"/>
                  <a:gd name="connsiteX10" fmla="*/ 3606943 w 5161441"/>
                  <a:gd name="connsiteY10" fmla="*/ 3351042 h 3660533"/>
                  <a:gd name="connsiteX11" fmla="*/ 5160174 w 5161441"/>
                  <a:gd name="connsiteY11" fmla="*/ 3350307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661124 w 5161441"/>
                  <a:gd name="connsiteY5" fmla="*/ 2440436 h 3660533"/>
                  <a:gd name="connsiteX6" fmla="*/ 5158786 w 5161441"/>
                  <a:gd name="connsiteY6" fmla="*/ 2442821 h 3660533"/>
                  <a:gd name="connsiteX7" fmla="*/ 5160174 w 5161441"/>
                  <a:gd name="connsiteY7" fmla="*/ 2966098 h 3660533"/>
                  <a:gd name="connsiteX8" fmla="*/ 3799656 w 5161441"/>
                  <a:gd name="connsiteY8" fmla="*/ 2965086 h 3660533"/>
                  <a:gd name="connsiteX9" fmla="*/ 3606943 w 5161441"/>
                  <a:gd name="connsiteY9" fmla="*/ 3351042 h 3660533"/>
                  <a:gd name="connsiteX10" fmla="*/ 5160174 w 5161441"/>
                  <a:gd name="connsiteY10" fmla="*/ 3350307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799656 w 5161441"/>
                  <a:gd name="connsiteY7" fmla="*/ 2965086 h 3660533"/>
                  <a:gd name="connsiteX8" fmla="*/ 3606943 w 5161441"/>
                  <a:gd name="connsiteY8" fmla="*/ 3351042 h 3660533"/>
                  <a:gd name="connsiteX9" fmla="*/ 5160174 w 5161441"/>
                  <a:gd name="connsiteY9" fmla="*/ 3350307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606943 w 5161441"/>
                  <a:gd name="connsiteY7" fmla="*/ 3351042 h 3660533"/>
                  <a:gd name="connsiteX8" fmla="*/ 5160174 w 5161441"/>
                  <a:gd name="connsiteY8" fmla="*/ 3350307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5160174 w 5161441"/>
                  <a:gd name="connsiteY7" fmla="*/ 3350307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lnTo>
                      <a:pt x="5160175" y="350657"/>
                    </a:lnTo>
                    <a:cubicBezTo>
                      <a:pt x="5160175" y="484601"/>
                      <a:pt x="5160174" y="618546"/>
                      <a:pt x="5160174" y="752490"/>
                    </a:cubicBezTo>
                    <a:cubicBezTo>
                      <a:pt x="5159711" y="1185562"/>
                      <a:pt x="5159249" y="1618634"/>
                      <a:pt x="5158786" y="2051706"/>
                    </a:cubicBezTo>
                    <a:lnTo>
                      <a:pt x="5158786" y="2442821"/>
                    </a:lnTo>
                    <a:cubicBezTo>
                      <a:pt x="5159249" y="2617247"/>
                      <a:pt x="5159711" y="2791672"/>
                      <a:pt x="5160174" y="2966098"/>
                    </a:cubicBezTo>
                    <a:lnTo>
                      <a:pt x="5160174" y="3350307"/>
                    </a:lnTo>
                    <a:cubicBezTo>
                      <a:pt x="5160596" y="3453716"/>
                      <a:pt x="5161019" y="3557124"/>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808080"/>
                  </a:solidFill>
                </a:endParaRPr>
              </a:p>
            </p:txBody>
          </p:sp>
          <p:sp>
            <p:nvSpPr>
              <p:cNvPr id="22" name="Rectangle 13"/>
              <p:cNvSpPr>
                <a:spLocks noChangeArrowheads="1"/>
              </p:cNvSpPr>
              <p:nvPr/>
            </p:nvSpPr>
            <p:spPr bwMode="gray">
              <a:xfrm>
                <a:off x="5729909" y="1008323"/>
                <a:ext cx="4562000" cy="387394"/>
              </a:xfrm>
              <a:custGeom>
                <a:avLst/>
                <a:gdLst>
                  <a:gd name="connsiteX0" fmla="*/ 0 w 4423658"/>
                  <a:gd name="connsiteY0" fmla="*/ 0 h 343492"/>
                  <a:gd name="connsiteX1" fmla="*/ 4423658 w 4423658"/>
                  <a:gd name="connsiteY1" fmla="*/ 0 h 343492"/>
                  <a:gd name="connsiteX2" fmla="*/ 4423658 w 4423658"/>
                  <a:gd name="connsiteY2" fmla="*/ 343492 h 343492"/>
                  <a:gd name="connsiteX3" fmla="*/ 0 w 4423658"/>
                  <a:gd name="connsiteY3" fmla="*/ 343492 h 343492"/>
                  <a:gd name="connsiteX4" fmla="*/ 0 w 4423658"/>
                  <a:gd name="connsiteY4" fmla="*/ 0 h 343492"/>
                  <a:gd name="connsiteX0" fmla="*/ 71252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71252 w 4423658"/>
                  <a:gd name="connsiteY4" fmla="*/ 11875 h 343492"/>
                  <a:gd name="connsiteX0" fmla="*/ 60681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60681 w 4423658"/>
                  <a:gd name="connsiteY4" fmla="*/ 11875 h 343492"/>
                  <a:gd name="connsiteX0" fmla="*/ 52695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52695 w 4423658"/>
                  <a:gd name="connsiteY4" fmla="*/ 11875 h 343492"/>
                  <a:gd name="connsiteX0" fmla="*/ 60682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60682 w 4423658"/>
                  <a:gd name="connsiteY4" fmla="*/ 4824 h 343492"/>
                  <a:gd name="connsiteX0" fmla="*/ 36724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36724 w 4423658"/>
                  <a:gd name="connsiteY4" fmla="*/ 4824 h 34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658" h="343492">
                    <a:moveTo>
                      <a:pt x="36724" y="4824"/>
                    </a:moveTo>
                    <a:lnTo>
                      <a:pt x="4423658" y="0"/>
                    </a:lnTo>
                    <a:lnTo>
                      <a:pt x="4423658" y="343492"/>
                    </a:lnTo>
                    <a:lnTo>
                      <a:pt x="0" y="343492"/>
                    </a:lnTo>
                    <a:lnTo>
                      <a:pt x="36724" y="4824"/>
                    </a:lnTo>
                    <a:close/>
                  </a:path>
                </a:pathLst>
              </a:cu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4834" tIns="44114" rIns="84834" bIns="44114" anchor="ctr"/>
              <a:lstStyle/>
              <a:p>
                <a:pPr algn="ctr" defTabSz="983096" eaLnBrk="0" hangingPunct="0">
                  <a:spcAft>
                    <a:spcPct val="0"/>
                  </a:spcAft>
                  <a:buClr>
                    <a:srgbClr val="999999"/>
                  </a:buClr>
                  <a:buSzPct val="75000"/>
                  <a:defRPr/>
                </a:pPr>
                <a:r>
                  <a:rPr lang="de-DE" sz="1319" b="1" kern="0" dirty="0"/>
                  <a:t>Commentary</a:t>
                </a:r>
              </a:p>
            </p:txBody>
          </p:sp>
          <p:sp>
            <p:nvSpPr>
              <p:cNvPr id="23" name="Rectangle 13"/>
              <p:cNvSpPr>
                <a:spLocks noChangeArrowheads="1"/>
              </p:cNvSpPr>
              <p:nvPr/>
            </p:nvSpPr>
            <p:spPr bwMode="gray">
              <a:xfrm>
                <a:off x="626681" y="1008323"/>
                <a:ext cx="4930872"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rgbClr val="808080"/>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endParaRPr lang="de-DE" sz="1319" b="1" kern="0" dirty="0">
                  <a:solidFill>
                    <a:srgbClr val="FFFFFF"/>
                  </a:solidFill>
                </a:endParaRPr>
              </a:p>
            </p:txBody>
          </p:sp>
          <p:sp>
            <p:nvSpPr>
              <p:cNvPr id="24" name="Rectangle 14"/>
              <p:cNvSpPr>
                <a:spLocks noChangeArrowheads="1"/>
              </p:cNvSpPr>
              <p:nvPr/>
            </p:nvSpPr>
            <p:spPr bwMode="gray">
              <a:xfrm rot="10800000">
                <a:off x="626681" y="1021708"/>
                <a:ext cx="4932000" cy="5652468"/>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61441"/>
                  <a:gd name="connsiteY0" fmla="*/ 0 h 3660533"/>
                  <a:gd name="connsiteX1" fmla="*/ 5161441 w 5161441"/>
                  <a:gd name="connsiteY1" fmla="*/ 0 h 3660533"/>
                  <a:gd name="connsiteX2" fmla="*/ 5158253 w 5161441"/>
                  <a:gd name="connsiteY2" fmla="*/ 3307335 h 3660533"/>
                  <a:gd name="connsiteX3" fmla="*/ 5161441 w 5161441"/>
                  <a:gd name="connsiteY3" fmla="*/ 3660533 h 3660533"/>
                  <a:gd name="connsiteX4" fmla="*/ 0 w 5161441"/>
                  <a:gd name="connsiteY4" fmla="*/ 3660533 h 3660533"/>
                  <a:gd name="connsiteX5" fmla="*/ 593766 w 5161441"/>
                  <a:gd name="connsiteY5" fmla="*/ 0 h 3660533"/>
                  <a:gd name="connsiteX0" fmla="*/ 593766 w 5498844"/>
                  <a:gd name="connsiteY0" fmla="*/ 0 h 3660533"/>
                  <a:gd name="connsiteX1" fmla="*/ 5161441 w 5498844"/>
                  <a:gd name="connsiteY1" fmla="*/ 0 h 3660533"/>
                  <a:gd name="connsiteX2" fmla="*/ 5158253 w 5498844"/>
                  <a:gd name="connsiteY2" fmla="*/ 2920268 h 3660533"/>
                  <a:gd name="connsiteX3" fmla="*/ 5158253 w 5498844"/>
                  <a:gd name="connsiteY3" fmla="*/ 3307335 h 3660533"/>
                  <a:gd name="connsiteX4" fmla="*/ 5161441 w 5498844"/>
                  <a:gd name="connsiteY4" fmla="*/ 3660533 h 3660533"/>
                  <a:gd name="connsiteX5" fmla="*/ 0 w 5498844"/>
                  <a:gd name="connsiteY5" fmla="*/ 3660533 h 3660533"/>
                  <a:gd name="connsiteX6" fmla="*/ 593766 w 5498844"/>
                  <a:gd name="connsiteY6"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5158253 w 5161441"/>
                  <a:gd name="connsiteY3" fmla="*/ 3307335 h 3660533"/>
                  <a:gd name="connsiteX4" fmla="*/ 5161441 w 5161441"/>
                  <a:gd name="connsiteY4" fmla="*/ 3660533 h 3660533"/>
                  <a:gd name="connsiteX5" fmla="*/ 0 w 5161441"/>
                  <a:gd name="connsiteY5" fmla="*/ 3660533 h 3660533"/>
                  <a:gd name="connsiteX6" fmla="*/ 593766 w 5161441"/>
                  <a:gd name="connsiteY6"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223470 h 3660533"/>
                  <a:gd name="connsiteX4" fmla="*/ 5158253 w 5167281"/>
                  <a:gd name="connsiteY4" fmla="*/ 3307335 h 3660533"/>
                  <a:gd name="connsiteX5" fmla="*/ 5161441 w 5167281"/>
                  <a:gd name="connsiteY5" fmla="*/ 3660533 h 3660533"/>
                  <a:gd name="connsiteX6" fmla="*/ 0 w 5167281"/>
                  <a:gd name="connsiteY6" fmla="*/ 3660533 h 3660533"/>
                  <a:gd name="connsiteX7" fmla="*/ 593766 w 5167281"/>
                  <a:gd name="connsiteY7"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004132 h 3660533"/>
                  <a:gd name="connsiteX4" fmla="*/ 5167281 w 5167281"/>
                  <a:gd name="connsiteY4" fmla="*/ 3223470 h 3660533"/>
                  <a:gd name="connsiteX5" fmla="*/ 5158253 w 5167281"/>
                  <a:gd name="connsiteY5" fmla="*/ 3307335 h 3660533"/>
                  <a:gd name="connsiteX6" fmla="*/ 5161441 w 5167281"/>
                  <a:gd name="connsiteY6" fmla="*/ 3660533 h 3660533"/>
                  <a:gd name="connsiteX7" fmla="*/ 0 w 5167281"/>
                  <a:gd name="connsiteY7" fmla="*/ 3660533 h 3660533"/>
                  <a:gd name="connsiteX8" fmla="*/ 593766 w 5167281"/>
                  <a:gd name="connsiteY8" fmla="*/ 0 h 3660533"/>
                  <a:gd name="connsiteX0" fmla="*/ 593766 w 5167282"/>
                  <a:gd name="connsiteY0" fmla="*/ 0 h 3660533"/>
                  <a:gd name="connsiteX1" fmla="*/ 5161441 w 5167282"/>
                  <a:gd name="connsiteY1" fmla="*/ 0 h 3660533"/>
                  <a:gd name="connsiteX2" fmla="*/ 5158253 w 5167282"/>
                  <a:gd name="connsiteY2" fmla="*/ 2920268 h 3660533"/>
                  <a:gd name="connsiteX3" fmla="*/ 5167281 w 5167282"/>
                  <a:gd name="connsiteY3" fmla="*/ 3004132 h 3660533"/>
                  <a:gd name="connsiteX4" fmla="*/ 3786039 w 5167282"/>
                  <a:gd name="connsiteY4" fmla="*/ 3262177 h 3660533"/>
                  <a:gd name="connsiteX5" fmla="*/ 5158253 w 5167282"/>
                  <a:gd name="connsiteY5" fmla="*/ 3307335 h 3660533"/>
                  <a:gd name="connsiteX6" fmla="*/ 5161441 w 5167282"/>
                  <a:gd name="connsiteY6" fmla="*/ 3660533 h 3660533"/>
                  <a:gd name="connsiteX7" fmla="*/ 0 w 5167282"/>
                  <a:gd name="connsiteY7" fmla="*/ 3660533 h 3660533"/>
                  <a:gd name="connsiteX8" fmla="*/ 593766 w 5167282"/>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4093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499313"/>
                  <a:gd name="connsiteY0" fmla="*/ 0 h 3660533"/>
                  <a:gd name="connsiteX1" fmla="*/ 5161441 w 5499313"/>
                  <a:gd name="connsiteY1" fmla="*/ 0 h 3660533"/>
                  <a:gd name="connsiteX2" fmla="*/ 5159665 w 5499313"/>
                  <a:gd name="connsiteY2" fmla="*/ 1892248 h 3660533"/>
                  <a:gd name="connsiteX3" fmla="*/ 5158253 w 5499313"/>
                  <a:gd name="connsiteY3" fmla="*/ 2904063 h 3660533"/>
                  <a:gd name="connsiteX4" fmla="*/ 3876230 w 5499313"/>
                  <a:gd name="connsiteY4" fmla="*/ 2904093 h 3660533"/>
                  <a:gd name="connsiteX5" fmla="*/ 3695634 w 5499313"/>
                  <a:gd name="connsiteY5" fmla="*/ 3307365 h 3660533"/>
                  <a:gd name="connsiteX6" fmla="*/ 5158253 w 5499313"/>
                  <a:gd name="connsiteY6" fmla="*/ 3307335 h 3660533"/>
                  <a:gd name="connsiteX7" fmla="*/ 5161441 w 5499313"/>
                  <a:gd name="connsiteY7" fmla="*/ 3660533 h 3660533"/>
                  <a:gd name="connsiteX8" fmla="*/ 0 w 5499313"/>
                  <a:gd name="connsiteY8" fmla="*/ 3660533 h 3660533"/>
                  <a:gd name="connsiteX9" fmla="*/ 593766 w 5499313"/>
                  <a:gd name="connsiteY9" fmla="*/ 0 h 3660533"/>
                  <a:gd name="connsiteX0" fmla="*/ 593766 w 5253571"/>
                  <a:gd name="connsiteY0" fmla="*/ 0 h 3660533"/>
                  <a:gd name="connsiteX1" fmla="*/ 5161441 w 5253571"/>
                  <a:gd name="connsiteY1" fmla="*/ 0 h 3660533"/>
                  <a:gd name="connsiteX2" fmla="*/ 5159665 w 5253571"/>
                  <a:gd name="connsiteY2" fmla="*/ 1892248 h 3660533"/>
                  <a:gd name="connsiteX3" fmla="*/ 5158253 w 5253571"/>
                  <a:gd name="connsiteY3" fmla="*/ 2904063 h 3660533"/>
                  <a:gd name="connsiteX4" fmla="*/ 3876230 w 5253571"/>
                  <a:gd name="connsiteY4" fmla="*/ 2904093 h 3660533"/>
                  <a:gd name="connsiteX5" fmla="*/ 3695634 w 5253571"/>
                  <a:gd name="connsiteY5" fmla="*/ 3307365 h 3660533"/>
                  <a:gd name="connsiteX6" fmla="*/ 5158253 w 5253571"/>
                  <a:gd name="connsiteY6" fmla="*/ 3307335 h 3660533"/>
                  <a:gd name="connsiteX7" fmla="*/ 5161441 w 5253571"/>
                  <a:gd name="connsiteY7" fmla="*/ 3660533 h 3660533"/>
                  <a:gd name="connsiteX8" fmla="*/ 0 w 5253571"/>
                  <a:gd name="connsiteY8" fmla="*/ 3660533 h 3660533"/>
                  <a:gd name="connsiteX9" fmla="*/ 593766 w 5253571"/>
                  <a:gd name="connsiteY9" fmla="*/ 0 h 3660533"/>
                  <a:gd name="connsiteX0" fmla="*/ 593766 w 5161441"/>
                  <a:gd name="connsiteY0" fmla="*/ 0 h 3660533"/>
                  <a:gd name="connsiteX1" fmla="*/ 5161441 w 5161441"/>
                  <a:gd name="connsiteY1" fmla="*/ 0 h 3660533"/>
                  <a:gd name="connsiteX2" fmla="*/ 5159665 w 5161441"/>
                  <a:gd name="connsiteY2" fmla="*/ 1892248 h 3660533"/>
                  <a:gd name="connsiteX3" fmla="*/ 5158253 w 5161441"/>
                  <a:gd name="connsiteY3" fmla="*/ 2904063 h 3660533"/>
                  <a:gd name="connsiteX4" fmla="*/ 3876230 w 5161441"/>
                  <a:gd name="connsiteY4" fmla="*/ 2904093 h 3660533"/>
                  <a:gd name="connsiteX5" fmla="*/ 3695634 w 5161441"/>
                  <a:gd name="connsiteY5" fmla="*/ 3307365 h 3660533"/>
                  <a:gd name="connsiteX6" fmla="*/ 5158253 w 5161441"/>
                  <a:gd name="connsiteY6" fmla="*/ 3307335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892248 h 3660533"/>
                  <a:gd name="connsiteX4" fmla="*/ 5158253 w 5161441"/>
                  <a:gd name="connsiteY4" fmla="*/ 2904063 h 3660533"/>
                  <a:gd name="connsiteX5" fmla="*/ 3876230 w 5161441"/>
                  <a:gd name="connsiteY5" fmla="*/ 2904093 h 3660533"/>
                  <a:gd name="connsiteX6" fmla="*/ 3695634 w 5161441"/>
                  <a:gd name="connsiteY6" fmla="*/ 3307365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92248 h 3660533"/>
                  <a:gd name="connsiteX5" fmla="*/ 5158253 w 5161441"/>
                  <a:gd name="connsiteY5" fmla="*/ 2904063 h 3660533"/>
                  <a:gd name="connsiteX6" fmla="*/ 3876230 w 5161441"/>
                  <a:gd name="connsiteY6" fmla="*/ 2904093 h 3660533"/>
                  <a:gd name="connsiteX7" fmla="*/ 3695634 w 5161441"/>
                  <a:gd name="connsiteY7" fmla="*/ 3307365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5011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4 w 5161441"/>
                  <a:gd name="connsiteY4" fmla="*/ 1889524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5 w 5161441"/>
                  <a:gd name="connsiteY4" fmla="*/ 1893281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1324155 h 3660533"/>
                  <a:gd name="connsiteX3" fmla="*/ 5159665 w 5161441"/>
                  <a:gd name="connsiteY3" fmla="*/ 1480661 h 3660533"/>
                  <a:gd name="connsiteX4" fmla="*/ 3876188 w 5161441"/>
                  <a:gd name="connsiteY4" fmla="*/ 1480661 h 3660533"/>
                  <a:gd name="connsiteX5" fmla="*/ 3702405 w 5161441"/>
                  <a:gd name="connsiteY5" fmla="*/ 1893281 h 3660533"/>
                  <a:gd name="connsiteX6" fmla="*/ 5159665 w 5161441"/>
                  <a:gd name="connsiteY6" fmla="*/ 1892248 h 3660533"/>
                  <a:gd name="connsiteX7" fmla="*/ 5158253 w 5161441"/>
                  <a:gd name="connsiteY7" fmla="*/ 2904063 h 3660533"/>
                  <a:gd name="connsiteX8" fmla="*/ 3876230 w 5161441"/>
                  <a:gd name="connsiteY8" fmla="*/ 2904093 h 3660533"/>
                  <a:gd name="connsiteX9" fmla="*/ 3695634 w 5161441"/>
                  <a:gd name="connsiteY9" fmla="*/ 3307365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499177"/>
                  <a:gd name="connsiteY0" fmla="*/ 0 h 3660533"/>
                  <a:gd name="connsiteX1" fmla="*/ 5161441 w 5499177"/>
                  <a:gd name="connsiteY1" fmla="*/ 0 h 3660533"/>
                  <a:gd name="connsiteX2" fmla="*/ 5159381 w 5499177"/>
                  <a:gd name="connsiteY2" fmla="*/ 907453 h 3660533"/>
                  <a:gd name="connsiteX3" fmla="*/ 5159381 w 5499177"/>
                  <a:gd name="connsiteY3" fmla="*/ 1324155 h 3660533"/>
                  <a:gd name="connsiteX4" fmla="*/ 5159665 w 5499177"/>
                  <a:gd name="connsiteY4" fmla="*/ 1480661 h 3660533"/>
                  <a:gd name="connsiteX5" fmla="*/ 3876188 w 5499177"/>
                  <a:gd name="connsiteY5" fmla="*/ 1480661 h 3660533"/>
                  <a:gd name="connsiteX6" fmla="*/ 3702405 w 5499177"/>
                  <a:gd name="connsiteY6" fmla="*/ 1893281 h 3660533"/>
                  <a:gd name="connsiteX7" fmla="*/ 5159665 w 5499177"/>
                  <a:gd name="connsiteY7" fmla="*/ 1892248 h 3660533"/>
                  <a:gd name="connsiteX8" fmla="*/ 5158253 w 5499177"/>
                  <a:gd name="connsiteY8" fmla="*/ 2904063 h 3660533"/>
                  <a:gd name="connsiteX9" fmla="*/ 3876230 w 5499177"/>
                  <a:gd name="connsiteY9" fmla="*/ 2904093 h 3660533"/>
                  <a:gd name="connsiteX10" fmla="*/ 3695634 w 5499177"/>
                  <a:gd name="connsiteY10" fmla="*/ 3307365 h 3660533"/>
                  <a:gd name="connsiteX11" fmla="*/ 5158253 w 5499177"/>
                  <a:gd name="connsiteY11" fmla="*/ 3307335 h 3660533"/>
                  <a:gd name="connsiteX12" fmla="*/ 5161441 w 5499177"/>
                  <a:gd name="connsiteY12" fmla="*/ 3660533 h 3660533"/>
                  <a:gd name="connsiteX13" fmla="*/ 0 w 5499177"/>
                  <a:gd name="connsiteY13" fmla="*/ 3660533 h 3660533"/>
                  <a:gd name="connsiteX14" fmla="*/ 593766 w 5499177"/>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281417 h 3660533"/>
                  <a:gd name="connsiteX4" fmla="*/ 5159381 w 5161441"/>
                  <a:gd name="connsiteY4" fmla="*/ 1324155 h 3660533"/>
                  <a:gd name="connsiteX5" fmla="*/ 5159665 w 5161441"/>
                  <a:gd name="connsiteY5" fmla="*/ 1480661 h 3660533"/>
                  <a:gd name="connsiteX6" fmla="*/ 3876188 w 5161441"/>
                  <a:gd name="connsiteY6" fmla="*/ 1480661 h 3660533"/>
                  <a:gd name="connsiteX7" fmla="*/ 3702405 w 5161441"/>
                  <a:gd name="connsiteY7" fmla="*/ 1893281 h 3660533"/>
                  <a:gd name="connsiteX8" fmla="*/ 5159665 w 5161441"/>
                  <a:gd name="connsiteY8" fmla="*/ 1892248 h 3660533"/>
                  <a:gd name="connsiteX9" fmla="*/ 5158253 w 5161441"/>
                  <a:gd name="connsiteY9" fmla="*/ 2904063 h 3660533"/>
                  <a:gd name="connsiteX10" fmla="*/ 3876230 w 5161441"/>
                  <a:gd name="connsiteY10" fmla="*/ 2904093 h 3660533"/>
                  <a:gd name="connsiteX11" fmla="*/ 3695634 w 5161441"/>
                  <a:gd name="connsiteY11" fmla="*/ 3307365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5159381 w 5164365"/>
                  <a:gd name="connsiteY4" fmla="*/ 1281417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98415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297513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081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1690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5159665 w 5161441"/>
                  <a:gd name="connsiteY8" fmla="*/ 1870047 h 3660533"/>
                  <a:gd name="connsiteX9" fmla="*/ 5158253 w 5161441"/>
                  <a:gd name="connsiteY9" fmla="*/ 2904063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5159665 w 5161441"/>
                  <a:gd name="connsiteY7" fmla="*/ 1870047 h 3660533"/>
                  <a:gd name="connsiteX8" fmla="*/ 5158253 w 5161441"/>
                  <a:gd name="connsiteY8" fmla="*/ 2904063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5159381 w 5161441"/>
                  <a:gd name="connsiteY4" fmla="*/ 1301954 h 3660533"/>
                  <a:gd name="connsiteX5" fmla="*/ 5159665 w 5161441"/>
                  <a:gd name="connsiteY5" fmla="*/ 1458459 h 3660533"/>
                  <a:gd name="connsiteX6" fmla="*/ 5159665 w 5161441"/>
                  <a:gd name="connsiteY6" fmla="*/ 1870047 h 3660533"/>
                  <a:gd name="connsiteX7" fmla="*/ 5158253 w 5161441"/>
                  <a:gd name="connsiteY7" fmla="*/ 2904063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5159381 w 5161441"/>
                  <a:gd name="connsiteY3" fmla="*/ 1301954 h 3660533"/>
                  <a:gd name="connsiteX4" fmla="*/ 5159665 w 5161441"/>
                  <a:gd name="connsiteY4" fmla="*/ 1458459 h 3660533"/>
                  <a:gd name="connsiteX5" fmla="*/ 5159665 w 5161441"/>
                  <a:gd name="connsiteY5" fmla="*/ 1870047 h 3660533"/>
                  <a:gd name="connsiteX6" fmla="*/ 5158253 w 5161441"/>
                  <a:gd name="connsiteY6" fmla="*/ 2904063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cubicBezTo>
                      <a:pt x="5160754" y="302484"/>
                      <a:pt x="5160068" y="582768"/>
                      <a:pt x="5159381" y="885252"/>
                    </a:cubicBezTo>
                    <a:lnTo>
                      <a:pt x="5159381" y="1301954"/>
                    </a:lnTo>
                    <a:cubicBezTo>
                      <a:pt x="5159476" y="1354123"/>
                      <a:pt x="5159570" y="1406290"/>
                      <a:pt x="5159665" y="1458459"/>
                    </a:cubicBezTo>
                    <a:lnTo>
                      <a:pt x="5159665" y="1870047"/>
                    </a:lnTo>
                    <a:cubicBezTo>
                      <a:pt x="5159194" y="2207319"/>
                      <a:pt x="5158724" y="2566791"/>
                      <a:pt x="5158253" y="2904063"/>
                    </a:cubicBezTo>
                    <a:lnTo>
                      <a:pt x="5158253" y="3307335"/>
                    </a:lnTo>
                    <a:cubicBezTo>
                      <a:pt x="5159316" y="3425068"/>
                      <a:pt x="5160378" y="3542800"/>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vert="horz"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646464"/>
                  </a:solidFill>
                </a:endParaRPr>
              </a:p>
            </p:txBody>
          </p:sp>
        </p:grpSp>
        <p:sp>
          <p:nvSpPr>
            <p:cNvPr id="21" name="Rectangle 13"/>
            <p:cNvSpPr>
              <a:spLocks noChangeArrowheads="1"/>
            </p:cNvSpPr>
            <p:nvPr/>
          </p:nvSpPr>
          <p:spPr bwMode="gray">
            <a:xfrm>
              <a:off x="630176" y="900871"/>
              <a:ext cx="4932000"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chemeClr val="accent1"/>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r>
                <a:rPr lang="de-DE" sz="1319" b="1" kern="0" dirty="0">
                  <a:solidFill>
                    <a:srgbClr val="FFFFFF"/>
                  </a:solidFill>
                </a:rPr>
                <a:t>Data</a:t>
              </a:r>
            </a:p>
          </p:txBody>
        </p:sp>
      </p:grpSp>
      <p:sp>
        <p:nvSpPr>
          <p:cNvPr id="2" name="Title 1"/>
          <p:cNvSpPr>
            <a:spLocks noGrp="1"/>
          </p:cNvSpPr>
          <p:nvPr>
            <p:ph type="title"/>
          </p:nvPr>
        </p:nvSpPr>
        <p:spPr/>
        <p:txBody>
          <a:bodyPr/>
          <a:lstStyle/>
          <a:p>
            <a:r>
              <a:rPr lang="en-US" sz="2400" dirty="0"/>
              <a:t>EY Survey</a:t>
            </a:r>
            <a:r>
              <a:rPr lang="en-US" sz="2800" dirty="0"/>
              <a:t/>
            </a:r>
            <a:br>
              <a:rPr lang="en-US" sz="2800" dirty="0"/>
            </a:br>
            <a:r>
              <a:rPr lang="en-US" sz="2000" i="1" dirty="0"/>
              <a:t>Period of Exposure</a:t>
            </a:r>
            <a:endParaRPr lang="en-IN" sz="20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51</a:t>
            </a:fld>
            <a:endParaRPr lang="en-US" altLang="en-US"/>
          </a:p>
        </p:txBody>
      </p:sp>
      <p:sp>
        <p:nvSpPr>
          <p:cNvPr id="15" name="TextBox 14"/>
          <p:cNvSpPr txBox="1"/>
          <p:nvPr/>
        </p:nvSpPr>
        <p:spPr>
          <a:xfrm>
            <a:off x="373350" y="1342948"/>
            <a:ext cx="3220280" cy="440377"/>
          </a:xfrm>
          <a:prstGeom prst="rect">
            <a:avLst/>
          </a:prstGeom>
          <a:noFill/>
        </p:spPr>
        <p:txBody>
          <a:bodyPr wrap="square" rtlCol="0">
            <a:spAutoFit/>
          </a:bodyPr>
          <a:lstStyle/>
          <a:p>
            <a:pPr defTabSz="861892">
              <a:spcAft>
                <a:spcPct val="50000"/>
              </a:spcAft>
              <a:buClr>
                <a:srgbClr val="FFE600"/>
              </a:buClr>
              <a:buSzPct val="80000"/>
            </a:pPr>
            <a:r>
              <a:rPr lang="en-IN" sz="1131" b="1" dirty="0">
                <a:solidFill>
                  <a:srgbClr val="000000"/>
                </a:solidFill>
              </a:rPr>
              <a:t>Definition of maturity for Lifetime ECL measurement in Stage 2</a:t>
            </a:r>
          </a:p>
        </p:txBody>
      </p:sp>
      <p:graphicFrame>
        <p:nvGraphicFramePr>
          <p:cNvPr id="16" name="Chart 15"/>
          <p:cNvGraphicFramePr>
            <a:graphicFrameLocks/>
          </p:cNvGraphicFramePr>
          <p:nvPr>
            <p:extLst/>
          </p:nvPr>
        </p:nvGraphicFramePr>
        <p:xfrm>
          <a:off x="395493" y="1783325"/>
          <a:ext cx="4652183" cy="249063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406636" y="4051013"/>
            <a:ext cx="4331858" cy="266355"/>
          </a:xfrm>
          <a:prstGeom prst="rect">
            <a:avLst/>
          </a:prstGeom>
          <a:noFill/>
        </p:spPr>
        <p:txBody>
          <a:bodyPr wrap="square" rtlCol="0">
            <a:spAutoFit/>
          </a:bodyPr>
          <a:lstStyle/>
          <a:p>
            <a:pPr defTabSz="861892" fontAlgn="base">
              <a:spcBef>
                <a:spcPct val="0"/>
              </a:spcBef>
              <a:spcAft>
                <a:spcPct val="50000"/>
              </a:spcAft>
              <a:buClr>
                <a:srgbClr val="FFE600"/>
              </a:buClr>
              <a:buSzPct val="80000"/>
            </a:pPr>
            <a:r>
              <a:rPr lang="en-US" sz="1131" b="1" dirty="0">
                <a:solidFill>
                  <a:srgbClr val="000000"/>
                </a:solidFill>
              </a:rPr>
              <a:t>Risk horizon for revolving facilities in Stage 1</a:t>
            </a:r>
          </a:p>
        </p:txBody>
      </p:sp>
      <p:graphicFrame>
        <p:nvGraphicFramePr>
          <p:cNvPr id="18" name="Chart 17"/>
          <p:cNvGraphicFramePr>
            <a:graphicFrameLocks/>
          </p:cNvGraphicFramePr>
          <p:nvPr>
            <p:extLst/>
          </p:nvPr>
        </p:nvGraphicFramePr>
        <p:xfrm>
          <a:off x="549425" y="4215088"/>
          <a:ext cx="3868848" cy="2171830"/>
        </p:xfrm>
        <a:graphic>
          <a:graphicData uri="http://schemas.openxmlformats.org/drawingml/2006/chart">
            <c:chart xmlns:c="http://schemas.openxmlformats.org/drawingml/2006/chart" xmlns:r="http://schemas.openxmlformats.org/officeDocument/2006/relationships" r:id="rId4"/>
          </a:graphicData>
        </a:graphic>
      </p:graphicFrame>
      <p:sp>
        <p:nvSpPr>
          <p:cNvPr id="26" name="TextBox 25"/>
          <p:cNvSpPr txBox="1"/>
          <p:nvPr/>
        </p:nvSpPr>
        <p:spPr>
          <a:xfrm>
            <a:off x="5240575" y="1337564"/>
            <a:ext cx="4378088" cy="2208297"/>
          </a:xfrm>
          <a:prstGeom prst="rect">
            <a:avLst/>
          </a:prstGeom>
          <a:noFill/>
        </p:spPr>
        <p:txBody>
          <a:bodyPr wrap="square" rtlCol="0">
            <a:spAutoFit/>
          </a:bodyPr>
          <a:lstStyle/>
          <a:p>
            <a:pPr defTabSz="861892">
              <a:spcAft>
                <a:spcPts val="565"/>
              </a:spcAft>
              <a:buClr>
                <a:srgbClr val="646464"/>
              </a:buClr>
              <a:buSzPct val="100000"/>
            </a:pPr>
            <a:r>
              <a:rPr lang="en-IN" sz="1600" b="1" dirty="0">
                <a:solidFill>
                  <a:srgbClr val="000000"/>
                </a:solidFill>
              </a:rPr>
              <a:t>Definition of maturity in Stage 2</a:t>
            </a:r>
            <a:endParaRPr lang="de-DE" sz="1600" b="1" dirty="0">
              <a:solidFill>
                <a:srgbClr val="000000"/>
              </a:solidFill>
            </a:endParaRP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Most participants intend to use a mix of contractual maturity and behavioural maturity when measuring lifetime ECL in Stage 2, depending on portfolios</a:t>
            </a: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Banks which intend to use a behavioural approach provided the following rationale:</a:t>
            </a:r>
          </a:p>
          <a:p>
            <a:pPr marL="751009" lvl="1" indent="-285750" defTabSz="861892">
              <a:spcAft>
                <a:spcPts val="283"/>
              </a:spcAft>
              <a:buClr>
                <a:schemeClr val="tx1"/>
              </a:buClr>
              <a:buSzPct val="100000"/>
              <a:buFont typeface="Times New Roman" panose="02020603050405020304" pitchFamily="18" charset="0"/>
              <a:buChar char="‒"/>
            </a:pPr>
            <a:r>
              <a:rPr lang="en-IN" sz="1300" dirty="0"/>
              <a:t>Existence of early repayment features in retail products</a:t>
            </a:r>
          </a:p>
          <a:p>
            <a:pPr marL="751009" lvl="1" indent="-285750" defTabSz="861892">
              <a:spcAft>
                <a:spcPts val="283"/>
              </a:spcAft>
              <a:buClr>
                <a:schemeClr val="tx1"/>
              </a:buClr>
              <a:buSzPct val="100000"/>
              <a:buFont typeface="Times New Roman" panose="02020603050405020304" pitchFamily="18" charset="0"/>
              <a:buChar char="‒"/>
            </a:pPr>
            <a:r>
              <a:rPr lang="en-IN" sz="1300" dirty="0"/>
              <a:t>Revolving products</a:t>
            </a:r>
          </a:p>
        </p:txBody>
      </p:sp>
      <p:sp>
        <p:nvSpPr>
          <p:cNvPr id="27" name="TextBox 26"/>
          <p:cNvSpPr txBox="1"/>
          <p:nvPr/>
        </p:nvSpPr>
        <p:spPr>
          <a:xfrm>
            <a:off x="5240575" y="3623481"/>
            <a:ext cx="4378088" cy="2208297"/>
          </a:xfrm>
          <a:prstGeom prst="rect">
            <a:avLst/>
          </a:prstGeom>
          <a:noFill/>
        </p:spPr>
        <p:txBody>
          <a:bodyPr wrap="square" rtlCol="0">
            <a:spAutoFit/>
          </a:bodyPr>
          <a:lstStyle/>
          <a:p>
            <a:pPr defTabSz="861892">
              <a:spcAft>
                <a:spcPts val="565"/>
              </a:spcAft>
              <a:buClr>
                <a:srgbClr val="646464"/>
              </a:buClr>
              <a:buSzPct val="100000"/>
            </a:pPr>
            <a:r>
              <a:rPr lang="de-DE" sz="1600" b="1" dirty="0">
                <a:solidFill>
                  <a:srgbClr val="000000"/>
                </a:solidFill>
              </a:rPr>
              <a:t>Risk horizon for revolving facilities in Stage 1</a:t>
            </a: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Less than half of the banks confirmed the use of a 12-month time horizon for revolving facilities in Stage 1 </a:t>
            </a: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Among the remaining, which have yet to decide, one bank confirmed that it is considering applying a time period shorter than 12 months</a:t>
            </a:r>
          </a:p>
          <a:p>
            <a:pPr marL="197048" indent="-188989" defTabSz="861892">
              <a:spcAft>
                <a:spcPts val="283"/>
              </a:spcAft>
              <a:buClr>
                <a:schemeClr val="tx1"/>
              </a:buClr>
              <a:buSzPct val="100000"/>
              <a:buFont typeface="Wingdings" panose="05000000000000000000" pitchFamily="2" charset="2"/>
              <a:buChar char="§"/>
            </a:pPr>
            <a:r>
              <a:rPr lang="en-IN" sz="1400" dirty="0">
                <a:solidFill>
                  <a:srgbClr val="000000"/>
                </a:solidFill>
              </a:rPr>
              <a:t>The view that further guidance is required in this area is consistent with some of the views coming out of the IFRS 9 ITG meeting in April 2015</a:t>
            </a:r>
          </a:p>
        </p:txBody>
      </p:sp>
      <p:sp>
        <p:nvSpPr>
          <p:cNvPr id="28" name="TextBox 27"/>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644304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solidFill>
                  <a:schemeClr val="bg1">
                    <a:lumMod val="75000"/>
                  </a:schemeClr>
                </a:solidFill>
              </a:rPr>
              <a:t>Loss Given Default (LGD)</a:t>
            </a:r>
          </a:p>
          <a:p>
            <a:pPr marL="808038" lvl="4" indent="-446088"/>
            <a:r>
              <a:rPr lang="en-US" sz="2000" dirty="0" smtClean="0">
                <a:solidFill>
                  <a:schemeClr val="bg1">
                    <a:lumMod val="75000"/>
                  </a:schemeClr>
                </a:solidFill>
              </a:rPr>
              <a:t>Exposure at Default (EAD)</a:t>
            </a:r>
          </a:p>
          <a:p>
            <a:pPr marL="808038" lvl="4" indent="-446088"/>
            <a:r>
              <a:rPr lang="en-US" sz="2000" dirty="0" smtClean="0"/>
              <a:t>Expected Credit Loss (ECL) Computation</a:t>
            </a:r>
          </a:p>
          <a:p>
            <a:pPr marL="808038" lvl="4" indent="-446088"/>
            <a:r>
              <a:rPr lang="en-US" sz="2000" dirty="0">
                <a:solidFill>
                  <a:schemeClr val="bg1">
                    <a:lumMod val="75000"/>
                  </a:schemeClr>
                </a:solidFill>
              </a:rPr>
              <a:t>Multiple Scenarios &amp; Forward Looking Information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52</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2378992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Expected </a:t>
            </a:r>
            <a:r>
              <a:rPr lang="en-IN" sz="2400" dirty="0"/>
              <a:t>Credit Loss (ECL) Approach</a:t>
            </a:r>
            <a:r>
              <a:rPr lang="en-US" sz="2800" dirty="0" smtClean="0"/>
              <a:t/>
            </a:r>
            <a:br>
              <a:rPr lang="en-US" sz="2800" dirty="0" smtClean="0"/>
            </a:br>
            <a:r>
              <a:rPr lang="en-US" sz="2000" i="1" dirty="0" smtClean="0"/>
              <a:t>Introduction to ECL Approach under IFRS 9</a:t>
            </a:r>
            <a:endParaRPr lang="en-IN" sz="2400" i="1" dirty="0"/>
          </a:p>
        </p:txBody>
      </p:sp>
      <p:sp>
        <p:nvSpPr>
          <p:cNvPr id="14" name="Rectangle 13"/>
          <p:cNvSpPr/>
          <p:nvPr/>
        </p:nvSpPr>
        <p:spPr>
          <a:xfrm>
            <a:off x="386981" y="966161"/>
            <a:ext cx="9231682" cy="230831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300" dirty="0" smtClean="0">
                <a:solidFill>
                  <a:schemeClr val="tx1"/>
                </a:solidFill>
                <a:latin typeface="Times New Roman" pitchFamily="18" charset="0"/>
                <a:cs typeface="Times New Roman" pitchFamily="18" charset="0"/>
              </a:rPr>
              <a:t>IFRS </a:t>
            </a:r>
            <a:r>
              <a:rPr lang="en-IN" sz="1300" dirty="0">
                <a:solidFill>
                  <a:schemeClr val="tx1"/>
                </a:solidFill>
                <a:latin typeface="Times New Roman" pitchFamily="18" charset="0"/>
                <a:cs typeface="Times New Roman" pitchFamily="18" charset="0"/>
              </a:rPr>
              <a:t>9 framework considers </a:t>
            </a:r>
            <a:r>
              <a:rPr lang="en-IN" sz="1300" dirty="0" smtClean="0">
                <a:solidFill>
                  <a:schemeClr val="tx1"/>
                </a:solidFill>
                <a:latin typeface="Times New Roman" pitchFamily="18" charset="0"/>
                <a:cs typeface="Times New Roman" pitchFamily="18" charset="0"/>
              </a:rPr>
              <a:t>an </a:t>
            </a:r>
            <a:r>
              <a:rPr lang="en-IN" sz="1300" dirty="0">
                <a:solidFill>
                  <a:schemeClr val="tx1"/>
                </a:solidFill>
                <a:latin typeface="Times New Roman" pitchFamily="18" charset="0"/>
                <a:cs typeface="Times New Roman" pitchFamily="18" charset="0"/>
              </a:rPr>
              <a:t>expected future credit losses approach and proposes a dual measurement Expected Credit </a:t>
            </a:r>
            <a:r>
              <a:rPr lang="en-IN" sz="1300" dirty="0" smtClean="0">
                <a:solidFill>
                  <a:schemeClr val="tx1"/>
                </a:solidFill>
                <a:latin typeface="Times New Roman" pitchFamily="18" charset="0"/>
                <a:cs typeface="Times New Roman" pitchFamily="18" charset="0"/>
              </a:rPr>
              <a:t>Loss (</a:t>
            </a:r>
            <a:r>
              <a:rPr lang="en-IN" sz="1300" dirty="0">
                <a:solidFill>
                  <a:schemeClr val="tx1"/>
                </a:solidFill>
                <a:latin typeface="Times New Roman" pitchFamily="18" charset="0"/>
                <a:cs typeface="Times New Roman" pitchFamily="18" charset="0"/>
              </a:rPr>
              <a:t>ECL) approach, depending upon the extent of credit deterioration since initial recognition. </a:t>
            </a:r>
          </a:p>
          <a:p>
            <a:pPr marL="642938" lvl="1" indent="-185738" eaLnBrk="0" hangingPunct="0">
              <a:lnSpc>
                <a:spcPct val="90000"/>
              </a:lnSpc>
              <a:spcBef>
                <a:spcPct val="60000"/>
              </a:spcBef>
              <a:buFont typeface="Times New Roman" panose="02020603050405020304" pitchFamily="18" charset="0"/>
              <a:buChar char="•"/>
            </a:pPr>
            <a:r>
              <a:rPr lang="en-IN" sz="1300" u="sng" dirty="0">
                <a:solidFill>
                  <a:schemeClr val="tx1"/>
                </a:solidFill>
                <a:latin typeface="Times New Roman" pitchFamily="18" charset="0"/>
                <a:cs typeface="Times New Roman" pitchFamily="18" charset="0"/>
              </a:rPr>
              <a:t>Stage </a:t>
            </a:r>
            <a:r>
              <a:rPr lang="en-IN" sz="1300" u="sng" dirty="0" smtClean="0">
                <a:solidFill>
                  <a:schemeClr val="tx1"/>
                </a:solidFill>
                <a:latin typeface="Times New Roman" pitchFamily="18" charset="0"/>
                <a:cs typeface="Times New Roman" pitchFamily="18" charset="0"/>
              </a:rPr>
              <a:t>1: </a:t>
            </a:r>
            <a:r>
              <a:rPr lang="en-IN" sz="1300" dirty="0" smtClean="0">
                <a:solidFill>
                  <a:schemeClr val="tx1"/>
                </a:solidFill>
                <a:latin typeface="Times New Roman" pitchFamily="18" charset="0"/>
                <a:cs typeface="Times New Roman" pitchFamily="18" charset="0"/>
              </a:rPr>
              <a:t>‘12 </a:t>
            </a:r>
            <a:r>
              <a:rPr lang="en-IN" sz="1300" dirty="0">
                <a:solidFill>
                  <a:schemeClr val="tx1"/>
                </a:solidFill>
                <a:latin typeface="Times New Roman" pitchFamily="18" charset="0"/>
                <a:cs typeface="Times New Roman" pitchFamily="18" charset="0"/>
              </a:rPr>
              <a:t>Month ECL’ is calculated if the credit risk has NOT increased significantly since initial recognition.</a:t>
            </a:r>
          </a:p>
          <a:p>
            <a:pPr marL="642938" lvl="1" indent="-185738" eaLnBrk="0" hangingPunct="0">
              <a:lnSpc>
                <a:spcPct val="90000"/>
              </a:lnSpc>
              <a:spcBef>
                <a:spcPct val="60000"/>
              </a:spcBef>
              <a:buFont typeface="Times New Roman" panose="02020603050405020304" pitchFamily="18" charset="0"/>
              <a:buChar char="•"/>
            </a:pPr>
            <a:r>
              <a:rPr lang="en-IN" sz="1300" u="sng" dirty="0">
                <a:solidFill>
                  <a:schemeClr val="tx1"/>
                </a:solidFill>
                <a:latin typeface="Times New Roman" pitchFamily="18" charset="0"/>
                <a:cs typeface="Times New Roman" pitchFamily="18" charset="0"/>
              </a:rPr>
              <a:t>Stage 2/3:</a:t>
            </a:r>
            <a:r>
              <a:rPr lang="en-IN" sz="1300" dirty="0">
                <a:solidFill>
                  <a:schemeClr val="tx1"/>
                </a:solidFill>
                <a:latin typeface="Times New Roman" pitchFamily="18" charset="0"/>
                <a:cs typeface="Times New Roman" pitchFamily="18" charset="0"/>
              </a:rPr>
              <a:t> ‘Lifetime Expected Credit Loss’ if the credit risk has increased significantly since initial recognition where Stage 3 includes all the impaired loans</a:t>
            </a:r>
            <a:r>
              <a:rPr lang="en-IN" sz="1300" dirty="0" smtClean="0">
                <a:solidFill>
                  <a:schemeClr val="tx1"/>
                </a:solidFill>
                <a:latin typeface="Times New Roman" pitchFamily="18" charset="0"/>
                <a:cs typeface="Times New Roman" pitchFamily="18" charset="0"/>
              </a:rPr>
              <a:t>.</a:t>
            </a:r>
          </a:p>
          <a:p>
            <a:pPr eaLnBrk="0" hangingPunct="0">
              <a:lnSpc>
                <a:spcPct val="90000"/>
              </a:lnSpc>
              <a:spcBef>
                <a:spcPct val="60000"/>
              </a:spcBef>
            </a:pPr>
            <a:r>
              <a:rPr lang="en-IN" sz="1300" dirty="0">
                <a:solidFill>
                  <a:schemeClr val="tx1"/>
                </a:solidFill>
                <a:latin typeface="Times New Roman" pitchFamily="18" charset="0"/>
                <a:cs typeface="Times New Roman" pitchFamily="18" charset="0"/>
              </a:rPr>
              <a:t>Since, IFRS 9 does not specify a methodology for measurement of ECL, it only says that ECL should be computed as a probability weighted estimate of credit losses over the expected life of financial </a:t>
            </a:r>
            <a:r>
              <a:rPr lang="en-IN" sz="1300" dirty="0" smtClean="0">
                <a:solidFill>
                  <a:schemeClr val="tx1"/>
                </a:solidFill>
                <a:latin typeface="Times New Roman" pitchFamily="18" charset="0"/>
                <a:cs typeface="Times New Roman" pitchFamily="18" charset="0"/>
              </a:rPr>
              <a:t>asset, QNB </a:t>
            </a:r>
            <a:r>
              <a:rPr lang="en-IN" sz="1300" dirty="0">
                <a:solidFill>
                  <a:schemeClr val="tx1"/>
                </a:solidFill>
                <a:latin typeface="Times New Roman" pitchFamily="18" charset="0"/>
                <a:cs typeface="Times New Roman" pitchFamily="18" charset="0"/>
              </a:rPr>
              <a:t>has </a:t>
            </a:r>
            <a:r>
              <a:rPr lang="en-IN" sz="1300" dirty="0" smtClean="0">
                <a:solidFill>
                  <a:schemeClr val="tx1"/>
                </a:solidFill>
                <a:latin typeface="Times New Roman" pitchFamily="18" charset="0"/>
                <a:cs typeface="Times New Roman" pitchFamily="18" charset="0"/>
              </a:rPr>
              <a:t>chosen its </a:t>
            </a:r>
            <a:r>
              <a:rPr lang="en-IN" sz="1300" dirty="0">
                <a:solidFill>
                  <a:schemeClr val="tx1"/>
                </a:solidFill>
                <a:latin typeface="Times New Roman" pitchFamily="18" charset="0"/>
                <a:cs typeface="Times New Roman" pitchFamily="18" charset="0"/>
              </a:rPr>
              <a:t>preferred ECL methodology </a:t>
            </a:r>
            <a:r>
              <a:rPr lang="en-IN" sz="1300" dirty="0" smtClean="0">
                <a:solidFill>
                  <a:schemeClr val="tx1"/>
                </a:solidFill>
                <a:latin typeface="Times New Roman" pitchFamily="18" charset="0"/>
                <a:cs typeface="Times New Roman" pitchFamily="18" charset="0"/>
              </a:rPr>
              <a:t>to be the Sum of Marginal Losses or PD/LGD approach.</a:t>
            </a:r>
            <a:endParaRPr lang="en-IN" sz="1300" dirty="0" smtClean="0">
              <a:solidFill>
                <a:srgbClr val="FF0000"/>
              </a:solidFill>
              <a:latin typeface="Times New Roman" pitchFamily="18" charset="0"/>
              <a:cs typeface="Times New Roman" pitchFamily="18" charset="0"/>
            </a:endParaRPr>
          </a:p>
          <a:p>
            <a:pPr eaLnBrk="0" hangingPunct="0">
              <a:lnSpc>
                <a:spcPct val="90000"/>
              </a:lnSpc>
              <a:spcBef>
                <a:spcPct val="60000"/>
              </a:spcBef>
            </a:pPr>
            <a:r>
              <a:rPr lang="en-IN" sz="1800" b="1" dirty="0">
                <a:solidFill>
                  <a:schemeClr val="tx1"/>
                </a:solidFill>
                <a:latin typeface="Times New Roman" pitchFamily="18" charset="0"/>
                <a:cs typeface="Times New Roman" pitchFamily="18" charset="0"/>
              </a:rPr>
              <a:t>Computing Expected Credit Losses (ECL</a:t>
            </a:r>
            <a:r>
              <a:rPr lang="en-IN" sz="1800" b="1" dirty="0" smtClean="0">
                <a:solidFill>
                  <a:schemeClr val="tx1"/>
                </a:solidFill>
                <a:latin typeface="Times New Roman" pitchFamily="18" charset="0"/>
                <a:cs typeface="Times New Roman" pitchFamily="18" charset="0"/>
              </a:rPr>
              <a:t>)</a:t>
            </a:r>
            <a:endParaRPr lang="en-IN" sz="1800" b="1" dirty="0">
              <a:solidFill>
                <a:schemeClr val="tx1"/>
              </a:solidFill>
              <a:latin typeface="Times New Roman" pitchFamily="18" charset="0"/>
              <a:cs typeface="Times New Roman" pitchFamily="18" charset="0"/>
            </a:endParaRPr>
          </a:p>
        </p:txBody>
      </p:sp>
      <p:sp>
        <p:nvSpPr>
          <p:cNvPr id="3" name="TextBox 2"/>
          <p:cNvSpPr txBox="1"/>
          <p:nvPr/>
        </p:nvSpPr>
        <p:spPr>
          <a:xfrm>
            <a:off x="248295" y="5685468"/>
            <a:ext cx="9509055" cy="892552"/>
          </a:xfrm>
          <a:prstGeom prst="rect">
            <a:avLst/>
          </a:prstGeom>
          <a:noFill/>
        </p:spPr>
        <p:txBody>
          <a:bodyPr wrap="square" rtlCol="0">
            <a:spAutoFit/>
          </a:bodyPr>
          <a:lstStyle/>
          <a:p>
            <a:pPr>
              <a:lnSpc>
                <a:spcPct val="100000"/>
              </a:lnSpc>
            </a:pPr>
            <a:r>
              <a:rPr lang="en-US" sz="1300" dirty="0" smtClean="0"/>
              <a:t>The decision on which approach to adopt was made after due consideration of the Technical Guidance provided by the Big 4 </a:t>
            </a:r>
            <a:r>
              <a:rPr lang="en-IN" sz="1300" dirty="0" smtClean="0"/>
              <a:t>External Auditors, the ITG </a:t>
            </a:r>
            <a:r>
              <a:rPr lang="en-IN" sz="1300" dirty="0"/>
              <a:t>(Transition Resource Group from impairment of Financial Instruments), GPPC (Global Public Policy Committee) </a:t>
            </a:r>
            <a:r>
              <a:rPr lang="en-IN" sz="1300" dirty="0" smtClean="0"/>
              <a:t>and </a:t>
            </a:r>
            <a:r>
              <a:rPr lang="en-IN" sz="1300" dirty="0"/>
              <a:t>Basel </a:t>
            </a:r>
            <a:r>
              <a:rPr lang="en-IN" sz="1300" dirty="0" smtClean="0"/>
              <a:t>GARCEL.  All of which demonstrate an</a:t>
            </a:r>
            <a:r>
              <a:rPr lang="en-US" sz="1300" dirty="0" smtClean="0"/>
              <a:t> </a:t>
            </a:r>
            <a:r>
              <a:rPr lang="en-US" sz="1300" dirty="0"/>
              <a:t>overwhelming tilt towards </a:t>
            </a:r>
            <a:r>
              <a:rPr lang="en-US" sz="1300" dirty="0" smtClean="0"/>
              <a:t>the Sum </a:t>
            </a:r>
            <a:r>
              <a:rPr lang="en-US" sz="1300" dirty="0"/>
              <a:t>of Marginal Losses or PD/LGD </a:t>
            </a:r>
            <a:r>
              <a:rPr lang="en-US" sz="1300" dirty="0" smtClean="0"/>
              <a:t>approach for banks.</a:t>
            </a:r>
            <a:endParaRPr lang="en-US" sz="1300" dirty="0"/>
          </a:p>
          <a:p>
            <a:endParaRPr lang="en-IN" sz="1300" dirty="0"/>
          </a:p>
        </p:txBody>
      </p:sp>
      <p:sp>
        <p:nvSpPr>
          <p:cNvPr id="6" name="Rounded Rectangle 5"/>
          <p:cNvSpPr/>
          <p:nvPr/>
        </p:nvSpPr>
        <p:spPr>
          <a:xfrm>
            <a:off x="629916" y="3942557"/>
            <a:ext cx="1382233" cy="40972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12mth ECL</a:t>
            </a:r>
            <a:endParaRPr lang="en-GB" sz="1100" b="1"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2487992" y="3422292"/>
            <a:ext cx="1935127" cy="33565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Probability of Default (PD)</a:t>
            </a:r>
            <a:endParaRPr lang="en-GB" sz="1100" b="1" dirty="0">
              <a:latin typeface="Times New Roman" panose="02020603050405020304" pitchFamily="18" charset="0"/>
              <a:cs typeface="Times New Roman" panose="02020603050405020304" pitchFamily="18" charset="0"/>
            </a:endParaRPr>
          </a:p>
        </p:txBody>
      </p:sp>
      <p:sp>
        <p:nvSpPr>
          <p:cNvPr id="9" name="Equal 8"/>
          <p:cNvSpPr/>
          <p:nvPr/>
        </p:nvSpPr>
        <p:spPr>
          <a:xfrm>
            <a:off x="2057480" y="3970577"/>
            <a:ext cx="382278" cy="353687"/>
          </a:xfrm>
          <a:prstGeom prst="mathEqua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100">
              <a:solidFill>
                <a:schemeClr val="tx1"/>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2487992" y="3825599"/>
            <a:ext cx="1935128" cy="783193"/>
          </a:xfrm>
          <a:prstGeom prst="round2Diag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endParaRPr lang="en-US" sz="1000" dirty="0" smtClean="0">
              <a:solidFill>
                <a:schemeClr val="tx1"/>
              </a:solidFill>
              <a:latin typeface="Times New Roman" panose="02020603050405020304" pitchFamily="18" charset="0"/>
              <a:cs typeface="Times New Roman" panose="02020603050405020304" pitchFamily="18" charset="0"/>
            </a:endParaRPr>
          </a:p>
          <a:p>
            <a:r>
              <a:rPr lang="en-US" sz="1000" dirty="0" smtClean="0">
                <a:solidFill>
                  <a:schemeClr val="tx1"/>
                </a:solidFill>
                <a:latin typeface="Times New Roman" panose="02020603050405020304" pitchFamily="18" charset="0"/>
                <a:cs typeface="Times New Roman" panose="02020603050405020304" pitchFamily="18" charset="0"/>
              </a:rPr>
              <a:t>Forward looking 12mth </a:t>
            </a:r>
            <a:r>
              <a:rPr lang="en-US" sz="1000" dirty="0" err="1" smtClean="0">
                <a:solidFill>
                  <a:schemeClr val="tx1"/>
                </a:solidFill>
                <a:latin typeface="Times New Roman" panose="02020603050405020304" pitchFamily="18" charset="0"/>
                <a:cs typeface="Times New Roman" panose="02020603050405020304" pitchFamily="18" charset="0"/>
              </a:rPr>
              <a:t>PiT</a:t>
            </a:r>
            <a:r>
              <a:rPr lang="en-US" sz="1000" dirty="0" smtClean="0">
                <a:solidFill>
                  <a:schemeClr val="tx1"/>
                </a:solidFill>
                <a:latin typeface="Times New Roman" panose="02020603050405020304" pitchFamily="18" charset="0"/>
                <a:cs typeface="Times New Roman" panose="02020603050405020304" pitchFamily="18" charset="0"/>
              </a:rPr>
              <a:t> PD, prorated for shorter maturities.</a:t>
            </a:r>
          </a:p>
          <a:p>
            <a:pPr marL="171450" indent="-171450">
              <a:buFont typeface="Arial" panose="020B0604020202020204" pitchFamily="34" charset="0"/>
              <a:buChar char="•"/>
            </a:pPr>
            <a:endParaRPr lang="en-US" sz="1000" dirty="0" smtClean="0">
              <a:solidFill>
                <a:schemeClr val="tx1"/>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4938629" y="3422291"/>
            <a:ext cx="1935127" cy="326427"/>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Loss Given Default (LGD)</a:t>
            </a:r>
            <a:endParaRPr lang="en-GB" sz="11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938629" y="3816368"/>
            <a:ext cx="1935128" cy="783193"/>
          </a:xfrm>
          <a:prstGeom prst="round2Diag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endParaRPr lang="en-US" sz="1000" dirty="0" smtClean="0">
              <a:latin typeface="Times New Roman" panose="02020603050405020304" pitchFamily="18" charset="0"/>
              <a:cs typeface="Times New Roman" panose="02020603050405020304" pitchFamily="18" charset="0"/>
            </a:endParaRPr>
          </a:p>
          <a:p>
            <a:r>
              <a:rPr lang="en-US" sz="1000" dirty="0" smtClean="0">
                <a:latin typeface="Times New Roman" panose="02020603050405020304" pitchFamily="18" charset="0"/>
                <a:cs typeface="Times New Roman" panose="02020603050405020304" pitchFamily="18" charset="0"/>
              </a:rPr>
              <a:t>Composite, haircut derived, secured and unsecured </a:t>
            </a:r>
            <a:r>
              <a:rPr lang="en-US" sz="1000" dirty="0" err="1" smtClean="0">
                <a:latin typeface="Times New Roman" panose="02020603050405020304" pitchFamily="18" charset="0"/>
                <a:cs typeface="Times New Roman" panose="02020603050405020304" pitchFamily="18" charset="0"/>
              </a:rPr>
              <a:t>PiT</a:t>
            </a:r>
            <a:r>
              <a:rPr lang="en-US" sz="1000" dirty="0" smtClean="0">
                <a:latin typeface="Times New Roman" panose="02020603050405020304" pitchFamily="18" charset="0"/>
                <a:cs typeface="Times New Roman" panose="02020603050405020304" pitchFamily="18" charset="0"/>
              </a:rPr>
              <a:t> LGD</a:t>
            </a:r>
            <a:endParaRPr lang="en-US" sz="1000" dirty="0" smtClean="0">
              <a:latin typeface="Times New Roman" panose="02020603050405020304" pitchFamily="18" charset="0"/>
              <a:cs typeface="Times New Roman" panose="02020603050405020304" pitchFamily="18" charset="0"/>
            </a:endParaRPr>
          </a:p>
          <a:p>
            <a:endParaRPr lang="en-US" sz="1000" dirty="0" smtClean="0">
              <a:latin typeface="Times New Roman" panose="02020603050405020304" pitchFamily="18" charset="0"/>
              <a:cs typeface="Times New Roman" panose="02020603050405020304" pitchFamily="18" charset="0"/>
            </a:endParaRPr>
          </a:p>
        </p:txBody>
      </p:sp>
      <p:sp>
        <p:nvSpPr>
          <p:cNvPr id="13" name="Rounded Rectangle 12"/>
          <p:cNvSpPr/>
          <p:nvPr/>
        </p:nvSpPr>
        <p:spPr>
          <a:xfrm>
            <a:off x="7346767" y="3422291"/>
            <a:ext cx="1935127" cy="326428"/>
          </a:xfrm>
          <a:prstGeom prst="roundRect">
            <a:avLst/>
          </a:prstGeom>
          <a:solidFill>
            <a:srgbClr val="000F33"/>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Exposure at Default (EAD)</a:t>
            </a:r>
            <a:endParaRPr lang="en-GB" sz="11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7325501" y="3816368"/>
            <a:ext cx="1935128" cy="783193"/>
          </a:xfrm>
          <a:prstGeom prst="round2Diag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000" dirty="0" smtClean="0">
                <a:latin typeface="Times New Roman" panose="02020603050405020304" pitchFamily="18" charset="0"/>
                <a:cs typeface="Times New Roman" panose="02020603050405020304" pitchFamily="18" charset="0"/>
              </a:rPr>
              <a:t>On and (credit weighted) off balance sheets amounts, estimated </a:t>
            </a:r>
            <a:r>
              <a:rPr lang="en-US" sz="1000" dirty="0" smtClean="0">
                <a:latin typeface="Times New Roman" panose="02020603050405020304" pitchFamily="18" charset="0"/>
                <a:cs typeface="Times New Roman" panose="02020603050405020304" pitchFamily="18" charset="0"/>
              </a:rPr>
              <a:t>over the next 12 </a:t>
            </a:r>
            <a:r>
              <a:rPr lang="en-US" sz="1000" dirty="0" smtClean="0">
                <a:latin typeface="Times New Roman" panose="02020603050405020304" pitchFamily="18" charset="0"/>
                <a:cs typeface="Times New Roman" panose="02020603050405020304" pitchFamily="18" charset="0"/>
              </a:rPr>
              <a:t>months.</a:t>
            </a:r>
            <a:endParaRPr lang="en-US" sz="1000" dirty="0" smtClean="0">
              <a:latin typeface="Times New Roman" panose="02020603050405020304" pitchFamily="18" charset="0"/>
              <a:cs typeface="Times New Roman" panose="02020603050405020304" pitchFamily="18" charset="0"/>
            </a:endParaRPr>
          </a:p>
        </p:txBody>
      </p:sp>
      <p:sp>
        <p:nvSpPr>
          <p:cNvPr id="16" name="TextBox 15"/>
          <p:cNvSpPr txBox="1"/>
          <p:nvPr/>
        </p:nvSpPr>
        <p:spPr>
          <a:xfrm>
            <a:off x="2509224" y="4735788"/>
            <a:ext cx="1935128" cy="783193"/>
          </a:xfrm>
          <a:prstGeom prst="round2Diag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r>
              <a:rPr lang="en-US" sz="1000" dirty="0" smtClean="0">
                <a:latin typeface="Times New Roman" panose="02020603050405020304" pitchFamily="18" charset="0"/>
                <a:cs typeface="Times New Roman" panose="02020603050405020304" pitchFamily="18" charset="0"/>
              </a:rPr>
              <a:t>Forward looking Lifetime </a:t>
            </a:r>
            <a:r>
              <a:rPr lang="en-US" sz="1000" dirty="0" err="1" smtClean="0">
                <a:latin typeface="Times New Roman" panose="02020603050405020304" pitchFamily="18" charset="0"/>
                <a:cs typeface="Times New Roman" panose="02020603050405020304" pitchFamily="18" charset="0"/>
              </a:rPr>
              <a:t>PiT</a:t>
            </a:r>
            <a:r>
              <a:rPr lang="en-US" sz="1000" dirty="0" smtClean="0">
                <a:latin typeface="Times New Roman" panose="02020603050405020304" pitchFamily="18" charset="0"/>
                <a:cs typeface="Times New Roman" panose="02020603050405020304" pitchFamily="18" charset="0"/>
              </a:rPr>
              <a:t> PDs for the duration </a:t>
            </a:r>
            <a:r>
              <a:rPr lang="en-US" sz="1000" dirty="0" smtClean="0">
                <a:latin typeface="Times New Roman" panose="02020603050405020304" pitchFamily="18" charset="0"/>
                <a:cs typeface="Times New Roman" panose="02020603050405020304" pitchFamily="18" charset="0"/>
              </a:rPr>
              <a:t>of the exposure.</a:t>
            </a:r>
            <a:endParaRPr lang="en-GB"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000" dirty="0" smtClean="0">
              <a:latin typeface="Times New Roman" panose="02020603050405020304" pitchFamily="18" charset="0"/>
              <a:cs typeface="Times New Roman" panose="02020603050405020304" pitchFamily="18" charset="0"/>
            </a:endParaRPr>
          </a:p>
        </p:txBody>
      </p:sp>
      <p:sp>
        <p:nvSpPr>
          <p:cNvPr id="17" name="TextBox 16"/>
          <p:cNvSpPr txBox="1"/>
          <p:nvPr/>
        </p:nvSpPr>
        <p:spPr>
          <a:xfrm>
            <a:off x="4917397" y="4735788"/>
            <a:ext cx="1935128" cy="783193"/>
          </a:xfrm>
          <a:prstGeom prst="round2Diag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000" dirty="0" smtClean="0">
                <a:latin typeface="Times New Roman" panose="02020603050405020304" pitchFamily="18" charset="0"/>
                <a:cs typeface="Times New Roman" panose="02020603050405020304" pitchFamily="18" charset="0"/>
              </a:rPr>
              <a:t>Composite, </a:t>
            </a:r>
            <a:r>
              <a:rPr lang="en-US" sz="1000" dirty="0">
                <a:latin typeface="Times New Roman" panose="02020603050405020304" pitchFamily="18" charset="0"/>
                <a:cs typeface="Times New Roman" panose="02020603050405020304" pitchFamily="18" charset="0"/>
              </a:rPr>
              <a:t>haircut </a:t>
            </a:r>
            <a:r>
              <a:rPr lang="en-US" sz="1000" dirty="0" smtClean="0">
                <a:latin typeface="Times New Roman" panose="02020603050405020304" pitchFamily="18" charset="0"/>
                <a:cs typeface="Times New Roman" panose="02020603050405020304" pitchFamily="18" charset="0"/>
              </a:rPr>
              <a:t>derived, </a:t>
            </a:r>
            <a:r>
              <a:rPr lang="en-US" sz="1000" dirty="0">
                <a:latin typeface="Times New Roman" panose="02020603050405020304" pitchFamily="18" charset="0"/>
                <a:cs typeface="Times New Roman" panose="02020603050405020304" pitchFamily="18" charset="0"/>
              </a:rPr>
              <a:t>secured and unsecured </a:t>
            </a:r>
            <a:r>
              <a:rPr lang="en-US" sz="1000" dirty="0" err="1">
                <a:latin typeface="Times New Roman" panose="02020603050405020304" pitchFamily="18" charset="0"/>
                <a:cs typeface="Times New Roman" panose="02020603050405020304" pitchFamily="18" charset="0"/>
              </a:rPr>
              <a:t>PiT</a:t>
            </a:r>
            <a:r>
              <a:rPr lang="en-US" sz="1000" dirty="0">
                <a:latin typeface="Times New Roman" panose="02020603050405020304" pitchFamily="18" charset="0"/>
                <a:cs typeface="Times New Roman" panose="02020603050405020304" pitchFamily="18" charset="0"/>
              </a:rPr>
              <a:t> </a:t>
            </a:r>
            <a:r>
              <a:rPr lang="en-US" sz="1000" dirty="0" smtClean="0">
                <a:latin typeface="Times New Roman" panose="02020603050405020304" pitchFamily="18" charset="0"/>
                <a:cs typeface="Times New Roman" panose="02020603050405020304" pitchFamily="18" charset="0"/>
              </a:rPr>
              <a:t>LGDs</a:t>
            </a:r>
          </a:p>
          <a:p>
            <a:pPr marL="171450" indent="-171450">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7330652" y="4735788"/>
            <a:ext cx="1929977" cy="783193"/>
          </a:xfrm>
          <a:prstGeom prst="round2Diag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On and (credit weighted) off balance sheets amounts</a:t>
            </a:r>
            <a:r>
              <a:rPr lang="en-US" sz="1000" dirty="0" smtClean="0">
                <a:latin typeface="Times New Roman" panose="02020603050405020304" pitchFamily="18" charset="0"/>
                <a:cs typeface="Times New Roman" panose="02020603050405020304" pitchFamily="18" charset="0"/>
              </a:rPr>
              <a:t>,  accounting for repayments over the exposure’s life time.</a:t>
            </a:r>
            <a:endParaRPr lang="en-US" sz="1000" dirty="0">
              <a:latin typeface="Times New Roman" panose="02020603050405020304" pitchFamily="18" charset="0"/>
              <a:cs typeface="Times New Roman" panose="02020603050405020304" pitchFamily="18" charset="0"/>
            </a:endParaRPr>
          </a:p>
        </p:txBody>
      </p:sp>
      <p:sp>
        <p:nvSpPr>
          <p:cNvPr id="19" name="Rounded Rectangle 18"/>
          <p:cNvSpPr/>
          <p:nvPr/>
        </p:nvSpPr>
        <p:spPr>
          <a:xfrm>
            <a:off x="629916" y="4909007"/>
            <a:ext cx="1382233" cy="40972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latin typeface="Times New Roman" panose="02020603050405020304" pitchFamily="18" charset="0"/>
                <a:cs typeface="Times New Roman" panose="02020603050405020304" pitchFamily="18" charset="0"/>
              </a:rPr>
              <a:t>Lifetime ECL</a:t>
            </a:r>
            <a:endParaRPr lang="en-GB" sz="1100" b="1" dirty="0">
              <a:latin typeface="Times New Roman" panose="02020603050405020304" pitchFamily="18" charset="0"/>
              <a:cs typeface="Times New Roman" panose="02020603050405020304" pitchFamily="18" charset="0"/>
            </a:endParaRPr>
          </a:p>
        </p:txBody>
      </p:sp>
      <p:sp>
        <p:nvSpPr>
          <p:cNvPr id="20" name="Equal 19"/>
          <p:cNvSpPr/>
          <p:nvPr/>
        </p:nvSpPr>
        <p:spPr>
          <a:xfrm>
            <a:off x="2057480" y="4937027"/>
            <a:ext cx="382278" cy="353687"/>
          </a:xfrm>
          <a:prstGeom prst="mathEqua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100">
              <a:solidFill>
                <a:schemeClr val="tx1"/>
              </a:solidFill>
              <a:latin typeface="Times New Roman" panose="02020603050405020304" pitchFamily="18" charset="0"/>
              <a:cs typeface="Times New Roman" panose="02020603050405020304" pitchFamily="18" charset="0"/>
            </a:endParaRPr>
          </a:p>
        </p:txBody>
      </p:sp>
      <p:sp>
        <p:nvSpPr>
          <p:cNvPr id="21" name="Multiply 20"/>
          <p:cNvSpPr/>
          <p:nvPr/>
        </p:nvSpPr>
        <p:spPr>
          <a:xfrm>
            <a:off x="4494845" y="3998598"/>
            <a:ext cx="382278" cy="246664"/>
          </a:xfrm>
          <a:prstGeom prst="mathMultiply">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100">
              <a:solidFill>
                <a:schemeClr val="tx1"/>
              </a:solidFill>
              <a:latin typeface="Times New Roman" panose="02020603050405020304" pitchFamily="18" charset="0"/>
              <a:cs typeface="Times New Roman" panose="02020603050405020304" pitchFamily="18" charset="0"/>
            </a:endParaRPr>
          </a:p>
        </p:txBody>
      </p:sp>
      <p:sp>
        <p:nvSpPr>
          <p:cNvPr id="22" name="Multiply 21"/>
          <p:cNvSpPr/>
          <p:nvPr/>
        </p:nvSpPr>
        <p:spPr>
          <a:xfrm>
            <a:off x="4494845" y="4965048"/>
            <a:ext cx="382278" cy="246664"/>
          </a:xfrm>
          <a:prstGeom prst="mathMultiply">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100">
              <a:solidFill>
                <a:schemeClr val="tx1"/>
              </a:solidFill>
              <a:latin typeface="Times New Roman" panose="02020603050405020304" pitchFamily="18" charset="0"/>
              <a:cs typeface="Times New Roman" panose="02020603050405020304" pitchFamily="18" charset="0"/>
            </a:endParaRPr>
          </a:p>
        </p:txBody>
      </p:sp>
      <p:sp>
        <p:nvSpPr>
          <p:cNvPr id="23" name="Multiply 22"/>
          <p:cNvSpPr/>
          <p:nvPr/>
        </p:nvSpPr>
        <p:spPr>
          <a:xfrm>
            <a:off x="6921991" y="4001476"/>
            <a:ext cx="382278" cy="246664"/>
          </a:xfrm>
          <a:prstGeom prst="mathMultiply">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100">
              <a:solidFill>
                <a:schemeClr val="tx1"/>
              </a:solidFill>
              <a:latin typeface="Times New Roman" panose="02020603050405020304" pitchFamily="18" charset="0"/>
              <a:cs typeface="Times New Roman" panose="02020603050405020304" pitchFamily="18" charset="0"/>
            </a:endParaRPr>
          </a:p>
        </p:txBody>
      </p:sp>
      <p:sp>
        <p:nvSpPr>
          <p:cNvPr id="24" name="Multiply 23"/>
          <p:cNvSpPr/>
          <p:nvPr/>
        </p:nvSpPr>
        <p:spPr>
          <a:xfrm>
            <a:off x="6921991" y="4967926"/>
            <a:ext cx="382278" cy="246664"/>
          </a:xfrm>
          <a:prstGeom prst="mathMultiply">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10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3960853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Sum </a:t>
            </a:r>
            <a:r>
              <a:rPr lang="en-IN" sz="2400" dirty="0"/>
              <a:t>Of Marginal Losses Approach</a:t>
            </a:r>
            <a:r>
              <a:rPr lang="en-US" sz="2800" dirty="0"/>
              <a:t/>
            </a:r>
            <a:br>
              <a:rPr lang="en-US" sz="2800" dirty="0"/>
            </a:br>
            <a:r>
              <a:rPr lang="en-US" sz="2000" i="1" dirty="0" smtClean="0"/>
              <a:t>Preferred ECL Methodology for the Bank</a:t>
            </a:r>
            <a:r>
              <a:rPr lang="en-US" sz="2800" dirty="0"/>
              <a:t/>
            </a:r>
            <a:br>
              <a:rPr lang="en-US" sz="2800" dirty="0"/>
            </a:br>
            <a:endParaRPr lang="en-IN" sz="2400" i="1" dirty="0"/>
          </a:p>
        </p:txBody>
      </p:sp>
      <p:sp>
        <p:nvSpPr>
          <p:cNvPr id="14" name="Rectangle 13"/>
          <p:cNvSpPr/>
          <p:nvPr/>
        </p:nvSpPr>
        <p:spPr>
          <a:xfrm>
            <a:off x="201351" y="1016276"/>
            <a:ext cx="9417312" cy="45241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300" dirty="0" smtClean="0">
                <a:solidFill>
                  <a:schemeClr val="tx1"/>
                </a:solidFill>
                <a:latin typeface="Times New Roman" pitchFamily="18" charset="0"/>
                <a:cs typeface="Times New Roman" pitchFamily="18" charset="0"/>
              </a:rPr>
              <a:t>Below are the detailed steps that will be taken to derived the necessary input factors for the calculation of ECL/LECL.  These steps are essentially a high level summary of the concepts explained throughout this methodology design document.  </a:t>
            </a:r>
            <a:endParaRPr lang="en-IN" sz="1300" dirty="0">
              <a:solidFill>
                <a:schemeClr val="tx1"/>
              </a:solidFill>
              <a:latin typeface="Times New Roman" pitchFamily="18" charset="0"/>
              <a:cs typeface="Times New Roman" pitchFamily="18" charset="0"/>
            </a:endParaRPr>
          </a:p>
        </p:txBody>
      </p:sp>
      <p:sp>
        <p:nvSpPr>
          <p:cNvPr id="6" name="Rounded Rectangle 5"/>
          <p:cNvSpPr/>
          <p:nvPr/>
        </p:nvSpPr>
        <p:spPr>
          <a:xfrm>
            <a:off x="195504" y="2133092"/>
            <a:ext cx="3083441" cy="2725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Probability of Default (PD)</a:t>
            </a:r>
            <a:endParaRPr lang="en-GB" b="1"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3468429" y="2152400"/>
            <a:ext cx="3083441" cy="25322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Loss Given Default (LGD)</a:t>
            </a:r>
            <a:endParaRPr lang="en-GB" b="1" dirty="0">
              <a:latin typeface="Times New Roman" panose="02020603050405020304" pitchFamily="18" charset="0"/>
              <a:cs typeface="Times New Roman" panose="02020603050405020304" pitchFamily="18" charset="0"/>
            </a:endParaRPr>
          </a:p>
        </p:txBody>
      </p:sp>
      <p:sp>
        <p:nvSpPr>
          <p:cNvPr id="9" name="Rounded Rectangle 8"/>
          <p:cNvSpPr/>
          <p:nvPr/>
        </p:nvSpPr>
        <p:spPr>
          <a:xfrm>
            <a:off x="6741358" y="2133092"/>
            <a:ext cx="3083441" cy="2725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Exposure at Default (EAD)</a:t>
            </a:r>
            <a:endParaRPr lang="en-GB" b="1" dirty="0">
              <a:latin typeface="Times New Roman" panose="02020603050405020304" pitchFamily="18" charset="0"/>
              <a:cs typeface="Times New Roman" panose="02020603050405020304" pitchFamily="18" charset="0"/>
            </a:endParaRPr>
          </a:p>
        </p:txBody>
      </p:sp>
      <p:sp>
        <p:nvSpPr>
          <p:cNvPr id="10" name="Rounded Rectangle 9"/>
          <p:cNvSpPr/>
          <p:nvPr/>
        </p:nvSpPr>
        <p:spPr>
          <a:xfrm>
            <a:off x="227400" y="2481262"/>
            <a:ext cx="3051546" cy="437930"/>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u="sng" smtClean="0">
                <a:latin typeface="Times New Roman" panose="02020603050405020304" pitchFamily="18" charset="0"/>
                <a:cs typeface="Times New Roman" panose="02020603050405020304" pitchFamily="18" charset="0"/>
              </a:rPr>
              <a:t>Step 1:-</a:t>
            </a:r>
            <a:r>
              <a:rPr lang="en-IN"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TTC </a:t>
            </a:r>
            <a:r>
              <a:rPr lang="en-IN" dirty="0" smtClean="0">
                <a:latin typeface="Times New Roman" panose="02020603050405020304" pitchFamily="18" charset="0"/>
                <a:cs typeface="Times New Roman" panose="02020603050405020304" pitchFamily="18" charset="0"/>
              </a:rPr>
              <a:t>PD </a:t>
            </a:r>
            <a:r>
              <a:rPr lang="en-IN" dirty="0">
                <a:latin typeface="Times New Roman" panose="02020603050405020304" pitchFamily="18" charset="0"/>
                <a:cs typeface="Times New Roman" panose="02020603050405020304" pitchFamily="18" charset="0"/>
              </a:rPr>
              <a:t>curve </a:t>
            </a:r>
            <a:r>
              <a:rPr lang="en-IN" dirty="0" smtClean="0">
                <a:latin typeface="Times New Roman" panose="02020603050405020304" pitchFamily="18" charset="0"/>
                <a:cs typeface="Times New Roman" panose="02020603050405020304" pitchFamily="18" charset="0"/>
              </a:rPr>
              <a:t>is identified based on the ORR mapped to the Master Rating scale</a:t>
            </a: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
        <p:nvSpPr>
          <p:cNvPr id="11" name="Rounded Rectangle 10"/>
          <p:cNvSpPr/>
          <p:nvPr/>
        </p:nvSpPr>
        <p:spPr>
          <a:xfrm>
            <a:off x="227400" y="3086677"/>
            <a:ext cx="3051546" cy="525046"/>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2:</a:t>
            </a:r>
            <a:r>
              <a:rPr lang="en-IN" b="1" u="sng"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Marginal PD curves are </a:t>
            </a:r>
            <a:r>
              <a:rPr lang="en-IN" dirty="0">
                <a:latin typeface="Times New Roman" panose="02020603050405020304" pitchFamily="18" charset="0"/>
                <a:cs typeface="Times New Roman" panose="02020603050405020304" pitchFamily="18" charset="0"/>
              </a:rPr>
              <a:t>determined </a:t>
            </a:r>
            <a:r>
              <a:rPr lang="en-IN" dirty="0" smtClean="0">
                <a:latin typeface="Times New Roman" panose="02020603050405020304" pitchFamily="18" charset="0"/>
                <a:cs typeface="Times New Roman" panose="02020603050405020304" pitchFamily="18" charset="0"/>
              </a:rPr>
              <a:t>on a yearly basis (for 10 years) using Transition Matrix Multiplication approach.</a:t>
            </a:r>
            <a:endParaRPr lang="en-IN" dirty="0">
              <a:latin typeface="Times New Roman" panose="02020603050405020304" pitchFamily="18" charset="0"/>
              <a:cs typeface="Times New Roman" panose="02020603050405020304" pitchFamily="18" charset="0"/>
            </a:endParaRPr>
          </a:p>
        </p:txBody>
      </p:sp>
      <p:sp>
        <p:nvSpPr>
          <p:cNvPr id="12" name="Rounded Rectangle 11"/>
          <p:cNvSpPr/>
          <p:nvPr/>
        </p:nvSpPr>
        <p:spPr>
          <a:xfrm>
            <a:off x="227396" y="3734494"/>
            <a:ext cx="3062178" cy="692531"/>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3:-</a:t>
            </a:r>
            <a:r>
              <a:rPr lang="en-IN" dirty="0">
                <a:latin typeface="Times New Roman" panose="02020603050405020304" pitchFamily="18" charset="0"/>
                <a:cs typeface="Times New Roman" panose="02020603050405020304" pitchFamily="18" charset="0"/>
              </a:rPr>
              <a:t> Forward looking PD adjustment curves are determined across future periods using CCI </a:t>
            </a:r>
            <a:r>
              <a:rPr lang="en-IN" dirty="0" smtClean="0">
                <a:latin typeface="Times New Roman" panose="02020603050405020304" pitchFamily="18" charset="0"/>
                <a:cs typeface="Times New Roman" panose="02020603050405020304" pitchFamily="18" charset="0"/>
              </a:rPr>
              <a:t>index and Basel Asset Correlation Formulae as an input to </a:t>
            </a:r>
            <a:r>
              <a:rPr lang="en-IN" dirty="0" err="1" smtClean="0">
                <a:latin typeface="Times New Roman" panose="02020603050405020304" pitchFamily="18" charset="0"/>
                <a:cs typeface="Times New Roman" panose="02020603050405020304" pitchFamily="18" charset="0"/>
              </a:rPr>
              <a:t>Vasicek</a:t>
            </a:r>
            <a:r>
              <a:rPr lang="en-IN" dirty="0" smtClean="0">
                <a:latin typeface="Times New Roman" panose="02020603050405020304" pitchFamily="18" charset="0"/>
                <a:cs typeface="Times New Roman" panose="02020603050405020304" pitchFamily="18" charset="0"/>
              </a:rPr>
              <a:t> Framework.</a:t>
            </a:r>
            <a:endParaRPr lang="en-IN" dirty="0">
              <a:latin typeface="Times New Roman" panose="02020603050405020304" pitchFamily="18" charset="0"/>
              <a:cs typeface="Times New Roman" panose="02020603050405020304" pitchFamily="18" charset="0"/>
            </a:endParaRPr>
          </a:p>
        </p:txBody>
      </p:sp>
      <p:sp>
        <p:nvSpPr>
          <p:cNvPr id="13" name="Rounded Rectangle 12"/>
          <p:cNvSpPr/>
          <p:nvPr/>
        </p:nvSpPr>
        <p:spPr>
          <a:xfrm>
            <a:off x="238030" y="4565530"/>
            <a:ext cx="3062177" cy="421816"/>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4</a:t>
            </a:r>
            <a:r>
              <a:rPr lang="en-IN" u="sng"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Forward Looking Conditional </a:t>
            </a:r>
            <a:r>
              <a:rPr lang="en-IN" dirty="0" err="1" smtClean="0">
                <a:latin typeface="Times New Roman" panose="02020603050405020304" pitchFamily="18" charset="0"/>
                <a:cs typeface="Times New Roman" panose="02020603050405020304" pitchFamily="18" charset="0"/>
              </a:rPr>
              <a:t>PiT</a:t>
            </a:r>
            <a:r>
              <a:rPr lang="en-IN" dirty="0" smtClean="0">
                <a:latin typeface="Times New Roman" panose="02020603050405020304" pitchFamily="18" charset="0"/>
                <a:cs typeface="Times New Roman" panose="02020603050405020304" pitchFamily="18" charset="0"/>
              </a:rPr>
              <a:t> PD curves are Computed on Yearly basis. </a:t>
            </a:r>
            <a:endParaRPr lang="en-IN" dirty="0">
              <a:latin typeface="Times New Roman" panose="02020603050405020304" pitchFamily="18" charset="0"/>
              <a:cs typeface="Times New Roman" panose="02020603050405020304" pitchFamily="18" charset="0"/>
            </a:endParaRPr>
          </a:p>
        </p:txBody>
      </p:sp>
      <p:sp>
        <p:nvSpPr>
          <p:cNvPr id="15" name="Rounded Rectangle 14"/>
          <p:cNvSpPr/>
          <p:nvPr/>
        </p:nvSpPr>
        <p:spPr>
          <a:xfrm>
            <a:off x="248662" y="5139482"/>
            <a:ext cx="3062177" cy="749109"/>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a:t>
            </a:r>
            <a:r>
              <a:rPr lang="en-IN" u="sng" dirty="0" smtClean="0">
                <a:latin typeface="Times New Roman" panose="02020603050405020304" pitchFamily="18" charset="0"/>
                <a:cs typeface="Times New Roman" panose="02020603050405020304" pitchFamily="18" charset="0"/>
              </a:rPr>
              <a:t>5:</a:t>
            </a:r>
            <a:r>
              <a:rPr lang="en-IN" b="1" u="sng"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Conditional </a:t>
            </a:r>
            <a:r>
              <a:rPr lang="en-IN" dirty="0" smtClean="0">
                <a:latin typeface="Times New Roman" panose="02020603050405020304" pitchFamily="18" charset="0"/>
                <a:cs typeface="Times New Roman" panose="02020603050405020304" pitchFamily="18" charset="0"/>
              </a:rPr>
              <a:t>PD curves are converted to Marginal PD’s based on Repayment Frequencies and are used for </a:t>
            </a:r>
            <a:r>
              <a:rPr lang="en-IN" dirty="0">
                <a:latin typeface="Times New Roman" panose="02020603050405020304" pitchFamily="18" charset="0"/>
                <a:cs typeface="Times New Roman" panose="02020603050405020304" pitchFamily="18" charset="0"/>
              </a:rPr>
              <a:t>Marginal ECL </a:t>
            </a:r>
            <a:r>
              <a:rPr lang="en-IN" dirty="0" smtClean="0">
                <a:latin typeface="Times New Roman" panose="02020603050405020304" pitchFamily="18" charset="0"/>
                <a:cs typeface="Times New Roman" panose="02020603050405020304" pitchFamily="18" charset="0"/>
              </a:rPr>
              <a:t>computation.</a:t>
            </a:r>
            <a:endParaRPr lang="en-IN"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6773254" y="2481262"/>
            <a:ext cx="3051546" cy="437930"/>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a:t>
            </a:r>
            <a:r>
              <a:rPr lang="en-IN" u="sng" dirty="0" smtClean="0">
                <a:latin typeface="Times New Roman" panose="02020603050405020304" pitchFamily="18" charset="0"/>
                <a:cs typeface="Times New Roman" panose="02020603050405020304" pitchFamily="18" charset="0"/>
              </a:rPr>
              <a:t>1:-</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Outstanding amount of each facility is determined as of each reporting date.</a:t>
            </a:r>
            <a:endParaRPr lang="en-IN" b="1" u="sng" dirty="0">
              <a:latin typeface="Times New Roman" panose="02020603050405020304" pitchFamily="18" charset="0"/>
              <a:cs typeface="Times New Roman" panose="02020603050405020304" pitchFamily="18" charset="0"/>
            </a:endParaRPr>
          </a:p>
        </p:txBody>
      </p:sp>
      <p:sp>
        <p:nvSpPr>
          <p:cNvPr id="17" name="Rounded Rectangle 16"/>
          <p:cNvSpPr/>
          <p:nvPr/>
        </p:nvSpPr>
        <p:spPr>
          <a:xfrm>
            <a:off x="6773254" y="3101204"/>
            <a:ext cx="3051546" cy="1125830"/>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a:defRPr/>
            </a:pPr>
            <a:r>
              <a:rPr lang="en-IN" u="sng" dirty="0">
                <a:latin typeface="Times New Roman" panose="02020603050405020304" pitchFamily="18" charset="0"/>
                <a:cs typeface="Times New Roman" panose="02020603050405020304" pitchFamily="18" charset="0"/>
              </a:rPr>
              <a:t>Step 2:-</a:t>
            </a:r>
            <a:r>
              <a:rPr lang="en-IN" dirty="0">
                <a:latin typeface="Times New Roman" panose="02020603050405020304" pitchFamily="18" charset="0"/>
                <a:cs typeface="Times New Roman" panose="02020603050405020304" pitchFamily="18" charset="0"/>
              </a:rPr>
              <a:t> Principal &amp; interest re-payment frequency of each facility is used to derive amortization schedule of the facility. (Re-payment frequency can be either bullet/yearly/half-yearly/quarterly or monthly</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6773254" y="4390890"/>
            <a:ext cx="3062177" cy="748592"/>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3:-</a:t>
            </a:r>
            <a:r>
              <a:rPr lang="en-IN" dirty="0">
                <a:latin typeface="Times New Roman" panose="02020603050405020304" pitchFamily="18" charset="0"/>
                <a:cs typeface="Times New Roman" panose="02020603050405020304" pitchFamily="18" charset="0"/>
              </a:rPr>
              <a:t> Repayment amount and EAD at each cash flow date is determined </a:t>
            </a:r>
            <a:r>
              <a:rPr lang="en-IN" dirty="0" smtClean="0">
                <a:latin typeface="Times New Roman" panose="02020603050405020304" pitchFamily="18" charset="0"/>
                <a:cs typeface="Times New Roman" panose="02020603050405020304" pitchFamily="18" charset="0"/>
              </a:rPr>
              <a:t>as per re-payment frequency of each facility i.e. Monthly/Quarterly/Half-yearly/Annually.</a:t>
            </a:r>
            <a:endParaRPr lang="en-IN" dirty="0">
              <a:latin typeface="Times New Roman" panose="02020603050405020304" pitchFamily="18" charset="0"/>
              <a:cs typeface="Times New Roman" panose="02020603050405020304" pitchFamily="18" charset="0"/>
            </a:endParaRPr>
          </a:p>
        </p:txBody>
      </p:sp>
      <p:sp>
        <p:nvSpPr>
          <p:cNvPr id="19" name="Rounded Rectangle 18"/>
          <p:cNvSpPr/>
          <p:nvPr/>
        </p:nvSpPr>
        <p:spPr>
          <a:xfrm>
            <a:off x="6773254" y="5303338"/>
            <a:ext cx="3062177" cy="561330"/>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solidFill>
                  <a:schemeClr val="tx1"/>
                </a:solidFill>
                <a:latin typeface="Times New Roman" panose="02020603050405020304" pitchFamily="18" charset="0"/>
                <a:cs typeface="Times New Roman" panose="02020603050405020304" pitchFamily="18" charset="0"/>
              </a:rPr>
              <a:t>Step </a:t>
            </a:r>
            <a:r>
              <a:rPr lang="en-IN" u="sng" dirty="0" smtClean="0">
                <a:solidFill>
                  <a:schemeClr val="tx1"/>
                </a:solidFill>
                <a:latin typeface="Times New Roman" panose="02020603050405020304" pitchFamily="18" charset="0"/>
                <a:cs typeface="Times New Roman" panose="02020603050405020304" pitchFamily="18" charset="0"/>
              </a:rPr>
              <a:t>4:</a:t>
            </a:r>
            <a:r>
              <a:rPr lang="en-IN" b="1" u="sng" dirty="0" smtClean="0">
                <a:solidFill>
                  <a:schemeClr val="tx1"/>
                </a:solidFill>
                <a:latin typeface="Times New Roman" panose="02020603050405020304" pitchFamily="18" charset="0"/>
                <a:cs typeface="Times New Roman" panose="02020603050405020304" pitchFamily="18" charset="0"/>
              </a:rPr>
              <a:t>-</a:t>
            </a:r>
            <a:r>
              <a:rPr lang="en-IN" dirty="0" smtClean="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Derived </a:t>
            </a:r>
            <a:r>
              <a:rPr lang="en-IN" dirty="0">
                <a:solidFill>
                  <a:schemeClr val="tx1"/>
                </a:solidFill>
                <a:latin typeface="Times New Roman" panose="02020603050405020304" pitchFamily="18" charset="0"/>
                <a:cs typeface="Times New Roman" panose="02020603050405020304" pitchFamily="18" charset="0"/>
              </a:rPr>
              <a:t>EAD at each cash flow date </a:t>
            </a:r>
            <a:r>
              <a:rPr lang="en-IN" dirty="0" smtClean="0">
                <a:solidFill>
                  <a:schemeClr val="tx1"/>
                </a:solidFill>
                <a:latin typeface="Times New Roman" panose="02020603050405020304" pitchFamily="18" charset="0"/>
                <a:cs typeface="Times New Roman" panose="02020603050405020304" pitchFamily="18" charset="0"/>
              </a:rPr>
              <a:t>is discounted to its present value for </a:t>
            </a:r>
            <a:r>
              <a:rPr lang="en-IN" dirty="0">
                <a:solidFill>
                  <a:schemeClr val="tx1"/>
                </a:solidFill>
                <a:latin typeface="Times New Roman" panose="02020603050405020304" pitchFamily="18" charset="0"/>
                <a:cs typeface="Times New Roman" panose="02020603050405020304" pitchFamily="18" charset="0"/>
              </a:rPr>
              <a:t>computation of Marginal ECL.</a:t>
            </a:r>
          </a:p>
        </p:txBody>
      </p:sp>
      <p:cxnSp>
        <p:nvCxnSpPr>
          <p:cNvPr id="20" name="Straight Arrow Connector 19"/>
          <p:cNvCxnSpPr>
            <a:stCxn id="10" idx="2"/>
            <a:endCxn id="11" idx="0"/>
          </p:cNvCxnSpPr>
          <p:nvPr/>
        </p:nvCxnSpPr>
        <p:spPr>
          <a:xfrm>
            <a:off x="1753173" y="2919192"/>
            <a:ext cx="0" cy="167485"/>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2"/>
            <a:endCxn id="12" idx="0"/>
          </p:cNvCxnSpPr>
          <p:nvPr/>
        </p:nvCxnSpPr>
        <p:spPr>
          <a:xfrm>
            <a:off x="1753173" y="3611723"/>
            <a:ext cx="5312" cy="122771"/>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3" idx="2"/>
            <a:endCxn id="15" idx="0"/>
          </p:cNvCxnSpPr>
          <p:nvPr/>
        </p:nvCxnSpPr>
        <p:spPr>
          <a:xfrm>
            <a:off x="1769119" y="4987346"/>
            <a:ext cx="10632" cy="152136"/>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6" idx="2"/>
            <a:endCxn id="17" idx="0"/>
          </p:cNvCxnSpPr>
          <p:nvPr/>
        </p:nvCxnSpPr>
        <p:spPr>
          <a:xfrm>
            <a:off x="8299027" y="2919192"/>
            <a:ext cx="0" cy="182012"/>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7" idx="2"/>
            <a:endCxn id="18" idx="0"/>
          </p:cNvCxnSpPr>
          <p:nvPr/>
        </p:nvCxnSpPr>
        <p:spPr>
          <a:xfrm>
            <a:off x="8299027" y="4227034"/>
            <a:ext cx="5316" cy="163856"/>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8" idx="2"/>
            <a:endCxn id="19" idx="0"/>
          </p:cNvCxnSpPr>
          <p:nvPr/>
        </p:nvCxnSpPr>
        <p:spPr>
          <a:xfrm>
            <a:off x="8304343" y="5139482"/>
            <a:ext cx="0" cy="163856"/>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2" idx="2"/>
            <a:endCxn id="13" idx="0"/>
          </p:cNvCxnSpPr>
          <p:nvPr/>
        </p:nvCxnSpPr>
        <p:spPr>
          <a:xfrm>
            <a:off x="1758485" y="4427025"/>
            <a:ext cx="10634" cy="138505"/>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3479060" y="2457338"/>
            <a:ext cx="3051546" cy="884003"/>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u="sng" smtClean="0">
                <a:latin typeface="Times New Roman" panose="02020603050405020304" pitchFamily="18" charset="0"/>
                <a:cs typeface="Times New Roman" panose="02020603050405020304" pitchFamily="18" charset="0"/>
              </a:rPr>
              <a:t>Step 1:-</a:t>
            </a:r>
            <a:r>
              <a:rPr lang="en-IN"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Unconditional LGD is derived at customer level corresponding to amount if collaterals pledged and total outstanding amount.</a:t>
            </a:r>
            <a:endParaRPr lang="en-GB" dirty="0">
              <a:latin typeface="Times New Roman" panose="02020603050405020304" pitchFamily="18" charset="0"/>
              <a:cs typeface="Times New Roman" panose="02020603050405020304" pitchFamily="18" charset="0"/>
            </a:endParaRPr>
          </a:p>
        </p:txBody>
      </p:sp>
      <p:sp>
        <p:nvSpPr>
          <p:cNvPr id="28" name="Rounded Rectangle 27"/>
          <p:cNvSpPr/>
          <p:nvPr/>
        </p:nvSpPr>
        <p:spPr>
          <a:xfrm>
            <a:off x="3484379" y="3509326"/>
            <a:ext cx="3051546" cy="1462172"/>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smtClean="0">
                <a:latin typeface="Times New Roman" panose="02020603050405020304" pitchFamily="18" charset="0"/>
                <a:cs typeface="Times New Roman" panose="02020603050405020304" pitchFamily="18" charset="0"/>
              </a:rPr>
              <a:t>Step 2:-</a:t>
            </a:r>
            <a:r>
              <a:rPr lang="en-IN" dirty="0" smtClean="0">
                <a:latin typeface="Times New Roman" panose="02020603050405020304" pitchFamily="18" charset="0"/>
                <a:cs typeface="Times New Roman" panose="02020603050405020304" pitchFamily="18" charset="0"/>
              </a:rPr>
              <a:t> Unconditional LGD is further converted as Forward Looking </a:t>
            </a:r>
            <a:r>
              <a:rPr lang="en-IN" dirty="0" err="1" smtClean="0">
                <a:latin typeface="Times New Roman" panose="02020603050405020304" pitchFamily="18" charset="0"/>
                <a:cs typeface="Times New Roman" panose="02020603050405020304" pitchFamily="18" charset="0"/>
              </a:rPr>
              <a:t>PiT</a:t>
            </a:r>
            <a:r>
              <a:rPr lang="en-IN" dirty="0" smtClean="0">
                <a:latin typeface="Times New Roman" panose="02020603050405020304" pitchFamily="18" charset="0"/>
                <a:cs typeface="Times New Roman" panose="02020603050405020304" pitchFamily="18" charset="0"/>
              </a:rPr>
              <a:t> LGD using Frye-Jacob Approach. This approach predicts LGD as a function of Default Rate and proposes that LGD of a given facility is directly proportional to the Default Risk of an obligor.</a:t>
            </a:r>
            <a:endParaRPr lang="en-IN" dirty="0">
              <a:latin typeface="Times New Roman" panose="02020603050405020304" pitchFamily="18" charset="0"/>
              <a:cs typeface="Times New Roman" panose="02020603050405020304" pitchFamily="18" charset="0"/>
            </a:endParaRPr>
          </a:p>
        </p:txBody>
      </p:sp>
      <p:sp>
        <p:nvSpPr>
          <p:cNvPr id="29" name="Rounded Rectangle 28"/>
          <p:cNvSpPr/>
          <p:nvPr/>
        </p:nvSpPr>
        <p:spPr>
          <a:xfrm>
            <a:off x="3489693" y="5139482"/>
            <a:ext cx="3062177" cy="725186"/>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a:t>
            </a:r>
            <a:r>
              <a:rPr lang="en-IN" u="sng" dirty="0" smtClean="0">
                <a:latin typeface="Times New Roman" panose="02020603050405020304" pitchFamily="18" charset="0"/>
                <a:cs typeface="Times New Roman" panose="02020603050405020304" pitchFamily="18" charset="0"/>
              </a:rPr>
              <a:t>3:</a:t>
            </a:r>
            <a:r>
              <a:rPr lang="en-IN" b="1" u="sng"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PiT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LGD is computed for each cash flow using marginal default rate, </a:t>
            </a:r>
            <a:r>
              <a:rPr lang="en-IN" dirty="0" err="1" smtClean="0">
                <a:latin typeface="Times New Roman" panose="02020603050405020304" pitchFamily="18" charset="0"/>
                <a:cs typeface="Times New Roman" panose="02020603050405020304" pitchFamily="18" charset="0"/>
              </a:rPr>
              <a:t>PiT</a:t>
            </a:r>
            <a:r>
              <a:rPr lang="en-IN" dirty="0" smtClean="0">
                <a:latin typeface="Times New Roman" panose="02020603050405020304" pitchFamily="18" charset="0"/>
                <a:cs typeface="Times New Roman" panose="02020603050405020304" pitchFamily="18" charset="0"/>
              </a:rPr>
              <a:t> default rate, asset correlation and CCI factor as an input.</a:t>
            </a:r>
            <a:endParaRPr lang="en-IN" dirty="0">
              <a:latin typeface="Times New Roman" panose="02020603050405020304" pitchFamily="18" charset="0"/>
              <a:cs typeface="Times New Roman" panose="02020603050405020304" pitchFamily="18" charset="0"/>
            </a:endParaRPr>
          </a:p>
        </p:txBody>
      </p:sp>
      <p:cxnSp>
        <p:nvCxnSpPr>
          <p:cNvPr id="30" name="Straight Arrow Connector 29"/>
          <p:cNvCxnSpPr>
            <a:stCxn id="27" idx="2"/>
            <a:endCxn id="28" idx="0"/>
          </p:cNvCxnSpPr>
          <p:nvPr/>
        </p:nvCxnSpPr>
        <p:spPr>
          <a:xfrm>
            <a:off x="5004833" y="3341341"/>
            <a:ext cx="5319" cy="167985"/>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8" idx="2"/>
            <a:endCxn id="29" idx="0"/>
          </p:cNvCxnSpPr>
          <p:nvPr/>
        </p:nvCxnSpPr>
        <p:spPr>
          <a:xfrm>
            <a:off x="5010152" y="4971498"/>
            <a:ext cx="10630" cy="167984"/>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 name="Rounded Rectangle 33"/>
              <p:cNvSpPr/>
              <p:nvPr/>
            </p:nvSpPr>
            <p:spPr>
              <a:xfrm>
                <a:off x="238030" y="1533745"/>
                <a:ext cx="9586769" cy="375169"/>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𝑀𝑎𝑟𝑔𝑖𝑛𝑎𝑙</m:t>
                      </m:r>
                      <m:r>
                        <a:rPr lang="en-US" sz="1400" b="0" i="1" smtClean="0">
                          <a:latin typeface="Cambria Math" panose="02040503050406030204" pitchFamily="18" charset="0"/>
                        </a:rPr>
                        <m:t> </m:t>
                      </m:r>
                      <m:r>
                        <a:rPr lang="en-US" sz="1400" b="0" i="1" smtClean="0">
                          <a:latin typeface="Cambria Math" panose="02040503050406030204" pitchFamily="18" charset="0"/>
                        </a:rPr>
                        <m:t>𝐸𝐶𝐿</m:t>
                      </m:r>
                      <m:r>
                        <a:rPr lang="en-US" sz="1400" b="0" i="1" smtClean="0">
                          <a:latin typeface="Cambria Math" panose="02040503050406030204" pitchFamily="18" charset="0"/>
                        </a:rPr>
                        <m:t>=</m:t>
                      </m:r>
                      <m:r>
                        <a:rPr lang="en-US" sz="1400" b="0" i="1" smtClean="0">
                          <a:latin typeface="Cambria Math" panose="02040503050406030204" pitchFamily="18" charset="0"/>
                        </a:rPr>
                        <m:t>𝑀𝑎𝑟𝑔𝑖𝑛𝑎𝑙</m:t>
                      </m:r>
                      <m:r>
                        <a:rPr lang="en-US" sz="1400" b="0" i="1" smtClean="0">
                          <a:latin typeface="Cambria Math" panose="02040503050406030204" pitchFamily="18" charset="0"/>
                        </a:rPr>
                        <m:t> </m:t>
                      </m:r>
                      <m:r>
                        <a:rPr lang="en-US" sz="1400" b="0" i="1" smtClean="0">
                          <a:latin typeface="Cambria Math" panose="02040503050406030204" pitchFamily="18" charset="0"/>
                        </a:rPr>
                        <m:t>𝑃𝐷</m:t>
                      </m:r>
                      <m:r>
                        <a:rPr lang="en-US" sz="1400" b="0" i="1" smtClean="0">
                          <a:latin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𝑀𝑎𝑟𝑔𝑖𝑛𝑎𝑙</m:t>
                      </m:r>
                      <m:r>
                        <a:rPr lang="en-US" sz="1400" b="0" i="1" smtClean="0">
                          <a:latin typeface="Cambria Math" panose="02040503050406030204" pitchFamily="18" charset="0"/>
                          <a:ea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𝐿𝐺𝐷</m:t>
                      </m:r>
                      <m:r>
                        <a:rPr lang="en-US" sz="1400" b="0" i="1" smtClean="0">
                          <a:latin typeface="Cambria Math" panose="02040503050406030204" pitchFamily="18" charset="0"/>
                          <a:ea typeface="Cambria Math" panose="02040503050406030204" pitchFamily="18" charset="0"/>
                        </a:rPr>
                        <m:t> × </m:t>
                      </m:r>
                      <m:sSub>
                        <m:sSubPr>
                          <m:ctrlPr>
                            <a:rPr lang="en-US" sz="1400" i="1" smtClean="0">
                              <a:latin typeface="Cambria Math" panose="02040503050406030204" pitchFamily="18" charset="0"/>
                              <a:ea typeface="Cambria Math" panose="02040503050406030204" pitchFamily="18" charset="0"/>
                            </a:rPr>
                          </m:ctrlPr>
                        </m:sSubPr>
                        <m:e>
                          <m:r>
                            <a:rPr lang="en-US" sz="1400" b="0" i="1">
                              <a:latin typeface="Cambria Math" panose="02040503050406030204" pitchFamily="18" charset="0"/>
                              <a:ea typeface="Cambria Math" panose="02040503050406030204" pitchFamily="18" charset="0"/>
                            </a:rPr>
                            <m:t>𝐸𝐴𝐷</m:t>
                          </m:r>
                        </m:e>
                        <m:sub>
                          <m:r>
                            <a:rPr lang="en-US" sz="1400" b="0" i="1">
                              <a:latin typeface="Cambria Math" panose="02040503050406030204" pitchFamily="18" charset="0"/>
                              <a:ea typeface="Cambria Math" panose="02040503050406030204" pitchFamily="18" charset="0"/>
                            </a:rPr>
                            <m:t>(</m:t>
                          </m:r>
                          <m:r>
                            <a:rPr lang="en-US" sz="1400" b="0" i="1">
                              <a:latin typeface="Cambria Math" panose="02040503050406030204" pitchFamily="18" charset="0"/>
                              <a:ea typeface="Cambria Math" panose="02040503050406030204" pitchFamily="18" charset="0"/>
                            </a:rPr>
                            <m:t>𝑎𝑠</m:t>
                          </m:r>
                          <m:r>
                            <a:rPr lang="en-US" sz="1400" b="0" i="1">
                              <a:latin typeface="Cambria Math" panose="02040503050406030204" pitchFamily="18" charset="0"/>
                              <a:ea typeface="Cambria Math" panose="02040503050406030204" pitchFamily="18" charset="0"/>
                            </a:rPr>
                            <m:t> </m:t>
                          </m:r>
                          <m:r>
                            <a:rPr lang="en-US" sz="1400" b="0" i="1">
                              <a:latin typeface="Cambria Math" panose="02040503050406030204" pitchFamily="18" charset="0"/>
                              <a:ea typeface="Cambria Math" panose="02040503050406030204" pitchFamily="18" charset="0"/>
                            </a:rPr>
                            <m:t>𝑜𝑓</m:t>
                          </m:r>
                          <m:r>
                            <a:rPr lang="en-US" sz="1400" b="0" i="1">
                              <a:latin typeface="Cambria Math" panose="02040503050406030204" pitchFamily="18" charset="0"/>
                              <a:ea typeface="Cambria Math" panose="02040503050406030204" pitchFamily="18" charset="0"/>
                            </a:rPr>
                            <m:t> </m:t>
                          </m:r>
                          <m:r>
                            <a:rPr lang="en-US" sz="1400" b="0" i="1">
                              <a:latin typeface="Cambria Math" panose="02040503050406030204" pitchFamily="18" charset="0"/>
                              <a:ea typeface="Cambria Math" panose="02040503050406030204" pitchFamily="18" charset="0"/>
                            </a:rPr>
                            <m:t>𝑐𝑎𝑠h</m:t>
                          </m:r>
                          <m:r>
                            <a:rPr lang="en-US" sz="1400" b="0" i="1">
                              <a:latin typeface="Cambria Math" panose="02040503050406030204" pitchFamily="18" charset="0"/>
                              <a:ea typeface="Cambria Math" panose="02040503050406030204" pitchFamily="18" charset="0"/>
                            </a:rPr>
                            <m:t> </m:t>
                          </m:r>
                          <m:r>
                            <a:rPr lang="en-US" sz="1400" b="0" i="1">
                              <a:latin typeface="Cambria Math" panose="02040503050406030204" pitchFamily="18" charset="0"/>
                              <a:ea typeface="Cambria Math" panose="02040503050406030204" pitchFamily="18" charset="0"/>
                            </a:rPr>
                            <m:t>𝑓𝑙𝑜𝑤</m:t>
                          </m:r>
                          <m:r>
                            <a:rPr lang="en-US" sz="1400" b="0" i="1">
                              <a:latin typeface="Cambria Math" panose="02040503050406030204" pitchFamily="18" charset="0"/>
                              <a:ea typeface="Cambria Math" panose="02040503050406030204" pitchFamily="18" charset="0"/>
                            </a:rPr>
                            <m:t> </m:t>
                          </m:r>
                          <m:r>
                            <a:rPr lang="en-US" sz="1400" b="0" i="1">
                              <a:latin typeface="Cambria Math" panose="02040503050406030204" pitchFamily="18" charset="0"/>
                              <a:ea typeface="Cambria Math" panose="02040503050406030204" pitchFamily="18" charset="0"/>
                            </a:rPr>
                            <m:t>𝑑𝑎𝑡𝑒</m:t>
                          </m:r>
                          <m:r>
                            <a:rPr lang="en-US" sz="1400" b="0" i="1">
                              <a:latin typeface="Cambria Math" panose="02040503050406030204" pitchFamily="18" charset="0"/>
                              <a:ea typeface="Cambria Math" panose="02040503050406030204" pitchFamily="18" charset="0"/>
                            </a:rPr>
                            <m:t>)</m:t>
                          </m:r>
                        </m:sub>
                      </m:sSub>
                    </m:oMath>
                  </m:oMathPara>
                </a14:m>
                <a:endParaRPr lang="en-GB" sz="1400" i="1" dirty="0">
                  <a:latin typeface="Times New Roman" panose="02020603050405020304" pitchFamily="18" charset="0"/>
                  <a:cs typeface="Times New Roman" panose="02020603050405020304" pitchFamily="18" charset="0"/>
                </a:endParaRPr>
              </a:p>
            </p:txBody>
          </p:sp>
        </mc:Choice>
        <mc:Fallback>
          <p:sp>
            <p:nvSpPr>
              <p:cNvPr id="34" name="Rounded Rectangle 33"/>
              <p:cNvSpPr>
                <a:spLocks noRot="1" noChangeAspect="1" noMove="1" noResize="1" noEditPoints="1" noAdjustHandles="1" noChangeArrowheads="1" noChangeShapeType="1" noTextEdit="1"/>
              </p:cNvSpPr>
              <p:nvPr/>
            </p:nvSpPr>
            <p:spPr>
              <a:xfrm>
                <a:off x="238030" y="1533745"/>
                <a:ext cx="9586769" cy="375169"/>
              </a:xfrm>
              <a:prstGeom prst="roundRect">
                <a:avLst/>
              </a:prstGeom>
              <a:blipFill rotWithShape="0">
                <a:blip r:embed="rId2"/>
                <a:stretch>
                  <a:fillRect/>
                </a:stretch>
              </a:blipFill>
            </p:spPr>
            <p:txBody>
              <a:bodyPr/>
              <a:lstStyle/>
              <a:p>
                <a:r>
                  <a:rPr lang="en-US">
                    <a:noFill/>
                  </a:rPr>
                  <a:t> </a:t>
                </a:r>
              </a:p>
            </p:txBody>
          </p:sp>
        </mc:Fallback>
      </mc:AlternateContent>
      <p:sp>
        <p:nvSpPr>
          <p:cNvPr id="37" name="TextBox 36"/>
          <p:cNvSpPr txBox="1"/>
          <p:nvPr/>
        </p:nvSpPr>
        <p:spPr>
          <a:xfrm>
            <a:off x="4687890" y="154521"/>
            <a:ext cx="5218110" cy="707886"/>
          </a:xfrm>
          <a:prstGeom prst="rect">
            <a:avLst/>
          </a:prstGeom>
          <a:solidFill>
            <a:srgbClr val="FF0000"/>
          </a:solidFill>
        </p:spPr>
        <p:txBody>
          <a:bodyPr wrap="square" rtlCol="0">
            <a:spAutoFit/>
          </a:bodyPr>
          <a:lstStyle/>
          <a:p>
            <a:r>
              <a:rPr lang="en-US" sz="2000" b="1" dirty="0" smtClean="0">
                <a:solidFill>
                  <a:schemeClr val="bg1"/>
                </a:solidFill>
              </a:rPr>
              <a:t>Vishal to review against th</a:t>
            </a:r>
            <a:r>
              <a:rPr lang="en-US" sz="2000" b="1" dirty="0" smtClean="0">
                <a:solidFill>
                  <a:schemeClr val="bg1"/>
                </a:solidFill>
              </a:rPr>
              <a:t>e Tool to confirm this is actually what we are doing</a:t>
            </a:r>
            <a:endParaRPr lang="en-US" sz="2000" b="1" dirty="0">
              <a:solidFill>
                <a:schemeClr val="bg1"/>
              </a:solidFill>
            </a:endParaRPr>
          </a:p>
        </p:txBody>
      </p:sp>
    </p:spTree>
    <p:extLst>
      <p:ext uri="{BB962C8B-B14F-4D97-AF65-F5344CB8AC3E}">
        <p14:creationId xmlns:p14="http://schemas.microsoft.com/office/powerpoint/2010/main" val="40335501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400" dirty="0"/>
              <a:t>ECL </a:t>
            </a:r>
            <a:r>
              <a:rPr lang="fr-FR" sz="2400" dirty="0" smtClean="0"/>
              <a:t>Computation</a:t>
            </a:r>
            <a:r>
              <a:rPr lang="fr-FR" sz="2400" dirty="0"/>
              <a:t/>
            </a:r>
            <a:br>
              <a:rPr lang="fr-FR" sz="2400" dirty="0"/>
            </a:br>
            <a:r>
              <a:rPr lang="fr-FR" sz="2000" i="1" dirty="0" smtClean="0"/>
              <a:t>Illustrative: </a:t>
            </a:r>
            <a:r>
              <a:rPr lang="fr-FR" sz="2000" i="1" dirty="0" smtClean="0"/>
              <a:t>IFRS 9 ECL </a:t>
            </a:r>
            <a:r>
              <a:rPr lang="fr-FR" sz="2000" i="1" dirty="0" smtClean="0"/>
              <a:t>Computation (12mth and Life time)</a:t>
            </a:r>
            <a:r>
              <a:rPr lang="fr-FR" sz="2400" dirty="0"/>
              <a:t/>
            </a:r>
            <a:br>
              <a:rPr lang="fr-FR" sz="2400" dirty="0"/>
            </a:br>
            <a:endParaRPr lang="en-IN" sz="2400" i="1" dirty="0"/>
          </a:p>
        </p:txBody>
      </p:sp>
      <p:sp>
        <p:nvSpPr>
          <p:cNvPr id="11" name="Rectangle 10"/>
          <p:cNvSpPr/>
          <p:nvPr/>
        </p:nvSpPr>
        <p:spPr>
          <a:xfrm>
            <a:off x="162610" y="1016572"/>
            <a:ext cx="9743389" cy="2862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400" dirty="0">
                <a:solidFill>
                  <a:schemeClr val="tx1"/>
                </a:solidFill>
                <a:latin typeface="Times New Roman" pitchFamily="18" charset="0"/>
                <a:cs typeface="Times New Roman" pitchFamily="18" charset="0"/>
              </a:rPr>
              <a:t>B</a:t>
            </a:r>
            <a:r>
              <a:rPr lang="en-IN" sz="1400" dirty="0" smtClean="0">
                <a:solidFill>
                  <a:schemeClr val="tx1"/>
                </a:solidFill>
                <a:latin typeface="Times New Roman" pitchFamily="18" charset="0"/>
                <a:cs typeface="Times New Roman" pitchFamily="18" charset="0"/>
              </a:rPr>
              <a:t>elow is a simplified illustration depicting </a:t>
            </a:r>
            <a:r>
              <a:rPr lang="en-IN" sz="1400" dirty="0" smtClean="0">
                <a:solidFill>
                  <a:schemeClr val="tx1"/>
                </a:solidFill>
                <a:latin typeface="Times New Roman" pitchFamily="18" charset="0"/>
                <a:cs typeface="Times New Roman" pitchFamily="18" charset="0"/>
              </a:rPr>
              <a:t>how ECL estimates will be </a:t>
            </a:r>
            <a:r>
              <a:rPr lang="en-IN" sz="1400" dirty="0" smtClean="0">
                <a:solidFill>
                  <a:schemeClr val="tx1"/>
                </a:solidFill>
                <a:latin typeface="Times New Roman" pitchFamily="18" charset="0"/>
                <a:cs typeface="Times New Roman" pitchFamily="18" charset="0"/>
              </a:rPr>
              <a:t>computed.  The QNB Tool may differ but not materially</a:t>
            </a:r>
            <a:endParaRPr lang="en-IN" sz="1400" dirty="0" smtClean="0">
              <a:solidFill>
                <a:schemeClr val="tx1"/>
              </a:solidFill>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448295533"/>
              </p:ext>
            </p:extLst>
          </p:nvPr>
        </p:nvGraphicFramePr>
        <p:xfrm>
          <a:off x="287340" y="1629278"/>
          <a:ext cx="6913777" cy="741680"/>
        </p:xfrm>
        <a:graphic>
          <a:graphicData uri="http://schemas.openxmlformats.org/drawingml/2006/table">
            <a:tbl>
              <a:tblPr firstRow="1" bandRow="1">
                <a:tableStyleId>{5C22544A-7EE6-4342-B048-85BDC9FD1C3A}</a:tableStyleId>
              </a:tblPr>
              <a:tblGrid>
                <a:gridCol w="617083"/>
                <a:gridCol w="652565"/>
                <a:gridCol w="608276"/>
                <a:gridCol w="590405"/>
                <a:gridCol w="417513"/>
                <a:gridCol w="325437"/>
                <a:gridCol w="617083"/>
                <a:gridCol w="617083"/>
                <a:gridCol w="617083"/>
                <a:gridCol w="617083"/>
                <a:gridCol w="617083"/>
                <a:gridCol w="617083"/>
              </a:tblGrid>
              <a:tr h="370840">
                <a:tc>
                  <a:txBody>
                    <a:bodyPr/>
                    <a:lstStyle/>
                    <a:p>
                      <a:pPr algn="ctr" rtl="0" fontAlgn="ctr"/>
                      <a:r>
                        <a:rPr lang="en-GB" sz="1000" b="1" i="0" u="none" strike="noStrike" dirty="0">
                          <a:solidFill>
                            <a:srgbClr val="FFFFFF"/>
                          </a:solidFill>
                          <a:effectLst/>
                          <a:latin typeface="Times New Roman" panose="02020603050405020304" pitchFamily="18" charset="0"/>
                        </a:rPr>
                        <a:t>Principal (QAR)</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a:solidFill>
                            <a:srgbClr val="FFFFFF"/>
                          </a:solidFill>
                          <a:effectLst/>
                          <a:latin typeface="Times New Roman" panose="02020603050405020304" pitchFamily="18" charset="0"/>
                        </a:rPr>
                        <a:t>Repayment (QAR)</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smtClean="0">
                          <a:solidFill>
                            <a:srgbClr val="FFFFFF"/>
                          </a:solidFill>
                          <a:effectLst/>
                          <a:latin typeface="Times New Roman" panose="02020603050405020304" pitchFamily="18" charset="0"/>
                        </a:rPr>
                        <a:t>Start</a:t>
                      </a:r>
                    </a:p>
                    <a:p>
                      <a:pPr algn="ctr" rtl="0" fontAlgn="ctr"/>
                      <a:r>
                        <a:rPr lang="en-GB" sz="1000" b="1" i="0" u="none" strike="noStrike" dirty="0" smtClean="0">
                          <a:solidFill>
                            <a:srgbClr val="FFFFFF"/>
                          </a:solidFill>
                          <a:effectLst/>
                          <a:latin typeface="Times New Roman" panose="02020603050405020304" pitchFamily="18" charset="0"/>
                        </a:rPr>
                        <a:t>Date</a:t>
                      </a:r>
                      <a:endParaRPr lang="en-GB" sz="1000" b="1"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smtClean="0">
                          <a:solidFill>
                            <a:srgbClr val="FFFFFF"/>
                          </a:solidFill>
                          <a:effectLst/>
                          <a:latin typeface="Times New Roman" panose="02020603050405020304" pitchFamily="18" charset="0"/>
                        </a:rPr>
                        <a:t>End</a:t>
                      </a:r>
                    </a:p>
                    <a:p>
                      <a:pPr algn="ctr" rtl="0" fontAlgn="ctr"/>
                      <a:r>
                        <a:rPr lang="en-GB" sz="1000" b="1" i="0" u="none" strike="noStrike" dirty="0" smtClean="0">
                          <a:solidFill>
                            <a:srgbClr val="FFFFFF"/>
                          </a:solidFill>
                          <a:effectLst/>
                          <a:latin typeface="Times New Roman" panose="02020603050405020304" pitchFamily="18" charset="0"/>
                        </a:rPr>
                        <a:t>Date</a:t>
                      </a:r>
                      <a:endParaRPr lang="en-GB" sz="1000" b="1"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a:solidFill>
                            <a:srgbClr val="FFFFFF"/>
                          </a:solidFill>
                          <a:effectLst/>
                          <a:latin typeface="Times New Roman" panose="02020603050405020304" pitchFamily="18" charset="0"/>
                        </a:rPr>
                        <a:t>Rating</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a:solidFill>
                            <a:srgbClr val="FFFFFF"/>
                          </a:solidFill>
                          <a:effectLst/>
                          <a:latin typeface="Times New Roman" panose="02020603050405020304" pitchFamily="18" charset="0"/>
                        </a:rPr>
                        <a:t>LGD</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a:solidFill>
                            <a:srgbClr val="FFFFFF"/>
                          </a:solidFill>
                          <a:effectLst/>
                          <a:latin typeface="Times New Roman" panose="02020603050405020304" pitchFamily="18" charset="0"/>
                        </a:rPr>
                        <a:t>Interest Rate</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a:solidFill>
                            <a:srgbClr val="FFFFFF"/>
                          </a:solidFill>
                          <a:effectLst/>
                          <a:latin typeface="Times New Roman" panose="02020603050405020304" pitchFamily="18" charset="0"/>
                        </a:rPr>
                        <a:t>Payment Frequency</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err="1">
                          <a:solidFill>
                            <a:srgbClr val="FFFFFF"/>
                          </a:solidFill>
                          <a:effectLst/>
                          <a:latin typeface="Times New Roman" panose="02020603050405020304" pitchFamily="18" charset="0"/>
                        </a:rPr>
                        <a:t>PiT</a:t>
                      </a:r>
                      <a:r>
                        <a:rPr lang="en-GB" sz="1000" b="1" i="0" u="none" strike="noStrike" dirty="0">
                          <a:solidFill>
                            <a:srgbClr val="FFFFFF"/>
                          </a:solidFill>
                          <a:effectLst/>
                          <a:latin typeface="Times New Roman" panose="02020603050405020304" pitchFamily="18" charset="0"/>
                        </a:rPr>
                        <a:t> PD </a:t>
                      </a:r>
                      <a:r>
                        <a:rPr lang="en-GB" sz="1000" b="1" i="0" u="none" strike="noStrike">
                          <a:solidFill>
                            <a:srgbClr val="FFFFFF"/>
                          </a:solidFill>
                          <a:effectLst/>
                          <a:latin typeface="Times New Roman" panose="02020603050405020304" pitchFamily="18" charset="0"/>
                        </a:rPr>
                        <a:t>Year </a:t>
                      </a:r>
                      <a:r>
                        <a:rPr lang="en-GB" sz="1000" b="1" i="0" u="none" strike="noStrike" smtClean="0">
                          <a:solidFill>
                            <a:srgbClr val="FFFFFF"/>
                          </a:solidFill>
                          <a:effectLst/>
                          <a:latin typeface="Times New Roman" panose="02020603050405020304" pitchFamily="18" charset="0"/>
                        </a:rPr>
                        <a:t>1</a:t>
                      </a:r>
                      <a:endParaRPr lang="en-GB" sz="1000" b="1" i="0" u="none" strike="noStrike" dirty="0">
                        <a:solidFill>
                          <a:srgbClr val="FFFFFF"/>
                        </a:solidFill>
                        <a:effectLst/>
                        <a:latin typeface="Times New Roman" panose="02020603050405020304" pitchFamily="18" charset="0"/>
                      </a:endParaRP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a:solidFill>
                            <a:srgbClr val="FFFFFF"/>
                          </a:solidFill>
                          <a:effectLst/>
                          <a:latin typeface="Times New Roman" panose="02020603050405020304" pitchFamily="18" charset="0"/>
                        </a:rPr>
                        <a:t>PiT PD Year 2</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err="1">
                          <a:solidFill>
                            <a:srgbClr val="FFFFFF"/>
                          </a:solidFill>
                          <a:effectLst/>
                          <a:latin typeface="Times New Roman" panose="02020603050405020304" pitchFamily="18" charset="0"/>
                        </a:rPr>
                        <a:t>PiT</a:t>
                      </a:r>
                      <a:r>
                        <a:rPr lang="en-GB" sz="1000" b="1" i="0" u="none" strike="noStrike" dirty="0">
                          <a:solidFill>
                            <a:srgbClr val="FFFFFF"/>
                          </a:solidFill>
                          <a:effectLst/>
                          <a:latin typeface="Times New Roman" panose="02020603050405020304" pitchFamily="18" charset="0"/>
                        </a:rPr>
                        <a:t> PD Year 3</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rtl="0" fontAlgn="ctr"/>
                      <a:r>
                        <a:rPr lang="en-GB" sz="1000" b="1" i="0" u="none" strike="noStrike" dirty="0" err="1">
                          <a:solidFill>
                            <a:srgbClr val="FFFFFF"/>
                          </a:solidFill>
                          <a:effectLst/>
                          <a:latin typeface="Times New Roman" panose="02020603050405020304" pitchFamily="18" charset="0"/>
                        </a:rPr>
                        <a:t>PiT</a:t>
                      </a:r>
                      <a:r>
                        <a:rPr lang="en-GB" sz="1000" b="1" i="0" u="none" strike="noStrike" dirty="0">
                          <a:solidFill>
                            <a:srgbClr val="FFFFFF"/>
                          </a:solidFill>
                          <a:effectLst/>
                          <a:latin typeface="Times New Roman" panose="02020603050405020304" pitchFamily="18" charset="0"/>
                        </a:rPr>
                        <a:t> PD Year 4</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r>
              <a:tr h="370840">
                <a:tc>
                  <a:txBody>
                    <a:bodyPr/>
                    <a:lstStyle/>
                    <a:p>
                      <a:pPr algn="ctr" rtl="0" fontAlgn="ctr"/>
                      <a:r>
                        <a:rPr lang="en-GB" sz="1000" b="0" i="0" u="none" strike="noStrike" smtClean="0">
                          <a:solidFill>
                            <a:srgbClr val="000000"/>
                          </a:solidFill>
                          <a:effectLst/>
                          <a:latin typeface="Times New Roman" panose="02020603050405020304" pitchFamily="18" charset="0"/>
                        </a:rPr>
                        <a:t>100,000</a:t>
                      </a:r>
                      <a:endParaRPr lang="en-GB" sz="10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a:solidFill>
                            <a:srgbClr val="000000"/>
                          </a:solidFill>
                          <a:effectLst/>
                          <a:latin typeface="Times New Roman" panose="02020603050405020304" pitchFamily="18" charset="0"/>
                        </a:rPr>
                        <a:t>25,000</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dirty="0" smtClean="0">
                          <a:solidFill>
                            <a:srgbClr val="000000"/>
                          </a:solidFill>
                          <a:effectLst/>
                          <a:latin typeface="Times New Roman" panose="02020603050405020304" pitchFamily="18" charset="0"/>
                        </a:rPr>
                        <a:t>31Dec16</a:t>
                      </a:r>
                      <a:endParaRPr lang="en-GB" sz="10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dirty="0" smtClean="0">
                          <a:solidFill>
                            <a:srgbClr val="000000"/>
                          </a:solidFill>
                          <a:effectLst/>
                          <a:latin typeface="Times New Roman" panose="02020603050405020304" pitchFamily="18" charset="0"/>
                        </a:rPr>
                        <a:t>31Dec20</a:t>
                      </a:r>
                      <a:endParaRPr lang="en-GB" sz="10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dirty="0">
                          <a:solidFill>
                            <a:srgbClr val="000000"/>
                          </a:solidFill>
                          <a:effectLst/>
                          <a:latin typeface="Times New Roman" panose="02020603050405020304" pitchFamily="18" charset="0"/>
                        </a:rPr>
                        <a:t>5</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dirty="0">
                          <a:solidFill>
                            <a:srgbClr val="000000"/>
                          </a:solidFill>
                          <a:effectLst/>
                          <a:latin typeface="Times New Roman" panose="02020603050405020304" pitchFamily="18" charset="0"/>
                        </a:rPr>
                        <a:t>45%</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smtClean="0">
                          <a:solidFill>
                            <a:srgbClr val="000000"/>
                          </a:solidFill>
                          <a:effectLst/>
                          <a:latin typeface="Times New Roman" panose="02020603050405020304" pitchFamily="18" charset="0"/>
                        </a:rPr>
                        <a:t>10</a:t>
                      </a:r>
                      <a:r>
                        <a:rPr lang="en-GB" sz="1000" b="0" i="0" u="none" strike="noStrike" dirty="0">
                          <a:solidFill>
                            <a:srgbClr val="000000"/>
                          </a:solidFill>
                          <a:effectLst/>
                          <a:latin typeface="Times New Roman" panose="02020603050405020304" pitchFamily="18" charset="0"/>
                        </a:rPr>
                        <a:t>%</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dirty="0">
                          <a:solidFill>
                            <a:srgbClr val="000000"/>
                          </a:solidFill>
                          <a:effectLst/>
                          <a:latin typeface="Times New Roman" panose="02020603050405020304" pitchFamily="18" charset="0"/>
                        </a:rPr>
                        <a:t>Yearly</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smtClean="0">
                          <a:solidFill>
                            <a:srgbClr val="000000"/>
                          </a:solidFill>
                          <a:effectLst/>
                          <a:latin typeface="Times New Roman" panose="02020603050405020304" pitchFamily="18" charset="0"/>
                        </a:rPr>
                        <a:t>1.09</a:t>
                      </a:r>
                      <a:r>
                        <a:rPr lang="en-GB" sz="1000" b="0" i="0" u="none" strike="noStrike" dirty="0">
                          <a:solidFill>
                            <a:srgbClr val="000000"/>
                          </a:solidFill>
                          <a:effectLst/>
                          <a:latin typeface="Times New Roman" panose="02020603050405020304" pitchFamily="18" charset="0"/>
                        </a:rPr>
                        <a:t>%</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smtClean="0">
                          <a:solidFill>
                            <a:srgbClr val="000000"/>
                          </a:solidFill>
                          <a:effectLst/>
                          <a:latin typeface="Times New Roman" panose="02020603050405020304" pitchFamily="18" charset="0"/>
                        </a:rPr>
                        <a:t>1.18</a:t>
                      </a:r>
                      <a:r>
                        <a:rPr lang="en-GB" sz="1000" b="0" i="0" u="none" strike="noStrike" dirty="0">
                          <a:solidFill>
                            <a:srgbClr val="000000"/>
                          </a:solidFill>
                          <a:effectLst/>
                          <a:latin typeface="Times New Roman" panose="02020603050405020304" pitchFamily="18" charset="0"/>
                        </a:rPr>
                        <a:t>%</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smtClean="0">
                          <a:solidFill>
                            <a:srgbClr val="000000"/>
                          </a:solidFill>
                          <a:effectLst/>
                          <a:latin typeface="Times New Roman" panose="02020603050405020304" pitchFamily="18" charset="0"/>
                        </a:rPr>
                        <a:t>1.27</a:t>
                      </a:r>
                      <a:r>
                        <a:rPr lang="en-GB" sz="1000" b="0" i="0" u="none" strike="noStrike" dirty="0">
                          <a:solidFill>
                            <a:srgbClr val="000000"/>
                          </a:solidFill>
                          <a:effectLst/>
                          <a:latin typeface="Times New Roman" panose="02020603050405020304" pitchFamily="18" charset="0"/>
                        </a:rPr>
                        <a:t>%</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c>
                  <a:txBody>
                    <a:bodyPr/>
                    <a:lstStyle/>
                    <a:p>
                      <a:pPr algn="ctr" rtl="0" fontAlgn="ctr"/>
                      <a:r>
                        <a:rPr lang="en-GB" sz="1000" b="0" i="0" u="none" strike="noStrike" smtClean="0">
                          <a:solidFill>
                            <a:srgbClr val="000000"/>
                          </a:solidFill>
                          <a:effectLst/>
                          <a:latin typeface="Times New Roman" panose="02020603050405020304" pitchFamily="18" charset="0"/>
                        </a:rPr>
                        <a:t>1.35</a:t>
                      </a:r>
                      <a:r>
                        <a:rPr lang="en-GB" sz="1000" b="0" i="0" u="none" strike="noStrike" dirty="0">
                          <a:solidFill>
                            <a:srgbClr val="000000"/>
                          </a:solidFill>
                          <a:effectLst/>
                          <a:latin typeface="Times New Roman" panose="02020603050405020304" pitchFamily="18" charset="0"/>
                        </a:rPr>
                        <a:t>%</a:t>
                      </a:r>
                    </a:p>
                  </a:txBody>
                  <a:tcPr marL="9525" marR="9525" marT="9525" marB="0"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noFill/>
                  </a:tcPr>
                </a:tc>
              </a:tr>
            </a:tbl>
          </a:graphicData>
        </a:graphic>
      </p:graphicFrame>
      <mc:AlternateContent xmlns:mc="http://schemas.openxmlformats.org/markup-compatibility/2006">
        <mc:Choice xmlns:a14="http://schemas.microsoft.com/office/drawing/2010/main" Requires="a14">
          <p:sp>
            <p:nvSpPr>
              <p:cNvPr id="15" name="Rectangle 14"/>
              <p:cNvSpPr/>
              <p:nvPr/>
            </p:nvSpPr>
            <p:spPr>
              <a:xfrm>
                <a:off x="255514" y="2554946"/>
                <a:ext cx="9430819" cy="652058"/>
              </a:xfrm>
              <a:prstGeom prst="rect">
                <a:avLst/>
              </a:prstGeom>
              <a:ln>
                <a:solidFill>
                  <a:srgbClr val="DFDFDF"/>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000C2D"/>
                          </a:solidFill>
                          <a:latin typeface="Cambria Math"/>
                        </a:rPr>
                        <m:t>1</m:t>
                      </m:r>
                      <m:r>
                        <a:rPr lang="en-US" b="0" i="1">
                          <a:solidFill>
                            <a:srgbClr val="000C2D"/>
                          </a:solidFill>
                          <a:latin typeface="Cambria Math"/>
                        </a:rPr>
                        <m:t>2</m:t>
                      </m:r>
                      <m:r>
                        <a:rPr lang="en-US" b="0" i="1">
                          <a:solidFill>
                            <a:srgbClr val="000C2D"/>
                          </a:solidFill>
                          <a:latin typeface="Cambria Math"/>
                        </a:rPr>
                        <m:t>𝑀</m:t>
                      </m:r>
                      <m:r>
                        <a:rPr lang="en-US" b="0" i="1">
                          <a:solidFill>
                            <a:srgbClr val="000C2D"/>
                          </a:solidFill>
                          <a:latin typeface="Cambria Math"/>
                        </a:rPr>
                        <m:t> </m:t>
                      </m:r>
                      <m:r>
                        <a:rPr lang="en-US" b="0" i="1">
                          <a:solidFill>
                            <a:srgbClr val="000C2D"/>
                          </a:solidFill>
                          <a:latin typeface="Cambria Math"/>
                        </a:rPr>
                        <m:t>𝐸𝐶𝐿</m:t>
                      </m:r>
                      <m:r>
                        <a:rPr lang="en-US" b="0" i="1">
                          <a:solidFill>
                            <a:srgbClr val="000C2D"/>
                          </a:solidFill>
                          <a:latin typeface="Cambria Math"/>
                        </a:rPr>
                        <m:t> =</m:t>
                      </m:r>
                      <m:sSub>
                        <m:sSubPr>
                          <m:ctrlPr>
                            <a:rPr lang="en-US" i="1">
                              <a:solidFill>
                                <a:srgbClr val="000C2D"/>
                              </a:solidFill>
                              <a:latin typeface="Cambria Math" panose="02040503050406030204" pitchFamily="18" charset="0"/>
                            </a:rPr>
                          </m:ctrlPr>
                        </m:sSubPr>
                        <m:e>
                          <m:r>
                            <a:rPr lang="en-US" b="0" i="1">
                              <a:solidFill>
                                <a:srgbClr val="000C2D"/>
                              </a:solidFill>
                              <a:latin typeface="Cambria Math"/>
                            </a:rPr>
                            <m:t>𝑃𝐷</m:t>
                          </m:r>
                        </m:e>
                        <m:sub>
                          <m:r>
                            <a:rPr lang="en-US" b="0" i="1" smtClean="0">
                              <a:solidFill>
                                <a:srgbClr val="000C2D"/>
                              </a:solidFill>
                              <a:latin typeface="Cambria Math"/>
                            </a:rPr>
                            <m:t>1</m:t>
                          </m:r>
                          <m:r>
                            <a:rPr lang="en-US" b="0" i="1">
                              <a:solidFill>
                                <a:srgbClr val="000C2D"/>
                              </a:solidFill>
                              <a:latin typeface="Cambria Math"/>
                            </a:rPr>
                            <m:t>2</m:t>
                          </m:r>
                          <m:r>
                            <a:rPr lang="en-US" b="0" i="1">
                              <a:solidFill>
                                <a:srgbClr val="000C2D"/>
                              </a:solidFill>
                              <a:latin typeface="Cambria Math"/>
                            </a:rPr>
                            <m:t>𝑚</m:t>
                          </m:r>
                        </m:sub>
                      </m:sSub>
                      <m:r>
                        <a:rPr lang="en-US" b="0" i="1">
                          <a:solidFill>
                            <a:srgbClr val="000C2D"/>
                          </a:solidFill>
                          <a:latin typeface="Cambria Math"/>
                        </a:rPr>
                        <m:t>×</m:t>
                      </m:r>
                      <m:sSub>
                        <m:sSubPr>
                          <m:ctrlPr>
                            <a:rPr lang="en-US" i="1">
                              <a:solidFill>
                                <a:srgbClr val="000C2D"/>
                              </a:solidFill>
                              <a:latin typeface="Cambria Math" panose="02040503050406030204" pitchFamily="18" charset="0"/>
                            </a:rPr>
                          </m:ctrlPr>
                        </m:sSubPr>
                        <m:e>
                          <m:r>
                            <a:rPr lang="en-US" b="0" i="1">
                              <a:solidFill>
                                <a:srgbClr val="000C2D"/>
                              </a:solidFill>
                              <a:latin typeface="Cambria Math"/>
                            </a:rPr>
                            <m:t>𝐿𝐺𝐷</m:t>
                          </m:r>
                        </m:e>
                        <m:sub>
                          <m:r>
                            <a:rPr lang="en-US" b="0" i="1" smtClean="0">
                              <a:solidFill>
                                <a:srgbClr val="000C2D"/>
                              </a:solidFill>
                              <a:latin typeface="Cambria Math"/>
                            </a:rPr>
                            <m:t>1</m:t>
                          </m:r>
                          <m:r>
                            <a:rPr lang="en-US" b="0" i="1">
                              <a:solidFill>
                                <a:srgbClr val="000C2D"/>
                              </a:solidFill>
                              <a:latin typeface="Cambria Math"/>
                            </a:rPr>
                            <m:t>2</m:t>
                          </m:r>
                          <m:r>
                            <a:rPr lang="en-US" b="0" i="1">
                              <a:solidFill>
                                <a:srgbClr val="000C2D"/>
                              </a:solidFill>
                              <a:latin typeface="Cambria Math"/>
                            </a:rPr>
                            <m:t>𝑚</m:t>
                          </m:r>
                        </m:sub>
                      </m:sSub>
                      <m:r>
                        <a:rPr lang="en-US" b="0" i="1">
                          <a:solidFill>
                            <a:srgbClr val="000C2D"/>
                          </a:solidFill>
                          <a:latin typeface="Cambria Math"/>
                        </a:rPr>
                        <m:t>×</m:t>
                      </m:r>
                      <m:sSub>
                        <m:sSubPr>
                          <m:ctrlPr>
                            <a:rPr lang="en-US" i="1">
                              <a:solidFill>
                                <a:srgbClr val="000C2D"/>
                              </a:solidFill>
                              <a:latin typeface="Cambria Math" panose="02040503050406030204" pitchFamily="18" charset="0"/>
                            </a:rPr>
                          </m:ctrlPr>
                        </m:sSubPr>
                        <m:e>
                          <m:r>
                            <a:rPr lang="en-US" b="0" i="1">
                              <a:solidFill>
                                <a:srgbClr val="000C2D"/>
                              </a:solidFill>
                              <a:latin typeface="Cambria Math"/>
                            </a:rPr>
                            <m:t>𝐸𝐴𝐷</m:t>
                          </m:r>
                        </m:e>
                        <m:sub>
                          <m:r>
                            <a:rPr lang="en-US" b="0" i="1" smtClean="0">
                              <a:solidFill>
                                <a:srgbClr val="000C2D"/>
                              </a:solidFill>
                              <a:latin typeface="Cambria Math"/>
                            </a:rPr>
                            <m:t>1</m:t>
                          </m:r>
                          <m:r>
                            <a:rPr lang="en-US" b="0" i="1">
                              <a:solidFill>
                                <a:srgbClr val="000C2D"/>
                              </a:solidFill>
                              <a:latin typeface="Cambria Math"/>
                            </a:rPr>
                            <m:t>2</m:t>
                          </m:r>
                          <m:r>
                            <a:rPr lang="en-US" b="0" i="1">
                              <a:solidFill>
                                <a:srgbClr val="000C2D"/>
                              </a:solidFill>
                              <a:latin typeface="Cambria Math"/>
                            </a:rPr>
                            <m:t>𝑚</m:t>
                          </m:r>
                        </m:sub>
                      </m:sSub>
                      <m:r>
                        <m:rPr>
                          <m:nor/>
                        </m:rPr>
                        <a:rPr lang="en-US" b="1" i="0" smtClean="0">
                          <a:solidFill>
                            <a:srgbClr val="000C2D"/>
                          </a:solidFill>
                          <a:latin typeface="Cambria Math" panose="02040503050406030204" pitchFamily="18" charset="0"/>
                        </a:rPr>
                        <m:t>                              </m:t>
                      </m:r>
                      <m:r>
                        <m:rPr>
                          <m:nor/>
                        </m:rPr>
                        <a:rPr lang="en-US" b="1" dirty="0">
                          <a:solidFill>
                            <a:srgbClr val="000C2D"/>
                          </a:solidFill>
                          <a:latin typeface="Times New Roman" panose="02020603050405020304" pitchFamily="18" charset="0"/>
                          <a:cs typeface="Times New Roman" panose="02020603050405020304" pitchFamily="18" charset="0"/>
                        </a:rPr>
                        <m:t>IFRS</m:t>
                      </m:r>
                      <m:r>
                        <m:rPr>
                          <m:nor/>
                        </m:rPr>
                        <a:rPr lang="en-US" b="1" dirty="0">
                          <a:solidFill>
                            <a:srgbClr val="000C2D"/>
                          </a:solidFill>
                          <a:latin typeface="Times New Roman" panose="02020603050405020304" pitchFamily="18" charset="0"/>
                          <a:cs typeface="Times New Roman" panose="02020603050405020304" pitchFamily="18" charset="0"/>
                        </a:rPr>
                        <m:t> 9 </m:t>
                      </m:r>
                      <m:r>
                        <m:rPr>
                          <m:nor/>
                        </m:rPr>
                        <a:rPr lang="en-US" b="1" dirty="0">
                          <a:solidFill>
                            <a:srgbClr val="000C2D"/>
                          </a:solidFill>
                          <a:latin typeface="Times New Roman" panose="02020603050405020304" pitchFamily="18" charset="0"/>
                          <a:cs typeface="Times New Roman" panose="02020603050405020304" pitchFamily="18" charset="0"/>
                        </a:rPr>
                        <m:t>ECL</m:t>
                      </m:r>
                      <m:r>
                        <m:rPr>
                          <m:nor/>
                        </m:rPr>
                        <a:rPr lang="en-US" b="1" dirty="0">
                          <a:solidFill>
                            <a:srgbClr val="000C2D"/>
                          </a:solidFill>
                          <a:latin typeface="Times New Roman" panose="02020603050405020304" pitchFamily="18" charset="0"/>
                          <a:cs typeface="Times New Roman" panose="02020603050405020304" pitchFamily="18" charset="0"/>
                        </a:rPr>
                        <m:t> </m:t>
                      </m:r>
                      <m:r>
                        <m:rPr>
                          <m:nor/>
                        </m:rPr>
                        <a:rPr lang="en-US" b="1" dirty="0">
                          <a:solidFill>
                            <a:srgbClr val="000C2D"/>
                          </a:solidFill>
                          <a:latin typeface="Times New Roman" panose="02020603050405020304" pitchFamily="18" charset="0"/>
                          <a:cs typeface="Times New Roman" panose="02020603050405020304" pitchFamily="18" charset="0"/>
                        </a:rPr>
                        <m:t>Computation</m:t>
                      </m:r>
                      <m:r>
                        <a:rPr lang="en-US" b="1" i="1" dirty="0" smtClean="0">
                          <a:solidFill>
                            <a:srgbClr val="000C2D"/>
                          </a:solidFill>
                          <a:latin typeface="Cambria Math" panose="02040503050406030204" pitchFamily="18" charset="0"/>
                          <a:cs typeface="Times New Roman" panose="02020603050405020304" pitchFamily="18" charset="0"/>
                        </a:rPr>
                        <m:t>                                            </m:t>
                      </m:r>
                      <m:r>
                        <a:rPr lang="en-US" b="0" i="1">
                          <a:solidFill>
                            <a:srgbClr val="000C2D"/>
                          </a:solidFill>
                          <a:latin typeface="Cambria Math"/>
                        </a:rPr>
                        <m:t>𝐿𝐸𝐶𝐿</m:t>
                      </m:r>
                      <m:r>
                        <a:rPr lang="en-US" b="0" i="1">
                          <a:solidFill>
                            <a:srgbClr val="000C2D"/>
                          </a:solidFill>
                          <a:latin typeface="Cambria Math"/>
                        </a:rPr>
                        <m:t>= </m:t>
                      </m:r>
                      <m:nary>
                        <m:naryPr>
                          <m:chr m:val="∑"/>
                          <m:limLoc m:val="subSup"/>
                          <m:supHide m:val="on"/>
                          <m:ctrlPr>
                            <a:rPr lang="en-US" i="1">
                              <a:solidFill>
                                <a:srgbClr val="000C2D"/>
                              </a:solidFill>
                              <a:latin typeface="Cambria Math" panose="02040503050406030204" pitchFamily="18" charset="0"/>
                            </a:rPr>
                          </m:ctrlPr>
                        </m:naryPr>
                        <m:sub>
                          <m:r>
                            <a:rPr lang="en-US" b="0" i="1">
                              <a:solidFill>
                                <a:srgbClr val="000C2D"/>
                              </a:solidFill>
                              <a:latin typeface="Cambria Math"/>
                            </a:rPr>
                            <m:t>𝑁</m:t>
                          </m:r>
                        </m:sub>
                        <m:sup/>
                        <m:e>
                          <m:f>
                            <m:fPr>
                              <m:ctrlPr>
                                <a:rPr lang="en-US" i="1">
                                  <a:solidFill>
                                    <a:srgbClr val="000C2D"/>
                                  </a:solidFill>
                                  <a:latin typeface="Cambria Math" panose="02040503050406030204" pitchFamily="18" charset="0"/>
                                </a:rPr>
                              </m:ctrlPr>
                            </m:fPr>
                            <m:num>
                              <m:r>
                                <a:rPr lang="en-US" b="0" i="1">
                                  <a:solidFill>
                                    <a:srgbClr val="000C2D"/>
                                  </a:solidFill>
                                  <a:latin typeface="Cambria Math"/>
                                </a:rPr>
                                <m:t>𝐸𝐿</m:t>
                              </m:r>
                              <m:r>
                                <a:rPr lang="en-US" b="0" i="1" baseline="-25000">
                                  <a:solidFill>
                                    <a:srgbClr val="000C2D"/>
                                  </a:solidFill>
                                  <a:latin typeface="Cambria Math"/>
                                </a:rPr>
                                <m:t>𝑁</m:t>
                              </m:r>
                            </m:num>
                            <m:den>
                              <m:d>
                                <m:dPr>
                                  <m:ctrlPr>
                                    <a:rPr lang="en-US" i="1">
                                      <a:solidFill>
                                        <a:srgbClr val="000C2D"/>
                                      </a:solidFill>
                                      <a:latin typeface="Cambria Math" panose="02040503050406030204" pitchFamily="18" charset="0"/>
                                    </a:rPr>
                                  </m:ctrlPr>
                                </m:dPr>
                                <m:e>
                                  <m:r>
                                    <a:rPr lang="en-US" b="0" i="1" smtClean="0">
                                      <a:solidFill>
                                        <a:srgbClr val="000C2D"/>
                                      </a:solidFill>
                                      <a:latin typeface="Cambria Math"/>
                                    </a:rPr>
                                    <m:t>1</m:t>
                                  </m:r>
                                  <m:r>
                                    <a:rPr lang="en-US" b="0" i="1">
                                      <a:solidFill>
                                        <a:srgbClr val="000C2D"/>
                                      </a:solidFill>
                                      <a:latin typeface="Cambria Math"/>
                                    </a:rPr>
                                    <m:t>+</m:t>
                                  </m:r>
                                  <m:r>
                                    <a:rPr lang="en-US" b="0" i="1">
                                      <a:solidFill>
                                        <a:srgbClr val="000C2D"/>
                                      </a:solidFill>
                                      <a:latin typeface="Cambria Math"/>
                                    </a:rPr>
                                    <m:t>𝐷𝑅</m:t>
                                  </m:r>
                                </m:e>
                              </m:d>
                              <m:r>
                                <a:rPr lang="en-US" b="0" i="1" baseline="30000">
                                  <a:solidFill>
                                    <a:srgbClr val="000C2D"/>
                                  </a:solidFill>
                                  <a:latin typeface="Cambria Math"/>
                                </a:rPr>
                                <m:t>𝑁</m:t>
                              </m:r>
                            </m:den>
                          </m:f>
                        </m:e>
                      </m:nary>
                    </m:oMath>
                  </m:oMathPara>
                </a14:m>
                <a:endParaRPr lang="en-US" i="1" dirty="0">
                  <a:solidFill>
                    <a:srgbClr val="000C2D"/>
                  </a:solidFill>
                  <a:latin typeface="Times New Roman" panose="02020603050405020304" pitchFamily="18" charset="0"/>
                  <a:cs typeface="Times New Roman" panose="02020603050405020304" pitchFamily="18" charset="0"/>
                </a:endParaRPr>
              </a:p>
            </p:txBody>
          </p:sp>
        </mc:Choice>
        <mc:Fallback>
          <p:sp>
            <p:nvSpPr>
              <p:cNvPr id="15" name="Rectangle 14"/>
              <p:cNvSpPr>
                <a:spLocks noRot="1" noChangeAspect="1" noMove="1" noResize="1" noEditPoints="1" noAdjustHandles="1" noChangeArrowheads="1" noChangeShapeType="1" noTextEdit="1"/>
              </p:cNvSpPr>
              <p:nvPr/>
            </p:nvSpPr>
            <p:spPr>
              <a:xfrm>
                <a:off x="255514" y="2554946"/>
                <a:ext cx="9430819" cy="652058"/>
              </a:xfrm>
              <a:prstGeom prst="rect">
                <a:avLst/>
              </a:prstGeom>
              <a:blipFill rotWithShape="0">
                <a:blip r:embed="rId2"/>
                <a:stretch>
                  <a:fillRect t="-78378" b="-125225"/>
                </a:stretch>
              </a:blipFill>
              <a:ln>
                <a:solidFill>
                  <a:srgbClr val="DFDFDF"/>
                </a:solidFill>
              </a:ln>
            </p:spPr>
            <p:txBody>
              <a:bodyPr/>
              <a:lstStyle/>
              <a:p>
                <a:r>
                  <a:rPr lang="en-US">
                    <a:noFill/>
                  </a:rPr>
                  <a:t> </a:t>
                </a:r>
              </a:p>
            </p:txBody>
          </p:sp>
        </mc:Fallback>
      </mc:AlternateContent>
      <p:sp>
        <p:nvSpPr>
          <p:cNvPr id="19" name="TextBox 18"/>
          <p:cNvSpPr txBox="1"/>
          <p:nvPr/>
        </p:nvSpPr>
        <p:spPr>
          <a:xfrm>
            <a:off x="1563195" y="4875110"/>
            <a:ext cx="946871" cy="543995"/>
          </a:xfrm>
          <a:prstGeom prst="rect">
            <a:avLst/>
          </a:prstGeom>
          <a:noFill/>
          <a:ln>
            <a:noFill/>
          </a:ln>
        </p:spPr>
        <p:txBody>
          <a:bodyPr wrap="square" lIns="0" tIns="36576" rIns="0" bIns="0" rtlCol="0">
            <a:spAutoFit/>
          </a:bodyPr>
          <a:lstStyle/>
          <a:p>
            <a:pPr>
              <a:lnSpc>
                <a:spcPct val="85000"/>
              </a:lnSpc>
              <a:spcAft>
                <a:spcPts val="600"/>
              </a:spcAft>
              <a:buClr>
                <a:schemeClr val="accent2"/>
              </a:buClr>
              <a:buSzPct val="70000"/>
            </a:pPr>
            <a:r>
              <a:rPr lang="en-US" sz="900" b="1" dirty="0" smtClean="0">
                <a:solidFill>
                  <a:srgbClr val="000C2D"/>
                </a:solidFill>
              </a:rPr>
              <a:t>PD = 1.09</a:t>
            </a:r>
            <a:r>
              <a:rPr lang="en-US" sz="900" b="1" dirty="0" smtClean="0">
                <a:solidFill>
                  <a:srgbClr val="000C2D"/>
                </a:solidFill>
              </a:rPr>
              <a:t>%</a:t>
            </a:r>
          </a:p>
          <a:p>
            <a:pPr>
              <a:lnSpc>
                <a:spcPct val="85000"/>
              </a:lnSpc>
              <a:spcAft>
                <a:spcPts val="600"/>
              </a:spcAft>
              <a:buClr>
                <a:schemeClr val="accent2"/>
              </a:buClr>
              <a:buSzPct val="70000"/>
            </a:pPr>
            <a:r>
              <a:rPr lang="en-US" sz="900" b="1" dirty="0" smtClean="0">
                <a:solidFill>
                  <a:srgbClr val="000C2D"/>
                </a:solidFill>
              </a:rPr>
              <a:t>LGD = 45%</a:t>
            </a:r>
            <a:endParaRPr lang="en-US" sz="900" b="1" dirty="0" smtClean="0">
              <a:solidFill>
                <a:srgbClr val="000C2D"/>
              </a:solidFill>
            </a:endParaRPr>
          </a:p>
          <a:p>
            <a:pPr>
              <a:lnSpc>
                <a:spcPct val="85000"/>
              </a:lnSpc>
              <a:spcAft>
                <a:spcPts val="600"/>
              </a:spcAft>
              <a:buClr>
                <a:schemeClr val="accent2"/>
              </a:buClr>
              <a:buSzPct val="70000"/>
            </a:pPr>
            <a:r>
              <a:rPr lang="en-US" sz="900" b="1" dirty="0" smtClean="0">
                <a:solidFill>
                  <a:srgbClr val="000C2D"/>
                </a:solidFill>
              </a:rPr>
              <a:t>DF = 0.95</a:t>
            </a:r>
            <a:endParaRPr lang="en-GB" sz="900" b="1" dirty="0">
              <a:solidFill>
                <a:srgbClr val="000C2D"/>
              </a:solidFill>
            </a:endParaRPr>
          </a:p>
        </p:txBody>
      </p:sp>
      <p:sp>
        <p:nvSpPr>
          <p:cNvPr id="27" name="Rectangle 26"/>
          <p:cNvSpPr/>
          <p:nvPr/>
        </p:nvSpPr>
        <p:spPr>
          <a:xfrm>
            <a:off x="529751" y="3727001"/>
            <a:ext cx="1926370" cy="274305"/>
          </a:xfrm>
          <a:prstGeom prst="rect">
            <a:avLst/>
          </a:prstGeom>
          <a:ln>
            <a:solidFill>
              <a:srgbClr val="DFDFD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b="1" smtClean="0">
                <a:solidFill>
                  <a:srgbClr val="000C2D"/>
                </a:solidFill>
                <a:latin typeface="Times New Roman" panose="02020603050405020304" pitchFamily="18" charset="0"/>
                <a:cs typeface="Times New Roman" panose="02020603050405020304" pitchFamily="18" charset="0"/>
              </a:rPr>
              <a:t>EL1 </a:t>
            </a:r>
            <a:r>
              <a:rPr lang="en-US" sz="900" b="1">
                <a:solidFill>
                  <a:srgbClr val="000C2D"/>
                </a:solidFill>
                <a:latin typeface="Times New Roman" panose="02020603050405020304" pitchFamily="18" charset="0"/>
                <a:cs typeface="Times New Roman" panose="02020603050405020304" pitchFamily="18" charset="0"/>
              </a:rPr>
              <a:t>= </a:t>
            </a:r>
            <a:r>
              <a:rPr lang="en-US" sz="900" b="1" smtClean="0">
                <a:solidFill>
                  <a:srgbClr val="000C2D"/>
                </a:solidFill>
                <a:latin typeface="Times New Roman" panose="02020603050405020304" pitchFamily="18" charset="0"/>
                <a:cs typeface="Times New Roman" panose="02020603050405020304" pitchFamily="18" charset="0"/>
              </a:rPr>
              <a:t>PD1 </a:t>
            </a:r>
            <a:r>
              <a:rPr lang="en-US" sz="900" b="1">
                <a:solidFill>
                  <a:srgbClr val="000C2D"/>
                </a:solidFill>
                <a:latin typeface="Times New Roman" panose="02020603050405020304" pitchFamily="18" charset="0"/>
                <a:cs typeface="Times New Roman" panose="02020603050405020304" pitchFamily="18" charset="0"/>
              </a:rPr>
              <a:t>* </a:t>
            </a:r>
            <a:r>
              <a:rPr lang="en-US" sz="900" b="1" smtClean="0">
                <a:solidFill>
                  <a:srgbClr val="000C2D"/>
                </a:solidFill>
                <a:latin typeface="Times New Roman" panose="02020603050405020304" pitchFamily="18" charset="0"/>
                <a:cs typeface="Times New Roman" panose="02020603050405020304" pitchFamily="18" charset="0"/>
              </a:rPr>
              <a:t>LGD1 </a:t>
            </a:r>
            <a:r>
              <a:rPr lang="en-US" sz="900" b="1">
                <a:solidFill>
                  <a:srgbClr val="000C2D"/>
                </a:solidFill>
                <a:latin typeface="Times New Roman" panose="02020603050405020304" pitchFamily="18" charset="0"/>
                <a:cs typeface="Times New Roman" panose="02020603050405020304" pitchFamily="18" charset="0"/>
              </a:rPr>
              <a:t>* </a:t>
            </a:r>
            <a:r>
              <a:rPr lang="en-US" sz="900" b="1" smtClean="0">
                <a:solidFill>
                  <a:srgbClr val="000C2D"/>
                </a:solidFill>
                <a:latin typeface="Times New Roman" panose="02020603050405020304" pitchFamily="18" charset="0"/>
                <a:cs typeface="Times New Roman" panose="02020603050405020304" pitchFamily="18" charset="0"/>
              </a:rPr>
              <a:t>EAD1 </a:t>
            </a:r>
            <a:r>
              <a:rPr lang="en-US" sz="900" b="1">
                <a:solidFill>
                  <a:srgbClr val="000C2D"/>
                </a:solidFill>
                <a:latin typeface="Times New Roman" panose="02020603050405020304" pitchFamily="18" charset="0"/>
                <a:cs typeface="Times New Roman" panose="02020603050405020304" pitchFamily="18" charset="0"/>
              </a:rPr>
              <a:t>* </a:t>
            </a:r>
            <a:r>
              <a:rPr lang="en-US" sz="900" b="1" smtClean="0">
                <a:solidFill>
                  <a:srgbClr val="000C2D"/>
                </a:solidFill>
                <a:latin typeface="Times New Roman" panose="02020603050405020304" pitchFamily="18" charset="0"/>
                <a:cs typeface="Times New Roman" panose="02020603050405020304" pitchFamily="18" charset="0"/>
              </a:rPr>
              <a:t>DF1</a:t>
            </a:r>
            <a:endParaRPr lang="en-US" sz="900" b="1" dirty="0">
              <a:solidFill>
                <a:srgbClr val="000C2D"/>
              </a:solidFill>
              <a:latin typeface="Times New Roman" panose="02020603050405020304" pitchFamily="18" charset="0"/>
              <a:cs typeface="Times New Roman" panose="02020603050405020304" pitchFamily="18" charset="0"/>
            </a:endParaRPr>
          </a:p>
        </p:txBody>
      </p:sp>
      <p:cxnSp>
        <p:nvCxnSpPr>
          <p:cNvPr id="30" name="Straight Connector 29"/>
          <p:cNvCxnSpPr/>
          <p:nvPr/>
        </p:nvCxnSpPr>
        <p:spPr>
          <a:xfrm>
            <a:off x="2583524" y="3714305"/>
            <a:ext cx="0" cy="2372959"/>
          </a:xfrm>
          <a:prstGeom prst="line">
            <a:avLst/>
          </a:prstGeom>
          <a:ln w="9525">
            <a:solidFill>
              <a:srgbClr val="000C2D"/>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extLst>
              <p:ext uri="{D42A27DB-BD31-4B8C-83A1-F6EECF244321}">
                <p14:modId xmlns:p14="http://schemas.microsoft.com/office/powerpoint/2010/main" val="1474306186"/>
              </p:ext>
            </p:extLst>
          </p:nvPr>
        </p:nvGraphicFramePr>
        <p:xfrm>
          <a:off x="516000" y="4189562"/>
          <a:ext cx="1940121" cy="487680"/>
        </p:xfrm>
        <a:graphic>
          <a:graphicData uri="http://schemas.openxmlformats.org/drawingml/2006/table">
            <a:tbl>
              <a:tblPr firstRow="1" bandRow="1">
                <a:tableStyleId>{2D5ABB26-0587-4C30-8999-92F81FD0307C}</a:tableStyleId>
              </a:tblPr>
              <a:tblGrid>
                <a:gridCol w="1940121"/>
              </a:tblGrid>
              <a:tr h="222450">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EAD</a:t>
                      </a:r>
                      <a:r>
                        <a:rPr lang="en-US" sz="1000" b="1" baseline="0" dirty="0" smtClean="0">
                          <a:solidFill>
                            <a:schemeClr val="bg1"/>
                          </a:solidFill>
                          <a:latin typeface="Times New Roman" panose="02020603050405020304" pitchFamily="18" charset="0"/>
                          <a:cs typeface="Times New Roman" panose="02020603050405020304" pitchFamily="18" charset="0"/>
                        </a:rPr>
                        <a:t> as on </a:t>
                      </a:r>
                      <a:r>
                        <a:rPr lang="en-US" sz="1000" b="1" baseline="0" dirty="0" smtClean="0">
                          <a:solidFill>
                            <a:schemeClr val="bg1"/>
                          </a:solidFill>
                          <a:latin typeface="Times New Roman" panose="02020603050405020304" pitchFamily="18" charset="0"/>
                          <a:cs typeface="Times New Roman" panose="02020603050405020304" pitchFamily="18" charset="0"/>
                        </a:rPr>
                        <a:t>Dec2017</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r>
              <a:tr h="222450">
                <a:tc>
                  <a:txBody>
                    <a:bodyPr/>
                    <a:lstStyle/>
                    <a:p>
                      <a:pPr algn="ctr"/>
                      <a:r>
                        <a:rPr lang="en-US" sz="1000" b="1" smtClean="0">
                          <a:solidFill>
                            <a:srgbClr val="000C2D"/>
                          </a:solidFill>
                          <a:latin typeface="Times New Roman" panose="02020603050405020304" pitchFamily="18" charset="0"/>
                          <a:cs typeface="Times New Roman" panose="02020603050405020304" pitchFamily="18" charset="0"/>
                        </a:rPr>
                        <a:t>100,000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58" name="Rectangle 57"/>
          <p:cNvSpPr/>
          <p:nvPr/>
        </p:nvSpPr>
        <p:spPr>
          <a:xfrm>
            <a:off x="287338" y="3615070"/>
            <a:ext cx="9430820" cy="2647507"/>
          </a:xfrm>
          <a:prstGeom prst="rect">
            <a:avLst/>
          </a:prstGeom>
          <a:noFill/>
          <a:ln>
            <a:solidFill>
              <a:srgbClr val="DFD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0C2D"/>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308606" y="3328983"/>
            <a:ext cx="5425460" cy="276999"/>
          </a:xfrm>
          <a:prstGeom prst="rect">
            <a:avLst/>
          </a:prstGeom>
          <a:noFill/>
        </p:spPr>
        <p:txBody>
          <a:bodyPr wrap="none" rtlCol="0">
            <a:spAutoFit/>
          </a:bodyPr>
          <a:lstStyle/>
          <a:p>
            <a:r>
              <a:rPr lang="en-US" b="1" dirty="0" smtClean="0">
                <a:solidFill>
                  <a:srgbClr val="000C2D"/>
                </a:solidFill>
              </a:rPr>
              <a:t>EAD Cash Flow For Yearly Repayment Frequency and ECL Computation Logic</a:t>
            </a:r>
            <a:endParaRPr lang="en-GB" b="1" dirty="0">
              <a:solidFill>
                <a:srgbClr val="000C2D"/>
              </a:solidFill>
            </a:endParaRPr>
          </a:p>
        </p:txBody>
      </p:sp>
      <p:sp>
        <p:nvSpPr>
          <p:cNvPr id="63" name="TextBox 62"/>
          <p:cNvSpPr txBox="1"/>
          <p:nvPr/>
        </p:nvSpPr>
        <p:spPr>
          <a:xfrm>
            <a:off x="248221" y="1291289"/>
            <a:ext cx="1237839" cy="276999"/>
          </a:xfrm>
          <a:prstGeom prst="rect">
            <a:avLst/>
          </a:prstGeom>
          <a:noFill/>
        </p:spPr>
        <p:txBody>
          <a:bodyPr wrap="none" rtlCol="0">
            <a:spAutoFit/>
          </a:bodyPr>
          <a:lstStyle/>
          <a:p>
            <a:r>
              <a:rPr lang="en-US" b="1" dirty="0" smtClean="0">
                <a:solidFill>
                  <a:srgbClr val="000C2D"/>
                </a:solidFill>
              </a:rPr>
              <a:t>Contract Inputs</a:t>
            </a:r>
            <a:endParaRPr lang="en-GB" b="1" dirty="0">
              <a:solidFill>
                <a:srgbClr val="000C2D"/>
              </a:solidFill>
            </a:endParaRPr>
          </a:p>
        </p:txBody>
      </p:sp>
      <p:graphicFrame>
        <p:nvGraphicFramePr>
          <p:cNvPr id="64" name="Table 63"/>
          <p:cNvGraphicFramePr>
            <a:graphicFrameLocks noGrp="1"/>
          </p:cNvGraphicFramePr>
          <p:nvPr>
            <p:extLst/>
          </p:nvPr>
        </p:nvGraphicFramePr>
        <p:xfrm>
          <a:off x="7996143" y="1639438"/>
          <a:ext cx="1722014" cy="730794"/>
        </p:xfrm>
        <a:graphic>
          <a:graphicData uri="http://schemas.openxmlformats.org/drawingml/2006/table">
            <a:tbl>
              <a:tblPr firstRow="1" bandRow="1">
                <a:tableStyleId>{F5AB1C69-6EDB-4FF4-983F-18BD219EF322}</a:tableStyleId>
              </a:tblPr>
              <a:tblGrid>
                <a:gridCol w="967105"/>
                <a:gridCol w="754909"/>
              </a:tblGrid>
              <a:tr h="365397">
                <a:tc>
                  <a:txBody>
                    <a:bodyPr/>
                    <a:lstStyle/>
                    <a:p>
                      <a:pPr marL="0" algn="ctr" defTabSz="914400" rtl="0" eaLnBrk="1" fontAlgn="ctr" latinLnBrk="0" hangingPunct="1"/>
                      <a:r>
                        <a:rPr lang="en-US" sz="1000" b="1" i="0" u="none" strike="noStrike" kern="1200" smtClean="0">
                          <a:solidFill>
                            <a:srgbClr val="FFFFFF"/>
                          </a:solidFill>
                          <a:effectLst/>
                          <a:latin typeface="Times New Roman" panose="02020603050405020304" pitchFamily="18" charset="0"/>
                          <a:ea typeface="+mn-ea"/>
                          <a:cs typeface="+mn-cs"/>
                        </a:rPr>
                        <a:t>12-M </a:t>
                      </a:r>
                      <a:r>
                        <a:rPr lang="en-US" sz="1000" b="1" i="0" u="none" strike="noStrike" kern="1200" dirty="0" smtClean="0">
                          <a:solidFill>
                            <a:srgbClr val="FFFFFF"/>
                          </a:solidFill>
                          <a:effectLst/>
                          <a:latin typeface="Times New Roman" panose="02020603050405020304" pitchFamily="18" charset="0"/>
                          <a:ea typeface="+mn-ea"/>
                          <a:cs typeface="+mn-cs"/>
                        </a:rPr>
                        <a:t>ECL</a:t>
                      </a:r>
                      <a:endParaRPr lang="en-GB" sz="1000" b="1" i="0" u="none" strike="noStrike" kern="1200" dirty="0">
                        <a:solidFill>
                          <a:srgbClr val="FFFFFF"/>
                        </a:solidFill>
                        <a:effectLst/>
                        <a:latin typeface="Times New Roman" panose="02020603050405020304" pitchFamily="18" charset="0"/>
                        <a:ea typeface="+mn-ea"/>
                        <a:cs typeface="+mn-cs"/>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a:r>
                        <a:rPr lang="en-US" sz="1200" b="0" dirty="0" smtClean="0">
                          <a:solidFill>
                            <a:srgbClr val="000C2D"/>
                          </a:solidFill>
                          <a:latin typeface="Times New Roman" panose="02020603050405020304" pitchFamily="18" charset="0"/>
                          <a:cs typeface="Times New Roman" panose="02020603050405020304" pitchFamily="18" charset="0"/>
                        </a:rPr>
                        <a:t>463</a:t>
                      </a:r>
                      <a:endParaRPr lang="en-GB" sz="1200" b="0"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tcPr>
                </a:tc>
              </a:tr>
              <a:tr h="365397">
                <a:tc>
                  <a:txBody>
                    <a:bodyPr/>
                    <a:lstStyle/>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Lifetime ECL</a:t>
                      </a:r>
                      <a:endParaRPr lang="en-GB" sz="1000" b="1" i="0" u="none" strike="noStrike" kern="1200" dirty="0">
                        <a:solidFill>
                          <a:srgbClr val="FFFFFF"/>
                        </a:solidFill>
                        <a:effectLst/>
                        <a:latin typeface="Times New Roman" panose="02020603050405020304" pitchFamily="18" charset="0"/>
                        <a:ea typeface="+mn-ea"/>
                        <a:cs typeface="+mn-cs"/>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a:r>
                        <a:rPr lang="en-US" sz="1200" b="0" smtClean="0">
                          <a:solidFill>
                            <a:srgbClr val="000C2D"/>
                          </a:solidFill>
                          <a:latin typeface="Times New Roman" panose="02020603050405020304" pitchFamily="18" charset="0"/>
                          <a:cs typeface="Times New Roman" panose="02020603050405020304" pitchFamily="18" charset="0"/>
                        </a:rPr>
                        <a:t>1,138</a:t>
                      </a:r>
                      <a:endParaRPr lang="en-GB" sz="1200" b="0"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tcPr>
                </a:tc>
              </a:tr>
            </a:tbl>
          </a:graphicData>
        </a:graphic>
      </p:graphicFrame>
      <p:sp>
        <p:nvSpPr>
          <p:cNvPr id="65" name="Notched Right Arrow 64"/>
          <p:cNvSpPr/>
          <p:nvPr/>
        </p:nvSpPr>
        <p:spPr>
          <a:xfrm>
            <a:off x="7304564" y="1796813"/>
            <a:ext cx="551355" cy="329326"/>
          </a:xfrm>
          <a:prstGeom prst="notchedRightArrow">
            <a:avLst/>
          </a:prstGeom>
          <a:solidFill>
            <a:srgbClr val="000C2D"/>
          </a:solidFill>
          <a:ln w="9525">
            <a:solidFill>
              <a:srgbClr val="000C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002060"/>
              </a:solidFill>
              <a:latin typeface="Calibri" panose="020F0502020204030204" pitchFamily="34" charset="0"/>
              <a:cs typeface="Calibri" panose="020F0502020204030204" pitchFamily="34" charset="0"/>
            </a:endParaRPr>
          </a:p>
        </p:txBody>
      </p:sp>
      <p:sp>
        <p:nvSpPr>
          <p:cNvPr id="66" name="TextBox 65"/>
          <p:cNvSpPr txBox="1"/>
          <p:nvPr/>
        </p:nvSpPr>
        <p:spPr>
          <a:xfrm>
            <a:off x="8020609" y="1282659"/>
            <a:ext cx="1003801" cy="276999"/>
          </a:xfrm>
          <a:prstGeom prst="rect">
            <a:avLst/>
          </a:prstGeom>
          <a:noFill/>
        </p:spPr>
        <p:txBody>
          <a:bodyPr wrap="none" rtlCol="0">
            <a:spAutoFit/>
          </a:bodyPr>
          <a:lstStyle/>
          <a:p>
            <a:r>
              <a:rPr lang="en-US" b="1" dirty="0" smtClean="0">
                <a:solidFill>
                  <a:srgbClr val="000C2D"/>
                </a:solidFill>
              </a:rPr>
              <a:t>IFRS 9 ECL</a:t>
            </a:r>
            <a:endParaRPr lang="en-GB" b="1" dirty="0">
              <a:solidFill>
                <a:srgbClr val="000C2D"/>
              </a:solidFill>
            </a:endParaRPr>
          </a:p>
        </p:txBody>
      </p:sp>
      <p:graphicFrame>
        <p:nvGraphicFramePr>
          <p:cNvPr id="60" name="Table 59"/>
          <p:cNvGraphicFramePr>
            <a:graphicFrameLocks noGrp="1"/>
          </p:cNvGraphicFramePr>
          <p:nvPr>
            <p:extLst>
              <p:ext uri="{D42A27DB-BD31-4B8C-83A1-F6EECF244321}">
                <p14:modId xmlns:p14="http://schemas.microsoft.com/office/powerpoint/2010/main" val="2256744407"/>
              </p:ext>
            </p:extLst>
          </p:nvPr>
        </p:nvGraphicFramePr>
        <p:xfrm>
          <a:off x="547899" y="5616974"/>
          <a:ext cx="1908222" cy="396240"/>
        </p:xfrm>
        <a:graphic>
          <a:graphicData uri="http://schemas.openxmlformats.org/drawingml/2006/table">
            <a:tbl>
              <a:tblPr firstRow="1" bandRow="1">
                <a:tableStyleId>{F5AB1C69-6EDB-4FF4-983F-18BD219EF322}</a:tableStyleId>
              </a:tblPr>
              <a:tblGrid>
                <a:gridCol w="1071682"/>
                <a:gridCol w="836540"/>
              </a:tblGrid>
              <a:tr h="365397">
                <a:tc>
                  <a:txBody>
                    <a:bodyPr/>
                    <a:lstStyle/>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ECL as </a:t>
                      </a:r>
                      <a:r>
                        <a:rPr lang="en-US" sz="1000" b="1" i="0" u="none" strike="noStrike" kern="1200" dirty="0" smtClean="0">
                          <a:solidFill>
                            <a:srgbClr val="FFFFFF"/>
                          </a:solidFill>
                          <a:effectLst/>
                          <a:latin typeface="Times New Roman" panose="02020603050405020304" pitchFamily="18" charset="0"/>
                          <a:ea typeface="+mn-ea"/>
                          <a:cs typeface="+mn-cs"/>
                        </a:rPr>
                        <a:t>on</a:t>
                      </a:r>
                    </a:p>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Dec </a:t>
                      </a:r>
                      <a:r>
                        <a:rPr lang="en-US" sz="1000" b="1" i="0" u="none" strike="noStrike" kern="1200" dirty="0" smtClean="0">
                          <a:solidFill>
                            <a:srgbClr val="FFFFFF"/>
                          </a:solidFill>
                          <a:effectLst/>
                          <a:latin typeface="Times New Roman" panose="02020603050405020304" pitchFamily="18" charset="0"/>
                          <a:ea typeface="+mn-ea"/>
                          <a:cs typeface="+mn-cs"/>
                        </a:rPr>
                        <a:t>2017</a:t>
                      </a:r>
                      <a:endParaRPr lang="en-GB" sz="1000" b="1" i="0" u="none" strike="noStrike" kern="1200" dirty="0">
                        <a:solidFill>
                          <a:srgbClr val="FFFFFF"/>
                        </a:solidFill>
                        <a:effectLst/>
                        <a:latin typeface="Times New Roman" panose="02020603050405020304" pitchFamily="18" charset="0"/>
                        <a:ea typeface="+mn-ea"/>
                        <a:cs typeface="+mn-cs"/>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a:r>
                        <a:rPr lang="en-US" sz="1000" b="0" dirty="0" smtClean="0">
                          <a:solidFill>
                            <a:srgbClr val="000C2D"/>
                          </a:solidFill>
                          <a:latin typeface="Times New Roman" panose="02020603050405020304" pitchFamily="18" charset="0"/>
                          <a:cs typeface="Times New Roman" panose="02020603050405020304" pitchFamily="18" charset="0"/>
                        </a:rPr>
                        <a:t>463</a:t>
                      </a:r>
                      <a:endParaRPr lang="en-GB" sz="1000" b="0"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tcPr>
                </a:tc>
              </a:tr>
            </a:tbl>
          </a:graphicData>
        </a:graphic>
      </p:graphicFrame>
      <p:cxnSp>
        <p:nvCxnSpPr>
          <p:cNvPr id="14" name="Straight Arrow Connector 13"/>
          <p:cNvCxnSpPr>
            <a:stCxn id="57" idx="2"/>
            <a:endCxn id="60" idx="0"/>
          </p:cNvCxnSpPr>
          <p:nvPr/>
        </p:nvCxnSpPr>
        <p:spPr>
          <a:xfrm>
            <a:off x="1486060" y="4677242"/>
            <a:ext cx="15950" cy="939732"/>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772457" y="4892718"/>
            <a:ext cx="946871" cy="543995"/>
          </a:xfrm>
          <a:prstGeom prst="rect">
            <a:avLst/>
          </a:prstGeom>
          <a:noFill/>
          <a:ln>
            <a:noFill/>
          </a:ln>
        </p:spPr>
        <p:txBody>
          <a:bodyPr wrap="square" lIns="0" tIns="36576" rIns="0" bIns="0" rtlCol="0">
            <a:spAutoFit/>
          </a:bodyPr>
          <a:lstStyle/>
          <a:p>
            <a:pPr>
              <a:lnSpc>
                <a:spcPct val="85000"/>
              </a:lnSpc>
              <a:spcAft>
                <a:spcPts val="600"/>
              </a:spcAft>
              <a:buClr>
                <a:schemeClr val="accent2"/>
              </a:buClr>
              <a:buSzPct val="70000"/>
            </a:pPr>
            <a:r>
              <a:rPr lang="en-US" sz="900" b="1" dirty="0" smtClean="0">
                <a:solidFill>
                  <a:srgbClr val="000C2D"/>
                </a:solidFill>
              </a:rPr>
              <a:t>PD = 1.18</a:t>
            </a:r>
            <a:r>
              <a:rPr lang="en-US" sz="900" b="1" dirty="0" smtClean="0">
                <a:solidFill>
                  <a:srgbClr val="000C2D"/>
                </a:solidFill>
              </a:rPr>
              <a:t>%</a:t>
            </a:r>
          </a:p>
          <a:p>
            <a:pPr>
              <a:lnSpc>
                <a:spcPct val="85000"/>
              </a:lnSpc>
              <a:spcAft>
                <a:spcPts val="600"/>
              </a:spcAft>
              <a:buClr>
                <a:schemeClr val="accent2"/>
              </a:buClr>
              <a:buSzPct val="70000"/>
            </a:pPr>
            <a:r>
              <a:rPr lang="en-US" sz="900" b="1" dirty="0" smtClean="0">
                <a:solidFill>
                  <a:srgbClr val="000C2D"/>
                </a:solidFill>
              </a:rPr>
              <a:t>LGD = 45%</a:t>
            </a:r>
            <a:endParaRPr lang="en-US" sz="900" b="1" dirty="0" smtClean="0">
              <a:solidFill>
                <a:srgbClr val="000C2D"/>
              </a:solidFill>
            </a:endParaRPr>
          </a:p>
          <a:p>
            <a:pPr>
              <a:lnSpc>
                <a:spcPct val="85000"/>
              </a:lnSpc>
              <a:spcAft>
                <a:spcPts val="600"/>
              </a:spcAft>
              <a:buClr>
                <a:schemeClr val="accent2"/>
              </a:buClr>
              <a:buSzPct val="70000"/>
            </a:pPr>
            <a:r>
              <a:rPr lang="en-US" sz="900" b="1" dirty="0" smtClean="0">
                <a:solidFill>
                  <a:srgbClr val="000C2D"/>
                </a:solidFill>
              </a:rPr>
              <a:t>DF = 0.85</a:t>
            </a:r>
            <a:endParaRPr lang="en-GB" sz="900" b="1" dirty="0">
              <a:solidFill>
                <a:srgbClr val="000C2D"/>
              </a:solidFill>
            </a:endParaRPr>
          </a:p>
        </p:txBody>
      </p:sp>
      <p:sp>
        <p:nvSpPr>
          <p:cNvPr id="37" name="Rectangle 36"/>
          <p:cNvSpPr/>
          <p:nvPr/>
        </p:nvSpPr>
        <p:spPr>
          <a:xfrm>
            <a:off x="2724679" y="3727001"/>
            <a:ext cx="1926370" cy="274305"/>
          </a:xfrm>
          <a:prstGeom prst="rect">
            <a:avLst/>
          </a:prstGeom>
          <a:ln>
            <a:solidFill>
              <a:srgbClr val="DFDFD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b="1" dirty="0" smtClean="0">
                <a:solidFill>
                  <a:srgbClr val="000C2D"/>
                </a:solidFill>
                <a:latin typeface="Times New Roman" panose="02020603050405020304" pitchFamily="18" charset="0"/>
                <a:cs typeface="Times New Roman" panose="02020603050405020304" pitchFamily="18" charset="0"/>
              </a:rPr>
              <a:t>EL2 = PD2 * LGD2 * EAD2 * DF2</a:t>
            </a:r>
            <a:endParaRPr lang="en-US" sz="900" b="1" dirty="0">
              <a:solidFill>
                <a:srgbClr val="000C2D"/>
              </a:solidFill>
              <a:latin typeface="Times New Roman" panose="02020603050405020304" pitchFamily="18" charset="0"/>
              <a:cs typeface="Times New Roman" panose="02020603050405020304" pitchFamily="18" charset="0"/>
            </a:endParaRPr>
          </a:p>
        </p:txBody>
      </p:sp>
      <p:cxnSp>
        <p:nvCxnSpPr>
          <p:cNvPr id="39" name="Straight Connector 38"/>
          <p:cNvCxnSpPr/>
          <p:nvPr/>
        </p:nvCxnSpPr>
        <p:spPr>
          <a:xfrm>
            <a:off x="4778452" y="3714305"/>
            <a:ext cx="0" cy="2372959"/>
          </a:xfrm>
          <a:prstGeom prst="line">
            <a:avLst/>
          </a:prstGeom>
          <a:ln w="9525">
            <a:solidFill>
              <a:srgbClr val="000C2D"/>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graphicFrame>
        <p:nvGraphicFramePr>
          <p:cNvPr id="40" name="Table 39"/>
          <p:cNvGraphicFramePr>
            <a:graphicFrameLocks noGrp="1"/>
          </p:cNvGraphicFramePr>
          <p:nvPr>
            <p:extLst>
              <p:ext uri="{D42A27DB-BD31-4B8C-83A1-F6EECF244321}">
                <p14:modId xmlns:p14="http://schemas.microsoft.com/office/powerpoint/2010/main" val="2540549678"/>
              </p:ext>
            </p:extLst>
          </p:nvPr>
        </p:nvGraphicFramePr>
        <p:xfrm>
          <a:off x="2721561" y="4168296"/>
          <a:ext cx="1940122" cy="640080"/>
        </p:xfrm>
        <a:graphic>
          <a:graphicData uri="http://schemas.openxmlformats.org/drawingml/2006/table">
            <a:tbl>
              <a:tblPr firstRow="1" bandRow="1">
                <a:tableStyleId>{2D5ABB26-0587-4C30-8999-92F81FD0307C}</a:tableStyleId>
              </a:tblPr>
              <a:tblGrid>
                <a:gridCol w="970061"/>
                <a:gridCol w="970061"/>
              </a:tblGrid>
              <a:tr h="348642">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Repayment</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EAD</a:t>
                      </a:r>
                      <a:r>
                        <a:rPr lang="en-US" sz="1000" b="1" baseline="0" dirty="0" smtClean="0">
                          <a:solidFill>
                            <a:schemeClr val="bg1"/>
                          </a:solidFill>
                          <a:latin typeface="Times New Roman" panose="02020603050405020304" pitchFamily="18" charset="0"/>
                          <a:cs typeface="Times New Roman" panose="02020603050405020304" pitchFamily="18" charset="0"/>
                        </a:rPr>
                        <a:t> as on </a:t>
                      </a:r>
                      <a:r>
                        <a:rPr lang="en-US" sz="1000" b="1" baseline="0" dirty="0" smtClean="0">
                          <a:solidFill>
                            <a:schemeClr val="bg1"/>
                          </a:solidFill>
                          <a:latin typeface="Times New Roman" panose="02020603050405020304" pitchFamily="18" charset="0"/>
                          <a:cs typeface="Times New Roman" panose="02020603050405020304" pitchFamily="18" charset="0"/>
                        </a:rPr>
                        <a:t>Dec 2018</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r>
              <a:tr h="214549">
                <a:tc>
                  <a:txBody>
                    <a:bodyPr/>
                    <a:lstStyle/>
                    <a:p>
                      <a:pPr algn="ctr"/>
                      <a:r>
                        <a:rPr lang="en-US" sz="1000" b="1" dirty="0" smtClean="0">
                          <a:solidFill>
                            <a:srgbClr val="000C2D"/>
                          </a:solidFill>
                          <a:latin typeface="Times New Roman" panose="02020603050405020304" pitchFamily="18" charset="0"/>
                          <a:cs typeface="Times New Roman" panose="02020603050405020304" pitchFamily="18" charset="0"/>
                        </a:rPr>
                        <a:t>25,000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1" dirty="0" smtClean="0">
                          <a:solidFill>
                            <a:srgbClr val="000C2D"/>
                          </a:solidFill>
                          <a:latin typeface="Times New Roman" panose="02020603050405020304" pitchFamily="18" charset="0"/>
                          <a:cs typeface="Times New Roman" panose="02020603050405020304" pitchFamily="18" charset="0"/>
                        </a:rPr>
                        <a:t>75,000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42" name="Table 41"/>
          <p:cNvGraphicFramePr>
            <a:graphicFrameLocks noGrp="1"/>
          </p:cNvGraphicFramePr>
          <p:nvPr>
            <p:extLst>
              <p:ext uri="{D42A27DB-BD31-4B8C-83A1-F6EECF244321}">
                <p14:modId xmlns:p14="http://schemas.microsoft.com/office/powerpoint/2010/main" val="655081723"/>
              </p:ext>
            </p:extLst>
          </p:nvPr>
        </p:nvGraphicFramePr>
        <p:xfrm>
          <a:off x="2742827" y="5595708"/>
          <a:ext cx="1908222" cy="396240"/>
        </p:xfrm>
        <a:graphic>
          <a:graphicData uri="http://schemas.openxmlformats.org/drawingml/2006/table">
            <a:tbl>
              <a:tblPr firstRow="1" bandRow="1">
                <a:tableStyleId>{F5AB1C69-6EDB-4FF4-983F-18BD219EF322}</a:tableStyleId>
              </a:tblPr>
              <a:tblGrid>
                <a:gridCol w="1071682"/>
                <a:gridCol w="836540"/>
              </a:tblGrid>
              <a:tr h="365397">
                <a:tc>
                  <a:txBody>
                    <a:bodyPr/>
                    <a:lstStyle/>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ECL as </a:t>
                      </a:r>
                      <a:r>
                        <a:rPr lang="en-US" sz="1000" b="1" i="0" u="none" strike="noStrike" kern="1200" dirty="0" smtClean="0">
                          <a:solidFill>
                            <a:srgbClr val="FFFFFF"/>
                          </a:solidFill>
                          <a:effectLst/>
                          <a:latin typeface="Times New Roman" panose="02020603050405020304" pitchFamily="18" charset="0"/>
                          <a:ea typeface="+mn-ea"/>
                          <a:cs typeface="+mn-cs"/>
                        </a:rPr>
                        <a:t>on</a:t>
                      </a:r>
                    </a:p>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Dec </a:t>
                      </a:r>
                      <a:r>
                        <a:rPr lang="en-US" sz="1000" b="1" i="0" u="none" strike="noStrike" kern="1200" dirty="0" smtClean="0">
                          <a:solidFill>
                            <a:srgbClr val="FFFFFF"/>
                          </a:solidFill>
                          <a:effectLst/>
                          <a:latin typeface="Times New Roman" panose="02020603050405020304" pitchFamily="18" charset="0"/>
                          <a:ea typeface="+mn-ea"/>
                          <a:cs typeface="+mn-cs"/>
                        </a:rPr>
                        <a:t>2017</a:t>
                      </a:r>
                      <a:endParaRPr lang="en-GB" sz="1000" b="1" i="0" u="none" strike="noStrike" kern="1200" dirty="0">
                        <a:solidFill>
                          <a:srgbClr val="FFFFFF"/>
                        </a:solidFill>
                        <a:effectLst/>
                        <a:latin typeface="Times New Roman" panose="02020603050405020304" pitchFamily="18" charset="0"/>
                        <a:ea typeface="+mn-ea"/>
                        <a:cs typeface="+mn-cs"/>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a:r>
                        <a:rPr lang="en-US" sz="1000" b="0" dirty="0" smtClean="0">
                          <a:solidFill>
                            <a:srgbClr val="000C2D"/>
                          </a:solidFill>
                          <a:latin typeface="Times New Roman" panose="02020603050405020304" pitchFamily="18" charset="0"/>
                          <a:cs typeface="Times New Roman" panose="02020603050405020304" pitchFamily="18" charset="0"/>
                        </a:rPr>
                        <a:t>337</a:t>
                      </a:r>
                      <a:endParaRPr lang="en-GB" sz="1000" b="0"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tcPr>
                </a:tc>
              </a:tr>
            </a:tbl>
          </a:graphicData>
        </a:graphic>
      </p:graphicFrame>
      <p:cxnSp>
        <p:nvCxnSpPr>
          <p:cNvPr id="44" name="Straight Arrow Connector 43"/>
          <p:cNvCxnSpPr>
            <a:stCxn id="40" idx="2"/>
            <a:endCxn id="42" idx="0"/>
          </p:cNvCxnSpPr>
          <p:nvPr/>
        </p:nvCxnSpPr>
        <p:spPr>
          <a:xfrm>
            <a:off x="3691622" y="4808376"/>
            <a:ext cx="5316" cy="787332"/>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76" name="Rectangle 75"/>
          <p:cNvSpPr/>
          <p:nvPr/>
        </p:nvSpPr>
        <p:spPr>
          <a:xfrm>
            <a:off x="4905856" y="3727001"/>
            <a:ext cx="1926370" cy="274305"/>
          </a:xfrm>
          <a:prstGeom prst="rect">
            <a:avLst/>
          </a:prstGeom>
          <a:ln>
            <a:solidFill>
              <a:srgbClr val="DFDFD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b="1" dirty="0" smtClean="0">
                <a:solidFill>
                  <a:srgbClr val="000C2D"/>
                </a:solidFill>
                <a:latin typeface="Times New Roman" panose="02020603050405020304" pitchFamily="18" charset="0"/>
                <a:cs typeface="Times New Roman" panose="02020603050405020304" pitchFamily="18" charset="0"/>
              </a:rPr>
              <a:t>EL3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PD3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LGD3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EAD3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DF3</a:t>
            </a:r>
            <a:endParaRPr lang="en-US" sz="900" b="1" dirty="0">
              <a:solidFill>
                <a:srgbClr val="000C2D"/>
              </a:solidFill>
              <a:latin typeface="Times New Roman" panose="02020603050405020304" pitchFamily="18" charset="0"/>
              <a:cs typeface="Times New Roman" panose="02020603050405020304" pitchFamily="18" charset="0"/>
            </a:endParaRPr>
          </a:p>
        </p:txBody>
      </p:sp>
      <p:cxnSp>
        <p:nvCxnSpPr>
          <p:cNvPr id="77" name="Straight Connector 76"/>
          <p:cNvCxnSpPr/>
          <p:nvPr/>
        </p:nvCxnSpPr>
        <p:spPr>
          <a:xfrm>
            <a:off x="6959629" y="3714305"/>
            <a:ext cx="0" cy="2372959"/>
          </a:xfrm>
          <a:prstGeom prst="line">
            <a:avLst/>
          </a:prstGeom>
          <a:ln w="9525">
            <a:solidFill>
              <a:srgbClr val="000C2D"/>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7100784" y="3727001"/>
            <a:ext cx="1926370" cy="274305"/>
          </a:xfrm>
          <a:prstGeom prst="rect">
            <a:avLst/>
          </a:prstGeom>
          <a:ln>
            <a:solidFill>
              <a:srgbClr val="DFDFD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b="1" dirty="0" smtClean="0">
                <a:solidFill>
                  <a:srgbClr val="000C2D"/>
                </a:solidFill>
                <a:latin typeface="Times New Roman" panose="02020603050405020304" pitchFamily="18" charset="0"/>
                <a:cs typeface="Times New Roman" panose="02020603050405020304" pitchFamily="18" charset="0"/>
              </a:rPr>
              <a:t>EL4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PD4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LGD4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EAD4 </a:t>
            </a:r>
            <a:r>
              <a:rPr lang="en-US" sz="900" b="1" dirty="0">
                <a:solidFill>
                  <a:srgbClr val="000C2D"/>
                </a:solidFill>
                <a:latin typeface="Times New Roman" panose="02020603050405020304" pitchFamily="18" charset="0"/>
                <a:cs typeface="Times New Roman" panose="02020603050405020304" pitchFamily="18" charset="0"/>
              </a:rPr>
              <a:t>* </a:t>
            </a:r>
            <a:r>
              <a:rPr lang="en-US" sz="900" b="1" dirty="0" smtClean="0">
                <a:solidFill>
                  <a:srgbClr val="000C2D"/>
                </a:solidFill>
                <a:latin typeface="Times New Roman" panose="02020603050405020304" pitchFamily="18" charset="0"/>
                <a:cs typeface="Times New Roman" panose="02020603050405020304" pitchFamily="18" charset="0"/>
              </a:rPr>
              <a:t>DF4</a:t>
            </a:r>
            <a:endParaRPr lang="en-US" sz="900" b="1" dirty="0">
              <a:solidFill>
                <a:srgbClr val="000C2D"/>
              </a:solidFill>
              <a:latin typeface="Times New Roman" panose="02020603050405020304" pitchFamily="18" charset="0"/>
              <a:cs typeface="Times New Roman" panose="02020603050405020304" pitchFamily="18" charset="0"/>
            </a:endParaRPr>
          </a:p>
        </p:txBody>
      </p:sp>
      <p:sp>
        <p:nvSpPr>
          <p:cNvPr id="87" name="TextBox 86"/>
          <p:cNvSpPr txBox="1"/>
          <p:nvPr/>
        </p:nvSpPr>
        <p:spPr>
          <a:xfrm>
            <a:off x="5862301" y="4900784"/>
            <a:ext cx="946871" cy="543995"/>
          </a:xfrm>
          <a:prstGeom prst="rect">
            <a:avLst/>
          </a:prstGeom>
          <a:noFill/>
          <a:ln>
            <a:noFill/>
          </a:ln>
        </p:spPr>
        <p:txBody>
          <a:bodyPr wrap="square" lIns="0" tIns="36576" rIns="0" bIns="0" rtlCol="0">
            <a:spAutoFit/>
          </a:bodyPr>
          <a:lstStyle/>
          <a:p>
            <a:pPr>
              <a:lnSpc>
                <a:spcPct val="85000"/>
              </a:lnSpc>
              <a:spcAft>
                <a:spcPts val="600"/>
              </a:spcAft>
              <a:buClr>
                <a:schemeClr val="accent2"/>
              </a:buClr>
              <a:buSzPct val="70000"/>
            </a:pPr>
            <a:r>
              <a:rPr lang="en-US" sz="900" b="1" dirty="0" smtClean="0">
                <a:solidFill>
                  <a:srgbClr val="000C2D"/>
                </a:solidFill>
              </a:rPr>
              <a:t>PD = 1.27</a:t>
            </a:r>
            <a:r>
              <a:rPr lang="en-US" sz="900" b="1" dirty="0" smtClean="0">
                <a:solidFill>
                  <a:srgbClr val="000C2D"/>
                </a:solidFill>
              </a:rPr>
              <a:t>%</a:t>
            </a:r>
          </a:p>
          <a:p>
            <a:pPr>
              <a:lnSpc>
                <a:spcPct val="85000"/>
              </a:lnSpc>
              <a:spcAft>
                <a:spcPts val="600"/>
              </a:spcAft>
              <a:buClr>
                <a:schemeClr val="accent2"/>
              </a:buClr>
              <a:buSzPct val="70000"/>
            </a:pPr>
            <a:r>
              <a:rPr lang="en-US" sz="900" b="1" dirty="0" smtClean="0">
                <a:solidFill>
                  <a:srgbClr val="000C2D"/>
                </a:solidFill>
              </a:rPr>
              <a:t>LGD = 45%</a:t>
            </a:r>
            <a:endParaRPr lang="en-US" sz="900" b="1" dirty="0" smtClean="0">
              <a:solidFill>
                <a:srgbClr val="000C2D"/>
              </a:solidFill>
            </a:endParaRPr>
          </a:p>
          <a:p>
            <a:pPr>
              <a:lnSpc>
                <a:spcPct val="85000"/>
              </a:lnSpc>
              <a:spcAft>
                <a:spcPts val="600"/>
              </a:spcAft>
              <a:buClr>
                <a:schemeClr val="accent2"/>
              </a:buClr>
              <a:buSzPct val="70000"/>
            </a:pPr>
            <a:r>
              <a:rPr lang="en-US" sz="900" b="1" dirty="0" smtClean="0">
                <a:solidFill>
                  <a:srgbClr val="000C2D"/>
                </a:solidFill>
              </a:rPr>
              <a:t>DF = 0.81</a:t>
            </a:r>
            <a:endParaRPr lang="en-GB" sz="900" b="1" dirty="0">
              <a:solidFill>
                <a:srgbClr val="000C2D"/>
              </a:solidFill>
            </a:endParaRPr>
          </a:p>
        </p:txBody>
      </p:sp>
      <p:graphicFrame>
        <p:nvGraphicFramePr>
          <p:cNvPr id="88" name="Table 87"/>
          <p:cNvGraphicFramePr>
            <a:graphicFrameLocks noGrp="1"/>
          </p:cNvGraphicFramePr>
          <p:nvPr>
            <p:extLst>
              <p:ext uri="{D42A27DB-BD31-4B8C-83A1-F6EECF244321}">
                <p14:modId xmlns:p14="http://schemas.microsoft.com/office/powerpoint/2010/main" val="3818983853"/>
              </p:ext>
            </p:extLst>
          </p:nvPr>
        </p:nvGraphicFramePr>
        <p:xfrm>
          <a:off x="4841279" y="4172253"/>
          <a:ext cx="1940122" cy="640080"/>
        </p:xfrm>
        <a:graphic>
          <a:graphicData uri="http://schemas.openxmlformats.org/drawingml/2006/table">
            <a:tbl>
              <a:tblPr firstRow="1" bandRow="1">
                <a:tableStyleId>{2D5ABB26-0587-4C30-8999-92F81FD0307C}</a:tableStyleId>
              </a:tblPr>
              <a:tblGrid>
                <a:gridCol w="970061"/>
                <a:gridCol w="970061"/>
              </a:tblGrid>
              <a:tr h="348642">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Repayment</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EAD</a:t>
                      </a:r>
                      <a:r>
                        <a:rPr lang="en-US" sz="1000" b="1" baseline="0" dirty="0" smtClean="0">
                          <a:solidFill>
                            <a:schemeClr val="bg1"/>
                          </a:solidFill>
                          <a:latin typeface="Times New Roman" panose="02020603050405020304" pitchFamily="18" charset="0"/>
                          <a:cs typeface="Times New Roman" panose="02020603050405020304" pitchFamily="18" charset="0"/>
                        </a:rPr>
                        <a:t> as on </a:t>
                      </a:r>
                      <a:r>
                        <a:rPr lang="en-US" sz="1000" b="1" baseline="0" dirty="0" smtClean="0">
                          <a:solidFill>
                            <a:schemeClr val="bg1"/>
                          </a:solidFill>
                          <a:latin typeface="Times New Roman" panose="02020603050405020304" pitchFamily="18" charset="0"/>
                          <a:cs typeface="Times New Roman" panose="02020603050405020304" pitchFamily="18" charset="0"/>
                        </a:rPr>
                        <a:t>Dec </a:t>
                      </a:r>
                      <a:r>
                        <a:rPr lang="en-US" sz="1000" b="1" baseline="0" dirty="0" smtClean="0">
                          <a:solidFill>
                            <a:schemeClr val="bg1"/>
                          </a:solidFill>
                          <a:latin typeface="Times New Roman" panose="02020603050405020304" pitchFamily="18" charset="0"/>
                          <a:cs typeface="Times New Roman" panose="02020603050405020304" pitchFamily="18" charset="0"/>
                        </a:rPr>
                        <a:t>2019</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r>
              <a:tr h="214549">
                <a:tc>
                  <a:txBody>
                    <a:bodyPr/>
                    <a:lstStyle/>
                    <a:p>
                      <a:pPr algn="ctr"/>
                      <a:r>
                        <a:rPr lang="en-US" sz="1000" b="1" dirty="0" smtClean="0">
                          <a:solidFill>
                            <a:srgbClr val="000C2D"/>
                          </a:solidFill>
                          <a:latin typeface="Times New Roman" panose="02020603050405020304" pitchFamily="18" charset="0"/>
                          <a:cs typeface="Times New Roman" panose="02020603050405020304" pitchFamily="18" charset="0"/>
                        </a:rPr>
                        <a:t>25,000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1" dirty="0" smtClean="0">
                          <a:solidFill>
                            <a:srgbClr val="000C2D"/>
                          </a:solidFill>
                          <a:latin typeface="Times New Roman" panose="02020603050405020304" pitchFamily="18" charset="0"/>
                          <a:cs typeface="Times New Roman" panose="02020603050405020304" pitchFamily="18" charset="0"/>
                        </a:rPr>
                        <a:t>50,000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9" name="Table 88"/>
          <p:cNvGraphicFramePr>
            <a:graphicFrameLocks noGrp="1"/>
          </p:cNvGraphicFramePr>
          <p:nvPr>
            <p:extLst>
              <p:ext uri="{D42A27DB-BD31-4B8C-83A1-F6EECF244321}">
                <p14:modId xmlns:p14="http://schemas.microsoft.com/office/powerpoint/2010/main" val="3351947647"/>
              </p:ext>
            </p:extLst>
          </p:nvPr>
        </p:nvGraphicFramePr>
        <p:xfrm>
          <a:off x="4862545" y="5599665"/>
          <a:ext cx="1908222" cy="396240"/>
        </p:xfrm>
        <a:graphic>
          <a:graphicData uri="http://schemas.openxmlformats.org/drawingml/2006/table">
            <a:tbl>
              <a:tblPr firstRow="1" bandRow="1">
                <a:tableStyleId>{F5AB1C69-6EDB-4FF4-983F-18BD219EF322}</a:tableStyleId>
              </a:tblPr>
              <a:tblGrid>
                <a:gridCol w="1071682"/>
                <a:gridCol w="836540"/>
              </a:tblGrid>
              <a:tr h="365397">
                <a:tc>
                  <a:txBody>
                    <a:bodyPr/>
                    <a:lstStyle/>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ECL as </a:t>
                      </a:r>
                      <a:r>
                        <a:rPr lang="en-US" sz="1000" b="1" i="0" u="none" strike="noStrike" kern="1200" dirty="0" smtClean="0">
                          <a:solidFill>
                            <a:srgbClr val="FFFFFF"/>
                          </a:solidFill>
                          <a:effectLst/>
                          <a:latin typeface="Times New Roman" panose="02020603050405020304" pitchFamily="18" charset="0"/>
                          <a:ea typeface="+mn-ea"/>
                          <a:cs typeface="+mn-cs"/>
                        </a:rPr>
                        <a:t>on</a:t>
                      </a:r>
                    </a:p>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Dec </a:t>
                      </a:r>
                      <a:r>
                        <a:rPr lang="en-US" sz="1000" b="1" i="0" u="none" strike="noStrike" kern="1200" dirty="0" smtClean="0">
                          <a:solidFill>
                            <a:srgbClr val="FFFFFF"/>
                          </a:solidFill>
                          <a:effectLst/>
                          <a:latin typeface="Times New Roman" panose="02020603050405020304" pitchFamily="18" charset="0"/>
                          <a:ea typeface="+mn-ea"/>
                          <a:cs typeface="+mn-cs"/>
                        </a:rPr>
                        <a:t>2017</a:t>
                      </a:r>
                      <a:endParaRPr lang="en-GB" sz="1000" b="1" i="0" u="none" strike="noStrike" kern="1200" dirty="0">
                        <a:solidFill>
                          <a:srgbClr val="FFFFFF"/>
                        </a:solidFill>
                        <a:effectLst/>
                        <a:latin typeface="Times New Roman" panose="02020603050405020304" pitchFamily="18" charset="0"/>
                        <a:ea typeface="+mn-ea"/>
                        <a:cs typeface="+mn-cs"/>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a:r>
                        <a:rPr lang="en-US" sz="1000" b="0" dirty="0" smtClean="0">
                          <a:solidFill>
                            <a:srgbClr val="000C2D"/>
                          </a:solidFill>
                          <a:latin typeface="Times New Roman" panose="02020603050405020304" pitchFamily="18" charset="0"/>
                          <a:cs typeface="Times New Roman" panose="02020603050405020304" pitchFamily="18" charset="0"/>
                        </a:rPr>
                        <a:t>230</a:t>
                      </a:r>
                      <a:endParaRPr lang="en-GB" sz="1000" b="0"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tcPr>
                </a:tc>
              </a:tr>
            </a:tbl>
          </a:graphicData>
        </a:graphic>
      </p:graphicFrame>
      <p:cxnSp>
        <p:nvCxnSpPr>
          <p:cNvPr id="90" name="Straight Arrow Connector 89"/>
          <p:cNvCxnSpPr>
            <a:stCxn id="88" idx="2"/>
            <a:endCxn id="89" idx="0"/>
          </p:cNvCxnSpPr>
          <p:nvPr/>
        </p:nvCxnSpPr>
        <p:spPr>
          <a:xfrm>
            <a:off x="5811340" y="4812333"/>
            <a:ext cx="5316" cy="787332"/>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8087697" y="4875329"/>
            <a:ext cx="946871" cy="543995"/>
          </a:xfrm>
          <a:prstGeom prst="rect">
            <a:avLst/>
          </a:prstGeom>
          <a:noFill/>
          <a:ln>
            <a:noFill/>
          </a:ln>
        </p:spPr>
        <p:txBody>
          <a:bodyPr wrap="square" lIns="0" tIns="36576" rIns="0" bIns="0" rtlCol="0">
            <a:spAutoFit/>
          </a:bodyPr>
          <a:lstStyle/>
          <a:p>
            <a:pPr>
              <a:lnSpc>
                <a:spcPct val="85000"/>
              </a:lnSpc>
              <a:spcAft>
                <a:spcPts val="600"/>
              </a:spcAft>
              <a:buClr>
                <a:schemeClr val="accent2"/>
              </a:buClr>
              <a:buSzPct val="70000"/>
            </a:pPr>
            <a:r>
              <a:rPr lang="en-US" sz="900" b="1" dirty="0" smtClean="0">
                <a:solidFill>
                  <a:srgbClr val="000C2D"/>
                </a:solidFill>
              </a:rPr>
              <a:t>PD = 1.30</a:t>
            </a:r>
            <a:r>
              <a:rPr lang="en-US" sz="900" b="1" dirty="0" smtClean="0">
                <a:solidFill>
                  <a:srgbClr val="000C2D"/>
                </a:solidFill>
              </a:rPr>
              <a:t>%</a:t>
            </a:r>
          </a:p>
          <a:p>
            <a:pPr>
              <a:lnSpc>
                <a:spcPct val="85000"/>
              </a:lnSpc>
              <a:spcAft>
                <a:spcPts val="600"/>
              </a:spcAft>
              <a:buClr>
                <a:schemeClr val="accent2"/>
              </a:buClr>
              <a:buSzPct val="70000"/>
            </a:pPr>
            <a:r>
              <a:rPr lang="en-US" sz="900" b="1" dirty="0" smtClean="0">
                <a:solidFill>
                  <a:srgbClr val="000C2D"/>
                </a:solidFill>
              </a:rPr>
              <a:t>LGD = 45%</a:t>
            </a:r>
            <a:endParaRPr lang="en-US" sz="900" b="1" dirty="0" smtClean="0">
              <a:solidFill>
                <a:srgbClr val="000C2D"/>
              </a:solidFill>
            </a:endParaRPr>
          </a:p>
          <a:p>
            <a:pPr>
              <a:lnSpc>
                <a:spcPct val="85000"/>
              </a:lnSpc>
              <a:spcAft>
                <a:spcPts val="600"/>
              </a:spcAft>
              <a:buClr>
                <a:schemeClr val="accent2"/>
              </a:buClr>
              <a:buSzPct val="70000"/>
            </a:pPr>
            <a:r>
              <a:rPr lang="en-US" sz="900" b="1" dirty="0" smtClean="0">
                <a:solidFill>
                  <a:srgbClr val="000C2D"/>
                </a:solidFill>
              </a:rPr>
              <a:t>DF = 0.71</a:t>
            </a:r>
            <a:endParaRPr lang="en-GB" sz="900" b="1" dirty="0">
              <a:solidFill>
                <a:srgbClr val="000C2D"/>
              </a:solidFill>
            </a:endParaRPr>
          </a:p>
        </p:txBody>
      </p:sp>
      <p:graphicFrame>
        <p:nvGraphicFramePr>
          <p:cNvPr id="92" name="Table 91"/>
          <p:cNvGraphicFramePr>
            <a:graphicFrameLocks noGrp="1"/>
          </p:cNvGraphicFramePr>
          <p:nvPr>
            <p:extLst>
              <p:ext uri="{D42A27DB-BD31-4B8C-83A1-F6EECF244321}">
                <p14:modId xmlns:p14="http://schemas.microsoft.com/office/powerpoint/2010/main" val="3357689290"/>
              </p:ext>
            </p:extLst>
          </p:nvPr>
        </p:nvGraphicFramePr>
        <p:xfrm>
          <a:off x="7065362" y="4168631"/>
          <a:ext cx="1940122" cy="640080"/>
        </p:xfrm>
        <a:graphic>
          <a:graphicData uri="http://schemas.openxmlformats.org/drawingml/2006/table">
            <a:tbl>
              <a:tblPr firstRow="1" bandRow="1">
                <a:tableStyleId>{2D5ABB26-0587-4C30-8999-92F81FD0307C}</a:tableStyleId>
              </a:tblPr>
              <a:tblGrid>
                <a:gridCol w="970061"/>
                <a:gridCol w="970061"/>
              </a:tblGrid>
              <a:tr h="348642">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Repayment</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c>
                  <a:txBody>
                    <a:bodyPr/>
                    <a:lstStyle/>
                    <a:p>
                      <a:pPr algn="ctr"/>
                      <a:r>
                        <a:rPr lang="en-US" sz="1000" b="1" dirty="0" smtClean="0">
                          <a:solidFill>
                            <a:schemeClr val="bg1"/>
                          </a:solidFill>
                          <a:latin typeface="Times New Roman" panose="02020603050405020304" pitchFamily="18" charset="0"/>
                          <a:cs typeface="Times New Roman" panose="02020603050405020304" pitchFamily="18" charset="0"/>
                        </a:rPr>
                        <a:t>EAD</a:t>
                      </a:r>
                      <a:r>
                        <a:rPr lang="en-US" sz="1000" b="1" baseline="0" dirty="0" smtClean="0">
                          <a:solidFill>
                            <a:schemeClr val="bg1"/>
                          </a:solidFill>
                          <a:latin typeface="Times New Roman" panose="02020603050405020304" pitchFamily="18" charset="0"/>
                          <a:cs typeface="Times New Roman" panose="02020603050405020304" pitchFamily="18" charset="0"/>
                        </a:rPr>
                        <a:t> as on </a:t>
                      </a:r>
                      <a:r>
                        <a:rPr lang="en-US" sz="1000" b="1" baseline="0" dirty="0" smtClean="0">
                          <a:solidFill>
                            <a:schemeClr val="bg1"/>
                          </a:solidFill>
                          <a:latin typeface="Times New Roman" panose="02020603050405020304" pitchFamily="18" charset="0"/>
                          <a:cs typeface="Times New Roman" panose="02020603050405020304" pitchFamily="18" charset="0"/>
                        </a:rPr>
                        <a:t>Dec </a:t>
                      </a:r>
                      <a:r>
                        <a:rPr lang="en-US" sz="1000" b="1" baseline="0" dirty="0" smtClean="0">
                          <a:solidFill>
                            <a:schemeClr val="bg1"/>
                          </a:solidFill>
                          <a:latin typeface="Times New Roman" panose="02020603050405020304" pitchFamily="18" charset="0"/>
                          <a:cs typeface="Times New Roman" panose="02020603050405020304" pitchFamily="18" charset="0"/>
                        </a:rPr>
                        <a:t>2020</a:t>
                      </a:r>
                      <a:endParaRPr lang="en-GB"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C2D"/>
                    </a:solidFill>
                  </a:tcPr>
                </a:tc>
              </a:tr>
              <a:tr h="214549">
                <a:tc>
                  <a:txBody>
                    <a:bodyPr/>
                    <a:lstStyle/>
                    <a:p>
                      <a:pPr algn="ctr"/>
                      <a:r>
                        <a:rPr lang="en-US" sz="1000" b="1" dirty="0" smtClean="0">
                          <a:solidFill>
                            <a:srgbClr val="000C2D"/>
                          </a:solidFill>
                          <a:latin typeface="Times New Roman" panose="02020603050405020304" pitchFamily="18" charset="0"/>
                          <a:cs typeface="Times New Roman" panose="02020603050405020304" pitchFamily="18" charset="0"/>
                        </a:rPr>
                        <a:t>25,000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1" dirty="0" smtClean="0">
                          <a:solidFill>
                            <a:srgbClr val="000C2D"/>
                          </a:solidFill>
                          <a:latin typeface="Times New Roman" panose="02020603050405020304" pitchFamily="18" charset="0"/>
                          <a:cs typeface="Times New Roman" panose="02020603050405020304" pitchFamily="18" charset="0"/>
                        </a:rPr>
                        <a:t>25,000</a:t>
                      </a:r>
                      <a:endParaRPr lang="en-GB" sz="1000" b="1"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93" name="Table 92"/>
          <p:cNvGraphicFramePr>
            <a:graphicFrameLocks noGrp="1"/>
          </p:cNvGraphicFramePr>
          <p:nvPr>
            <p:extLst>
              <p:ext uri="{D42A27DB-BD31-4B8C-83A1-F6EECF244321}">
                <p14:modId xmlns:p14="http://schemas.microsoft.com/office/powerpoint/2010/main" val="302983135"/>
              </p:ext>
            </p:extLst>
          </p:nvPr>
        </p:nvGraphicFramePr>
        <p:xfrm>
          <a:off x="7086628" y="5596043"/>
          <a:ext cx="1908222" cy="396240"/>
        </p:xfrm>
        <a:graphic>
          <a:graphicData uri="http://schemas.openxmlformats.org/drawingml/2006/table">
            <a:tbl>
              <a:tblPr firstRow="1" bandRow="1">
                <a:tableStyleId>{F5AB1C69-6EDB-4FF4-983F-18BD219EF322}</a:tableStyleId>
              </a:tblPr>
              <a:tblGrid>
                <a:gridCol w="1071682"/>
                <a:gridCol w="836540"/>
              </a:tblGrid>
              <a:tr h="365397">
                <a:tc>
                  <a:txBody>
                    <a:bodyPr/>
                    <a:lstStyle/>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ECL as </a:t>
                      </a:r>
                      <a:r>
                        <a:rPr lang="en-US" sz="1000" b="1" i="0" u="none" strike="noStrike" kern="1200" dirty="0" smtClean="0">
                          <a:solidFill>
                            <a:srgbClr val="FFFFFF"/>
                          </a:solidFill>
                          <a:effectLst/>
                          <a:latin typeface="Times New Roman" panose="02020603050405020304" pitchFamily="18" charset="0"/>
                          <a:ea typeface="+mn-ea"/>
                          <a:cs typeface="+mn-cs"/>
                        </a:rPr>
                        <a:t>on</a:t>
                      </a:r>
                    </a:p>
                    <a:p>
                      <a:pPr marL="0" algn="ctr" defTabSz="914400" rtl="0" eaLnBrk="1" fontAlgn="ctr" latinLnBrk="0" hangingPunct="1"/>
                      <a:r>
                        <a:rPr lang="en-US" sz="1000" b="1" i="0" u="none" strike="noStrike" kern="1200" dirty="0" smtClean="0">
                          <a:solidFill>
                            <a:srgbClr val="FFFFFF"/>
                          </a:solidFill>
                          <a:effectLst/>
                          <a:latin typeface="Times New Roman" panose="02020603050405020304" pitchFamily="18" charset="0"/>
                          <a:ea typeface="+mn-ea"/>
                          <a:cs typeface="+mn-cs"/>
                        </a:rPr>
                        <a:t>Dec </a:t>
                      </a:r>
                      <a:r>
                        <a:rPr lang="en-US" sz="1000" b="1" i="0" u="none" strike="noStrike" kern="1200" dirty="0" smtClean="0">
                          <a:solidFill>
                            <a:srgbClr val="FFFFFF"/>
                          </a:solidFill>
                          <a:effectLst/>
                          <a:latin typeface="Times New Roman" panose="02020603050405020304" pitchFamily="18" charset="0"/>
                          <a:ea typeface="+mn-ea"/>
                          <a:cs typeface="+mn-cs"/>
                        </a:rPr>
                        <a:t>2017</a:t>
                      </a:r>
                      <a:endParaRPr lang="en-GB" sz="1000" b="1" i="0" u="none" strike="noStrike" kern="1200" dirty="0">
                        <a:solidFill>
                          <a:srgbClr val="FFFFFF"/>
                        </a:solidFill>
                        <a:effectLst/>
                        <a:latin typeface="Times New Roman" panose="02020603050405020304" pitchFamily="18" charset="0"/>
                        <a:ea typeface="+mn-ea"/>
                        <a:cs typeface="+mn-cs"/>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solidFill>
                      <a:srgbClr val="000C2D"/>
                    </a:solidFill>
                  </a:tcPr>
                </a:tc>
                <a:tc>
                  <a:txBody>
                    <a:bodyPr/>
                    <a:lstStyle/>
                    <a:p>
                      <a:pPr algn="ctr"/>
                      <a:r>
                        <a:rPr lang="en-US" sz="1000" b="0" dirty="0" smtClean="0">
                          <a:solidFill>
                            <a:srgbClr val="000C2D"/>
                          </a:solidFill>
                          <a:latin typeface="Times New Roman" panose="02020603050405020304" pitchFamily="18" charset="0"/>
                          <a:cs typeface="Times New Roman" panose="02020603050405020304" pitchFamily="18" charset="0"/>
                        </a:rPr>
                        <a:t>108</a:t>
                      </a:r>
                      <a:endParaRPr lang="en-GB" sz="1000" b="0" dirty="0">
                        <a:solidFill>
                          <a:srgbClr val="000C2D"/>
                        </a:solidFill>
                        <a:latin typeface="Times New Roman" panose="02020603050405020304" pitchFamily="18" charset="0"/>
                        <a:cs typeface="Times New Roman" panose="02020603050405020304" pitchFamily="18" charset="0"/>
                      </a:endParaRPr>
                    </a:p>
                  </a:txBody>
                  <a:tcPr anchor="ctr">
                    <a:lnL w="12700" cap="flat" cmpd="sng" algn="ctr">
                      <a:solidFill>
                        <a:srgbClr val="DFDAC8"/>
                      </a:solidFill>
                      <a:prstDash val="solid"/>
                      <a:round/>
                      <a:headEnd type="none" w="med" len="med"/>
                      <a:tailEnd type="none" w="med" len="med"/>
                    </a:lnL>
                    <a:lnR w="12700" cap="flat" cmpd="sng" algn="ctr">
                      <a:solidFill>
                        <a:srgbClr val="DFDAC8"/>
                      </a:solidFill>
                      <a:prstDash val="solid"/>
                      <a:round/>
                      <a:headEnd type="none" w="med" len="med"/>
                      <a:tailEnd type="none" w="med" len="med"/>
                    </a:lnR>
                    <a:lnT w="12700" cap="flat" cmpd="sng" algn="ctr">
                      <a:solidFill>
                        <a:srgbClr val="DFDAC8"/>
                      </a:solidFill>
                      <a:prstDash val="solid"/>
                      <a:round/>
                      <a:headEnd type="none" w="med" len="med"/>
                      <a:tailEnd type="none" w="med" len="med"/>
                    </a:lnT>
                    <a:lnB w="12700" cap="flat" cmpd="sng" algn="ctr">
                      <a:solidFill>
                        <a:srgbClr val="DFDAC8"/>
                      </a:solidFill>
                      <a:prstDash val="solid"/>
                      <a:round/>
                      <a:headEnd type="none" w="med" len="med"/>
                      <a:tailEnd type="none" w="med" len="med"/>
                    </a:lnB>
                  </a:tcPr>
                </a:tc>
              </a:tr>
            </a:tbl>
          </a:graphicData>
        </a:graphic>
      </p:graphicFrame>
      <p:cxnSp>
        <p:nvCxnSpPr>
          <p:cNvPr id="94" name="Straight Arrow Connector 93"/>
          <p:cNvCxnSpPr>
            <a:stCxn id="92" idx="2"/>
            <a:endCxn id="93" idx="0"/>
          </p:cNvCxnSpPr>
          <p:nvPr/>
        </p:nvCxnSpPr>
        <p:spPr>
          <a:xfrm>
            <a:off x="8035423" y="4808711"/>
            <a:ext cx="5316" cy="787332"/>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4886213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Contents</a:t>
            </a:r>
            <a:endParaRPr lang="en-IN" sz="2400" dirty="0"/>
          </a:p>
        </p:txBody>
      </p:sp>
      <p:sp>
        <p:nvSpPr>
          <p:cNvPr id="3" name="Content Placeholder 2"/>
          <p:cNvSpPr>
            <a:spLocks noGrp="1"/>
          </p:cNvSpPr>
          <p:nvPr>
            <p:ph idx="1"/>
          </p:nvPr>
        </p:nvSpPr>
        <p:spPr/>
        <p:txBody>
          <a:bodyPr/>
          <a:lstStyle/>
          <a:p>
            <a:r>
              <a:rPr lang="en-US" sz="2000" dirty="0" smtClean="0">
                <a:solidFill>
                  <a:schemeClr val="bg1">
                    <a:lumMod val="75000"/>
                  </a:schemeClr>
                </a:solidFill>
              </a:rPr>
              <a:t>Introduction</a:t>
            </a:r>
          </a:p>
          <a:p>
            <a:r>
              <a:rPr lang="en-US" sz="2000" dirty="0" smtClean="0">
                <a:solidFill>
                  <a:schemeClr val="bg1">
                    <a:lumMod val="75000"/>
                  </a:schemeClr>
                </a:solidFill>
              </a:rPr>
              <a:t>Overall Methodology Framework</a:t>
            </a:r>
          </a:p>
          <a:p>
            <a:r>
              <a:rPr lang="en-US" sz="2000" dirty="0" smtClean="0"/>
              <a:t>Methodology Dimensions</a:t>
            </a:r>
          </a:p>
          <a:p>
            <a:pPr marL="808038" lvl="4" indent="-446088"/>
            <a:r>
              <a:rPr lang="en-US" sz="2000" dirty="0" smtClean="0">
                <a:solidFill>
                  <a:schemeClr val="bg1">
                    <a:lumMod val="75000"/>
                  </a:schemeClr>
                </a:solidFill>
              </a:rPr>
              <a:t>Probability of Default (PD)</a:t>
            </a:r>
          </a:p>
          <a:p>
            <a:pPr marL="808038" lvl="4" indent="-446088"/>
            <a:r>
              <a:rPr lang="en-US" sz="2000" dirty="0" smtClean="0">
                <a:solidFill>
                  <a:schemeClr val="bg1">
                    <a:lumMod val="75000"/>
                  </a:schemeClr>
                </a:solidFill>
              </a:rPr>
              <a:t>Loss Given Default (LGD)</a:t>
            </a:r>
          </a:p>
          <a:p>
            <a:pPr marL="808038" lvl="4" indent="-446088"/>
            <a:r>
              <a:rPr lang="en-US" sz="2000" dirty="0" smtClean="0">
                <a:solidFill>
                  <a:schemeClr val="bg1">
                    <a:lumMod val="75000"/>
                  </a:schemeClr>
                </a:solidFill>
              </a:rPr>
              <a:t>Exposure at Default (EAD)</a:t>
            </a:r>
          </a:p>
          <a:p>
            <a:pPr marL="808038" lvl="4" indent="-446088"/>
            <a:r>
              <a:rPr lang="en-US" sz="2000" dirty="0">
                <a:solidFill>
                  <a:schemeClr val="bg1">
                    <a:lumMod val="75000"/>
                  </a:schemeClr>
                </a:solidFill>
              </a:rPr>
              <a:t>Expected Credit Loss (ECL) Computation</a:t>
            </a:r>
          </a:p>
          <a:p>
            <a:pPr marL="808038" lvl="4" indent="-446088"/>
            <a:r>
              <a:rPr lang="en-US" sz="2000" dirty="0" smtClean="0"/>
              <a:t>Multiple Scenarios &amp; Forward Looking Information</a:t>
            </a:r>
          </a:p>
          <a:p>
            <a:pPr marL="361950" lvl="4" indent="0">
              <a:buNone/>
            </a:pPr>
            <a:endParaRPr lang="en-US" sz="2000" dirty="0" smtClean="0">
              <a:solidFill>
                <a:schemeClr val="bg1">
                  <a:lumMod val="75000"/>
                </a:schemeClr>
              </a:solidFill>
            </a:endParaRP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56</a:t>
            </a:fld>
            <a:endParaRPr lang="en-US" altLang="en-US"/>
          </a:p>
        </p:txBody>
      </p:sp>
      <p:sp>
        <p:nvSpPr>
          <p:cNvPr id="5" name="TextBox 4"/>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8384321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Multiple Scenarios &amp; Forward Looking Information</a:t>
            </a:r>
            <a:r>
              <a:rPr lang="en-US" sz="2800" dirty="0" smtClean="0"/>
              <a:t/>
            </a:r>
            <a:br>
              <a:rPr lang="en-US" sz="2800" dirty="0" smtClean="0"/>
            </a:br>
            <a:r>
              <a:rPr lang="en-US" sz="2000" i="1" dirty="0" smtClean="0"/>
              <a:t>Introduction to Weighted Average ECL</a:t>
            </a:r>
            <a:endParaRPr lang="en-IN" sz="2400" i="1" dirty="0"/>
          </a:p>
        </p:txBody>
      </p:sp>
      <p:sp>
        <p:nvSpPr>
          <p:cNvPr id="14" name="Rectangle 13"/>
          <p:cNvSpPr/>
          <p:nvPr/>
        </p:nvSpPr>
        <p:spPr>
          <a:xfrm>
            <a:off x="386982" y="1073003"/>
            <a:ext cx="9231682" cy="261301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IFRS </a:t>
            </a:r>
            <a:r>
              <a:rPr lang="en-IN" sz="1300" dirty="0">
                <a:solidFill>
                  <a:schemeClr val="tx1"/>
                </a:solidFill>
                <a:latin typeface="Times New Roman" pitchFamily="18" charset="0"/>
                <a:cs typeface="Times New Roman" pitchFamily="18" charset="0"/>
              </a:rPr>
              <a:t>9 framework </a:t>
            </a:r>
            <a:r>
              <a:rPr lang="en-IN" sz="1300" dirty="0" smtClean="0">
                <a:solidFill>
                  <a:schemeClr val="tx1"/>
                </a:solidFill>
                <a:latin typeface="Times New Roman" pitchFamily="18" charset="0"/>
                <a:cs typeface="Times New Roman" pitchFamily="18" charset="0"/>
              </a:rPr>
              <a:t>requires banks to compute ECL as a weighted average of different forward looking scenarios. Where scenarios can be defined as:</a:t>
            </a:r>
          </a:p>
          <a:p>
            <a:pPr marL="642938" lvl="1"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Optimistic Scenario : Positive Outlook of Economy</a:t>
            </a:r>
          </a:p>
          <a:p>
            <a:pPr marL="642938" lvl="1"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Base Scenario: Current Outlook of the Economy</a:t>
            </a:r>
          </a:p>
          <a:p>
            <a:pPr marL="642938" lvl="1"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Pessimistic Scenario: Adverse Outlook of the Economy</a:t>
            </a:r>
          </a:p>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Scenarios are incorporated through forward looking macro-economic factors which are essentially CCI factors used as an input to various ECL components defined above.</a:t>
            </a:r>
          </a:p>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Macro-economic forecast should account for reliable sources that can be both internal and external.</a:t>
            </a:r>
          </a:p>
          <a:p>
            <a:pPr marL="185738" indent="-185738"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QCB suggest 2 scenarios to be taken into account along with base scenario for ECL computation. Further, probability weightage of ECL can be incorporated using 2 possible approaches described in brief </a:t>
            </a:r>
            <a:r>
              <a:rPr lang="en-IN" sz="1300" dirty="0" smtClean="0">
                <a:solidFill>
                  <a:schemeClr val="tx1"/>
                </a:solidFill>
                <a:latin typeface="Times New Roman" pitchFamily="18" charset="0"/>
                <a:cs typeface="Times New Roman" pitchFamily="18" charset="0"/>
              </a:rPr>
              <a:t>below:</a:t>
            </a:r>
            <a:endParaRPr lang="en-IN" sz="1300" dirty="0">
              <a:solidFill>
                <a:schemeClr val="tx1"/>
              </a:solidFill>
              <a:latin typeface="Times New Roman" pitchFamily="18" charset="0"/>
              <a:cs typeface="Times New Roman" pitchFamily="18" charset="0"/>
            </a:endParaRPr>
          </a:p>
        </p:txBody>
      </p:sp>
      <p:sp>
        <p:nvSpPr>
          <p:cNvPr id="25" name="Rounded Rectangle 24"/>
          <p:cNvSpPr/>
          <p:nvPr/>
        </p:nvSpPr>
        <p:spPr>
          <a:xfrm>
            <a:off x="1180471" y="3727619"/>
            <a:ext cx="3083441" cy="2725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smtClean="0">
                <a:solidFill>
                  <a:schemeClr val="bg1"/>
                </a:solidFill>
                <a:latin typeface="Times New Roman" panose="02020603050405020304" pitchFamily="18" charset="0"/>
                <a:cs typeface="Times New Roman" panose="02020603050405020304" pitchFamily="18" charset="0"/>
              </a:rPr>
              <a:t>Case 1 : Average of Computed ECL</a:t>
            </a:r>
            <a:endParaRPr lang="en-GB" b="1" dirty="0">
              <a:solidFill>
                <a:schemeClr val="bg1"/>
              </a:solidFill>
              <a:latin typeface="Times New Roman" panose="02020603050405020304" pitchFamily="18" charset="0"/>
              <a:cs typeface="Times New Roman" panose="02020603050405020304" pitchFamily="18" charset="0"/>
            </a:endParaRPr>
          </a:p>
        </p:txBody>
      </p:sp>
      <p:sp>
        <p:nvSpPr>
          <p:cNvPr id="26" name="Rounded Rectangle 25"/>
          <p:cNvSpPr/>
          <p:nvPr/>
        </p:nvSpPr>
        <p:spPr>
          <a:xfrm>
            <a:off x="1212367" y="4075789"/>
            <a:ext cx="3051546" cy="437930"/>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u="sng" dirty="0" smtClean="0">
                <a:latin typeface="Times New Roman" panose="02020603050405020304" pitchFamily="18" charset="0"/>
                <a:cs typeface="Times New Roman" panose="02020603050405020304" pitchFamily="18" charset="0"/>
              </a:rPr>
              <a:t>Step 1:-</a:t>
            </a:r>
            <a:r>
              <a:rPr lang="en-I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PD’s are derived using different CCI’s for each scenario</a:t>
            </a:r>
            <a:endParaRPr lang="en-GB" dirty="0">
              <a:latin typeface="Times New Roman" panose="02020603050405020304" pitchFamily="18" charset="0"/>
              <a:cs typeface="Times New Roman" panose="02020603050405020304" pitchFamily="18" charset="0"/>
            </a:endParaRPr>
          </a:p>
        </p:txBody>
      </p:sp>
      <p:sp>
        <p:nvSpPr>
          <p:cNvPr id="27" name="Rounded Rectangle 26"/>
          <p:cNvSpPr/>
          <p:nvPr/>
        </p:nvSpPr>
        <p:spPr>
          <a:xfrm>
            <a:off x="1212367" y="4670571"/>
            <a:ext cx="3051546" cy="215229"/>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2:</a:t>
            </a:r>
            <a:r>
              <a:rPr lang="en-IN" b="1" u="sng"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ECL is computed for each scenario.</a:t>
            </a:r>
            <a:endParaRPr lang="en-IN" dirty="0">
              <a:latin typeface="Times New Roman" panose="02020603050405020304" pitchFamily="18" charset="0"/>
              <a:cs typeface="Times New Roman" panose="02020603050405020304" pitchFamily="18" charset="0"/>
            </a:endParaRPr>
          </a:p>
        </p:txBody>
      </p:sp>
      <p:sp>
        <p:nvSpPr>
          <p:cNvPr id="28" name="Rounded Rectangle 27"/>
          <p:cNvSpPr/>
          <p:nvPr/>
        </p:nvSpPr>
        <p:spPr>
          <a:xfrm>
            <a:off x="1212363" y="5074551"/>
            <a:ext cx="3062178" cy="398448"/>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3:-</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Probability weights are assigned for each scenario.</a:t>
            </a:r>
            <a:endParaRPr lang="en-IN" dirty="0">
              <a:latin typeface="Times New Roman" panose="02020603050405020304" pitchFamily="18" charset="0"/>
              <a:cs typeface="Times New Roman" panose="02020603050405020304" pitchFamily="18" charset="0"/>
            </a:endParaRPr>
          </a:p>
        </p:txBody>
      </p:sp>
      <p:sp>
        <p:nvSpPr>
          <p:cNvPr id="29" name="Rounded Rectangle 28"/>
          <p:cNvSpPr/>
          <p:nvPr/>
        </p:nvSpPr>
        <p:spPr>
          <a:xfrm>
            <a:off x="1212364" y="5589828"/>
            <a:ext cx="3062177" cy="421816"/>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4</a:t>
            </a:r>
            <a:r>
              <a:rPr lang="en-IN" u="sng"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ECL is derived as a probability weighted average of multiple scenarios.</a:t>
            </a:r>
            <a:endParaRPr lang="en-IN" dirty="0">
              <a:latin typeface="Times New Roman" panose="02020603050405020304" pitchFamily="18" charset="0"/>
              <a:cs typeface="Times New Roman" panose="02020603050405020304" pitchFamily="18" charset="0"/>
            </a:endParaRPr>
          </a:p>
        </p:txBody>
      </p:sp>
      <p:cxnSp>
        <p:nvCxnSpPr>
          <p:cNvPr id="31" name="Straight Arrow Connector 30"/>
          <p:cNvCxnSpPr>
            <a:endCxn id="27" idx="0"/>
          </p:cNvCxnSpPr>
          <p:nvPr/>
        </p:nvCxnSpPr>
        <p:spPr>
          <a:xfrm>
            <a:off x="2738140" y="4545618"/>
            <a:ext cx="0" cy="124953"/>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7" idx="2"/>
            <a:endCxn id="28" idx="0"/>
          </p:cNvCxnSpPr>
          <p:nvPr/>
        </p:nvCxnSpPr>
        <p:spPr>
          <a:xfrm>
            <a:off x="2738140" y="4885800"/>
            <a:ext cx="5312" cy="188751"/>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8" idx="2"/>
            <a:endCxn id="29" idx="0"/>
          </p:cNvCxnSpPr>
          <p:nvPr/>
        </p:nvCxnSpPr>
        <p:spPr>
          <a:xfrm>
            <a:off x="2743452" y="5472999"/>
            <a:ext cx="1" cy="116829"/>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51" name="Rounded Rectangle 50"/>
          <p:cNvSpPr/>
          <p:nvPr/>
        </p:nvSpPr>
        <p:spPr>
          <a:xfrm>
            <a:off x="5224395" y="3712578"/>
            <a:ext cx="3083441" cy="2725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Case 2 : Average of CCI Factors</a:t>
            </a:r>
            <a:endParaRPr lang="en-GB" b="1" dirty="0">
              <a:latin typeface="Times New Roman" panose="02020603050405020304" pitchFamily="18" charset="0"/>
              <a:cs typeface="Times New Roman" panose="02020603050405020304" pitchFamily="18" charset="0"/>
            </a:endParaRPr>
          </a:p>
        </p:txBody>
      </p:sp>
      <p:sp>
        <p:nvSpPr>
          <p:cNvPr id="52" name="Rounded Rectangle 51"/>
          <p:cNvSpPr/>
          <p:nvPr/>
        </p:nvSpPr>
        <p:spPr>
          <a:xfrm>
            <a:off x="5256291" y="4060747"/>
            <a:ext cx="3051546" cy="531119"/>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u="sng" dirty="0" smtClean="0">
                <a:latin typeface="Times New Roman" panose="02020603050405020304" pitchFamily="18" charset="0"/>
                <a:cs typeface="Times New Roman" panose="02020603050405020304" pitchFamily="18" charset="0"/>
              </a:rPr>
              <a:t>Step 1:-</a:t>
            </a:r>
            <a:r>
              <a:rPr lang="en-I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CCI Factors are derived for different scenarios and probability weights are assigned to each scenario.</a:t>
            </a:r>
            <a:endParaRPr lang="en-GB" dirty="0">
              <a:latin typeface="Times New Roman" panose="02020603050405020304" pitchFamily="18" charset="0"/>
              <a:cs typeface="Times New Roman" panose="02020603050405020304" pitchFamily="18" charset="0"/>
            </a:endParaRPr>
          </a:p>
        </p:txBody>
      </p:sp>
      <p:sp>
        <p:nvSpPr>
          <p:cNvPr id="53" name="Rounded Rectangle 52"/>
          <p:cNvSpPr/>
          <p:nvPr/>
        </p:nvSpPr>
        <p:spPr>
          <a:xfrm>
            <a:off x="5256291" y="4708695"/>
            <a:ext cx="3051546" cy="359346"/>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2:</a:t>
            </a:r>
            <a:r>
              <a:rPr lang="en-IN" b="1" u="sng"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 single weighted average CCI is derived</a:t>
            </a:r>
            <a:endParaRPr lang="en-IN" dirty="0">
              <a:latin typeface="Times New Roman" panose="02020603050405020304" pitchFamily="18" charset="0"/>
              <a:cs typeface="Times New Roman" panose="02020603050405020304" pitchFamily="18" charset="0"/>
            </a:endParaRPr>
          </a:p>
        </p:txBody>
      </p:sp>
      <p:sp>
        <p:nvSpPr>
          <p:cNvPr id="54" name="Rounded Rectangle 53"/>
          <p:cNvSpPr/>
          <p:nvPr/>
        </p:nvSpPr>
        <p:spPr>
          <a:xfrm>
            <a:off x="5256287" y="5146625"/>
            <a:ext cx="3062178" cy="343232"/>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3</a:t>
            </a:r>
            <a:r>
              <a:rPr lang="en-IN" u="sng"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PD is derived using weighted average CCI factor</a:t>
            </a:r>
            <a:endParaRPr lang="en-IN" dirty="0">
              <a:latin typeface="Times New Roman" panose="02020603050405020304" pitchFamily="18" charset="0"/>
              <a:cs typeface="Times New Roman" panose="02020603050405020304" pitchFamily="18" charset="0"/>
            </a:endParaRPr>
          </a:p>
        </p:txBody>
      </p:sp>
      <p:sp>
        <p:nvSpPr>
          <p:cNvPr id="55" name="Rounded Rectangle 54"/>
          <p:cNvSpPr/>
          <p:nvPr/>
        </p:nvSpPr>
        <p:spPr>
          <a:xfrm>
            <a:off x="5256288" y="5606686"/>
            <a:ext cx="3062177" cy="421816"/>
          </a:xfrm>
          <a:prstGeom prst="roundRect">
            <a:avLst/>
          </a:prstGeom>
          <a:ln>
            <a:solidFill>
              <a:srgbClr val="DFDFDF"/>
            </a:solidFill>
          </a:ln>
        </p:spPr>
        <p:style>
          <a:lnRef idx="2">
            <a:schemeClr val="accent6"/>
          </a:lnRef>
          <a:fillRef idx="1">
            <a:schemeClr val="lt1"/>
          </a:fillRef>
          <a:effectRef idx="0">
            <a:schemeClr val="accent6"/>
          </a:effectRef>
          <a:fontRef idx="minor">
            <a:schemeClr val="dk1"/>
          </a:fontRef>
        </p:style>
        <p:txBody>
          <a:bodyPr rtlCol="0" anchor="ctr"/>
          <a:lstStyle/>
          <a:p>
            <a:pPr lvl="0" algn="just">
              <a:defRPr/>
            </a:pPr>
            <a:r>
              <a:rPr lang="en-IN" u="sng" dirty="0">
                <a:latin typeface="Times New Roman" panose="02020603050405020304" pitchFamily="18" charset="0"/>
                <a:cs typeface="Times New Roman" panose="02020603050405020304" pitchFamily="18" charset="0"/>
              </a:rPr>
              <a:t>Step 4</a:t>
            </a:r>
            <a:r>
              <a:rPr lang="en-IN" u="sng"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ECL is computed using derived weighed average PD factor.</a:t>
            </a:r>
            <a:endParaRPr lang="en-IN" dirty="0">
              <a:latin typeface="Times New Roman" panose="02020603050405020304" pitchFamily="18" charset="0"/>
              <a:cs typeface="Times New Roman" panose="02020603050405020304" pitchFamily="18" charset="0"/>
            </a:endParaRPr>
          </a:p>
        </p:txBody>
      </p:sp>
      <p:cxnSp>
        <p:nvCxnSpPr>
          <p:cNvPr id="56" name="Straight Arrow Connector 55"/>
          <p:cNvCxnSpPr>
            <a:endCxn id="53" idx="0"/>
          </p:cNvCxnSpPr>
          <p:nvPr/>
        </p:nvCxnSpPr>
        <p:spPr>
          <a:xfrm>
            <a:off x="6782064" y="4646224"/>
            <a:ext cx="0" cy="62471"/>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53" idx="2"/>
            <a:endCxn id="54" idx="0"/>
          </p:cNvCxnSpPr>
          <p:nvPr/>
        </p:nvCxnSpPr>
        <p:spPr>
          <a:xfrm>
            <a:off x="6782064" y="5068041"/>
            <a:ext cx="5312" cy="78584"/>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54" idx="2"/>
            <a:endCxn id="55" idx="0"/>
          </p:cNvCxnSpPr>
          <p:nvPr/>
        </p:nvCxnSpPr>
        <p:spPr>
          <a:xfrm>
            <a:off x="6787376" y="5489857"/>
            <a:ext cx="1" cy="116829"/>
          </a:xfrm>
          <a:prstGeom prst="straightConnector1">
            <a:avLst/>
          </a:prstGeom>
          <a:ln>
            <a:solidFill>
              <a:srgbClr val="000C2D"/>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029450" y="260668"/>
            <a:ext cx="2589214" cy="400110"/>
          </a:xfrm>
          <a:prstGeom prst="rect">
            <a:avLst/>
          </a:prstGeom>
          <a:solidFill>
            <a:srgbClr val="FF0000"/>
          </a:solidFill>
        </p:spPr>
        <p:txBody>
          <a:bodyPr wrap="square" rtlCol="0">
            <a:spAutoFit/>
          </a:bodyPr>
          <a:lstStyle/>
          <a:p>
            <a:r>
              <a:rPr lang="en-US" sz="2000" b="1" dirty="0" smtClean="0">
                <a:solidFill>
                  <a:schemeClr val="bg1"/>
                </a:solidFill>
              </a:rPr>
              <a:t>Tom to confirm</a:t>
            </a:r>
            <a:endParaRPr lang="en-US" sz="2000" b="1" dirty="0">
              <a:solidFill>
                <a:schemeClr val="bg1"/>
              </a:solidFill>
            </a:endParaRPr>
          </a:p>
        </p:txBody>
      </p:sp>
    </p:spTree>
    <p:extLst>
      <p:ext uri="{BB962C8B-B14F-4D97-AF65-F5344CB8AC3E}">
        <p14:creationId xmlns:p14="http://schemas.microsoft.com/office/powerpoint/2010/main" val="399350367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Multiple Scenarios &amp; Forward Looking Information</a:t>
            </a:r>
            <a:r>
              <a:rPr lang="en-US" sz="2800" dirty="0" smtClean="0"/>
              <a:t/>
            </a:r>
            <a:br>
              <a:rPr lang="en-US" sz="2800" dirty="0" smtClean="0"/>
            </a:br>
            <a:r>
              <a:rPr lang="en-US" sz="2000" i="1" dirty="0" smtClean="0"/>
              <a:t>Regulatory &amp; Technical Views</a:t>
            </a:r>
            <a:endParaRPr lang="en-IN" sz="2400" i="1" dirty="0"/>
          </a:p>
        </p:txBody>
      </p:sp>
      <p:sp>
        <p:nvSpPr>
          <p:cNvPr id="6" name="Content Placeholder 2"/>
          <p:cNvSpPr>
            <a:spLocks noGrp="1"/>
          </p:cNvSpPr>
          <p:nvPr>
            <p:ph sz="half" idx="1"/>
          </p:nvPr>
        </p:nvSpPr>
        <p:spPr>
          <a:xfrm>
            <a:off x="287339" y="1181100"/>
            <a:ext cx="3843014" cy="5178797"/>
          </a:xfrm>
        </p:spPr>
        <p:txBody>
          <a:bodyPr lIns="72000" tIns="72000" rIns="72000"/>
          <a:lstStyle/>
          <a:p>
            <a:pPr marL="0" indent="0">
              <a:buNone/>
            </a:pPr>
            <a:r>
              <a:rPr lang="en-US" sz="1600" b="1" dirty="0">
                <a:solidFill>
                  <a:schemeClr val="tx2"/>
                </a:solidFill>
              </a:rPr>
              <a:t>Methodology for </a:t>
            </a:r>
            <a:r>
              <a:rPr lang="en-US" sz="1600" b="1" dirty="0" smtClean="0">
                <a:solidFill>
                  <a:schemeClr val="tx2"/>
                </a:solidFill>
              </a:rPr>
              <a:t>Basel Regulatory Capital</a:t>
            </a:r>
            <a:endParaRPr lang="en-US" sz="1600" b="1" dirty="0">
              <a:solidFill>
                <a:schemeClr val="tx2"/>
              </a:solidFill>
            </a:endParaRPr>
          </a:p>
          <a:p>
            <a:pPr marL="400050" indent="-400050">
              <a:buFont typeface="+mj-lt"/>
              <a:buAutoNum type="romanLcPeriod"/>
            </a:pPr>
            <a:r>
              <a:rPr lang="en-IN" sz="1400" dirty="0" smtClean="0"/>
              <a:t>Multiple Scenarios &amp; Forward Looking concept for ECL computation is introduced first time as part of IFRS 9</a:t>
            </a:r>
            <a:endParaRPr lang="en-IN" sz="1400" dirty="0"/>
          </a:p>
        </p:txBody>
      </p:sp>
      <p:sp>
        <p:nvSpPr>
          <p:cNvPr id="7" name="Content Placeholder 2"/>
          <p:cNvSpPr txBox="1">
            <a:spLocks/>
          </p:cNvSpPr>
          <p:nvPr/>
        </p:nvSpPr>
        <p:spPr>
          <a:xfrm>
            <a:off x="4408166" y="1181100"/>
            <a:ext cx="5210497" cy="5178797"/>
          </a:xfrm>
          <a:prstGeom prst="rect">
            <a:avLst/>
          </a:prstGeom>
        </p:spPr>
        <p:txBody>
          <a:bodyPr lIns="72000" tIns="72000" rIns="72000"/>
          <a:lst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chemeClr val="tx2"/>
                </a:solidFill>
              </a:rPr>
              <a:t>Methodology for </a:t>
            </a:r>
            <a:r>
              <a:rPr lang="en-GB" sz="1600" b="1" dirty="0">
                <a:solidFill>
                  <a:schemeClr val="tx2"/>
                </a:solidFill>
              </a:rPr>
              <a:t>IFRS </a:t>
            </a:r>
            <a:r>
              <a:rPr lang="en-GB" sz="1600" b="1" dirty="0" smtClean="0">
                <a:solidFill>
                  <a:schemeClr val="tx2"/>
                </a:solidFill>
              </a:rPr>
              <a:t>9</a:t>
            </a:r>
          </a:p>
          <a:p>
            <a:pPr marL="400050" indent="-400050" fontAlgn="ctr">
              <a:buFont typeface="+mj-lt"/>
              <a:buAutoNum type="romanLcPeriod"/>
            </a:pPr>
            <a:r>
              <a:rPr lang="en-IN" sz="1400" dirty="0" smtClean="0"/>
              <a:t>Measurement of expected credit loss to reflect an unbiased and probability-weighted estimate determined by evaluating a range of possible outcomes.</a:t>
            </a:r>
          </a:p>
          <a:p>
            <a:pPr marL="400050" indent="-400050" fontAlgn="ctr">
              <a:buFont typeface="+mj-lt"/>
              <a:buAutoNum type="romanLcPeriod"/>
            </a:pPr>
            <a:r>
              <a:rPr lang="en-IN" sz="1400" dirty="0" smtClean="0"/>
              <a:t>Use of multiple forward looking scenarios with no compulsion to measure every possible scenario</a:t>
            </a:r>
          </a:p>
          <a:p>
            <a:pPr marL="400050" indent="-400050" fontAlgn="ctr">
              <a:buFont typeface="+mj-lt"/>
              <a:buAutoNum type="romanLcPeriod"/>
            </a:pPr>
            <a:r>
              <a:rPr lang="en-IN" sz="1400" dirty="0" smtClean="0"/>
              <a:t>Include macroeconomic forecast from internal and external sources</a:t>
            </a:r>
          </a:p>
          <a:p>
            <a:pPr marL="400050" indent="-400050" fontAlgn="ctr">
              <a:buFont typeface="+mj-lt"/>
              <a:buAutoNum type="romanLcPeriod"/>
            </a:pPr>
            <a:r>
              <a:rPr lang="en-GB" sz="1400" dirty="0"/>
              <a:t>Weighted average credit loss (by likelihood of occurrence)</a:t>
            </a:r>
          </a:p>
          <a:p>
            <a:pPr marL="400050" indent="-400050" fontAlgn="ctr">
              <a:buFont typeface="+mj-lt"/>
              <a:buAutoNum type="romanLcPeriod"/>
            </a:pPr>
            <a:r>
              <a:rPr lang="en-GB" sz="1400" dirty="0"/>
              <a:t>Credit loss for base scenario with Modelled adjustment for less likely scenarios and adjustment for ‘additional’ factors</a:t>
            </a:r>
            <a:endParaRPr lang="en-IN" sz="1400" dirty="0"/>
          </a:p>
          <a:p>
            <a:pPr marL="400050" indent="-400050" fontAlgn="ctr">
              <a:buFont typeface="+mj-lt"/>
              <a:buAutoNum type="romanLcPeriod"/>
            </a:pPr>
            <a:r>
              <a:rPr lang="en-IN" sz="1400" dirty="0" smtClean="0"/>
              <a:t>ECL should not be the best or most likely estimate of the scenarios rather be the probability-weighted average of the scenarios.</a:t>
            </a:r>
          </a:p>
          <a:p>
            <a:pPr marL="400050" indent="-400050" fontAlgn="ctr">
              <a:buFont typeface="+mj-lt"/>
              <a:buAutoNum type="romanLcPeriod"/>
            </a:pPr>
            <a:endParaRPr lang="en-IN" sz="1400" dirty="0"/>
          </a:p>
        </p:txBody>
      </p:sp>
      <p:cxnSp>
        <p:nvCxnSpPr>
          <p:cNvPr id="8" name="Straight Connector 7"/>
          <p:cNvCxnSpPr/>
          <p:nvPr/>
        </p:nvCxnSpPr>
        <p:spPr>
          <a:xfrm>
            <a:off x="4288898" y="1154596"/>
            <a:ext cx="0" cy="533897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41620674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Multiple Scenarios &amp; Forward Looking Information </a:t>
            </a:r>
            <a:r>
              <a:rPr lang="en-IN" sz="2400" dirty="0" smtClean="0"/>
              <a:t/>
            </a:r>
            <a:br>
              <a:rPr lang="en-IN"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59</a:t>
            </a:fld>
            <a:endParaRPr lang="en-US" altLang="en-US"/>
          </a:p>
        </p:txBody>
      </p:sp>
      <p:sp>
        <p:nvSpPr>
          <p:cNvPr id="5" name="TextBox 4"/>
          <p:cNvSpPr txBox="1"/>
          <p:nvPr/>
        </p:nvSpPr>
        <p:spPr>
          <a:xfrm>
            <a:off x="4041915" y="6445871"/>
            <a:ext cx="5393634" cy="279400"/>
          </a:xfrm>
          <a:prstGeom prst="rect">
            <a:avLst/>
          </a:prstGeom>
          <a:noFill/>
        </p:spPr>
        <p:txBody>
          <a:bodyPr wrap="square" rtlCol="0">
            <a:spAutoFit/>
          </a:bodyPr>
          <a:lstStyle/>
          <a:p>
            <a:pPr algn="r"/>
            <a:r>
              <a:rPr lang="en-US" i="1" dirty="0" smtClean="0"/>
              <a:t>* As per the </a:t>
            </a:r>
            <a:r>
              <a:rPr lang="en-US" i="1" dirty="0"/>
              <a:t>GPPC </a:t>
            </a:r>
            <a:r>
              <a:rPr lang="en-US" i="1" dirty="0" smtClean="0"/>
              <a:t>(</a:t>
            </a:r>
            <a:r>
              <a:rPr lang="en-US" i="1" dirty="0"/>
              <a:t>Global Public Policy </a:t>
            </a:r>
            <a:r>
              <a:rPr lang="en-US" i="1" dirty="0" smtClean="0"/>
              <a:t>Committee)</a:t>
            </a:r>
            <a:endParaRPr lang="en-IN" i="1" dirty="0"/>
          </a:p>
        </p:txBody>
      </p:sp>
      <p:graphicFrame>
        <p:nvGraphicFramePr>
          <p:cNvPr id="6" name="Table 5"/>
          <p:cNvGraphicFramePr>
            <a:graphicFrameLocks noGrp="1"/>
          </p:cNvGraphicFramePr>
          <p:nvPr>
            <p:extLst>
              <p:ext uri="{D42A27DB-BD31-4B8C-83A1-F6EECF244321}">
                <p14:modId xmlns:p14="http://schemas.microsoft.com/office/powerpoint/2010/main" val="1414918324"/>
              </p:ext>
            </p:extLst>
          </p:nvPr>
        </p:nvGraphicFramePr>
        <p:xfrm>
          <a:off x="316970" y="1042393"/>
          <a:ext cx="9193594" cy="5291476"/>
        </p:xfrm>
        <a:graphic>
          <a:graphicData uri="http://schemas.openxmlformats.org/drawingml/2006/table">
            <a:tbl>
              <a:tblPr firstRow="1" bandRow="1">
                <a:tableStyleId>{5C22544A-7EE6-4342-B048-85BDC9FD1C3A}</a:tableStyleId>
              </a:tblPr>
              <a:tblGrid>
                <a:gridCol w="9193594"/>
              </a:tblGrid>
              <a:tr h="369374">
                <a:tc>
                  <a:txBody>
                    <a:bodyPr/>
                    <a:lstStyle/>
                    <a:p>
                      <a:r>
                        <a:rPr lang="en-GB" sz="1400" dirty="0" smtClean="0">
                          <a:latin typeface="Times New Roman" panose="02020603050405020304" pitchFamily="18" charset="0"/>
                          <a:cs typeface="Times New Roman" panose="02020603050405020304" pitchFamily="18" charset="0"/>
                        </a:rPr>
                        <a:t>Sophisticated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r>
              <a:tr h="4922102">
                <a:tc>
                  <a:txBody>
                    <a:bodyPr/>
                    <a:lstStyle/>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Number of economic scenarios </a:t>
                      </a:r>
                      <a:r>
                        <a:rPr lang="en-IN" sz="1300" kern="1200" dirty="0" smtClean="0">
                          <a:solidFill>
                            <a:schemeClr val="tx1"/>
                          </a:solidFill>
                          <a:latin typeface="Times New Roman" pitchFamily="18" charset="0"/>
                          <a:ea typeface="+mn-ea"/>
                          <a:cs typeface="Times New Roman" pitchFamily="18" charset="0"/>
                        </a:rPr>
                        <a:t>– different numbers may be appropriate depending on facts and circumstances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Determining alternative economic scenarios – </a:t>
                      </a:r>
                      <a:r>
                        <a:rPr lang="en-IN" sz="1300" kern="1200" dirty="0" smtClean="0">
                          <a:solidFill>
                            <a:schemeClr val="tx1"/>
                          </a:solidFill>
                          <a:latin typeface="Times New Roman" pitchFamily="18" charset="0"/>
                          <a:ea typeface="+mn-ea"/>
                          <a:cs typeface="Times New Roman" pitchFamily="18" charset="0"/>
                        </a:rPr>
                        <a:t>whether use of own forward economic estimates or third party estimates. When developing and using internal forecasts, considers third party data and views and justifies differences from external forecasts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Representative scenarios – </a:t>
                      </a:r>
                      <a:r>
                        <a:rPr lang="en-IN" sz="1300" kern="1200" dirty="0" smtClean="0">
                          <a:solidFill>
                            <a:schemeClr val="tx1"/>
                          </a:solidFill>
                          <a:latin typeface="Times New Roman" pitchFamily="18" charset="0"/>
                          <a:ea typeface="+mn-ea"/>
                          <a:cs typeface="Times New Roman" pitchFamily="18" charset="0"/>
                        </a:rPr>
                        <a:t>upside and downside scenarios used are not biased to extreme scenarios such that the range and weighting of scenarios used is not representative</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Base scenario –</a:t>
                      </a:r>
                      <a:r>
                        <a:rPr lang="en-IN" sz="1300" kern="1200" dirty="0" smtClean="0">
                          <a:solidFill>
                            <a:schemeClr val="tx1"/>
                          </a:solidFill>
                          <a:latin typeface="Times New Roman" pitchFamily="18" charset="0"/>
                          <a:ea typeface="+mn-ea"/>
                          <a:cs typeface="Times New Roman" pitchFamily="18" charset="0"/>
                        </a:rPr>
                        <a:t> consistent with relevant inputs to other estimates in financial statements, provided not lagging or biased</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Sensitivities and asymmetries – </a:t>
                      </a:r>
                      <a:r>
                        <a:rPr lang="en-IN" sz="1300" kern="1200" dirty="0" smtClean="0">
                          <a:solidFill>
                            <a:schemeClr val="tx1"/>
                          </a:solidFill>
                          <a:latin typeface="Times New Roman" pitchFamily="18" charset="0"/>
                          <a:ea typeface="+mn-ea"/>
                          <a:cs typeface="Times New Roman" pitchFamily="18" charset="0"/>
                        </a:rPr>
                        <a:t>selected scenarios are representative and take account of key drivers of ECL, particularly non-linear and asymmetric sensitivities within portfolios</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Parameter coherence –</a:t>
                      </a:r>
                      <a:r>
                        <a:rPr lang="en-IN" sz="1300" kern="1200" dirty="0" smtClean="0">
                          <a:solidFill>
                            <a:schemeClr val="tx1"/>
                          </a:solidFill>
                          <a:latin typeface="Times New Roman" pitchFamily="18" charset="0"/>
                          <a:ea typeface="+mn-ea"/>
                          <a:cs typeface="Times New Roman" pitchFamily="18" charset="0"/>
                        </a:rPr>
                        <a:t> in developing the detail of a specific economic scenario, any expected correlation or other interrelationship between parameters is considered in the development of the scenario so that it is realistic</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Granularity of adjustments –</a:t>
                      </a:r>
                      <a:r>
                        <a:rPr lang="en-IN" sz="1300" kern="1200" dirty="0" smtClean="0">
                          <a:solidFill>
                            <a:schemeClr val="tx1"/>
                          </a:solidFill>
                          <a:latin typeface="Times New Roman" pitchFamily="18" charset="0"/>
                          <a:ea typeface="+mn-ea"/>
                          <a:cs typeface="Times New Roman" pitchFamily="18" charset="0"/>
                        </a:rPr>
                        <a:t> the calculation of a separate model adjustment to reflect the impact of less likely scenarios and the resulting non-linear impacts is performed at an appropriately low level of granularity which takes account of qualitatively different risk characteristics and sensitivities </a:t>
                      </a:r>
                    </a:p>
                    <a:p>
                      <a:pPr marL="185738" marR="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kern="1200" dirty="0" smtClean="0">
                          <a:solidFill>
                            <a:schemeClr val="tx1"/>
                          </a:solidFill>
                          <a:latin typeface="Times New Roman" pitchFamily="18" charset="0"/>
                          <a:ea typeface="+mn-ea"/>
                          <a:cs typeface="Times New Roman" pitchFamily="18" charset="0"/>
                        </a:rPr>
                        <a:t>‘Additional’ factors –</a:t>
                      </a:r>
                      <a:r>
                        <a:rPr lang="en-IN" sz="1300" kern="1200" dirty="0" smtClean="0">
                          <a:solidFill>
                            <a:schemeClr val="tx1"/>
                          </a:solidFill>
                          <a:latin typeface="Times New Roman" pitchFamily="18" charset="0"/>
                          <a:ea typeface="+mn-ea"/>
                          <a:cs typeface="Times New Roman" pitchFamily="18" charset="0"/>
                        </a:rPr>
                        <a:t> list of scenarios or events not explicitly incorporated within the modelling of ECL, nevertheless considered possible future outcomes and effect on ECLs</a:t>
                      </a:r>
                      <a:endParaRPr lang="en-GB" sz="1300" kern="1200" dirty="0">
                        <a:solidFill>
                          <a:schemeClr val="tx1"/>
                        </a:solidFill>
                        <a:latin typeface="Times New Roman" pitchFamily="18" charset="0"/>
                        <a:ea typeface="+mn-ea"/>
                        <a:cs typeface="Times New Roman" pitchFamily="18" charset="0"/>
                      </a:endParaRPr>
                    </a:p>
                  </a:txBody>
                  <a:tcPr marL="93042" marR="93042" marT="46521" marB="46521">
                    <a:solidFill>
                      <a:schemeClr val="bg1"/>
                    </a:solidFill>
                  </a:tcPr>
                </a:tc>
              </a:tr>
            </a:tbl>
          </a:graphicData>
        </a:graphic>
      </p:graphicFrame>
      <p:sp>
        <p:nvSpPr>
          <p:cNvPr id="7" name="TextBox 6"/>
          <p:cNvSpPr txBox="1"/>
          <p:nvPr/>
        </p:nvSpPr>
        <p:spPr>
          <a:xfrm>
            <a:off x="8536623" y="1978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53157891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Multiple Scenarios &amp; Forward Looking Information</a:t>
            </a:r>
            <a:r>
              <a:rPr lang="en-US" sz="2400" dirty="0" smtClean="0"/>
              <a:t/>
            </a:r>
            <a:br>
              <a:rPr lang="en-US" sz="2400" dirty="0" smtClean="0"/>
            </a:br>
            <a:r>
              <a:rPr lang="en-US" sz="2000" i="1" dirty="0" smtClean="0"/>
              <a:t>Regulatory and Technical Views</a:t>
            </a:r>
            <a:endParaRPr lang="en-IN" sz="2400" i="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60</a:t>
            </a:fld>
            <a:endParaRPr lang="en-US" altLang="en-US"/>
          </a:p>
        </p:txBody>
      </p:sp>
      <p:sp>
        <p:nvSpPr>
          <p:cNvPr id="8" name="TextBox 7"/>
          <p:cNvSpPr txBox="1"/>
          <p:nvPr/>
        </p:nvSpPr>
        <p:spPr>
          <a:xfrm>
            <a:off x="4041915" y="6445871"/>
            <a:ext cx="5393634" cy="279400"/>
          </a:xfrm>
          <a:prstGeom prst="rect">
            <a:avLst/>
          </a:prstGeom>
          <a:noFill/>
        </p:spPr>
        <p:txBody>
          <a:bodyPr wrap="square" rtlCol="0">
            <a:spAutoFit/>
          </a:bodyPr>
          <a:lstStyle/>
          <a:p>
            <a:pPr algn="r"/>
            <a:r>
              <a:rPr lang="en-US" i="1" dirty="0" smtClean="0"/>
              <a:t>* As per </a:t>
            </a:r>
            <a:r>
              <a:rPr lang="en-US" i="1" dirty="0"/>
              <a:t>the GPPC (Global Public Policy </a:t>
            </a:r>
            <a:r>
              <a:rPr lang="en-US" i="1" dirty="0" smtClean="0"/>
              <a:t>Committee) </a:t>
            </a:r>
            <a:endParaRPr lang="en-IN" i="1" dirty="0"/>
          </a:p>
        </p:txBody>
      </p:sp>
      <p:graphicFrame>
        <p:nvGraphicFramePr>
          <p:cNvPr id="10" name="Table 9"/>
          <p:cNvGraphicFramePr>
            <a:graphicFrameLocks noGrp="1"/>
          </p:cNvGraphicFramePr>
          <p:nvPr>
            <p:extLst>
              <p:ext uri="{D42A27DB-BD31-4B8C-83A1-F6EECF244321}">
                <p14:modId xmlns:p14="http://schemas.microsoft.com/office/powerpoint/2010/main" val="4240951545"/>
              </p:ext>
            </p:extLst>
          </p:nvPr>
        </p:nvGraphicFramePr>
        <p:xfrm>
          <a:off x="287338" y="1060565"/>
          <a:ext cx="9193594" cy="1524161"/>
        </p:xfrm>
        <a:graphic>
          <a:graphicData uri="http://schemas.openxmlformats.org/drawingml/2006/table">
            <a:tbl>
              <a:tblPr firstRow="1" bandRow="1">
                <a:tableStyleId>{5C22544A-7EE6-4342-B048-85BDC9FD1C3A}</a:tableStyleId>
              </a:tblPr>
              <a:tblGrid>
                <a:gridCol w="9193594"/>
              </a:tblGrid>
              <a:tr h="395429">
                <a:tc>
                  <a:txBody>
                    <a:bodyPr/>
                    <a:lstStyle/>
                    <a:p>
                      <a:r>
                        <a:rPr lang="en-GB" sz="1400" dirty="0" smtClean="0">
                          <a:latin typeface="Times New Roman" panose="02020603050405020304" pitchFamily="18" charset="0"/>
                          <a:cs typeface="Times New Roman" panose="02020603050405020304" pitchFamily="18" charset="0"/>
                        </a:rPr>
                        <a:t>Considerations for a Simpler Approach*</a:t>
                      </a:r>
                      <a:endParaRPr lang="en-GB" sz="1400" dirty="0">
                        <a:latin typeface="Times New Roman" panose="02020603050405020304" pitchFamily="18" charset="0"/>
                        <a:cs typeface="Times New Roman" panose="02020603050405020304" pitchFamily="18" charset="0"/>
                      </a:endParaRPr>
                    </a:p>
                  </a:txBody>
                  <a:tcPr marL="93042" marR="93042" marT="46521" marB="46521">
                    <a:solidFill>
                      <a:schemeClr val="accent2"/>
                    </a:solidFill>
                  </a:tcPr>
                </a:tc>
              </a:tr>
              <a:tr h="1128732">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Level of detail used in addressing each principle may be proportionately less for a simpler approach</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kern="1200" dirty="0" smtClean="0">
                          <a:solidFill>
                            <a:schemeClr val="tx1"/>
                          </a:solidFill>
                          <a:latin typeface="Times New Roman" pitchFamily="18" charset="0"/>
                          <a:ea typeface="+mn-ea"/>
                          <a:cs typeface="Times New Roman" pitchFamily="18" charset="0"/>
                        </a:rPr>
                        <a:t>Perform </a:t>
                      </a:r>
                      <a:r>
                        <a:rPr lang="en-IN" sz="1300" b="1" u="sng" kern="1200" dirty="0" smtClean="0">
                          <a:solidFill>
                            <a:schemeClr val="tx1"/>
                          </a:solidFill>
                          <a:latin typeface="Times New Roman" pitchFamily="18" charset="0"/>
                          <a:ea typeface="+mn-ea"/>
                          <a:cs typeface="Times New Roman" pitchFamily="18" charset="0"/>
                        </a:rPr>
                        <a:t>simpler analysis </a:t>
                      </a:r>
                      <a:r>
                        <a:rPr lang="en-IN" sz="1300" kern="1200" dirty="0" smtClean="0">
                          <a:solidFill>
                            <a:schemeClr val="tx1"/>
                          </a:solidFill>
                          <a:latin typeface="Times New Roman" pitchFamily="18" charset="0"/>
                          <a:ea typeface="+mn-ea"/>
                          <a:cs typeface="Times New Roman" pitchFamily="18" charset="0"/>
                        </a:rPr>
                        <a:t>of historical relationships between observed defaults / credit losses and the overall position within the economic cycle at the time – used to estimate ECLs at different future estimated points in the economic cycle</a:t>
                      </a:r>
                    </a:p>
                  </a:txBody>
                  <a:tcPr marL="93042" marR="93042" marT="46521" marB="46521">
                    <a:solidFill>
                      <a:schemeClr val="bg1"/>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505577279"/>
              </p:ext>
            </p:extLst>
          </p:nvPr>
        </p:nvGraphicFramePr>
        <p:xfrm>
          <a:off x="287338" y="2860429"/>
          <a:ext cx="9193594" cy="1486284"/>
        </p:xfrm>
        <a:graphic>
          <a:graphicData uri="http://schemas.openxmlformats.org/drawingml/2006/table">
            <a:tbl>
              <a:tblPr firstRow="1" bandRow="1">
                <a:tableStyleId>{5C22544A-7EE6-4342-B048-85BDC9FD1C3A}</a:tableStyleId>
              </a:tblPr>
              <a:tblGrid>
                <a:gridCol w="9193594"/>
              </a:tblGrid>
              <a:tr h="350071">
                <a:tc>
                  <a:txBody>
                    <a:bodyPr/>
                    <a:lstStyle/>
                    <a:p>
                      <a:pPr>
                        <a:lnSpc>
                          <a:spcPct val="85000"/>
                        </a:lnSpc>
                        <a:spcAft>
                          <a:spcPts val="600"/>
                        </a:spcAft>
                        <a:buClr>
                          <a:schemeClr val="accent2"/>
                        </a:buClr>
                        <a:buSzPct val="70000"/>
                      </a:pPr>
                      <a:r>
                        <a:rPr lang="en-GB" sz="1400" b="1" dirty="0" smtClean="0">
                          <a:solidFill>
                            <a:schemeClr val="bg1"/>
                          </a:solidFill>
                          <a:latin typeface="Times New Roman" panose="02020603050405020304" pitchFamily="18" charset="0"/>
                          <a:cs typeface="Times New Roman" panose="02020603050405020304" pitchFamily="18" charset="0"/>
                        </a:rPr>
                        <a:t>What is not ‘compliant’*</a:t>
                      </a:r>
                    </a:p>
                  </a:txBody>
                  <a:tcPr marL="93042" marR="93042" marT="46521" marB="46521">
                    <a:solidFill>
                      <a:schemeClr val="accent2"/>
                    </a:solidFill>
                  </a:tcPr>
                </a:tc>
              </a:tr>
              <a:tr h="1136213">
                <a:tc>
                  <a:txBody>
                    <a:bodyPr/>
                    <a:lstStyle/>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Considering only a single future economic scenario</a:t>
                      </a:r>
                      <a:r>
                        <a:rPr lang="en-IN" sz="1300" kern="1200" dirty="0" smtClean="0">
                          <a:solidFill>
                            <a:schemeClr val="tx1"/>
                          </a:solidFill>
                          <a:latin typeface="Times New Roman" pitchFamily="18" charset="0"/>
                          <a:ea typeface="+mn-ea"/>
                          <a:cs typeface="Times New Roman" pitchFamily="18" charset="0"/>
                        </a:rPr>
                        <a:t> for a portfolio with no separate adjustments to take into account non-linear impacts (unless portfolio has no potentially material asymmetric exposures to ECL and this is evidenced by appropriate analysis)</a:t>
                      </a:r>
                    </a:p>
                    <a:p>
                      <a:pPr marL="185738" marR="0" lvl="0" indent="-185738" algn="l" defTabSz="914400" rtl="0" eaLnBrk="0" fontAlgn="base" latinLnBrk="0" hangingPunct="0">
                        <a:lnSpc>
                          <a:spcPct val="90000"/>
                        </a:lnSpc>
                        <a:spcBef>
                          <a:spcPct val="60000"/>
                        </a:spcBef>
                        <a:spcAft>
                          <a:spcPct val="0"/>
                        </a:spcAft>
                        <a:buClr>
                          <a:schemeClr val="accent2"/>
                        </a:buClr>
                        <a:buSzTx/>
                        <a:buFont typeface="Times New Roman" panose="02020603050405020304" pitchFamily="18" charset="0"/>
                        <a:buChar char="•"/>
                        <a:tabLst/>
                        <a:defRPr/>
                      </a:pPr>
                      <a:r>
                        <a:rPr lang="en-IN" sz="1300" b="1" u="sng" kern="1200" dirty="0" smtClean="0">
                          <a:solidFill>
                            <a:schemeClr val="tx1"/>
                          </a:solidFill>
                          <a:latin typeface="Times New Roman" pitchFamily="18" charset="0"/>
                          <a:ea typeface="+mn-ea"/>
                          <a:cs typeface="Times New Roman" pitchFamily="18" charset="0"/>
                        </a:rPr>
                        <a:t>Forecasts that are only developed internally </a:t>
                      </a:r>
                      <a:r>
                        <a:rPr lang="en-IN" sz="1300" kern="1200" dirty="0" smtClean="0">
                          <a:solidFill>
                            <a:schemeClr val="tx1"/>
                          </a:solidFill>
                          <a:latin typeface="Times New Roman" pitchFamily="18" charset="0"/>
                          <a:ea typeface="+mn-ea"/>
                          <a:cs typeface="Times New Roman" pitchFamily="18" charset="0"/>
                        </a:rPr>
                        <a:t>or only reference a single external source. Should consider information from a variety of sources and need to understand if support or contradict bank’s own forecasts</a:t>
                      </a:r>
                    </a:p>
                  </a:txBody>
                  <a:tcPr marL="93042" marR="93042" marT="46521" marB="46521">
                    <a:solidFill>
                      <a:schemeClr val="bg1"/>
                    </a:solidFill>
                  </a:tcPr>
                </a:tc>
              </a:tr>
            </a:tbl>
          </a:graphicData>
        </a:graphic>
      </p:graphicFrame>
      <p:sp>
        <p:nvSpPr>
          <p:cNvPr id="7" name="TextBox 6"/>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137765068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Multiple Scenarios &amp; Forward Looking Information</a:t>
            </a:r>
            <a:r>
              <a:rPr lang="en-US" sz="2800" dirty="0" smtClean="0"/>
              <a:t/>
            </a:r>
            <a:br>
              <a:rPr lang="en-US" sz="2800" dirty="0" smtClean="0"/>
            </a:br>
            <a:r>
              <a:rPr lang="en-US" sz="2000" i="1" dirty="0" smtClean="0"/>
              <a:t>Preferred Approach</a:t>
            </a:r>
            <a:endParaRPr lang="en-IN" sz="2400" i="1" dirty="0"/>
          </a:p>
        </p:txBody>
      </p:sp>
      <p:sp>
        <p:nvSpPr>
          <p:cNvPr id="14" name="Rectangle 13"/>
          <p:cNvSpPr/>
          <p:nvPr/>
        </p:nvSpPr>
        <p:spPr>
          <a:xfrm>
            <a:off x="386982" y="1073003"/>
            <a:ext cx="9231682" cy="171276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300" b="1" dirty="0" smtClean="0">
                <a:solidFill>
                  <a:schemeClr val="tx1"/>
                </a:solidFill>
                <a:latin typeface="Times New Roman" pitchFamily="18" charset="0"/>
                <a:cs typeface="Times New Roman" pitchFamily="18" charset="0"/>
              </a:rPr>
              <a:t>Forward Looking Information</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QNB has an internal Group Economics Decision that maintains projection for macro-economic conditions along with reference from external sources like IMF Data, World Bank Data etc.</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CCI factors with forward looking information will be provided by Group Economics Division for immediate 5 years for all the 3 scenarios namely Base, Optimistic and Adverse.</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The horizon for scenarios will be maximum of 5 years with 3 years being more realistic time frame and for forecast beyond 5 years, QNB will assume forecast of 5</a:t>
            </a:r>
            <a:r>
              <a:rPr lang="en-IN" sz="1300" baseline="30000" dirty="0" smtClean="0">
                <a:solidFill>
                  <a:schemeClr val="tx1"/>
                </a:solidFill>
                <a:latin typeface="Times New Roman" pitchFamily="18" charset="0"/>
                <a:cs typeface="Times New Roman" pitchFamily="18" charset="0"/>
              </a:rPr>
              <a:t>th</a:t>
            </a:r>
            <a:r>
              <a:rPr lang="en-IN" sz="1300" dirty="0" smtClean="0">
                <a:solidFill>
                  <a:schemeClr val="tx1"/>
                </a:solidFill>
                <a:latin typeface="Times New Roman" pitchFamily="18" charset="0"/>
                <a:cs typeface="Times New Roman" pitchFamily="18" charset="0"/>
              </a:rPr>
              <a:t> year onward to be similar as of Year 5.</a:t>
            </a:r>
          </a:p>
        </p:txBody>
      </p:sp>
      <p:sp>
        <p:nvSpPr>
          <p:cNvPr id="20" name="Rectangle 19"/>
          <p:cNvSpPr/>
          <p:nvPr/>
        </p:nvSpPr>
        <p:spPr>
          <a:xfrm>
            <a:off x="386982" y="3128628"/>
            <a:ext cx="9231682" cy="219289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91427" tIns="45714" rIns="91427" bIns="45714" rtlCol="0" anchor="t" anchorCtr="0">
            <a:spAutoFit/>
          </a:bodyPr>
          <a:lstStyle/>
          <a:p>
            <a:pPr eaLnBrk="0" hangingPunct="0">
              <a:lnSpc>
                <a:spcPct val="90000"/>
              </a:lnSpc>
              <a:spcBef>
                <a:spcPct val="60000"/>
              </a:spcBef>
            </a:pPr>
            <a:r>
              <a:rPr lang="en-IN" sz="1300" b="1" dirty="0" smtClean="0">
                <a:solidFill>
                  <a:schemeClr val="tx1"/>
                </a:solidFill>
                <a:latin typeface="Times New Roman" pitchFamily="18" charset="0"/>
                <a:cs typeface="Times New Roman" pitchFamily="18" charset="0"/>
              </a:rPr>
              <a:t>Multiple Scenarios</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In order to avoid Scenario Blow up QNB will define scenarios as a combination of different PD and LGD approach where a minimum of 3 scenarios will be used for weighted average ECL computation.</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In future, QNB will also consider running different ECL scenarios based on different SICR criteria as well.</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QNB will compute ECL based on Probability Weighting of individual ECL scenarios (Case 1 defined in previous slide). Since, this approach will further increase the complexity of ECL computation run, QNB will seek to compute ECL based on probability weighted Credit Risk Factors wherever the impact of PD or LGD on the ECL is expected to be linear.</a:t>
            </a:r>
          </a:p>
          <a:p>
            <a:pPr marL="185738" indent="-185738" algn="just" eaLnBrk="0" hangingPunct="0">
              <a:lnSpc>
                <a:spcPct val="90000"/>
              </a:lnSpc>
              <a:spcBef>
                <a:spcPct val="60000"/>
              </a:spcBef>
              <a:buFont typeface="Times New Roman" panose="02020603050405020304" pitchFamily="18" charset="0"/>
              <a:buChar char="•"/>
            </a:pPr>
            <a:r>
              <a:rPr lang="en-IN" sz="1300" dirty="0" smtClean="0">
                <a:solidFill>
                  <a:schemeClr val="tx1"/>
                </a:solidFill>
                <a:latin typeface="Times New Roman" pitchFamily="18" charset="0"/>
                <a:cs typeface="Times New Roman" pitchFamily="18" charset="0"/>
              </a:rPr>
              <a:t>Further, details along with technical guidance on multiple scenarios &amp; Forward Looking information can be referred from Technical Interpretation Notes.</a:t>
            </a:r>
          </a:p>
        </p:txBody>
      </p:sp>
      <p:cxnSp>
        <p:nvCxnSpPr>
          <p:cNvPr id="4" name="Straight Connector 3"/>
          <p:cNvCxnSpPr/>
          <p:nvPr/>
        </p:nvCxnSpPr>
        <p:spPr>
          <a:xfrm>
            <a:off x="170121" y="2987749"/>
            <a:ext cx="9654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753225" y="260668"/>
            <a:ext cx="2865439" cy="707886"/>
          </a:xfrm>
          <a:prstGeom prst="rect">
            <a:avLst/>
          </a:prstGeom>
          <a:solidFill>
            <a:srgbClr val="FF0000"/>
          </a:solidFill>
        </p:spPr>
        <p:txBody>
          <a:bodyPr wrap="square" rtlCol="0">
            <a:spAutoFit/>
          </a:bodyPr>
          <a:lstStyle/>
          <a:p>
            <a:r>
              <a:rPr lang="en-US" sz="2000" b="1" dirty="0" smtClean="0">
                <a:solidFill>
                  <a:schemeClr val="bg1"/>
                </a:solidFill>
              </a:rPr>
              <a:t>Tom to confirm and to add pages of illustration</a:t>
            </a:r>
            <a:endParaRPr lang="en-US" sz="2000" b="1" dirty="0">
              <a:solidFill>
                <a:schemeClr val="bg1"/>
              </a:solidFill>
            </a:endParaRPr>
          </a:p>
        </p:txBody>
      </p:sp>
    </p:spTree>
    <p:extLst>
      <p:ext uri="{BB962C8B-B14F-4D97-AF65-F5344CB8AC3E}">
        <p14:creationId xmlns:p14="http://schemas.microsoft.com/office/powerpoint/2010/main" val="268637600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303380" y="959368"/>
            <a:ext cx="9385817" cy="5340723"/>
            <a:chOff x="626681" y="900871"/>
            <a:chExt cx="9670033" cy="5665971"/>
          </a:xfrm>
        </p:grpSpPr>
        <p:grpSp>
          <p:nvGrpSpPr>
            <p:cNvPr id="20" name="Group 19"/>
            <p:cNvGrpSpPr/>
            <p:nvPr/>
          </p:nvGrpSpPr>
          <p:grpSpPr>
            <a:xfrm>
              <a:off x="626681" y="900989"/>
              <a:ext cx="9670033" cy="5665853"/>
              <a:chOff x="626681" y="1008323"/>
              <a:chExt cx="9670033" cy="5665853"/>
            </a:xfrm>
          </p:grpSpPr>
          <p:sp>
            <p:nvSpPr>
              <p:cNvPr id="25" name="Rectangle 14"/>
              <p:cNvSpPr>
                <a:spLocks noChangeArrowheads="1"/>
              </p:cNvSpPr>
              <p:nvPr/>
            </p:nvSpPr>
            <p:spPr bwMode="gray">
              <a:xfrm>
                <a:off x="5152730" y="1008325"/>
                <a:ext cx="5143984" cy="5652473"/>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72855"/>
                  <a:gd name="connsiteY0" fmla="*/ 0 h 3660533"/>
                  <a:gd name="connsiteX1" fmla="*/ 5161441 w 5172855"/>
                  <a:gd name="connsiteY1" fmla="*/ 0 h 3660533"/>
                  <a:gd name="connsiteX2" fmla="*/ 5172549 w 5172855"/>
                  <a:gd name="connsiteY2" fmla="*/ 489657 h 3660533"/>
                  <a:gd name="connsiteX3" fmla="*/ 5161441 w 5172855"/>
                  <a:gd name="connsiteY3" fmla="*/ 3660533 h 3660533"/>
                  <a:gd name="connsiteX4" fmla="*/ 0 w 5172855"/>
                  <a:gd name="connsiteY4" fmla="*/ 3660533 h 3660533"/>
                  <a:gd name="connsiteX5" fmla="*/ 593766 w 5172855"/>
                  <a:gd name="connsiteY5" fmla="*/ 0 h 3660533"/>
                  <a:gd name="connsiteX0" fmla="*/ 593766 w 5163537"/>
                  <a:gd name="connsiteY0" fmla="*/ 0 h 3660533"/>
                  <a:gd name="connsiteX1" fmla="*/ 5161441 w 5163537"/>
                  <a:gd name="connsiteY1" fmla="*/ 0 h 3660533"/>
                  <a:gd name="connsiteX2" fmla="*/ 5162883 w 5163537"/>
                  <a:gd name="connsiteY2" fmla="*/ 502617 h 3660533"/>
                  <a:gd name="connsiteX3" fmla="*/ 5161441 w 5163537"/>
                  <a:gd name="connsiteY3" fmla="*/ 3660533 h 3660533"/>
                  <a:gd name="connsiteX4" fmla="*/ 0 w 5163537"/>
                  <a:gd name="connsiteY4" fmla="*/ 3660533 h 3660533"/>
                  <a:gd name="connsiteX5" fmla="*/ 593766 w 5163537"/>
                  <a:gd name="connsiteY5" fmla="*/ 0 h 3660533"/>
                  <a:gd name="connsiteX0" fmla="*/ 593766 w 5499312"/>
                  <a:gd name="connsiteY0" fmla="*/ 0 h 3660533"/>
                  <a:gd name="connsiteX1" fmla="*/ 5161441 w 5499312"/>
                  <a:gd name="connsiteY1" fmla="*/ 0 h 3660533"/>
                  <a:gd name="connsiteX2" fmla="*/ 5160175 w 5499312"/>
                  <a:gd name="connsiteY2" fmla="*/ 350657 h 3660533"/>
                  <a:gd name="connsiteX3" fmla="*/ 5162883 w 5499312"/>
                  <a:gd name="connsiteY3" fmla="*/ 502617 h 3660533"/>
                  <a:gd name="connsiteX4" fmla="*/ 5161441 w 5499312"/>
                  <a:gd name="connsiteY4" fmla="*/ 3660533 h 3660533"/>
                  <a:gd name="connsiteX5" fmla="*/ 0 w 5499312"/>
                  <a:gd name="connsiteY5" fmla="*/ 3660533 h 3660533"/>
                  <a:gd name="connsiteX6" fmla="*/ 593766 w 5499312"/>
                  <a:gd name="connsiteY6"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1441 w 5162883"/>
                  <a:gd name="connsiteY4" fmla="*/ 3660533 h 3660533"/>
                  <a:gd name="connsiteX5" fmla="*/ 0 w 5162883"/>
                  <a:gd name="connsiteY5" fmla="*/ 3660533 h 3660533"/>
                  <a:gd name="connsiteX6" fmla="*/ 593766 w 5162883"/>
                  <a:gd name="connsiteY6" fmla="*/ 0 h 3660533"/>
                  <a:gd name="connsiteX0" fmla="*/ 593766 w 5543294"/>
                  <a:gd name="connsiteY0" fmla="*/ 0 h 3660533"/>
                  <a:gd name="connsiteX1" fmla="*/ 5161441 w 5543294"/>
                  <a:gd name="connsiteY1" fmla="*/ 0 h 3660533"/>
                  <a:gd name="connsiteX2" fmla="*/ 5160175 w 5543294"/>
                  <a:gd name="connsiteY2" fmla="*/ 350657 h 3660533"/>
                  <a:gd name="connsiteX3" fmla="*/ 5162883 w 5543294"/>
                  <a:gd name="connsiteY3" fmla="*/ 502617 h 3660533"/>
                  <a:gd name="connsiteX4" fmla="*/ 5160174 w 5543294"/>
                  <a:gd name="connsiteY4" fmla="*/ 752490 h 3660533"/>
                  <a:gd name="connsiteX5" fmla="*/ 5161441 w 5543294"/>
                  <a:gd name="connsiteY5" fmla="*/ 3660533 h 3660533"/>
                  <a:gd name="connsiteX6" fmla="*/ 0 w 5543294"/>
                  <a:gd name="connsiteY6" fmla="*/ 3660533 h 3660533"/>
                  <a:gd name="connsiteX7" fmla="*/ 593766 w 5543294"/>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60174 w 5162883"/>
                  <a:gd name="connsiteY4" fmla="*/ 752490 h 3660533"/>
                  <a:gd name="connsiteX5" fmla="*/ 5161441 w 5162883"/>
                  <a:gd name="connsiteY5" fmla="*/ 3660533 h 3660533"/>
                  <a:gd name="connsiteX6" fmla="*/ 0 w 5162883"/>
                  <a:gd name="connsiteY6" fmla="*/ 3660533 h 3660533"/>
                  <a:gd name="connsiteX7" fmla="*/ 593766 w 5162883"/>
                  <a:gd name="connsiteY7" fmla="*/ 0 h 3660533"/>
                  <a:gd name="connsiteX0" fmla="*/ 593766 w 5162883"/>
                  <a:gd name="connsiteY0" fmla="*/ 0 h 3660533"/>
                  <a:gd name="connsiteX1" fmla="*/ 5161441 w 5162883"/>
                  <a:gd name="connsiteY1" fmla="*/ 0 h 3660533"/>
                  <a:gd name="connsiteX2" fmla="*/ 5160175 w 5162883"/>
                  <a:gd name="connsiteY2" fmla="*/ 350657 h 3660533"/>
                  <a:gd name="connsiteX3" fmla="*/ 5162883 w 5162883"/>
                  <a:gd name="connsiteY3" fmla="*/ 502617 h 3660533"/>
                  <a:gd name="connsiteX4" fmla="*/ 5156560 w 5162883"/>
                  <a:gd name="connsiteY4" fmla="*/ 708688 h 3660533"/>
                  <a:gd name="connsiteX5" fmla="*/ 5160174 w 5162883"/>
                  <a:gd name="connsiteY5" fmla="*/ 752490 h 3660533"/>
                  <a:gd name="connsiteX6" fmla="*/ 5161441 w 5162883"/>
                  <a:gd name="connsiteY6" fmla="*/ 3660533 h 3660533"/>
                  <a:gd name="connsiteX7" fmla="*/ 0 w 5162883"/>
                  <a:gd name="connsiteY7" fmla="*/ 3660533 h 3660533"/>
                  <a:gd name="connsiteX8" fmla="*/ 593766 w 5162883"/>
                  <a:gd name="connsiteY8"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5156560 w 5163046"/>
                  <a:gd name="connsiteY5" fmla="*/ 708688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891224 w 5163046"/>
                  <a:gd name="connsiteY5" fmla="*/ 778617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163046"/>
                  <a:gd name="connsiteY0" fmla="*/ 0 h 3660533"/>
                  <a:gd name="connsiteX1" fmla="*/ 5161441 w 5163046"/>
                  <a:gd name="connsiteY1" fmla="*/ 0 h 3660533"/>
                  <a:gd name="connsiteX2" fmla="*/ 5160175 w 5163046"/>
                  <a:gd name="connsiteY2" fmla="*/ 350657 h 3660533"/>
                  <a:gd name="connsiteX3" fmla="*/ 5161096 w 5163046"/>
                  <a:gd name="connsiteY3" fmla="*/ 392488 h 3660533"/>
                  <a:gd name="connsiteX4" fmla="*/ 5162883 w 5163046"/>
                  <a:gd name="connsiteY4" fmla="*/ 502617 h 3660533"/>
                  <a:gd name="connsiteX5" fmla="*/ 3646320 w 5163046"/>
                  <a:gd name="connsiteY5" fmla="*/ 757335 h 3660533"/>
                  <a:gd name="connsiteX6" fmla="*/ 5160174 w 5163046"/>
                  <a:gd name="connsiteY6" fmla="*/ 752490 h 3660533"/>
                  <a:gd name="connsiteX7" fmla="*/ 5161441 w 5163046"/>
                  <a:gd name="connsiteY7" fmla="*/ 3660533 h 3660533"/>
                  <a:gd name="connsiteX8" fmla="*/ 0 w 5163046"/>
                  <a:gd name="connsiteY8" fmla="*/ 3660533 h 3660533"/>
                  <a:gd name="connsiteX9" fmla="*/ 593766 w 5163046"/>
                  <a:gd name="connsiteY9" fmla="*/ 0 h 3660533"/>
                  <a:gd name="connsiteX0" fmla="*/ 593766 w 5272982"/>
                  <a:gd name="connsiteY0" fmla="*/ 0 h 3660533"/>
                  <a:gd name="connsiteX1" fmla="*/ 5161441 w 5272982"/>
                  <a:gd name="connsiteY1" fmla="*/ 0 h 3660533"/>
                  <a:gd name="connsiteX2" fmla="*/ 5160175 w 5272982"/>
                  <a:gd name="connsiteY2" fmla="*/ 350657 h 3660533"/>
                  <a:gd name="connsiteX3" fmla="*/ 5161096 w 5272982"/>
                  <a:gd name="connsiteY3" fmla="*/ 392488 h 3660533"/>
                  <a:gd name="connsiteX4" fmla="*/ 3646320 w 5272982"/>
                  <a:gd name="connsiteY4" fmla="*/ 757335 h 3660533"/>
                  <a:gd name="connsiteX5" fmla="*/ 5160174 w 5272982"/>
                  <a:gd name="connsiteY5" fmla="*/ 752490 h 3660533"/>
                  <a:gd name="connsiteX6" fmla="*/ 5161441 w 5272982"/>
                  <a:gd name="connsiteY6" fmla="*/ 3660533 h 3660533"/>
                  <a:gd name="connsiteX7" fmla="*/ 0 w 5272982"/>
                  <a:gd name="connsiteY7" fmla="*/ 3660533 h 3660533"/>
                  <a:gd name="connsiteX8" fmla="*/ 593766 w 5272982"/>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1096 w 5161441"/>
                  <a:gd name="connsiteY3" fmla="*/ 392488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77286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0 w 5161441"/>
                  <a:gd name="connsiteY4" fmla="*/ 757335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542933"/>
                  <a:gd name="connsiteY0" fmla="*/ 0 h 3660533"/>
                  <a:gd name="connsiteX1" fmla="*/ 5161441 w 5542933"/>
                  <a:gd name="connsiteY1" fmla="*/ 0 h 3660533"/>
                  <a:gd name="connsiteX2" fmla="*/ 5160175 w 5542933"/>
                  <a:gd name="connsiteY2" fmla="*/ 350657 h 3660533"/>
                  <a:gd name="connsiteX3" fmla="*/ 3841338 w 5542933"/>
                  <a:gd name="connsiteY3" fmla="*/ 349922 h 3660533"/>
                  <a:gd name="connsiteX4" fmla="*/ 3646321 w 5542933"/>
                  <a:gd name="connsiteY4" fmla="*/ 753169 h 3660533"/>
                  <a:gd name="connsiteX5" fmla="*/ 5160174 w 5542933"/>
                  <a:gd name="connsiteY5" fmla="*/ 752490 h 3660533"/>
                  <a:gd name="connsiteX6" fmla="*/ 5158786 w 5542933"/>
                  <a:gd name="connsiteY6" fmla="*/ 2442821 h 3660533"/>
                  <a:gd name="connsiteX7" fmla="*/ 5161441 w 5542933"/>
                  <a:gd name="connsiteY7" fmla="*/ 3660533 h 3660533"/>
                  <a:gd name="connsiteX8" fmla="*/ 0 w 5542933"/>
                  <a:gd name="connsiteY8" fmla="*/ 3660533 h 3660533"/>
                  <a:gd name="connsiteX9" fmla="*/ 593766 w 5542933"/>
                  <a:gd name="connsiteY9" fmla="*/ 0 h 3660533"/>
                  <a:gd name="connsiteX0" fmla="*/ 593766 w 5271802"/>
                  <a:gd name="connsiteY0" fmla="*/ 0 h 3660533"/>
                  <a:gd name="connsiteX1" fmla="*/ 5161441 w 5271802"/>
                  <a:gd name="connsiteY1" fmla="*/ 0 h 3660533"/>
                  <a:gd name="connsiteX2" fmla="*/ 5160175 w 5271802"/>
                  <a:gd name="connsiteY2" fmla="*/ 350657 h 3660533"/>
                  <a:gd name="connsiteX3" fmla="*/ 3841338 w 5271802"/>
                  <a:gd name="connsiteY3" fmla="*/ 349922 h 3660533"/>
                  <a:gd name="connsiteX4" fmla="*/ 3646321 w 5271802"/>
                  <a:gd name="connsiteY4" fmla="*/ 753169 h 3660533"/>
                  <a:gd name="connsiteX5" fmla="*/ 5160174 w 5271802"/>
                  <a:gd name="connsiteY5" fmla="*/ 752490 h 3660533"/>
                  <a:gd name="connsiteX6" fmla="*/ 5158786 w 5271802"/>
                  <a:gd name="connsiteY6" fmla="*/ 2442821 h 3660533"/>
                  <a:gd name="connsiteX7" fmla="*/ 5161441 w 5271802"/>
                  <a:gd name="connsiteY7" fmla="*/ 3660533 h 3660533"/>
                  <a:gd name="connsiteX8" fmla="*/ 0 w 5271802"/>
                  <a:gd name="connsiteY8" fmla="*/ 3660533 h 3660533"/>
                  <a:gd name="connsiteX9" fmla="*/ 593766 w 5271802"/>
                  <a:gd name="connsiteY9"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442821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271900"/>
                  <a:gd name="connsiteY0" fmla="*/ 0 h 3660533"/>
                  <a:gd name="connsiteX1" fmla="*/ 5161441 w 5271900"/>
                  <a:gd name="connsiteY1" fmla="*/ 0 h 3660533"/>
                  <a:gd name="connsiteX2" fmla="*/ 5160175 w 5271900"/>
                  <a:gd name="connsiteY2" fmla="*/ 350657 h 3660533"/>
                  <a:gd name="connsiteX3" fmla="*/ 3841338 w 5271900"/>
                  <a:gd name="connsiteY3" fmla="*/ 349922 h 3660533"/>
                  <a:gd name="connsiteX4" fmla="*/ 3646321 w 5271900"/>
                  <a:gd name="connsiteY4" fmla="*/ 753169 h 3660533"/>
                  <a:gd name="connsiteX5" fmla="*/ 5160174 w 5271900"/>
                  <a:gd name="connsiteY5" fmla="*/ 752490 h 3660533"/>
                  <a:gd name="connsiteX6" fmla="*/ 5158786 w 5271900"/>
                  <a:gd name="connsiteY6" fmla="*/ 2051706 h 3660533"/>
                  <a:gd name="connsiteX7" fmla="*/ 5158786 w 5271900"/>
                  <a:gd name="connsiteY7" fmla="*/ 2442821 h 3660533"/>
                  <a:gd name="connsiteX8" fmla="*/ 5161441 w 5271900"/>
                  <a:gd name="connsiteY8" fmla="*/ 3660533 h 3660533"/>
                  <a:gd name="connsiteX9" fmla="*/ 0 w 5271900"/>
                  <a:gd name="connsiteY9" fmla="*/ 3660533 h 3660533"/>
                  <a:gd name="connsiteX10" fmla="*/ 593766 w 5271900"/>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442821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42821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5158786 w 5161441"/>
                  <a:gd name="connsiteY8" fmla="*/ 2409433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5158786 w 5161441"/>
                  <a:gd name="connsiteY7" fmla="*/ 2087479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1441 w 5543394"/>
                  <a:gd name="connsiteY12" fmla="*/ 3660533 h 3660533"/>
                  <a:gd name="connsiteX13" fmla="*/ 0 w 5543394"/>
                  <a:gd name="connsiteY13" fmla="*/ 3660533 h 3660533"/>
                  <a:gd name="connsiteX14" fmla="*/ 593766 w 5543394"/>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543394"/>
                  <a:gd name="connsiteY0" fmla="*/ 0 h 3660533"/>
                  <a:gd name="connsiteX1" fmla="*/ 5161441 w 5543394"/>
                  <a:gd name="connsiteY1" fmla="*/ 0 h 3660533"/>
                  <a:gd name="connsiteX2" fmla="*/ 5160175 w 5543394"/>
                  <a:gd name="connsiteY2" fmla="*/ 350657 h 3660533"/>
                  <a:gd name="connsiteX3" fmla="*/ 3841338 w 5543394"/>
                  <a:gd name="connsiteY3" fmla="*/ 349922 h 3660533"/>
                  <a:gd name="connsiteX4" fmla="*/ 3646321 w 5543394"/>
                  <a:gd name="connsiteY4" fmla="*/ 753169 h 3660533"/>
                  <a:gd name="connsiteX5" fmla="*/ 5160174 w 5543394"/>
                  <a:gd name="connsiteY5" fmla="*/ 752490 h 3660533"/>
                  <a:gd name="connsiteX6" fmla="*/ 5158786 w 5543394"/>
                  <a:gd name="connsiteY6" fmla="*/ 2051706 h 3660533"/>
                  <a:gd name="connsiteX7" fmla="*/ 3853222 w 5543394"/>
                  <a:gd name="connsiteY7" fmla="*/ 2049322 h 3660533"/>
                  <a:gd name="connsiteX8" fmla="*/ 3661124 w 5543394"/>
                  <a:gd name="connsiteY8" fmla="*/ 2440436 h 3660533"/>
                  <a:gd name="connsiteX9" fmla="*/ 5158786 w 5543394"/>
                  <a:gd name="connsiteY9" fmla="*/ 2442821 h 3660533"/>
                  <a:gd name="connsiteX10" fmla="*/ 5160174 w 5543394"/>
                  <a:gd name="connsiteY10" fmla="*/ 2966098 h 3660533"/>
                  <a:gd name="connsiteX11" fmla="*/ 5160174 w 5543394"/>
                  <a:gd name="connsiteY11" fmla="*/ 3001346 h 3660533"/>
                  <a:gd name="connsiteX12" fmla="*/ 5160174 w 5543394"/>
                  <a:gd name="connsiteY12" fmla="*/ 3350307 h 3660533"/>
                  <a:gd name="connsiteX13" fmla="*/ 5161441 w 5543394"/>
                  <a:gd name="connsiteY13" fmla="*/ 3660533 h 3660533"/>
                  <a:gd name="connsiteX14" fmla="*/ 0 w 5543394"/>
                  <a:gd name="connsiteY14" fmla="*/ 3660533 h 3660533"/>
                  <a:gd name="connsiteX15" fmla="*/ 593766 w 5543394"/>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5158848 w 5161441"/>
                  <a:gd name="connsiteY12" fmla="*/ 3323150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7746 w 5161441"/>
                  <a:gd name="connsiteY12" fmla="*/ 3334307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23586 w 5161441"/>
                  <a:gd name="connsiteY12" fmla="*/ 3345464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5160174 w 5161441"/>
                  <a:gd name="connsiteY11" fmla="*/ 3001346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53890 w 5161441"/>
                  <a:gd name="connsiteY11" fmla="*/ 3020870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48253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83013 w 5161441"/>
                  <a:gd name="connsiteY11" fmla="*/ 2967875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3646321 w 5161441"/>
                  <a:gd name="connsiteY4" fmla="*/ 753169 h 3660533"/>
                  <a:gd name="connsiteX5" fmla="*/ 5160174 w 5161441"/>
                  <a:gd name="connsiteY5" fmla="*/ 752490 h 3660533"/>
                  <a:gd name="connsiteX6" fmla="*/ 5158786 w 5161441"/>
                  <a:gd name="connsiteY6" fmla="*/ 2051706 h 3660533"/>
                  <a:gd name="connsiteX7" fmla="*/ 3853222 w 5161441"/>
                  <a:gd name="connsiteY7" fmla="*/ 2049322 h 3660533"/>
                  <a:gd name="connsiteX8" fmla="*/ 3661124 w 5161441"/>
                  <a:gd name="connsiteY8" fmla="*/ 2440436 h 3660533"/>
                  <a:gd name="connsiteX9" fmla="*/ 5158786 w 5161441"/>
                  <a:gd name="connsiteY9" fmla="*/ 2442821 h 3660533"/>
                  <a:gd name="connsiteX10" fmla="*/ 5160174 w 5161441"/>
                  <a:gd name="connsiteY10" fmla="*/ 2966098 h 3660533"/>
                  <a:gd name="connsiteX11" fmla="*/ 3799656 w 5161441"/>
                  <a:gd name="connsiteY11" fmla="*/ 2965086 h 3660533"/>
                  <a:gd name="connsiteX12" fmla="*/ 3606943 w 5161441"/>
                  <a:gd name="connsiteY12" fmla="*/ 3351042 h 3660533"/>
                  <a:gd name="connsiteX13" fmla="*/ 5160174 w 5161441"/>
                  <a:gd name="connsiteY13" fmla="*/ 3350307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3841338 w 5161441"/>
                  <a:gd name="connsiteY3" fmla="*/ 349922 h 3660533"/>
                  <a:gd name="connsiteX4" fmla="*/ 5160174 w 5161441"/>
                  <a:gd name="connsiteY4" fmla="*/ 752490 h 3660533"/>
                  <a:gd name="connsiteX5" fmla="*/ 5158786 w 5161441"/>
                  <a:gd name="connsiteY5" fmla="*/ 2051706 h 3660533"/>
                  <a:gd name="connsiteX6" fmla="*/ 3853222 w 5161441"/>
                  <a:gd name="connsiteY6" fmla="*/ 2049322 h 3660533"/>
                  <a:gd name="connsiteX7" fmla="*/ 3661124 w 5161441"/>
                  <a:gd name="connsiteY7" fmla="*/ 2440436 h 3660533"/>
                  <a:gd name="connsiteX8" fmla="*/ 5158786 w 5161441"/>
                  <a:gd name="connsiteY8" fmla="*/ 2442821 h 3660533"/>
                  <a:gd name="connsiteX9" fmla="*/ 5160174 w 5161441"/>
                  <a:gd name="connsiteY9" fmla="*/ 2966098 h 3660533"/>
                  <a:gd name="connsiteX10" fmla="*/ 3799656 w 5161441"/>
                  <a:gd name="connsiteY10" fmla="*/ 2965086 h 3660533"/>
                  <a:gd name="connsiteX11" fmla="*/ 3606943 w 5161441"/>
                  <a:gd name="connsiteY11" fmla="*/ 3351042 h 3660533"/>
                  <a:gd name="connsiteX12" fmla="*/ 5160174 w 5161441"/>
                  <a:gd name="connsiteY12" fmla="*/ 3350307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853222 w 5161441"/>
                  <a:gd name="connsiteY5" fmla="*/ 2049322 h 3660533"/>
                  <a:gd name="connsiteX6" fmla="*/ 3661124 w 5161441"/>
                  <a:gd name="connsiteY6" fmla="*/ 2440436 h 3660533"/>
                  <a:gd name="connsiteX7" fmla="*/ 5158786 w 5161441"/>
                  <a:gd name="connsiteY7" fmla="*/ 2442821 h 3660533"/>
                  <a:gd name="connsiteX8" fmla="*/ 5160174 w 5161441"/>
                  <a:gd name="connsiteY8" fmla="*/ 2966098 h 3660533"/>
                  <a:gd name="connsiteX9" fmla="*/ 3799656 w 5161441"/>
                  <a:gd name="connsiteY9" fmla="*/ 2965086 h 3660533"/>
                  <a:gd name="connsiteX10" fmla="*/ 3606943 w 5161441"/>
                  <a:gd name="connsiteY10" fmla="*/ 3351042 h 3660533"/>
                  <a:gd name="connsiteX11" fmla="*/ 5160174 w 5161441"/>
                  <a:gd name="connsiteY11" fmla="*/ 3350307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3661124 w 5161441"/>
                  <a:gd name="connsiteY5" fmla="*/ 2440436 h 3660533"/>
                  <a:gd name="connsiteX6" fmla="*/ 5158786 w 5161441"/>
                  <a:gd name="connsiteY6" fmla="*/ 2442821 h 3660533"/>
                  <a:gd name="connsiteX7" fmla="*/ 5160174 w 5161441"/>
                  <a:gd name="connsiteY7" fmla="*/ 2966098 h 3660533"/>
                  <a:gd name="connsiteX8" fmla="*/ 3799656 w 5161441"/>
                  <a:gd name="connsiteY8" fmla="*/ 2965086 h 3660533"/>
                  <a:gd name="connsiteX9" fmla="*/ 3606943 w 5161441"/>
                  <a:gd name="connsiteY9" fmla="*/ 3351042 h 3660533"/>
                  <a:gd name="connsiteX10" fmla="*/ 5160174 w 5161441"/>
                  <a:gd name="connsiteY10" fmla="*/ 3350307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799656 w 5161441"/>
                  <a:gd name="connsiteY7" fmla="*/ 2965086 h 3660533"/>
                  <a:gd name="connsiteX8" fmla="*/ 3606943 w 5161441"/>
                  <a:gd name="connsiteY8" fmla="*/ 3351042 h 3660533"/>
                  <a:gd name="connsiteX9" fmla="*/ 5160174 w 5161441"/>
                  <a:gd name="connsiteY9" fmla="*/ 3350307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3606943 w 5161441"/>
                  <a:gd name="connsiteY7" fmla="*/ 3351042 h 3660533"/>
                  <a:gd name="connsiteX8" fmla="*/ 5160174 w 5161441"/>
                  <a:gd name="connsiteY8" fmla="*/ 3350307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60175 w 5161441"/>
                  <a:gd name="connsiteY2" fmla="*/ 350657 h 3660533"/>
                  <a:gd name="connsiteX3" fmla="*/ 5160174 w 5161441"/>
                  <a:gd name="connsiteY3" fmla="*/ 752490 h 3660533"/>
                  <a:gd name="connsiteX4" fmla="*/ 5158786 w 5161441"/>
                  <a:gd name="connsiteY4" fmla="*/ 2051706 h 3660533"/>
                  <a:gd name="connsiteX5" fmla="*/ 5158786 w 5161441"/>
                  <a:gd name="connsiteY5" fmla="*/ 2442821 h 3660533"/>
                  <a:gd name="connsiteX6" fmla="*/ 5160174 w 5161441"/>
                  <a:gd name="connsiteY6" fmla="*/ 2966098 h 3660533"/>
                  <a:gd name="connsiteX7" fmla="*/ 5160174 w 5161441"/>
                  <a:gd name="connsiteY7" fmla="*/ 3350307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lnTo>
                      <a:pt x="5160175" y="350657"/>
                    </a:lnTo>
                    <a:cubicBezTo>
                      <a:pt x="5160175" y="484601"/>
                      <a:pt x="5160174" y="618546"/>
                      <a:pt x="5160174" y="752490"/>
                    </a:cubicBezTo>
                    <a:cubicBezTo>
                      <a:pt x="5159711" y="1185562"/>
                      <a:pt x="5159249" y="1618634"/>
                      <a:pt x="5158786" y="2051706"/>
                    </a:cubicBezTo>
                    <a:lnTo>
                      <a:pt x="5158786" y="2442821"/>
                    </a:lnTo>
                    <a:cubicBezTo>
                      <a:pt x="5159249" y="2617247"/>
                      <a:pt x="5159711" y="2791672"/>
                      <a:pt x="5160174" y="2966098"/>
                    </a:cubicBezTo>
                    <a:lnTo>
                      <a:pt x="5160174" y="3350307"/>
                    </a:lnTo>
                    <a:cubicBezTo>
                      <a:pt x="5160596" y="3453716"/>
                      <a:pt x="5161019" y="3557124"/>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808080"/>
                  </a:solidFill>
                </a:endParaRPr>
              </a:p>
            </p:txBody>
          </p:sp>
          <p:sp>
            <p:nvSpPr>
              <p:cNvPr id="22" name="Rectangle 13"/>
              <p:cNvSpPr>
                <a:spLocks noChangeArrowheads="1"/>
              </p:cNvSpPr>
              <p:nvPr/>
            </p:nvSpPr>
            <p:spPr bwMode="gray">
              <a:xfrm>
                <a:off x="5729909" y="1008323"/>
                <a:ext cx="4562000" cy="387394"/>
              </a:xfrm>
              <a:custGeom>
                <a:avLst/>
                <a:gdLst>
                  <a:gd name="connsiteX0" fmla="*/ 0 w 4423658"/>
                  <a:gd name="connsiteY0" fmla="*/ 0 h 343492"/>
                  <a:gd name="connsiteX1" fmla="*/ 4423658 w 4423658"/>
                  <a:gd name="connsiteY1" fmla="*/ 0 h 343492"/>
                  <a:gd name="connsiteX2" fmla="*/ 4423658 w 4423658"/>
                  <a:gd name="connsiteY2" fmla="*/ 343492 h 343492"/>
                  <a:gd name="connsiteX3" fmla="*/ 0 w 4423658"/>
                  <a:gd name="connsiteY3" fmla="*/ 343492 h 343492"/>
                  <a:gd name="connsiteX4" fmla="*/ 0 w 4423658"/>
                  <a:gd name="connsiteY4" fmla="*/ 0 h 343492"/>
                  <a:gd name="connsiteX0" fmla="*/ 71252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71252 w 4423658"/>
                  <a:gd name="connsiteY4" fmla="*/ 11875 h 343492"/>
                  <a:gd name="connsiteX0" fmla="*/ 60681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60681 w 4423658"/>
                  <a:gd name="connsiteY4" fmla="*/ 11875 h 343492"/>
                  <a:gd name="connsiteX0" fmla="*/ 52695 w 4423658"/>
                  <a:gd name="connsiteY0" fmla="*/ 11875 h 343492"/>
                  <a:gd name="connsiteX1" fmla="*/ 4423658 w 4423658"/>
                  <a:gd name="connsiteY1" fmla="*/ 0 h 343492"/>
                  <a:gd name="connsiteX2" fmla="*/ 4423658 w 4423658"/>
                  <a:gd name="connsiteY2" fmla="*/ 343492 h 343492"/>
                  <a:gd name="connsiteX3" fmla="*/ 0 w 4423658"/>
                  <a:gd name="connsiteY3" fmla="*/ 343492 h 343492"/>
                  <a:gd name="connsiteX4" fmla="*/ 52695 w 4423658"/>
                  <a:gd name="connsiteY4" fmla="*/ 11875 h 343492"/>
                  <a:gd name="connsiteX0" fmla="*/ 60682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60682 w 4423658"/>
                  <a:gd name="connsiteY4" fmla="*/ 4824 h 343492"/>
                  <a:gd name="connsiteX0" fmla="*/ 36724 w 4423658"/>
                  <a:gd name="connsiteY0" fmla="*/ 4824 h 343492"/>
                  <a:gd name="connsiteX1" fmla="*/ 4423658 w 4423658"/>
                  <a:gd name="connsiteY1" fmla="*/ 0 h 343492"/>
                  <a:gd name="connsiteX2" fmla="*/ 4423658 w 4423658"/>
                  <a:gd name="connsiteY2" fmla="*/ 343492 h 343492"/>
                  <a:gd name="connsiteX3" fmla="*/ 0 w 4423658"/>
                  <a:gd name="connsiteY3" fmla="*/ 343492 h 343492"/>
                  <a:gd name="connsiteX4" fmla="*/ 36724 w 4423658"/>
                  <a:gd name="connsiteY4" fmla="*/ 4824 h 34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658" h="343492">
                    <a:moveTo>
                      <a:pt x="36724" y="4824"/>
                    </a:moveTo>
                    <a:lnTo>
                      <a:pt x="4423658" y="0"/>
                    </a:lnTo>
                    <a:lnTo>
                      <a:pt x="4423658" y="343492"/>
                    </a:lnTo>
                    <a:lnTo>
                      <a:pt x="0" y="343492"/>
                    </a:lnTo>
                    <a:lnTo>
                      <a:pt x="36724" y="4824"/>
                    </a:lnTo>
                    <a:close/>
                  </a:path>
                </a:pathLst>
              </a:cu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4834" tIns="44114" rIns="84834" bIns="44114" anchor="ctr"/>
              <a:lstStyle/>
              <a:p>
                <a:pPr algn="ctr" defTabSz="983096" eaLnBrk="0" hangingPunct="0">
                  <a:spcAft>
                    <a:spcPct val="0"/>
                  </a:spcAft>
                  <a:buClr>
                    <a:srgbClr val="999999"/>
                  </a:buClr>
                  <a:buSzPct val="75000"/>
                  <a:defRPr/>
                </a:pPr>
                <a:r>
                  <a:rPr lang="de-DE" sz="1319" b="1" kern="0" dirty="0"/>
                  <a:t>Commentary</a:t>
                </a:r>
              </a:p>
            </p:txBody>
          </p:sp>
          <p:sp>
            <p:nvSpPr>
              <p:cNvPr id="23" name="Rectangle 13"/>
              <p:cNvSpPr>
                <a:spLocks noChangeArrowheads="1"/>
              </p:cNvSpPr>
              <p:nvPr/>
            </p:nvSpPr>
            <p:spPr bwMode="gray">
              <a:xfrm>
                <a:off x="626681" y="1008323"/>
                <a:ext cx="4930872"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rgbClr val="808080"/>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endParaRPr lang="de-DE" sz="1319" b="1" kern="0" dirty="0">
                  <a:solidFill>
                    <a:srgbClr val="FFFFFF"/>
                  </a:solidFill>
                </a:endParaRPr>
              </a:p>
            </p:txBody>
          </p:sp>
          <p:sp>
            <p:nvSpPr>
              <p:cNvPr id="24" name="Rectangle 14"/>
              <p:cNvSpPr>
                <a:spLocks noChangeArrowheads="1"/>
              </p:cNvSpPr>
              <p:nvPr/>
            </p:nvSpPr>
            <p:spPr bwMode="gray">
              <a:xfrm rot="10800000">
                <a:off x="626681" y="1021708"/>
                <a:ext cx="4932000" cy="5652468"/>
              </a:xfrm>
              <a:custGeom>
                <a:avLst/>
                <a:gdLst>
                  <a:gd name="connsiteX0" fmla="*/ 0 w 4567675"/>
                  <a:gd name="connsiteY0" fmla="*/ 0 h 3660533"/>
                  <a:gd name="connsiteX1" fmla="*/ 4567675 w 4567675"/>
                  <a:gd name="connsiteY1" fmla="*/ 0 h 3660533"/>
                  <a:gd name="connsiteX2" fmla="*/ 4567675 w 4567675"/>
                  <a:gd name="connsiteY2" fmla="*/ 3660533 h 3660533"/>
                  <a:gd name="connsiteX3" fmla="*/ 0 w 4567675"/>
                  <a:gd name="connsiteY3" fmla="*/ 3660533 h 3660533"/>
                  <a:gd name="connsiteX4" fmla="*/ 0 w 4567675"/>
                  <a:gd name="connsiteY4" fmla="*/ 0 h 3660533"/>
                  <a:gd name="connsiteX0" fmla="*/ 593766 w 5161441"/>
                  <a:gd name="connsiteY0" fmla="*/ 0 h 3660533"/>
                  <a:gd name="connsiteX1" fmla="*/ 5161441 w 5161441"/>
                  <a:gd name="connsiteY1" fmla="*/ 0 h 3660533"/>
                  <a:gd name="connsiteX2" fmla="*/ 5161441 w 5161441"/>
                  <a:gd name="connsiteY2" fmla="*/ 3660533 h 3660533"/>
                  <a:gd name="connsiteX3" fmla="*/ 0 w 5161441"/>
                  <a:gd name="connsiteY3" fmla="*/ 3660533 h 3660533"/>
                  <a:gd name="connsiteX4" fmla="*/ 593766 w 5161441"/>
                  <a:gd name="connsiteY4" fmla="*/ 0 h 3660533"/>
                  <a:gd name="connsiteX0" fmla="*/ 593766 w 5161441"/>
                  <a:gd name="connsiteY0" fmla="*/ 0 h 3660533"/>
                  <a:gd name="connsiteX1" fmla="*/ 5161441 w 5161441"/>
                  <a:gd name="connsiteY1" fmla="*/ 0 h 3660533"/>
                  <a:gd name="connsiteX2" fmla="*/ 5158253 w 5161441"/>
                  <a:gd name="connsiteY2" fmla="*/ 3307335 h 3660533"/>
                  <a:gd name="connsiteX3" fmla="*/ 5161441 w 5161441"/>
                  <a:gd name="connsiteY3" fmla="*/ 3660533 h 3660533"/>
                  <a:gd name="connsiteX4" fmla="*/ 0 w 5161441"/>
                  <a:gd name="connsiteY4" fmla="*/ 3660533 h 3660533"/>
                  <a:gd name="connsiteX5" fmla="*/ 593766 w 5161441"/>
                  <a:gd name="connsiteY5" fmla="*/ 0 h 3660533"/>
                  <a:gd name="connsiteX0" fmla="*/ 593766 w 5498844"/>
                  <a:gd name="connsiteY0" fmla="*/ 0 h 3660533"/>
                  <a:gd name="connsiteX1" fmla="*/ 5161441 w 5498844"/>
                  <a:gd name="connsiteY1" fmla="*/ 0 h 3660533"/>
                  <a:gd name="connsiteX2" fmla="*/ 5158253 w 5498844"/>
                  <a:gd name="connsiteY2" fmla="*/ 2920268 h 3660533"/>
                  <a:gd name="connsiteX3" fmla="*/ 5158253 w 5498844"/>
                  <a:gd name="connsiteY3" fmla="*/ 3307335 h 3660533"/>
                  <a:gd name="connsiteX4" fmla="*/ 5161441 w 5498844"/>
                  <a:gd name="connsiteY4" fmla="*/ 3660533 h 3660533"/>
                  <a:gd name="connsiteX5" fmla="*/ 0 w 5498844"/>
                  <a:gd name="connsiteY5" fmla="*/ 3660533 h 3660533"/>
                  <a:gd name="connsiteX6" fmla="*/ 593766 w 5498844"/>
                  <a:gd name="connsiteY6"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5158253 w 5161441"/>
                  <a:gd name="connsiteY3" fmla="*/ 3307335 h 3660533"/>
                  <a:gd name="connsiteX4" fmla="*/ 5161441 w 5161441"/>
                  <a:gd name="connsiteY4" fmla="*/ 3660533 h 3660533"/>
                  <a:gd name="connsiteX5" fmla="*/ 0 w 5161441"/>
                  <a:gd name="connsiteY5" fmla="*/ 3660533 h 3660533"/>
                  <a:gd name="connsiteX6" fmla="*/ 593766 w 5161441"/>
                  <a:gd name="connsiteY6"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223470 h 3660533"/>
                  <a:gd name="connsiteX4" fmla="*/ 5158253 w 5167281"/>
                  <a:gd name="connsiteY4" fmla="*/ 3307335 h 3660533"/>
                  <a:gd name="connsiteX5" fmla="*/ 5161441 w 5167281"/>
                  <a:gd name="connsiteY5" fmla="*/ 3660533 h 3660533"/>
                  <a:gd name="connsiteX6" fmla="*/ 0 w 5167281"/>
                  <a:gd name="connsiteY6" fmla="*/ 3660533 h 3660533"/>
                  <a:gd name="connsiteX7" fmla="*/ 593766 w 5167281"/>
                  <a:gd name="connsiteY7" fmla="*/ 0 h 3660533"/>
                  <a:gd name="connsiteX0" fmla="*/ 593766 w 5167281"/>
                  <a:gd name="connsiteY0" fmla="*/ 0 h 3660533"/>
                  <a:gd name="connsiteX1" fmla="*/ 5161441 w 5167281"/>
                  <a:gd name="connsiteY1" fmla="*/ 0 h 3660533"/>
                  <a:gd name="connsiteX2" fmla="*/ 5158253 w 5167281"/>
                  <a:gd name="connsiteY2" fmla="*/ 2920268 h 3660533"/>
                  <a:gd name="connsiteX3" fmla="*/ 5167281 w 5167281"/>
                  <a:gd name="connsiteY3" fmla="*/ 3004132 h 3660533"/>
                  <a:gd name="connsiteX4" fmla="*/ 5167281 w 5167281"/>
                  <a:gd name="connsiteY4" fmla="*/ 3223470 h 3660533"/>
                  <a:gd name="connsiteX5" fmla="*/ 5158253 w 5167281"/>
                  <a:gd name="connsiteY5" fmla="*/ 3307335 h 3660533"/>
                  <a:gd name="connsiteX6" fmla="*/ 5161441 w 5167281"/>
                  <a:gd name="connsiteY6" fmla="*/ 3660533 h 3660533"/>
                  <a:gd name="connsiteX7" fmla="*/ 0 w 5167281"/>
                  <a:gd name="connsiteY7" fmla="*/ 3660533 h 3660533"/>
                  <a:gd name="connsiteX8" fmla="*/ 593766 w 5167281"/>
                  <a:gd name="connsiteY8" fmla="*/ 0 h 3660533"/>
                  <a:gd name="connsiteX0" fmla="*/ 593766 w 5167282"/>
                  <a:gd name="connsiteY0" fmla="*/ 0 h 3660533"/>
                  <a:gd name="connsiteX1" fmla="*/ 5161441 w 5167282"/>
                  <a:gd name="connsiteY1" fmla="*/ 0 h 3660533"/>
                  <a:gd name="connsiteX2" fmla="*/ 5158253 w 5167282"/>
                  <a:gd name="connsiteY2" fmla="*/ 2920268 h 3660533"/>
                  <a:gd name="connsiteX3" fmla="*/ 5167281 w 5167282"/>
                  <a:gd name="connsiteY3" fmla="*/ 3004132 h 3660533"/>
                  <a:gd name="connsiteX4" fmla="*/ 3786039 w 5167282"/>
                  <a:gd name="connsiteY4" fmla="*/ 3262177 h 3660533"/>
                  <a:gd name="connsiteX5" fmla="*/ 5158253 w 5167282"/>
                  <a:gd name="connsiteY5" fmla="*/ 3307335 h 3660533"/>
                  <a:gd name="connsiteX6" fmla="*/ 5161441 w 5167282"/>
                  <a:gd name="connsiteY6" fmla="*/ 3660533 h 3660533"/>
                  <a:gd name="connsiteX7" fmla="*/ 0 w 5167282"/>
                  <a:gd name="connsiteY7" fmla="*/ 3660533 h 3660533"/>
                  <a:gd name="connsiteX8" fmla="*/ 593766 w 5167282"/>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921454 w 5161441"/>
                  <a:gd name="connsiteY3" fmla="*/ 2939621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86039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40901 w 5161441"/>
                  <a:gd name="connsiteY4" fmla="*/ 3262177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20268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94371 w 5161441"/>
                  <a:gd name="connsiteY3" fmla="*/ 2913816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22845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709239 w 5161441"/>
                  <a:gd name="connsiteY4" fmla="*/ 3300883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10545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7334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161441"/>
                  <a:gd name="connsiteY0" fmla="*/ 0 h 3660533"/>
                  <a:gd name="connsiteX1" fmla="*/ 5161441 w 5161441"/>
                  <a:gd name="connsiteY1" fmla="*/ 0 h 3660533"/>
                  <a:gd name="connsiteX2" fmla="*/ 5158253 w 5161441"/>
                  <a:gd name="connsiteY2" fmla="*/ 2904063 h 3660533"/>
                  <a:gd name="connsiteX3" fmla="*/ 3876230 w 5161441"/>
                  <a:gd name="connsiteY3" fmla="*/ 2904093 h 3660533"/>
                  <a:gd name="connsiteX4" fmla="*/ 3695634 w 5161441"/>
                  <a:gd name="connsiteY4" fmla="*/ 3307365 h 3660533"/>
                  <a:gd name="connsiteX5" fmla="*/ 5158253 w 5161441"/>
                  <a:gd name="connsiteY5" fmla="*/ 3307335 h 3660533"/>
                  <a:gd name="connsiteX6" fmla="*/ 5161441 w 5161441"/>
                  <a:gd name="connsiteY6" fmla="*/ 3660533 h 3660533"/>
                  <a:gd name="connsiteX7" fmla="*/ 0 w 5161441"/>
                  <a:gd name="connsiteY7" fmla="*/ 3660533 h 3660533"/>
                  <a:gd name="connsiteX8" fmla="*/ 593766 w 5161441"/>
                  <a:gd name="connsiteY8" fmla="*/ 0 h 3660533"/>
                  <a:gd name="connsiteX0" fmla="*/ 593766 w 5499313"/>
                  <a:gd name="connsiteY0" fmla="*/ 0 h 3660533"/>
                  <a:gd name="connsiteX1" fmla="*/ 5161441 w 5499313"/>
                  <a:gd name="connsiteY1" fmla="*/ 0 h 3660533"/>
                  <a:gd name="connsiteX2" fmla="*/ 5159665 w 5499313"/>
                  <a:gd name="connsiteY2" fmla="*/ 1892248 h 3660533"/>
                  <a:gd name="connsiteX3" fmla="*/ 5158253 w 5499313"/>
                  <a:gd name="connsiteY3" fmla="*/ 2904063 h 3660533"/>
                  <a:gd name="connsiteX4" fmla="*/ 3876230 w 5499313"/>
                  <a:gd name="connsiteY4" fmla="*/ 2904093 h 3660533"/>
                  <a:gd name="connsiteX5" fmla="*/ 3695634 w 5499313"/>
                  <a:gd name="connsiteY5" fmla="*/ 3307365 h 3660533"/>
                  <a:gd name="connsiteX6" fmla="*/ 5158253 w 5499313"/>
                  <a:gd name="connsiteY6" fmla="*/ 3307335 h 3660533"/>
                  <a:gd name="connsiteX7" fmla="*/ 5161441 w 5499313"/>
                  <a:gd name="connsiteY7" fmla="*/ 3660533 h 3660533"/>
                  <a:gd name="connsiteX8" fmla="*/ 0 w 5499313"/>
                  <a:gd name="connsiteY8" fmla="*/ 3660533 h 3660533"/>
                  <a:gd name="connsiteX9" fmla="*/ 593766 w 5499313"/>
                  <a:gd name="connsiteY9" fmla="*/ 0 h 3660533"/>
                  <a:gd name="connsiteX0" fmla="*/ 593766 w 5253571"/>
                  <a:gd name="connsiteY0" fmla="*/ 0 h 3660533"/>
                  <a:gd name="connsiteX1" fmla="*/ 5161441 w 5253571"/>
                  <a:gd name="connsiteY1" fmla="*/ 0 h 3660533"/>
                  <a:gd name="connsiteX2" fmla="*/ 5159665 w 5253571"/>
                  <a:gd name="connsiteY2" fmla="*/ 1892248 h 3660533"/>
                  <a:gd name="connsiteX3" fmla="*/ 5158253 w 5253571"/>
                  <a:gd name="connsiteY3" fmla="*/ 2904063 h 3660533"/>
                  <a:gd name="connsiteX4" fmla="*/ 3876230 w 5253571"/>
                  <a:gd name="connsiteY4" fmla="*/ 2904093 h 3660533"/>
                  <a:gd name="connsiteX5" fmla="*/ 3695634 w 5253571"/>
                  <a:gd name="connsiteY5" fmla="*/ 3307365 h 3660533"/>
                  <a:gd name="connsiteX6" fmla="*/ 5158253 w 5253571"/>
                  <a:gd name="connsiteY6" fmla="*/ 3307335 h 3660533"/>
                  <a:gd name="connsiteX7" fmla="*/ 5161441 w 5253571"/>
                  <a:gd name="connsiteY7" fmla="*/ 3660533 h 3660533"/>
                  <a:gd name="connsiteX8" fmla="*/ 0 w 5253571"/>
                  <a:gd name="connsiteY8" fmla="*/ 3660533 h 3660533"/>
                  <a:gd name="connsiteX9" fmla="*/ 593766 w 5253571"/>
                  <a:gd name="connsiteY9" fmla="*/ 0 h 3660533"/>
                  <a:gd name="connsiteX0" fmla="*/ 593766 w 5161441"/>
                  <a:gd name="connsiteY0" fmla="*/ 0 h 3660533"/>
                  <a:gd name="connsiteX1" fmla="*/ 5161441 w 5161441"/>
                  <a:gd name="connsiteY1" fmla="*/ 0 h 3660533"/>
                  <a:gd name="connsiteX2" fmla="*/ 5159665 w 5161441"/>
                  <a:gd name="connsiteY2" fmla="*/ 1892248 h 3660533"/>
                  <a:gd name="connsiteX3" fmla="*/ 5158253 w 5161441"/>
                  <a:gd name="connsiteY3" fmla="*/ 2904063 h 3660533"/>
                  <a:gd name="connsiteX4" fmla="*/ 3876230 w 5161441"/>
                  <a:gd name="connsiteY4" fmla="*/ 2904093 h 3660533"/>
                  <a:gd name="connsiteX5" fmla="*/ 3695634 w 5161441"/>
                  <a:gd name="connsiteY5" fmla="*/ 3307365 h 3660533"/>
                  <a:gd name="connsiteX6" fmla="*/ 5158253 w 5161441"/>
                  <a:gd name="connsiteY6" fmla="*/ 3307335 h 3660533"/>
                  <a:gd name="connsiteX7" fmla="*/ 5161441 w 5161441"/>
                  <a:gd name="connsiteY7" fmla="*/ 3660533 h 3660533"/>
                  <a:gd name="connsiteX8" fmla="*/ 0 w 5161441"/>
                  <a:gd name="connsiteY8" fmla="*/ 3660533 h 3660533"/>
                  <a:gd name="connsiteX9" fmla="*/ 593766 w 5161441"/>
                  <a:gd name="connsiteY9"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892248 h 3660533"/>
                  <a:gd name="connsiteX4" fmla="*/ 5158253 w 5161441"/>
                  <a:gd name="connsiteY4" fmla="*/ 2904063 h 3660533"/>
                  <a:gd name="connsiteX5" fmla="*/ 3876230 w 5161441"/>
                  <a:gd name="connsiteY5" fmla="*/ 2904093 h 3660533"/>
                  <a:gd name="connsiteX6" fmla="*/ 3695634 w 5161441"/>
                  <a:gd name="connsiteY6" fmla="*/ 3307365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92248 h 3660533"/>
                  <a:gd name="connsiteX5" fmla="*/ 5158253 w 5161441"/>
                  <a:gd name="connsiteY5" fmla="*/ 2904063 h 3660533"/>
                  <a:gd name="connsiteX6" fmla="*/ 3876230 w 5161441"/>
                  <a:gd name="connsiteY6" fmla="*/ 2904093 h 3660533"/>
                  <a:gd name="connsiteX7" fmla="*/ 3695634 w 5161441"/>
                  <a:gd name="connsiteY7" fmla="*/ 3307365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5159665 w 5161441"/>
                  <a:gd name="connsiteY4" fmla="*/ 185011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5159665 w 5161441"/>
                  <a:gd name="connsiteY3" fmla="*/ 1522792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12919 w 5161441"/>
                  <a:gd name="connsiteY4" fmla="*/ 1885767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4 w 5161441"/>
                  <a:gd name="connsiteY4" fmla="*/ 1889524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665 w 5161441"/>
                  <a:gd name="connsiteY2" fmla="*/ 1480661 h 3660533"/>
                  <a:gd name="connsiteX3" fmla="*/ 3876188 w 5161441"/>
                  <a:gd name="connsiteY3" fmla="*/ 1480661 h 3660533"/>
                  <a:gd name="connsiteX4" fmla="*/ 3702405 w 5161441"/>
                  <a:gd name="connsiteY4" fmla="*/ 1893281 h 3660533"/>
                  <a:gd name="connsiteX5" fmla="*/ 5159665 w 5161441"/>
                  <a:gd name="connsiteY5" fmla="*/ 1892248 h 3660533"/>
                  <a:gd name="connsiteX6" fmla="*/ 5158253 w 5161441"/>
                  <a:gd name="connsiteY6" fmla="*/ 2904063 h 3660533"/>
                  <a:gd name="connsiteX7" fmla="*/ 3876230 w 5161441"/>
                  <a:gd name="connsiteY7" fmla="*/ 2904093 h 3660533"/>
                  <a:gd name="connsiteX8" fmla="*/ 3695634 w 5161441"/>
                  <a:gd name="connsiteY8" fmla="*/ 3307365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1324155 h 3660533"/>
                  <a:gd name="connsiteX3" fmla="*/ 5159665 w 5161441"/>
                  <a:gd name="connsiteY3" fmla="*/ 1480661 h 3660533"/>
                  <a:gd name="connsiteX4" fmla="*/ 3876188 w 5161441"/>
                  <a:gd name="connsiteY4" fmla="*/ 1480661 h 3660533"/>
                  <a:gd name="connsiteX5" fmla="*/ 3702405 w 5161441"/>
                  <a:gd name="connsiteY5" fmla="*/ 1893281 h 3660533"/>
                  <a:gd name="connsiteX6" fmla="*/ 5159665 w 5161441"/>
                  <a:gd name="connsiteY6" fmla="*/ 1892248 h 3660533"/>
                  <a:gd name="connsiteX7" fmla="*/ 5158253 w 5161441"/>
                  <a:gd name="connsiteY7" fmla="*/ 2904063 h 3660533"/>
                  <a:gd name="connsiteX8" fmla="*/ 3876230 w 5161441"/>
                  <a:gd name="connsiteY8" fmla="*/ 2904093 h 3660533"/>
                  <a:gd name="connsiteX9" fmla="*/ 3695634 w 5161441"/>
                  <a:gd name="connsiteY9" fmla="*/ 3307365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499177"/>
                  <a:gd name="connsiteY0" fmla="*/ 0 h 3660533"/>
                  <a:gd name="connsiteX1" fmla="*/ 5161441 w 5499177"/>
                  <a:gd name="connsiteY1" fmla="*/ 0 h 3660533"/>
                  <a:gd name="connsiteX2" fmla="*/ 5159381 w 5499177"/>
                  <a:gd name="connsiteY2" fmla="*/ 907453 h 3660533"/>
                  <a:gd name="connsiteX3" fmla="*/ 5159381 w 5499177"/>
                  <a:gd name="connsiteY3" fmla="*/ 1324155 h 3660533"/>
                  <a:gd name="connsiteX4" fmla="*/ 5159665 w 5499177"/>
                  <a:gd name="connsiteY4" fmla="*/ 1480661 h 3660533"/>
                  <a:gd name="connsiteX5" fmla="*/ 3876188 w 5499177"/>
                  <a:gd name="connsiteY5" fmla="*/ 1480661 h 3660533"/>
                  <a:gd name="connsiteX6" fmla="*/ 3702405 w 5499177"/>
                  <a:gd name="connsiteY6" fmla="*/ 1893281 h 3660533"/>
                  <a:gd name="connsiteX7" fmla="*/ 5159665 w 5499177"/>
                  <a:gd name="connsiteY7" fmla="*/ 1892248 h 3660533"/>
                  <a:gd name="connsiteX8" fmla="*/ 5158253 w 5499177"/>
                  <a:gd name="connsiteY8" fmla="*/ 2904063 h 3660533"/>
                  <a:gd name="connsiteX9" fmla="*/ 3876230 w 5499177"/>
                  <a:gd name="connsiteY9" fmla="*/ 2904093 h 3660533"/>
                  <a:gd name="connsiteX10" fmla="*/ 3695634 w 5499177"/>
                  <a:gd name="connsiteY10" fmla="*/ 3307365 h 3660533"/>
                  <a:gd name="connsiteX11" fmla="*/ 5158253 w 5499177"/>
                  <a:gd name="connsiteY11" fmla="*/ 3307335 h 3660533"/>
                  <a:gd name="connsiteX12" fmla="*/ 5161441 w 5499177"/>
                  <a:gd name="connsiteY12" fmla="*/ 3660533 h 3660533"/>
                  <a:gd name="connsiteX13" fmla="*/ 0 w 5499177"/>
                  <a:gd name="connsiteY13" fmla="*/ 3660533 h 3660533"/>
                  <a:gd name="connsiteX14" fmla="*/ 593766 w 5499177"/>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324155 h 3660533"/>
                  <a:gd name="connsiteX4" fmla="*/ 5159665 w 5161441"/>
                  <a:gd name="connsiteY4" fmla="*/ 1480661 h 3660533"/>
                  <a:gd name="connsiteX5" fmla="*/ 3876188 w 5161441"/>
                  <a:gd name="connsiteY5" fmla="*/ 1480661 h 3660533"/>
                  <a:gd name="connsiteX6" fmla="*/ 3702405 w 5161441"/>
                  <a:gd name="connsiteY6" fmla="*/ 1893281 h 3660533"/>
                  <a:gd name="connsiteX7" fmla="*/ 5159665 w 5161441"/>
                  <a:gd name="connsiteY7" fmla="*/ 1892248 h 3660533"/>
                  <a:gd name="connsiteX8" fmla="*/ 5158253 w 5161441"/>
                  <a:gd name="connsiteY8" fmla="*/ 2904063 h 3660533"/>
                  <a:gd name="connsiteX9" fmla="*/ 3876230 w 5161441"/>
                  <a:gd name="connsiteY9" fmla="*/ 2904093 h 3660533"/>
                  <a:gd name="connsiteX10" fmla="*/ 3695634 w 5161441"/>
                  <a:gd name="connsiteY10" fmla="*/ 3307365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5159381 w 5161441"/>
                  <a:gd name="connsiteY3" fmla="*/ 1281417 h 3660533"/>
                  <a:gd name="connsiteX4" fmla="*/ 5159381 w 5161441"/>
                  <a:gd name="connsiteY4" fmla="*/ 1324155 h 3660533"/>
                  <a:gd name="connsiteX5" fmla="*/ 5159665 w 5161441"/>
                  <a:gd name="connsiteY5" fmla="*/ 1480661 h 3660533"/>
                  <a:gd name="connsiteX6" fmla="*/ 3876188 w 5161441"/>
                  <a:gd name="connsiteY6" fmla="*/ 1480661 h 3660533"/>
                  <a:gd name="connsiteX7" fmla="*/ 3702405 w 5161441"/>
                  <a:gd name="connsiteY7" fmla="*/ 1893281 h 3660533"/>
                  <a:gd name="connsiteX8" fmla="*/ 5159665 w 5161441"/>
                  <a:gd name="connsiteY8" fmla="*/ 1892248 h 3660533"/>
                  <a:gd name="connsiteX9" fmla="*/ 5158253 w 5161441"/>
                  <a:gd name="connsiteY9" fmla="*/ 2904063 h 3660533"/>
                  <a:gd name="connsiteX10" fmla="*/ 3876230 w 5161441"/>
                  <a:gd name="connsiteY10" fmla="*/ 2904093 h 3660533"/>
                  <a:gd name="connsiteX11" fmla="*/ 3695634 w 5161441"/>
                  <a:gd name="connsiteY11" fmla="*/ 3307365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5159381 w 5164365"/>
                  <a:gd name="connsiteY4" fmla="*/ 1281417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4365"/>
                  <a:gd name="connsiteY0" fmla="*/ 0 h 3660533"/>
                  <a:gd name="connsiteX1" fmla="*/ 5161441 w 5164365"/>
                  <a:gd name="connsiteY1" fmla="*/ 0 h 3660533"/>
                  <a:gd name="connsiteX2" fmla="*/ 5159381 w 5164365"/>
                  <a:gd name="connsiteY2" fmla="*/ 907453 h 3660533"/>
                  <a:gd name="connsiteX3" fmla="*/ 5164365 w 5164365"/>
                  <a:gd name="connsiteY3" fmla="*/ 946631 h 3660533"/>
                  <a:gd name="connsiteX4" fmla="*/ 3694069 w 5164365"/>
                  <a:gd name="connsiteY4" fmla="*/ 1324155 h 3660533"/>
                  <a:gd name="connsiteX5" fmla="*/ 5159381 w 5164365"/>
                  <a:gd name="connsiteY5" fmla="*/ 1324155 h 3660533"/>
                  <a:gd name="connsiteX6" fmla="*/ 5159665 w 5164365"/>
                  <a:gd name="connsiteY6" fmla="*/ 1480661 h 3660533"/>
                  <a:gd name="connsiteX7" fmla="*/ 3876188 w 5164365"/>
                  <a:gd name="connsiteY7" fmla="*/ 1480661 h 3660533"/>
                  <a:gd name="connsiteX8" fmla="*/ 3702405 w 5164365"/>
                  <a:gd name="connsiteY8" fmla="*/ 1893281 h 3660533"/>
                  <a:gd name="connsiteX9" fmla="*/ 5159665 w 5164365"/>
                  <a:gd name="connsiteY9" fmla="*/ 1892248 h 3660533"/>
                  <a:gd name="connsiteX10" fmla="*/ 5158253 w 5164365"/>
                  <a:gd name="connsiteY10" fmla="*/ 2904063 h 3660533"/>
                  <a:gd name="connsiteX11" fmla="*/ 3876230 w 5164365"/>
                  <a:gd name="connsiteY11" fmla="*/ 2904093 h 3660533"/>
                  <a:gd name="connsiteX12" fmla="*/ 3695634 w 5164365"/>
                  <a:gd name="connsiteY12" fmla="*/ 3307365 h 3660533"/>
                  <a:gd name="connsiteX13" fmla="*/ 5158253 w 5164365"/>
                  <a:gd name="connsiteY13" fmla="*/ 3307335 h 3660533"/>
                  <a:gd name="connsiteX14" fmla="*/ 5161441 w 5164365"/>
                  <a:gd name="connsiteY14" fmla="*/ 3660533 h 3660533"/>
                  <a:gd name="connsiteX15" fmla="*/ 0 w 5164365"/>
                  <a:gd name="connsiteY15" fmla="*/ 3660533 h 3660533"/>
                  <a:gd name="connsiteX16" fmla="*/ 593766 w 5164365"/>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98415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80661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92248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93281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80661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907453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24155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24155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297513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907454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081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95634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702405 w 5161441"/>
                  <a:gd name="connsiteY8" fmla="*/ 1871079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94069 w 5161441"/>
                  <a:gd name="connsiteY4" fmla="*/ 1301954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1690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3672668 w 5161441"/>
                  <a:gd name="connsiteY12" fmla="*/ 3307365 h 3660533"/>
                  <a:gd name="connsiteX13" fmla="*/ 5158253 w 5161441"/>
                  <a:gd name="connsiteY13" fmla="*/ 3307335 h 3660533"/>
                  <a:gd name="connsiteX14" fmla="*/ 5161441 w 5161441"/>
                  <a:gd name="connsiteY14" fmla="*/ 3660533 h 3660533"/>
                  <a:gd name="connsiteX15" fmla="*/ 0 w 5161441"/>
                  <a:gd name="connsiteY15" fmla="*/ 3660533 h 3660533"/>
                  <a:gd name="connsiteX16" fmla="*/ 593766 w 5161441"/>
                  <a:gd name="connsiteY16"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3876230 w 5161441"/>
                  <a:gd name="connsiteY11" fmla="*/ 2904093 h 3660533"/>
                  <a:gd name="connsiteX12" fmla="*/ 5158253 w 5161441"/>
                  <a:gd name="connsiteY12" fmla="*/ 3307335 h 3660533"/>
                  <a:gd name="connsiteX13" fmla="*/ 5161441 w 5161441"/>
                  <a:gd name="connsiteY13" fmla="*/ 3660533 h 3660533"/>
                  <a:gd name="connsiteX14" fmla="*/ 0 w 5161441"/>
                  <a:gd name="connsiteY14" fmla="*/ 3660533 h 3660533"/>
                  <a:gd name="connsiteX15" fmla="*/ 593766 w 5161441"/>
                  <a:gd name="connsiteY15"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3679439 w 5161441"/>
                  <a:gd name="connsiteY8" fmla="*/ 1865946 h 3660533"/>
                  <a:gd name="connsiteX9" fmla="*/ 5159665 w 5161441"/>
                  <a:gd name="connsiteY9" fmla="*/ 1870047 h 3660533"/>
                  <a:gd name="connsiteX10" fmla="*/ 5158253 w 5161441"/>
                  <a:gd name="connsiteY10" fmla="*/ 2904063 h 3660533"/>
                  <a:gd name="connsiteX11" fmla="*/ 5158253 w 5161441"/>
                  <a:gd name="connsiteY11" fmla="*/ 3307335 h 3660533"/>
                  <a:gd name="connsiteX12" fmla="*/ 5161441 w 5161441"/>
                  <a:gd name="connsiteY12" fmla="*/ 3660533 h 3660533"/>
                  <a:gd name="connsiteX13" fmla="*/ 0 w 5161441"/>
                  <a:gd name="connsiteY13" fmla="*/ 3660533 h 3660533"/>
                  <a:gd name="connsiteX14" fmla="*/ 593766 w 5161441"/>
                  <a:gd name="connsiteY14"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3876188 w 5161441"/>
                  <a:gd name="connsiteY7" fmla="*/ 1458458 h 3660533"/>
                  <a:gd name="connsiteX8" fmla="*/ 5159665 w 5161441"/>
                  <a:gd name="connsiteY8" fmla="*/ 1870047 h 3660533"/>
                  <a:gd name="connsiteX9" fmla="*/ 5158253 w 5161441"/>
                  <a:gd name="connsiteY9" fmla="*/ 2904063 h 3660533"/>
                  <a:gd name="connsiteX10" fmla="*/ 5158253 w 5161441"/>
                  <a:gd name="connsiteY10" fmla="*/ 3307335 h 3660533"/>
                  <a:gd name="connsiteX11" fmla="*/ 5161441 w 5161441"/>
                  <a:gd name="connsiteY11" fmla="*/ 3660533 h 3660533"/>
                  <a:gd name="connsiteX12" fmla="*/ 0 w 5161441"/>
                  <a:gd name="connsiteY12" fmla="*/ 3660533 h 3660533"/>
                  <a:gd name="connsiteX13" fmla="*/ 593766 w 5161441"/>
                  <a:gd name="connsiteY13"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3671102 w 5161441"/>
                  <a:gd name="connsiteY4" fmla="*/ 1296822 h 3660533"/>
                  <a:gd name="connsiteX5" fmla="*/ 5159381 w 5161441"/>
                  <a:gd name="connsiteY5" fmla="*/ 1301954 h 3660533"/>
                  <a:gd name="connsiteX6" fmla="*/ 5159665 w 5161441"/>
                  <a:gd name="connsiteY6" fmla="*/ 1458459 h 3660533"/>
                  <a:gd name="connsiteX7" fmla="*/ 5159665 w 5161441"/>
                  <a:gd name="connsiteY7" fmla="*/ 1870047 h 3660533"/>
                  <a:gd name="connsiteX8" fmla="*/ 5158253 w 5161441"/>
                  <a:gd name="connsiteY8" fmla="*/ 2904063 h 3660533"/>
                  <a:gd name="connsiteX9" fmla="*/ 5158253 w 5161441"/>
                  <a:gd name="connsiteY9" fmla="*/ 3307335 h 3660533"/>
                  <a:gd name="connsiteX10" fmla="*/ 5161441 w 5161441"/>
                  <a:gd name="connsiteY10" fmla="*/ 3660533 h 3660533"/>
                  <a:gd name="connsiteX11" fmla="*/ 0 w 5161441"/>
                  <a:gd name="connsiteY11" fmla="*/ 3660533 h 3660533"/>
                  <a:gd name="connsiteX12" fmla="*/ 593766 w 5161441"/>
                  <a:gd name="connsiteY12"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3883463 w 5161441"/>
                  <a:gd name="connsiteY3" fmla="*/ 885252 h 3660533"/>
                  <a:gd name="connsiteX4" fmla="*/ 5159381 w 5161441"/>
                  <a:gd name="connsiteY4" fmla="*/ 1301954 h 3660533"/>
                  <a:gd name="connsiteX5" fmla="*/ 5159665 w 5161441"/>
                  <a:gd name="connsiteY5" fmla="*/ 1458459 h 3660533"/>
                  <a:gd name="connsiteX6" fmla="*/ 5159665 w 5161441"/>
                  <a:gd name="connsiteY6" fmla="*/ 1870047 h 3660533"/>
                  <a:gd name="connsiteX7" fmla="*/ 5158253 w 5161441"/>
                  <a:gd name="connsiteY7" fmla="*/ 2904063 h 3660533"/>
                  <a:gd name="connsiteX8" fmla="*/ 5158253 w 5161441"/>
                  <a:gd name="connsiteY8" fmla="*/ 3307335 h 3660533"/>
                  <a:gd name="connsiteX9" fmla="*/ 5161441 w 5161441"/>
                  <a:gd name="connsiteY9" fmla="*/ 3660533 h 3660533"/>
                  <a:gd name="connsiteX10" fmla="*/ 0 w 5161441"/>
                  <a:gd name="connsiteY10" fmla="*/ 3660533 h 3660533"/>
                  <a:gd name="connsiteX11" fmla="*/ 593766 w 5161441"/>
                  <a:gd name="connsiteY11" fmla="*/ 0 h 3660533"/>
                  <a:gd name="connsiteX0" fmla="*/ 593766 w 5161441"/>
                  <a:gd name="connsiteY0" fmla="*/ 0 h 3660533"/>
                  <a:gd name="connsiteX1" fmla="*/ 5161441 w 5161441"/>
                  <a:gd name="connsiteY1" fmla="*/ 0 h 3660533"/>
                  <a:gd name="connsiteX2" fmla="*/ 5159381 w 5161441"/>
                  <a:gd name="connsiteY2" fmla="*/ 885252 h 3660533"/>
                  <a:gd name="connsiteX3" fmla="*/ 5159381 w 5161441"/>
                  <a:gd name="connsiteY3" fmla="*/ 1301954 h 3660533"/>
                  <a:gd name="connsiteX4" fmla="*/ 5159665 w 5161441"/>
                  <a:gd name="connsiteY4" fmla="*/ 1458459 h 3660533"/>
                  <a:gd name="connsiteX5" fmla="*/ 5159665 w 5161441"/>
                  <a:gd name="connsiteY5" fmla="*/ 1870047 h 3660533"/>
                  <a:gd name="connsiteX6" fmla="*/ 5158253 w 5161441"/>
                  <a:gd name="connsiteY6" fmla="*/ 2904063 h 3660533"/>
                  <a:gd name="connsiteX7" fmla="*/ 5158253 w 5161441"/>
                  <a:gd name="connsiteY7" fmla="*/ 3307335 h 3660533"/>
                  <a:gd name="connsiteX8" fmla="*/ 5161441 w 5161441"/>
                  <a:gd name="connsiteY8" fmla="*/ 3660533 h 3660533"/>
                  <a:gd name="connsiteX9" fmla="*/ 0 w 5161441"/>
                  <a:gd name="connsiteY9" fmla="*/ 3660533 h 3660533"/>
                  <a:gd name="connsiteX10" fmla="*/ 593766 w 5161441"/>
                  <a:gd name="connsiteY10" fmla="*/ 0 h 366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1441" h="3660533">
                    <a:moveTo>
                      <a:pt x="593766" y="0"/>
                    </a:moveTo>
                    <a:lnTo>
                      <a:pt x="5161441" y="0"/>
                    </a:lnTo>
                    <a:cubicBezTo>
                      <a:pt x="5160754" y="302484"/>
                      <a:pt x="5160068" y="582768"/>
                      <a:pt x="5159381" y="885252"/>
                    </a:cubicBezTo>
                    <a:lnTo>
                      <a:pt x="5159381" y="1301954"/>
                    </a:lnTo>
                    <a:cubicBezTo>
                      <a:pt x="5159476" y="1354123"/>
                      <a:pt x="5159570" y="1406290"/>
                      <a:pt x="5159665" y="1458459"/>
                    </a:cubicBezTo>
                    <a:lnTo>
                      <a:pt x="5159665" y="1870047"/>
                    </a:lnTo>
                    <a:cubicBezTo>
                      <a:pt x="5159194" y="2207319"/>
                      <a:pt x="5158724" y="2566791"/>
                      <a:pt x="5158253" y="2904063"/>
                    </a:cubicBezTo>
                    <a:lnTo>
                      <a:pt x="5158253" y="3307335"/>
                    </a:lnTo>
                    <a:cubicBezTo>
                      <a:pt x="5159316" y="3425068"/>
                      <a:pt x="5160378" y="3542800"/>
                      <a:pt x="5161441" y="3660533"/>
                    </a:cubicBezTo>
                    <a:lnTo>
                      <a:pt x="0" y="3660533"/>
                    </a:lnTo>
                    <a:lnTo>
                      <a:pt x="593766" y="0"/>
                    </a:lnTo>
                    <a:close/>
                  </a:path>
                </a:pathLst>
              </a:custGeom>
              <a:ln>
                <a:headEnd/>
                <a:tailEnd/>
              </a:ln>
            </p:spPr>
            <p:style>
              <a:lnRef idx="2">
                <a:schemeClr val="accent1"/>
              </a:lnRef>
              <a:fillRef idx="1">
                <a:schemeClr val="lt1"/>
              </a:fillRef>
              <a:effectRef idx="0">
                <a:schemeClr val="accent1"/>
              </a:effectRef>
              <a:fontRef idx="minor">
                <a:schemeClr val="dk1"/>
              </a:fontRef>
            </p:style>
            <p:txBody>
              <a:bodyPr vert="horz" lIns="84834" tIns="78047" rIns="84834" bIns="44114"/>
              <a:lstStyle/>
              <a:p>
                <a:pPr marL="341165" indent="-341165" defTabSz="938206">
                  <a:buClr>
                    <a:srgbClr val="FFCC00"/>
                  </a:buClr>
                  <a:buSzPct val="75000"/>
                  <a:buFont typeface="Arial" pitchFamily="34" charset="0"/>
                  <a:buChar char="►"/>
                  <a:defRPr/>
                </a:pPr>
                <a:endParaRPr lang="de-DE" sz="1508" kern="0" dirty="0">
                  <a:solidFill>
                    <a:srgbClr val="646464"/>
                  </a:solidFill>
                </a:endParaRPr>
              </a:p>
            </p:txBody>
          </p:sp>
        </p:grpSp>
        <p:sp>
          <p:nvSpPr>
            <p:cNvPr id="21" name="Rectangle 13"/>
            <p:cNvSpPr>
              <a:spLocks noChangeArrowheads="1"/>
            </p:cNvSpPr>
            <p:nvPr/>
          </p:nvSpPr>
          <p:spPr bwMode="gray">
            <a:xfrm>
              <a:off x="630176" y="900871"/>
              <a:ext cx="4932000" cy="387512"/>
            </a:xfrm>
            <a:custGeom>
              <a:avLst/>
              <a:gdLst>
                <a:gd name="connsiteX0" fmla="*/ 0 w 4596006"/>
                <a:gd name="connsiteY0" fmla="*/ 0 h 343492"/>
                <a:gd name="connsiteX1" fmla="*/ 4596006 w 4596006"/>
                <a:gd name="connsiteY1" fmla="*/ 0 h 343492"/>
                <a:gd name="connsiteX2" fmla="*/ 4596006 w 4596006"/>
                <a:gd name="connsiteY2" fmla="*/ 343492 h 343492"/>
                <a:gd name="connsiteX3" fmla="*/ 0 w 4596006"/>
                <a:gd name="connsiteY3" fmla="*/ 343492 h 343492"/>
                <a:gd name="connsiteX4" fmla="*/ 0 w 4596006"/>
                <a:gd name="connsiteY4" fmla="*/ 0 h 343492"/>
                <a:gd name="connsiteX0" fmla="*/ 0 w 4679134"/>
                <a:gd name="connsiteY0" fmla="*/ 0 h 343492"/>
                <a:gd name="connsiteX1" fmla="*/ 4679134 w 4679134"/>
                <a:gd name="connsiteY1" fmla="*/ 0 h 343492"/>
                <a:gd name="connsiteX2" fmla="*/ 4596006 w 4679134"/>
                <a:gd name="connsiteY2" fmla="*/ 343492 h 343492"/>
                <a:gd name="connsiteX3" fmla="*/ 0 w 4679134"/>
                <a:gd name="connsiteY3" fmla="*/ 343492 h 343492"/>
                <a:gd name="connsiteX4" fmla="*/ 0 w 4679134"/>
                <a:gd name="connsiteY4" fmla="*/ 0 h 343492"/>
                <a:gd name="connsiteX0" fmla="*/ 0 w 4667482"/>
                <a:gd name="connsiteY0" fmla="*/ 0 h 343492"/>
                <a:gd name="connsiteX1" fmla="*/ 4667482 w 4667482"/>
                <a:gd name="connsiteY1" fmla="*/ 6350 h 343492"/>
                <a:gd name="connsiteX2" fmla="*/ 4596006 w 4667482"/>
                <a:gd name="connsiteY2" fmla="*/ 343492 h 343492"/>
                <a:gd name="connsiteX3" fmla="*/ 0 w 4667482"/>
                <a:gd name="connsiteY3" fmla="*/ 343492 h 343492"/>
                <a:gd name="connsiteX4" fmla="*/ 0 w 4667482"/>
                <a:gd name="connsiteY4" fmla="*/ 0 h 343492"/>
                <a:gd name="connsiteX0" fmla="*/ 0 w 4650004"/>
                <a:gd name="connsiteY0" fmla="*/ 0 h 343492"/>
                <a:gd name="connsiteX1" fmla="*/ 4650004 w 4650004"/>
                <a:gd name="connsiteY1" fmla="*/ 12700 h 343492"/>
                <a:gd name="connsiteX2" fmla="*/ 4596006 w 4650004"/>
                <a:gd name="connsiteY2" fmla="*/ 343492 h 343492"/>
                <a:gd name="connsiteX3" fmla="*/ 0 w 4650004"/>
                <a:gd name="connsiteY3" fmla="*/ 343492 h 343492"/>
                <a:gd name="connsiteX4" fmla="*/ 0 w 4650004"/>
                <a:gd name="connsiteY4" fmla="*/ 0 h 343492"/>
                <a:gd name="connsiteX0" fmla="*/ 0 w 4642507"/>
                <a:gd name="connsiteY0" fmla="*/ 0 h 343492"/>
                <a:gd name="connsiteX1" fmla="*/ 4642507 w 4642507"/>
                <a:gd name="connsiteY1" fmla="*/ 12700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2507"/>
                <a:gd name="connsiteY0" fmla="*/ 0 h 343492"/>
                <a:gd name="connsiteX1" fmla="*/ 4642507 w 4642507"/>
                <a:gd name="connsiteY1" fmla="*/ 11997 h 343492"/>
                <a:gd name="connsiteX2" fmla="*/ 4596006 w 4642507"/>
                <a:gd name="connsiteY2" fmla="*/ 343492 h 343492"/>
                <a:gd name="connsiteX3" fmla="*/ 0 w 4642507"/>
                <a:gd name="connsiteY3" fmla="*/ 343492 h 343492"/>
                <a:gd name="connsiteX4" fmla="*/ 0 w 4642507"/>
                <a:gd name="connsiteY4" fmla="*/ 0 h 343492"/>
                <a:gd name="connsiteX0" fmla="*/ 0 w 4642507"/>
                <a:gd name="connsiteY0" fmla="*/ 6155 h 349647"/>
                <a:gd name="connsiteX1" fmla="*/ 4642507 w 4642507"/>
                <a:gd name="connsiteY1" fmla="*/ 0 h 349647"/>
                <a:gd name="connsiteX2" fmla="*/ 4596006 w 4642507"/>
                <a:gd name="connsiteY2" fmla="*/ 349647 h 349647"/>
                <a:gd name="connsiteX3" fmla="*/ 0 w 4642507"/>
                <a:gd name="connsiteY3" fmla="*/ 349647 h 349647"/>
                <a:gd name="connsiteX4" fmla="*/ 0 w 4642507"/>
                <a:gd name="connsiteY4" fmla="*/ 6155 h 349647"/>
                <a:gd name="connsiteX0" fmla="*/ 0 w 4648941"/>
                <a:gd name="connsiteY0" fmla="*/ 0 h 343492"/>
                <a:gd name="connsiteX1" fmla="*/ 4648941 w 4648941"/>
                <a:gd name="connsiteY1" fmla="*/ 5946 h 343492"/>
                <a:gd name="connsiteX2" fmla="*/ 4596006 w 4648941"/>
                <a:gd name="connsiteY2" fmla="*/ 343492 h 343492"/>
                <a:gd name="connsiteX3" fmla="*/ 0 w 4648941"/>
                <a:gd name="connsiteY3" fmla="*/ 343492 h 343492"/>
                <a:gd name="connsiteX4" fmla="*/ 0 w 4648941"/>
                <a:gd name="connsiteY4" fmla="*/ 0 h 343492"/>
                <a:gd name="connsiteX0" fmla="*/ 0 w 4648941"/>
                <a:gd name="connsiteY0" fmla="*/ 105 h 343597"/>
                <a:gd name="connsiteX1" fmla="*/ 4648941 w 4648941"/>
                <a:gd name="connsiteY1" fmla="*/ 0 h 343597"/>
                <a:gd name="connsiteX2" fmla="*/ 4596006 w 4648941"/>
                <a:gd name="connsiteY2" fmla="*/ 343597 h 343597"/>
                <a:gd name="connsiteX3" fmla="*/ 0 w 4648941"/>
                <a:gd name="connsiteY3" fmla="*/ 343597 h 343597"/>
                <a:gd name="connsiteX4" fmla="*/ 0 w 4648941"/>
                <a:gd name="connsiteY4" fmla="*/ 105 h 343597"/>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9648"/>
                <a:gd name="connsiteX1" fmla="*/ 4648941 w 4648941"/>
                <a:gd name="connsiteY1" fmla="*/ 0 h 349648"/>
                <a:gd name="connsiteX2" fmla="*/ 4608874 w 4648941"/>
                <a:gd name="connsiteY2" fmla="*/ 349648 h 349648"/>
                <a:gd name="connsiteX3" fmla="*/ 0 w 4648941"/>
                <a:gd name="connsiteY3" fmla="*/ 343597 h 349648"/>
                <a:gd name="connsiteX4" fmla="*/ 0 w 4648941"/>
                <a:gd name="connsiteY4" fmla="*/ 105 h 349648"/>
                <a:gd name="connsiteX0" fmla="*/ 0 w 4648941"/>
                <a:gd name="connsiteY0" fmla="*/ 105 h 344962"/>
                <a:gd name="connsiteX1" fmla="*/ 4648941 w 4648941"/>
                <a:gd name="connsiteY1" fmla="*/ 0 h 344962"/>
                <a:gd name="connsiteX2" fmla="*/ 4608874 w 4648941"/>
                <a:gd name="connsiteY2" fmla="*/ 344962 h 344962"/>
                <a:gd name="connsiteX3" fmla="*/ 0 w 4648941"/>
                <a:gd name="connsiteY3" fmla="*/ 343597 h 344962"/>
                <a:gd name="connsiteX4" fmla="*/ 0 w 4648941"/>
                <a:gd name="connsiteY4" fmla="*/ 105 h 344962"/>
                <a:gd name="connsiteX0" fmla="*/ 0 w 4648941"/>
                <a:gd name="connsiteY0" fmla="*/ 105 h 343597"/>
                <a:gd name="connsiteX1" fmla="*/ 4648941 w 4648941"/>
                <a:gd name="connsiteY1" fmla="*/ 0 h 343597"/>
                <a:gd name="connsiteX2" fmla="*/ 4613857 w 4648941"/>
                <a:gd name="connsiteY2" fmla="*/ 335589 h 343597"/>
                <a:gd name="connsiteX3" fmla="*/ 0 w 4648941"/>
                <a:gd name="connsiteY3" fmla="*/ 343597 h 343597"/>
                <a:gd name="connsiteX4" fmla="*/ 0 w 4648941"/>
                <a:gd name="connsiteY4" fmla="*/ 105 h 343597"/>
                <a:gd name="connsiteX0" fmla="*/ 0 w 4648941"/>
                <a:gd name="connsiteY0" fmla="*/ 105 h 343597"/>
                <a:gd name="connsiteX1" fmla="*/ 4648941 w 4648941"/>
                <a:gd name="connsiteY1" fmla="*/ 0 h 343597"/>
                <a:gd name="connsiteX2" fmla="*/ 4613858 w 4648941"/>
                <a:gd name="connsiteY2" fmla="*/ 340276 h 343597"/>
                <a:gd name="connsiteX3" fmla="*/ 0 w 4648941"/>
                <a:gd name="connsiteY3" fmla="*/ 343597 h 343597"/>
                <a:gd name="connsiteX4" fmla="*/ 0 w 4648941"/>
                <a:gd name="connsiteY4" fmla="*/ 105 h 343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8941" h="343597">
                  <a:moveTo>
                    <a:pt x="0" y="105"/>
                  </a:moveTo>
                  <a:lnTo>
                    <a:pt x="4648941" y="0"/>
                  </a:lnTo>
                  <a:lnTo>
                    <a:pt x="4613858" y="340276"/>
                  </a:lnTo>
                  <a:lnTo>
                    <a:pt x="0" y="343597"/>
                  </a:lnTo>
                  <a:lnTo>
                    <a:pt x="0" y="105"/>
                  </a:lnTo>
                  <a:close/>
                </a:path>
              </a:pathLst>
            </a:custGeom>
            <a:solidFill>
              <a:schemeClr val="accent1"/>
            </a:solidFill>
            <a:ln w="9525" algn="ctr">
              <a:solidFill>
                <a:srgbClr val="808080"/>
              </a:solidFill>
              <a:miter lim="800000"/>
              <a:headEnd/>
              <a:tailEnd/>
            </a:ln>
            <a:effectLst/>
          </p:spPr>
          <p:txBody>
            <a:bodyPr lIns="84834" tIns="44114" rIns="84834" bIns="44114" anchor="ctr"/>
            <a:lstStyle/>
            <a:p>
              <a:pPr algn="ctr" defTabSz="983096" eaLnBrk="0" hangingPunct="0">
                <a:spcAft>
                  <a:spcPct val="0"/>
                </a:spcAft>
                <a:buClr>
                  <a:srgbClr val="999999"/>
                </a:buClr>
                <a:buSzPct val="75000"/>
                <a:defRPr/>
              </a:pPr>
              <a:r>
                <a:rPr lang="de-DE" sz="1319" b="1" kern="0" dirty="0">
                  <a:solidFill>
                    <a:srgbClr val="FFFFFF"/>
                  </a:solidFill>
                </a:rPr>
                <a:t>Data</a:t>
              </a:r>
            </a:p>
          </p:txBody>
        </p:sp>
      </p:grpSp>
      <p:sp>
        <p:nvSpPr>
          <p:cNvPr id="2" name="Title 1"/>
          <p:cNvSpPr>
            <a:spLocks noGrp="1"/>
          </p:cNvSpPr>
          <p:nvPr>
            <p:ph type="title"/>
          </p:nvPr>
        </p:nvSpPr>
        <p:spPr/>
        <p:txBody>
          <a:bodyPr/>
          <a:lstStyle/>
          <a:p>
            <a:r>
              <a:rPr lang="en-US" sz="2400" dirty="0"/>
              <a:t>EY Survey</a:t>
            </a:r>
            <a:r>
              <a:rPr lang="en-US" sz="2800" dirty="0"/>
              <a:t/>
            </a:r>
            <a:br>
              <a:rPr lang="en-US" sz="2800" dirty="0"/>
            </a:br>
            <a:r>
              <a:rPr lang="en-IN" sz="2000" i="1" dirty="0"/>
              <a:t>Multiple Scenarios &amp; Forward Looking Information</a:t>
            </a:r>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62</a:t>
            </a:fld>
            <a:endParaRPr lang="en-US" altLang="en-US"/>
          </a:p>
        </p:txBody>
      </p:sp>
      <p:graphicFrame>
        <p:nvGraphicFramePr>
          <p:cNvPr id="28" name="Chart 27"/>
          <p:cNvGraphicFramePr>
            <a:graphicFrameLocks/>
          </p:cNvGraphicFramePr>
          <p:nvPr>
            <p:extLst/>
          </p:nvPr>
        </p:nvGraphicFramePr>
        <p:xfrm>
          <a:off x="386076" y="1401020"/>
          <a:ext cx="1984214" cy="22034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p:cNvGraphicFramePr>
            <a:graphicFrameLocks/>
          </p:cNvGraphicFramePr>
          <p:nvPr>
            <p:extLst/>
          </p:nvPr>
        </p:nvGraphicFramePr>
        <p:xfrm>
          <a:off x="2222205" y="1411170"/>
          <a:ext cx="2583712" cy="251941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0" name="Chart 29"/>
          <p:cNvGraphicFramePr>
            <a:graphicFrameLocks/>
          </p:cNvGraphicFramePr>
          <p:nvPr>
            <p:extLst/>
          </p:nvPr>
        </p:nvGraphicFramePr>
        <p:xfrm>
          <a:off x="370613" y="3930581"/>
          <a:ext cx="4143552" cy="2333127"/>
        </p:xfrm>
        <a:graphic>
          <a:graphicData uri="http://schemas.openxmlformats.org/drawingml/2006/chart">
            <c:chart xmlns:c="http://schemas.openxmlformats.org/drawingml/2006/chart" xmlns:r="http://schemas.openxmlformats.org/officeDocument/2006/relationships" r:id="rId5"/>
          </a:graphicData>
        </a:graphic>
      </p:graphicFrame>
      <p:sp>
        <p:nvSpPr>
          <p:cNvPr id="31" name="TextBox 30"/>
          <p:cNvSpPr txBox="1"/>
          <p:nvPr/>
        </p:nvSpPr>
        <p:spPr>
          <a:xfrm>
            <a:off x="5240575" y="1337564"/>
            <a:ext cx="4378088" cy="3262432"/>
          </a:xfrm>
          <a:prstGeom prst="rect">
            <a:avLst/>
          </a:prstGeom>
          <a:noFill/>
        </p:spPr>
        <p:txBody>
          <a:bodyPr wrap="square" rtlCol="0">
            <a:spAutoFit/>
          </a:bodyPr>
          <a:lstStyle/>
          <a:p>
            <a:pPr defTabSz="861892" fontAlgn="base">
              <a:spcBef>
                <a:spcPct val="0"/>
              </a:spcBef>
              <a:spcAft>
                <a:spcPts val="565"/>
              </a:spcAft>
              <a:buClr>
                <a:srgbClr val="646464"/>
              </a:buClr>
              <a:buSzPct val="100000"/>
            </a:pPr>
            <a:r>
              <a:rPr lang="de-DE" sz="1100" b="1" dirty="0" smtClean="0">
                <a:solidFill>
                  <a:srgbClr val="000000"/>
                </a:solidFill>
              </a:rPr>
              <a:t>Forward Looking Scenarios</a:t>
            </a:r>
            <a:endParaRPr lang="de-DE" sz="1100" dirty="0">
              <a:solidFill>
                <a:srgbClr val="000000"/>
              </a:solidFill>
            </a:endParaRPr>
          </a:p>
          <a:p>
            <a:pPr marL="197048" indent="-188989" defTabSz="861892" fontAlgn="base">
              <a:spcAft>
                <a:spcPts val="283"/>
              </a:spcAft>
              <a:buClr>
                <a:schemeClr val="tx1"/>
              </a:buClr>
              <a:buSzPct val="100000"/>
              <a:buFont typeface="Wingdings" panose="05000000000000000000" pitchFamily="2" charset="2"/>
              <a:buChar char="§"/>
            </a:pPr>
            <a:r>
              <a:rPr lang="en-US" dirty="0" smtClean="0">
                <a:solidFill>
                  <a:srgbClr val="000000"/>
                </a:solidFill>
              </a:rPr>
              <a:t>Most banks are considering a fixed number of scenarios, with participants either:</a:t>
            </a:r>
          </a:p>
          <a:p>
            <a:pPr marL="654248" lvl="1" indent="-188989" defTabSz="861892">
              <a:spcAft>
                <a:spcPts val="283"/>
              </a:spcAft>
              <a:buClr>
                <a:schemeClr val="tx1"/>
              </a:buClr>
              <a:buSzPct val="100000"/>
              <a:buFont typeface="Wingdings" panose="05000000000000000000" pitchFamily="2" charset="2"/>
              <a:buChar char="§"/>
            </a:pPr>
            <a:r>
              <a:rPr lang="en-US" dirty="0" smtClean="0">
                <a:solidFill>
                  <a:srgbClr val="000000"/>
                </a:solidFill>
              </a:rPr>
              <a:t>Intending to use 3 scenarios, representing a best, worst and best case; or</a:t>
            </a:r>
          </a:p>
          <a:p>
            <a:pPr marL="654248" lvl="1" indent="-188989" defTabSz="861892">
              <a:spcAft>
                <a:spcPts val="283"/>
              </a:spcAft>
              <a:buClr>
                <a:schemeClr val="tx1"/>
              </a:buClr>
              <a:buSzPct val="100000"/>
              <a:buFont typeface="Wingdings" panose="05000000000000000000" pitchFamily="2" charset="2"/>
              <a:buChar char="§"/>
            </a:pPr>
            <a:r>
              <a:rPr lang="en-US" dirty="0" smtClean="0">
                <a:solidFill>
                  <a:srgbClr val="000000"/>
                </a:solidFill>
              </a:rPr>
              <a:t>Remain undecided on the number of scenarios, although most ‘Undecided’ banks are choosing between using 2,3 or 4 scenarios</a:t>
            </a:r>
          </a:p>
          <a:p>
            <a:pPr marL="197048" indent="-188989" defTabSz="861892">
              <a:spcAft>
                <a:spcPts val="283"/>
              </a:spcAft>
              <a:buClr>
                <a:schemeClr val="tx1"/>
              </a:buClr>
              <a:buSzPct val="100000"/>
              <a:buFont typeface="Wingdings" panose="05000000000000000000" pitchFamily="2" charset="2"/>
              <a:buChar char="§"/>
            </a:pPr>
            <a:r>
              <a:rPr lang="en-US" dirty="0" smtClean="0">
                <a:solidFill>
                  <a:srgbClr val="000000"/>
                </a:solidFill>
              </a:rPr>
              <a:t>4 of the banks intending to use only one scenario plan to reflect non-</a:t>
            </a:r>
            <a:r>
              <a:rPr lang="en-US" dirty="0" err="1" smtClean="0">
                <a:solidFill>
                  <a:srgbClr val="000000"/>
                </a:solidFill>
              </a:rPr>
              <a:t>linearities</a:t>
            </a:r>
            <a:r>
              <a:rPr lang="en-US" dirty="0" smtClean="0">
                <a:solidFill>
                  <a:srgbClr val="000000"/>
                </a:solidFill>
              </a:rPr>
              <a:t> in the loss distribution by means of a management overlay. Another considers that the effect of alternative scenarios is reflected in their base scenario.</a:t>
            </a:r>
          </a:p>
          <a:p>
            <a:pPr marL="197048" indent="-188989" defTabSz="861892">
              <a:spcAft>
                <a:spcPts val="283"/>
              </a:spcAft>
              <a:buClr>
                <a:schemeClr val="tx1"/>
              </a:buClr>
              <a:buSzPct val="100000"/>
              <a:buFont typeface="Wingdings" panose="05000000000000000000" pitchFamily="2" charset="2"/>
              <a:buChar char="§"/>
            </a:pPr>
            <a:r>
              <a:rPr lang="de-DE" dirty="0" smtClean="0">
                <a:solidFill>
                  <a:srgbClr val="000000"/>
                </a:solidFill>
              </a:rPr>
              <a:t>Nearly all banks are planning to use centraliuzed internal scenarios for consistency between business planning, stress testing and IFRS 9, where the centralized scenarios often built up using external information.</a:t>
            </a:r>
            <a:endParaRPr lang="de-DE" dirty="0">
              <a:solidFill>
                <a:srgbClr val="000000"/>
              </a:solidFill>
            </a:endParaRPr>
          </a:p>
        </p:txBody>
      </p:sp>
      <p:sp>
        <p:nvSpPr>
          <p:cNvPr id="32" name="TextBox 31"/>
          <p:cNvSpPr txBox="1"/>
          <p:nvPr/>
        </p:nvSpPr>
        <p:spPr>
          <a:xfrm>
            <a:off x="4947277" y="4548744"/>
            <a:ext cx="4721214" cy="1669688"/>
          </a:xfrm>
          <a:prstGeom prst="rect">
            <a:avLst/>
          </a:prstGeom>
          <a:noFill/>
        </p:spPr>
        <p:txBody>
          <a:bodyPr wrap="square" rtlCol="0">
            <a:spAutoFit/>
          </a:bodyPr>
          <a:lstStyle/>
          <a:p>
            <a:pPr defTabSz="861892" fontAlgn="base">
              <a:spcAft>
                <a:spcPts val="565"/>
              </a:spcAft>
              <a:buClr>
                <a:srgbClr val="646464"/>
              </a:buClr>
              <a:buSzPct val="100000"/>
            </a:pPr>
            <a:r>
              <a:rPr lang="de-DE" sz="1100" b="1" dirty="0" smtClean="0">
                <a:solidFill>
                  <a:srgbClr val="000000"/>
                </a:solidFill>
              </a:rPr>
              <a:t>Probability weighting of forward looking </a:t>
            </a:r>
            <a:endParaRPr lang="de-DE" sz="1100" b="1" dirty="0">
              <a:solidFill>
                <a:srgbClr val="000000"/>
              </a:solidFill>
            </a:endParaRPr>
          </a:p>
          <a:p>
            <a:pPr marL="197048" indent="-188989" defTabSz="861892">
              <a:spcAft>
                <a:spcPts val="283"/>
              </a:spcAft>
              <a:buClr>
                <a:schemeClr val="tx1"/>
              </a:buClr>
              <a:buSzPct val="100000"/>
              <a:buFont typeface="Wingdings" panose="05000000000000000000" pitchFamily="2" charset="2"/>
              <a:buChar char="§"/>
            </a:pPr>
            <a:r>
              <a:rPr lang="de-DE" dirty="0" smtClean="0">
                <a:solidFill>
                  <a:srgbClr val="000000"/>
                </a:solidFill>
              </a:rPr>
              <a:t>The most common proposed approach is to derive seperate ECL numbers for each scenario and apply a probability weighing to derive the final number.</a:t>
            </a:r>
          </a:p>
          <a:p>
            <a:pPr marL="197048" indent="-188989" defTabSz="861892">
              <a:spcAft>
                <a:spcPts val="283"/>
              </a:spcAft>
              <a:buClr>
                <a:schemeClr val="tx1"/>
              </a:buClr>
              <a:buSzPct val="100000"/>
              <a:buFont typeface="Wingdings" panose="05000000000000000000" pitchFamily="2" charset="2"/>
              <a:buChar char="§"/>
            </a:pPr>
            <a:r>
              <a:rPr lang="de-DE" dirty="0" smtClean="0">
                <a:solidFill>
                  <a:srgbClr val="000000"/>
                </a:solidFill>
              </a:rPr>
              <a:t>A number of banks are considering using only one scenario, either the most likely scenario or a pre-weighted scenario. Some will add an overlay.  </a:t>
            </a:r>
            <a:r>
              <a:rPr lang="de-DE" smtClean="0">
                <a:solidFill>
                  <a:srgbClr val="000000"/>
                </a:solidFill>
              </a:rPr>
              <a:t>Others </a:t>
            </a:r>
            <a:r>
              <a:rPr lang="de-DE" dirty="0" smtClean="0">
                <a:solidFill>
                  <a:srgbClr val="000000"/>
                </a:solidFill>
              </a:rPr>
              <a:t>either did not mention an overlay or remain undecided.</a:t>
            </a:r>
            <a:endParaRPr lang="en-GB" dirty="0">
              <a:solidFill>
                <a:srgbClr val="000000"/>
              </a:solidFill>
            </a:endParaRPr>
          </a:p>
        </p:txBody>
      </p:sp>
      <p:sp>
        <p:nvSpPr>
          <p:cNvPr id="16" name="TextBox 15"/>
          <p:cNvSpPr txBox="1"/>
          <p:nvPr/>
        </p:nvSpPr>
        <p:spPr>
          <a:xfrm>
            <a:off x="8536623" y="235903"/>
            <a:ext cx="1082040" cy="396557"/>
          </a:xfrm>
          <a:prstGeom prst="rect">
            <a:avLst/>
          </a:prstGeom>
          <a:solidFill>
            <a:srgbClr val="00B050"/>
          </a:solidFill>
        </p:spPr>
        <p:txBody>
          <a:bodyPr wrap="square" rtlCol="0">
            <a:spAutoFit/>
          </a:bodyPr>
          <a:lstStyle/>
          <a:p>
            <a:r>
              <a:rPr lang="en-US" sz="2000" b="1" dirty="0" smtClean="0">
                <a:solidFill>
                  <a:schemeClr val="bg1"/>
                </a:solidFill>
              </a:rPr>
              <a:t>FINAL</a:t>
            </a:r>
            <a:endParaRPr lang="en-US" sz="2000" b="1" dirty="0">
              <a:solidFill>
                <a:schemeClr val="bg1"/>
              </a:solidFill>
            </a:endParaRPr>
          </a:p>
        </p:txBody>
      </p:sp>
    </p:spTree>
    <p:extLst>
      <p:ext uri="{BB962C8B-B14F-4D97-AF65-F5344CB8AC3E}">
        <p14:creationId xmlns:p14="http://schemas.microsoft.com/office/powerpoint/2010/main" val="20482731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p:cNvSpPr>
          <p:nvPr>
            <p:ph type="title"/>
          </p:nvPr>
        </p:nvSpPr>
        <p:spPr/>
        <p:txBody>
          <a:bodyPr/>
          <a:lstStyle/>
          <a:p>
            <a:r>
              <a:rPr lang="en-US" altLang="en-US" dirty="0" smtClean="0"/>
              <a:t>Thank You!</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17839&quot;&gt;&lt;version val=&quot;21182&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mruColor&gt;&lt;m_vecMRU length=&quot;7&quot;&gt;&lt;elem m_fUsage=&quot;3.48919807263062110000E+000&quot;&gt;&lt;m_ppcolschidx val=&quot;0&quot;/&gt;&lt;m_rgb r=&quot;87&quot; g=&quot;0&quot; b=&quot;52&quot;/&gt;&lt;/elem&gt;&lt;elem m_fUsage=&quot;2.74916192473307990000E+000&quot;&gt;&lt;m_ppcolschidx val=&quot;0&quot;/&gt;&lt;m_rgb r=&quot;ba&quot; g=&quot;b2&quot; b=&quot;c2&quot;/&gt;&lt;/elem&gt;&lt;elem m_fUsage=&quot;2.36126219654629390000E+000&quot;&gt;&lt;m_ppcolschidx val=&quot;0&quot;/&gt;&lt;m_rgb r=&quot;0&quot; g=&quot;f&quot; b=&quot;33&quot;/&gt;&lt;/elem&gt;&lt;elem m_fUsage=&quot;6.56100000000000130000E-001&quot;&gt;&lt;m_ppcolschidx val=&quot;0&quot;/&gt;&lt;m_rgb r=&quot;20&quot; g=&quot;20&quot; b=&quot;60&quot;/&gt;&lt;/elem&gt;&lt;elem m_fUsage=&quot;4.30467210000000160000E-001&quot;&gt;&lt;m_ppcolschidx val=&quot;0&quot;/&gt;&lt;m_rgb r=&quot;11&quot; g=&quot;6f&quot; b=&quot;c4&quot;/&gt;&lt;/elem&gt;&lt;elem m_fUsage=&quot;3.13810596090000170000E-001&quot;&gt;&lt;m_ppcolschidx val=&quot;0&quot;/&gt;&lt;m_rgb r=&quot;87&quot; g=&quot;2d&quot; b=&quot;1&quot;/&gt;&lt;/elem&gt;&lt;elem m_fUsage=&quot;6.60746024496384520000E-015&quot;&gt;&lt;m_ppcolschidx val=&quot;0&quot;/&gt;&lt;m_rgb r=&quot;df&quot; g=&quot;da&quot; b=&quot;c8&quot;/&gt;&lt;/elem&gt;&lt;/m_vecMRU&gt;&lt;/m_mruColor&gt;&lt;m_mapectfillschemeMRU/&gt;&lt;m_eweekdayFirstOfWeek val=&quot;1&quot;/&gt;&lt;m_eweekdayFirstOfWorkweek val=&quot;2&quot;/&gt;&lt;m_eweekdayFirstOfWeekend val=&quot;7&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chDecimalSymbol17909&gt;.&lt;/m_chDecimalSymbol17909&gt;&lt;m_nGroupingDigits17909 val=&quot;3&quot;/&gt;&lt;m_chGroupingSymbol17909&gt;,&lt;/m_chGroupingSymbol17909&gt;&lt;/m_precDefault&gt;&lt;/CDefaultPrec&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nd option">
  <a:themeElements>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Ruby gradien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uby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Ruby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Ruby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ivider option 02">
  <a:themeElements>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2">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Divider option 03">
  <a:themeElements>
    <a:clrScheme name="Divider option 03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3">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3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Divider option 04">
  <a:themeElements>
    <a:clrScheme name="Divider option 04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4">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4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Divider option 05">
  <a:themeElements>
    <a:clrScheme name="Divider option 05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5">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5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ivider option 06">
  <a:themeElements>
    <a:clrScheme name="Divider option 06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6">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6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Sand option">
  <a:themeElements>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Ruby gradien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uby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Ruby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Ruby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_QNB">
  <a:themeElements>
    <a:clrScheme name="QNB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pphire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Sapphire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Sapphire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QNB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_Sand option">
  <a:themeElements>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Ruby gradien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uby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Ruby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Ruby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_Divider option 02">
  <a:themeElements>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2">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ivider option 01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themeOverride>
</file>

<file path=ppt/theme/themeOverride2.xml><?xml version="1.0" encoding="utf-8"?>
<a:themeOverride xmlns:a="http://schemas.openxmlformats.org/drawingml/2006/main">
  <a:clrScheme name="Divider option 01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themeOverride>
</file>

<file path=ppt/theme/themeOverride3.xml><?xml version="1.0" encoding="utf-8"?>
<a:themeOverride xmlns:a="http://schemas.openxmlformats.org/drawingml/2006/main">
  <a:clrScheme name="Divider option 01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themeOverrid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1212694</vt:lpwstr>
  </property>
  <property fmtid="{D5CDD505-2E9C-101B-9397-08002B2CF9AE}" pid="4" name="OptimizationTime">
    <vt:lpwstr>20170812_1155</vt:lpwstr>
  </property>
</Properties>
</file>

<file path=docProps/app.xml><?xml version="1.0" encoding="utf-8"?>
<Properties xmlns="http://schemas.openxmlformats.org/officeDocument/2006/extended-properties" xmlns:vt="http://schemas.openxmlformats.org/officeDocument/2006/docPropsVTypes">
  <TotalTime>49758</TotalTime>
  <Words>10115</Words>
  <Application>Microsoft Office PowerPoint</Application>
  <PresentationFormat>A4 Paper (210x297 mm)</PresentationFormat>
  <Paragraphs>1344</Paragraphs>
  <Slides>63</Slides>
  <Notes>8</Notes>
  <HiddenSlides>0</HiddenSlides>
  <MMClips>0</MMClips>
  <ScaleCrop>false</ScaleCrop>
  <HeadingPairs>
    <vt:vector size="8" baseType="variant">
      <vt:variant>
        <vt:lpstr>Fonts Used</vt:lpstr>
      </vt:variant>
      <vt:variant>
        <vt:i4>7</vt:i4>
      </vt:variant>
      <vt:variant>
        <vt:lpstr>Theme</vt:lpstr>
      </vt:variant>
      <vt:variant>
        <vt:i4>10</vt:i4>
      </vt:variant>
      <vt:variant>
        <vt:lpstr>Embedded OLE Servers</vt:lpstr>
      </vt:variant>
      <vt:variant>
        <vt:i4>1</vt:i4>
      </vt:variant>
      <vt:variant>
        <vt:lpstr>Slide Titles</vt:lpstr>
      </vt:variant>
      <vt:variant>
        <vt:i4>63</vt:i4>
      </vt:variant>
    </vt:vector>
  </HeadingPairs>
  <TitlesOfParts>
    <vt:vector size="81" baseType="lpstr">
      <vt:lpstr>Adobe Fangsong Std R</vt:lpstr>
      <vt:lpstr>Arial</vt:lpstr>
      <vt:lpstr>Calibri</vt:lpstr>
      <vt:lpstr>Cambria Math</vt:lpstr>
      <vt:lpstr>Courier New</vt:lpstr>
      <vt:lpstr>Times New Roman</vt:lpstr>
      <vt:lpstr>Wingdings</vt:lpstr>
      <vt:lpstr>Sand option</vt:lpstr>
      <vt:lpstr>Divider option 02</vt:lpstr>
      <vt:lpstr>Divider option 03</vt:lpstr>
      <vt:lpstr>Divider option 04</vt:lpstr>
      <vt:lpstr>Divider option 05</vt:lpstr>
      <vt:lpstr>Divider option 06</vt:lpstr>
      <vt:lpstr>1_Sand option</vt:lpstr>
      <vt:lpstr>1_QNB</vt:lpstr>
      <vt:lpstr>2_Sand option</vt:lpstr>
      <vt:lpstr>1_Divider option 02</vt:lpstr>
      <vt:lpstr>think-cell Slide</vt:lpstr>
      <vt:lpstr>IFRS9 Impairment Engagement  Model &amp; Methodology Design –  Non-Retail  Doha, xx August 2017</vt:lpstr>
      <vt:lpstr>PowerPoint Presentation</vt:lpstr>
      <vt:lpstr>Contents</vt:lpstr>
      <vt:lpstr>Contents</vt:lpstr>
      <vt:lpstr>Non-Retail Methodology Design  Introduction and Scope</vt:lpstr>
      <vt:lpstr>Contents</vt:lpstr>
      <vt:lpstr>Overall Methodology Framework Overview of the overarching approach for each ECL parameter</vt:lpstr>
      <vt:lpstr>Overall Methodology Framework QNB preferred ECL Approach &amp; Why?</vt:lpstr>
      <vt:lpstr>Non-Retail Methodology Components Overview of the options and implications – TTC PD</vt:lpstr>
      <vt:lpstr>Non-Retail Methodology Components Overview of the options and implications – PiT PD</vt:lpstr>
      <vt:lpstr>Non-Retail Methodology Components Overview of the options and implications - LGD</vt:lpstr>
      <vt:lpstr>Non-Retail Methodology Components Overview of the options and implications - EAD</vt:lpstr>
      <vt:lpstr>Non-Retail Methodology Components Overview of the options and implications - EIR</vt:lpstr>
      <vt:lpstr>Non-Retail Methodology Components Overview of the options and implications – Expected Maturity and Scenarios</vt:lpstr>
      <vt:lpstr>Contents</vt:lpstr>
      <vt:lpstr>Probability of Default (PD) Key Aspects</vt:lpstr>
      <vt:lpstr>Probability of Default (PD) Illustration: Through the Cycle (TTC) vs. Forward-Looking Point in Time (PiT) PD</vt:lpstr>
      <vt:lpstr>Probability of Default (PD) Regulatory and Technical Views</vt:lpstr>
      <vt:lpstr>Probability of Default (PD) Regulatory and Technical Views</vt:lpstr>
      <vt:lpstr>Probability of Default (PD) GPPC Views</vt:lpstr>
      <vt:lpstr>Probability of Default (PD) GPPC Views</vt:lpstr>
      <vt:lpstr>EY Survey Definition of Default</vt:lpstr>
      <vt:lpstr>EY Survey Probability of Default</vt:lpstr>
      <vt:lpstr>Contents</vt:lpstr>
      <vt:lpstr>Probability of Default (PD) 2. Developing Forward Looking PiT PD</vt:lpstr>
      <vt:lpstr>Contents</vt:lpstr>
      <vt:lpstr>Loss Given Default (LGD) Key Concepts</vt:lpstr>
      <vt:lpstr>Loss Given Default (LGD) Regulatory and Technical Views</vt:lpstr>
      <vt:lpstr>Loss Given Default (LGD) Regulatory and Technical Views</vt:lpstr>
      <vt:lpstr>Loss Given Default (LGD) Regulatory and Technical Views</vt:lpstr>
      <vt:lpstr>Loss Given Default (LGD) Regulatory and Technical Views</vt:lpstr>
      <vt:lpstr>Contents</vt:lpstr>
      <vt:lpstr>Loss Given Default (LGD) Unconditional LGD : Available Options </vt:lpstr>
      <vt:lpstr>Loss Given Default (LGD) Unconditional LGD : QNB Chosen Approach  </vt:lpstr>
      <vt:lpstr>Loss Given Default (LGD) Unconditional LGD : QNB-Specific Haircut Approach </vt:lpstr>
      <vt:lpstr>Loss Given Default (LGD) Eligible Collateral Overview</vt:lpstr>
      <vt:lpstr>Contents</vt:lpstr>
      <vt:lpstr>Loss Given Default (LGD) Conditional LGD : Developing Forward Looking PiT LGD </vt:lpstr>
      <vt:lpstr>Loss Given Default (LGD) Conditional LGD : Developing Forward Looking PiT LGD </vt:lpstr>
      <vt:lpstr>Loss Given Default (LGD) Conditional LGD : Developing Forward Looking PiT LGD </vt:lpstr>
      <vt:lpstr>Loss Given Default (LGD) Conditional LGD : Illustration- Developing Forward Looking PiT LGD </vt:lpstr>
      <vt:lpstr>Contents</vt:lpstr>
      <vt:lpstr>Exposure at Default (EAD) Key Aspects</vt:lpstr>
      <vt:lpstr>Exposure at Default (EAD) On Balance Sheet Exposures Treatment</vt:lpstr>
      <vt:lpstr>Exposure at Default (EAD) Off Balance Sheet Exposures Treatment</vt:lpstr>
      <vt:lpstr>Exposure at Default (EAD) Regulatory and Technical Views</vt:lpstr>
      <vt:lpstr>Exposure at Default (EAD) Regulatory and Technical Views</vt:lpstr>
      <vt:lpstr>Exposure at Default (EAD) Regulatory and Technical Views</vt:lpstr>
      <vt:lpstr>Credit Conversion Factor (CCF) Regulatory and Technical Views</vt:lpstr>
      <vt:lpstr>Loss Given Default (LGD) Regulatory and Technical Views</vt:lpstr>
      <vt:lpstr>EY Survey Period of Exposure</vt:lpstr>
      <vt:lpstr>Contents</vt:lpstr>
      <vt:lpstr>Expected Credit Loss (ECL) Approach Introduction to ECL Approach under IFRS 9</vt:lpstr>
      <vt:lpstr>Sum Of Marginal Losses Approach Preferred ECL Methodology for the Bank </vt:lpstr>
      <vt:lpstr>ECL Computation Illustrative: IFRS 9 ECL Computation (12mth and Life time) </vt:lpstr>
      <vt:lpstr>Contents</vt:lpstr>
      <vt:lpstr>Multiple Scenarios &amp; Forward Looking Information Introduction to Weighted Average ECL</vt:lpstr>
      <vt:lpstr>Multiple Scenarios &amp; Forward Looking Information Regulatory &amp; Technical Views</vt:lpstr>
      <vt:lpstr>Multiple Scenarios &amp; Forward Looking Information  Regulatory and Technical Views</vt:lpstr>
      <vt:lpstr>Multiple Scenarios &amp; Forward Looking Information Regulatory and Technical Views</vt:lpstr>
      <vt:lpstr>Multiple Scenarios &amp; Forward Looking Information Preferred Approach</vt:lpstr>
      <vt:lpstr>EY Survey Multiple Scenarios &amp; Forward Looking Information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Strategy Committee</dc:title>
  <dc:subject>CTO set up</dc:subject>
  <dc:creator>Group Strategy</dc:creator>
  <cp:lastModifiedBy>Karl Jackson</cp:lastModifiedBy>
  <cp:revision>2502</cp:revision>
  <cp:lastPrinted>2017-04-12T08:27:21Z</cp:lastPrinted>
  <dcterms:created xsi:type="dcterms:W3CDTF">2012-01-11T11:14:03Z</dcterms:created>
  <dcterms:modified xsi:type="dcterms:W3CDTF">2017-08-12T07:33:15Z</dcterms:modified>
</cp:coreProperties>
</file>