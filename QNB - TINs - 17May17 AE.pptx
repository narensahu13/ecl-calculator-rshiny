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Override2.xml" ContentType="application/vnd.openxmlformats-officedocument.themeOverrid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8.xml" ContentType="application/vnd.openxmlformats-officedocument.theme+xml"/>
  <Override PartName="/ppt/tags/tag2.xml" ContentType="application/vnd.openxmlformats-officedocument.presentationml.tags+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9.xml" ContentType="application/vnd.openxmlformats-officedocument.theme+xml"/>
  <Override PartName="/ppt/theme/themeOverride3.xml" ContentType="application/vnd.openxmlformats-officedocument.themeOverrid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omments/comment1.xml" ContentType="application/vnd.openxmlformats-officedocument.presentationml.comments+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comments/comment2.xml" ContentType="application/vnd.openxmlformats-officedocument.presentationml.comments+xml"/>
  <Override PartName="/ppt/charts/chart3.xml" ContentType="application/vnd.openxmlformats-officedocument.drawingml.chart+xml"/>
  <Override PartName="/ppt/comments/comment3.xml" ContentType="application/vnd.openxmlformats-officedocument.presentationml.comments+xml"/>
  <Override PartName="/ppt/notesSlides/notesSlide7.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8.xml" ContentType="application/vnd.openxmlformats-officedocument.presentationml.notesSlide+xml"/>
  <Override PartName="/ppt/comments/comment4.xml" ContentType="application/vnd.openxmlformats-officedocument.presentationml.comments+xml"/>
  <Override PartName="/ppt/charts/chart4.xml" ContentType="application/vnd.openxmlformats-officedocument.drawingml.chart+xml"/>
  <Override PartName="/ppt/drawings/drawing2.xml" ContentType="application/vnd.openxmlformats-officedocument.drawingml.chartshapes+xml"/>
  <Override PartName="/ppt/comments/comment5.xml" ContentType="application/vnd.openxmlformats-officedocument.presentationml.comments+xml"/>
  <Override PartName="/ppt/notesSlides/notesSlide9.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0.xml" ContentType="application/vnd.openxmlformats-officedocument.presentationml.notesSlide+xml"/>
  <Override PartName="/ppt/charts/chart5.xml" ContentType="application/vnd.openxmlformats-officedocument.drawingml.chart+xml"/>
  <Override PartName="/ppt/drawings/drawing3.xml" ContentType="application/vnd.openxmlformats-officedocument.drawingml.chartshapes+xml"/>
  <Override PartName="/ppt/comments/comment6.xml" ContentType="application/vnd.openxmlformats-officedocument.presentationml.comments+xml"/>
  <Override PartName="/ppt/notesSlides/notesSlide11.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2.xml" ContentType="application/vnd.openxmlformats-officedocument.presentationml.notesSlide+xml"/>
  <Override PartName="/ppt/tags/tag34.xml" ContentType="application/vnd.openxmlformats-officedocument.presentationml.tags+xml"/>
  <Override PartName="/ppt/notesSlides/notesSlide13.xml" ContentType="application/vnd.openxmlformats-officedocument.presentationml.notesSlide+xml"/>
  <Override PartName="/ppt/comments/comment7.xml" ContentType="application/vnd.openxmlformats-officedocument.presentationml.comments+xml"/>
  <Override PartName="/ppt/charts/chart6.xml" ContentType="application/vnd.openxmlformats-officedocument.drawingml.chart+xml"/>
  <Override PartName="/ppt/charts/chart7.xml" ContentType="application/vnd.openxmlformats-officedocument.drawingml.chart+xml"/>
  <Override PartName="/ppt/notesSlides/notesSlide1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7.xml" ContentType="application/vnd.openxmlformats-officedocument.presentationml.notesSlide+xml"/>
  <Override PartName="/ppt/comments/comment8.xml" ContentType="application/vnd.openxmlformats-officedocument.presentationml.comments+xml"/>
  <Override PartName="/ppt/charts/chart8.xml" ContentType="application/vnd.openxmlformats-officedocument.drawingml.chart+xml"/>
  <Override PartName="/ppt/drawings/drawing4.xml" ContentType="application/vnd.openxmlformats-officedocument.drawingml.chartshapes+xml"/>
  <Override PartName="/ppt/comments/comment9.xml" ContentType="application/vnd.openxmlformats-officedocument.presentationml.comments+xml"/>
  <Override PartName="/ppt/notesSlides/notesSlide18.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9.xml" ContentType="application/vnd.openxmlformats-officedocument.presentationml.notesSlide+xml"/>
  <Override PartName="/ppt/comments/comment10.xml" ContentType="application/vnd.openxmlformats-officedocument.presentationml.comments+xml"/>
  <Override PartName="/ppt/notesSlides/notesSlide20.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25.xml" ContentType="application/vnd.openxmlformats-officedocument.presentationml.notesSlide+xml"/>
  <Override PartName="/ppt/charts/chart9.xml" ContentType="application/vnd.openxmlformats-officedocument.drawingml.chart+xml"/>
  <Override PartName="/ppt/notesSlides/notesSlide26.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33.xml" ContentType="application/vnd.openxmlformats-officedocument.presentationml.notesSlide+xml"/>
  <Override PartName="/ppt/tags/tag85.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703" r:id="rId2"/>
    <p:sldMasterId id="2147483704" r:id="rId3"/>
    <p:sldMasterId id="2147483705" r:id="rId4"/>
    <p:sldMasterId id="2147483706" r:id="rId5"/>
    <p:sldMasterId id="2147483707" r:id="rId6"/>
    <p:sldMasterId id="2147487989" r:id="rId7"/>
    <p:sldMasterId id="2147489233" r:id="rId8"/>
    <p:sldMasterId id="2147489242" r:id="rId9"/>
    <p:sldMasterId id="2147489254" r:id="rId10"/>
  </p:sldMasterIdLst>
  <p:notesMasterIdLst>
    <p:notesMasterId r:id="rId133"/>
  </p:notesMasterIdLst>
  <p:handoutMasterIdLst>
    <p:handoutMasterId r:id="rId134"/>
  </p:handoutMasterIdLst>
  <p:sldIdLst>
    <p:sldId id="497" r:id="rId11"/>
    <p:sldId id="652" r:id="rId12"/>
    <p:sldId id="687" r:id="rId13"/>
    <p:sldId id="689" r:id="rId14"/>
    <p:sldId id="788" r:id="rId15"/>
    <p:sldId id="789" r:id="rId16"/>
    <p:sldId id="790" r:id="rId17"/>
    <p:sldId id="653" r:id="rId18"/>
    <p:sldId id="655" r:id="rId19"/>
    <p:sldId id="656" r:id="rId20"/>
    <p:sldId id="657" r:id="rId21"/>
    <p:sldId id="658" r:id="rId22"/>
    <p:sldId id="659" r:id="rId23"/>
    <p:sldId id="660" r:id="rId24"/>
    <p:sldId id="661" r:id="rId25"/>
    <p:sldId id="662" r:id="rId26"/>
    <p:sldId id="664" r:id="rId27"/>
    <p:sldId id="665" r:id="rId28"/>
    <p:sldId id="666" r:id="rId29"/>
    <p:sldId id="667" r:id="rId30"/>
    <p:sldId id="668" r:id="rId31"/>
    <p:sldId id="669" r:id="rId32"/>
    <p:sldId id="670" r:id="rId33"/>
    <p:sldId id="672" r:id="rId34"/>
    <p:sldId id="673" r:id="rId35"/>
    <p:sldId id="674" r:id="rId36"/>
    <p:sldId id="675" r:id="rId37"/>
    <p:sldId id="676" r:id="rId38"/>
    <p:sldId id="677" r:id="rId39"/>
    <p:sldId id="678" r:id="rId40"/>
    <p:sldId id="680" r:id="rId41"/>
    <p:sldId id="681" r:id="rId42"/>
    <p:sldId id="682" r:id="rId43"/>
    <p:sldId id="683" r:id="rId44"/>
    <p:sldId id="684" r:id="rId45"/>
    <p:sldId id="685" r:id="rId46"/>
    <p:sldId id="686" r:id="rId47"/>
    <p:sldId id="690" r:id="rId48"/>
    <p:sldId id="692" r:id="rId49"/>
    <p:sldId id="693" r:id="rId50"/>
    <p:sldId id="694" r:id="rId51"/>
    <p:sldId id="695" r:id="rId52"/>
    <p:sldId id="696" r:id="rId53"/>
    <p:sldId id="697" r:id="rId54"/>
    <p:sldId id="698" r:id="rId55"/>
    <p:sldId id="699" r:id="rId56"/>
    <p:sldId id="701" r:id="rId57"/>
    <p:sldId id="702" r:id="rId58"/>
    <p:sldId id="703" r:id="rId59"/>
    <p:sldId id="704" r:id="rId60"/>
    <p:sldId id="705" r:id="rId61"/>
    <p:sldId id="707" r:id="rId62"/>
    <p:sldId id="709" r:id="rId63"/>
    <p:sldId id="710" r:id="rId64"/>
    <p:sldId id="711" r:id="rId65"/>
    <p:sldId id="712" r:id="rId66"/>
    <p:sldId id="713" r:id="rId67"/>
    <p:sldId id="714" r:id="rId68"/>
    <p:sldId id="715" r:id="rId69"/>
    <p:sldId id="717" r:id="rId70"/>
    <p:sldId id="718" r:id="rId71"/>
    <p:sldId id="719" r:id="rId72"/>
    <p:sldId id="720" r:id="rId73"/>
    <p:sldId id="721" r:id="rId74"/>
    <p:sldId id="723" r:id="rId75"/>
    <p:sldId id="725" r:id="rId76"/>
    <p:sldId id="726" r:id="rId77"/>
    <p:sldId id="727" r:id="rId78"/>
    <p:sldId id="728" r:id="rId79"/>
    <p:sldId id="729" r:id="rId80"/>
    <p:sldId id="730" r:id="rId81"/>
    <p:sldId id="731" r:id="rId82"/>
    <p:sldId id="733" r:id="rId83"/>
    <p:sldId id="734" r:id="rId84"/>
    <p:sldId id="735" r:id="rId85"/>
    <p:sldId id="736" r:id="rId86"/>
    <p:sldId id="737" r:id="rId87"/>
    <p:sldId id="738" r:id="rId88"/>
    <p:sldId id="739" r:id="rId89"/>
    <p:sldId id="741" r:id="rId90"/>
    <p:sldId id="742" r:id="rId91"/>
    <p:sldId id="743" r:id="rId92"/>
    <p:sldId id="744" r:id="rId93"/>
    <p:sldId id="745" r:id="rId94"/>
    <p:sldId id="791" r:id="rId95"/>
    <p:sldId id="746" r:id="rId96"/>
    <p:sldId id="747" r:id="rId97"/>
    <p:sldId id="749" r:id="rId98"/>
    <p:sldId id="750" r:id="rId99"/>
    <p:sldId id="751" r:id="rId100"/>
    <p:sldId id="752" r:id="rId101"/>
    <p:sldId id="753" r:id="rId102"/>
    <p:sldId id="755" r:id="rId103"/>
    <p:sldId id="757" r:id="rId104"/>
    <p:sldId id="758" r:id="rId105"/>
    <p:sldId id="759" r:id="rId106"/>
    <p:sldId id="760" r:id="rId107"/>
    <p:sldId id="761" r:id="rId108"/>
    <p:sldId id="762" r:id="rId109"/>
    <p:sldId id="763" r:id="rId110"/>
    <p:sldId id="764" r:id="rId111"/>
    <p:sldId id="765" r:id="rId112"/>
    <p:sldId id="792" r:id="rId113"/>
    <p:sldId id="767" r:id="rId114"/>
    <p:sldId id="769" r:id="rId115"/>
    <p:sldId id="770" r:id="rId116"/>
    <p:sldId id="771" r:id="rId117"/>
    <p:sldId id="772" r:id="rId118"/>
    <p:sldId id="773" r:id="rId119"/>
    <p:sldId id="774" r:id="rId120"/>
    <p:sldId id="775" r:id="rId121"/>
    <p:sldId id="776" r:id="rId122"/>
    <p:sldId id="778" r:id="rId123"/>
    <p:sldId id="779" r:id="rId124"/>
    <p:sldId id="780" r:id="rId125"/>
    <p:sldId id="781" r:id="rId126"/>
    <p:sldId id="782" r:id="rId127"/>
    <p:sldId id="783" r:id="rId128"/>
    <p:sldId id="784" r:id="rId129"/>
    <p:sldId id="786" r:id="rId130"/>
    <p:sldId id="787" r:id="rId131"/>
    <p:sldId id="499" r:id="rId132"/>
  </p:sldIdLst>
  <p:sldSz cx="9906000" cy="6858000" type="A4"/>
  <p:notesSz cx="6797675" cy="9926638"/>
  <p:custDataLst>
    <p:tags r:id="rId135"/>
  </p:custDataLst>
  <p:defaultTextStyle>
    <a:defPPr>
      <a:defRPr lang="en-US"/>
    </a:defPPr>
    <a:lvl1pPr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l" rtl="0" fontAlgn="base">
      <a:spcBef>
        <a:spcPct val="0"/>
      </a:spcBef>
      <a:spcAft>
        <a:spcPct val="0"/>
      </a:spcAft>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6pPr>
    <a:lvl7pPr marL="27432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7pPr>
    <a:lvl8pPr marL="32004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8pPr>
    <a:lvl9pPr marL="36576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9pPr>
  </p:defaultTextStyle>
  <p:extLst>
    <p:ext uri="{EFAFB233-063F-42B5-8137-9DF3F51BA10A}">
      <p15:sldGuideLst xmlns:p15="http://schemas.microsoft.com/office/powerpoint/2012/main">
        <p15:guide id="3" orient="horz" pos="3946">
          <p15:clr>
            <a:srgbClr val="A4A3A4"/>
          </p15:clr>
        </p15:guide>
        <p15:guide id="4" orient="horz" userDrawn="1">
          <p15:clr>
            <a:srgbClr val="A4A3A4"/>
          </p15:clr>
        </p15:guide>
        <p15:guide id="5" orient="horz" pos="4195">
          <p15:clr>
            <a:srgbClr val="A4A3A4"/>
          </p15:clr>
        </p15:guide>
        <p15:guide id="6" orient="horz" pos="48" userDrawn="1">
          <p15:clr>
            <a:srgbClr val="A4A3A4"/>
          </p15:clr>
        </p15:guide>
        <p15:guide id="7" orient="horz" pos="528" userDrawn="1">
          <p15:clr>
            <a:srgbClr val="A4A3A4"/>
          </p15:clr>
        </p15:guide>
        <p15:guide id="8" orient="horz" pos="96" userDrawn="1">
          <p15:clr>
            <a:srgbClr val="A4A3A4"/>
          </p15:clr>
        </p15:guide>
        <p15:guide id="9" pos="6058">
          <p15:clr>
            <a:srgbClr val="A4A3A4"/>
          </p15:clr>
        </p15:guide>
        <p15:guide id="10" pos="182">
          <p15:clr>
            <a:srgbClr val="A4A3A4"/>
          </p15:clr>
        </p15:guide>
        <p15:guide id="11" pos="192" userDrawn="1">
          <p15:clr>
            <a:srgbClr val="A4A3A4"/>
          </p15:clr>
        </p15:guide>
        <p15:guide id="12"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y G Eapen" initials="AGE" lastIdx="28" clrIdx="0">
    <p:extLst>
      <p:ext uri="{19B8F6BF-5375-455C-9EA6-DF929625EA0E}">
        <p15:presenceInfo xmlns:p15="http://schemas.microsoft.com/office/powerpoint/2012/main" userId="S-1-5-21-1644491937-1275210071-1417001333-466234" providerId="AD"/>
      </p:ext>
    </p:extLst>
  </p:cmAuthor>
  <p:cmAuthor id="2" name="Vishal Kumar" initials="VK" lastIdx="22" clrIdx="1">
    <p:extLst>
      <p:ext uri="{19B8F6BF-5375-455C-9EA6-DF929625EA0E}">
        <p15:presenceInfo xmlns:p15="http://schemas.microsoft.com/office/powerpoint/2012/main" userId="S-1-5-21-1644491937-1275210071-1417001333-5644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6FC4"/>
    <a:srgbClr val="000F33"/>
    <a:srgbClr val="870052"/>
    <a:srgbClr val="DFDAC8"/>
    <a:srgbClr val="474B49"/>
    <a:srgbClr val="FF9900"/>
    <a:srgbClr val="BAB2C2"/>
    <a:srgbClr val="40A8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49" autoAdjust="0"/>
    <p:restoredTop sz="94730" autoAdjust="0"/>
  </p:normalViewPr>
  <p:slideViewPr>
    <p:cSldViewPr snapToGrid="0">
      <p:cViewPr varScale="1">
        <p:scale>
          <a:sx n="72" d="100"/>
          <a:sy n="72" d="100"/>
        </p:scale>
        <p:origin x="300" y="66"/>
      </p:cViewPr>
      <p:guideLst>
        <p:guide orient="horz" pos="3946"/>
        <p:guide orient="horz"/>
        <p:guide orient="horz" pos="4195"/>
        <p:guide orient="horz" pos="48"/>
        <p:guide orient="horz" pos="528"/>
        <p:guide orient="horz" pos="96"/>
        <p:guide pos="6058"/>
        <p:guide pos="182"/>
        <p:guide pos="192"/>
        <p:guide pos="2448"/>
      </p:guideLst>
    </p:cSldViewPr>
  </p:slideViewPr>
  <p:notesTextViewPr>
    <p:cViewPr>
      <p:scale>
        <a:sx n="3" d="2"/>
        <a:sy n="3" d="2"/>
      </p:scale>
      <p:origin x="0" y="0"/>
    </p:cViewPr>
  </p:notesTextViewPr>
  <p:sorterViewPr>
    <p:cViewPr varScale="1">
      <p:scale>
        <a:sx n="100" d="100"/>
        <a:sy n="100" d="100"/>
      </p:scale>
      <p:origin x="0" y="0"/>
    </p:cViewPr>
  </p:sorterViewPr>
  <p:gridSpacing cx="731520" cy="73152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117" Type="http://schemas.openxmlformats.org/officeDocument/2006/relationships/slide" Target="slides/slide107.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12" Type="http://schemas.openxmlformats.org/officeDocument/2006/relationships/slide" Target="slides/slide102.xml"/><Relationship Id="rId133" Type="http://schemas.openxmlformats.org/officeDocument/2006/relationships/notesMaster" Target="notesMasters/notesMaster1.xml"/><Relationship Id="rId138" Type="http://schemas.openxmlformats.org/officeDocument/2006/relationships/viewProps" Target="viewProps.xml"/><Relationship Id="rId16" Type="http://schemas.openxmlformats.org/officeDocument/2006/relationships/slide" Target="slides/slide6.xml"/><Relationship Id="rId107" Type="http://schemas.openxmlformats.org/officeDocument/2006/relationships/slide" Target="slides/slide97.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slide" Target="slides/slide92.xml"/><Relationship Id="rId123" Type="http://schemas.openxmlformats.org/officeDocument/2006/relationships/slide" Target="slides/slide113.xml"/><Relationship Id="rId128" Type="http://schemas.openxmlformats.org/officeDocument/2006/relationships/slide" Target="slides/slide118.xml"/><Relationship Id="rId5" Type="http://schemas.openxmlformats.org/officeDocument/2006/relationships/slideMaster" Target="slideMasters/slideMaster5.xml"/><Relationship Id="rId90" Type="http://schemas.openxmlformats.org/officeDocument/2006/relationships/slide" Target="slides/slide80.xml"/><Relationship Id="rId95" Type="http://schemas.openxmlformats.org/officeDocument/2006/relationships/slide" Target="slides/slide85.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113" Type="http://schemas.openxmlformats.org/officeDocument/2006/relationships/slide" Target="slides/slide103.xml"/><Relationship Id="rId118" Type="http://schemas.openxmlformats.org/officeDocument/2006/relationships/slide" Target="slides/slide108.xml"/><Relationship Id="rId134" Type="http://schemas.openxmlformats.org/officeDocument/2006/relationships/handoutMaster" Target="handoutMasters/handoutMaster1.xml"/><Relationship Id="rId139"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slide" Target="slides/slide75.xml"/><Relationship Id="rId93" Type="http://schemas.openxmlformats.org/officeDocument/2006/relationships/slide" Target="slides/slide83.xml"/><Relationship Id="rId98" Type="http://schemas.openxmlformats.org/officeDocument/2006/relationships/slide" Target="slides/slide88.xml"/><Relationship Id="rId121" Type="http://schemas.openxmlformats.org/officeDocument/2006/relationships/slide" Target="slides/slide11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103" Type="http://schemas.openxmlformats.org/officeDocument/2006/relationships/slide" Target="slides/slide93.xml"/><Relationship Id="rId108" Type="http://schemas.openxmlformats.org/officeDocument/2006/relationships/slide" Target="slides/slide98.xml"/><Relationship Id="rId116" Type="http://schemas.openxmlformats.org/officeDocument/2006/relationships/slide" Target="slides/slide106.xml"/><Relationship Id="rId124" Type="http://schemas.openxmlformats.org/officeDocument/2006/relationships/slide" Target="slides/slide114.xml"/><Relationship Id="rId129" Type="http://schemas.openxmlformats.org/officeDocument/2006/relationships/slide" Target="slides/slide119.xml"/><Relationship Id="rId137" Type="http://schemas.openxmlformats.org/officeDocument/2006/relationships/presProps" Target="presProp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slide" Target="slides/slide81.xml"/><Relationship Id="rId96" Type="http://schemas.openxmlformats.org/officeDocument/2006/relationships/slide" Target="slides/slide86.xml"/><Relationship Id="rId111" Type="http://schemas.openxmlformats.org/officeDocument/2006/relationships/slide" Target="slides/slide101.xml"/><Relationship Id="rId132" Type="http://schemas.openxmlformats.org/officeDocument/2006/relationships/slide" Target="slides/slide122.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6" Type="http://schemas.openxmlformats.org/officeDocument/2006/relationships/slide" Target="slides/slide96.xml"/><Relationship Id="rId114" Type="http://schemas.openxmlformats.org/officeDocument/2006/relationships/slide" Target="slides/slide104.xml"/><Relationship Id="rId119" Type="http://schemas.openxmlformats.org/officeDocument/2006/relationships/slide" Target="slides/slide109.xml"/><Relationship Id="rId127" Type="http://schemas.openxmlformats.org/officeDocument/2006/relationships/slide" Target="slides/slide11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slide" Target="slides/slide91.xml"/><Relationship Id="rId122" Type="http://schemas.openxmlformats.org/officeDocument/2006/relationships/slide" Target="slides/slide112.xml"/><Relationship Id="rId130" Type="http://schemas.openxmlformats.org/officeDocument/2006/relationships/slide" Target="slides/slide120.xml"/><Relationship Id="rId135"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slide" Target="slides/slide9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slide" Target="slides/slide94.xml"/><Relationship Id="rId120" Type="http://schemas.openxmlformats.org/officeDocument/2006/relationships/slide" Target="slides/slide110.xml"/><Relationship Id="rId125" Type="http://schemas.openxmlformats.org/officeDocument/2006/relationships/slide" Target="slides/slide115.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110" Type="http://schemas.openxmlformats.org/officeDocument/2006/relationships/slide" Target="slides/slide100.xml"/><Relationship Id="rId115" Type="http://schemas.openxmlformats.org/officeDocument/2006/relationships/slide" Target="slides/slide105.xml"/><Relationship Id="rId131" Type="http://schemas.openxmlformats.org/officeDocument/2006/relationships/slide" Target="slides/slide121.xml"/><Relationship Id="rId136" Type="http://schemas.openxmlformats.org/officeDocument/2006/relationships/commentAuthors" Target="commentAuthors.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slide" Target="slides/slide90.xml"/><Relationship Id="rId105" Type="http://schemas.openxmlformats.org/officeDocument/2006/relationships/slide" Target="slides/slide95.xml"/><Relationship Id="rId126" Type="http://schemas.openxmlformats.org/officeDocument/2006/relationships/slide" Target="slides/slide116.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pqa5506\Downloads\012%20-Past%20Due%20History%20for%20Doha%20and%20All%20International%20units.%20(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wf0fs3p\Risk%20Infrastructure%20&amp;%20Governance\Strategic%20Risk%20Projects%20and%20Policies\Policies%20&amp;%20Framework\IFRS\Mar%202017\Qatar\Past%20due%20Qatar%200317.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wf0fs3p\Risk%20Infrastructure%20&amp;%20Governance\Strategic%20Risk%20Projects%20and%20Policies\Policies%20&amp;%20Framework\IFRS\Mar%202017\Qatar\doha%20book%20317.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wf0fs3p\Risk%20Infrastructure%20&amp;%20Governance\Strategic%20Risk%20Projects%20and%20Policies\Policies%20&amp;%20Framework\IFRS\Mar%202017\Qatar\DPDs%20cure%200317.xlsx" TargetMode="External"/></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wf0fs3p\Risk%20Infrastructure%20&amp;%20Governance\Strategic%20Risk%20Projects%20and%20Policies\Policies%20&amp;%20Framework\IFRS\Mar%202017\Qatar\Rescheduled%20And%20Restructured%20Accounts.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wf0fs3p\Risk%20Infrastructure%20&amp;%20Governance\Strategic%20Risk%20Projects%20and%20Policies\Policies%20&amp;%20Framework\IFRS\Mar%202017\Qatar\count.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wf0fs3p\Risk%20Infrastructure%20&amp;%20Governance\Strategic%20Risk%20Projects%20and%20Policies\Policies%20&amp;%20Framework\IFRS\Mar%202017\Qatar\doha%20book%20317.xlsx" TargetMode="External"/></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oleObject" Target="file:///\\wf0fs3p\Risk%20Infrastructure%20&amp;%20Governance\Strategic%20Risk%20Projects%20and%20Policies\Policies%20&amp;%20Framework\IFRS\Mar%202017\Qatar\DPDs%20cure%200317.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wf0fs3p\Risk%20Infrastructure%20&amp;%20Governance\Strategic%20Risk%20Projects%20and%20Policies\Policies%20&amp;%20Framework\IFRS\Mar%202017\Qatar\Collateral%200317%20Dohav.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solidFill>
                  <a:schemeClr val="accent1">
                    <a:lumMod val="50000"/>
                  </a:schemeClr>
                </a:solidFill>
              </a:defRPr>
            </a:pPr>
            <a:r>
              <a:rPr lang="en-US" sz="1200" dirty="0" smtClean="0">
                <a:solidFill>
                  <a:schemeClr val="accent1">
                    <a:lumMod val="50000"/>
                  </a:schemeClr>
                </a:solidFill>
              </a:rPr>
              <a:t>+90DPD (</a:t>
            </a:r>
            <a:r>
              <a:rPr lang="en-US" sz="1200" dirty="0" err="1" smtClean="0">
                <a:solidFill>
                  <a:schemeClr val="accent1">
                    <a:lumMod val="50000"/>
                  </a:schemeClr>
                </a:solidFill>
              </a:rPr>
              <a:t>QARm</a:t>
            </a:r>
            <a:r>
              <a:rPr lang="en-US" sz="1200" dirty="0" smtClean="0">
                <a:solidFill>
                  <a:schemeClr val="accent1">
                    <a:lumMod val="50000"/>
                  </a:schemeClr>
                </a:solidFill>
              </a:rPr>
              <a:t>)</a:t>
            </a:r>
            <a:endParaRPr lang="en-US" sz="1200" dirty="0">
              <a:solidFill>
                <a:schemeClr val="accent1">
                  <a:lumMod val="50000"/>
                </a:schemeClr>
              </a:solidFill>
            </a:endParaRPr>
          </a:p>
        </c:rich>
      </c:tx>
      <c:layout/>
      <c:overlay val="1"/>
    </c:title>
    <c:autoTitleDeleted val="0"/>
    <c:plotArea>
      <c:layout>
        <c:manualLayout>
          <c:layoutTarget val="inner"/>
          <c:xMode val="edge"/>
          <c:yMode val="edge"/>
          <c:x val="9.3196850393700792E-2"/>
          <c:y val="5.1400554097404488E-2"/>
          <c:w val="0.90680314960629926"/>
          <c:h val="0.85576771653543304"/>
        </c:manualLayout>
      </c:layout>
      <c:barChart>
        <c:barDir val="col"/>
        <c:grouping val="clustered"/>
        <c:varyColors val="0"/>
        <c:ser>
          <c:idx val="0"/>
          <c:order val="0"/>
          <c:invertIfNegative val="0"/>
          <c:dLbls>
            <c:dLbl>
              <c:idx val="0"/>
              <c:layout/>
              <c:tx>
                <c:rich>
                  <a:bodyPr/>
                  <a:lstStyle/>
                  <a:p>
                    <a:r>
                      <a:rPr lang="en-US" smtClean="0"/>
                      <a:t>5,130</a:t>
                    </a:r>
                  </a:p>
                  <a:p>
                    <a:r>
                      <a:rPr lang="en-US" smtClean="0"/>
                      <a:t>EAD</a:t>
                    </a:r>
                    <a:endParaRPr lang="en-US"/>
                  </a:p>
                </c:rich>
              </c:tx>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a:lstStyle/>
              <a:p>
                <a:pPr>
                  <a:defRPr sz="9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Sheet1!$H$10:$H$11</c:f>
              <c:strCache>
                <c:ptCount val="2"/>
                <c:pt idx="0">
                  <c:v>Corporate</c:v>
                </c:pt>
                <c:pt idx="1">
                  <c:v>Retail</c:v>
                </c:pt>
              </c:strCache>
            </c:strRef>
          </c:cat>
          <c:val>
            <c:numRef>
              <c:f>Sheet1!$I$10:$I$11</c:f>
              <c:numCache>
                <c:formatCode>#,##0,,</c:formatCode>
                <c:ptCount val="2"/>
                <c:pt idx="0">
                  <c:v>5130442166.2700062</c:v>
                </c:pt>
                <c:pt idx="1">
                  <c:v>519251482.5899989</c:v>
                </c:pt>
              </c:numCache>
            </c:numRef>
          </c:val>
        </c:ser>
        <c:ser>
          <c:idx val="1"/>
          <c:order val="1"/>
          <c:invertIfNegative val="0"/>
          <c:dPt>
            <c:idx val="0"/>
            <c:invertIfNegative val="0"/>
            <c:bubble3D val="0"/>
            <c:spPr>
              <a:solidFill>
                <a:schemeClr val="accent1">
                  <a:lumMod val="50000"/>
                </a:schemeClr>
              </a:solidFill>
            </c:spPr>
          </c:dPt>
          <c:dPt>
            <c:idx val="1"/>
            <c:invertIfNegative val="0"/>
            <c:bubble3D val="0"/>
            <c:spPr>
              <a:solidFill>
                <a:schemeClr val="accent1">
                  <a:lumMod val="50000"/>
                </a:schemeClr>
              </a:solidFill>
            </c:spPr>
          </c:dPt>
          <c:dLbls>
            <c:dLbl>
              <c:idx val="0"/>
              <c:layout/>
              <c:tx>
                <c:rich>
                  <a:bodyPr/>
                  <a:lstStyle/>
                  <a:p>
                    <a:r>
                      <a:rPr lang="en-US" smtClean="0"/>
                      <a:t>1,948</a:t>
                    </a:r>
                  </a:p>
                  <a:p>
                    <a:r>
                      <a:rPr lang="en-US" smtClean="0"/>
                      <a:t>ECL</a:t>
                    </a:r>
                    <a:endParaRPr lang="en-US"/>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
                  <c:y val="7.8962160979877516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a:lstStyle/>
              <a:p>
                <a:pPr>
                  <a:defRPr sz="900">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Sheet1!$H$10:$H$11</c:f>
              <c:strCache>
                <c:ptCount val="2"/>
                <c:pt idx="0">
                  <c:v>Corporate</c:v>
                </c:pt>
                <c:pt idx="1">
                  <c:v>Retail</c:v>
                </c:pt>
              </c:strCache>
            </c:strRef>
          </c:cat>
          <c:val>
            <c:numRef>
              <c:f>Sheet1!$J$10:$J$11</c:f>
              <c:numCache>
                <c:formatCode>#,##0,,</c:formatCode>
                <c:ptCount val="2"/>
                <c:pt idx="0">
                  <c:v>1947885472.2111905</c:v>
                </c:pt>
                <c:pt idx="1">
                  <c:v>358865661.02870446</c:v>
                </c:pt>
              </c:numCache>
            </c:numRef>
          </c:val>
        </c:ser>
        <c:dLbls>
          <c:showLegendKey val="0"/>
          <c:showVal val="0"/>
          <c:showCatName val="0"/>
          <c:showSerName val="0"/>
          <c:showPercent val="0"/>
          <c:showBubbleSize val="0"/>
        </c:dLbls>
        <c:gapWidth val="150"/>
        <c:axId val="462352240"/>
        <c:axId val="462352632"/>
      </c:barChart>
      <c:catAx>
        <c:axId val="462352240"/>
        <c:scaling>
          <c:orientation val="minMax"/>
        </c:scaling>
        <c:delete val="0"/>
        <c:axPos val="b"/>
        <c:numFmt formatCode="General" sourceLinked="0"/>
        <c:majorTickMark val="out"/>
        <c:minorTickMark val="none"/>
        <c:tickLblPos val="nextTo"/>
        <c:crossAx val="462352632"/>
        <c:crosses val="autoZero"/>
        <c:auto val="1"/>
        <c:lblAlgn val="ctr"/>
        <c:lblOffset val="100"/>
        <c:noMultiLvlLbl val="0"/>
      </c:catAx>
      <c:valAx>
        <c:axId val="462352632"/>
        <c:scaling>
          <c:orientation val="minMax"/>
        </c:scaling>
        <c:delete val="0"/>
        <c:axPos val="l"/>
        <c:numFmt formatCode="#,##0,," sourceLinked="1"/>
        <c:majorTickMark val="out"/>
        <c:minorTickMark val="none"/>
        <c:tickLblPos val="nextTo"/>
        <c:crossAx val="462352240"/>
        <c:crosses val="autoZero"/>
        <c:crossBetween val="between"/>
      </c:valAx>
    </c:plotArea>
    <c:plotVisOnly val="1"/>
    <c:dispBlanksAs val="gap"/>
    <c:showDLblsOverMax val="0"/>
  </c:chart>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solidFill>
                  <a:schemeClr val="accent1">
                    <a:lumMod val="50000"/>
                  </a:schemeClr>
                </a:solidFill>
              </a:defRPr>
            </a:pPr>
            <a:r>
              <a:rPr lang="en-US" sz="1200" dirty="0" smtClean="0">
                <a:solidFill>
                  <a:schemeClr val="accent1">
                    <a:lumMod val="50000"/>
                  </a:schemeClr>
                </a:solidFill>
              </a:rPr>
              <a:t>Number</a:t>
            </a:r>
            <a:r>
              <a:rPr lang="en-US" sz="1200" baseline="0" dirty="0" smtClean="0">
                <a:solidFill>
                  <a:schemeClr val="accent1">
                    <a:lumMod val="50000"/>
                  </a:schemeClr>
                </a:solidFill>
              </a:rPr>
              <a:t> of customers with +90DPD by ORR</a:t>
            </a:r>
            <a:endParaRPr lang="en-US" sz="1200" dirty="0">
              <a:solidFill>
                <a:schemeClr val="accent1">
                  <a:lumMod val="50000"/>
                </a:schemeClr>
              </a:solidFill>
            </a:endParaRPr>
          </a:p>
        </c:rich>
      </c:tx>
      <c:layout>
        <c:manualLayout>
          <c:xMode val="edge"/>
          <c:yMode val="edge"/>
          <c:x val="0.17096522309711287"/>
          <c:y val="0"/>
        </c:manualLayout>
      </c:layout>
      <c:overlay val="1"/>
    </c:title>
    <c:autoTitleDeleted val="0"/>
    <c:plotArea>
      <c:layout>
        <c:manualLayout>
          <c:layoutTarget val="inner"/>
          <c:xMode val="edge"/>
          <c:yMode val="edge"/>
          <c:x val="7.2182852143482065E-2"/>
          <c:y val="2.8252405949256341E-2"/>
          <c:w val="0.92781714785651792"/>
          <c:h val="0.87891586468358118"/>
        </c:manualLayout>
      </c:layout>
      <c:barChart>
        <c:barDir val="col"/>
        <c:grouping val="clustered"/>
        <c:varyColors val="0"/>
        <c:ser>
          <c:idx val="0"/>
          <c:order val="0"/>
          <c:tx>
            <c:strRef>
              <c:f>Sheet1!$G$31</c:f>
              <c:strCache>
                <c:ptCount val="1"/>
                <c:pt idx="0">
                  <c:v>EAD&lt;75m</c:v>
                </c:pt>
              </c:strCache>
            </c:strRef>
          </c:tx>
          <c:invertIfNegative val="0"/>
          <c:dLbls>
            <c:spPr>
              <a:noFill/>
              <a:ln>
                <a:noFill/>
              </a:ln>
              <a:effectLst/>
            </c:spPr>
            <c:txPr>
              <a:bodyPr/>
              <a:lstStyle/>
              <a:p>
                <a:pPr>
                  <a:defRPr sz="9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Sheet1!$F$32:$F$38</c:f>
              <c:strCache>
                <c:ptCount val="7"/>
                <c:pt idx="0">
                  <c:v>2</c:v>
                </c:pt>
                <c:pt idx="1">
                  <c:v>3</c:v>
                </c:pt>
                <c:pt idx="2">
                  <c:v>4</c:v>
                </c:pt>
                <c:pt idx="3">
                  <c:v>5</c:v>
                </c:pt>
                <c:pt idx="4">
                  <c:v>5-</c:v>
                </c:pt>
                <c:pt idx="5">
                  <c:v>6</c:v>
                </c:pt>
                <c:pt idx="6">
                  <c:v>7-</c:v>
                </c:pt>
              </c:strCache>
            </c:strRef>
          </c:cat>
          <c:val>
            <c:numRef>
              <c:f>Sheet1!$G$32:$G$38</c:f>
              <c:numCache>
                <c:formatCode>General</c:formatCode>
                <c:ptCount val="7"/>
                <c:pt idx="0">
                  <c:v>1</c:v>
                </c:pt>
                <c:pt idx="1">
                  <c:v>1</c:v>
                </c:pt>
                <c:pt idx="2">
                  <c:v>58</c:v>
                </c:pt>
                <c:pt idx="3">
                  <c:v>101</c:v>
                </c:pt>
                <c:pt idx="4">
                  <c:v>1</c:v>
                </c:pt>
                <c:pt idx="5">
                  <c:v>156</c:v>
                </c:pt>
                <c:pt idx="6">
                  <c:v>3</c:v>
                </c:pt>
              </c:numCache>
            </c:numRef>
          </c:val>
        </c:ser>
        <c:ser>
          <c:idx val="1"/>
          <c:order val="1"/>
          <c:tx>
            <c:strRef>
              <c:f>Sheet1!$H$31</c:f>
              <c:strCache>
                <c:ptCount val="1"/>
                <c:pt idx="0">
                  <c:v>EAD&gt;=75M</c:v>
                </c:pt>
              </c:strCache>
            </c:strRef>
          </c:tx>
          <c:invertIfNegative val="0"/>
          <c:dLbls>
            <c:dLbl>
              <c:idx val="0"/>
              <c:delete val="1"/>
              <c:extLst>
                <c:ext xmlns:c15="http://schemas.microsoft.com/office/drawing/2012/chart" uri="{CE6537A1-D6FC-4f65-9D91-7224C49458BB}"/>
              </c:extLst>
            </c:dLbl>
            <c:dLbl>
              <c:idx val="1"/>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6"/>
              <c:delete val="1"/>
              <c:extLst>
                <c:ext xmlns:c15="http://schemas.microsoft.com/office/drawing/2012/chart" uri="{CE6537A1-D6FC-4f65-9D91-7224C49458BB}"/>
              </c:extLst>
            </c:dLbl>
            <c:spPr>
              <a:noFill/>
              <a:ln>
                <a:noFill/>
              </a:ln>
              <a:effectLst/>
            </c:spPr>
            <c:txPr>
              <a:bodyPr/>
              <a:lstStyle/>
              <a:p>
                <a:pPr>
                  <a:defRPr sz="9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Sheet1!$F$32:$F$38</c:f>
              <c:strCache>
                <c:ptCount val="7"/>
                <c:pt idx="0">
                  <c:v>2</c:v>
                </c:pt>
                <c:pt idx="1">
                  <c:v>3</c:v>
                </c:pt>
                <c:pt idx="2">
                  <c:v>4</c:v>
                </c:pt>
                <c:pt idx="3">
                  <c:v>5</c:v>
                </c:pt>
                <c:pt idx="4">
                  <c:v>5-</c:v>
                </c:pt>
                <c:pt idx="5">
                  <c:v>6</c:v>
                </c:pt>
                <c:pt idx="6">
                  <c:v>7-</c:v>
                </c:pt>
              </c:strCache>
            </c:strRef>
          </c:cat>
          <c:val>
            <c:numRef>
              <c:f>Sheet1!$H$32:$H$38</c:f>
              <c:numCache>
                <c:formatCode>General</c:formatCode>
                <c:ptCount val="7"/>
                <c:pt idx="0">
                  <c:v>0</c:v>
                </c:pt>
                <c:pt idx="1">
                  <c:v>0</c:v>
                </c:pt>
                <c:pt idx="2">
                  <c:v>4</c:v>
                </c:pt>
                <c:pt idx="3">
                  <c:v>1</c:v>
                </c:pt>
                <c:pt idx="4">
                  <c:v>0</c:v>
                </c:pt>
                <c:pt idx="5">
                  <c:v>6</c:v>
                </c:pt>
                <c:pt idx="6">
                  <c:v>0</c:v>
                </c:pt>
              </c:numCache>
            </c:numRef>
          </c:val>
        </c:ser>
        <c:dLbls>
          <c:showLegendKey val="0"/>
          <c:showVal val="0"/>
          <c:showCatName val="0"/>
          <c:showSerName val="0"/>
          <c:showPercent val="0"/>
          <c:showBubbleSize val="0"/>
        </c:dLbls>
        <c:gapWidth val="34"/>
        <c:axId val="462272472"/>
        <c:axId val="462272864"/>
      </c:barChart>
      <c:catAx>
        <c:axId val="462272472"/>
        <c:scaling>
          <c:orientation val="minMax"/>
        </c:scaling>
        <c:delete val="0"/>
        <c:axPos val="b"/>
        <c:numFmt formatCode="General" sourceLinked="0"/>
        <c:majorTickMark val="out"/>
        <c:minorTickMark val="none"/>
        <c:tickLblPos val="nextTo"/>
        <c:crossAx val="462272864"/>
        <c:crosses val="autoZero"/>
        <c:auto val="1"/>
        <c:lblAlgn val="ctr"/>
        <c:lblOffset val="100"/>
        <c:noMultiLvlLbl val="0"/>
      </c:catAx>
      <c:valAx>
        <c:axId val="462272864"/>
        <c:scaling>
          <c:orientation val="minMax"/>
        </c:scaling>
        <c:delete val="0"/>
        <c:axPos val="l"/>
        <c:numFmt formatCode="General" sourceLinked="1"/>
        <c:majorTickMark val="out"/>
        <c:minorTickMark val="none"/>
        <c:tickLblPos val="nextTo"/>
        <c:crossAx val="462272472"/>
        <c:crosses val="autoZero"/>
        <c:crossBetween val="between"/>
      </c:valAx>
    </c:plotArea>
    <c:legend>
      <c:legendPos val="r"/>
      <c:layout>
        <c:manualLayout>
          <c:xMode val="edge"/>
          <c:yMode val="edge"/>
          <c:x val="0.29873731408573928"/>
          <c:y val="0.13850503062117236"/>
          <c:w val="0.32348490813648295"/>
          <c:h val="0.16743438320209975"/>
        </c:manualLayout>
      </c:layout>
      <c:overlay val="0"/>
      <c:txPr>
        <a:bodyPr/>
        <a:lstStyle/>
        <a:p>
          <a:pPr>
            <a:defRPr sz="900"/>
          </a:pPr>
          <a:endParaRPr lang="en-US"/>
        </a:p>
      </c:txPr>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solidFill>
                  <a:schemeClr val="accent1">
                    <a:lumMod val="50000"/>
                  </a:schemeClr>
                </a:solidFill>
              </a:defRPr>
            </a:pPr>
            <a:r>
              <a:rPr lang="en-US" sz="1200" dirty="0" smtClean="0">
                <a:solidFill>
                  <a:schemeClr val="accent1">
                    <a:lumMod val="50000"/>
                  </a:schemeClr>
                </a:solidFill>
              </a:rPr>
              <a:t>Low Credit Risk Assets (</a:t>
            </a:r>
            <a:r>
              <a:rPr lang="en-US" sz="1200" dirty="0" err="1" smtClean="0">
                <a:solidFill>
                  <a:schemeClr val="accent1">
                    <a:lumMod val="50000"/>
                  </a:schemeClr>
                </a:solidFill>
              </a:rPr>
              <a:t>QARm</a:t>
            </a:r>
            <a:r>
              <a:rPr lang="en-US" sz="1200" dirty="0" smtClean="0">
                <a:solidFill>
                  <a:schemeClr val="accent1">
                    <a:lumMod val="50000"/>
                  </a:schemeClr>
                </a:solidFill>
              </a:rPr>
              <a:t>)</a:t>
            </a:r>
            <a:endParaRPr lang="en-US" sz="1200" dirty="0">
              <a:solidFill>
                <a:schemeClr val="accent1">
                  <a:lumMod val="50000"/>
                </a:schemeClr>
              </a:solidFill>
            </a:endParaRPr>
          </a:p>
        </c:rich>
      </c:tx>
      <c:layout>
        <c:manualLayout>
          <c:xMode val="edge"/>
          <c:yMode val="edge"/>
          <c:x val="0.40022222222222215"/>
          <c:y val="2.7506651953134731E-2"/>
        </c:manualLayout>
      </c:layout>
      <c:overlay val="1"/>
    </c:title>
    <c:autoTitleDeleted val="0"/>
    <c:plotArea>
      <c:layout>
        <c:manualLayout>
          <c:layoutTarget val="inner"/>
          <c:xMode val="edge"/>
          <c:yMode val="edge"/>
          <c:x val="0.10959492563429571"/>
          <c:y val="7.1024557808911079E-2"/>
          <c:w val="0.89040507436570426"/>
          <c:h val="0.84554653948630421"/>
        </c:manualLayout>
      </c:layout>
      <c:barChart>
        <c:barDir val="col"/>
        <c:grouping val="clustered"/>
        <c:varyColors val="0"/>
        <c:ser>
          <c:idx val="0"/>
          <c:order val="0"/>
          <c:tx>
            <c:strRef>
              <c:f>Summary!$F$1</c:f>
              <c:strCache>
                <c:ptCount val="1"/>
                <c:pt idx="0">
                  <c:v>ECL</c:v>
                </c:pt>
              </c:strCache>
            </c:strRef>
          </c:tx>
          <c:invertIfNegative val="0"/>
          <c:cat>
            <c:strRef>
              <c:f>Summary!$E$2:$E$4</c:f>
              <c:strCache>
                <c:ptCount val="3"/>
                <c:pt idx="0">
                  <c:v>LCR - QCB rules</c:v>
                </c:pt>
                <c:pt idx="1">
                  <c:v>LCR - SoQ guarantee TIN</c:v>
                </c:pt>
                <c:pt idx="2">
                  <c:v>LCR - IFRS9 (upto BBB-</c:v>
                </c:pt>
              </c:strCache>
            </c:strRef>
          </c:cat>
          <c:val>
            <c:numRef>
              <c:f>Summary!$F$2:$F$4</c:f>
              <c:numCache>
                <c:formatCode>_-* #,##0_-;\-* #,##0_-;_-* "-"??_-;_-@_-</c:formatCode>
                <c:ptCount val="3"/>
                <c:pt idx="0">
                  <c:v>3933191.363383621</c:v>
                </c:pt>
                <c:pt idx="1">
                  <c:v>23381978.975091375</c:v>
                </c:pt>
                <c:pt idx="2">
                  <c:v>47495960.907410756</c:v>
                </c:pt>
              </c:numCache>
            </c:numRef>
          </c:val>
        </c:ser>
        <c:ser>
          <c:idx val="1"/>
          <c:order val="1"/>
          <c:tx>
            <c:strRef>
              <c:f>Summary!$G$1</c:f>
              <c:strCache>
                <c:ptCount val="1"/>
                <c:pt idx="0">
                  <c:v>EAD</c:v>
                </c:pt>
              </c:strCache>
            </c:strRef>
          </c:tx>
          <c:spPr>
            <a:solidFill>
              <a:schemeClr val="accent1">
                <a:lumMod val="50000"/>
              </a:schemeClr>
            </a:solidFill>
          </c:spPr>
          <c:invertIfNegative val="0"/>
          <c:dLbls>
            <c:dLbl>
              <c:idx val="0"/>
              <c:layout>
                <c:manualLayout>
                  <c:x val="0"/>
                  <c:y val="6.5926080746101692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numFmt formatCode="#,##0,," sourceLinked="0"/>
            <c:spPr>
              <a:noFill/>
              <a:ln>
                <a:noFill/>
              </a:ln>
              <a:effectLst/>
            </c:spPr>
            <c:txPr>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Summary!$E$2:$E$4</c:f>
              <c:strCache>
                <c:ptCount val="3"/>
                <c:pt idx="0">
                  <c:v>LCR - QCB rules</c:v>
                </c:pt>
                <c:pt idx="1">
                  <c:v>LCR - SoQ guarantee TIN</c:v>
                </c:pt>
                <c:pt idx="2">
                  <c:v>LCR - IFRS9 (upto BBB-</c:v>
                </c:pt>
              </c:strCache>
            </c:strRef>
          </c:cat>
          <c:val>
            <c:numRef>
              <c:f>Summary!$G$2:$G$4</c:f>
              <c:numCache>
                <c:formatCode>_-* #,##0_-;\-* #,##0_-;_-* "-"??_-;_-@_-</c:formatCode>
                <c:ptCount val="3"/>
                <c:pt idx="0">
                  <c:v>6285257491.9900007</c:v>
                </c:pt>
                <c:pt idx="1">
                  <c:v>127188169861.61601</c:v>
                </c:pt>
                <c:pt idx="2">
                  <c:v>38917401113.535995</c:v>
                </c:pt>
              </c:numCache>
            </c:numRef>
          </c:val>
        </c:ser>
        <c:dLbls>
          <c:showLegendKey val="0"/>
          <c:showVal val="0"/>
          <c:showCatName val="0"/>
          <c:showSerName val="0"/>
          <c:showPercent val="0"/>
          <c:showBubbleSize val="0"/>
        </c:dLbls>
        <c:gapWidth val="62"/>
        <c:axId val="462273648"/>
        <c:axId val="462274040"/>
      </c:barChart>
      <c:catAx>
        <c:axId val="462273648"/>
        <c:scaling>
          <c:orientation val="minMax"/>
        </c:scaling>
        <c:delete val="0"/>
        <c:axPos val="b"/>
        <c:numFmt formatCode="General" sourceLinked="0"/>
        <c:majorTickMark val="out"/>
        <c:minorTickMark val="none"/>
        <c:tickLblPos val="nextTo"/>
        <c:txPr>
          <a:bodyPr/>
          <a:lstStyle/>
          <a:p>
            <a:pPr>
              <a:defRPr sz="900"/>
            </a:pPr>
            <a:endParaRPr lang="en-US"/>
          </a:p>
        </c:txPr>
        <c:crossAx val="462274040"/>
        <c:crosses val="autoZero"/>
        <c:auto val="1"/>
        <c:lblAlgn val="ctr"/>
        <c:lblOffset val="100"/>
        <c:noMultiLvlLbl val="0"/>
      </c:catAx>
      <c:valAx>
        <c:axId val="462274040"/>
        <c:scaling>
          <c:orientation val="minMax"/>
        </c:scaling>
        <c:delete val="0"/>
        <c:axPos val="l"/>
        <c:numFmt formatCode="#,##0,,;\-#,##0,," sourceLinked="0"/>
        <c:majorTickMark val="out"/>
        <c:minorTickMark val="none"/>
        <c:tickLblPos val="nextTo"/>
        <c:txPr>
          <a:bodyPr/>
          <a:lstStyle/>
          <a:p>
            <a:pPr>
              <a:defRPr sz="900"/>
            </a:pPr>
            <a:endParaRPr lang="en-US"/>
          </a:p>
        </c:txPr>
        <c:crossAx val="462273648"/>
        <c:crosses val="autoZero"/>
        <c:crossBetween val="between"/>
      </c:valAx>
    </c:plotArea>
    <c:legend>
      <c:legendPos val="r"/>
      <c:layout>
        <c:manualLayout>
          <c:xMode val="edge"/>
          <c:yMode val="edge"/>
          <c:x val="0.31720953630796145"/>
          <c:y val="0.27339698849088473"/>
          <c:w val="9.3901574803149604E-2"/>
          <c:h val="0.16743438320209975"/>
        </c:manualLayout>
      </c:layout>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6266185476815402E-2"/>
          <c:y val="5.1400554097404488E-2"/>
          <c:w val="0.91373381452318458"/>
          <c:h val="0.8326195683872849"/>
        </c:manualLayout>
      </c:layout>
      <c:barChart>
        <c:barDir val="col"/>
        <c:grouping val="stacked"/>
        <c:varyColors val="0"/>
        <c:ser>
          <c:idx val="0"/>
          <c:order val="0"/>
          <c:tx>
            <c:strRef>
              <c:f>Sheet1!$F$9</c:f>
              <c:strCache>
                <c:ptCount val="1"/>
                <c:pt idx="0">
                  <c:v>Cure</c:v>
                </c:pt>
              </c:strCache>
            </c:strRef>
          </c:tx>
          <c:invertIfNegative val="0"/>
          <c:dLbls>
            <c:spPr>
              <a:noFill/>
              <a:ln>
                <a:noFill/>
              </a:ln>
              <a:effectLst/>
            </c:spPr>
            <c:txPr>
              <a:bodyPr/>
              <a:lstStyle/>
              <a:p>
                <a:pPr>
                  <a:defRPr>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Sheet1!$E$10:$E$11</c:f>
              <c:strCache>
                <c:ptCount val="2"/>
                <c:pt idx="0">
                  <c:v>Corporate</c:v>
                </c:pt>
                <c:pt idx="1">
                  <c:v>Retail</c:v>
                </c:pt>
              </c:strCache>
            </c:strRef>
          </c:cat>
          <c:val>
            <c:numRef>
              <c:f>Sheet1!$F$10:$F$11</c:f>
              <c:numCache>
                <c:formatCode>General</c:formatCode>
                <c:ptCount val="2"/>
                <c:pt idx="0">
                  <c:v>118</c:v>
                </c:pt>
                <c:pt idx="1">
                  <c:v>988</c:v>
                </c:pt>
              </c:numCache>
            </c:numRef>
          </c:val>
        </c:ser>
        <c:ser>
          <c:idx val="1"/>
          <c:order val="1"/>
          <c:tx>
            <c:strRef>
              <c:f>Sheet1!$G$9</c:f>
              <c:strCache>
                <c:ptCount val="1"/>
                <c:pt idx="0">
                  <c:v>Repeat, W-off, NPL</c:v>
                </c:pt>
              </c:strCache>
            </c:strRef>
          </c:tx>
          <c:invertIfNegative val="0"/>
          <c:dLbls>
            <c:spPr>
              <a:noFill/>
              <a:ln>
                <a:noFill/>
              </a:ln>
              <a:effectLst/>
            </c:spPr>
            <c:txPr>
              <a:bodyPr/>
              <a:lstStyle/>
              <a:p>
                <a:pPr>
                  <a:defRPr>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Sheet1!$E$10:$E$11</c:f>
              <c:strCache>
                <c:ptCount val="2"/>
                <c:pt idx="0">
                  <c:v>Corporate</c:v>
                </c:pt>
                <c:pt idx="1">
                  <c:v>Retail</c:v>
                </c:pt>
              </c:strCache>
            </c:strRef>
          </c:cat>
          <c:val>
            <c:numRef>
              <c:f>Sheet1!$G$10:$G$11</c:f>
              <c:numCache>
                <c:formatCode>_-* #,##0_-;\-* #,##0_-;_-* "-"??_-;_-@_-</c:formatCode>
                <c:ptCount val="2"/>
                <c:pt idx="0" formatCode="General">
                  <c:v>469</c:v>
                </c:pt>
                <c:pt idx="1">
                  <c:v>1464</c:v>
                </c:pt>
              </c:numCache>
            </c:numRef>
          </c:val>
        </c:ser>
        <c:dLbls>
          <c:showLegendKey val="0"/>
          <c:showVal val="0"/>
          <c:showCatName val="0"/>
          <c:showSerName val="0"/>
          <c:showPercent val="0"/>
          <c:showBubbleSize val="0"/>
        </c:dLbls>
        <c:gapWidth val="150"/>
        <c:overlap val="100"/>
        <c:axId val="462697720"/>
        <c:axId val="462698112"/>
      </c:barChart>
      <c:catAx>
        <c:axId val="462697720"/>
        <c:scaling>
          <c:orientation val="minMax"/>
        </c:scaling>
        <c:delete val="0"/>
        <c:axPos val="b"/>
        <c:numFmt formatCode="General" sourceLinked="0"/>
        <c:majorTickMark val="out"/>
        <c:minorTickMark val="none"/>
        <c:tickLblPos val="nextTo"/>
        <c:crossAx val="462698112"/>
        <c:crosses val="autoZero"/>
        <c:auto val="1"/>
        <c:lblAlgn val="ctr"/>
        <c:lblOffset val="100"/>
        <c:noMultiLvlLbl val="0"/>
      </c:catAx>
      <c:valAx>
        <c:axId val="462698112"/>
        <c:scaling>
          <c:orientation val="minMax"/>
        </c:scaling>
        <c:delete val="0"/>
        <c:axPos val="l"/>
        <c:numFmt formatCode="General" sourceLinked="1"/>
        <c:majorTickMark val="out"/>
        <c:minorTickMark val="none"/>
        <c:tickLblPos val="nextTo"/>
        <c:crossAx val="462697720"/>
        <c:crosses val="autoZero"/>
        <c:crossBetween val="between"/>
      </c:valAx>
    </c:plotArea>
    <c:legend>
      <c:legendPos val="r"/>
      <c:layout>
        <c:manualLayout>
          <c:xMode val="edge"/>
          <c:yMode val="edge"/>
          <c:x val="0.16965141024173652"/>
          <c:y val="0.26350505451389222"/>
          <c:w val="0.21439403206515478"/>
          <c:h val="0.22207191510094507"/>
        </c:manualLayout>
      </c:layout>
      <c:overlay val="0"/>
    </c:legend>
    <c:plotVisOnly val="1"/>
    <c:dispBlanksAs val="gap"/>
    <c:showDLblsOverMax val="0"/>
  </c:chart>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555555555555555"/>
          <c:y val="0"/>
          <c:w val="0.65277777777777779"/>
          <c:h val="1"/>
        </c:manualLayout>
      </c:layout>
      <c:pieChart>
        <c:varyColors val="1"/>
        <c:ser>
          <c:idx val="0"/>
          <c:order val="0"/>
          <c:dPt>
            <c:idx val="1"/>
            <c:bubble3D val="0"/>
            <c:spPr>
              <a:solidFill>
                <a:schemeClr val="accent1">
                  <a:lumMod val="50000"/>
                </a:schemeClr>
              </a:solidFill>
            </c:spPr>
          </c:dPt>
          <c:dPt>
            <c:idx val="2"/>
            <c:bubble3D val="0"/>
            <c:spPr>
              <a:solidFill>
                <a:schemeClr val="bg2">
                  <a:lumMod val="90000"/>
                </a:schemeClr>
              </a:solidFill>
            </c:spPr>
          </c:dPt>
          <c:dLbls>
            <c:dLbl>
              <c:idx val="0"/>
              <c:layout/>
              <c:tx>
                <c:rich>
                  <a:bodyPr wrap="square" lIns="38100" tIns="19050" rIns="38100" bIns="19050" anchor="ctr">
                    <a:spAutoFit/>
                  </a:bodyPr>
                  <a:lstStyle/>
                  <a:p>
                    <a:pPr>
                      <a:defRPr>
                        <a:solidFill>
                          <a:schemeClr val="bg1"/>
                        </a:solidFill>
                      </a:defRPr>
                    </a:pPr>
                    <a:r>
                      <a:rPr lang="en-US">
                        <a:solidFill>
                          <a:schemeClr val="bg1"/>
                        </a:solidFill>
                      </a:rPr>
                      <a:t>Commercial 2,937</a:t>
                    </a:r>
                  </a:p>
                </c:rich>
              </c:tx>
              <c:spPr>
                <a:noFill/>
                <a:ln>
                  <a:noFill/>
                </a:ln>
                <a:effectLst/>
              </c:spPr>
              <c:showLegendKey val="0"/>
              <c:showVal val="1"/>
              <c:showCatName val="1"/>
              <c:showSerName val="0"/>
              <c:showPercent val="0"/>
              <c:showBubbleSize val="0"/>
              <c:extLst>
                <c:ext xmlns:c15="http://schemas.microsoft.com/office/drawing/2012/chart" uri="{CE6537A1-D6FC-4f65-9D91-7224C49458BB}">
                  <c15:layout/>
                </c:ext>
              </c:extLst>
            </c:dLbl>
            <c:dLbl>
              <c:idx val="1"/>
              <c:layout>
                <c:manualLayout>
                  <c:x val="0.14185859580052493"/>
                  <c:y val="-0.19138888888888889"/>
                </c:manualLayout>
              </c:layout>
              <c:tx>
                <c:rich>
                  <a:bodyPr/>
                  <a:lstStyle/>
                  <a:p>
                    <a:pPr>
                      <a:defRPr>
                        <a:solidFill>
                          <a:schemeClr val="bg1"/>
                        </a:solidFill>
                      </a:defRPr>
                    </a:pPr>
                    <a:r>
                      <a:rPr lang="en-US">
                        <a:solidFill>
                          <a:schemeClr val="bg1"/>
                        </a:solidFill>
                      </a:rPr>
                      <a:t>Stage 2</a:t>
                    </a:r>
                  </a:p>
                  <a:p>
                    <a:pPr>
                      <a:defRPr>
                        <a:solidFill>
                          <a:schemeClr val="bg1"/>
                        </a:solidFill>
                      </a:defRPr>
                    </a:pPr>
                    <a:r>
                      <a:rPr lang="en-US">
                        <a:solidFill>
                          <a:schemeClr val="bg1"/>
                        </a:solidFill>
                      </a:rPr>
                      <a:t>6,246</a:t>
                    </a:r>
                  </a:p>
                </c:rich>
              </c:tx>
              <c:spPr/>
              <c:showLegendKey val="0"/>
              <c:showVal val="1"/>
              <c:showCatName val="1"/>
              <c:showSerName val="0"/>
              <c:showPercent val="0"/>
              <c:showBubbleSize val="0"/>
              <c:extLst>
                <c:ext xmlns:c15="http://schemas.microsoft.com/office/drawing/2012/chart" uri="{CE6537A1-D6FC-4f65-9D91-7224C49458BB}">
                  <c15:layout/>
                </c:ext>
              </c:extLst>
            </c:dLbl>
            <c:dLbl>
              <c:idx val="2"/>
              <c:layout/>
              <c:tx>
                <c:rich>
                  <a:bodyPr/>
                  <a:lstStyle/>
                  <a:p>
                    <a:r>
                      <a:rPr lang="en-US" dirty="0"/>
                      <a:t>Stage 3 </a:t>
                    </a:r>
                    <a:endParaRPr lang="en-US" dirty="0" smtClean="0"/>
                  </a:p>
                  <a:p>
                    <a:r>
                      <a:rPr lang="en-US" dirty="0" smtClean="0"/>
                      <a:t>1,088</a:t>
                    </a:r>
                    <a:endParaRPr lang="en-US" dirty="0"/>
                  </a:p>
                </c:rich>
              </c:tx>
              <c:showLegendKey val="0"/>
              <c:showVal val="1"/>
              <c:showCatName val="1"/>
              <c:showSerName val="0"/>
              <c:showPercent val="0"/>
              <c:showBubbleSize val="0"/>
              <c:extLst>
                <c:ext xmlns:c15="http://schemas.microsoft.com/office/drawing/2012/chart" uri="{CE6537A1-D6FC-4f65-9D91-7224C49458BB}">
                  <c15:layout/>
                </c:ext>
              </c:extLst>
            </c:dLbl>
            <c:spPr>
              <a:noFill/>
              <a:ln>
                <a:noFill/>
              </a:ln>
              <a:effectLst/>
            </c:spPr>
            <c:showLegendKey val="0"/>
            <c:showVal val="1"/>
            <c:showCatName val="1"/>
            <c:showSerName val="0"/>
            <c:showPercent val="0"/>
            <c:showBubbleSize val="0"/>
            <c:showLeaderLines val="1"/>
            <c:extLst>
              <c:ext xmlns:c15="http://schemas.microsoft.com/office/drawing/2012/chart" uri="{CE6537A1-D6FC-4f65-9D91-7224C49458BB}"/>
            </c:extLst>
          </c:dLbls>
          <c:cat>
            <c:strRef>
              <c:f>Sheet2!$B$10:$B$12</c:f>
              <c:strCache>
                <c:ptCount val="3"/>
                <c:pt idx="0">
                  <c:v>Commercial</c:v>
                </c:pt>
                <c:pt idx="1">
                  <c:v>Stage 2</c:v>
                </c:pt>
                <c:pt idx="2">
                  <c:v>Stage 3</c:v>
                </c:pt>
              </c:strCache>
            </c:strRef>
          </c:cat>
          <c:val>
            <c:numRef>
              <c:f>Sheet2!$C$10:$C$12</c:f>
              <c:numCache>
                <c:formatCode>#,##0,,</c:formatCode>
                <c:ptCount val="3"/>
                <c:pt idx="0">
                  <c:v>2937313185.8199997</c:v>
                </c:pt>
                <c:pt idx="1">
                  <c:v>6246072028.9699993</c:v>
                </c:pt>
                <c:pt idx="2">
                  <c:v>1087510945.1099999</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361111111111112"/>
          <c:y val="0"/>
          <c:w val="0.7055555555555556"/>
          <c:h val="1"/>
        </c:manualLayout>
      </c:layout>
      <c:pieChart>
        <c:varyColors val="1"/>
        <c:ser>
          <c:idx val="0"/>
          <c:order val="0"/>
          <c:dPt>
            <c:idx val="1"/>
            <c:bubble3D val="0"/>
            <c:spPr>
              <a:solidFill>
                <a:schemeClr val="accent1">
                  <a:lumMod val="50000"/>
                </a:schemeClr>
              </a:solidFill>
            </c:spPr>
          </c:dPt>
          <c:dPt>
            <c:idx val="2"/>
            <c:bubble3D val="0"/>
            <c:spPr>
              <a:solidFill>
                <a:schemeClr val="bg2">
                  <a:lumMod val="90000"/>
                </a:schemeClr>
              </a:solidFill>
            </c:spPr>
          </c:dPt>
          <c:dLbls>
            <c:dLbl>
              <c:idx val="0"/>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chemeClr val="bg1"/>
                        </a:solidFill>
                        <a:latin typeface="+mn-lt"/>
                        <a:ea typeface="+mn-ea"/>
                        <a:cs typeface="+mn-cs"/>
                      </a:defRPr>
                    </a:pPr>
                    <a:r>
                      <a:rPr lang="en-US" sz="900" b="1" i="0" baseline="0" dirty="0" smtClean="0">
                        <a:solidFill>
                          <a:schemeClr val="bg1"/>
                        </a:solidFill>
                        <a:effectLst/>
                      </a:rPr>
                      <a:t>29,756</a:t>
                    </a:r>
                    <a:endParaRPr lang="en-US" sz="900" b="1" dirty="0" smtClean="0">
                      <a:solidFill>
                        <a:schemeClr val="bg1"/>
                      </a:solidFill>
                      <a:effectLst/>
                    </a:endParaRPr>
                  </a:p>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chemeClr val="bg1"/>
                        </a:solidFill>
                        <a:latin typeface="+mn-lt"/>
                        <a:ea typeface="+mn-ea"/>
                        <a:cs typeface="+mn-cs"/>
                      </a:defRPr>
                    </a:pPr>
                    <a:r>
                      <a:rPr lang="en-US" dirty="0" smtClean="0">
                        <a:solidFill>
                          <a:schemeClr val="bg1"/>
                        </a:solidFill>
                      </a:rPr>
                      <a:t>One facility</a:t>
                    </a:r>
                    <a:endParaRPr lang="en-US" dirty="0"/>
                  </a:p>
                </c:rich>
              </c:tx>
              <c:spPr/>
              <c:showLegendKey val="0"/>
              <c:showVal val="1"/>
              <c:showCatName val="1"/>
              <c:showSerName val="0"/>
              <c:showPercent val="0"/>
              <c:showBubbleSize val="0"/>
              <c:extLst>
                <c:ext xmlns:c15="http://schemas.microsoft.com/office/drawing/2012/chart" uri="{CE6537A1-D6FC-4f65-9D91-7224C49458BB}">
                  <c15:layout/>
                </c:ext>
              </c:extLst>
            </c:dLbl>
            <c:dLbl>
              <c:idx val="1"/>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mn-lt"/>
                        <a:ea typeface="+mn-ea"/>
                        <a:cs typeface="+mn-cs"/>
                      </a:defRPr>
                    </a:pPr>
                    <a:r>
                      <a:rPr lang="en-US" sz="900" b="0" i="0" baseline="0" dirty="0" smtClean="0">
                        <a:effectLst/>
                      </a:rPr>
                      <a:t>38,978</a:t>
                    </a:r>
                    <a:endParaRPr lang="en-US" sz="9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FFFFFF"/>
                        </a:solidFill>
                        <a:latin typeface="+mn-lt"/>
                        <a:ea typeface="+mn-ea"/>
                        <a:cs typeface="+mn-cs"/>
                      </a:defRPr>
                    </a:pPr>
                    <a:r>
                      <a:rPr lang="en-US" dirty="0" smtClean="0"/>
                      <a:t>Two facilities</a:t>
                    </a:r>
                    <a:endParaRPr lang="en-US" dirty="0"/>
                  </a:p>
                </c:rich>
              </c:tx>
              <c:spPr/>
              <c:showLegendKey val="0"/>
              <c:showVal val="1"/>
              <c:showCatName val="1"/>
              <c:showSerName val="0"/>
              <c:showPercent val="0"/>
              <c:showBubbleSize val="0"/>
              <c:extLst>
                <c:ext xmlns:c15="http://schemas.microsoft.com/office/drawing/2012/chart" uri="{CE6537A1-D6FC-4f65-9D91-7224C49458BB}">
                  <c15:layout/>
                </c:ext>
              </c:extLst>
            </c:dLbl>
            <c:dLbl>
              <c:idx val="2"/>
              <c:layout>
                <c:manualLayout>
                  <c:x val="0.15458508311461067"/>
                  <c:y val="0.19423592884222807"/>
                </c:manualLayout>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chemeClr val="bg1"/>
                        </a:solidFill>
                        <a:latin typeface="+mn-lt"/>
                        <a:ea typeface="+mn-ea"/>
                        <a:cs typeface="+mn-cs"/>
                      </a:defRPr>
                    </a:pPr>
                    <a:r>
                      <a:rPr lang="en-IN" sz="900" b="1" i="0" baseline="0" dirty="0" smtClean="0">
                        <a:solidFill>
                          <a:schemeClr val="bg1"/>
                        </a:solidFill>
                        <a:effectLst/>
                      </a:rPr>
                      <a:t>23,538</a:t>
                    </a:r>
                    <a:endParaRPr lang="en-IN" sz="900" b="1" dirty="0" smtClean="0">
                      <a:solidFill>
                        <a:schemeClr val="bg1"/>
                      </a:solidFill>
                      <a:effectLst/>
                    </a:endParaRPr>
                  </a:p>
                  <a:p>
                    <a:pPr marL="0" marR="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chemeClr val="bg1"/>
                        </a:solidFill>
                        <a:latin typeface="+mn-lt"/>
                        <a:ea typeface="+mn-ea"/>
                        <a:cs typeface="+mn-cs"/>
                      </a:defRPr>
                    </a:pPr>
                    <a:r>
                      <a:rPr lang="en-IN" dirty="0" smtClean="0">
                        <a:solidFill>
                          <a:schemeClr val="bg1"/>
                        </a:solidFill>
                      </a:rPr>
                      <a:t>3 </a:t>
                    </a:r>
                    <a:r>
                      <a:rPr lang="en-IN" dirty="0">
                        <a:solidFill>
                          <a:schemeClr val="bg1"/>
                        </a:solidFill>
                      </a:rPr>
                      <a:t>or more </a:t>
                    </a:r>
                    <a:r>
                      <a:rPr lang="en-IN" dirty="0" smtClean="0">
                        <a:solidFill>
                          <a:schemeClr val="bg1"/>
                        </a:solidFill>
                      </a:rPr>
                      <a:t>facilities</a:t>
                    </a:r>
                    <a:endParaRPr lang="en-IN" dirty="0" smtClean="0"/>
                  </a:p>
                </c:rich>
              </c:tx>
              <c:spPr/>
              <c:showLegendKey val="0"/>
              <c:showVal val="1"/>
              <c:showCatName val="1"/>
              <c:showSerName val="0"/>
              <c:showPercent val="0"/>
              <c:showBubbleSize val="0"/>
              <c:extLst>
                <c:ext xmlns:c15="http://schemas.microsoft.com/office/drawing/2012/chart" uri="{CE6537A1-D6FC-4f65-9D91-7224C49458BB}">
                  <c15:layout/>
                </c:ext>
              </c:extLst>
            </c:dLbl>
            <c:spPr>
              <a:noFill/>
              <a:ln>
                <a:noFill/>
              </a:ln>
              <a:effectLst/>
            </c:spPr>
            <c:txPr>
              <a:bodyPr/>
              <a:lstStyle/>
              <a:p>
                <a:pPr>
                  <a:defRPr>
                    <a:solidFill>
                      <a:schemeClr val="bg1"/>
                    </a:solidFill>
                  </a:defRPr>
                </a:pPr>
                <a:endParaRPr lang="en-US"/>
              </a:p>
            </c:txPr>
            <c:showLegendKey val="0"/>
            <c:showVal val="1"/>
            <c:showCatName val="1"/>
            <c:showSerName val="0"/>
            <c:showPercent val="0"/>
            <c:showBubbleSize val="0"/>
            <c:showLeaderLines val="1"/>
            <c:extLst>
              <c:ext xmlns:c15="http://schemas.microsoft.com/office/drawing/2012/chart" uri="{CE6537A1-D6FC-4f65-9D91-7224C49458BB}"/>
            </c:extLst>
          </c:dLbls>
          <c:cat>
            <c:strRef>
              <c:f>'retail (2)'!$H$30:$H$32</c:f>
              <c:strCache>
                <c:ptCount val="3"/>
                <c:pt idx="0">
                  <c:v>One facility</c:v>
                </c:pt>
                <c:pt idx="1">
                  <c:v>Two facilities</c:v>
                </c:pt>
                <c:pt idx="2">
                  <c:v>3 or more facilities</c:v>
                </c:pt>
              </c:strCache>
            </c:strRef>
          </c:cat>
          <c:val>
            <c:numRef>
              <c:f>'retail (2)'!$I$30:$I$32</c:f>
              <c:numCache>
                <c:formatCode>General</c:formatCode>
                <c:ptCount val="3"/>
                <c:pt idx="0">
                  <c:v>29756</c:v>
                </c:pt>
                <c:pt idx="1">
                  <c:v>38978</c:v>
                </c:pt>
                <c:pt idx="2">
                  <c:v>23538</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Stage</a:t>
            </a:r>
            <a:r>
              <a:rPr lang="en-US" baseline="0" dirty="0" smtClean="0"/>
              <a:t> 2 </a:t>
            </a:r>
            <a:r>
              <a:rPr lang="en-US" dirty="0" smtClean="0"/>
              <a:t>:</a:t>
            </a:r>
            <a:r>
              <a:rPr lang="en-US" baseline="0" dirty="0" smtClean="0"/>
              <a:t> Non-retail </a:t>
            </a:r>
            <a:r>
              <a:rPr lang="en-US" baseline="0" dirty="0" err="1" smtClean="0"/>
              <a:t>QARm</a:t>
            </a:r>
            <a:endParaRPr lang="en-US" dirty="0"/>
          </a:p>
        </c:rich>
      </c:tx>
      <c:layout>
        <c:manualLayout>
          <c:xMode val="edge"/>
          <c:yMode val="edge"/>
          <c:x val="0.4999993114512542"/>
          <c:y val="3.8140234132986887E-2"/>
        </c:manualLayout>
      </c:layout>
      <c:overlay val="1"/>
    </c:title>
    <c:autoTitleDeleted val="0"/>
    <c:plotArea>
      <c:layout>
        <c:manualLayout>
          <c:layoutTarget val="inner"/>
          <c:xMode val="edge"/>
          <c:yMode val="edge"/>
          <c:x val="0.11137964512197639"/>
          <c:y val="2.3275152958856297E-2"/>
          <c:w val="0.87049759405074367"/>
          <c:h val="0.82241105278506854"/>
        </c:manualLayout>
      </c:layout>
      <c:barChart>
        <c:barDir val="col"/>
        <c:grouping val="clustered"/>
        <c:varyColors val="0"/>
        <c:ser>
          <c:idx val="0"/>
          <c:order val="0"/>
          <c:spPr>
            <a:solidFill>
              <a:schemeClr val="accent1">
                <a:lumMod val="50000"/>
              </a:schemeClr>
            </a:solidFill>
          </c:spPr>
          <c:invertIfNegative val="0"/>
          <c:dLbls>
            <c:numFmt formatCode="#,##0,,;\-#,##0,," sourceLinked="0"/>
            <c:spPr>
              <a:noFill/>
              <a:ln>
                <a:noFill/>
              </a:ln>
              <a:effectLst/>
            </c:spPr>
            <c:txPr>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Sheet4!$E$5:$E$9</c:f>
              <c:strCache>
                <c:ptCount val="5"/>
                <c:pt idx="0">
                  <c:v>Rating downgrade</c:v>
                </c:pt>
                <c:pt idx="1">
                  <c:v>Unrated</c:v>
                </c:pt>
                <c:pt idx="2">
                  <c:v>Rescheduling</c:v>
                </c:pt>
                <c:pt idx="3">
                  <c:v>Watchlist</c:v>
                </c:pt>
                <c:pt idx="4">
                  <c:v>30 days past due</c:v>
                </c:pt>
              </c:strCache>
            </c:strRef>
          </c:cat>
          <c:val>
            <c:numRef>
              <c:f>Sheet4!$G$5:$G$9</c:f>
              <c:numCache>
                <c:formatCode>General</c:formatCode>
                <c:ptCount val="5"/>
                <c:pt idx="0">
                  <c:v>13070944849.781</c:v>
                </c:pt>
                <c:pt idx="1">
                  <c:v>6963627501.0180044</c:v>
                </c:pt>
                <c:pt idx="2">
                  <c:v>5564657433.6099997</c:v>
                </c:pt>
                <c:pt idx="3">
                  <c:v>1127957420.7172</c:v>
                </c:pt>
                <c:pt idx="4">
                  <c:v>264831791.88000008</c:v>
                </c:pt>
              </c:numCache>
            </c:numRef>
          </c:val>
        </c:ser>
        <c:dLbls>
          <c:showLegendKey val="0"/>
          <c:showVal val="0"/>
          <c:showCatName val="0"/>
          <c:showSerName val="0"/>
          <c:showPercent val="0"/>
          <c:showBubbleSize val="0"/>
        </c:dLbls>
        <c:gapWidth val="55"/>
        <c:axId val="462517904"/>
        <c:axId val="462518296"/>
      </c:barChart>
      <c:catAx>
        <c:axId val="462517904"/>
        <c:scaling>
          <c:orientation val="minMax"/>
        </c:scaling>
        <c:delete val="0"/>
        <c:axPos val="b"/>
        <c:numFmt formatCode="General" sourceLinked="0"/>
        <c:majorTickMark val="out"/>
        <c:minorTickMark val="none"/>
        <c:tickLblPos val="nextTo"/>
        <c:crossAx val="462518296"/>
        <c:crosses val="autoZero"/>
        <c:auto val="1"/>
        <c:lblAlgn val="ctr"/>
        <c:lblOffset val="100"/>
        <c:noMultiLvlLbl val="0"/>
      </c:catAx>
      <c:valAx>
        <c:axId val="462518296"/>
        <c:scaling>
          <c:orientation val="minMax"/>
        </c:scaling>
        <c:delete val="0"/>
        <c:axPos val="l"/>
        <c:numFmt formatCode="#,##0,,;\-#,##0,," sourceLinked="0"/>
        <c:majorTickMark val="out"/>
        <c:minorTickMark val="none"/>
        <c:tickLblPos val="nextTo"/>
        <c:crossAx val="462517904"/>
        <c:crosses val="autoZero"/>
        <c:crossBetween val="between"/>
      </c:valAx>
    </c:plotArea>
    <c:plotVisOnly val="1"/>
    <c:dispBlanksAs val="gap"/>
    <c:showDLblsOverMax val="0"/>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6266185476815402E-2"/>
          <c:y val="5.1400554097404488E-2"/>
          <c:w val="0.91373381452318458"/>
          <c:h val="0.8326195683872849"/>
        </c:manualLayout>
      </c:layout>
      <c:barChart>
        <c:barDir val="col"/>
        <c:grouping val="stacked"/>
        <c:varyColors val="0"/>
        <c:ser>
          <c:idx val="0"/>
          <c:order val="0"/>
          <c:tx>
            <c:strRef>
              <c:f>Sheet1!$F$9</c:f>
              <c:strCache>
                <c:ptCount val="1"/>
                <c:pt idx="0">
                  <c:v>Cure</c:v>
                </c:pt>
              </c:strCache>
            </c:strRef>
          </c:tx>
          <c:invertIfNegative val="0"/>
          <c:dLbls>
            <c:spPr>
              <a:noFill/>
              <a:ln>
                <a:noFill/>
              </a:ln>
              <a:effectLst/>
            </c:spPr>
            <c:txPr>
              <a:bodyPr/>
              <a:lstStyle/>
              <a:p>
                <a:pPr>
                  <a:defRPr>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Sheet1!$E$10:$E$11</c:f>
              <c:strCache>
                <c:ptCount val="2"/>
                <c:pt idx="0">
                  <c:v>Corporate</c:v>
                </c:pt>
                <c:pt idx="1">
                  <c:v>Retail</c:v>
                </c:pt>
              </c:strCache>
            </c:strRef>
          </c:cat>
          <c:val>
            <c:numRef>
              <c:f>Sheet1!$F$10:$F$11</c:f>
              <c:numCache>
                <c:formatCode>General</c:formatCode>
                <c:ptCount val="2"/>
                <c:pt idx="0">
                  <c:v>118</c:v>
                </c:pt>
                <c:pt idx="1">
                  <c:v>988</c:v>
                </c:pt>
              </c:numCache>
            </c:numRef>
          </c:val>
        </c:ser>
        <c:ser>
          <c:idx val="1"/>
          <c:order val="1"/>
          <c:tx>
            <c:strRef>
              <c:f>Sheet1!$G$9</c:f>
              <c:strCache>
                <c:ptCount val="1"/>
                <c:pt idx="0">
                  <c:v>Repeat, W-off, NPL</c:v>
                </c:pt>
              </c:strCache>
            </c:strRef>
          </c:tx>
          <c:invertIfNegative val="0"/>
          <c:dLbls>
            <c:spPr>
              <a:noFill/>
              <a:ln>
                <a:noFill/>
              </a:ln>
              <a:effectLst/>
            </c:spPr>
            <c:txPr>
              <a:bodyPr/>
              <a:lstStyle/>
              <a:p>
                <a:pPr>
                  <a:defRPr>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Sheet1!$E$10:$E$11</c:f>
              <c:strCache>
                <c:ptCount val="2"/>
                <c:pt idx="0">
                  <c:v>Corporate</c:v>
                </c:pt>
                <c:pt idx="1">
                  <c:v>Retail</c:v>
                </c:pt>
              </c:strCache>
            </c:strRef>
          </c:cat>
          <c:val>
            <c:numRef>
              <c:f>Sheet1!$G$10:$G$11</c:f>
              <c:numCache>
                <c:formatCode>_-* #,##0_-;\-* #,##0_-;_-* "-"??_-;_-@_-</c:formatCode>
                <c:ptCount val="2"/>
                <c:pt idx="0" formatCode="General">
                  <c:v>469</c:v>
                </c:pt>
                <c:pt idx="1">
                  <c:v>1464</c:v>
                </c:pt>
              </c:numCache>
            </c:numRef>
          </c:val>
        </c:ser>
        <c:dLbls>
          <c:showLegendKey val="0"/>
          <c:showVal val="0"/>
          <c:showCatName val="0"/>
          <c:showSerName val="0"/>
          <c:showPercent val="0"/>
          <c:showBubbleSize val="0"/>
        </c:dLbls>
        <c:gapWidth val="150"/>
        <c:overlap val="100"/>
        <c:axId val="463032288"/>
        <c:axId val="463032680"/>
      </c:barChart>
      <c:catAx>
        <c:axId val="463032288"/>
        <c:scaling>
          <c:orientation val="minMax"/>
        </c:scaling>
        <c:delete val="0"/>
        <c:axPos val="b"/>
        <c:numFmt formatCode="General" sourceLinked="0"/>
        <c:majorTickMark val="out"/>
        <c:minorTickMark val="none"/>
        <c:tickLblPos val="nextTo"/>
        <c:crossAx val="463032680"/>
        <c:crosses val="autoZero"/>
        <c:auto val="1"/>
        <c:lblAlgn val="ctr"/>
        <c:lblOffset val="100"/>
        <c:noMultiLvlLbl val="0"/>
      </c:catAx>
      <c:valAx>
        <c:axId val="463032680"/>
        <c:scaling>
          <c:orientation val="minMax"/>
        </c:scaling>
        <c:delete val="0"/>
        <c:axPos val="l"/>
        <c:numFmt formatCode="General" sourceLinked="1"/>
        <c:majorTickMark val="out"/>
        <c:minorTickMark val="none"/>
        <c:tickLblPos val="nextTo"/>
        <c:crossAx val="463032288"/>
        <c:crosses val="autoZero"/>
        <c:crossBetween val="between"/>
      </c:valAx>
    </c:plotArea>
    <c:legend>
      <c:legendPos val="r"/>
      <c:layout>
        <c:manualLayout>
          <c:xMode val="edge"/>
          <c:yMode val="edge"/>
          <c:x val="0.16965141024173652"/>
          <c:y val="0.26350505451389222"/>
          <c:w val="0.21439403206515478"/>
          <c:h val="0.22207191510094507"/>
        </c:manualLayout>
      </c:layout>
      <c:overlay val="0"/>
    </c:legend>
    <c:plotVisOnly val="1"/>
    <c:dispBlanksAs val="gap"/>
    <c:showDLblsOverMax val="0"/>
  </c:chart>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7905949256342953E-2"/>
          <c:y val="2.2604257801108196E-2"/>
          <c:w val="0.90209405074365701"/>
          <c:h val="0.71068970545348498"/>
        </c:manualLayout>
      </c:layout>
      <c:barChart>
        <c:barDir val="col"/>
        <c:grouping val="clustered"/>
        <c:varyColors val="0"/>
        <c:ser>
          <c:idx val="0"/>
          <c:order val="0"/>
          <c:spPr>
            <a:solidFill>
              <a:schemeClr val="accent1">
                <a:lumMod val="50000"/>
              </a:schemeClr>
            </a:solidFill>
          </c:spPr>
          <c:invertIfNegative val="0"/>
          <c:dLbls>
            <c:dLbl>
              <c:idx val="0"/>
              <c:layout/>
              <c:tx>
                <c:rich>
                  <a:bodyPr/>
                  <a:lstStyle/>
                  <a:p>
                    <a:r>
                      <a:rPr lang="en-US" dirty="0" smtClean="0"/>
                      <a:t>193</a:t>
                    </a:r>
                  </a:p>
                  <a:p>
                    <a:r>
                      <a:rPr lang="en-US" sz="700" dirty="0" smtClean="0"/>
                      <a:t>10%</a:t>
                    </a:r>
                    <a:endParaRPr lang="en-US" sz="700" dirty="0"/>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1"/>
              <c:layout/>
              <c:tx>
                <c:rich>
                  <a:bodyPr/>
                  <a:lstStyle/>
                  <a:p>
                    <a:r>
                      <a:rPr lang="en-US" dirty="0" smtClean="0"/>
                      <a:t>136</a:t>
                    </a:r>
                  </a:p>
                  <a:p>
                    <a:r>
                      <a:rPr lang="en-US" sz="700" dirty="0" smtClean="0"/>
                      <a:t>35%</a:t>
                    </a:r>
                    <a:endParaRPr lang="en-US" sz="700" dirty="0"/>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2"/>
              <c:layout/>
              <c:tx>
                <c:rich>
                  <a:bodyPr/>
                  <a:lstStyle/>
                  <a:p>
                    <a:r>
                      <a:rPr lang="en-US" dirty="0" smtClean="0"/>
                      <a:t>78</a:t>
                    </a:r>
                  </a:p>
                  <a:p>
                    <a:r>
                      <a:rPr lang="en-US" sz="700" dirty="0" smtClean="0"/>
                      <a:t>75%</a:t>
                    </a:r>
                    <a:endParaRPr lang="en-US" sz="700" dirty="0"/>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tx>
                <c:rich>
                  <a:bodyPr/>
                  <a:lstStyle/>
                  <a:p>
                    <a:r>
                      <a:rPr lang="en-US" dirty="0" smtClean="0"/>
                      <a:t>37</a:t>
                    </a:r>
                  </a:p>
                  <a:p>
                    <a:r>
                      <a:rPr lang="en-US" sz="700" dirty="0" smtClean="0"/>
                      <a:t>45%</a:t>
                    </a:r>
                    <a:endParaRPr lang="en-US" sz="700" dirty="0"/>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4"/>
              <c:layout/>
              <c:tx>
                <c:rich>
                  <a:bodyPr/>
                  <a:lstStyle/>
                  <a:p>
                    <a:r>
                      <a:rPr lang="en-US" dirty="0" smtClean="0"/>
                      <a:t>30</a:t>
                    </a:r>
                  </a:p>
                  <a:p>
                    <a:r>
                      <a:rPr lang="en-US" sz="700" dirty="0" smtClean="0"/>
                      <a:t>20%</a:t>
                    </a:r>
                    <a:endParaRPr lang="en-US" sz="700" dirty="0"/>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
                  <c:y val="9.4994817542806198E-2"/>
                </c:manualLayout>
              </c:layout>
              <c:tx>
                <c:rich>
                  <a:bodyPr/>
                  <a:lstStyle/>
                  <a:p>
                    <a:r>
                      <a:rPr lang="en-US" dirty="0" smtClean="0">
                        <a:solidFill>
                          <a:schemeClr val="bg1"/>
                        </a:solidFill>
                      </a:rPr>
                      <a:t>25</a:t>
                    </a:r>
                  </a:p>
                  <a:p>
                    <a:r>
                      <a:rPr lang="en-US" sz="700" dirty="0" smtClean="0">
                        <a:solidFill>
                          <a:schemeClr val="bg1"/>
                        </a:solidFill>
                      </a:rPr>
                      <a:t>40%</a:t>
                    </a:r>
                    <a:endParaRPr lang="en-US" sz="700" dirty="0">
                      <a:solidFill>
                        <a:schemeClr val="bg1"/>
                      </a:solidFill>
                    </a:endParaRPr>
                  </a:p>
                </c:rich>
              </c:tx>
              <c:dLblPos val="outEnd"/>
              <c:showLegendKey val="0"/>
              <c:showVal val="1"/>
              <c:showCatName val="0"/>
              <c:showSerName val="0"/>
              <c:showPercent val="0"/>
              <c:showBubbleSize val="0"/>
              <c:extLst>
                <c:ext xmlns:c15="http://schemas.microsoft.com/office/drawing/2012/chart" uri="{CE6537A1-D6FC-4f65-9D91-7224C49458BB}">
                  <c15:layout/>
                </c:ext>
              </c:extLst>
            </c:dLbl>
            <c:dLbl>
              <c:idx val="6"/>
              <c:layout>
                <c:manualLayout>
                  <c:x val="-2.1872265966754156E-7"/>
                  <c:y val="5.1466899970836977E-2"/>
                </c:manualLayout>
              </c:layout>
              <c:tx>
                <c:rich>
                  <a:bodyPr/>
                  <a:lstStyle/>
                  <a:p>
                    <a:pPr>
                      <a:defRPr sz="900">
                        <a:solidFill>
                          <a:schemeClr val="tx1"/>
                        </a:solidFill>
                      </a:defRPr>
                    </a:pPr>
                    <a:r>
                      <a:rPr lang="en-US" sz="900" dirty="0" smtClean="0"/>
                      <a:t>15</a:t>
                    </a:r>
                  </a:p>
                  <a:p>
                    <a:pPr>
                      <a:defRPr sz="900">
                        <a:solidFill>
                          <a:schemeClr val="tx1"/>
                        </a:solidFill>
                      </a:defRPr>
                    </a:pPr>
                    <a:r>
                      <a:rPr lang="en-US" sz="700" dirty="0" smtClean="0">
                        <a:solidFill>
                          <a:schemeClr val="bg1"/>
                        </a:solidFill>
                      </a:rPr>
                      <a:t>10%</a:t>
                    </a:r>
                    <a:endParaRPr lang="en-US" sz="700" dirty="0">
                      <a:solidFill>
                        <a:schemeClr val="bg1"/>
                      </a:solidFill>
                    </a:endParaRPr>
                  </a:p>
                </c:rich>
              </c:tx>
              <c:numFmt formatCode="#,##0,,," sourceLinked="0"/>
              <c:spPr/>
              <c:dLblPos val="outEnd"/>
              <c:showLegendKey val="0"/>
              <c:showVal val="1"/>
              <c:showCatName val="0"/>
              <c:showSerName val="0"/>
              <c:showPercent val="0"/>
              <c:showBubbleSize val="0"/>
              <c:extLst>
                <c:ext xmlns:c15="http://schemas.microsoft.com/office/drawing/2012/chart" uri="{CE6537A1-D6FC-4f65-9D91-7224C49458BB}">
                  <c15:layout/>
                </c:ext>
              </c:extLst>
            </c:dLbl>
            <c:dLbl>
              <c:idx val="7"/>
              <c:layout>
                <c:manualLayout>
                  <c:x val="1.0185067526415994E-16"/>
                  <c:y val="2.6104184893554972E-2"/>
                </c:manualLayout>
              </c:layout>
              <c:numFmt formatCode="#,##0,,," sourceLinked="0"/>
              <c:spPr/>
              <c:txPr>
                <a:bodyPr/>
                <a:lstStyle/>
                <a:p>
                  <a:pPr>
                    <a:defRPr sz="900">
                      <a:solidFill>
                        <a:schemeClr val="tx1"/>
                      </a:solidFill>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ext>
              </c:extLst>
            </c:dLbl>
            <c:dLbl>
              <c:idx val="8"/>
              <c:layout>
                <c:manualLayout>
                  <c:x val="0"/>
                  <c:y val="-3.2349081364829398E-3"/>
                </c:manualLayout>
              </c:layout>
              <c:numFmt formatCode="#,##0,,," sourceLinked="0"/>
              <c:spPr/>
              <c:txPr>
                <a:bodyPr/>
                <a:lstStyle/>
                <a:p>
                  <a:pPr>
                    <a:defRPr sz="900">
                      <a:solidFill>
                        <a:schemeClr val="tx1"/>
                      </a:solidFill>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ext>
              </c:extLst>
            </c:dLbl>
            <c:numFmt formatCode="#,##0,,," sourceLinked="0"/>
            <c:spPr>
              <a:noFill/>
              <a:ln>
                <a:noFill/>
              </a:ln>
              <a:effectLst/>
            </c:spPr>
            <c:txPr>
              <a:bodyPr/>
              <a:lstStyle/>
              <a:p>
                <a:pPr>
                  <a:defRPr sz="900">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Sheet4!$E$23:$E$31</c:f>
              <c:strCache>
                <c:ptCount val="9"/>
                <c:pt idx="0">
                  <c:v>SoQ Guarantee</c:v>
                </c:pt>
                <c:pt idx="1">
                  <c:v>Title Deed</c:v>
                </c:pt>
                <c:pt idx="2">
                  <c:v>Personal Guarantee</c:v>
                </c:pt>
                <c:pt idx="3">
                  <c:v>Assignments</c:v>
                </c:pt>
                <c:pt idx="4">
                  <c:v>Local Shares</c:v>
                </c:pt>
                <c:pt idx="5">
                  <c:v>Machinery &amp; Equipment</c:v>
                </c:pt>
                <c:pt idx="6">
                  <c:v>Fixed Deposit Lcy</c:v>
                </c:pt>
                <c:pt idx="7">
                  <c:v>Fixed Deposit Fcy</c:v>
                </c:pt>
                <c:pt idx="8">
                  <c:v>Others</c:v>
                </c:pt>
              </c:strCache>
            </c:strRef>
          </c:cat>
          <c:val>
            <c:numRef>
              <c:f>Sheet4!$F$23:$F$31</c:f>
              <c:numCache>
                <c:formatCode>#,##0,,</c:formatCode>
                <c:ptCount val="9"/>
                <c:pt idx="0">
                  <c:v>193222350613.41797</c:v>
                </c:pt>
                <c:pt idx="1">
                  <c:v>136492949599.56201</c:v>
                </c:pt>
                <c:pt idx="2">
                  <c:v>78408434529.334015</c:v>
                </c:pt>
                <c:pt idx="3">
                  <c:v>36914706734.250008</c:v>
                </c:pt>
                <c:pt idx="4">
                  <c:v>30219870282.696995</c:v>
                </c:pt>
                <c:pt idx="5">
                  <c:v>25386628924.418995</c:v>
                </c:pt>
                <c:pt idx="6">
                  <c:v>15023774433.21101</c:v>
                </c:pt>
                <c:pt idx="7">
                  <c:v>14313403997.842999</c:v>
                </c:pt>
                <c:pt idx="8">
                  <c:v>3417405412.9399996</c:v>
                </c:pt>
              </c:numCache>
            </c:numRef>
          </c:val>
        </c:ser>
        <c:dLbls>
          <c:showLegendKey val="0"/>
          <c:showVal val="0"/>
          <c:showCatName val="0"/>
          <c:showSerName val="0"/>
          <c:showPercent val="0"/>
          <c:showBubbleSize val="0"/>
        </c:dLbls>
        <c:gapWidth val="39"/>
        <c:axId val="463033464"/>
        <c:axId val="463033856"/>
      </c:barChart>
      <c:catAx>
        <c:axId val="463033464"/>
        <c:scaling>
          <c:orientation val="minMax"/>
        </c:scaling>
        <c:delete val="0"/>
        <c:axPos val="b"/>
        <c:numFmt formatCode="General" sourceLinked="0"/>
        <c:majorTickMark val="out"/>
        <c:minorTickMark val="none"/>
        <c:tickLblPos val="nextTo"/>
        <c:txPr>
          <a:bodyPr/>
          <a:lstStyle/>
          <a:p>
            <a:pPr>
              <a:defRPr sz="800"/>
            </a:pPr>
            <a:endParaRPr lang="en-US"/>
          </a:p>
        </c:txPr>
        <c:crossAx val="463033856"/>
        <c:crosses val="autoZero"/>
        <c:auto val="1"/>
        <c:lblAlgn val="ctr"/>
        <c:lblOffset val="100"/>
        <c:noMultiLvlLbl val="0"/>
      </c:catAx>
      <c:valAx>
        <c:axId val="463033856"/>
        <c:scaling>
          <c:orientation val="minMax"/>
          <c:max val="200000000000"/>
          <c:min val="0"/>
        </c:scaling>
        <c:delete val="0"/>
        <c:axPos val="l"/>
        <c:numFmt formatCode="#,##0,," sourceLinked="1"/>
        <c:majorTickMark val="out"/>
        <c:minorTickMark val="none"/>
        <c:tickLblPos val="nextTo"/>
        <c:txPr>
          <a:bodyPr/>
          <a:lstStyle/>
          <a:p>
            <a:pPr>
              <a:defRPr sz="800"/>
            </a:pPr>
            <a:endParaRPr lang="en-US"/>
          </a:p>
        </c:txPr>
        <c:crossAx val="463033464"/>
        <c:crosses val="autoZero"/>
        <c:crossBetween val="between"/>
      </c:valAx>
    </c:plotArea>
    <c:plotVisOnly val="1"/>
    <c:dispBlanksAs val="gap"/>
    <c:showDLblsOverMax val="0"/>
  </c:chart>
  <c:externalData r:id="rId1">
    <c:autoUpdate val="0"/>
  </c:externalData>
</c:chartSpace>
</file>

<file path=ppt/comments/comment1.xml><?xml version="1.0" encoding="utf-8"?>
<p:cmLst xmlns:a="http://schemas.openxmlformats.org/drawingml/2006/main" xmlns:r="http://schemas.openxmlformats.org/officeDocument/2006/relationships" xmlns:p="http://schemas.openxmlformats.org/presentationml/2006/main">
  <p:cm authorId="1" dt="2017-05-22T12:23:09.713" idx="12">
    <p:pos x="4334" y="1421"/>
    <p:text>Are these customers the ones that are not classified as default but are 90+ DPD?</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7-05-22T12:24:30.177" idx="13">
    <p:pos x="4650" y="1937"/>
    <p:text>Are internal ratings NOT being considered for LCR?</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7-05-22T12:26:55.213" idx="14">
    <p:pos x="1404" y="1070"/>
    <p:text>Redundant to indicate ECL</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17-05-22T12:34:26.790" idx="15">
    <p:pos x="2481" y="2272"/>
    <p:text>Materiality is not being considered currentlly correct?</p:text>
    <p:extLst>
      <p:ext uri="{C676402C-5697-4E1C-873F-D02D1690AC5C}">
        <p15:threadingInfo xmlns:p15="http://schemas.microsoft.com/office/powerpoint/2012/main" timeZoneBias="-180"/>
      </p:ext>
    </p:extLst>
  </p:cm>
  <p:cm authorId="1" dt="2017-05-22T12:34:50.980" idx="16">
    <p:pos x="5010" y="2581"/>
    <p:text>I assume this analysis refers to the results shared by us - in that the 30DPD cannot be rebutted?</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17-05-22T12:35:34.137" idx="17">
    <p:pos x="3266" y="352"/>
    <p:text>The time period for this needs to be included</p:text>
    <p:extLst>
      <p:ext uri="{C676402C-5697-4E1C-873F-D02D1690AC5C}">
        <p15:threadingInfo xmlns:p15="http://schemas.microsoft.com/office/powerpoint/2012/main" timeZoneBias="-180"/>
      </p:ext>
    </p:extLst>
  </p:cm>
  <p:cm authorId="1" dt="2017-05-22T12:36:20.910" idx="18">
    <p:pos x="5361" y="2615"/>
    <p:text>An explanation of this chart may be required to specify the inference</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17-05-22T12:40:44.131" idx="19">
    <p:pos x="4468" y="987"/>
    <p:text>What is this total relative to the non-retail portfolio?</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17-05-22T14:41:14.592" idx="21">
    <p:pos x="3815" y="1336"/>
    <p:text>The other staging rules (rescheduling, watchlist) also need to be considered - whether they are to be applied at facility vs counterparty levels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17-05-23T15:19:33.040" idx="24">
    <p:pos x="2382" y="1734"/>
    <p:text>Need to consider what should happen for Stage 3 to Stage 1 movement. Specifically:
1. Should the probation period be 24 months? (12+12 months of probation)
2. If not, is there a proxy that needs to be used based on assumptions?
3. How would this proxy be justified?
4. Will this proxy need to be different for non-retail and retail portfolios?</p:text>
    <p:extLst>
      <p:ext uri="{C676402C-5697-4E1C-873F-D02D1690AC5C}">
        <p15:threadingInfo xmlns:p15="http://schemas.microsoft.com/office/powerpoint/2012/main" timeZoneBias="-180"/>
      </p:ext>
    </p:extLst>
  </p:cm>
  <p:cm authorId="1" dt="2017-05-23T15:21:18.258" idx="25">
    <p:pos x="3712" y="2452"/>
    <p:text>When would the 12 month period commence?</p:text>
    <p:extLst>
      <p:ext uri="{C676402C-5697-4E1C-873F-D02D1690AC5C}">
        <p15:threadingInfo xmlns:p15="http://schemas.microsoft.com/office/powerpoint/2012/main" timeZoneBias="-180"/>
      </p:ext>
    </p:extLst>
  </p:cm>
  <p:cm authorId="1" dt="2017-05-23T15:22:08.997" idx="27">
    <p:pos x="3880" y="2320"/>
    <p:text>Would this mean DPD needs to be 0? Would this be the requirement for all facilities of a customer that is moved to Stage 2?</p:text>
    <p:extLst>
      <p:ext uri="{C676402C-5697-4E1C-873F-D02D1690AC5C}">
        <p15:threadingInfo xmlns:p15="http://schemas.microsoft.com/office/powerpoint/2012/main" timeZoneBias="-180"/>
      </p:ext>
    </p:extLst>
  </p:cm>
  <p:cm authorId="1" dt="2017-05-23T15:22:49.732" idx="28">
    <p:pos x="3946" y="2572"/>
    <p:text>What would happen if a S2 facility becomes 'regular' after a few months, and then goes 30DPD+? Would the 12m probabation period re-commence?</p:text>
    <p:extLst>
      <p:ext uri="{C676402C-5697-4E1C-873F-D02D1690AC5C}">
        <p15:threadingInfo xmlns:p15="http://schemas.microsoft.com/office/powerpoint/2012/main" timeZoneBias="-18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17-05-22T14:48:39.414" idx="22">
    <p:pos x="2106" y="690"/>
    <p:text>This may need an explanatory note to highlight the inference(s) drawn related to backward transition</p:text>
    <p:extLst>
      <p:ext uri="{C676402C-5697-4E1C-873F-D02D1690AC5C}">
        <p15:threadingInfo xmlns:p15="http://schemas.microsoft.com/office/powerpoint/2012/main" timeZoneBias="-18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17-05-22T14:51:15.183" idx="23">
    <p:pos x="4618" y="2194"/>
    <p:text>What is the differentiation that is highlighted by mentioning "both at origination and at reporting date"?</p:text>
    <p:extLst>
      <p:ext uri="{C676402C-5697-4E1C-873F-D02D1690AC5C}">
        <p15:threadingInfo xmlns:p15="http://schemas.microsoft.com/office/powerpoint/2012/main" timeZoneBias="-180"/>
      </p:ext>
    </p:extLst>
  </p:cm>
</p:cmLst>
</file>

<file path=ppt/drawings/_rels/drawing3.x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emf"/></Relationships>
</file>

<file path=ppt/drawings/drawing1.xml><?xml version="1.0" encoding="utf-8"?>
<c:userShapes xmlns:c="http://schemas.openxmlformats.org/drawingml/2006/chart">
  <cdr:relSizeAnchor xmlns:cdr="http://schemas.openxmlformats.org/drawingml/2006/chartDrawing">
    <cdr:from>
      <cdr:x>0.36075</cdr:x>
      <cdr:y>0.28226</cdr:y>
    </cdr:from>
    <cdr:to>
      <cdr:x>0.62314</cdr:x>
      <cdr:y>0.37545</cdr:y>
    </cdr:to>
    <cdr:sp macro="" textlink="">
      <cdr:nvSpPr>
        <cdr:cNvPr id="3" name="Oval Callout 2"/>
        <cdr:cNvSpPr/>
      </cdr:nvSpPr>
      <cdr:spPr>
        <a:xfrm xmlns:a="http://schemas.openxmlformats.org/drawingml/2006/main">
          <a:off x="1609456" y="774291"/>
          <a:ext cx="1170615" cy="255638"/>
        </a:xfrm>
        <a:prstGeom xmlns:a="http://schemas.openxmlformats.org/drawingml/2006/main" prst="wedgeEllipseCallout">
          <a:avLst>
            <a:gd name="adj1" fmla="val -56497"/>
            <a:gd name="adj2" fmla="val 291203"/>
          </a:avLst>
        </a:prstGeom>
        <a:solidFill xmlns:a="http://schemas.openxmlformats.org/drawingml/2006/main">
          <a:schemeClr val="bg2">
            <a:lumMod val="75000"/>
          </a:schemeClr>
        </a:solidFill>
        <a:ln xmlns:a="http://schemas.openxmlformats.org/drawingml/2006/main">
          <a:solidFill>
            <a:schemeClr val="bg2">
              <a:lumMod val="75000"/>
            </a:schemeClr>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dirty="0" smtClean="0"/>
            <a:t>365 customers</a:t>
          </a:r>
          <a:endParaRPr lang="en-US" sz="800" dirty="0"/>
        </a:p>
      </cdr:txBody>
    </cdr:sp>
  </cdr:relSizeAnchor>
  <cdr:relSizeAnchor xmlns:cdr="http://schemas.openxmlformats.org/drawingml/2006/chartDrawing">
    <cdr:from>
      <cdr:x>0.69014</cdr:x>
      <cdr:y>0.44415</cdr:y>
    </cdr:from>
    <cdr:to>
      <cdr:x>0.96915</cdr:x>
      <cdr:y>0.53734</cdr:y>
    </cdr:to>
    <cdr:sp macro="" textlink="">
      <cdr:nvSpPr>
        <cdr:cNvPr id="4" name="Oval Callout 3"/>
        <cdr:cNvSpPr/>
      </cdr:nvSpPr>
      <cdr:spPr>
        <a:xfrm xmlns:a="http://schemas.openxmlformats.org/drawingml/2006/main">
          <a:off x="3078993" y="1218381"/>
          <a:ext cx="1244743" cy="255638"/>
        </a:xfrm>
        <a:prstGeom xmlns:a="http://schemas.openxmlformats.org/drawingml/2006/main" prst="wedgeEllipseCallout">
          <a:avLst>
            <a:gd name="adj1" fmla="val -37141"/>
            <a:gd name="adj2" fmla="val 329666"/>
          </a:avLst>
        </a:prstGeom>
        <a:solidFill xmlns:a="http://schemas.openxmlformats.org/drawingml/2006/main">
          <a:schemeClr val="bg2">
            <a:lumMod val="75000"/>
          </a:schemeClr>
        </a:solidFill>
        <a:ln xmlns:a="http://schemas.openxmlformats.org/drawingml/2006/main">
          <a:solidFill>
            <a:schemeClr val="bg2">
              <a:lumMod val="75000"/>
            </a:schemeClr>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en-US" sz="800" dirty="0" smtClean="0"/>
            <a:t>2,844 customers</a:t>
          </a:r>
          <a:endParaRPr lang="en-US" sz="800" dirty="0"/>
        </a:p>
      </cdr:txBody>
    </cdr:sp>
  </cdr:relSizeAnchor>
</c:userShapes>
</file>

<file path=ppt/drawings/drawing2.xml><?xml version="1.0" encoding="utf-8"?>
<c:userShapes xmlns:c="http://schemas.openxmlformats.org/drawingml/2006/chart">
  <cdr:relSizeAnchor xmlns:cdr="http://schemas.openxmlformats.org/drawingml/2006/chartDrawing">
    <cdr:from>
      <cdr:x>0.33924</cdr:x>
      <cdr:y>0.02677</cdr:y>
    </cdr:from>
    <cdr:to>
      <cdr:x>1</cdr:x>
      <cdr:y>0.14413</cdr:y>
    </cdr:to>
    <cdr:sp macro="" textlink="">
      <cdr:nvSpPr>
        <cdr:cNvPr id="2" name="TextBox 13"/>
        <cdr:cNvSpPr txBox="1"/>
      </cdr:nvSpPr>
      <cdr:spPr>
        <a:xfrm xmlns:a="http://schemas.openxmlformats.org/drawingml/2006/main">
          <a:off x="1625519" y="77222"/>
          <a:ext cx="3166109" cy="33855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sz="1200" kern="1200">
              <a:solidFill>
                <a:schemeClr val="tx1"/>
              </a:solidFill>
              <a:latin typeface="Times New Roman" pitchFamily="18" charset="0"/>
              <a:ea typeface="+mn-ea"/>
              <a:cs typeface="+mn-cs"/>
            </a:defRPr>
          </a:lvl1pPr>
          <a:lvl2pPr marL="457200" algn="l" rtl="0" fontAlgn="base">
            <a:spcBef>
              <a:spcPct val="0"/>
            </a:spcBef>
            <a:spcAft>
              <a:spcPct val="0"/>
            </a:spcAft>
            <a:defRPr sz="1200" kern="1200">
              <a:solidFill>
                <a:schemeClr val="tx1"/>
              </a:solidFill>
              <a:latin typeface="Times New Roman" pitchFamily="18" charset="0"/>
              <a:ea typeface="+mn-ea"/>
              <a:cs typeface="+mn-cs"/>
            </a:defRPr>
          </a:lvl2pPr>
          <a:lvl3pPr marL="914400" algn="l" rtl="0" fontAlgn="base">
            <a:spcBef>
              <a:spcPct val="0"/>
            </a:spcBef>
            <a:spcAft>
              <a:spcPct val="0"/>
            </a:spcAft>
            <a:defRPr sz="1200" kern="1200">
              <a:solidFill>
                <a:schemeClr val="tx1"/>
              </a:solidFill>
              <a:latin typeface="Times New Roman" pitchFamily="18" charset="0"/>
              <a:ea typeface="+mn-ea"/>
              <a:cs typeface="+mn-cs"/>
            </a:defRPr>
          </a:lvl3pPr>
          <a:lvl4pPr marL="1371600" algn="l" rtl="0" fontAlgn="base">
            <a:spcBef>
              <a:spcPct val="0"/>
            </a:spcBef>
            <a:spcAft>
              <a:spcPct val="0"/>
            </a:spcAft>
            <a:defRPr sz="1200" kern="1200">
              <a:solidFill>
                <a:schemeClr val="tx1"/>
              </a:solidFill>
              <a:latin typeface="Times New Roman" pitchFamily="18" charset="0"/>
              <a:ea typeface="+mn-ea"/>
              <a:cs typeface="+mn-cs"/>
            </a:defRPr>
          </a:lvl4pPr>
          <a:lvl5pPr marL="1828800" algn="l" rtl="0" fontAlgn="base">
            <a:spcBef>
              <a:spcPct val="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Times New Roman" pitchFamily="18" charset="0"/>
              <a:ea typeface="+mn-ea"/>
              <a:cs typeface="+mn-cs"/>
            </a:defRPr>
          </a:lvl6pPr>
          <a:lvl7pPr marL="2743200" algn="l" defTabSz="914400" rtl="0" eaLnBrk="1" latinLnBrk="0" hangingPunct="1">
            <a:defRPr sz="1200" kern="1200">
              <a:solidFill>
                <a:schemeClr val="tx1"/>
              </a:solidFill>
              <a:latin typeface="Times New Roman" pitchFamily="18" charset="0"/>
              <a:ea typeface="+mn-ea"/>
              <a:cs typeface="+mn-cs"/>
            </a:defRPr>
          </a:lvl7pPr>
          <a:lvl8pPr marL="3200400" algn="l" defTabSz="914400" rtl="0" eaLnBrk="1" latinLnBrk="0" hangingPunct="1">
            <a:defRPr sz="1200" kern="1200">
              <a:solidFill>
                <a:schemeClr val="tx1"/>
              </a:solidFill>
              <a:latin typeface="Times New Roman" pitchFamily="18" charset="0"/>
              <a:ea typeface="+mn-ea"/>
              <a:cs typeface="+mn-cs"/>
            </a:defRPr>
          </a:lvl8pPr>
          <a:lvl9pPr marL="3657600" algn="l" defTabSz="914400" rtl="0" eaLnBrk="1" latinLnBrk="0" hangingPunct="1">
            <a:defRPr sz="1200" kern="1200">
              <a:solidFill>
                <a:schemeClr val="tx1"/>
              </a:solidFill>
              <a:latin typeface="Times New Roman" pitchFamily="18" charset="0"/>
              <a:ea typeface="+mn-ea"/>
              <a:cs typeface="+mn-cs"/>
            </a:defRPr>
          </a:lvl9pPr>
        </a:lstStyle>
        <a:p xmlns:a="http://schemas.openxmlformats.org/drawingml/2006/main">
          <a:r>
            <a:rPr lang="en-US" sz="1600" b="1" dirty="0" smtClean="0">
              <a:solidFill>
                <a:schemeClr val="accent1">
                  <a:lumMod val="50000"/>
                </a:schemeClr>
              </a:solidFill>
            </a:rPr>
            <a:t>Number of +30DPD Facilities</a:t>
          </a:r>
          <a:endParaRPr lang="en-GB" sz="1600" b="1" dirty="0">
            <a:solidFill>
              <a:schemeClr val="accent1">
                <a:lumMod val="50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0.23202</cdr:x>
      <cdr:y>0.27269</cdr:y>
    </cdr:to>
    <cdr:pic>
      <cdr:nvPicPr>
        <cdr:cNvPr id="2"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060796" cy="664522"/>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0.47459</cdr:x>
      <cdr:y>0.02677</cdr:y>
    </cdr:from>
    <cdr:to>
      <cdr:x>1</cdr:x>
      <cdr:y>0.1178</cdr:y>
    </cdr:to>
    <cdr:sp macro="" textlink="">
      <cdr:nvSpPr>
        <cdr:cNvPr id="2" name="TextBox 13"/>
        <cdr:cNvSpPr txBox="1"/>
      </cdr:nvSpPr>
      <cdr:spPr>
        <a:xfrm xmlns:a="http://schemas.openxmlformats.org/drawingml/2006/main">
          <a:off x="2894248" y="99559"/>
          <a:ext cx="3204210" cy="33855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sz="1200" kern="1200">
              <a:solidFill>
                <a:schemeClr val="tx1"/>
              </a:solidFill>
              <a:latin typeface="Times New Roman" pitchFamily="18" charset="0"/>
              <a:ea typeface="+mn-ea"/>
              <a:cs typeface="+mn-cs"/>
            </a:defRPr>
          </a:lvl1pPr>
          <a:lvl2pPr marL="457200" algn="l" rtl="0" fontAlgn="base">
            <a:spcBef>
              <a:spcPct val="0"/>
            </a:spcBef>
            <a:spcAft>
              <a:spcPct val="0"/>
            </a:spcAft>
            <a:defRPr sz="1200" kern="1200">
              <a:solidFill>
                <a:schemeClr val="tx1"/>
              </a:solidFill>
              <a:latin typeface="Times New Roman" pitchFamily="18" charset="0"/>
              <a:ea typeface="+mn-ea"/>
              <a:cs typeface="+mn-cs"/>
            </a:defRPr>
          </a:lvl2pPr>
          <a:lvl3pPr marL="914400" algn="l" rtl="0" fontAlgn="base">
            <a:spcBef>
              <a:spcPct val="0"/>
            </a:spcBef>
            <a:spcAft>
              <a:spcPct val="0"/>
            </a:spcAft>
            <a:defRPr sz="1200" kern="1200">
              <a:solidFill>
                <a:schemeClr val="tx1"/>
              </a:solidFill>
              <a:latin typeface="Times New Roman" pitchFamily="18" charset="0"/>
              <a:ea typeface="+mn-ea"/>
              <a:cs typeface="+mn-cs"/>
            </a:defRPr>
          </a:lvl3pPr>
          <a:lvl4pPr marL="1371600" algn="l" rtl="0" fontAlgn="base">
            <a:spcBef>
              <a:spcPct val="0"/>
            </a:spcBef>
            <a:spcAft>
              <a:spcPct val="0"/>
            </a:spcAft>
            <a:defRPr sz="1200" kern="1200">
              <a:solidFill>
                <a:schemeClr val="tx1"/>
              </a:solidFill>
              <a:latin typeface="Times New Roman" pitchFamily="18" charset="0"/>
              <a:ea typeface="+mn-ea"/>
              <a:cs typeface="+mn-cs"/>
            </a:defRPr>
          </a:lvl4pPr>
          <a:lvl5pPr marL="1828800" algn="l" rtl="0" fontAlgn="base">
            <a:spcBef>
              <a:spcPct val="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Times New Roman" pitchFamily="18" charset="0"/>
              <a:ea typeface="+mn-ea"/>
              <a:cs typeface="+mn-cs"/>
            </a:defRPr>
          </a:lvl6pPr>
          <a:lvl7pPr marL="2743200" algn="l" defTabSz="914400" rtl="0" eaLnBrk="1" latinLnBrk="0" hangingPunct="1">
            <a:defRPr sz="1200" kern="1200">
              <a:solidFill>
                <a:schemeClr val="tx1"/>
              </a:solidFill>
              <a:latin typeface="Times New Roman" pitchFamily="18" charset="0"/>
              <a:ea typeface="+mn-ea"/>
              <a:cs typeface="+mn-cs"/>
            </a:defRPr>
          </a:lvl7pPr>
          <a:lvl8pPr marL="3200400" algn="l" defTabSz="914400" rtl="0" eaLnBrk="1" latinLnBrk="0" hangingPunct="1">
            <a:defRPr sz="1200" kern="1200">
              <a:solidFill>
                <a:schemeClr val="tx1"/>
              </a:solidFill>
              <a:latin typeface="Times New Roman" pitchFamily="18" charset="0"/>
              <a:ea typeface="+mn-ea"/>
              <a:cs typeface="+mn-cs"/>
            </a:defRPr>
          </a:lvl8pPr>
          <a:lvl9pPr marL="3657600" algn="l" defTabSz="914400" rtl="0" eaLnBrk="1" latinLnBrk="0" hangingPunct="1">
            <a:defRPr sz="1200" kern="1200">
              <a:solidFill>
                <a:schemeClr val="tx1"/>
              </a:solidFill>
              <a:latin typeface="Times New Roman" pitchFamily="18" charset="0"/>
              <a:ea typeface="+mn-ea"/>
              <a:cs typeface="+mn-cs"/>
            </a:defRPr>
          </a:lvl9pPr>
        </a:lstStyle>
        <a:p xmlns:a="http://schemas.openxmlformats.org/drawingml/2006/main">
          <a:r>
            <a:rPr lang="en-US" sz="1600" b="1" dirty="0" smtClean="0">
              <a:solidFill>
                <a:schemeClr val="accent1">
                  <a:lumMod val="50000"/>
                </a:schemeClr>
              </a:solidFill>
            </a:rPr>
            <a:t>Number of +30DPD Facilities</a:t>
          </a:r>
          <a:endParaRPr lang="en-GB" sz="1600" b="1" dirty="0">
            <a:solidFill>
              <a:schemeClr val="accent1">
                <a:lumMod val="50000"/>
              </a:schemeClr>
            </a:solidFil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862" cy="497333"/>
          </a:xfrm>
          <a:prstGeom prst="rect">
            <a:avLst/>
          </a:prstGeom>
        </p:spPr>
        <p:txBody>
          <a:bodyPr vert="horz" wrap="square" lIns="92112" tIns="46056" rIns="92112" bIns="46056" numCol="1" anchor="t" anchorCtr="0" compatLnSpc="1">
            <a:prstTxWarp prst="textNoShape">
              <a:avLst/>
            </a:prstTxWarp>
          </a:bodyPr>
          <a:lstStyle>
            <a:lvl1pPr>
              <a:defRPr>
                <a:cs typeface="+mn-cs"/>
              </a:defRPr>
            </a:lvl1pPr>
          </a:lstStyle>
          <a:p>
            <a:pPr>
              <a:defRPr/>
            </a:pPr>
            <a:endParaRPr lang="en-US"/>
          </a:p>
        </p:txBody>
      </p:sp>
      <p:sp>
        <p:nvSpPr>
          <p:cNvPr id="3" name="Date Placeholder 2"/>
          <p:cNvSpPr>
            <a:spLocks noGrp="1"/>
          </p:cNvSpPr>
          <p:nvPr>
            <p:ph type="dt" sz="quarter" idx="1"/>
          </p:nvPr>
        </p:nvSpPr>
        <p:spPr>
          <a:xfrm>
            <a:off x="3850294" y="1"/>
            <a:ext cx="2945862" cy="497333"/>
          </a:xfrm>
          <a:prstGeom prst="rect">
            <a:avLst/>
          </a:prstGeom>
        </p:spPr>
        <p:txBody>
          <a:bodyPr vert="horz" wrap="square" lIns="92112" tIns="46056" rIns="92112" bIns="46056" numCol="1" anchor="t" anchorCtr="0" compatLnSpc="1">
            <a:prstTxWarp prst="textNoShape">
              <a:avLst/>
            </a:prstTxWarp>
          </a:bodyPr>
          <a:lstStyle>
            <a:lvl1pPr algn="r">
              <a:defRPr>
                <a:cs typeface="+mn-cs"/>
              </a:defRPr>
            </a:lvl1pPr>
          </a:lstStyle>
          <a:p>
            <a:pPr>
              <a:defRPr/>
            </a:pPr>
            <a:fld id="{40979E02-1A58-4209-9944-527EC0F1EEF2}" type="datetimeFigureOut">
              <a:rPr lang="en-US"/>
              <a:pPr>
                <a:defRPr/>
              </a:pPr>
              <a:t>5/23/2017</a:t>
            </a:fld>
            <a:endParaRPr lang="en-US"/>
          </a:p>
        </p:txBody>
      </p:sp>
      <p:sp>
        <p:nvSpPr>
          <p:cNvPr id="4" name="Footer Placeholder 3"/>
          <p:cNvSpPr>
            <a:spLocks noGrp="1"/>
          </p:cNvSpPr>
          <p:nvPr>
            <p:ph type="ftr" sz="quarter" idx="2"/>
          </p:nvPr>
        </p:nvSpPr>
        <p:spPr>
          <a:xfrm>
            <a:off x="0" y="9427766"/>
            <a:ext cx="2945862" cy="497332"/>
          </a:xfrm>
          <a:prstGeom prst="rect">
            <a:avLst/>
          </a:prstGeom>
        </p:spPr>
        <p:txBody>
          <a:bodyPr vert="horz" wrap="square" lIns="92112" tIns="46056" rIns="92112" bIns="46056" numCol="1" anchor="b" anchorCtr="0" compatLnSpc="1">
            <a:prstTxWarp prst="textNoShape">
              <a:avLst/>
            </a:prstTxWarp>
          </a:bodyPr>
          <a:lstStyle>
            <a:lvl1pPr>
              <a:defRPr>
                <a:cs typeface="+mn-cs"/>
              </a:defRPr>
            </a:lvl1pPr>
          </a:lstStyle>
          <a:p>
            <a:pPr>
              <a:defRPr/>
            </a:pPr>
            <a:endParaRPr lang="en-US"/>
          </a:p>
        </p:txBody>
      </p:sp>
      <p:sp>
        <p:nvSpPr>
          <p:cNvPr id="5" name="Slide Number Placeholder 4"/>
          <p:cNvSpPr>
            <a:spLocks noGrp="1"/>
          </p:cNvSpPr>
          <p:nvPr>
            <p:ph type="sldNum" sz="quarter" idx="3"/>
          </p:nvPr>
        </p:nvSpPr>
        <p:spPr>
          <a:xfrm>
            <a:off x="3850294" y="9427766"/>
            <a:ext cx="2945862" cy="497332"/>
          </a:xfrm>
          <a:prstGeom prst="rect">
            <a:avLst/>
          </a:prstGeom>
        </p:spPr>
        <p:txBody>
          <a:bodyPr vert="horz" wrap="square" lIns="92112" tIns="46056" rIns="92112" bIns="46056" numCol="1" anchor="b" anchorCtr="0" compatLnSpc="1">
            <a:prstTxWarp prst="textNoShape">
              <a:avLst/>
            </a:prstTxWarp>
          </a:bodyPr>
          <a:lstStyle>
            <a:lvl1pPr algn="r">
              <a:defRPr/>
            </a:lvl1pPr>
          </a:lstStyle>
          <a:p>
            <a:fld id="{84086585-DD32-48B4-8BF3-54FFE30802E9}" type="slidenum">
              <a:rPr lang="en-US" altLang="en-US"/>
              <a:pPr/>
              <a:t>‹#›</a:t>
            </a:fld>
            <a:endParaRPr lang="en-US" altLang="en-US"/>
          </a:p>
        </p:txBody>
      </p:sp>
    </p:spTree>
    <p:extLst>
      <p:ext uri="{BB962C8B-B14F-4D97-AF65-F5344CB8AC3E}">
        <p14:creationId xmlns:p14="http://schemas.microsoft.com/office/powerpoint/2010/main" val="327978771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45862" cy="495793"/>
          </a:xfrm>
          <a:prstGeom prst="rect">
            <a:avLst/>
          </a:prstGeom>
          <a:noFill/>
          <a:ln w="9525">
            <a:noFill/>
            <a:miter lim="800000"/>
            <a:headEnd/>
            <a:tailEnd/>
          </a:ln>
          <a:effectLst/>
        </p:spPr>
        <p:txBody>
          <a:bodyPr vert="horz" wrap="square" lIns="96224" tIns="48112" rIns="96224" bIns="48112" numCol="1" anchor="t" anchorCtr="0" compatLnSpc="1">
            <a:prstTxWarp prst="textNoShape">
              <a:avLst/>
            </a:prstTxWarp>
          </a:bodyPr>
          <a:lstStyle>
            <a:lvl1pPr>
              <a:defRPr>
                <a:latin typeface="Adobe Fangsong Std R" pitchFamily="18" charset="-128"/>
                <a:cs typeface="+mn-cs"/>
              </a:defRPr>
            </a:lvl1pPr>
          </a:lstStyle>
          <a:p>
            <a:pPr>
              <a:defRPr/>
            </a:pPr>
            <a:endParaRPr lang="en-GB"/>
          </a:p>
        </p:txBody>
      </p:sp>
      <p:sp>
        <p:nvSpPr>
          <p:cNvPr id="47107" name="Rectangle 3"/>
          <p:cNvSpPr>
            <a:spLocks noGrp="1" noChangeArrowheads="1"/>
          </p:cNvSpPr>
          <p:nvPr>
            <p:ph type="dt" idx="1"/>
          </p:nvPr>
        </p:nvSpPr>
        <p:spPr bwMode="auto">
          <a:xfrm>
            <a:off x="3850294" y="0"/>
            <a:ext cx="2945862" cy="495793"/>
          </a:xfrm>
          <a:prstGeom prst="rect">
            <a:avLst/>
          </a:prstGeom>
          <a:noFill/>
          <a:ln w="9525">
            <a:noFill/>
            <a:miter lim="800000"/>
            <a:headEnd/>
            <a:tailEnd/>
          </a:ln>
          <a:effectLst/>
        </p:spPr>
        <p:txBody>
          <a:bodyPr vert="horz" wrap="square" lIns="96224" tIns="48112" rIns="96224" bIns="48112" numCol="1" anchor="t" anchorCtr="0" compatLnSpc="1">
            <a:prstTxWarp prst="textNoShape">
              <a:avLst/>
            </a:prstTxWarp>
          </a:bodyPr>
          <a:lstStyle>
            <a:lvl1pPr algn="r">
              <a:defRPr>
                <a:latin typeface="Adobe Fangsong Std R" pitchFamily="18" charset="-128"/>
                <a:cs typeface="+mn-cs"/>
              </a:defRPr>
            </a:lvl1pPr>
          </a:lstStyle>
          <a:p>
            <a:pPr>
              <a:defRPr/>
            </a:pPr>
            <a:fld id="{ACB6BD06-491F-4608-9CA9-E53DA165873F}" type="datetimeFigureOut">
              <a:rPr lang="en-GB"/>
              <a:pPr>
                <a:defRPr/>
              </a:pPr>
              <a:t>23/05/2017</a:t>
            </a:fld>
            <a:endParaRPr lang="en-GB"/>
          </a:p>
        </p:txBody>
      </p:sp>
      <p:sp>
        <p:nvSpPr>
          <p:cNvPr id="28676" name="Rectangle 4"/>
          <p:cNvSpPr>
            <a:spLocks noGrp="1" noRot="1" noChangeAspect="1" noChangeArrowheads="1" noTextEdit="1"/>
          </p:cNvSpPr>
          <p:nvPr>
            <p:ph type="sldImg" idx="2"/>
          </p:nvPr>
        </p:nvSpPr>
        <p:spPr bwMode="auto">
          <a:xfrm>
            <a:off x="711200" y="742950"/>
            <a:ext cx="5375275" cy="37226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9464" y="4714653"/>
            <a:ext cx="5438748" cy="4466756"/>
          </a:xfrm>
          <a:prstGeom prst="rect">
            <a:avLst/>
          </a:prstGeom>
          <a:noFill/>
          <a:ln w="9525">
            <a:noFill/>
            <a:miter lim="800000"/>
            <a:headEnd/>
            <a:tailEnd/>
          </a:ln>
          <a:effectLst/>
        </p:spPr>
        <p:txBody>
          <a:bodyPr vert="horz" wrap="square" lIns="96224" tIns="48112" rIns="96224" bIns="48112"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47110" name="Rectangle 6"/>
          <p:cNvSpPr>
            <a:spLocks noGrp="1" noChangeArrowheads="1"/>
          </p:cNvSpPr>
          <p:nvPr>
            <p:ph type="ftr" sz="quarter" idx="4"/>
          </p:nvPr>
        </p:nvSpPr>
        <p:spPr bwMode="auto">
          <a:xfrm>
            <a:off x="0" y="9429305"/>
            <a:ext cx="2945862" cy="495793"/>
          </a:xfrm>
          <a:prstGeom prst="rect">
            <a:avLst/>
          </a:prstGeom>
          <a:noFill/>
          <a:ln w="9525">
            <a:noFill/>
            <a:miter lim="800000"/>
            <a:headEnd/>
            <a:tailEnd/>
          </a:ln>
          <a:effectLst/>
        </p:spPr>
        <p:txBody>
          <a:bodyPr vert="horz" wrap="square" lIns="96224" tIns="48112" rIns="96224" bIns="48112" numCol="1" anchor="b" anchorCtr="0" compatLnSpc="1">
            <a:prstTxWarp prst="textNoShape">
              <a:avLst/>
            </a:prstTxWarp>
          </a:bodyPr>
          <a:lstStyle>
            <a:lvl1pPr>
              <a:defRPr>
                <a:latin typeface="Adobe Fangsong Std R" pitchFamily="18" charset="-128"/>
                <a:cs typeface="+mn-cs"/>
              </a:defRPr>
            </a:lvl1pPr>
          </a:lstStyle>
          <a:p>
            <a:pPr>
              <a:defRPr/>
            </a:pPr>
            <a:endParaRPr lang="en-GB"/>
          </a:p>
        </p:txBody>
      </p:sp>
      <p:sp>
        <p:nvSpPr>
          <p:cNvPr id="47111" name="Rectangle 7"/>
          <p:cNvSpPr>
            <a:spLocks noGrp="1" noChangeArrowheads="1"/>
          </p:cNvSpPr>
          <p:nvPr>
            <p:ph type="sldNum" sz="quarter" idx="5"/>
          </p:nvPr>
        </p:nvSpPr>
        <p:spPr bwMode="auto">
          <a:xfrm>
            <a:off x="3850294" y="9429305"/>
            <a:ext cx="2945862" cy="495793"/>
          </a:xfrm>
          <a:prstGeom prst="rect">
            <a:avLst/>
          </a:prstGeom>
          <a:noFill/>
          <a:ln w="9525">
            <a:noFill/>
            <a:miter lim="800000"/>
            <a:headEnd/>
            <a:tailEnd/>
          </a:ln>
          <a:effectLst/>
        </p:spPr>
        <p:txBody>
          <a:bodyPr vert="horz" wrap="square" lIns="96224" tIns="48112" rIns="96224" bIns="48112" numCol="1" anchor="b" anchorCtr="0" compatLnSpc="1">
            <a:prstTxWarp prst="textNoShape">
              <a:avLst/>
            </a:prstTxWarp>
          </a:bodyPr>
          <a:lstStyle>
            <a:lvl1pPr algn="r">
              <a:defRPr>
                <a:latin typeface="Adobe Fangsong Std R" pitchFamily="18" charset="-128"/>
              </a:defRPr>
            </a:lvl1pPr>
          </a:lstStyle>
          <a:p>
            <a:fld id="{8AA8BC4E-8C28-4AF6-820F-2EC3A160940E}" type="slidenum">
              <a:rPr lang="en-GB" altLang="en-US"/>
              <a:pPr/>
              <a:t>‹#›</a:t>
            </a:fld>
            <a:endParaRPr lang="en-GB" altLang="en-US"/>
          </a:p>
        </p:txBody>
      </p:sp>
    </p:spTree>
    <p:extLst>
      <p:ext uri="{BB962C8B-B14F-4D97-AF65-F5344CB8AC3E}">
        <p14:creationId xmlns:p14="http://schemas.microsoft.com/office/powerpoint/2010/main" val="3587690380"/>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1pPr>
    <a:lvl2pPr marL="4572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2pPr>
    <a:lvl3pPr marL="9144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3pPr>
    <a:lvl4pPr marL="13716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4pPr>
    <a:lvl5pPr marL="1828800" algn="l" rtl="0" eaLnBrk="0" fontAlgn="base" hangingPunct="0">
      <a:spcBef>
        <a:spcPct val="30000"/>
      </a:spcBef>
      <a:spcAft>
        <a:spcPct val="0"/>
      </a:spcAft>
      <a:defRPr sz="1200" kern="1200">
        <a:solidFill>
          <a:schemeClr val="tx1"/>
        </a:solidFill>
        <a:latin typeface="Adobe Fangsong Std R" pitchFamily="18" charset="-128"/>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16798" indent="-275692" eaLnBrk="0" hangingPunct="0">
              <a:defRPr sz="1200">
                <a:solidFill>
                  <a:schemeClr val="tx1"/>
                </a:solidFill>
                <a:latin typeface="Times New Roman" panose="02020603050405020304" pitchFamily="18" charset="0"/>
                <a:cs typeface="Times New Roman" panose="02020603050405020304" pitchFamily="18" charset="0"/>
              </a:defRPr>
            </a:lvl2pPr>
            <a:lvl3pPr marL="1102766" indent="-220553" eaLnBrk="0" hangingPunct="0">
              <a:defRPr sz="1200">
                <a:solidFill>
                  <a:schemeClr val="tx1"/>
                </a:solidFill>
                <a:latin typeface="Times New Roman" panose="02020603050405020304" pitchFamily="18" charset="0"/>
                <a:cs typeface="Times New Roman" panose="02020603050405020304" pitchFamily="18" charset="0"/>
              </a:defRPr>
            </a:lvl3pPr>
            <a:lvl4pPr marL="1543873" indent="-220553" eaLnBrk="0" hangingPunct="0">
              <a:defRPr sz="1200">
                <a:solidFill>
                  <a:schemeClr val="tx1"/>
                </a:solidFill>
                <a:latin typeface="Times New Roman" panose="02020603050405020304" pitchFamily="18" charset="0"/>
                <a:cs typeface="Times New Roman" panose="02020603050405020304" pitchFamily="18" charset="0"/>
              </a:defRPr>
            </a:lvl4pPr>
            <a:lvl5pPr marL="1984980" indent="-220553" eaLnBrk="0" hangingPunct="0">
              <a:defRPr sz="1200">
                <a:solidFill>
                  <a:schemeClr val="tx1"/>
                </a:solidFill>
                <a:latin typeface="Times New Roman" panose="02020603050405020304" pitchFamily="18" charset="0"/>
                <a:cs typeface="Times New Roman" panose="02020603050405020304" pitchFamily="18" charset="0"/>
              </a:defRPr>
            </a:lvl5pPr>
            <a:lvl6pPr marL="242608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867193"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308299"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74940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1</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3188377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pPr>
              <a:defRPr/>
            </a:pPr>
            <a:endParaRPr lang="en-GB"/>
          </a:p>
        </p:txBody>
      </p:sp>
      <p:sp>
        <p:nvSpPr>
          <p:cNvPr id="5" name="Slide Number Placeholder 4"/>
          <p:cNvSpPr>
            <a:spLocks noGrp="1"/>
          </p:cNvSpPr>
          <p:nvPr>
            <p:ph type="sldNum" sz="quarter" idx="11"/>
          </p:nvPr>
        </p:nvSpPr>
        <p:spPr/>
        <p:txBody>
          <a:bodyPr/>
          <a:lstStyle/>
          <a:p>
            <a:fld id="{8AA8BC4E-8C28-4AF6-820F-2EC3A160940E}" type="slidenum">
              <a:rPr lang="en-GB" altLang="en-US" smtClean="0"/>
              <a:pPr/>
              <a:t>3</a:t>
            </a:fld>
            <a:endParaRPr lang="en-GB" altLang="en-US"/>
          </a:p>
        </p:txBody>
      </p:sp>
    </p:spTree>
    <p:extLst>
      <p:ext uri="{BB962C8B-B14F-4D97-AF65-F5344CB8AC3E}">
        <p14:creationId xmlns:p14="http://schemas.microsoft.com/office/powerpoint/2010/main" val="1464820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8</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1244379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9</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789333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16</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395528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17</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4096580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23</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427089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24</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1508164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30</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033858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31</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1207233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38</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4057801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39</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1339988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40</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1781875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46</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17536048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47</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863229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52</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379079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53</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42837938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59</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1446194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60</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3647996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65</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809364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66</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672936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72</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437006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73</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3610456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79</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34769587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80</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42129961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87</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552237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88</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5398223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93</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1243815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94</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34764721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104</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8951496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105</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26474654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89BF983A-97D2-4470-B9A6-AF618E8A2ADF}" type="slidenum">
              <a:rPr lang="en-US" altLang="en-US">
                <a:solidFill>
                  <a:srgbClr val="000000"/>
                </a:solidFill>
                <a:latin typeface="Adobe Fangsong Std R" pitchFamily="18" charset="-128"/>
              </a:rPr>
              <a:pPr eaLnBrk="1" hangingPunct="1"/>
              <a:t>112</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4036359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D3236B-1443-4A62-B5A1-AA2DBD3B06C6}" type="slidenum">
              <a:rPr lang="en-US" altLang="en-US">
                <a:solidFill>
                  <a:srgbClr val="000000"/>
                </a:solidFill>
                <a:latin typeface="Adobe Fangsong Std R" pitchFamily="18" charset="-128"/>
              </a:rPr>
              <a:pPr eaLnBrk="1" hangingPunct="1"/>
              <a:t>113</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34277174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16798" indent="-275692" eaLnBrk="0" hangingPunct="0">
              <a:defRPr sz="1200">
                <a:solidFill>
                  <a:schemeClr val="tx1"/>
                </a:solidFill>
                <a:latin typeface="Times New Roman" panose="02020603050405020304" pitchFamily="18" charset="0"/>
                <a:cs typeface="Times New Roman" panose="02020603050405020304" pitchFamily="18" charset="0"/>
              </a:defRPr>
            </a:lvl2pPr>
            <a:lvl3pPr marL="1102766" indent="-220553" eaLnBrk="0" hangingPunct="0">
              <a:defRPr sz="1200">
                <a:solidFill>
                  <a:schemeClr val="tx1"/>
                </a:solidFill>
                <a:latin typeface="Times New Roman" panose="02020603050405020304" pitchFamily="18" charset="0"/>
                <a:cs typeface="Times New Roman" panose="02020603050405020304" pitchFamily="18" charset="0"/>
              </a:defRPr>
            </a:lvl3pPr>
            <a:lvl4pPr marL="1543873" indent="-220553" eaLnBrk="0" hangingPunct="0">
              <a:defRPr sz="1200">
                <a:solidFill>
                  <a:schemeClr val="tx1"/>
                </a:solidFill>
                <a:latin typeface="Times New Roman" panose="02020603050405020304" pitchFamily="18" charset="0"/>
                <a:cs typeface="Times New Roman" panose="02020603050405020304" pitchFamily="18" charset="0"/>
              </a:defRPr>
            </a:lvl4pPr>
            <a:lvl5pPr marL="1984980" indent="-220553" eaLnBrk="0" hangingPunct="0">
              <a:defRPr sz="1200">
                <a:solidFill>
                  <a:schemeClr val="tx1"/>
                </a:solidFill>
                <a:latin typeface="Times New Roman" panose="02020603050405020304" pitchFamily="18" charset="0"/>
                <a:cs typeface="Times New Roman" panose="02020603050405020304" pitchFamily="18" charset="0"/>
              </a:defRPr>
            </a:lvl5pPr>
            <a:lvl6pPr marL="242608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867193"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308299"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749406" indent="-220553"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5373CF7C-84DB-4CB9-9BBC-54A676F61943}" type="slidenum">
              <a:rPr lang="en-US" altLang="en-US">
                <a:solidFill>
                  <a:srgbClr val="000000"/>
                </a:solidFill>
                <a:latin typeface="Adobe Fangsong Std R" pitchFamily="18" charset="-128"/>
              </a:rPr>
              <a:pPr eaLnBrk="1" hangingPunct="1"/>
              <a:t>122</a:t>
            </a:fld>
            <a:endParaRPr lang="en-US" altLang="en-US">
              <a:solidFill>
                <a:srgbClr val="000000"/>
              </a:solidFill>
              <a:latin typeface="Adobe Fangsong Std R" pitchFamily="18" charset="-128"/>
            </a:endParaRPr>
          </a:p>
        </p:txBody>
      </p:sp>
      <p:sp>
        <p:nvSpPr>
          <p:cNvPr id="2" name="Footer Placeholder 1"/>
          <p:cNvSpPr>
            <a:spLocks noGrp="1"/>
          </p:cNvSpPr>
          <p:nvPr>
            <p:ph type="ftr" sz="quarter" idx="10"/>
          </p:nvPr>
        </p:nvSpPr>
        <p:spPr/>
        <p:txBody>
          <a:bodyPr/>
          <a:lstStyle/>
          <a:p>
            <a:pPr>
              <a:defRPr/>
            </a:pPr>
            <a:endParaRPr lang="en-GB"/>
          </a:p>
        </p:txBody>
      </p:sp>
    </p:spTree>
    <p:extLst>
      <p:ext uri="{BB962C8B-B14F-4D97-AF65-F5344CB8AC3E}">
        <p14:creationId xmlns:p14="http://schemas.microsoft.com/office/powerpoint/2010/main" val="814141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7.xml"/><Relationship Id="rId1" Type="http://schemas.openxmlformats.org/officeDocument/2006/relationships/themeOverride" Target="../theme/themeOverride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9.xml"/><Relationship Id="rId1" Type="http://schemas.openxmlformats.org/officeDocument/2006/relationships/themeOverride" Target="../theme/themeOverride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3A0000"/>
            </a:gs>
            <a:gs pos="100000">
              <a:srgbClr val="870052"/>
            </a:gs>
          </a:gsLst>
          <a:lin ang="2700000" scaled="1"/>
        </a:gradFill>
        <a:effectLst/>
      </p:bgPr>
    </p:bg>
    <p:spTree>
      <p:nvGrpSpPr>
        <p:cNvPr id="1" name=""/>
        <p:cNvGrpSpPr/>
        <p:nvPr/>
      </p:nvGrpSpPr>
      <p:grpSpPr>
        <a:xfrm>
          <a:off x="0" y="0"/>
          <a:ext cx="0" cy="0"/>
          <a:chOff x="0" y="0"/>
          <a:chExt cx="0" cy="0"/>
        </a:xfrm>
      </p:grpSpPr>
      <p:pic>
        <p:nvPicPr>
          <p:cNvPr id="4" name="Picture 6" descr="Ribbon Alon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itle Placeholder 1"/>
          <p:cNvSpPr>
            <a:spLocks noGrp="1"/>
          </p:cNvSpPr>
          <p:nvPr>
            <p:ph type="ctrTitle"/>
          </p:nvPr>
        </p:nvSpPr>
        <p:spPr>
          <a:xfrm>
            <a:off x="1282700" y="1939925"/>
            <a:ext cx="6142038" cy="1470025"/>
          </a:xfrm>
        </p:spPr>
        <p:txBody>
          <a:bodyPr/>
          <a:lstStyle>
            <a:lvl1pPr>
              <a:defRPr smtClean="0">
                <a:solidFill>
                  <a:schemeClr val="bg1"/>
                </a:solidFill>
              </a:defRPr>
            </a:lvl1pPr>
          </a:lstStyle>
          <a:p>
            <a:r>
              <a:rPr lang="en-GB" smtClean="0"/>
              <a:t>Click to edit Master title style</a:t>
            </a:r>
          </a:p>
        </p:txBody>
      </p:sp>
      <p:sp>
        <p:nvSpPr>
          <p:cNvPr id="47114" name="Text Placeholder 2"/>
          <p:cNvSpPr>
            <a:spLocks noGrp="1"/>
          </p:cNvSpPr>
          <p:nvPr>
            <p:ph type="subTitle" idx="1"/>
          </p:nvPr>
        </p:nvSpPr>
        <p:spPr>
          <a:xfrm>
            <a:off x="1282700" y="3562350"/>
            <a:ext cx="6142038" cy="1752600"/>
          </a:xfrm>
        </p:spPr>
        <p:txBody>
          <a:bodyPr/>
          <a:lstStyle>
            <a:lvl1pPr>
              <a:defRPr smtClean="0">
                <a:solidFill>
                  <a:schemeClr val="bg1"/>
                </a:solidFill>
              </a:defRPr>
            </a:lvl1pPr>
          </a:lstStyle>
          <a:p>
            <a:r>
              <a:rPr lang="en-GB" smtClean="0"/>
              <a:t>Click to edit Master subtitle style</a:t>
            </a:r>
          </a:p>
        </p:txBody>
      </p:sp>
    </p:spTree>
    <p:extLst>
      <p:ext uri="{BB962C8B-B14F-4D97-AF65-F5344CB8AC3E}">
        <p14:creationId xmlns:p14="http://schemas.microsoft.com/office/powerpoint/2010/main" val="293519256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865796EC-22DC-4588-AB1D-C30A18DE494F}" type="slidenum">
              <a:rPr lang="en-GB" altLang="en-US"/>
              <a:pPr/>
              <a:t>‹#›</a:t>
            </a:fld>
            <a:endParaRPr lang="en-GB" altLang="en-US"/>
          </a:p>
        </p:txBody>
      </p:sp>
    </p:spTree>
    <p:extLst>
      <p:ext uri="{BB962C8B-B14F-4D97-AF65-F5344CB8AC3E}">
        <p14:creationId xmlns:p14="http://schemas.microsoft.com/office/powerpoint/2010/main" val="299622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5"/>
          <p:cNvSpPr>
            <a:spLocks noGrp="1"/>
          </p:cNvSpPr>
          <p:nvPr>
            <p:ph type="sldNum" sz="quarter" idx="10"/>
          </p:nvPr>
        </p:nvSpPr>
        <p:spPr>
          <a:ln/>
        </p:spPr>
        <p:txBody>
          <a:bodyPr/>
          <a:lstStyle>
            <a:lvl1pPr>
              <a:defRPr/>
            </a:lvl1pPr>
          </a:lstStyle>
          <a:p>
            <a:fld id="{490205F6-8444-4966-A284-A96E5D7BD474}" type="slidenum">
              <a:rPr lang="en-GB" altLang="en-US"/>
              <a:pPr/>
              <a:t>‹#›</a:t>
            </a:fld>
            <a:endParaRPr lang="en-GB" altLang="en-US"/>
          </a:p>
        </p:txBody>
      </p:sp>
    </p:spTree>
    <p:extLst>
      <p:ext uri="{BB962C8B-B14F-4D97-AF65-F5344CB8AC3E}">
        <p14:creationId xmlns:p14="http://schemas.microsoft.com/office/powerpoint/2010/main" val="297752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81113" y="1863725"/>
            <a:ext cx="3378200"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11713" y="1863725"/>
            <a:ext cx="3379787"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6018F931-99B0-45D2-8CB5-B7C380B56B04}" type="slidenum">
              <a:rPr lang="en-GB" altLang="en-US"/>
              <a:pPr/>
              <a:t>‹#›</a:t>
            </a:fld>
            <a:endParaRPr lang="en-GB" altLang="en-US"/>
          </a:p>
        </p:txBody>
      </p:sp>
    </p:spTree>
    <p:extLst>
      <p:ext uri="{BB962C8B-B14F-4D97-AF65-F5344CB8AC3E}">
        <p14:creationId xmlns:p14="http://schemas.microsoft.com/office/powerpoint/2010/main" val="131110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0"/>
          </p:nvPr>
        </p:nvSpPr>
        <p:spPr>
          <a:ln/>
        </p:spPr>
        <p:txBody>
          <a:bodyPr/>
          <a:lstStyle>
            <a:lvl1pPr>
              <a:defRPr/>
            </a:lvl1pPr>
          </a:lstStyle>
          <a:p>
            <a:fld id="{7C6B9C5E-D1E9-4FAE-8567-0580A0C2C2C3}" type="slidenum">
              <a:rPr lang="en-GB" altLang="en-US"/>
              <a:pPr/>
              <a:t>‹#›</a:t>
            </a:fld>
            <a:endParaRPr lang="en-GB" altLang="en-US"/>
          </a:p>
        </p:txBody>
      </p:sp>
    </p:spTree>
    <p:extLst>
      <p:ext uri="{BB962C8B-B14F-4D97-AF65-F5344CB8AC3E}">
        <p14:creationId xmlns:p14="http://schemas.microsoft.com/office/powerpoint/2010/main" val="3525946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p:cNvSpPr>
            <a:spLocks noGrp="1"/>
          </p:cNvSpPr>
          <p:nvPr>
            <p:ph type="sldNum" sz="quarter" idx="10"/>
          </p:nvPr>
        </p:nvSpPr>
        <p:spPr>
          <a:ln/>
        </p:spPr>
        <p:txBody>
          <a:bodyPr/>
          <a:lstStyle>
            <a:lvl1pPr>
              <a:defRPr/>
            </a:lvl1pPr>
          </a:lstStyle>
          <a:p>
            <a:fld id="{AA56A224-319B-4D3A-8618-311EBA63A731}" type="slidenum">
              <a:rPr lang="en-GB" altLang="en-US"/>
              <a:pPr/>
              <a:t>‹#›</a:t>
            </a:fld>
            <a:endParaRPr lang="en-GB" altLang="en-US"/>
          </a:p>
        </p:txBody>
      </p:sp>
    </p:spTree>
    <p:extLst>
      <p:ext uri="{BB962C8B-B14F-4D97-AF65-F5344CB8AC3E}">
        <p14:creationId xmlns:p14="http://schemas.microsoft.com/office/powerpoint/2010/main" val="1544485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5FF08B6A-563E-490F-B12D-B9CE1E37E7EB}" type="slidenum">
              <a:rPr lang="en-GB" altLang="en-US"/>
              <a:pPr/>
              <a:t>‹#›</a:t>
            </a:fld>
            <a:endParaRPr lang="en-GB" altLang="en-US"/>
          </a:p>
        </p:txBody>
      </p:sp>
    </p:spTree>
    <p:extLst>
      <p:ext uri="{BB962C8B-B14F-4D97-AF65-F5344CB8AC3E}">
        <p14:creationId xmlns:p14="http://schemas.microsoft.com/office/powerpoint/2010/main" val="298810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6663C46A-FF4F-496B-A83F-1B626A64D4D7}" type="slidenum">
              <a:rPr lang="en-GB" altLang="en-US"/>
              <a:pPr/>
              <a:t>‹#›</a:t>
            </a:fld>
            <a:endParaRPr lang="en-GB" altLang="en-US"/>
          </a:p>
        </p:txBody>
      </p:sp>
    </p:spTree>
    <p:extLst>
      <p:ext uri="{BB962C8B-B14F-4D97-AF65-F5344CB8AC3E}">
        <p14:creationId xmlns:p14="http://schemas.microsoft.com/office/powerpoint/2010/main" val="210345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43EEC0CC-0731-4E94-9F5C-1A7D87995C12}" type="slidenum">
              <a:rPr lang="en-GB" altLang="en-US"/>
              <a:pPr/>
              <a:t>‹#›</a:t>
            </a:fld>
            <a:endParaRPr lang="en-GB" altLang="en-US"/>
          </a:p>
        </p:txBody>
      </p:sp>
    </p:spTree>
    <p:extLst>
      <p:ext uri="{BB962C8B-B14F-4D97-AF65-F5344CB8AC3E}">
        <p14:creationId xmlns:p14="http://schemas.microsoft.com/office/powerpoint/2010/main" val="2824636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01670D04-D61B-40C5-9EFD-85C6FEAFA78F}" type="slidenum">
              <a:rPr lang="en-GB" altLang="en-US"/>
              <a:pPr/>
              <a:t>‹#›</a:t>
            </a:fld>
            <a:endParaRPr lang="en-GB" altLang="en-US"/>
          </a:p>
        </p:txBody>
      </p:sp>
    </p:spTree>
    <p:extLst>
      <p:ext uri="{BB962C8B-B14F-4D97-AF65-F5344CB8AC3E}">
        <p14:creationId xmlns:p14="http://schemas.microsoft.com/office/powerpoint/2010/main" val="2513850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29488" y="739775"/>
            <a:ext cx="2016125" cy="5302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81113" y="739775"/>
            <a:ext cx="5895975" cy="5302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64ED84E4-8E28-42AC-A099-A2F0979E5CB2}" type="slidenum">
              <a:rPr lang="en-GB" altLang="en-US"/>
              <a:pPr/>
              <a:t>‹#›</a:t>
            </a:fld>
            <a:endParaRPr lang="en-GB" altLang="en-US"/>
          </a:p>
        </p:txBody>
      </p:sp>
    </p:spTree>
    <p:extLst>
      <p:ext uri="{BB962C8B-B14F-4D97-AF65-F5344CB8AC3E}">
        <p14:creationId xmlns:p14="http://schemas.microsoft.com/office/powerpoint/2010/main" val="1542388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386012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87324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907628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240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9188" y="2408238"/>
            <a:ext cx="22256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09846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2154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6166034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666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41024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373217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713289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05450" y="1184275"/>
            <a:ext cx="1406525"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03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818185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22982046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12940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284891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113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46488" y="2408238"/>
            <a:ext cx="22129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793041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34356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84828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34824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406891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233820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472487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05450" y="1184275"/>
            <a:ext cx="1406525"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03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575213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5677035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67523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146520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0662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41725" y="2408238"/>
            <a:ext cx="2208213"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26975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718586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752703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59170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549508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060047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417430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11800" y="1184275"/>
            <a:ext cx="1408113"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670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961393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273213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664063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114674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240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9188" y="2408238"/>
            <a:ext cx="22256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433010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786928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771321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90211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173126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01889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698916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18150" y="1184275"/>
            <a:ext cx="1411288"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830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085917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92510822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9932897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2983759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16150"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1250" y="2408238"/>
            <a:ext cx="2216150"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090998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435874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971970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33632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343730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9914302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428402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16563" y="1184275"/>
            <a:ext cx="1411287"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81463"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565389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3A0000"/>
            </a:gs>
            <a:gs pos="100000">
              <a:srgbClr val="870052"/>
            </a:gs>
          </a:gsLst>
          <a:lin ang="2700000" scaled="1"/>
        </a:gradFill>
        <a:effectLst/>
      </p:bgPr>
    </p:bg>
    <p:spTree>
      <p:nvGrpSpPr>
        <p:cNvPr id="1" name=""/>
        <p:cNvGrpSpPr/>
        <p:nvPr/>
      </p:nvGrpSpPr>
      <p:grpSpPr>
        <a:xfrm>
          <a:off x="0" y="0"/>
          <a:ext cx="0" cy="0"/>
          <a:chOff x="0" y="0"/>
          <a:chExt cx="0" cy="0"/>
        </a:xfrm>
      </p:grpSpPr>
      <p:pic>
        <p:nvPicPr>
          <p:cNvPr id="4" name="Picture 6" descr="Ribbon Alon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itle Placeholder 1"/>
          <p:cNvSpPr>
            <a:spLocks noGrp="1"/>
          </p:cNvSpPr>
          <p:nvPr>
            <p:ph type="ctrTitle"/>
          </p:nvPr>
        </p:nvSpPr>
        <p:spPr>
          <a:xfrm>
            <a:off x="1282700" y="1939925"/>
            <a:ext cx="6142038" cy="1470025"/>
          </a:xfrm>
        </p:spPr>
        <p:txBody>
          <a:bodyPr/>
          <a:lstStyle>
            <a:lvl1pPr>
              <a:defRPr smtClean="0">
                <a:solidFill>
                  <a:schemeClr val="bg1"/>
                </a:solidFill>
              </a:defRPr>
            </a:lvl1pPr>
          </a:lstStyle>
          <a:p>
            <a:r>
              <a:rPr lang="en-GB" smtClean="0"/>
              <a:t>Click to edit Master title style</a:t>
            </a:r>
          </a:p>
        </p:txBody>
      </p:sp>
      <p:sp>
        <p:nvSpPr>
          <p:cNvPr id="47114" name="Text Placeholder 2"/>
          <p:cNvSpPr>
            <a:spLocks noGrp="1"/>
          </p:cNvSpPr>
          <p:nvPr>
            <p:ph type="subTitle" idx="1"/>
          </p:nvPr>
        </p:nvSpPr>
        <p:spPr>
          <a:xfrm>
            <a:off x="1282700" y="3562350"/>
            <a:ext cx="6142038" cy="1752600"/>
          </a:xfrm>
        </p:spPr>
        <p:txBody>
          <a:bodyPr/>
          <a:lstStyle>
            <a:lvl1pPr>
              <a:defRPr smtClean="0">
                <a:solidFill>
                  <a:schemeClr val="bg1"/>
                </a:solidFill>
              </a:defRPr>
            </a:lvl1pPr>
          </a:lstStyle>
          <a:p>
            <a:r>
              <a:rPr lang="en-GB" smtClean="0"/>
              <a:t>Click to edit Master subtitle style</a:t>
            </a:r>
          </a:p>
        </p:txBody>
      </p:sp>
    </p:spTree>
    <p:extLst>
      <p:ext uri="{BB962C8B-B14F-4D97-AF65-F5344CB8AC3E}">
        <p14:creationId xmlns:p14="http://schemas.microsoft.com/office/powerpoint/2010/main" val="11210615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F31C2BE0-F9FA-4099-9ED2-6F127D0AEDAF}" type="slidenum">
              <a:rPr lang="en-GB" altLang="en-US"/>
              <a:pPr/>
              <a:t>‹#›</a:t>
            </a:fld>
            <a:endParaRPr lang="en-GB" altLang="en-US"/>
          </a:p>
        </p:txBody>
      </p:sp>
    </p:spTree>
    <p:extLst>
      <p:ext uri="{BB962C8B-B14F-4D97-AF65-F5344CB8AC3E}">
        <p14:creationId xmlns:p14="http://schemas.microsoft.com/office/powerpoint/2010/main" val="17483428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5"/>
          <p:cNvSpPr>
            <a:spLocks noGrp="1"/>
          </p:cNvSpPr>
          <p:nvPr>
            <p:ph type="sldNum" sz="quarter" idx="10"/>
          </p:nvPr>
        </p:nvSpPr>
        <p:spPr>
          <a:ln/>
        </p:spPr>
        <p:txBody>
          <a:bodyPr/>
          <a:lstStyle>
            <a:lvl1pPr>
              <a:defRPr/>
            </a:lvl1pPr>
          </a:lstStyle>
          <a:p>
            <a:fld id="{3B249C40-4A19-4B88-AC4B-FF125C0D6E7A}" type="slidenum">
              <a:rPr lang="en-GB" altLang="en-US"/>
              <a:pPr/>
              <a:t>‹#›</a:t>
            </a:fld>
            <a:endParaRPr lang="en-GB" altLang="en-US"/>
          </a:p>
        </p:txBody>
      </p:sp>
    </p:spTree>
    <p:extLst>
      <p:ext uri="{BB962C8B-B14F-4D97-AF65-F5344CB8AC3E}">
        <p14:creationId xmlns:p14="http://schemas.microsoft.com/office/powerpoint/2010/main" val="36960290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81113" y="1863725"/>
            <a:ext cx="3378200"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11713" y="1863725"/>
            <a:ext cx="3379787"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24DBEAC0-B1DA-47D5-995C-E3F9A3E5FC26}" type="slidenum">
              <a:rPr lang="en-GB" altLang="en-US"/>
              <a:pPr/>
              <a:t>‹#›</a:t>
            </a:fld>
            <a:endParaRPr lang="en-GB" altLang="en-US"/>
          </a:p>
        </p:txBody>
      </p:sp>
    </p:spTree>
    <p:extLst>
      <p:ext uri="{BB962C8B-B14F-4D97-AF65-F5344CB8AC3E}">
        <p14:creationId xmlns:p14="http://schemas.microsoft.com/office/powerpoint/2010/main" val="398758359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0"/>
          </p:nvPr>
        </p:nvSpPr>
        <p:spPr>
          <a:ln/>
        </p:spPr>
        <p:txBody>
          <a:bodyPr/>
          <a:lstStyle>
            <a:lvl1pPr>
              <a:defRPr/>
            </a:lvl1pPr>
          </a:lstStyle>
          <a:p>
            <a:fld id="{4044659B-1278-4816-82B2-E7F252FACAE8}" type="slidenum">
              <a:rPr lang="en-GB" altLang="en-US"/>
              <a:pPr/>
              <a:t>‹#›</a:t>
            </a:fld>
            <a:endParaRPr lang="en-GB" altLang="en-US"/>
          </a:p>
        </p:txBody>
      </p:sp>
    </p:spTree>
    <p:extLst>
      <p:ext uri="{BB962C8B-B14F-4D97-AF65-F5344CB8AC3E}">
        <p14:creationId xmlns:p14="http://schemas.microsoft.com/office/powerpoint/2010/main" val="22167929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p:cNvSpPr>
            <a:spLocks noGrp="1"/>
          </p:cNvSpPr>
          <p:nvPr>
            <p:ph type="sldNum" sz="quarter" idx="10"/>
          </p:nvPr>
        </p:nvSpPr>
        <p:spPr>
          <a:ln/>
        </p:spPr>
        <p:txBody>
          <a:bodyPr/>
          <a:lstStyle>
            <a:lvl1pPr>
              <a:defRPr/>
            </a:lvl1pPr>
          </a:lstStyle>
          <a:p>
            <a:fld id="{138B6C23-7A83-4533-80D5-A2AF86868489}" type="slidenum">
              <a:rPr lang="en-GB" altLang="en-US"/>
              <a:pPr/>
              <a:t>‹#›</a:t>
            </a:fld>
            <a:endParaRPr lang="en-GB" altLang="en-US"/>
          </a:p>
        </p:txBody>
      </p:sp>
    </p:spTree>
    <p:extLst>
      <p:ext uri="{BB962C8B-B14F-4D97-AF65-F5344CB8AC3E}">
        <p14:creationId xmlns:p14="http://schemas.microsoft.com/office/powerpoint/2010/main" val="35614417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621E6E9F-1EA6-4BDC-8B71-5A7D323C9B70}" type="slidenum">
              <a:rPr lang="en-GB" altLang="en-US"/>
              <a:pPr/>
              <a:t>‹#›</a:t>
            </a:fld>
            <a:endParaRPr lang="en-GB" altLang="en-US"/>
          </a:p>
        </p:txBody>
      </p:sp>
    </p:spTree>
    <p:extLst>
      <p:ext uri="{BB962C8B-B14F-4D97-AF65-F5344CB8AC3E}">
        <p14:creationId xmlns:p14="http://schemas.microsoft.com/office/powerpoint/2010/main" val="1921531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E63A18AD-2D2B-4272-93DF-D0583E6039C3}" type="slidenum">
              <a:rPr lang="en-GB" altLang="en-US"/>
              <a:pPr/>
              <a:t>‹#›</a:t>
            </a:fld>
            <a:endParaRPr lang="en-GB" altLang="en-US"/>
          </a:p>
        </p:txBody>
      </p:sp>
    </p:spTree>
    <p:extLst>
      <p:ext uri="{BB962C8B-B14F-4D97-AF65-F5344CB8AC3E}">
        <p14:creationId xmlns:p14="http://schemas.microsoft.com/office/powerpoint/2010/main" val="14540975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F747986E-E1A0-4144-BFCB-D11F00D12CA6}" type="slidenum">
              <a:rPr lang="en-GB" altLang="en-US"/>
              <a:pPr/>
              <a:t>‹#›</a:t>
            </a:fld>
            <a:endParaRPr lang="en-GB" altLang="en-US"/>
          </a:p>
        </p:txBody>
      </p:sp>
    </p:spTree>
    <p:extLst>
      <p:ext uri="{BB962C8B-B14F-4D97-AF65-F5344CB8AC3E}">
        <p14:creationId xmlns:p14="http://schemas.microsoft.com/office/powerpoint/2010/main" val="414102287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053ABF29-19EA-400F-919A-98E5B36D30F4}" type="slidenum">
              <a:rPr lang="en-GB" altLang="en-US"/>
              <a:pPr/>
              <a:t>‹#›</a:t>
            </a:fld>
            <a:endParaRPr lang="en-GB" altLang="en-US"/>
          </a:p>
        </p:txBody>
      </p:sp>
    </p:spTree>
    <p:extLst>
      <p:ext uri="{BB962C8B-B14F-4D97-AF65-F5344CB8AC3E}">
        <p14:creationId xmlns:p14="http://schemas.microsoft.com/office/powerpoint/2010/main" val="42490215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29488" y="739775"/>
            <a:ext cx="2016125" cy="5302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81113" y="739775"/>
            <a:ext cx="5895975" cy="5302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49027CBF-BF4F-4BD6-9050-67E3B83C159B}" type="slidenum">
              <a:rPr lang="en-GB" altLang="en-US"/>
              <a:pPr/>
              <a:t>‹#›</a:t>
            </a:fld>
            <a:endParaRPr lang="en-GB" altLang="en-US"/>
          </a:p>
        </p:txBody>
      </p:sp>
    </p:spTree>
    <p:extLst>
      <p:ext uri="{BB962C8B-B14F-4D97-AF65-F5344CB8AC3E}">
        <p14:creationId xmlns:p14="http://schemas.microsoft.com/office/powerpoint/2010/main" val="259942427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15"/>
          <p:cNvSpPr/>
          <p:nvPr userDrawn="1"/>
        </p:nvSpPr>
        <p:spPr>
          <a:xfrm>
            <a:off x="0" y="0"/>
            <a:ext cx="9906000" cy="6858000"/>
          </a:xfrm>
          <a:prstGeom prst="rect">
            <a:avLst/>
          </a:prstGeom>
          <a:gradFill>
            <a:gsLst>
              <a:gs pos="0">
                <a:srgbClr val="0E5CA2"/>
              </a:gs>
              <a:gs pos="35000">
                <a:srgbClr val="00164C">
                  <a:lumMod val="10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en-US">
              <a:solidFill>
                <a:srgbClr val="FFFFFF"/>
              </a:solidFill>
              <a:latin typeface="Adobe Fangsong Std R" pitchFamily="18" charset="-128"/>
            </a:endParaRPr>
          </a:p>
        </p:txBody>
      </p:sp>
      <p:pic>
        <p:nvPicPr>
          <p:cNvPr id="5" name="Picture 11" descr="QNB_brandflag_ppt-titl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311150"/>
            <a:ext cx="2613025" cy="623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Title Placeholder 1"/>
          <p:cNvSpPr>
            <a:spLocks noGrp="1"/>
          </p:cNvSpPr>
          <p:nvPr>
            <p:ph type="ctrTitle"/>
          </p:nvPr>
        </p:nvSpPr>
        <p:spPr>
          <a:xfrm>
            <a:off x="3446463" y="2170113"/>
            <a:ext cx="5886450" cy="1470025"/>
          </a:xfrm>
        </p:spPr>
        <p:txBody>
          <a:bodyPr anchor="b"/>
          <a:lstStyle>
            <a:lvl1pPr>
              <a:defRPr sz="2600" smtClean="0">
                <a:solidFill>
                  <a:schemeClr val="bg1"/>
                </a:solidFill>
              </a:defRPr>
            </a:lvl1pPr>
          </a:lstStyle>
          <a:p>
            <a:r>
              <a:rPr lang="en-US" smtClean="0"/>
              <a:t>Click to edit Master title style</a:t>
            </a:r>
          </a:p>
        </p:txBody>
      </p:sp>
      <p:sp>
        <p:nvSpPr>
          <p:cNvPr id="35843" name="Text Placeholder 2"/>
          <p:cNvSpPr>
            <a:spLocks noGrp="1"/>
          </p:cNvSpPr>
          <p:nvPr>
            <p:ph type="subTitle" idx="1"/>
          </p:nvPr>
        </p:nvSpPr>
        <p:spPr>
          <a:xfrm>
            <a:off x="3446463" y="3925888"/>
            <a:ext cx="5886450" cy="1752600"/>
          </a:xfrm>
        </p:spPr>
        <p:txBody>
          <a:bodyPr/>
          <a:lstStyle>
            <a:lvl1pPr>
              <a:defRPr sz="1600" smtClean="0">
                <a:solidFill>
                  <a:schemeClr val="bg1"/>
                </a:solidFill>
              </a:defRPr>
            </a:lvl1pPr>
          </a:lstStyle>
          <a:p>
            <a:r>
              <a:rPr lang="en-US" smtClean="0"/>
              <a:t>Click to edit Master subtitle style</a:t>
            </a:r>
          </a:p>
        </p:txBody>
      </p:sp>
    </p:spTree>
    <p:extLst>
      <p:ext uri="{BB962C8B-B14F-4D97-AF65-F5344CB8AC3E}">
        <p14:creationId xmlns:p14="http://schemas.microsoft.com/office/powerpoint/2010/main" val="64488618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a:ln/>
        </p:spPr>
        <p:txBody>
          <a:bodyPr/>
          <a:lstStyle>
            <a:lvl1pPr>
              <a:defRPr/>
            </a:lvl1pPr>
          </a:lstStyle>
          <a:p>
            <a:fld id="{619DD51E-23C3-4AB3-B9A1-A43F0E8D019A}" type="slidenum">
              <a:rPr lang="en-US" altLang="en-US"/>
              <a:pPr/>
              <a:t>‹#›</a:t>
            </a:fld>
            <a:endParaRPr lang="en-US" altLang="en-US"/>
          </a:p>
        </p:txBody>
      </p:sp>
    </p:spTree>
    <p:extLst>
      <p:ext uri="{BB962C8B-B14F-4D97-AF65-F5344CB8AC3E}">
        <p14:creationId xmlns:p14="http://schemas.microsoft.com/office/powerpoint/2010/main" val="200791917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1"/>
          <p:cNvSpPr>
            <a:spLocks noGrp="1"/>
          </p:cNvSpPr>
          <p:nvPr>
            <p:ph type="title"/>
          </p:nvPr>
        </p:nvSpPr>
        <p:spPr>
          <a:xfrm>
            <a:off x="1280592" y="692696"/>
            <a:ext cx="7920880" cy="1012974"/>
          </a:xfrm>
        </p:spPr>
        <p:txBody>
          <a:bodyPr>
            <a:normAutofit/>
          </a:bodyPr>
          <a:lstStyle>
            <a:lvl1pPr>
              <a:defRPr sz="2200"/>
            </a:lvl1pPr>
          </a:lstStyle>
          <a:p>
            <a:r>
              <a:rPr lang="en-US" smtClean="0"/>
              <a:t>Click to edit Master title style</a:t>
            </a:r>
            <a:endParaRPr lang="en-US" dirty="0"/>
          </a:p>
        </p:txBody>
      </p:sp>
      <p:sp>
        <p:nvSpPr>
          <p:cNvPr id="3" name="Content Placeholder 2"/>
          <p:cNvSpPr>
            <a:spLocks noGrp="1"/>
          </p:cNvSpPr>
          <p:nvPr>
            <p:ph idx="1"/>
          </p:nvPr>
        </p:nvSpPr>
        <p:spPr>
          <a:xfrm>
            <a:off x="1280592" y="1816225"/>
            <a:ext cx="4752528" cy="3917031"/>
          </a:xfrm>
        </p:spPr>
        <p:txBody>
          <a:bodyPr>
            <a:normAutofit/>
          </a:bodyPr>
          <a:lstStyle>
            <a:lvl1pPr marL="0" indent="0">
              <a:lnSpc>
                <a:spcPct val="90000"/>
              </a:lnSpc>
              <a:buClr>
                <a:schemeClr val="accent1"/>
              </a:buClr>
              <a:buFont typeface="Arial" pitchFamily="34" charset="0"/>
              <a:buNone/>
              <a:defRPr sz="1600"/>
            </a:lvl1pPr>
            <a:lvl2pPr marL="180975" indent="-180975">
              <a:lnSpc>
                <a:spcPct val="90000"/>
              </a:lnSpc>
              <a:buClr>
                <a:schemeClr val="accent1"/>
              </a:buClr>
              <a:defRPr sz="1600"/>
            </a:lvl2pPr>
            <a:lvl3pPr marL="357188" indent="-176213">
              <a:lnSpc>
                <a:spcPct val="90000"/>
              </a:lnSpc>
              <a:buClr>
                <a:schemeClr val="accent1"/>
              </a:buClr>
              <a:defRPr sz="1600"/>
            </a:lvl3pPr>
            <a:lvl4pPr marL="538163" indent="-180975">
              <a:lnSpc>
                <a:spcPct val="90000"/>
              </a:lnSpc>
              <a:buClr>
                <a:schemeClr val="accent1"/>
              </a:buClr>
              <a:defRPr sz="1600"/>
            </a:lvl4pPr>
            <a:lvl5pPr marL="804863" indent="-266700">
              <a:lnSpc>
                <a:spcPct val="90000"/>
              </a:lnSpc>
              <a:buClr>
                <a:schemeClr val="accent1"/>
              </a:buCl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Picture Placeholder 6"/>
          <p:cNvSpPr>
            <a:spLocks noGrp="1"/>
          </p:cNvSpPr>
          <p:nvPr>
            <p:ph type="pic" sz="quarter" idx="13"/>
          </p:nvPr>
        </p:nvSpPr>
        <p:spPr>
          <a:xfrm>
            <a:off x="6305155" y="1816225"/>
            <a:ext cx="2879998" cy="2160587"/>
          </a:xfrm>
        </p:spPr>
        <p:txBody>
          <a:bodyPr rtlCol="0">
            <a:normAutofit/>
          </a:bodyPr>
          <a:lstStyle/>
          <a:p>
            <a:pPr lvl="0"/>
            <a:endParaRPr lang="en-GB" noProof="0"/>
          </a:p>
        </p:txBody>
      </p:sp>
      <p:sp>
        <p:nvSpPr>
          <p:cNvPr id="10" name="Text Placeholder 9"/>
          <p:cNvSpPr>
            <a:spLocks noGrp="1"/>
          </p:cNvSpPr>
          <p:nvPr>
            <p:ph type="body" sz="quarter" idx="14"/>
          </p:nvPr>
        </p:nvSpPr>
        <p:spPr>
          <a:xfrm>
            <a:off x="6305155" y="4076700"/>
            <a:ext cx="2104229" cy="1223963"/>
          </a:xfrm>
        </p:spPr>
        <p:txBody>
          <a:bodyPr>
            <a:normAutofit/>
          </a:bodyPr>
          <a:lstStyle>
            <a:lvl1pPr>
              <a:lnSpc>
                <a:spcPct val="110000"/>
              </a:lnSpc>
              <a:buFontTx/>
              <a:buNone/>
              <a:defRPr sz="900" i="1"/>
            </a:lvl1pPr>
            <a:lvl2pPr marL="0" indent="0">
              <a:lnSpc>
                <a:spcPct val="110000"/>
              </a:lnSpc>
              <a:buFontTx/>
              <a:buNone/>
              <a:defRPr sz="900" i="1"/>
            </a:lvl2pPr>
            <a:lvl3pPr marL="266700" indent="0">
              <a:buFontTx/>
              <a:buNone/>
              <a:tabLst/>
              <a:defRPr/>
            </a:lvl3pPr>
            <a:lvl4pPr marL="533400" indent="0" algn="l">
              <a:buFontTx/>
              <a:buNone/>
              <a:tabLst/>
              <a:defRPr/>
            </a:lvl4pPr>
            <a:lvl5pPr marL="800100" indent="0">
              <a:buFontTx/>
              <a:buNone/>
              <a:defRPr/>
            </a:lvl5pPr>
          </a:lstStyle>
          <a:p>
            <a:pPr lvl="0"/>
            <a:r>
              <a:rPr lang="en-US" smtClean="0"/>
              <a:t>Click to edit Master text styles</a:t>
            </a:r>
          </a:p>
          <a:p>
            <a:pPr lvl="1"/>
            <a:r>
              <a:rPr lang="en-US" smtClean="0"/>
              <a:t>Second level</a:t>
            </a:r>
          </a:p>
          <a:p>
            <a:pPr lvl="1"/>
            <a:r>
              <a:rPr lang="en-US" smtClean="0"/>
              <a:t>Third level</a:t>
            </a:r>
          </a:p>
          <a:p>
            <a:pPr lvl="1"/>
            <a:r>
              <a:rPr lang="en-US" smtClean="0"/>
              <a:t>Fourth level</a:t>
            </a:r>
          </a:p>
          <a:p>
            <a:pPr lvl="1"/>
            <a:r>
              <a:rPr lang="en-US" smtClean="0"/>
              <a:t>Fifth level</a:t>
            </a:r>
            <a:endParaRPr lang="en-US" dirty="0"/>
          </a:p>
        </p:txBody>
      </p:sp>
      <p:sp>
        <p:nvSpPr>
          <p:cNvPr id="6" name="Slide Number Placeholder 5"/>
          <p:cNvSpPr>
            <a:spLocks noGrp="1"/>
          </p:cNvSpPr>
          <p:nvPr>
            <p:ph type="sldNum" sz="quarter" idx="15"/>
          </p:nvPr>
        </p:nvSpPr>
        <p:spPr>
          <a:ln/>
        </p:spPr>
        <p:txBody>
          <a:bodyPr/>
          <a:lstStyle>
            <a:lvl1pPr>
              <a:defRPr/>
            </a:lvl1pPr>
          </a:lstStyle>
          <a:p>
            <a:fld id="{17188C35-0FB0-460C-BCC6-8F1E114E3D0F}" type="slidenum">
              <a:rPr lang="en-US" altLang="en-US"/>
              <a:pPr/>
              <a:t>‹#›</a:t>
            </a:fld>
            <a:endParaRPr lang="en-US" altLang="en-US"/>
          </a:p>
        </p:txBody>
      </p:sp>
    </p:spTree>
    <p:extLst>
      <p:ext uri="{BB962C8B-B14F-4D97-AF65-F5344CB8AC3E}">
        <p14:creationId xmlns:p14="http://schemas.microsoft.com/office/powerpoint/2010/main" val="37407722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 page">
    <p:spTree>
      <p:nvGrpSpPr>
        <p:cNvPr id="1" name=""/>
        <p:cNvGrpSpPr/>
        <p:nvPr/>
      </p:nvGrpSpPr>
      <p:grpSpPr>
        <a:xfrm>
          <a:off x="0" y="0"/>
          <a:ext cx="0" cy="0"/>
          <a:chOff x="0" y="0"/>
          <a:chExt cx="0" cy="0"/>
        </a:xfrm>
      </p:grpSpPr>
      <p:sp>
        <p:nvSpPr>
          <p:cNvPr id="2" name="Title 1"/>
          <p:cNvSpPr>
            <a:spLocks noGrp="1"/>
          </p:cNvSpPr>
          <p:nvPr>
            <p:ph type="title"/>
          </p:nvPr>
        </p:nvSpPr>
        <p:spPr>
          <a:xfrm>
            <a:off x="1280592" y="692696"/>
            <a:ext cx="7920880" cy="1012974"/>
          </a:xfrm>
        </p:spPr>
        <p:txBody>
          <a:bodyPr>
            <a:normAutofit/>
          </a:bodyPr>
          <a:lstStyle>
            <a:lvl1pPr>
              <a:defRPr sz="2200"/>
            </a:lvl1pPr>
          </a:lstStyle>
          <a:p>
            <a:r>
              <a:rPr lang="en-US" smtClean="0"/>
              <a:t>Click to edit Master title style</a:t>
            </a:r>
            <a:endParaRPr lang="en-US" dirty="0"/>
          </a:p>
        </p:txBody>
      </p:sp>
      <p:sp>
        <p:nvSpPr>
          <p:cNvPr id="3" name="Content Placeholder 2"/>
          <p:cNvSpPr>
            <a:spLocks noGrp="1"/>
          </p:cNvSpPr>
          <p:nvPr>
            <p:ph idx="1"/>
          </p:nvPr>
        </p:nvSpPr>
        <p:spPr>
          <a:xfrm>
            <a:off x="1280592" y="1816225"/>
            <a:ext cx="7920880" cy="3917031"/>
          </a:xfrm>
        </p:spPr>
        <p:txBody>
          <a:bodyPr>
            <a:normAutofit/>
          </a:bodyPr>
          <a:lstStyle>
            <a:lvl1pPr marL="0" indent="0">
              <a:lnSpc>
                <a:spcPct val="90000"/>
              </a:lnSpc>
              <a:buClr>
                <a:schemeClr val="accent1"/>
              </a:buClr>
              <a:buFont typeface="Arial" pitchFamily="34" charset="0"/>
              <a:buNone/>
              <a:defRPr sz="2000"/>
            </a:lvl1pPr>
            <a:lvl2pPr marL="180975" indent="-180975">
              <a:lnSpc>
                <a:spcPct val="90000"/>
              </a:lnSpc>
              <a:buClr>
                <a:schemeClr val="accent1"/>
              </a:buClr>
              <a:defRPr sz="2000"/>
            </a:lvl2pPr>
            <a:lvl3pPr marL="357188" indent="-176213">
              <a:lnSpc>
                <a:spcPct val="90000"/>
              </a:lnSpc>
              <a:buClr>
                <a:schemeClr val="accent1"/>
              </a:buClr>
              <a:defRPr sz="2000"/>
            </a:lvl3pPr>
            <a:lvl4pPr marL="538163" indent="-180975">
              <a:lnSpc>
                <a:spcPct val="90000"/>
              </a:lnSpc>
              <a:buClr>
                <a:schemeClr val="accent1"/>
              </a:buClr>
              <a:defRPr sz="2000"/>
            </a:lvl4pPr>
            <a:lvl5pPr marL="804863" indent="-266700">
              <a:lnSpc>
                <a:spcPct val="90000"/>
              </a:lnSpc>
              <a:buClr>
                <a:schemeClr val="accent1"/>
              </a:buCl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5"/>
          <p:cNvSpPr>
            <a:spLocks noGrp="1"/>
          </p:cNvSpPr>
          <p:nvPr>
            <p:ph type="sldNum" sz="quarter" idx="10"/>
          </p:nvPr>
        </p:nvSpPr>
        <p:spPr>
          <a:ln/>
        </p:spPr>
        <p:txBody>
          <a:bodyPr/>
          <a:lstStyle>
            <a:lvl1pPr>
              <a:defRPr/>
            </a:lvl1pPr>
          </a:lstStyle>
          <a:p>
            <a:fld id="{A28D9554-2547-4096-9700-FC7086BF85C4}" type="slidenum">
              <a:rPr lang="en-US" altLang="en-US"/>
              <a:pPr/>
              <a:t>‹#›</a:t>
            </a:fld>
            <a:endParaRPr lang="en-US" altLang="en-US"/>
          </a:p>
        </p:txBody>
      </p:sp>
    </p:spTree>
    <p:extLst>
      <p:ext uri="{BB962C8B-B14F-4D97-AF65-F5344CB8AC3E}">
        <p14:creationId xmlns:p14="http://schemas.microsoft.com/office/powerpoint/2010/main" val="118342154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81113" y="739775"/>
            <a:ext cx="8064500" cy="1012825"/>
          </a:xfrm>
        </p:spPr>
        <p:txBody>
          <a:bodyPr/>
          <a:lstStyle/>
          <a:p>
            <a:r>
              <a:rPr lang="en-US"/>
              <a:t>Click to edit Master title style</a:t>
            </a:r>
          </a:p>
        </p:txBody>
      </p:sp>
      <p:sp>
        <p:nvSpPr>
          <p:cNvPr id="3" name="Text Placeholder 2"/>
          <p:cNvSpPr>
            <a:spLocks noGrp="1"/>
          </p:cNvSpPr>
          <p:nvPr>
            <p:ph type="body" sz="half" idx="1"/>
          </p:nvPr>
        </p:nvSpPr>
        <p:spPr>
          <a:xfrm>
            <a:off x="1281113" y="1863725"/>
            <a:ext cx="3956050" cy="4178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89563" y="1863725"/>
            <a:ext cx="3956050" cy="4178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04CAAD5D-647D-443E-8A1B-26E282E60D2D}" type="slidenum">
              <a:rPr lang="en-US" altLang="en-US"/>
              <a:pPr/>
              <a:t>‹#›</a:t>
            </a:fld>
            <a:endParaRPr lang="en-US" altLang="en-US"/>
          </a:p>
        </p:txBody>
      </p:sp>
    </p:spTree>
    <p:extLst>
      <p:ext uri="{BB962C8B-B14F-4D97-AF65-F5344CB8AC3E}">
        <p14:creationId xmlns:p14="http://schemas.microsoft.com/office/powerpoint/2010/main" val="25995106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8FE0A9C1-188C-468C-9958-2BB7254909C0}" type="slidenum">
              <a:rPr lang="en-US" altLang="en-US"/>
              <a:pPr/>
              <a:t>‹#›</a:t>
            </a:fld>
            <a:endParaRPr lang="en-US" altLang="en-US"/>
          </a:p>
        </p:txBody>
      </p:sp>
    </p:spTree>
    <p:extLst>
      <p:ext uri="{BB962C8B-B14F-4D97-AF65-F5344CB8AC3E}">
        <p14:creationId xmlns:p14="http://schemas.microsoft.com/office/powerpoint/2010/main" val="33915706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87338" y="258763"/>
            <a:ext cx="9331325" cy="92233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287338" y="1173163"/>
            <a:ext cx="4589462" cy="5060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1173163"/>
            <a:ext cx="4589463" cy="5060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5"/>
          <p:cNvSpPr>
            <a:spLocks noGrp="1"/>
          </p:cNvSpPr>
          <p:nvPr>
            <p:ph type="sldNum" sz="quarter" idx="10"/>
          </p:nvPr>
        </p:nvSpPr>
        <p:spPr>
          <a:ln/>
        </p:spPr>
        <p:txBody>
          <a:bodyPr/>
          <a:lstStyle>
            <a:lvl1pPr>
              <a:defRPr/>
            </a:lvl1pPr>
          </a:lstStyle>
          <a:p>
            <a:fld id="{650F40D2-581A-49F5-A8E2-DAD79D0A5D5B}" type="slidenum">
              <a:rPr lang="en-US" altLang="en-US"/>
              <a:pPr/>
              <a:t>‹#›</a:t>
            </a:fld>
            <a:endParaRPr lang="en-US" altLang="en-US"/>
          </a:p>
        </p:txBody>
      </p:sp>
    </p:spTree>
    <p:extLst>
      <p:ext uri="{BB962C8B-B14F-4D97-AF65-F5344CB8AC3E}">
        <p14:creationId xmlns:p14="http://schemas.microsoft.com/office/powerpoint/2010/main" val="11574625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7338" y="258763"/>
            <a:ext cx="9331325" cy="922337"/>
          </a:xfrm>
        </p:spPr>
        <p:txBody>
          <a:bodyPr/>
          <a:lstStyle/>
          <a:p>
            <a:r>
              <a:rPr lang="en-US" smtClean="0"/>
              <a:t>Click to edit Master title style</a:t>
            </a:r>
            <a:endParaRPr lang="en-US"/>
          </a:p>
        </p:txBody>
      </p:sp>
      <p:sp>
        <p:nvSpPr>
          <p:cNvPr id="3" name="Slide Number Placeholder 5"/>
          <p:cNvSpPr>
            <a:spLocks noGrp="1"/>
          </p:cNvSpPr>
          <p:nvPr>
            <p:ph type="sldNum" sz="quarter" idx="10"/>
          </p:nvPr>
        </p:nvSpPr>
        <p:spPr>
          <a:ln/>
        </p:spPr>
        <p:txBody>
          <a:bodyPr/>
          <a:lstStyle>
            <a:lvl1pPr>
              <a:defRPr/>
            </a:lvl1pPr>
          </a:lstStyle>
          <a:p>
            <a:fld id="{EAB92969-8876-436D-8477-9215F712A2ED}" type="slidenum">
              <a:rPr lang="en-US" altLang="en-US"/>
              <a:pPr/>
              <a:t>‹#›</a:t>
            </a:fld>
            <a:endParaRPr lang="en-US" altLang="en-US"/>
          </a:p>
        </p:txBody>
      </p:sp>
    </p:spTree>
    <p:extLst>
      <p:ext uri="{BB962C8B-B14F-4D97-AF65-F5344CB8AC3E}">
        <p14:creationId xmlns:p14="http://schemas.microsoft.com/office/powerpoint/2010/main" val="187887789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495171" y="200026"/>
            <a:ext cx="8919528" cy="86360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
        <p:nvSpPr>
          <p:cNvPr id="5" name="Text Placeholder 4"/>
          <p:cNvSpPr>
            <a:spLocks noGrp="1"/>
          </p:cNvSpPr>
          <p:nvPr>
            <p:ph type="body" sz="quarter" idx="10"/>
          </p:nvPr>
        </p:nvSpPr>
        <p:spPr>
          <a:xfrm>
            <a:off x="496462" y="1219200"/>
            <a:ext cx="8913078" cy="4724400"/>
          </a:xfrm>
          <a:prstGeom prst="rect">
            <a:avLst/>
          </a:prstGeom>
        </p:spPr>
        <p:txBody>
          <a:bodyPr/>
          <a:lstStyle>
            <a:lvl1pPr>
              <a:defRPr sz="1300" b="0"/>
            </a:lvl1pPr>
            <a:lvl2pPr>
              <a:defRPr sz="1138"/>
            </a:lvl2pPr>
            <a:lvl3pPr>
              <a:defRPr sz="975"/>
            </a:lvl3pPr>
            <a:lvl4pPr>
              <a:defRPr sz="894"/>
            </a:lvl4pPr>
            <a:lvl5pPr>
              <a:defRPr sz="894"/>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54178300"/>
      </p:ext>
    </p:extLst>
  </p:cSld>
  <p:clrMapOvr>
    <a:masterClrMapping/>
  </p:clrMapOvr>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3A0000"/>
            </a:gs>
            <a:gs pos="100000">
              <a:srgbClr val="870052"/>
            </a:gs>
          </a:gsLst>
          <a:lin ang="2700000" scaled="1"/>
        </a:gradFill>
        <a:effectLst/>
      </p:bgPr>
    </p:bg>
    <p:spTree>
      <p:nvGrpSpPr>
        <p:cNvPr id="1" name=""/>
        <p:cNvGrpSpPr/>
        <p:nvPr/>
      </p:nvGrpSpPr>
      <p:grpSpPr>
        <a:xfrm>
          <a:off x="0" y="0"/>
          <a:ext cx="0" cy="0"/>
          <a:chOff x="0" y="0"/>
          <a:chExt cx="0" cy="0"/>
        </a:xfrm>
      </p:grpSpPr>
      <p:pic>
        <p:nvPicPr>
          <p:cNvPr id="4" name="Picture 6" descr="Ribbon Alon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Title Placeholder 1"/>
          <p:cNvSpPr>
            <a:spLocks noGrp="1"/>
          </p:cNvSpPr>
          <p:nvPr>
            <p:ph type="ctrTitle"/>
          </p:nvPr>
        </p:nvSpPr>
        <p:spPr>
          <a:xfrm>
            <a:off x="1282700" y="1939925"/>
            <a:ext cx="6142038" cy="1470025"/>
          </a:xfrm>
        </p:spPr>
        <p:txBody>
          <a:bodyPr/>
          <a:lstStyle>
            <a:lvl1pPr>
              <a:defRPr smtClean="0">
                <a:solidFill>
                  <a:schemeClr val="bg1"/>
                </a:solidFill>
              </a:defRPr>
            </a:lvl1pPr>
          </a:lstStyle>
          <a:p>
            <a:r>
              <a:rPr lang="en-US" smtClean="0"/>
              <a:t>Click to edit Master title style</a:t>
            </a:r>
          </a:p>
        </p:txBody>
      </p:sp>
      <p:sp>
        <p:nvSpPr>
          <p:cNvPr id="47114" name="Text Placeholder 2"/>
          <p:cNvSpPr>
            <a:spLocks noGrp="1"/>
          </p:cNvSpPr>
          <p:nvPr>
            <p:ph type="subTitle" idx="1"/>
          </p:nvPr>
        </p:nvSpPr>
        <p:spPr>
          <a:xfrm>
            <a:off x="1282700" y="3562350"/>
            <a:ext cx="6142038" cy="1752600"/>
          </a:xfrm>
        </p:spPr>
        <p:txBody>
          <a:bodyPr/>
          <a:lstStyle>
            <a:lvl1pPr>
              <a:defRPr smtClean="0">
                <a:solidFill>
                  <a:schemeClr val="bg1"/>
                </a:solidFill>
              </a:defRPr>
            </a:lvl1pPr>
          </a:lstStyle>
          <a:p>
            <a:r>
              <a:rPr lang="en-US" smtClean="0"/>
              <a:t>Click to edit Master subtitle style</a:t>
            </a:r>
          </a:p>
        </p:txBody>
      </p:sp>
    </p:spTree>
    <p:extLst>
      <p:ext uri="{BB962C8B-B14F-4D97-AF65-F5344CB8AC3E}">
        <p14:creationId xmlns:p14="http://schemas.microsoft.com/office/powerpoint/2010/main" val="200501881"/>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9DEA4117-FAD5-4967-B6C3-79F76000617E}" type="slidenum">
              <a:rPr lang="en-US" altLang="en-US"/>
              <a:pPr/>
              <a:t>‹#›</a:t>
            </a:fld>
            <a:endParaRPr lang="en-US" altLang="en-US"/>
          </a:p>
        </p:txBody>
      </p:sp>
    </p:spTree>
    <p:extLst>
      <p:ext uri="{BB962C8B-B14F-4D97-AF65-F5344CB8AC3E}">
        <p14:creationId xmlns:p14="http://schemas.microsoft.com/office/powerpoint/2010/main" val="328818531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5"/>
          <p:cNvSpPr>
            <a:spLocks noGrp="1"/>
          </p:cNvSpPr>
          <p:nvPr>
            <p:ph type="sldNum" sz="quarter" idx="10"/>
          </p:nvPr>
        </p:nvSpPr>
        <p:spPr>
          <a:ln/>
        </p:spPr>
        <p:txBody>
          <a:bodyPr/>
          <a:lstStyle>
            <a:lvl1pPr>
              <a:defRPr/>
            </a:lvl1pPr>
          </a:lstStyle>
          <a:p>
            <a:fld id="{AEFB678A-3FE6-4E11-B144-C03CA7D8AB62}" type="slidenum">
              <a:rPr lang="en-US" altLang="en-US"/>
              <a:pPr/>
              <a:t>‹#›</a:t>
            </a:fld>
            <a:endParaRPr lang="en-US" altLang="en-US"/>
          </a:p>
        </p:txBody>
      </p:sp>
    </p:spTree>
    <p:extLst>
      <p:ext uri="{BB962C8B-B14F-4D97-AF65-F5344CB8AC3E}">
        <p14:creationId xmlns:p14="http://schemas.microsoft.com/office/powerpoint/2010/main" val="103903186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81113" y="1863725"/>
            <a:ext cx="3378200"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11713" y="1863725"/>
            <a:ext cx="3379787" cy="4178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a:ln/>
        </p:spPr>
        <p:txBody>
          <a:bodyPr/>
          <a:lstStyle>
            <a:lvl1pPr>
              <a:defRPr/>
            </a:lvl1pPr>
          </a:lstStyle>
          <a:p>
            <a:fld id="{A918B399-C5FA-48BB-AE4B-1F9EE63927DD}" type="slidenum">
              <a:rPr lang="en-US" altLang="en-US"/>
              <a:pPr/>
              <a:t>‹#›</a:t>
            </a:fld>
            <a:endParaRPr lang="en-US" altLang="en-US"/>
          </a:p>
        </p:txBody>
      </p:sp>
    </p:spTree>
    <p:extLst>
      <p:ext uri="{BB962C8B-B14F-4D97-AF65-F5344CB8AC3E}">
        <p14:creationId xmlns:p14="http://schemas.microsoft.com/office/powerpoint/2010/main" val="137977852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0"/>
          </p:nvPr>
        </p:nvSpPr>
        <p:spPr>
          <a:ln/>
        </p:spPr>
        <p:txBody>
          <a:bodyPr/>
          <a:lstStyle>
            <a:lvl1pPr>
              <a:defRPr/>
            </a:lvl1pPr>
          </a:lstStyle>
          <a:p>
            <a:fld id="{39F2B8B3-0375-467F-A4FB-8B2A23306C31}" type="slidenum">
              <a:rPr lang="en-US" altLang="en-US"/>
              <a:pPr/>
              <a:t>‹#›</a:t>
            </a:fld>
            <a:endParaRPr lang="en-US" altLang="en-US"/>
          </a:p>
        </p:txBody>
      </p:sp>
    </p:spTree>
    <p:extLst>
      <p:ext uri="{BB962C8B-B14F-4D97-AF65-F5344CB8AC3E}">
        <p14:creationId xmlns:p14="http://schemas.microsoft.com/office/powerpoint/2010/main" val="233955130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p:cNvSpPr>
            <a:spLocks noGrp="1"/>
          </p:cNvSpPr>
          <p:nvPr>
            <p:ph type="sldNum" sz="quarter" idx="10"/>
          </p:nvPr>
        </p:nvSpPr>
        <p:spPr>
          <a:ln/>
        </p:spPr>
        <p:txBody>
          <a:bodyPr/>
          <a:lstStyle>
            <a:lvl1pPr>
              <a:defRPr/>
            </a:lvl1pPr>
          </a:lstStyle>
          <a:p>
            <a:fld id="{3DF07174-2BB2-41AD-9CB8-E50D7324911C}" type="slidenum">
              <a:rPr lang="en-US" altLang="en-US"/>
              <a:pPr/>
              <a:t>‹#›</a:t>
            </a:fld>
            <a:endParaRPr lang="en-US" altLang="en-US"/>
          </a:p>
        </p:txBody>
      </p:sp>
    </p:spTree>
    <p:extLst>
      <p:ext uri="{BB962C8B-B14F-4D97-AF65-F5344CB8AC3E}">
        <p14:creationId xmlns:p14="http://schemas.microsoft.com/office/powerpoint/2010/main" val="396602574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27541214-F6BD-42C9-B10F-03FF2E5363D7}" type="slidenum">
              <a:rPr lang="en-US" altLang="en-US"/>
              <a:pPr/>
              <a:t>‹#›</a:t>
            </a:fld>
            <a:endParaRPr lang="en-US" altLang="en-US"/>
          </a:p>
        </p:txBody>
      </p:sp>
    </p:spTree>
    <p:extLst>
      <p:ext uri="{BB962C8B-B14F-4D97-AF65-F5344CB8AC3E}">
        <p14:creationId xmlns:p14="http://schemas.microsoft.com/office/powerpoint/2010/main" val="217182688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FEC920C6-7840-4559-AD23-93F0B501576A}" type="slidenum">
              <a:rPr lang="en-US" altLang="en-US"/>
              <a:pPr/>
              <a:t>‹#›</a:t>
            </a:fld>
            <a:endParaRPr lang="en-US" altLang="en-US"/>
          </a:p>
        </p:txBody>
      </p:sp>
    </p:spTree>
    <p:extLst>
      <p:ext uri="{BB962C8B-B14F-4D97-AF65-F5344CB8AC3E}">
        <p14:creationId xmlns:p14="http://schemas.microsoft.com/office/powerpoint/2010/main" val="37274714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a:ln/>
        </p:spPr>
        <p:txBody>
          <a:bodyPr/>
          <a:lstStyle>
            <a:lvl1pPr>
              <a:defRPr/>
            </a:lvl1pPr>
          </a:lstStyle>
          <a:p>
            <a:fld id="{DD237DA5-1364-433B-86FE-BE8FF24DC480}" type="slidenum">
              <a:rPr lang="en-US" altLang="en-US"/>
              <a:pPr/>
              <a:t>‹#›</a:t>
            </a:fld>
            <a:endParaRPr lang="en-US" altLang="en-US"/>
          </a:p>
        </p:txBody>
      </p:sp>
    </p:spTree>
    <p:extLst>
      <p:ext uri="{BB962C8B-B14F-4D97-AF65-F5344CB8AC3E}">
        <p14:creationId xmlns:p14="http://schemas.microsoft.com/office/powerpoint/2010/main" val="114876699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DB4C7BB6-9B8C-44C6-A0C1-83F9A4F8540D}" type="slidenum">
              <a:rPr lang="en-US" altLang="en-US"/>
              <a:pPr/>
              <a:t>‹#›</a:t>
            </a:fld>
            <a:endParaRPr lang="en-US" altLang="en-US"/>
          </a:p>
        </p:txBody>
      </p:sp>
    </p:spTree>
    <p:extLst>
      <p:ext uri="{BB962C8B-B14F-4D97-AF65-F5344CB8AC3E}">
        <p14:creationId xmlns:p14="http://schemas.microsoft.com/office/powerpoint/2010/main" val="293927783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29488" y="739775"/>
            <a:ext cx="2016125" cy="5302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81113" y="739775"/>
            <a:ext cx="5895975" cy="5302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a:ln/>
        </p:spPr>
        <p:txBody>
          <a:bodyPr/>
          <a:lstStyle>
            <a:lvl1pPr>
              <a:defRPr/>
            </a:lvl1pPr>
          </a:lstStyle>
          <a:p>
            <a:fld id="{B1D5B838-274B-423C-B81B-169E43209009}" type="slidenum">
              <a:rPr lang="en-US" altLang="en-US"/>
              <a:pPr/>
              <a:t>‹#›</a:t>
            </a:fld>
            <a:endParaRPr lang="en-US" altLang="en-US"/>
          </a:p>
        </p:txBody>
      </p:sp>
    </p:spTree>
    <p:extLst>
      <p:ext uri="{BB962C8B-B14F-4D97-AF65-F5344CB8AC3E}">
        <p14:creationId xmlns:p14="http://schemas.microsoft.com/office/powerpoint/2010/main" val="110107867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404372776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9584205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60364923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2700" y="2408238"/>
            <a:ext cx="2224088"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659188" y="2408238"/>
            <a:ext cx="2225675" cy="1530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611496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6719684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4347711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22419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2014459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3582603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800292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05450" y="1184275"/>
            <a:ext cx="1406525" cy="27543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2700" y="1184275"/>
            <a:ext cx="4070350" cy="27543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1956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3.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2.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oleObject" Target="../embeddings/oleObject1.bin"/><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ags" Target="../tags/tag2.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vmlDrawing" Target="../drawings/vmlDrawing1.vml"/><Relationship Id="rId5" Type="http://schemas.openxmlformats.org/officeDocument/2006/relationships/slideLayout" Target="../slideLayouts/slideLayout82.xml"/><Relationship Id="rId15" Type="http://schemas.openxmlformats.org/officeDocument/2006/relationships/image" Target="../media/image1.png"/><Relationship Id="rId10" Type="http://schemas.openxmlformats.org/officeDocument/2006/relationships/theme" Target="../theme/theme8.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4.emf"/></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image" Target="../media/image1.png"/><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theme" Target="../theme/theme9.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image" Target="../media/image3.png"/><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theme" Target="../theme/theme10.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87338" y="258763"/>
            <a:ext cx="933132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GB" altLang="en-US" smtClean="0"/>
          </a:p>
        </p:txBody>
      </p:sp>
      <p:sp>
        <p:nvSpPr>
          <p:cNvPr id="1027" name="Text Placeholder 2"/>
          <p:cNvSpPr>
            <a:spLocks noGrp="1"/>
          </p:cNvSpPr>
          <p:nvPr>
            <p:ph type="body" idx="1"/>
          </p:nvPr>
        </p:nvSpPr>
        <p:spPr bwMode="auto">
          <a:xfrm>
            <a:off x="287338" y="1184275"/>
            <a:ext cx="9331325"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lvl1pPr>
          </a:lstStyle>
          <a:p>
            <a:fld id="{3E806883-F982-4708-88B3-FC4C106CB7FA}" type="slidenum">
              <a:rPr lang="en-GB" altLang="en-US"/>
              <a:pPr/>
              <a:t>‹#›</a:t>
            </a:fld>
            <a:endParaRPr lang="en-GB" altLang="en-US"/>
          </a:p>
        </p:txBody>
      </p:sp>
      <p:pic>
        <p:nvPicPr>
          <p:cNvPr id="1029" name="Picture 16" descr="QNB_logo_cmyk_20mm_above_sm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6" r:id="rId1"/>
    <p:sldLayoutId id="2147490553" r:id="rId2"/>
    <p:sldLayoutId id="2147490554" r:id="rId3"/>
    <p:sldLayoutId id="2147490555" r:id="rId4"/>
    <p:sldLayoutId id="2147490556" r:id="rId5"/>
    <p:sldLayoutId id="2147490557" r:id="rId6"/>
    <p:sldLayoutId id="2147490558" r:id="rId7"/>
    <p:sldLayoutId id="2147490559" r:id="rId8"/>
    <p:sldLayoutId id="2147490560" r:id="rId9"/>
    <p:sldLayoutId id="2147490561" r:id="rId10"/>
    <p:sldLayoutId id="2147490562" r:id="rId11"/>
  </p:sldLayoutIdLst>
  <p:hf hd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chemeClr val="hlink"/>
          </a:solidFill>
          <a:latin typeface="Times New Roman" pitchFamily="18" charset="0"/>
          <a:cs typeface="Times New Roman" pitchFamily="18" charset="0"/>
        </a:defRPr>
      </a:lvl6pPr>
      <a:lvl7pPr marL="914400" algn="l" rtl="0" fontAlgn="base">
        <a:spcBef>
          <a:spcPct val="0"/>
        </a:spcBef>
        <a:spcAft>
          <a:spcPct val="0"/>
        </a:spcAft>
        <a:defRPr sz="2400">
          <a:solidFill>
            <a:schemeClr val="hlink"/>
          </a:solidFill>
          <a:latin typeface="Times New Roman" pitchFamily="18" charset="0"/>
          <a:cs typeface="Times New Roman" pitchFamily="18" charset="0"/>
        </a:defRPr>
      </a:lvl7pPr>
      <a:lvl8pPr marL="1371600" algn="l" rtl="0" fontAlgn="base">
        <a:spcBef>
          <a:spcPct val="0"/>
        </a:spcBef>
        <a:spcAft>
          <a:spcPct val="0"/>
        </a:spcAft>
        <a:defRPr sz="2400">
          <a:solidFill>
            <a:schemeClr val="hlink"/>
          </a:solidFill>
          <a:latin typeface="Times New Roman" pitchFamily="18" charset="0"/>
          <a:cs typeface="Times New Roman" pitchFamily="18" charset="0"/>
        </a:defRPr>
      </a:lvl8pPr>
      <a:lvl9pPr marL="1828800" algn="l" rtl="0" fontAlgn="base">
        <a:spcBef>
          <a:spcPct val="0"/>
        </a:spcBef>
        <a:spcAft>
          <a:spcPct val="0"/>
        </a:spcAft>
        <a:defRPr sz="2400">
          <a:solidFill>
            <a:schemeClr val="hlink"/>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Clr>
          <a:schemeClr val="tx1"/>
        </a:buClr>
        <a:buFont typeface="Times New Roman" panose="02020603050405020304" pitchFamily="18" charset="0"/>
        <a:buChar char="•"/>
        <a:defRPr sz="3200">
          <a:solidFill>
            <a:schemeClr val="tx1"/>
          </a:solidFill>
          <a:latin typeface="+mn-lt"/>
          <a:ea typeface="+mn-ea"/>
          <a:cs typeface="+mn-cs"/>
        </a:defRPr>
      </a:lvl1pPr>
      <a:lvl2pPr marL="180975" indent="-179388" algn="l" rtl="0" eaLnBrk="0" fontAlgn="base" hangingPunct="0">
        <a:lnSpc>
          <a:spcPct val="90000"/>
        </a:lnSpc>
        <a:spcBef>
          <a:spcPct val="0"/>
        </a:spcBef>
        <a:spcAft>
          <a:spcPts val="1000"/>
        </a:spcAft>
        <a:buClr>
          <a:schemeClr val="tx1"/>
        </a:buClr>
        <a:buFont typeface="Times New Roman" panose="02020603050405020304" pitchFamily="18" charset="0"/>
        <a:buChar char="•"/>
        <a:defRPr sz="2800">
          <a:solidFill>
            <a:schemeClr val="tx1"/>
          </a:solidFill>
          <a:latin typeface="+mn-lt"/>
          <a:cs typeface="+mn-cs"/>
        </a:defRPr>
      </a:lvl2pPr>
      <a:lvl3pPr marL="366713" indent="-157163" algn="l" rtl="0" eaLnBrk="0" fontAlgn="base" hangingPunct="0">
        <a:lnSpc>
          <a:spcPct val="90000"/>
        </a:lnSpc>
        <a:spcBef>
          <a:spcPct val="0"/>
        </a:spcBef>
        <a:spcAft>
          <a:spcPts val="1000"/>
        </a:spcAft>
        <a:buClr>
          <a:schemeClr val="tx1"/>
        </a:buClr>
        <a:buFont typeface="Times New Roman" panose="02020603050405020304" pitchFamily="18" charset="0"/>
        <a:buChar char="–"/>
        <a:defRPr sz="2400">
          <a:solidFill>
            <a:schemeClr val="tx1"/>
          </a:solidFill>
          <a:latin typeface="+mn-lt"/>
          <a:cs typeface="+mn-cs"/>
        </a:defRPr>
      </a:lvl3pPr>
      <a:lvl4pPr marL="585788" indent="-204788" algn="l" rtl="0" eaLnBrk="0" fontAlgn="base" hangingPunct="0">
        <a:lnSpc>
          <a:spcPct val="90000"/>
        </a:lnSpc>
        <a:spcBef>
          <a:spcPct val="0"/>
        </a:spcBef>
        <a:spcAft>
          <a:spcPts val="1000"/>
        </a:spcAft>
        <a:buClr>
          <a:schemeClr val="tx1"/>
        </a:buClr>
        <a:buFont typeface="Times New Roman" panose="02020603050405020304" pitchFamily="18" charset="0"/>
        <a:buChar char="•"/>
        <a:defRPr sz="2000">
          <a:solidFill>
            <a:schemeClr val="tx1"/>
          </a:solidFill>
          <a:latin typeface="+mn-lt"/>
          <a:cs typeface="+mn-cs"/>
        </a:defRPr>
      </a:lvl4pPr>
      <a:lvl5pPr marL="790575" indent="-185738" algn="l" rtl="0" eaLnBrk="0" fontAlgn="base" hangingPunct="0">
        <a:lnSpc>
          <a:spcPct val="90000"/>
        </a:lnSpc>
        <a:spcBef>
          <a:spcPct val="0"/>
        </a:spcBef>
        <a:spcAft>
          <a:spcPts val="1000"/>
        </a:spcAft>
        <a:buClr>
          <a:schemeClr val="tx1"/>
        </a:buClr>
        <a:buFont typeface="Times New Roman" panose="02020603050405020304" pitchFamily="18" charset="0"/>
        <a:buChar char="»"/>
        <a:defRPr sz="2000">
          <a:solidFill>
            <a:schemeClr val="tx1"/>
          </a:solidFill>
          <a:latin typeface="+mn-lt"/>
          <a:cs typeface="+mn-cs"/>
        </a:defRPr>
      </a:lvl5pPr>
      <a:lvl6pPr marL="15430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6pPr>
      <a:lvl7pPr marL="20002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7pPr>
      <a:lvl8pPr marL="24574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8pPr>
      <a:lvl9pPr marL="29146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2"/>
            </a:gs>
            <a:gs pos="100000">
              <a:schemeClr val="bg1"/>
            </a:gs>
          </a:gsLst>
          <a:lin ang="2700000" scaled="1"/>
        </a:gradFill>
        <a:effectLst/>
      </p:bgPr>
    </p:bg>
    <p:spTree>
      <p:nvGrpSpPr>
        <p:cNvPr id="1" name=""/>
        <p:cNvGrpSpPr/>
        <p:nvPr/>
      </p:nvGrpSpPr>
      <p:grpSpPr>
        <a:xfrm>
          <a:off x="0" y="0"/>
          <a:ext cx="0" cy="0"/>
          <a:chOff x="0" y="0"/>
          <a:chExt cx="0" cy="0"/>
        </a:xfrm>
      </p:grpSpPr>
      <p:pic>
        <p:nvPicPr>
          <p:cNvPr id="2050"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itle Placeholder 1"/>
          <p:cNvSpPr>
            <a:spLocks noGrp="1"/>
          </p:cNvSpPr>
          <p:nvPr>
            <p:ph type="title"/>
          </p:nvPr>
        </p:nvSpPr>
        <p:spPr bwMode="auto">
          <a:xfrm>
            <a:off x="1282700" y="1184275"/>
            <a:ext cx="56292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2052" name="Text Placeholder 2"/>
          <p:cNvSpPr>
            <a:spLocks noGrp="1"/>
          </p:cNvSpPr>
          <p:nvPr>
            <p:ph type="body" idx="1"/>
          </p:nvPr>
        </p:nvSpPr>
        <p:spPr bwMode="auto">
          <a:xfrm>
            <a:off x="1282700" y="2408238"/>
            <a:ext cx="46021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63" r:id="rId1"/>
    <p:sldLayoutId id="2147490564" r:id="rId2"/>
    <p:sldLayoutId id="2147490565" r:id="rId3"/>
    <p:sldLayoutId id="2147490566" r:id="rId4"/>
    <p:sldLayoutId id="2147490567" r:id="rId5"/>
    <p:sldLayoutId id="2147490568" r:id="rId6"/>
    <p:sldLayoutId id="2147490569" r:id="rId7"/>
    <p:sldLayoutId id="2147490570" r:id="rId8"/>
    <p:sldLayoutId id="2147490571" r:id="rId9"/>
    <p:sldLayoutId id="2147490572" r:id="rId10"/>
    <p:sldLayoutId id="2147490573" r:id="rId11"/>
  </p:sldLayoutIdLst>
  <p:hf hdr="0" dt="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accent1"/>
            </a:gs>
            <a:gs pos="100000">
              <a:schemeClr val="bg2"/>
            </a:gs>
          </a:gsLst>
          <a:lin ang="2700000" scaled="1"/>
        </a:gradFill>
        <a:effectLst/>
      </p:bgPr>
    </p:bg>
    <p:spTree>
      <p:nvGrpSpPr>
        <p:cNvPr id="1" name=""/>
        <p:cNvGrpSpPr/>
        <p:nvPr/>
      </p:nvGrpSpPr>
      <p:grpSpPr>
        <a:xfrm>
          <a:off x="0" y="0"/>
          <a:ext cx="0" cy="0"/>
          <a:chOff x="0" y="0"/>
          <a:chExt cx="0" cy="0"/>
        </a:xfrm>
      </p:grpSpPr>
      <p:pic>
        <p:nvPicPr>
          <p:cNvPr id="3074"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itle Placeholder 1"/>
          <p:cNvSpPr>
            <a:spLocks noGrp="1"/>
          </p:cNvSpPr>
          <p:nvPr>
            <p:ph type="title"/>
          </p:nvPr>
        </p:nvSpPr>
        <p:spPr bwMode="auto">
          <a:xfrm>
            <a:off x="1282700" y="1184275"/>
            <a:ext cx="56292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3076" name="Text Placeholder 2"/>
          <p:cNvSpPr>
            <a:spLocks noGrp="1"/>
          </p:cNvSpPr>
          <p:nvPr>
            <p:ph type="body" idx="1"/>
          </p:nvPr>
        </p:nvSpPr>
        <p:spPr bwMode="auto">
          <a:xfrm>
            <a:off x="1282700" y="2408238"/>
            <a:ext cx="45767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74" r:id="rId1"/>
    <p:sldLayoutId id="2147490575" r:id="rId2"/>
    <p:sldLayoutId id="2147490576" r:id="rId3"/>
    <p:sldLayoutId id="2147490577" r:id="rId4"/>
    <p:sldLayoutId id="2147490578" r:id="rId5"/>
    <p:sldLayoutId id="2147490579" r:id="rId6"/>
    <p:sldLayoutId id="2147490580" r:id="rId7"/>
    <p:sldLayoutId id="2147490581" r:id="rId8"/>
    <p:sldLayoutId id="2147490582" r:id="rId9"/>
    <p:sldLayoutId id="2147490583" r:id="rId10"/>
    <p:sldLayoutId id="2147490584" r:id="rId11"/>
  </p:sldLayoutIdLst>
  <p:hf hdr="0" dt="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accent2"/>
            </a:gs>
            <a:gs pos="100000">
              <a:srgbClr val="3A0000"/>
            </a:gs>
          </a:gsLst>
          <a:lin ang="2700000" scaled="1"/>
        </a:gradFill>
        <a:effectLst/>
      </p:bgPr>
    </p:bg>
    <p:spTree>
      <p:nvGrpSpPr>
        <p:cNvPr id="1" name=""/>
        <p:cNvGrpSpPr/>
        <p:nvPr/>
      </p:nvGrpSpPr>
      <p:grpSpPr>
        <a:xfrm>
          <a:off x="0" y="0"/>
          <a:ext cx="0" cy="0"/>
          <a:chOff x="0" y="0"/>
          <a:chExt cx="0" cy="0"/>
        </a:xfrm>
      </p:grpSpPr>
      <p:pic>
        <p:nvPicPr>
          <p:cNvPr id="4098" name="Picture 6" descr="Ribbon Alone"/>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itle Placeholder 1"/>
          <p:cNvSpPr>
            <a:spLocks noGrp="1"/>
          </p:cNvSpPr>
          <p:nvPr>
            <p:ph type="title"/>
          </p:nvPr>
        </p:nvSpPr>
        <p:spPr bwMode="auto">
          <a:xfrm>
            <a:off x="1282700" y="1184275"/>
            <a:ext cx="5637213"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4100" name="Text Placeholder 2"/>
          <p:cNvSpPr>
            <a:spLocks noGrp="1"/>
          </p:cNvSpPr>
          <p:nvPr>
            <p:ph type="body" idx="1"/>
          </p:nvPr>
        </p:nvSpPr>
        <p:spPr bwMode="auto">
          <a:xfrm>
            <a:off x="1282700" y="2408238"/>
            <a:ext cx="4567238"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85" r:id="rId1"/>
    <p:sldLayoutId id="2147490586" r:id="rId2"/>
    <p:sldLayoutId id="2147490587" r:id="rId3"/>
    <p:sldLayoutId id="2147490588" r:id="rId4"/>
    <p:sldLayoutId id="2147490589" r:id="rId5"/>
    <p:sldLayoutId id="2147490590" r:id="rId6"/>
    <p:sldLayoutId id="2147490591" r:id="rId7"/>
    <p:sldLayoutId id="2147490592" r:id="rId8"/>
    <p:sldLayoutId id="2147490593" r:id="rId9"/>
    <p:sldLayoutId id="2147490594" r:id="rId10"/>
    <p:sldLayoutId id="2147490595" r:id="rId11"/>
  </p:sldLayoutIdLst>
  <p:hf hdr="0" dt="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folHlink"/>
            </a:gs>
            <a:gs pos="100000">
              <a:schemeClr val="bg2"/>
            </a:gs>
          </a:gsLst>
          <a:lin ang="2700000" scaled="1"/>
        </a:gradFill>
        <a:effectLst/>
      </p:bgPr>
    </p:bg>
    <p:spTree>
      <p:nvGrpSpPr>
        <p:cNvPr id="1" name=""/>
        <p:cNvGrpSpPr/>
        <p:nvPr/>
      </p:nvGrpSpPr>
      <p:grpSpPr>
        <a:xfrm>
          <a:off x="0" y="0"/>
          <a:ext cx="0" cy="0"/>
          <a:chOff x="0" y="0"/>
          <a:chExt cx="0" cy="0"/>
        </a:xfrm>
      </p:grpSpPr>
      <p:pic>
        <p:nvPicPr>
          <p:cNvPr id="5122"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itle Placeholder 1"/>
          <p:cNvSpPr>
            <a:spLocks noGrp="1"/>
          </p:cNvSpPr>
          <p:nvPr>
            <p:ph type="title"/>
          </p:nvPr>
        </p:nvSpPr>
        <p:spPr bwMode="auto">
          <a:xfrm>
            <a:off x="1282700" y="1184275"/>
            <a:ext cx="5646738"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5124" name="Text Placeholder 2"/>
          <p:cNvSpPr>
            <a:spLocks noGrp="1"/>
          </p:cNvSpPr>
          <p:nvPr>
            <p:ph type="body" idx="1"/>
          </p:nvPr>
        </p:nvSpPr>
        <p:spPr bwMode="auto">
          <a:xfrm>
            <a:off x="1282700" y="2408238"/>
            <a:ext cx="46021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596" r:id="rId1"/>
    <p:sldLayoutId id="2147490597" r:id="rId2"/>
    <p:sldLayoutId id="2147490598" r:id="rId3"/>
    <p:sldLayoutId id="2147490599" r:id="rId4"/>
    <p:sldLayoutId id="2147490600" r:id="rId5"/>
    <p:sldLayoutId id="2147490601" r:id="rId6"/>
    <p:sldLayoutId id="2147490602" r:id="rId7"/>
    <p:sldLayoutId id="2147490603" r:id="rId8"/>
    <p:sldLayoutId id="2147490604" r:id="rId9"/>
    <p:sldLayoutId id="2147490605" r:id="rId10"/>
    <p:sldLayoutId id="2147490606" r:id="rId11"/>
  </p:sldLayoutIdLst>
  <p:hf hdr="0" dt="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accent1"/>
            </a:gs>
            <a:gs pos="100000">
              <a:schemeClr val="accent2"/>
            </a:gs>
          </a:gsLst>
          <a:lin ang="2700000" scaled="1"/>
        </a:gradFill>
        <a:effectLst/>
      </p:bgPr>
    </p:bg>
    <p:spTree>
      <p:nvGrpSpPr>
        <p:cNvPr id="1" name=""/>
        <p:cNvGrpSpPr/>
        <p:nvPr/>
      </p:nvGrpSpPr>
      <p:grpSpPr>
        <a:xfrm>
          <a:off x="0" y="0"/>
          <a:ext cx="0" cy="0"/>
          <a:chOff x="0" y="0"/>
          <a:chExt cx="0" cy="0"/>
        </a:xfrm>
      </p:grpSpPr>
      <p:pic>
        <p:nvPicPr>
          <p:cNvPr id="6146" name="Picture 6" descr="Ribbon Alone"/>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7880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itle Placeholder 1"/>
          <p:cNvSpPr>
            <a:spLocks noGrp="1"/>
          </p:cNvSpPr>
          <p:nvPr>
            <p:ph type="title"/>
          </p:nvPr>
        </p:nvSpPr>
        <p:spPr bwMode="auto">
          <a:xfrm>
            <a:off x="1282700" y="1184275"/>
            <a:ext cx="564515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endParaRPr lang="en-GB" altLang="en-US" smtClean="0"/>
          </a:p>
        </p:txBody>
      </p:sp>
      <p:sp>
        <p:nvSpPr>
          <p:cNvPr id="6148" name="Text Placeholder 2"/>
          <p:cNvSpPr>
            <a:spLocks noGrp="1"/>
          </p:cNvSpPr>
          <p:nvPr>
            <p:ph type="body" idx="1"/>
          </p:nvPr>
        </p:nvSpPr>
        <p:spPr bwMode="auto">
          <a:xfrm>
            <a:off x="1282700" y="2408238"/>
            <a:ext cx="45847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Tree>
  </p:cSld>
  <p:clrMap bg1="lt1" tx1="dk1" bg2="lt2" tx2="dk2" accent1="accent1" accent2="accent2" accent3="accent3" accent4="accent4" accent5="accent5" accent6="accent6" hlink="hlink" folHlink="folHlink"/>
  <p:sldLayoutIdLst>
    <p:sldLayoutId id="2147490607" r:id="rId1"/>
    <p:sldLayoutId id="2147490608" r:id="rId2"/>
    <p:sldLayoutId id="2147490609" r:id="rId3"/>
    <p:sldLayoutId id="2147490610" r:id="rId4"/>
    <p:sldLayoutId id="2147490611" r:id="rId5"/>
    <p:sldLayoutId id="2147490612" r:id="rId6"/>
    <p:sldLayoutId id="2147490613" r:id="rId7"/>
    <p:sldLayoutId id="2147490614" r:id="rId8"/>
    <p:sldLayoutId id="2147490615" r:id="rId9"/>
    <p:sldLayoutId id="2147490616" r:id="rId10"/>
    <p:sldLayoutId id="2147490617" r:id="rId11"/>
  </p:sldLayoutIdLst>
  <p:hf hdr="0" dt="0"/>
  <p:txStyles>
    <p:titleStyle>
      <a:lvl1pPr algn="l" rtl="0" eaLnBrk="0" fontAlgn="base" hangingPunct="0">
        <a:spcBef>
          <a:spcPct val="0"/>
        </a:spcBef>
        <a:spcAft>
          <a:spcPct val="0"/>
        </a:spcAft>
        <a:defRPr sz="2400">
          <a:solidFill>
            <a:schemeClr val="bg1"/>
          </a:solidFill>
          <a:latin typeface="+mj-lt"/>
          <a:ea typeface="+mj-ea"/>
          <a:cs typeface="+mj-cs"/>
        </a:defRPr>
      </a:lvl1pPr>
      <a:lvl2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bg1"/>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bg1"/>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bg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287338" y="258763"/>
            <a:ext cx="933132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GB" altLang="en-US" smtClean="0"/>
          </a:p>
        </p:txBody>
      </p:sp>
      <p:sp>
        <p:nvSpPr>
          <p:cNvPr id="7171" name="Text Placeholder 2"/>
          <p:cNvSpPr>
            <a:spLocks noGrp="1"/>
          </p:cNvSpPr>
          <p:nvPr>
            <p:ph type="body" idx="1"/>
          </p:nvPr>
        </p:nvSpPr>
        <p:spPr bwMode="auto">
          <a:xfrm>
            <a:off x="287338" y="1184275"/>
            <a:ext cx="9331325"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solidFill>
                  <a:srgbClr val="000000"/>
                </a:solidFill>
              </a:defRPr>
            </a:lvl1pPr>
          </a:lstStyle>
          <a:p>
            <a:fld id="{F82CC80E-BA27-46A3-92DB-0AF77C96B4B4}" type="slidenum">
              <a:rPr lang="en-GB" altLang="en-US"/>
              <a:pPr/>
              <a:t>‹#›</a:t>
            </a:fld>
            <a:endParaRPr lang="en-GB" altLang="en-US"/>
          </a:p>
        </p:txBody>
      </p:sp>
      <p:pic>
        <p:nvPicPr>
          <p:cNvPr id="7173" name="Picture 16" descr="QNB_logo_cmyk_20mm_above_sm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7" r:id="rId1"/>
    <p:sldLayoutId id="2147490618" r:id="rId2"/>
    <p:sldLayoutId id="2147490619" r:id="rId3"/>
    <p:sldLayoutId id="2147490620" r:id="rId4"/>
    <p:sldLayoutId id="2147490621" r:id="rId5"/>
    <p:sldLayoutId id="2147490622" r:id="rId6"/>
    <p:sldLayoutId id="2147490623" r:id="rId7"/>
    <p:sldLayoutId id="2147490624" r:id="rId8"/>
    <p:sldLayoutId id="2147490625" r:id="rId9"/>
    <p:sldLayoutId id="2147490626" r:id="rId10"/>
    <p:sldLayoutId id="2147490627" r:id="rId11"/>
  </p:sldLayoutIdLst>
  <p:hf hd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chemeClr val="hlink"/>
          </a:solidFill>
          <a:latin typeface="Times New Roman" pitchFamily="18" charset="0"/>
          <a:cs typeface="Times New Roman" pitchFamily="18" charset="0"/>
        </a:defRPr>
      </a:lvl6pPr>
      <a:lvl7pPr marL="914400" algn="l" rtl="0" fontAlgn="base">
        <a:spcBef>
          <a:spcPct val="0"/>
        </a:spcBef>
        <a:spcAft>
          <a:spcPct val="0"/>
        </a:spcAft>
        <a:defRPr sz="2400">
          <a:solidFill>
            <a:schemeClr val="hlink"/>
          </a:solidFill>
          <a:latin typeface="Times New Roman" pitchFamily="18" charset="0"/>
          <a:cs typeface="Times New Roman" pitchFamily="18" charset="0"/>
        </a:defRPr>
      </a:lvl7pPr>
      <a:lvl8pPr marL="1371600" algn="l" rtl="0" fontAlgn="base">
        <a:spcBef>
          <a:spcPct val="0"/>
        </a:spcBef>
        <a:spcAft>
          <a:spcPct val="0"/>
        </a:spcAft>
        <a:defRPr sz="2400">
          <a:solidFill>
            <a:schemeClr val="hlink"/>
          </a:solidFill>
          <a:latin typeface="Times New Roman" pitchFamily="18" charset="0"/>
          <a:cs typeface="Times New Roman" pitchFamily="18" charset="0"/>
        </a:defRPr>
      </a:lvl8pPr>
      <a:lvl9pPr marL="1828800" algn="l" rtl="0" fontAlgn="base">
        <a:spcBef>
          <a:spcPct val="0"/>
        </a:spcBef>
        <a:spcAft>
          <a:spcPct val="0"/>
        </a:spcAft>
        <a:defRPr sz="2400">
          <a:solidFill>
            <a:schemeClr val="hlink"/>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Clr>
          <a:schemeClr val="tx1"/>
        </a:buClr>
        <a:buFont typeface="Times New Roman" panose="02020603050405020304" pitchFamily="18" charset="0"/>
        <a:defRPr>
          <a:solidFill>
            <a:schemeClr val="tx1"/>
          </a:solidFill>
          <a:latin typeface="+mn-lt"/>
          <a:ea typeface="+mn-ea"/>
          <a:cs typeface="+mn-cs"/>
        </a:defRPr>
      </a:lvl1pPr>
      <a:lvl2pPr marL="180975" indent="-1793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2pPr>
      <a:lvl3pPr marL="366713" indent="-157163"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3pPr>
      <a:lvl4pPr marL="585788" indent="-2047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4pPr>
      <a:lvl5pPr marL="790575" indent="-18573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5pPr>
      <a:lvl6pPr marL="15430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6pPr>
      <a:lvl7pPr marL="20002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7pPr>
      <a:lvl8pPr marL="24574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8pPr>
      <a:lvl9pPr marL="29146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2"/>
            </p:custDataLst>
            <p:extLst>
              <p:ext uri="{D42A27DB-BD31-4B8C-83A1-F6EECF244321}">
                <p14:modId xmlns:p14="http://schemas.microsoft.com/office/powerpoint/2010/main" val="330698429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248" name="think-cell Slide" r:id="rId13" imgW="270" imgH="270" progId="TCLayout.ActiveDocument.1">
                  <p:embed/>
                </p:oleObj>
              </mc:Choice>
              <mc:Fallback>
                <p:oleObj name="think-cell Slide" r:id="rId13" imgW="270" imgH="270" progId="TCLayout.ActiveDocument.1">
                  <p:embed/>
                  <p:pic>
                    <p:nvPicPr>
                      <p:cNvPr id="0" name=""/>
                      <p:cNvPicPr/>
                      <p:nvPr/>
                    </p:nvPicPr>
                    <p:blipFill>
                      <a:blip r:embed="rId14"/>
                      <a:stretch>
                        <a:fillRect/>
                      </a:stretch>
                    </p:blipFill>
                    <p:spPr>
                      <a:xfrm>
                        <a:off x="1588" y="1588"/>
                        <a:ext cx="1587" cy="1587"/>
                      </a:xfrm>
                      <a:prstGeom prst="rect">
                        <a:avLst/>
                      </a:prstGeom>
                    </p:spPr>
                  </p:pic>
                </p:oleObj>
              </mc:Fallback>
            </mc:AlternateContent>
          </a:graphicData>
        </a:graphic>
      </p:graphicFrame>
      <p:sp>
        <p:nvSpPr>
          <p:cNvPr id="8194" name="Title Placeholder 1"/>
          <p:cNvSpPr>
            <a:spLocks noGrp="1"/>
          </p:cNvSpPr>
          <p:nvPr>
            <p:ph type="title"/>
          </p:nvPr>
        </p:nvSpPr>
        <p:spPr bwMode="auto">
          <a:xfrm>
            <a:off x="287338" y="258763"/>
            <a:ext cx="93313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8195" name="Text Placeholder 2"/>
          <p:cNvSpPr>
            <a:spLocks noGrp="1"/>
          </p:cNvSpPr>
          <p:nvPr>
            <p:ph type="body" idx="1"/>
          </p:nvPr>
        </p:nvSpPr>
        <p:spPr bwMode="auto">
          <a:xfrm>
            <a:off x="287338" y="1173163"/>
            <a:ext cx="9331325" cy="506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solidFill>
                  <a:srgbClr val="000000"/>
                </a:solidFill>
              </a:defRPr>
            </a:lvl1pPr>
          </a:lstStyle>
          <a:p>
            <a:fld id="{9D1B27E6-2CC6-4E84-80EA-CC654075544D}" type="slidenum">
              <a:rPr lang="en-US" altLang="en-US"/>
              <a:pPr/>
              <a:t>‹#›</a:t>
            </a:fld>
            <a:endParaRPr lang="en-US" altLang="en-US"/>
          </a:p>
        </p:txBody>
      </p:sp>
      <p:pic>
        <p:nvPicPr>
          <p:cNvPr id="8197" name="Picture 9" descr="QNB_logo_cmyk_20mm_above_sml"/>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8" r:id="rId1"/>
    <p:sldLayoutId id="2147490628" r:id="rId2"/>
    <p:sldLayoutId id="2147490629" r:id="rId3"/>
    <p:sldLayoutId id="2147490630" r:id="rId4"/>
    <p:sldLayoutId id="2147490631" r:id="rId5"/>
    <p:sldLayoutId id="2147490632" r:id="rId6"/>
    <p:sldLayoutId id="2147490633" r:id="rId7"/>
    <p:sldLayoutId id="2147490634" r:id="rId8"/>
    <p:sldLayoutId id="2147490660" r:id="rId9"/>
  </p:sldLayoutIdLst>
  <p:hf hdr="0" dt="0"/>
  <p:txStyles>
    <p:titleStyle>
      <a:lvl1pPr algn="l" rtl="0" eaLnBrk="0" fontAlgn="base" hangingPunct="0">
        <a:lnSpc>
          <a:spcPct val="90000"/>
        </a:lnSpc>
        <a:spcBef>
          <a:spcPct val="0"/>
        </a:spcBef>
        <a:spcAft>
          <a:spcPct val="0"/>
        </a:spcAft>
        <a:defRPr sz="2200" kern="1200">
          <a:solidFill>
            <a:schemeClr val="tx2"/>
          </a:solidFill>
          <a:latin typeface="Times New Roman" pitchFamily="18" charset="0"/>
          <a:ea typeface="+mj-ea"/>
          <a:cs typeface="Times New Roman" pitchFamily="18" charset="0"/>
        </a:defRPr>
      </a:lvl1pPr>
      <a:lvl2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rgbClr val="116FC4"/>
          </a:solidFill>
          <a:latin typeface="Times New Roman" pitchFamily="18" charset="0"/>
          <a:cs typeface="Times New Roman" pitchFamily="18" charset="0"/>
        </a:defRPr>
      </a:lvl6pPr>
      <a:lvl7pPr marL="914400" algn="l" rtl="0" fontAlgn="base">
        <a:spcBef>
          <a:spcPct val="0"/>
        </a:spcBef>
        <a:spcAft>
          <a:spcPct val="0"/>
        </a:spcAft>
        <a:defRPr sz="2400">
          <a:solidFill>
            <a:srgbClr val="116FC4"/>
          </a:solidFill>
          <a:latin typeface="Times New Roman" pitchFamily="18" charset="0"/>
          <a:cs typeface="Times New Roman" pitchFamily="18" charset="0"/>
        </a:defRPr>
      </a:lvl7pPr>
      <a:lvl8pPr marL="1371600" algn="l" rtl="0" fontAlgn="base">
        <a:spcBef>
          <a:spcPct val="0"/>
        </a:spcBef>
        <a:spcAft>
          <a:spcPct val="0"/>
        </a:spcAft>
        <a:defRPr sz="2400">
          <a:solidFill>
            <a:srgbClr val="116FC4"/>
          </a:solidFill>
          <a:latin typeface="Times New Roman" pitchFamily="18" charset="0"/>
          <a:cs typeface="Times New Roman" pitchFamily="18" charset="0"/>
        </a:defRPr>
      </a:lvl8pPr>
      <a:lvl9pPr marL="1828800" algn="l" rtl="0" fontAlgn="base">
        <a:spcBef>
          <a:spcPct val="0"/>
        </a:spcBef>
        <a:spcAft>
          <a:spcPct val="0"/>
        </a:spcAft>
        <a:defRPr sz="2400">
          <a:solidFill>
            <a:srgbClr val="116FC4"/>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60000"/>
        </a:spcBef>
        <a:spcAft>
          <a:spcPct val="0"/>
        </a:spcAft>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1pPr>
      <a:lvl2pPr marL="95250" indent="-9366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2pPr>
      <a:lvl3pPr marL="238125" indent="-125413"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3pPr>
      <a:lvl4pPr marL="352425" indent="-109538"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4pPr>
      <a:lvl5pPr marL="479425" indent="-117475" algn="l" rtl="0" eaLnBrk="0" fontAlgn="base" hangingPunct="0">
        <a:lnSpc>
          <a:spcPct val="90000"/>
        </a:lnSpc>
        <a:spcBef>
          <a:spcPct val="30000"/>
        </a:spcBef>
        <a:spcAft>
          <a:spcPct val="0"/>
        </a:spcAft>
        <a:buClr>
          <a:schemeClr val="tx1"/>
        </a:buClr>
        <a:buFont typeface="Times New Roman" panose="02020603050405020304" pitchFamily="18" charset="0"/>
        <a:buChar char="»"/>
        <a:defRPr sz="12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287338" y="258763"/>
            <a:ext cx="9331325"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9219" name="Text Placeholder 2"/>
          <p:cNvSpPr>
            <a:spLocks noGrp="1"/>
          </p:cNvSpPr>
          <p:nvPr>
            <p:ph type="body" idx="1"/>
          </p:nvPr>
        </p:nvSpPr>
        <p:spPr bwMode="auto">
          <a:xfrm>
            <a:off x="287338" y="1184275"/>
            <a:ext cx="9331325"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 name="Slide Number Placeholder 5"/>
          <p:cNvSpPr>
            <a:spLocks noGrp="1"/>
          </p:cNvSpPr>
          <p:nvPr>
            <p:ph type="sldNum" sz="quarter" idx="4"/>
          </p:nvPr>
        </p:nvSpPr>
        <p:spPr bwMode="auto">
          <a:xfrm>
            <a:off x="9178925" y="6392863"/>
            <a:ext cx="439738" cy="2794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a:solidFill>
                  <a:srgbClr val="000000"/>
                </a:solidFill>
              </a:defRPr>
            </a:lvl1pPr>
          </a:lstStyle>
          <a:p>
            <a:fld id="{156E4B01-9AE4-40E5-8FB6-EFD85B9CC52B}" type="slidenum">
              <a:rPr lang="en-US" altLang="en-US"/>
              <a:pPr/>
              <a:t>‹#›</a:t>
            </a:fld>
            <a:endParaRPr lang="en-US" altLang="en-US"/>
          </a:p>
        </p:txBody>
      </p:sp>
      <p:pic>
        <p:nvPicPr>
          <p:cNvPr id="9221" name="Picture 16" descr="QNB_logo_cmyk_20mm_above_sm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76225" y="6386513"/>
            <a:ext cx="998538"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0659" r:id="rId1"/>
    <p:sldLayoutId id="2147490635" r:id="rId2"/>
    <p:sldLayoutId id="2147490636" r:id="rId3"/>
    <p:sldLayoutId id="2147490637" r:id="rId4"/>
    <p:sldLayoutId id="2147490638" r:id="rId5"/>
    <p:sldLayoutId id="2147490639" r:id="rId6"/>
    <p:sldLayoutId id="2147490640" r:id="rId7"/>
    <p:sldLayoutId id="2147490641" r:id="rId8"/>
    <p:sldLayoutId id="2147490642" r:id="rId9"/>
    <p:sldLayoutId id="2147490643" r:id="rId10"/>
    <p:sldLayoutId id="2147490644" r:id="rId11"/>
  </p:sldLayoutIdLst>
  <p:hf hdr="0" dt="0"/>
  <p:txStyles>
    <p:titleStyle>
      <a:lvl1pPr algn="l" rtl="0" eaLnBrk="0" fontAlgn="base" hangingPunct="0">
        <a:lnSpc>
          <a:spcPct val="90000"/>
        </a:lnSpc>
        <a:spcBef>
          <a:spcPct val="0"/>
        </a:spcBef>
        <a:spcAft>
          <a:spcPct val="0"/>
        </a:spcAft>
        <a:defRPr sz="2600">
          <a:solidFill>
            <a:schemeClr val="tx2"/>
          </a:solidFill>
          <a:latin typeface="+mj-lt"/>
          <a:ea typeface="+mj-ea"/>
          <a:cs typeface="+mj-cs"/>
        </a:defRPr>
      </a:lvl1pPr>
      <a:lvl2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6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chemeClr val="hlink"/>
          </a:solidFill>
          <a:latin typeface="Times New Roman" pitchFamily="18" charset="0"/>
          <a:cs typeface="Times New Roman" pitchFamily="18" charset="0"/>
        </a:defRPr>
      </a:lvl6pPr>
      <a:lvl7pPr marL="914400" algn="l" rtl="0" fontAlgn="base">
        <a:spcBef>
          <a:spcPct val="0"/>
        </a:spcBef>
        <a:spcAft>
          <a:spcPct val="0"/>
        </a:spcAft>
        <a:defRPr sz="2400">
          <a:solidFill>
            <a:schemeClr val="hlink"/>
          </a:solidFill>
          <a:latin typeface="Times New Roman" pitchFamily="18" charset="0"/>
          <a:cs typeface="Times New Roman" pitchFamily="18" charset="0"/>
        </a:defRPr>
      </a:lvl7pPr>
      <a:lvl8pPr marL="1371600" algn="l" rtl="0" fontAlgn="base">
        <a:spcBef>
          <a:spcPct val="0"/>
        </a:spcBef>
        <a:spcAft>
          <a:spcPct val="0"/>
        </a:spcAft>
        <a:defRPr sz="2400">
          <a:solidFill>
            <a:schemeClr val="hlink"/>
          </a:solidFill>
          <a:latin typeface="Times New Roman" pitchFamily="18" charset="0"/>
          <a:cs typeface="Times New Roman" pitchFamily="18" charset="0"/>
        </a:defRPr>
      </a:lvl8pPr>
      <a:lvl9pPr marL="1828800" algn="l" rtl="0" fontAlgn="base">
        <a:spcBef>
          <a:spcPct val="0"/>
        </a:spcBef>
        <a:spcAft>
          <a:spcPct val="0"/>
        </a:spcAft>
        <a:defRPr sz="2400">
          <a:solidFill>
            <a:schemeClr val="hlink"/>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Clr>
          <a:schemeClr val="tx1"/>
        </a:buClr>
        <a:buFont typeface="Times New Roman" panose="02020603050405020304" pitchFamily="18" charset="0"/>
        <a:defRPr>
          <a:solidFill>
            <a:schemeClr val="tx1"/>
          </a:solidFill>
          <a:latin typeface="+mn-lt"/>
          <a:ea typeface="+mn-ea"/>
          <a:cs typeface="+mn-cs"/>
        </a:defRPr>
      </a:lvl1pPr>
      <a:lvl2pPr marL="180975" indent="-1793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2pPr>
      <a:lvl3pPr marL="366713" indent="-157163"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3pPr>
      <a:lvl4pPr marL="585788" indent="-20478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4pPr>
      <a:lvl5pPr marL="790575" indent="-185738" algn="l" rtl="0" eaLnBrk="0" fontAlgn="base" hangingPunct="0">
        <a:lnSpc>
          <a:spcPct val="90000"/>
        </a:lnSpc>
        <a:spcBef>
          <a:spcPct val="0"/>
        </a:spcBef>
        <a:spcAft>
          <a:spcPts val="1000"/>
        </a:spcAft>
        <a:buClr>
          <a:schemeClr val="tx1"/>
        </a:buClr>
        <a:buFont typeface="Times New Roman" panose="02020603050405020304" pitchFamily="18" charset="0"/>
        <a:buChar char="»"/>
        <a:defRPr>
          <a:solidFill>
            <a:schemeClr val="tx1"/>
          </a:solidFill>
          <a:latin typeface="+mn-lt"/>
          <a:cs typeface="+mn-cs"/>
        </a:defRPr>
      </a:lvl5pPr>
      <a:lvl6pPr marL="15430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6pPr>
      <a:lvl7pPr marL="20002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7pPr>
      <a:lvl8pPr marL="24574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8pPr>
      <a:lvl9pPr marL="2914650" indent="-285750" algn="l" rtl="0" fontAlgn="base">
        <a:lnSpc>
          <a:spcPct val="90000"/>
        </a:lnSpc>
        <a:spcBef>
          <a:spcPct val="0"/>
        </a:spcBef>
        <a:spcAft>
          <a:spcPts val="1000"/>
        </a:spcAft>
        <a:buClr>
          <a:schemeClr val="hlink"/>
        </a:buClr>
        <a:buFont typeface="Arial" charset="0"/>
        <a:buChar char="»"/>
        <a:defRPr sz="2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2"/>
            </a:gs>
            <a:gs pos="100000">
              <a:schemeClr val="bg1"/>
            </a:gs>
          </a:gsLst>
          <a:lin ang="2700000" scaled="1"/>
        </a:gradFill>
        <a:effectLst/>
      </p:bgPr>
    </p:bg>
    <p:spTree>
      <p:nvGrpSpPr>
        <p:cNvPr id="1" name=""/>
        <p:cNvGrpSpPr/>
        <p:nvPr/>
      </p:nvGrpSpPr>
      <p:grpSpPr>
        <a:xfrm>
          <a:off x="0" y="0"/>
          <a:ext cx="0" cy="0"/>
          <a:chOff x="0" y="0"/>
          <a:chExt cx="0" cy="0"/>
        </a:xfrm>
      </p:grpSpPr>
      <p:pic>
        <p:nvPicPr>
          <p:cNvPr id="10242" name="Picture 11" descr="Ribbon Alone_blue"/>
          <p:cNvPicPr>
            <a:picLocks noChangeAspect="1" noChangeArrowheads="1"/>
          </p:cNvPicPr>
          <p:nvPr userDrawn="1"/>
        </p:nvPicPr>
        <p:blipFill>
          <a:blip r:embed="rId13">
            <a:extLst>
              <a:ext uri="{28A0092B-C50C-407E-A947-70E740481C1C}">
                <a14:useLocalDpi xmlns:a14="http://schemas.microsoft.com/office/drawing/2010/main" val="0"/>
              </a:ext>
            </a:extLst>
          </a:blip>
          <a:srcRect t="552"/>
          <a:stretch>
            <a:fillRect/>
          </a:stretch>
        </p:blipFill>
        <p:spPr bwMode="auto">
          <a:xfrm>
            <a:off x="0" y="0"/>
            <a:ext cx="787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itle Placeholder 1"/>
          <p:cNvSpPr>
            <a:spLocks noGrp="1"/>
          </p:cNvSpPr>
          <p:nvPr>
            <p:ph type="title"/>
          </p:nvPr>
        </p:nvSpPr>
        <p:spPr bwMode="auto">
          <a:xfrm>
            <a:off x="1282700" y="1184275"/>
            <a:ext cx="56292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smtClean="0"/>
              <a:t>Click to edit Master title style</a:t>
            </a:r>
          </a:p>
        </p:txBody>
      </p:sp>
      <p:sp>
        <p:nvSpPr>
          <p:cNvPr id="10244" name="Text Placeholder 2"/>
          <p:cNvSpPr>
            <a:spLocks noGrp="1"/>
          </p:cNvSpPr>
          <p:nvPr>
            <p:ph type="body" idx="1"/>
          </p:nvPr>
        </p:nvSpPr>
        <p:spPr bwMode="auto">
          <a:xfrm>
            <a:off x="1282700" y="2408238"/>
            <a:ext cx="460216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90645" r:id="rId1"/>
    <p:sldLayoutId id="2147490646" r:id="rId2"/>
    <p:sldLayoutId id="2147490647" r:id="rId3"/>
    <p:sldLayoutId id="2147490648" r:id="rId4"/>
    <p:sldLayoutId id="2147490649" r:id="rId5"/>
    <p:sldLayoutId id="2147490650" r:id="rId6"/>
    <p:sldLayoutId id="2147490651" r:id="rId7"/>
    <p:sldLayoutId id="2147490652" r:id="rId8"/>
    <p:sldLayoutId id="2147490653" r:id="rId9"/>
    <p:sldLayoutId id="2147490654" r:id="rId10"/>
    <p:sldLayoutId id="2147490655" r:id="rId11"/>
  </p:sldLayoutIdLst>
  <p:hf hdr="0" dt="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cs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cs typeface="Times New Roman" pitchFamily="18" charset="0"/>
        </a:defRPr>
      </a:lvl9pPr>
    </p:titleStyle>
    <p:bodyStyle>
      <a:lvl1pPr marL="342900" indent="-34290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ea typeface="+mn-ea"/>
          <a:cs typeface="+mn-cs"/>
        </a:defRPr>
      </a:lvl1pPr>
      <a:lvl2pPr marL="742950" indent="-7413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2pPr>
      <a:lvl3pPr marL="266700" indent="-6191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3pPr>
      <a:lvl4pPr marL="533400" indent="-144463"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4pPr>
      <a:lvl5pPr marL="800100" indent="-209550" algn="l" rtl="0" eaLnBrk="0" fontAlgn="base" hangingPunct="0">
        <a:lnSpc>
          <a:spcPct val="90000"/>
        </a:lnSpc>
        <a:spcBef>
          <a:spcPct val="0"/>
        </a:spcBef>
        <a:spcAft>
          <a:spcPts val="1000"/>
        </a:spcAft>
        <a:buFont typeface="Times New Roman" panose="02020603050405020304" pitchFamily="18" charset="0"/>
        <a:buChar char="»"/>
        <a:defRPr sz="1600">
          <a:solidFill>
            <a:schemeClr val="tx1"/>
          </a:solidFill>
          <a:latin typeface="+mn-lt"/>
          <a:cs typeface="+mn-cs"/>
        </a:defRPr>
      </a:lvl5pPr>
      <a:lvl6pPr marL="12573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6pPr>
      <a:lvl7pPr marL="17145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7pPr>
      <a:lvl8pPr marL="21717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8pPr>
      <a:lvl9pPr marL="2628900" indent="-209550" algn="l" rtl="0" eaLnBrk="0" fontAlgn="base" hangingPunct="0">
        <a:lnSpc>
          <a:spcPct val="90000"/>
        </a:lnSpc>
        <a:spcBef>
          <a:spcPct val="0"/>
        </a:spcBef>
        <a:spcAft>
          <a:spcPts val="1000"/>
        </a:spcAft>
        <a:buFont typeface="Times New Roman" pitchFamily="18" charset="0"/>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8.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slideLayout" Target="../slideLayouts/slideLayout7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8.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10.xml"/><Relationship Id="rId7" Type="http://schemas.openxmlformats.org/officeDocument/2006/relationships/slideLayout" Target="../slideLayouts/slideLayout85.xml"/><Relationship Id="rId2" Type="http://schemas.openxmlformats.org/officeDocument/2006/relationships/tags" Target="../tags/tag9.xml"/><Relationship Id="rId1" Type="http://schemas.openxmlformats.org/officeDocument/2006/relationships/vmlDrawing" Target="../drawings/vmlDrawing2.v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9.emf"/><Relationship Id="rId4" Type="http://schemas.openxmlformats.org/officeDocument/2006/relationships/tags" Target="../tags/tag11.xml"/><Relationship Id="rId9"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85.xml"/><Relationship Id="rId4" Type="http://schemas.openxmlformats.org/officeDocument/2006/relationships/comments" Target="../comments/commen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8.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15.xml"/><Relationship Id="rId7" Type="http://schemas.openxmlformats.org/officeDocument/2006/relationships/slideLayout" Target="../slideLayouts/slideLayout85.xml"/><Relationship Id="rId2" Type="http://schemas.openxmlformats.org/officeDocument/2006/relationships/tags" Target="../tags/tag14.xml"/><Relationship Id="rId1" Type="http://schemas.openxmlformats.org/officeDocument/2006/relationships/vmlDrawing" Target="../drawings/vmlDrawing3.vml"/><Relationship Id="rId6" Type="http://schemas.openxmlformats.org/officeDocument/2006/relationships/tags" Target="../tags/tag18.xml"/><Relationship Id="rId5" Type="http://schemas.openxmlformats.org/officeDocument/2006/relationships/tags" Target="../tags/tag17.xml"/><Relationship Id="rId10" Type="http://schemas.openxmlformats.org/officeDocument/2006/relationships/image" Target="../media/image9.emf"/><Relationship Id="rId4" Type="http://schemas.openxmlformats.org/officeDocument/2006/relationships/tags" Target="../tags/tag16.xml"/><Relationship Id="rId9"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chart" Target="../charts/chart3.xml"/><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8.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20.xml"/><Relationship Id="rId7" Type="http://schemas.openxmlformats.org/officeDocument/2006/relationships/slideLayout" Target="../slideLayouts/slideLayout85.xml"/><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9.emf"/><Relationship Id="rId4" Type="http://schemas.openxmlformats.org/officeDocument/2006/relationships/tags" Target="../tags/tag21.xml"/><Relationship Id="rId9"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8.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85.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hart" Target="../charts/chart4.xml"/><Relationship Id="rId1" Type="http://schemas.openxmlformats.org/officeDocument/2006/relationships/slideLayout" Target="../slideLayouts/slideLayout85.xml"/><Relationship Id="rId4" Type="http://schemas.openxmlformats.org/officeDocument/2006/relationships/comments" Target="../comments/commen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8.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25.xml"/><Relationship Id="rId7" Type="http://schemas.openxmlformats.org/officeDocument/2006/relationships/slideLayout" Target="../slideLayouts/slideLayout85.xml"/><Relationship Id="rId2" Type="http://schemas.openxmlformats.org/officeDocument/2006/relationships/tags" Target="../tags/tag24.xml"/><Relationship Id="rId1" Type="http://schemas.openxmlformats.org/officeDocument/2006/relationships/vmlDrawing" Target="../drawings/vmlDrawing5.vml"/><Relationship Id="rId6" Type="http://schemas.openxmlformats.org/officeDocument/2006/relationships/tags" Target="../tags/tag28.xml"/><Relationship Id="rId5" Type="http://schemas.openxmlformats.org/officeDocument/2006/relationships/tags" Target="../tags/tag27.xml"/><Relationship Id="rId10" Type="http://schemas.openxmlformats.org/officeDocument/2006/relationships/image" Target="../media/image9.emf"/><Relationship Id="rId4" Type="http://schemas.openxmlformats.org/officeDocument/2006/relationships/tags" Target="../tags/tag26.xml"/><Relationship Id="rId9" Type="http://schemas.openxmlformats.org/officeDocument/2006/relationships/oleObject" Target="../embeddings/oleObject5.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chart" Target="../charts/chart5.xml"/><Relationship Id="rId1" Type="http://schemas.openxmlformats.org/officeDocument/2006/relationships/slideLayout" Target="../slideLayouts/slideLayout8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8.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openxmlformats.org/officeDocument/2006/relationships/tags" Target="../tags/tag30.xml"/><Relationship Id="rId7" Type="http://schemas.openxmlformats.org/officeDocument/2006/relationships/slideLayout" Target="../slideLayouts/slideLayout85.xml"/><Relationship Id="rId2" Type="http://schemas.openxmlformats.org/officeDocument/2006/relationships/tags" Target="../tags/tag29.xml"/><Relationship Id="rId1" Type="http://schemas.openxmlformats.org/officeDocument/2006/relationships/vmlDrawing" Target="../drawings/vmlDrawing6.vml"/><Relationship Id="rId6" Type="http://schemas.openxmlformats.org/officeDocument/2006/relationships/tags" Target="../tags/tag33.xml"/><Relationship Id="rId5" Type="http://schemas.openxmlformats.org/officeDocument/2006/relationships/tags" Target="../tags/tag32.xml"/><Relationship Id="rId10" Type="http://schemas.openxmlformats.org/officeDocument/2006/relationships/image" Target="../media/image9.emf"/><Relationship Id="rId4" Type="http://schemas.openxmlformats.org/officeDocument/2006/relationships/tags" Target="../tags/tag31.xml"/><Relationship Id="rId9" Type="http://schemas.openxmlformats.org/officeDocument/2006/relationships/oleObject" Target="../embeddings/oleObject6.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85.xml"/><Relationship Id="rId2" Type="http://schemas.openxmlformats.org/officeDocument/2006/relationships/tags" Target="../tags/tag34.xml"/><Relationship Id="rId1" Type="http://schemas.openxmlformats.org/officeDocument/2006/relationships/vmlDrawing" Target="../drawings/vmlDrawing7.vml"/><Relationship Id="rId6" Type="http://schemas.openxmlformats.org/officeDocument/2006/relationships/image" Target="../media/image9.emf"/><Relationship Id="rId5" Type="http://schemas.openxmlformats.org/officeDocument/2006/relationships/oleObject" Target="../embeddings/oleObject7.bin"/><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4.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85.xml"/></Relationships>
</file>

<file path=ppt/slides/_rels/slide4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8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8.xml"/></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15.xml"/><Relationship Id="rId3" Type="http://schemas.openxmlformats.org/officeDocument/2006/relationships/tags" Target="../tags/tag36.xml"/><Relationship Id="rId7" Type="http://schemas.openxmlformats.org/officeDocument/2006/relationships/slideLayout" Target="../slideLayouts/slideLayout85.xml"/><Relationship Id="rId2" Type="http://schemas.openxmlformats.org/officeDocument/2006/relationships/tags" Target="../tags/tag35.xml"/><Relationship Id="rId1" Type="http://schemas.openxmlformats.org/officeDocument/2006/relationships/vmlDrawing" Target="../drawings/vmlDrawing8.vml"/><Relationship Id="rId6" Type="http://schemas.openxmlformats.org/officeDocument/2006/relationships/tags" Target="../tags/tag39.xml"/><Relationship Id="rId5" Type="http://schemas.openxmlformats.org/officeDocument/2006/relationships/tags" Target="../tags/tag38.xml"/><Relationship Id="rId10" Type="http://schemas.openxmlformats.org/officeDocument/2006/relationships/image" Target="../media/image9.emf"/><Relationship Id="rId4" Type="http://schemas.openxmlformats.org/officeDocument/2006/relationships/tags" Target="../tags/tag37.xml"/><Relationship Id="rId9" Type="http://schemas.openxmlformats.org/officeDocument/2006/relationships/oleObject" Target="../embeddings/oleObject8.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8.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17.xml"/><Relationship Id="rId3" Type="http://schemas.openxmlformats.org/officeDocument/2006/relationships/tags" Target="../tags/tag41.xml"/><Relationship Id="rId7" Type="http://schemas.openxmlformats.org/officeDocument/2006/relationships/slideLayout" Target="../slideLayouts/slideLayout85.xml"/><Relationship Id="rId2" Type="http://schemas.openxmlformats.org/officeDocument/2006/relationships/tags" Target="../tags/tag40.xml"/><Relationship Id="rId1" Type="http://schemas.openxmlformats.org/officeDocument/2006/relationships/vmlDrawing" Target="../drawings/vmlDrawing9.v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9.emf"/><Relationship Id="rId4" Type="http://schemas.openxmlformats.org/officeDocument/2006/relationships/tags" Target="../tags/tag42.xml"/><Relationship Id="rId9" Type="http://schemas.openxmlformats.org/officeDocument/2006/relationships/oleObject" Target="../embeddings/oleObject9.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7.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85.xml"/></Relationships>
</file>

<file path=ppt/slides/_rels/slide58.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chart" Target="../charts/chart8.xml"/><Relationship Id="rId1" Type="http://schemas.openxmlformats.org/officeDocument/2006/relationships/slideLayout" Target="../slideLayouts/slideLayout8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8.xml"/></Relationships>
</file>

<file path=ppt/slides/_rels/slide60.xml.rels><?xml version="1.0" encoding="UTF-8" standalone="yes"?>
<Relationships xmlns="http://schemas.openxmlformats.org/package/2006/relationships"><Relationship Id="rId8" Type="http://schemas.openxmlformats.org/officeDocument/2006/relationships/notesSlide" Target="../notesSlides/notesSlide19.xml"/><Relationship Id="rId3" Type="http://schemas.openxmlformats.org/officeDocument/2006/relationships/tags" Target="../tags/tag46.xml"/><Relationship Id="rId7" Type="http://schemas.openxmlformats.org/officeDocument/2006/relationships/slideLayout" Target="../slideLayouts/slideLayout85.xml"/><Relationship Id="rId2" Type="http://schemas.openxmlformats.org/officeDocument/2006/relationships/tags" Target="../tags/tag45.xml"/><Relationship Id="rId1" Type="http://schemas.openxmlformats.org/officeDocument/2006/relationships/vmlDrawing" Target="../drawings/vmlDrawing10.vml"/><Relationship Id="rId6" Type="http://schemas.openxmlformats.org/officeDocument/2006/relationships/tags" Target="../tags/tag49.xml"/><Relationship Id="rId5" Type="http://schemas.openxmlformats.org/officeDocument/2006/relationships/tags" Target="../tags/tag48.xml"/><Relationship Id="rId10" Type="http://schemas.openxmlformats.org/officeDocument/2006/relationships/image" Target="../media/image9.emf"/><Relationship Id="rId4" Type="http://schemas.openxmlformats.org/officeDocument/2006/relationships/tags" Target="../tags/tag47.xml"/><Relationship Id="rId9" Type="http://schemas.openxmlformats.org/officeDocument/2006/relationships/oleObject" Target="../embeddings/oleObject10.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4.xml.rels><?xml version="1.0" encoding="UTF-8" standalone="yes"?>
<Relationships xmlns="http://schemas.openxmlformats.org/package/2006/relationships"><Relationship Id="rId2" Type="http://schemas.openxmlformats.org/officeDocument/2006/relationships/comments" Target="../comments/comment10.xml"/><Relationship Id="rId1" Type="http://schemas.openxmlformats.org/officeDocument/2006/relationships/slideLayout" Target="../slideLayouts/slideLayout8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8.xml"/></Relationships>
</file>

<file path=ppt/slides/_rels/slide66.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51.xml"/><Relationship Id="rId7" Type="http://schemas.openxmlformats.org/officeDocument/2006/relationships/slideLayout" Target="../slideLayouts/slideLayout85.xml"/><Relationship Id="rId2" Type="http://schemas.openxmlformats.org/officeDocument/2006/relationships/tags" Target="../tags/tag50.xml"/><Relationship Id="rId1" Type="http://schemas.openxmlformats.org/officeDocument/2006/relationships/vmlDrawing" Target="../drawings/vmlDrawing11.vml"/><Relationship Id="rId6" Type="http://schemas.openxmlformats.org/officeDocument/2006/relationships/tags" Target="../tags/tag54.xml"/><Relationship Id="rId5" Type="http://schemas.openxmlformats.org/officeDocument/2006/relationships/tags" Target="../tags/tag53.xml"/><Relationship Id="rId10" Type="http://schemas.openxmlformats.org/officeDocument/2006/relationships/image" Target="../media/image9.emf"/><Relationship Id="rId4" Type="http://schemas.openxmlformats.org/officeDocument/2006/relationships/tags" Target="../tags/tag52.xml"/><Relationship Id="rId9" Type="http://schemas.openxmlformats.org/officeDocument/2006/relationships/oleObject" Target="../embeddings/oleObject11.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8.xml"/></Relationships>
</file>

<file path=ppt/slides/_rels/slide73.xml.rels><?xml version="1.0" encoding="UTF-8" standalone="yes"?>
<Relationships xmlns="http://schemas.openxmlformats.org/package/2006/relationships"><Relationship Id="rId8" Type="http://schemas.openxmlformats.org/officeDocument/2006/relationships/notesSlide" Target="../notesSlides/notesSlide23.xml"/><Relationship Id="rId3" Type="http://schemas.openxmlformats.org/officeDocument/2006/relationships/tags" Target="../tags/tag56.xml"/><Relationship Id="rId7" Type="http://schemas.openxmlformats.org/officeDocument/2006/relationships/slideLayout" Target="../slideLayouts/slideLayout85.xml"/><Relationship Id="rId2" Type="http://schemas.openxmlformats.org/officeDocument/2006/relationships/tags" Target="../tags/tag55.xml"/><Relationship Id="rId1" Type="http://schemas.openxmlformats.org/officeDocument/2006/relationships/vmlDrawing" Target="../drawings/vmlDrawing12.vml"/><Relationship Id="rId6" Type="http://schemas.openxmlformats.org/officeDocument/2006/relationships/tags" Target="../tags/tag59.xml"/><Relationship Id="rId5" Type="http://schemas.openxmlformats.org/officeDocument/2006/relationships/tags" Target="../tags/tag58.xml"/><Relationship Id="rId10" Type="http://schemas.openxmlformats.org/officeDocument/2006/relationships/image" Target="../media/image9.emf"/><Relationship Id="rId4" Type="http://schemas.openxmlformats.org/officeDocument/2006/relationships/tags" Target="../tags/tag57.xml"/><Relationship Id="rId9" Type="http://schemas.openxmlformats.org/officeDocument/2006/relationships/oleObject" Target="../embeddings/oleObject12.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8.xml"/></Relationships>
</file>

<file path=ppt/slides/_rels/slide80.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61.xml"/><Relationship Id="rId7" Type="http://schemas.openxmlformats.org/officeDocument/2006/relationships/slideLayout" Target="../slideLayouts/slideLayout85.xml"/><Relationship Id="rId2" Type="http://schemas.openxmlformats.org/officeDocument/2006/relationships/tags" Target="../tags/tag60.xml"/><Relationship Id="rId1" Type="http://schemas.openxmlformats.org/officeDocument/2006/relationships/vmlDrawing" Target="../drawings/vmlDrawing13.vml"/><Relationship Id="rId6" Type="http://schemas.openxmlformats.org/officeDocument/2006/relationships/tags" Target="../tags/tag64.xml"/><Relationship Id="rId5" Type="http://schemas.openxmlformats.org/officeDocument/2006/relationships/tags" Target="../tags/tag63.xml"/><Relationship Id="rId10" Type="http://schemas.openxmlformats.org/officeDocument/2006/relationships/image" Target="../media/image9.emf"/><Relationship Id="rId4" Type="http://schemas.openxmlformats.org/officeDocument/2006/relationships/tags" Target="../tags/tag62.xml"/><Relationship Id="rId9" Type="http://schemas.openxmlformats.org/officeDocument/2006/relationships/oleObject" Target="../embeddings/oleObject13.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8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8.xml"/></Relationships>
</file>

<file path=ppt/slides/_rels/slide88.xml.rels><?xml version="1.0" encoding="UTF-8" standalone="yes"?>
<Relationships xmlns="http://schemas.openxmlformats.org/package/2006/relationships"><Relationship Id="rId8" Type="http://schemas.openxmlformats.org/officeDocument/2006/relationships/notesSlide" Target="../notesSlides/notesSlide27.xml"/><Relationship Id="rId3" Type="http://schemas.openxmlformats.org/officeDocument/2006/relationships/tags" Target="../tags/tag66.xml"/><Relationship Id="rId7" Type="http://schemas.openxmlformats.org/officeDocument/2006/relationships/slideLayout" Target="../slideLayouts/slideLayout85.xml"/><Relationship Id="rId2" Type="http://schemas.openxmlformats.org/officeDocument/2006/relationships/tags" Target="../tags/tag65.xml"/><Relationship Id="rId1" Type="http://schemas.openxmlformats.org/officeDocument/2006/relationships/vmlDrawing" Target="../drawings/vmlDrawing14.vml"/><Relationship Id="rId6" Type="http://schemas.openxmlformats.org/officeDocument/2006/relationships/tags" Target="../tags/tag69.xml"/><Relationship Id="rId5" Type="http://schemas.openxmlformats.org/officeDocument/2006/relationships/tags" Target="../tags/tag68.xml"/><Relationship Id="rId10" Type="http://schemas.openxmlformats.org/officeDocument/2006/relationships/image" Target="../media/image9.emf"/><Relationship Id="rId4" Type="http://schemas.openxmlformats.org/officeDocument/2006/relationships/tags" Target="../tags/tag67.xml"/><Relationship Id="rId9" Type="http://schemas.openxmlformats.org/officeDocument/2006/relationships/oleObject" Target="../embeddings/oleObject14.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8.xml"/></Relationships>
</file>

<file path=ppt/slides/_rels/slide94.xml.rels><?xml version="1.0" encoding="UTF-8" standalone="yes"?>
<Relationships xmlns="http://schemas.openxmlformats.org/package/2006/relationships"><Relationship Id="rId8" Type="http://schemas.openxmlformats.org/officeDocument/2006/relationships/notesSlide" Target="../notesSlides/notesSlide29.xml"/><Relationship Id="rId3" Type="http://schemas.openxmlformats.org/officeDocument/2006/relationships/tags" Target="../tags/tag71.xml"/><Relationship Id="rId7" Type="http://schemas.openxmlformats.org/officeDocument/2006/relationships/slideLayout" Target="../slideLayouts/slideLayout85.xml"/><Relationship Id="rId2" Type="http://schemas.openxmlformats.org/officeDocument/2006/relationships/tags" Target="../tags/tag70.xml"/><Relationship Id="rId1" Type="http://schemas.openxmlformats.org/officeDocument/2006/relationships/vmlDrawing" Target="../drawings/vmlDrawing15.vml"/><Relationship Id="rId6" Type="http://schemas.openxmlformats.org/officeDocument/2006/relationships/tags" Target="../tags/tag74.xml"/><Relationship Id="rId5" Type="http://schemas.openxmlformats.org/officeDocument/2006/relationships/tags" Target="../tags/tag73.xml"/><Relationship Id="rId10" Type="http://schemas.openxmlformats.org/officeDocument/2006/relationships/image" Target="../media/image9.emf"/><Relationship Id="rId4" Type="http://schemas.openxmlformats.org/officeDocument/2006/relationships/tags" Target="../tags/tag72.xml"/><Relationship Id="rId9" Type="http://schemas.openxmlformats.org/officeDocument/2006/relationships/oleObject" Target="../embeddings/oleObject15.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8.xml"/></Relationships>
</file>

<file path=ppt/slides/_rels/slide105.xml.rels><?xml version="1.0" encoding="UTF-8" standalone="yes"?>
<Relationships xmlns="http://schemas.openxmlformats.org/package/2006/relationships"><Relationship Id="rId8" Type="http://schemas.openxmlformats.org/officeDocument/2006/relationships/notesSlide" Target="../notesSlides/notesSlide31.xml"/><Relationship Id="rId3" Type="http://schemas.openxmlformats.org/officeDocument/2006/relationships/tags" Target="../tags/tag76.xml"/><Relationship Id="rId7" Type="http://schemas.openxmlformats.org/officeDocument/2006/relationships/slideLayout" Target="../slideLayouts/slideLayout85.xml"/><Relationship Id="rId2" Type="http://schemas.openxmlformats.org/officeDocument/2006/relationships/tags" Target="../tags/tag75.xml"/><Relationship Id="rId1" Type="http://schemas.openxmlformats.org/officeDocument/2006/relationships/vmlDrawing" Target="../drawings/vmlDrawing16.vml"/><Relationship Id="rId6" Type="http://schemas.openxmlformats.org/officeDocument/2006/relationships/tags" Target="../tags/tag79.xml"/><Relationship Id="rId5" Type="http://schemas.openxmlformats.org/officeDocument/2006/relationships/tags" Target="../tags/tag78.xml"/><Relationship Id="rId10" Type="http://schemas.openxmlformats.org/officeDocument/2006/relationships/image" Target="../media/image9.emf"/><Relationship Id="rId4" Type="http://schemas.openxmlformats.org/officeDocument/2006/relationships/tags" Target="../tags/tag77.xml"/><Relationship Id="rId9" Type="http://schemas.openxmlformats.org/officeDocument/2006/relationships/oleObject" Target="../embeddings/oleObject16.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5.xml"/></Relationships>
</file>

<file path=ppt/slides/_rels/slide1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8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8.xml"/></Relationships>
</file>

<file path=ppt/slides/_rels/slide113.xml.rels><?xml version="1.0" encoding="UTF-8" standalone="yes"?>
<Relationships xmlns="http://schemas.openxmlformats.org/package/2006/relationships"><Relationship Id="rId8" Type="http://schemas.openxmlformats.org/officeDocument/2006/relationships/notesSlide" Target="../notesSlides/notesSlide33.xml"/><Relationship Id="rId3" Type="http://schemas.openxmlformats.org/officeDocument/2006/relationships/tags" Target="../tags/tag81.xml"/><Relationship Id="rId7" Type="http://schemas.openxmlformats.org/officeDocument/2006/relationships/slideLayout" Target="../slideLayouts/slideLayout85.xml"/><Relationship Id="rId2" Type="http://schemas.openxmlformats.org/officeDocument/2006/relationships/tags" Target="../tags/tag80.xml"/><Relationship Id="rId1" Type="http://schemas.openxmlformats.org/officeDocument/2006/relationships/vmlDrawing" Target="../drawings/vmlDrawing17.vml"/><Relationship Id="rId6" Type="http://schemas.openxmlformats.org/officeDocument/2006/relationships/tags" Target="../tags/tag84.xml"/><Relationship Id="rId5" Type="http://schemas.openxmlformats.org/officeDocument/2006/relationships/tags" Target="../tags/tag83.xml"/><Relationship Id="rId10" Type="http://schemas.openxmlformats.org/officeDocument/2006/relationships/image" Target="../media/image9.emf"/><Relationship Id="rId4" Type="http://schemas.openxmlformats.org/officeDocument/2006/relationships/tags" Target="../tags/tag82.xml"/><Relationship Id="rId9" Type="http://schemas.openxmlformats.org/officeDocument/2006/relationships/oleObject" Target="../embeddings/oleObject17.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85.xml"/><Relationship Id="rId1" Type="http://schemas.openxmlformats.org/officeDocument/2006/relationships/tags" Target="../tags/tag8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335253" y="3038475"/>
            <a:ext cx="6169025" cy="1470025"/>
          </a:xfrm>
        </p:spPr>
        <p:txBody>
          <a:bodyPr/>
          <a:lstStyle/>
          <a:p>
            <a:pPr eaLnBrk="1" hangingPunct="1"/>
            <a:r>
              <a:rPr lang="en-US" altLang="en-US" sz="2800" dirty="0" smtClean="0"/>
              <a:t>IFRS9 Impairment</a:t>
            </a:r>
            <a:br>
              <a:rPr lang="en-US" altLang="en-US" sz="2800" dirty="0" smtClean="0"/>
            </a:br>
            <a:r>
              <a:rPr lang="en-US" altLang="en-US" sz="2800" dirty="0" smtClean="0"/>
              <a:t/>
            </a:r>
            <a:br>
              <a:rPr lang="en-US" altLang="en-US" sz="2800" dirty="0" smtClean="0"/>
            </a:br>
            <a:r>
              <a:rPr lang="en-US" altLang="en-US" sz="2800" dirty="0" smtClean="0"/>
              <a:t>Technical Interpretations</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grpSp>
        <p:nvGrpSpPr>
          <p:cNvPr id="3" name="Group 2"/>
          <p:cNvGrpSpPr/>
          <p:nvPr/>
        </p:nvGrpSpPr>
        <p:grpSpPr>
          <a:xfrm>
            <a:off x="8454392" y="5309328"/>
            <a:ext cx="1181727" cy="1384842"/>
            <a:chOff x="9071612" y="5777958"/>
            <a:chExt cx="1181727" cy="1384842"/>
          </a:xfrm>
        </p:grpSpPr>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90664" y="5777958"/>
              <a:ext cx="936000" cy="363148"/>
            </a:xfrm>
            <a:prstGeom prst="rect">
              <a:avLst/>
            </a:prstGeom>
          </p:spPr>
        </p:pic>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71612" y="6249060"/>
              <a:ext cx="1181727" cy="913740"/>
            </a:xfrm>
            <a:prstGeom prst="rect">
              <a:avLst/>
            </a:prstGeom>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t>Contents</a:t>
            </a:r>
            <a:endParaRPr lang="en-IN" sz="2400" b="1" dirty="0"/>
          </a:p>
        </p:txBody>
      </p:sp>
      <p:sp>
        <p:nvSpPr>
          <p:cNvPr id="3" name="Content Placeholder 2"/>
          <p:cNvSpPr>
            <a:spLocks noGrp="1"/>
          </p:cNvSpPr>
          <p:nvPr>
            <p:ph idx="1"/>
          </p:nvPr>
        </p:nvSpPr>
        <p:spPr>
          <a:xfrm>
            <a:off x="287338" y="902400"/>
            <a:ext cx="9331325" cy="5616297"/>
          </a:xfrm>
        </p:spPr>
        <p:txBody>
          <a:bodyPr/>
          <a:lstStyle/>
          <a:p>
            <a:r>
              <a:rPr lang="en-US" sz="2000" dirty="0" smtClean="0"/>
              <a:t>Executive Summary</a:t>
            </a:r>
          </a:p>
          <a:p>
            <a:r>
              <a:rPr lang="en-US" sz="2000" dirty="0" smtClean="0"/>
              <a:t>Scope, Approach and Limitations</a:t>
            </a:r>
          </a:p>
          <a:p>
            <a:r>
              <a:rPr lang="en-US" sz="2000" dirty="0" smtClean="0"/>
              <a:t>Interpretations – Decision Summaries</a:t>
            </a:r>
          </a:p>
          <a:p>
            <a:r>
              <a:rPr lang="en-US" sz="2000" dirty="0" smtClean="0"/>
              <a:t>Interpretation Notes – Detailed</a:t>
            </a:r>
          </a:p>
          <a:p>
            <a:pPr marL="819150" lvl="4" indent="-457200">
              <a:buFont typeface="+mj-lt"/>
              <a:buAutoNum type="arabicPeriod"/>
            </a:pPr>
            <a:r>
              <a:rPr lang="en-US" dirty="0" smtClean="0"/>
              <a:t>Default Definition</a:t>
            </a:r>
          </a:p>
          <a:p>
            <a:pPr marL="819150" lvl="4" indent="-457200">
              <a:buFont typeface="+mj-lt"/>
              <a:buAutoNum type="arabicPeriod"/>
            </a:pPr>
            <a:r>
              <a:rPr lang="en-IN" dirty="0" smtClean="0"/>
              <a:t>Low </a:t>
            </a:r>
            <a:r>
              <a:rPr lang="en-IN" dirty="0"/>
              <a:t>Credit Risk Expedient</a:t>
            </a:r>
            <a:endParaRPr lang="en-US" dirty="0" smtClean="0"/>
          </a:p>
          <a:p>
            <a:pPr marL="819150" lvl="4" indent="-457200">
              <a:buFont typeface="+mj-lt"/>
              <a:buAutoNum type="arabicPeriod"/>
            </a:pPr>
            <a:r>
              <a:rPr lang="en-IN" dirty="0" smtClean="0"/>
              <a:t>30 </a:t>
            </a:r>
            <a:r>
              <a:rPr lang="en-IN" dirty="0"/>
              <a:t>DPD Rebuttable Assumption</a:t>
            </a:r>
            <a:endParaRPr lang="en-US" dirty="0" smtClean="0"/>
          </a:p>
          <a:p>
            <a:pPr marL="819150" lvl="4" indent="-457200">
              <a:buFont typeface="+mj-lt"/>
              <a:buAutoNum type="arabicPeriod"/>
            </a:pPr>
            <a:r>
              <a:rPr lang="en-IN" dirty="0" smtClean="0"/>
              <a:t>Modification </a:t>
            </a:r>
            <a:r>
              <a:rPr lang="en-IN" dirty="0"/>
              <a:t>of </a:t>
            </a:r>
            <a:r>
              <a:rPr lang="en-IN" dirty="0" smtClean="0"/>
              <a:t>Assets</a:t>
            </a:r>
            <a:endParaRPr lang="en-US" dirty="0" smtClean="0"/>
          </a:p>
          <a:p>
            <a:pPr marL="819150" lvl="4" indent="-457200">
              <a:buFont typeface="+mj-lt"/>
              <a:buAutoNum type="arabicPeriod"/>
            </a:pPr>
            <a:r>
              <a:rPr lang="en-IN" dirty="0" smtClean="0"/>
              <a:t>Facility </a:t>
            </a:r>
            <a:r>
              <a:rPr lang="en-IN" dirty="0"/>
              <a:t>Level vs  Counterparty Level Assessment of </a:t>
            </a:r>
            <a:r>
              <a:rPr lang="en-IN" dirty="0" smtClean="0"/>
              <a:t>SICR</a:t>
            </a:r>
            <a:endParaRPr lang="en-US" dirty="0" smtClean="0"/>
          </a:p>
          <a:p>
            <a:pPr marL="819150" lvl="4" indent="-457200">
              <a:buFont typeface="+mj-lt"/>
              <a:buAutoNum type="arabicPeriod"/>
            </a:pPr>
            <a:r>
              <a:rPr lang="en-IN" dirty="0" smtClean="0"/>
              <a:t>Individual </a:t>
            </a:r>
            <a:r>
              <a:rPr lang="en-IN" dirty="0"/>
              <a:t>vs. Collective Assessment</a:t>
            </a:r>
            <a:endParaRPr lang="en-US" dirty="0" smtClean="0"/>
          </a:p>
          <a:p>
            <a:pPr marL="819150" lvl="4" indent="-457200">
              <a:buFont typeface="+mj-lt"/>
              <a:buAutoNum type="arabicPeriod"/>
            </a:pPr>
            <a:r>
              <a:rPr lang="en-IN" dirty="0" smtClean="0"/>
              <a:t>Backward </a:t>
            </a:r>
            <a:r>
              <a:rPr lang="en-IN" dirty="0"/>
              <a:t>Transition</a:t>
            </a:r>
            <a:endParaRPr lang="en-US" dirty="0" smtClean="0"/>
          </a:p>
          <a:p>
            <a:pPr marL="819150" lvl="4" indent="-457200">
              <a:buFont typeface="+mj-lt"/>
              <a:buAutoNum type="arabicPeriod"/>
            </a:pPr>
            <a:r>
              <a:rPr lang="en-IN" dirty="0" smtClean="0"/>
              <a:t>12 </a:t>
            </a:r>
            <a:r>
              <a:rPr lang="en-IN" dirty="0"/>
              <a:t>Month PD vs. Lifetime PD</a:t>
            </a:r>
            <a:endParaRPr lang="en-US" dirty="0" smtClean="0"/>
          </a:p>
          <a:p>
            <a:pPr marL="819150" lvl="4" indent="-457200">
              <a:buFont typeface="+mj-lt"/>
              <a:buAutoNum type="arabicPeriod"/>
            </a:pPr>
            <a:r>
              <a:rPr lang="en-US" dirty="0" smtClean="0"/>
              <a:t>SICR </a:t>
            </a:r>
            <a:r>
              <a:rPr lang="en-US" dirty="0"/>
              <a:t>at transition</a:t>
            </a:r>
            <a:endParaRPr lang="en-US" dirty="0" smtClean="0"/>
          </a:p>
          <a:p>
            <a:pPr marL="819150" lvl="4" indent="-457200">
              <a:buFont typeface="+mj-lt"/>
              <a:buAutoNum type="arabicPeriod"/>
            </a:pPr>
            <a:r>
              <a:rPr lang="en-IN" dirty="0" smtClean="0"/>
              <a:t>Staging</a:t>
            </a:r>
            <a:endParaRPr lang="en-US" dirty="0" smtClean="0"/>
          </a:p>
          <a:p>
            <a:pPr marL="819150" lvl="4" indent="-457200">
              <a:buFont typeface="+mj-lt"/>
              <a:buAutoNum type="arabicPeriod"/>
            </a:pPr>
            <a:r>
              <a:rPr lang="en-IN" dirty="0" smtClean="0"/>
              <a:t>Eligible </a:t>
            </a:r>
            <a:r>
              <a:rPr lang="en-IN" dirty="0"/>
              <a:t>Collateral</a:t>
            </a:r>
            <a:endParaRPr lang="en-US" dirty="0" smtClean="0"/>
          </a:p>
          <a:p>
            <a:pPr marL="819150" lvl="4" indent="-457200">
              <a:buFont typeface="+mj-lt"/>
              <a:buAutoNum type="arabicPeriod"/>
            </a:pPr>
            <a:r>
              <a:rPr lang="en-IN" dirty="0" smtClean="0"/>
              <a:t>Contractual </a:t>
            </a:r>
            <a:r>
              <a:rPr lang="en-IN" dirty="0"/>
              <a:t>vs. Effective Interest </a:t>
            </a:r>
            <a:r>
              <a:rPr lang="en-IN" dirty="0" smtClean="0"/>
              <a:t>Rate</a:t>
            </a:r>
          </a:p>
          <a:p>
            <a:pPr marL="819150" lvl="4" indent="-457200">
              <a:buFont typeface="+mj-lt"/>
              <a:buAutoNum type="arabicPeriod"/>
            </a:pPr>
            <a:r>
              <a:rPr lang="en-IN" dirty="0" smtClean="0"/>
              <a:t>Period </a:t>
            </a:r>
            <a:r>
              <a:rPr lang="en-IN" dirty="0"/>
              <a:t>of </a:t>
            </a:r>
            <a:r>
              <a:rPr lang="en-IN" dirty="0" smtClean="0"/>
              <a:t>Exposure</a:t>
            </a:r>
          </a:p>
          <a:p>
            <a:pPr marL="819150" lvl="4" indent="-457200">
              <a:buFont typeface="+mj-lt"/>
              <a:buAutoNum type="arabicPeriod"/>
            </a:pPr>
            <a:r>
              <a:rPr lang="en-IN" dirty="0" smtClean="0"/>
              <a:t>ECL Approach</a:t>
            </a:r>
          </a:p>
          <a:p>
            <a:pPr marL="819150" lvl="4" indent="-457200">
              <a:buFont typeface="+mj-lt"/>
              <a:buAutoNum type="arabicPeriod"/>
            </a:pPr>
            <a:r>
              <a:rPr lang="en-IN" dirty="0" smtClean="0"/>
              <a:t>Scenarios </a:t>
            </a:r>
            <a:r>
              <a:rPr lang="en-IN" dirty="0"/>
              <a:t>and Forward Looking Information</a:t>
            </a:r>
            <a:endParaRPr lang="en-US" dirty="0" smtClean="0"/>
          </a:p>
          <a:p>
            <a:pPr marL="361950" lvl="4" indent="0">
              <a:buNone/>
            </a:pPr>
            <a:endParaRPr lang="en-US" sz="2000" dirty="0" smtClean="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2</a:t>
            </a:fld>
            <a:endParaRPr lang="en-US" altLang="en-US"/>
          </a:p>
        </p:txBody>
      </p:sp>
      <p:pic>
        <p:nvPicPr>
          <p:cNvPr id="5" name="Picture 4"/>
          <p:cNvPicPr>
            <a:picLocks noChangeAspect="1"/>
          </p:cNvPicPr>
          <p:nvPr/>
        </p:nvPicPr>
        <p:blipFill>
          <a:blip r:embed="rId2"/>
          <a:stretch>
            <a:fillRect/>
          </a:stretch>
        </p:blipFill>
        <p:spPr>
          <a:xfrm>
            <a:off x="8216067" y="5377374"/>
            <a:ext cx="1182727" cy="1383912"/>
          </a:xfrm>
          <a:prstGeom prst="rect">
            <a:avLst/>
          </a:prstGeom>
        </p:spPr>
      </p:pic>
    </p:spTree>
    <p:extLst>
      <p:ext uri="{BB962C8B-B14F-4D97-AF65-F5344CB8AC3E}">
        <p14:creationId xmlns:p14="http://schemas.microsoft.com/office/powerpoint/2010/main" val="176448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38" y="250374"/>
            <a:ext cx="9331325" cy="922337"/>
          </a:xfrm>
        </p:spPr>
        <p:txBody>
          <a:bodyPr/>
          <a:lstStyle/>
          <a:p>
            <a:r>
              <a:rPr lang="en-US" sz="2400" b="1" dirty="0" smtClean="0"/>
              <a:t>Executive Summary</a:t>
            </a:r>
            <a:endParaRPr lang="en-IN" sz="2400" b="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3</a:t>
            </a:fld>
            <a:endParaRPr lang="en-US" altLang="en-US"/>
          </a:p>
        </p:txBody>
      </p:sp>
      <p:sp>
        <p:nvSpPr>
          <p:cNvPr id="8" name="Rectangle 7"/>
          <p:cNvSpPr/>
          <p:nvPr/>
        </p:nvSpPr>
        <p:spPr>
          <a:xfrm>
            <a:off x="215346" y="1826615"/>
            <a:ext cx="9259335" cy="941796"/>
          </a:xfrm>
          <a:prstGeom prst="rect">
            <a:avLst/>
          </a:prstGeom>
        </p:spPr>
        <p:txBody>
          <a:bodyPr wrap="square">
            <a:spAutoFit/>
          </a:bodyPr>
          <a:lstStyle/>
          <a:p>
            <a:pPr>
              <a:lnSpc>
                <a:spcPct val="115000"/>
              </a:lnSpc>
              <a:spcAft>
                <a:spcPts val="1000"/>
              </a:spcAft>
            </a:pPr>
            <a:r>
              <a:rPr lang="en-US" dirty="0">
                <a:ea typeface="Calibri" panose="020F0502020204030204" pitchFamily="34" charset="0"/>
              </a:rPr>
              <a:t>The purpose of this Technical Interpretations report is to document formally the decisions taken by the Qatar National Bank (“QNB” or “the Bank”) in respect of the material subjective areas of the Impairment sections of the IFRS9 Standard and to provide the rationale for arriving at those decisions.  In summary, decisions were deemed necessary in 15 areas and they have been taken </a:t>
            </a:r>
            <a:r>
              <a:rPr lang="en-US" dirty="0" smtClean="0">
                <a:ea typeface="Calibri" panose="020F0502020204030204" pitchFamily="34" charset="0"/>
              </a:rPr>
              <a:t>by executive management and then approved </a:t>
            </a:r>
            <a:r>
              <a:rPr lang="en-US" dirty="0">
                <a:ea typeface="Calibri" panose="020F0502020204030204" pitchFamily="34" charset="0"/>
              </a:rPr>
              <a:t>by the following two </a:t>
            </a:r>
            <a:r>
              <a:rPr lang="en-US" dirty="0" smtClean="0">
                <a:ea typeface="Calibri" panose="020F0502020204030204" pitchFamily="34" charset="0"/>
              </a:rPr>
              <a:t>Executive level </a:t>
            </a:r>
            <a:r>
              <a:rPr lang="en-US" dirty="0">
                <a:ea typeface="Calibri" panose="020F0502020204030204" pitchFamily="34" charset="0"/>
              </a:rPr>
              <a:t>committees:-</a:t>
            </a:r>
            <a:endParaRPr lang="en-IN" dirty="0">
              <a:effectLst/>
              <a:ea typeface="Calibri" panose="020F050202020403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653096459"/>
              </p:ext>
            </p:extLst>
          </p:nvPr>
        </p:nvGraphicFramePr>
        <p:xfrm>
          <a:off x="287338" y="3097216"/>
          <a:ext cx="4484318" cy="3069156"/>
        </p:xfrm>
        <a:graphic>
          <a:graphicData uri="http://schemas.openxmlformats.org/drawingml/2006/table">
            <a:tbl>
              <a:tblPr firstRow="1" bandRow="1">
                <a:tableStyleId>{69CF1AB2-1976-4502-BF36-3FF5EA218861}</a:tableStyleId>
              </a:tblPr>
              <a:tblGrid>
                <a:gridCol w="613775"/>
                <a:gridCol w="3870543"/>
              </a:tblGrid>
              <a:tr h="289966">
                <a:tc>
                  <a:txBody>
                    <a:bodyPr/>
                    <a:lstStyle/>
                    <a:p>
                      <a:pPr algn="ctr"/>
                      <a:r>
                        <a:rPr lang="en-US" sz="1400" dirty="0" smtClean="0">
                          <a:solidFill>
                            <a:schemeClr val="bg1"/>
                          </a:solidFill>
                          <a:latin typeface="Times New Roman" panose="02020603050405020304" pitchFamily="18" charset="0"/>
                          <a:cs typeface="Times New Roman" panose="02020603050405020304" pitchFamily="18" charset="0"/>
                        </a:rPr>
                        <a:t>Note</a:t>
                      </a:r>
                      <a:endParaRPr lang="en-IN" sz="1600" dirty="0">
                        <a:solidFill>
                          <a:schemeClr val="bg1"/>
                        </a:solidFill>
                        <a:latin typeface="Times New Roman" panose="02020603050405020304" pitchFamily="18" charset="0"/>
                        <a:cs typeface="Times New Roman" panose="02020603050405020304" pitchFamily="18" charset="0"/>
                      </a:endParaRPr>
                    </a:p>
                  </a:txBody>
                  <a:tcPr>
                    <a:solidFill>
                      <a:schemeClr val="tx2"/>
                    </a:solidFill>
                  </a:tcPr>
                </a:tc>
                <a:tc>
                  <a:txBody>
                    <a:bodyPr/>
                    <a:lstStyle/>
                    <a:p>
                      <a:pPr algn="l"/>
                      <a:r>
                        <a:rPr lang="en-US" sz="1400" dirty="0" smtClean="0">
                          <a:solidFill>
                            <a:schemeClr val="bg1"/>
                          </a:solidFill>
                          <a:latin typeface="Times New Roman" panose="02020603050405020304" pitchFamily="18" charset="0"/>
                          <a:cs typeface="Times New Roman" panose="02020603050405020304" pitchFamily="18" charset="0"/>
                        </a:rPr>
                        <a:t>Technical</a:t>
                      </a:r>
                      <a:r>
                        <a:rPr lang="en-US" sz="1400" baseline="0" dirty="0" smtClean="0">
                          <a:solidFill>
                            <a:schemeClr val="bg1"/>
                          </a:solidFill>
                          <a:latin typeface="Times New Roman" panose="02020603050405020304" pitchFamily="18" charset="0"/>
                          <a:cs typeface="Times New Roman" panose="02020603050405020304" pitchFamily="18" charset="0"/>
                        </a:rPr>
                        <a:t> Interpretation Notes</a:t>
                      </a:r>
                      <a:endParaRPr lang="en-IN" sz="1600" dirty="0">
                        <a:solidFill>
                          <a:schemeClr val="bg1"/>
                        </a:solidFill>
                        <a:latin typeface="Times New Roman" panose="02020603050405020304" pitchFamily="18" charset="0"/>
                        <a:cs typeface="Times New Roman" panose="02020603050405020304" pitchFamily="18" charset="0"/>
                      </a:endParaRPr>
                    </a:p>
                  </a:txBody>
                  <a:tcPr>
                    <a:solidFill>
                      <a:schemeClr val="tx2"/>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1.</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Default Definition</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2.</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Low Credit Risk Expedient</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3.</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30 DPD Rebuttable Assumption</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4.</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Modification of Assets</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95476">
                <a:tc>
                  <a:txBody>
                    <a:bodyPr/>
                    <a:lstStyle/>
                    <a:p>
                      <a:pPr algn="ctr"/>
                      <a:r>
                        <a:rPr lang="en-US" sz="1200" dirty="0" smtClean="0">
                          <a:latin typeface="Times New Roman" panose="02020603050405020304" pitchFamily="18" charset="0"/>
                          <a:cs typeface="Times New Roman" panose="02020603050405020304" pitchFamily="18" charset="0"/>
                        </a:rPr>
                        <a:t>5.</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Facility Level vs  Counterparty Level Assessment of SICR</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6.</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Individual vs. Collective Assessment</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7.</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Backward Transition</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8.</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12 Month PD vs. Lifetime PD</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9.</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SICR at transition</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263606">
                <a:tc>
                  <a:txBody>
                    <a:bodyPr/>
                    <a:lstStyle/>
                    <a:p>
                      <a:pPr algn="ctr"/>
                      <a:r>
                        <a:rPr lang="en-US" sz="1200" dirty="0" smtClean="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Staging</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616126450"/>
              </p:ext>
            </p:extLst>
          </p:nvPr>
        </p:nvGraphicFramePr>
        <p:xfrm>
          <a:off x="5094333" y="3097216"/>
          <a:ext cx="4232471" cy="1972539"/>
        </p:xfrm>
        <a:graphic>
          <a:graphicData uri="http://schemas.openxmlformats.org/drawingml/2006/table">
            <a:tbl>
              <a:tblPr firstRow="1" bandRow="1">
                <a:tableStyleId>{69CF1AB2-1976-4502-BF36-3FF5EA218861}</a:tableStyleId>
              </a:tblPr>
              <a:tblGrid>
                <a:gridCol w="580776"/>
                <a:gridCol w="3651695"/>
              </a:tblGrid>
              <a:tr h="326728">
                <a:tc>
                  <a:txBody>
                    <a:bodyPr/>
                    <a:lstStyle/>
                    <a:p>
                      <a:pPr algn="ctr"/>
                      <a:r>
                        <a:rPr lang="en-US" sz="1400" dirty="0" smtClean="0">
                          <a:solidFill>
                            <a:schemeClr val="bg1"/>
                          </a:solidFill>
                          <a:latin typeface="Times New Roman" panose="02020603050405020304" pitchFamily="18" charset="0"/>
                          <a:cs typeface="Times New Roman" panose="02020603050405020304" pitchFamily="18" charset="0"/>
                        </a:rPr>
                        <a:t>Note</a:t>
                      </a:r>
                      <a:endParaRPr lang="en-IN" sz="1600" dirty="0">
                        <a:solidFill>
                          <a:schemeClr val="bg1"/>
                        </a:solidFill>
                        <a:latin typeface="Times New Roman" panose="02020603050405020304" pitchFamily="18" charset="0"/>
                        <a:cs typeface="Times New Roman" panose="02020603050405020304" pitchFamily="18" charset="0"/>
                      </a:endParaRPr>
                    </a:p>
                  </a:txBody>
                  <a:tcPr>
                    <a:solidFill>
                      <a:schemeClr val="tx2"/>
                    </a:solidFill>
                  </a:tcPr>
                </a:tc>
                <a:tc>
                  <a:txBody>
                    <a:bodyPr/>
                    <a:lstStyle/>
                    <a:p>
                      <a:pPr algn="l"/>
                      <a:r>
                        <a:rPr lang="en-US" sz="1400" dirty="0" smtClean="0">
                          <a:solidFill>
                            <a:schemeClr val="bg1"/>
                          </a:solidFill>
                          <a:latin typeface="Times New Roman" panose="02020603050405020304" pitchFamily="18" charset="0"/>
                          <a:cs typeface="Times New Roman" panose="02020603050405020304" pitchFamily="18" charset="0"/>
                        </a:rPr>
                        <a:t>Technical</a:t>
                      </a:r>
                      <a:r>
                        <a:rPr lang="en-US" sz="1400" baseline="0" dirty="0" smtClean="0">
                          <a:solidFill>
                            <a:schemeClr val="bg1"/>
                          </a:solidFill>
                          <a:latin typeface="Times New Roman" panose="02020603050405020304" pitchFamily="18" charset="0"/>
                          <a:cs typeface="Times New Roman" panose="02020603050405020304" pitchFamily="18" charset="0"/>
                        </a:rPr>
                        <a:t> Interpretation Notes</a:t>
                      </a:r>
                      <a:endParaRPr lang="en-IN" sz="1600" dirty="0">
                        <a:solidFill>
                          <a:schemeClr val="bg1"/>
                        </a:solidFill>
                        <a:latin typeface="Times New Roman" panose="02020603050405020304" pitchFamily="18" charset="0"/>
                        <a:cs typeface="Times New Roman" panose="02020603050405020304" pitchFamily="18" charset="0"/>
                      </a:endParaRPr>
                    </a:p>
                  </a:txBody>
                  <a:tcPr>
                    <a:solidFill>
                      <a:schemeClr val="tx2"/>
                    </a:solidFill>
                  </a:tcPr>
                </a:tc>
              </a:tr>
              <a:tr h="326728">
                <a:tc>
                  <a:txBody>
                    <a:bodyPr/>
                    <a:lstStyle/>
                    <a:p>
                      <a:pPr algn="ctr"/>
                      <a:r>
                        <a:rPr lang="en-US" sz="1200" dirty="0" smtClean="0">
                          <a:latin typeface="Times New Roman" panose="02020603050405020304" pitchFamily="18" charset="0"/>
                          <a:cs typeface="Times New Roman" panose="02020603050405020304" pitchFamily="18" charset="0"/>
                        </a:rPr>
                        <a:t>11.</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Eligible Collateral</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326728">
                <a:tc>
                  <a:txBody>
                    <a:bodyPr/>
                    <a:lstStyle/>
                    <a:p>
                      <a:pPr algn="ctr"/>
                      <a:r>
                        <a:rPr lang="en-US" sz="1200" dirty="0" smtClean="0">
                          <a:latin typeface="Times New Roman" panose="02020603050405020304" pitchFamily="18" charset="0"/>
                          <a:cs typeface="Times New Roman" panose="02020603050405020304" pitchFamily="18" charset="0"/>
                        </a:rPr>
                        <a:t>12.</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Contractual vs. Effective Interest Rate</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326728">
                <a:tc>
                  <a:txBody>
                    <a:bodyPr/>
                    <a:lstStyle/>
                    <a:p>
                      <a:pPr algn="ctr"/>
                      <a:r>
                        <a:rPr lang="en-US" sz="1200" dirty="0" smtClean="0">
                          <a:latin typeface="Times New Roman" panose="02020603050405020304" pitchFamily="18" charset="0"/>
                          <a:cs typeface="Times New Roman" panose="02020603050405020304" pitchFamily="18" charset="0"/>
                        </a:rPr>
                        <a:t>13.</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Period of Exposure</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338457">
                <a:tc>
                  <a:txBody>
                    <a:bodyPr/>
                    <a:lstStyle/>
                    <a:p>
                      <a:pPr algn="ctr"/>
                      <a:r>
                        <a:rPr lang="en-US" sz="1200" dirty="0" smtClean="0">
                          <a:latin typeface="Times New Roman" panose="02020603050405020304" pitchFamily="18" charset="0"/>
                          <a:cs typeface="Times New Roman" panose="02020603050405020304" pitchFamily="18" charset="0"/>
                        </a:rPr>
                        <a:t>14.</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ECL Approach</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r h="327170">
                <a:tc>
                  <a:txBody>
                    <a:bodyPr/>
                    <a:lstStyle/>
                    <a:p>
                      <a:pPr algn="ctr"/>
                      <a:r>
                        <a:rPr lang="en-US" sz="1200" dirty="0" smtClean="0">
                          <a:latin typeface="Times New Roman" panose="02020603050405020304" pitchFamily="18" charset="0"/>
                          <a:cs typeface="Times New Roman" panose="02020603050405020304" pitchFamily="18" charset="0"/>
                        </a:rPr>
                        <a:t>15.</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l"/>
                      <a:r>
                        <a:rPr lang="en-IN" sz="1200" dirty="0" smtClean="0">
                          <a:latin typeface="Times New Roman" panose="02020603050405020304" pitchFamily="18" charset="0"/>
                          <a:cs typeface="Times New Roman" panose="02020603050405020304" pitchFamily="18" charset="0"/>
                        </a:rPr>
                        <a:t>Scenarios and Forward Looking Information</a:t>
                      </a:r>
                      <a:endParaRPr lang="en-IN" sz="1200" dirty="0">
                        <a:latin typeface="Times New Roman" panose="02020603050405020304" pitchFamily="18" charset="0"/>
                        <a:cs typeface="Times New Roman" panose="02020603050405020304" pitchFamily="18" charset="0"/>
                      </a:endParaRPr>
                    </a:p>
                  </a:txBody>
                  <a:tcPr>
                    <a:solidFill>
                      <a:schemeClr val="bg1"/>
                    </a:solidFill>
                  </a:tcPr>
                </a:tc>
              </a:tr>
            </a:tbl>
          </a:graphicData>
        </a:graphic>
      </p:graphicFrame>
      <p:sp>
        <p:nvSpPr>
          <p:cNvPr id="7" name="Rectangle 6"/>
          <p:cNvSpPr/>
          <p:nvPr/>
        </p:nvSpPr>
        <p:spPr>
          <a:xfrm>
            <a:off x="215346" y="655140"/>
            <a:ext cx="9331325" cy="1154162"/>
          </a:xfrm>
          <a:prstGeom prst="rect">
            <a:avLst/>
          </a:prstGeom>
        </p:spPr>
        <p:txBody>
          <a:bodyPr wrap="square">
            <a:spAutoFit/>
          </a:bodyPr>
          <a:lstStyle/>
          <a:p>
            <a:pPr>
              <a:lnSpc>
                <a:spcPct val="115000"/>
              </a:lnSpc>
              <a:spcAft>
                <a:spcPts val="1000"/>
              </a:spcAft>
            </a:pPr>
            <a:r>
              <a:rPr lang="en-US" dirty="0">
                <a:ea typeface="Calibri" panose="020F0502020204030204" pitchFamily="34" charset="0"/>
              </a:rPr>
              <a:t>IFRS9 was released officially </a:t>
            </a:r>
            <a:r>
              <a:rPr lang="en-US" dirty="0" smtClean="0">
                <a:ea typeface="Calibri" panose="020F0502020204030204" pitchFamily="34" charset="0"/>
              </a:rPr>
              <a:t>in July 2014 </a:t>
            </a:r>
            <a:r>
              <a:rPr lang="en-US" dirty="0">
                <a:ea typeface="Calibri" panose="020F0502020204030204" pitchFamily="34" charset="0"/>
              </a:rPr>
              <a:t>for mandatory implementation no later than 1 January 2018.  Similar to other IFRS standards, IFRS9 is principles based and therefore permits interpretation of its requirements in a manner best suited to the reporting institution to ensure </a:t>
            </a:r>
            <a:r>
              <a:rPr lang="en-US" dirty="0" smtClean="0">
                <a:ea typeface="Calibri" panose="020F0502020204030204" pitchFamily="34" charset="0"/>
              </a:rPr>
              <a:t>fair </a:t>
            </a:r>
            <a:r>
              <a:rPr lang="en-US" dirty="0">
                <a:ea typeface="Calibri" panose="020F0502020204030204" pitchFamily="34" charset="0"/>
              </a:rPr>
              <a:t>reporting of its financial position.  In the past 3</a:t>
            </a:r>
            <a:r>
              <a:rPr lang="en-US" dirty="0" smtClean="0">
                <a:ea typeface="Calibri" panose="020F0502020204030204" pitchFamily="34" charset="0"/>
              </a:rPr>
              <a:t> </a:t>
            </a:r>
            <a:r>
              <a:rPr lang="en-US" dirty="0">
                <a:ea typeface="Calibri" panose="020F0502020204030204" pitchFamily="34" charset="0"/>
              </a:rPr>
              <a:t>years since its release, there has been much industry debate and interpretations, particularly in relation to the Banking industry, which will encounter the biggest impact of the Standard.  Consequently, there is already significant industry-wide material, which is considered best practice and on which banks, such as QNB can place reliance.</a:t>
            </a:r>
            <a:endParaRPr lang="en-IN" dirty="0">
              <a:effectLst/>
              <a:ea typeface="Calibri" panose="020F0502020204030204" pitchFamily="34" charset="0"/>
            </a:endParaRPr>
          </a:p>
        </p:txBody>
      </p:sp>
      <p:sp>
        <p:nvSpPr>
          <p:cNvPr id="3" name="TextBox 2"/>
          <p:cNvSpPr txBox="1"/>
          <p:nvPr/>
        </p:nvSpPr>
        <p:spPr>
          <a:xfrm>
            <a:off x="215346" y="2770397"/>
            <a:ext cx="9111458" cy="307777"/>
          </a:xfrm>
          <a:prstGeom prst="rect">
            <a:avLst/>
          </a:prstGeom>
          <a:noFill/>
        </p:spPr>
        <p:txBody>
          <a:bodyPr wrap="square" rtlCol="0">
            <a:spAutoFit/>
          </a:bodyPr>
          <a:lstStyle/>
          <a:p>
            <a:r>
              <a:rPr lang="en-US" sz="1400" b="1" dirty="0" smtClean="0"/>
              <a:t>Group Credit Committee (</a:t>
            </a:r>
            <a:r>
              <a:rPr lang="en-US" sz="1400" b="1" dirty="0" smtClean="0">
                <a:solidFill>
                  <a:srgbClr val="FF0000"/>
                </a:solidFill>
              </a:rPr>
              <a:t>ddmmm17</a:t>
            </a:r>
            <a:r>
              <a:rPr lang="en-US" sz="1400" b="1" dirty="0" smtClean="0"/>
              <a:t>)                                           Group Risk Management Committee (</a:t>
            </a:r>
            <a:r>
              <a:rPr lang="en-US" sz="1400" b="1" dirty="0" smtClean="0">
                <a:solidFill>
                  <a:srgbClr val="FF0000"/>
                </a:solidFill>
              </a:rPr>
              <a:t>ddmmm17</a:t>
            </a:r>
            <a:r>
              <a:rPr lang="en-US" sz="1400" b="1" dirty="0" smtClean="0"/>
              <a:t>)</a:t>
            </a:r>
            <a:endParaRPr lang="en-US" sz="1400" b="1" dirty="0"/>
          </a:p>
        </p:txBody>
      </p:sp>
      <p:pic>
        <p:nvPicPr>
          <p:cNvPr id="5" name="Picture 4"/>
          <p:cNvPicPr>
            <a:picLocks noChangeAspect="1"/>
          </p:cNvPicPr>
          <p:nvPr/>
        </p:nvPicPr>
        <p:blipFill>
          <a:blip r:embed="rId3"/>
          <a:stretch>
            <a:fillRect/>
          </a:stretch>
        </p:blipFill>
        <p:spPr>
          <a:xfrm>
            <a:off x="8144077" y="5359282"/>
            <a:ext cx="1182727" cy="1383912"/>
          </a:xfrm>
          <a:prstGeom prst="rect">
            <a:avLst/>
          </a:prstGeom>
        </p:spPr>
      </p:pic>
    </p:spTree>
    <p:extLst>
      <p:ext uri="{BB962C8B-B14F-4D97-AF65-F5344CB8AC3E}">
        <p14:creationId xmlns:p14="http://schemas.microsoft.com/office/powerpoint/2010/main" val="41611854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t>Scope, Approach and Limitations</a:t>
            </a:r>
            <a:endParaRPr lang="en-IN" sz="2400" b="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4</a:t>
            </a:fld>
            <a:endParaRPr lang="en-US" altLang="en-US"/>
          </a:p>
        </p:txBody>
      </p:sp>
      <p:sp>
        <p:nvSpPr>
          <p:cNvPr id="9" name="Rectangle 6"/>
          <p:cNvSpPr>
            <a:spLocks noChangeArrowheads="1"/>
          </p:cNvSpPr>
          <p:nvPr>
            <p:custDataLst>
              <p:tags r:id="rId1"/>
            </p:custDataLst>
          </p:nvPr>
        </p:nvSpPr>
        <p:spPr bwMode="auto">
          <a:xfrm>
            <a:off x="287338" y="1013760"/>
            <a:ext cx="1703248" cy="723275"/>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Scope</a:t>
            </a:r>
            <a:endParaRPr lang="en-US" altLang="en-US" sz="1400" b="1" dirty="0">
              <a:solidFill>
                <a:srgbClr val="FFFFFF"/>
              </a:solidFill>
              <a:cs typeface="Arial" panose="020B0604020202020204" pitchFamily="34" charset="0"/>
            </a:endParaRPr>
          </a:p>
        </p:txBody>
      </p:sp>
      <p:sp>
        <p:nvSpPr>
          <p:cNvPr id="10" name="Rectangle 22"/>
          <p:cNvSpPr>
            <a:spLocks noChangeArrowheads="1"/>
          </p:cNvSpPr>
          <p:nvPr>
            <p:custDataLst>
              <p:tags r:id="rId2"/>
            </p:custDataLst>
          </p:nvPr>
        </p:nvSpPr>
        <p:spPr bwMode="gray">
          <a:xfrm>
            <a:off x="2114520" y="1013761"/>
            <a:ext cx="7504143" cy="723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sz="1400" dirty="0" smtClean="0"/>
              <a:t>The </a:t>
            </a:r>
            <a:r>
              <a:rPr lang="en-US" sz="1400" dirty="0"/>
              <a:t>Technical Interpretations exercise covered the Impairment areas of the Standard that were deemed to be material for QNB and which therefore warranted detailed investigations to be performed and key decisions to be taken and documented</a:t>
            </a:r>
            <a:r>
              <a:rPr lang="en-US" sz="1400" dirty="0" smtClean="0"/>
              <a:t>.</a:t>
            </a:r>
            <a:endParaRPr lang="en-IN" sz="1400" dirty="0"/>
          </a:p>
        </p:txBody>
      </p:sp>
      <p:sp>
        <p:nvSpPr>
          <p:cNvPr id="11" name="Rectangle 6"/>
          <p:cNvSpPr>
            <a:spLocks noChangeArrowheads="1"/>
          </p:cNvSpPr>
          <p:nvPr>
            <p:custDataLst>
              <p:tags r:id="rId3"/>
            </p:custDataLst>
          </p:nvPr>
        </p:nvSpPr>
        <p:spPr bwMode="auto">
          <a:xfrm>
            <a:off x="287338" y="1904374"/>
            <a:ext cx="1703248" cy="2852063"/>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Approach</a:t>
            </a:r>
            <a:endParaRPr lang="en-US" altLang="en-US" sz="1400" b="1" dirty="0">
              <a:solidFill>
                <a:srgbClr val="FFFFFF"/>
              </a:solidFill>
              <a:cs typeface="Arial" panose="020B0604020202020204" pitchFamily="34" charset="0"/>
            </a:endParaRPr>
          </a:p>
        </p:txBody>
      </p:sp>
      <p:sp>
        <p:nvSpPr>
          <p:cNvPr id="12" name="Rectangle 22"/>
          <p:cNvSpPr>
            <a:spLocks noChangeArrowheads="1"/>
          </p:cNvSpPr>
          <p:nvPr>
            <p:custDataLst>
              <p:tags r:id="rId4"/>
            </p:custDataLst>
          </p:nvPr>
        </p:nvSpPr>
        <p:spPr bwMode="gray">
          <a:xfrm>
            <a:off x="2114520" y="1904375"/>
            <a:ext cx="7504143" cy="26725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sz="1400" dirty="0"/>
              <a:t>The exercise was led initially by EY, who were able to draw on their extensive IFRS9 experience, databases and understanding of the QCB guidelines and who combined this with their understanding obtained of QNB during the immediately preceding Diagnostic Review exercise.  In addition, the initially suggested interpretations were made with knowledge of any potential data availability restrictions and with an appreciation of how the Impairment Calculator (ECL Excel++ Tool) was most likely to operate</a:t>
            </a:r>
            <a:r>
              <a:rPr lang="en-IN" sz="1400" dirty="0" smtClean="0"/>
              <a:t>.</a:t>
            </a:r>
          </a:p>
          <a:p>
            <a:pPr marL="0" indent="0" eaLnBrk="1" hangingPunct="1">
              <a:lnSpc>
                <a:spcPts val="1400"/>
              </a:lnSpc>
              <a:spcBef>
                <a:spcPts val="300"/>
              </a:spcBef>
            </a:pPr>
            <a:endParaRPr lang="en-IN" sz="1400" dirty="0"/>
          </a:p>
          <a:p>
            <a:pPr marL="0" indent="0" eaLnBrk="1" hangingPunct="1">
              <a:lnSpc>
                <a:spcPts val="1400"/>
              </a:lnSpc>
              <a:spcBef>
                <a:spcPts val="300"/>
              </a:spcBef>
            </a:pPr>
            <a:r>
              <a:rPr lang="en-IN" sz="1400" dirty="0"/>
              <a:t>The initial EY interpretation proposals were then passed to QNB SRM who began a process of socialization with any other impacted QNB Departments, such as Credit Risk and Finance and following which any necessary amendments and refinements were duly made</a:t>
            </a:r>
            <a:r>
              <a:rPr lang="en-IN" sz="1400" dirty="0" smtClean="0"/>
              <a:t>.</a:t>
            </a:r>
          </a:p>
          <a:p>
            <a:pPr marL="0" indent="0" eaLnBrk="1" hangingPunct="1">
              <a:lnSpc>
                <a:spcPts val="1400"/>
              </a:lnSpc>
              <a:spcBef>
                <a:spcPts val="300"/>
              </a:spcBef>
            </a:pPr>
            <a:endParaRPr lang="en-IN" sz="1400" dirty="0"/>
          </a:p>
          <a:p>
            <a:pPr marL="0" indent="0" eaLnBrk="1" hangingPunct="1">
              <a:lnSpc>
                <a:spcPts val="1400"/>
              </a:lnSpc>
              <a:spcBef>
                <a:spcPts val="300"/>
              </a:spcBef>
            </a:pPr>
            <a:r>
              <a:rPr lang="en-IN" sz="1400" dirty="0"/>
              <a:t>Finally, after receiving the approval of the </a:t>
            </a:r>
            <a:r>
              <a:rPr lang="en-IN" sz="1400" dirty="0">
                <a:solidFill>
                  <a:srgbClr val="FF0000"/>
                </a:solidFill>
              </a:rPr>
              <a:t>&lt;</a:t>
            </a:r>
            <a:r>
              <a:rPr lang="en-IN" sz="1400" dirty="0" err="1">
                <a:solidFill>
                  <a:srgbClr val="FF0000"/>
                </a:solidFill>
              </a:rPr>
              <a:t>sss</a:t>
            </a:r>
            <a:r>
              <a:rPr lang="en-IN" sz="1400" dirty="0">
                <a:solidFill>
                  <a:srgbClr val="FF0000"/>
                </a:solidFill>
              </a:rPr>
              <a:t>&gt;</a:t>
            </a:r>
            <a:r>
              <a:rPr lang="en-IN" sz="1400" dirty="0"/>
              <a:t> </a:t>
            </a:r>
            <a:r>
              <a:rPr lang="en-IN" sz="1400" dirty="0" smtClean="0"/>
              <a:t>, </a:t>
            </a:r>
            <a:r>
              <a:rPr lang="en-IN" sz="1400" dirty="0"/>
              <a:t>the final Interpretations were submitted to the QNB </a:t>
            </a:r>
            <a:r>
              <a:rPr lang="en-IN" sz="1400" dirty="0" smtClean="0"/>
              <a:t>Executive level Group Credit </a:t>
            </a:r>
            <a:r>
              <a:rPr lang="en-IN" sz="1400" dirty="0"/>
              <a:t>and </a:t>
            </a:r>
            <a:r>
              <a:rPr lang="en-IN" sz="1400" dirty="0" smtClean="0"/>
              <a:t>Group Risk Management Committees </a:t>
            </a:r>
            <a:r>
              <a:rPr lang="en-IN" sz="1400" dirty="0"/>
              <a:t>for ultimate endorsement</a:t>
            </a:r>
            <a:r>
              <a:rPr lang="en-IN" sz="1400" dirty="0" smtClean="0"/>
              <a:t>.</a:t>
            </a:r>
            <a:endParaRPr lang="en-IN" sz="1400" dirty="0"/>
          </a:p>
        </p:txBody>
      </p:sp>
      <p:sp>
        <p:nvSpPr>
          <p:cNvPr id="13" name="Rectangle 6"/>
          <p:cNvSpPr>
            <a:spLocks noChangeArrowheads="1"/>
          </p:cNvSpPr>
          <p:nvPr>
            <p:custDataLst>
              <p:tags r:id="rId5"/>
            </p:custDataLst>
          </p:nvPr>
        </p:nvSpPr>
        <p:spPr bwMode="auto">
          <a:xfrm>
            <a:off x="287338" y="4923775"/>
            <a:ext cx="1703248" cy="1338829"/>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Limitations</a:t>
            </a:r>
            <a:endParaRPr lang="en-US" altLang="en-US" sz="1400" b="1" dirty="0">
              <a:solidFill>
                <a:srgbClr val="FFFFFF"/>
              </a:solidFill>
              <a:cs typeface="Arial" panose="020B0604020202020204" pitchFamily="34" charset="0"/>
            </a:endParaRPr>
          </a:p>
        </p:txBody>
      </p:sp>
      <p:sp>
        <p:nvSpPr>
          <p:cNvPr id="14" name="Rectangle 22"/>
          <p:cNvSpPr>
            <a:spLocks noChangeArrowheads="1"/>
          </p:cNvSpPr>
          <p:nvPr>
            <p:custDataLst>
              <p:tags r:id="rId6"/>
            </p:custDataLst>
          </p:nvPr>
        </p:nvSpPr>
        <p:spPr bwMode="gray">
          <a:xfrm>
            <a:off x="2114520" y="4923777"/>
            <a:ext cx="7504143" cy="13388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sz="1400" dirty="0"/>
              <a:t>As mentioned in the sections above, the exercise was focussed only on the interpretations that were deemed to be material for QNB.  In addition, for exercise considered only the Impairment aspects of the Standard.  It did not consider the Classification and Measurement nor Hedge Accounting </a:t>
            </a:r>
            <a:r>
              <a:rPr lang="en-IN" sz="1400" dirty="0" smtClean="0"/>
              <a:t>aspects.</a:t>
            </a:r>
          </a:p>
          <a:p>
            <a:pPr marL="0" indent="0" eaLnBrk="1" hangingPunct="1">
              <a:lnSpc>
                <a:spcPts val="1400"/>
              </a:lnSpc>
              <a:spcBef>
                <a:spcPts val="300"/>
              </a:spcBef>
            </a:pPr>
            <a:endParaRPr lang="en-IN" sz="1400" dirty="0"/>
          </a:p>
          <a:p>
            <a:pPr marL="0" indent="0" eaLnBrk="1" hangingPunct="1">
              <a:lnSpc>
                <a:spcPts val="1400"/>
              </a:lnSpc>
              <a:spcBef>
                <a:spcPts val="300"/>
              </a:spcBef>
            </a:pPr>
            <a:r>
              <a:rPr lang="en-IN" sz="1400" dirty="0" smtClean="0"/>
              <a:t>Although the interpretations are primary for Qatar and </a:t>
            </a:r>
            <a:r>
              <a:rPr lang="en-IN" sz="1400" dirty="0"/>
              <a:t>O</a:t>
            </a:r>
            <a:r>
              <a:rPr lang="en-IN" sz="1400" dirty="0" smtClean="0"/>
              <a:t>verseas Branches, other Subsidiaries will be encouraged to adopt similar interpretations, modified for local circumstances.</a:t>
            </a:r>
            <a:endParaRPr lang="en-IN" sz="1400" dirty="0"/>
          </a:p>
        </p:txBody>
      </p:sp>
    </p:spTree>
    <p:extLst>
      <p:ext uri="{BB962C8B-B14F-4D97-AF65-F5344CB8AC3E}">
        <p14:creationId xmlns:p14="http://schemas.microsoft.com/office/powerpoint/2010/main" val="41188585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t>Interpretations – Decision Summaries</a:t>
            </a:r>
            <a:endParaRPr lang="en-IN" sz="2400" b="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5</a:t>
            </a:fld>
            <a:endParaRPr lang="en-US" altLang="en-US"/>
          </a:p>
        </p:txBody>
      </p:sp>
      <p:graphicFrame>
        <p:nvGraphicFramePr>
          <p:cNvPr id="15" name="Table 14"/>
          <p:cNvGraphicFramePr>
            <a:graphicFrameLocks noGrp="1"/>
          </p:cNvGraphicFramePr>
          <p:nvPr>
            <p:extLst>
              <p:ext uri="{D42A27DB-BD31-4B8C-83A1-F6EECF244321}">
                <p14:modId xmlns:p14="http://schemas.microsoft.com/office/powerpoint/2010/main" val="2587247999"/>
              </p:ext>
            </p:extLst>
          </p:nvPr>
        </p:nvGraphicFramePr>
        <p:xfrm>
          <a:off x="287338" y="849630"/>
          <a:ext cx="8723311" cy="5280660"/>
        </p:xfrm>
        <a:graphic>
          <a:graphicData uri="http://schemas.openxmlformats.org/drawingml/2006/table">
            <a:tbl>
              <a:tblPr firstRow="1" bandRow="1">
                <a:tableStyleId>{5940675A-B579-460E-94D1-54222C63F5DA}</a:tableStyleId>
              </a:tblPr>
              <a:tblGrid>
                <a:gridCol w="638491"/>
                <a:gridCol w="1874520"/>
                <a:gridCol w="6210300"/>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Note</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Area</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Taken</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anose="02020603050405020304" pitchFamily="18" charset="0"/>
                          <a:cs typeface="Times New Roman" panose="02020603050405020304" pitchFamily="18" charset="0"/>
                        </a:rPr>
                        <a:t>Default Definition</a:t>
                      </a:r>
                    </a:p>
                  </a:txBody>
                  <a:tcPr anchor="ctr"/>
                </a:tc>
                <a:tc>
                  <a:txBody>
                    <a:bodyPr/>
                    <a:lstStyle/>
                    <a:p>
                      <a:pPr marL="285750" indent="-285750">
                        <a:buFont typeface="Arial" panose="020B0604020202020204" pitchFamily="34" charset="0"/>
                        <a:buChar char="•"/>
                      </a:pP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T</a:t>
                      </a: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he Bank will define default as +90DPD in repaying a loan</a:t>
                      </a:r>
                    </a:p>
                    <a:p>
                      <a:pPr marL="285750" indent="-285750">
                        <a:buFont typeface="Arial" panose="020B0604020202020204" pitchFamily="34" charset="0"/>
                        <a:buChar char="•"/>
                      </a:pP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Other than for technical reasons, there will be no exceptions</a:t>
                      </a:r>
                    </a:p>
                    <a:p>
                      <a:pPr marL="285750" indent="-285750">
                        <a:buFont typeface="Arial" panose="020B0604020202020204" pitchFamily="34" charset="0"/>
                        <a:buChar char="•"/>
                      </a:pP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Cures from default will occur only after 12 months</a:t>
                      </a:r>
                    </a:p>
                    <a:p>
                      <a:pPr marL="285750" indent="-285750">
                        <a:buFont typeface="Arial" panose="020B0604020202020204" pitchFamily="34" charset="0"/>
                        <a:buChar char="•"/>
                      </a:pP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Cross default will be applied for non-retail but not for retail borrowers</a:t>
                      </a:r>
                      <a:endParaRPr lang="en-IN" sz="16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Low Credit Risk Expedient</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The Bank will consider </a:t>
                      </a:r>
                      <a:r>
                        <a:rPr lang="en-US" sz="1600" kern="1200" dirty="0" smtClean="0">
                          <a:solidFill>
                            <a:schemeClr val="tx1"/>
                          </a:solidFill>
                          <a:latin typeface="Times New Roman" panose="02020603050405020304" pitchFamily="18" charset="0"/>
                          <a:ea typeface="+mn-ea"/>
                          <a:cs typeface="Times New Roman" panose="02020603050405020304" pitchFamily="18" charset="0"/>
                        </a:rPr>
                        <a:t>externally rated and</a:t>
                      </a: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600" kern="1200" dirty="0" smtClean="0">
                          <a:solidFill>
                            <a:schemeClr val="tx1"/>
                          </a:solidFill>
                          <a:latin typeface="Times New Roman" panose="02020603050405020304" pitchFamily="18" charset="0"/>
                          <a:ea typeface="+mn-ea"/>
                          <a:cs typeface="Times New Roman" panose="02020603050405020304" pitchFamily="18" charset="0"/>
                        </a:rPr>
                        <a:t>Aa- and above as the cut-off grade for applying LCR</a:t>
                      </a:r>
                      <a:endParaRPr lang="en-US" sz="16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dirty="0" smtClean="0">
                          <a:solidFill>
                            <a:schemeClr val="tx1"/>
                          </a:solidFill>
                          <a:latin typeface="Times New Roman" panose="02020603050405020304" pitchFamily="18" charset="0"/>
                          <a:ea typeface="+mn-ea"/>
                          <a:cs typeface="Times New Roman" panose="02020603050405020304" pitchFamily="18" charset="0"/>
                        </a:rPr>
                        <a:t>Subject</a:t>
                      </a: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 to QCB approval, the Bank</a:t>
                      </a:r>
                      <a:r>
                        <a:rPr lang="en-US" sz="1600" kern="1200" dirty="0" smtClean="0">
                          <a:solidFill>
                            <a:schemeClr val="tx1"/>
                          </a:solidFill>
                          <a:latin typeface="Times New Roman" panose="02020603050405020304" pitchFamily="18" charset="0"/>
                          <a:ea typeface="+mn-ea"/>
                          <a:cs typeface="Times New Roman" panose="02020603050405020304" pitchFamily="18" charset="0"/>
                        </a:rPr>
                        <a:t> may</a:t>
                      </a: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 consider </a:t>
                      </a:r>
                      <a:r>
                        <a:rPr lang="en-US" sz="1600" kern="1200" dirty="0" smtClean="0">
                          <a:solidFill>
                            <a:schemeClr val="tx1"/>
                          </a:solidFill>
                          <a:latin typeface="Times New Roman" panose="02020603050405020304" pitchFamily="18" charset="0"/>
                          <a:ea typeface="+mn-ea"/>
                          <a:cs typeface="Times New Roman" panose="02020603050405020304" pitchFamily="18" charset="0"/>
                        </a:rPr>
                        <a:t>both externally</a:t>
                      </a: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 rated or unrated facilities/</a:t>
                      </a:r>
                      <a:r>
                        <a:rPr lang="en-US" sz="1600" kern="1200" dirty="0" smtClean="0">
                          <a:solidFill>
                            <a:schemeClr val="tx1"/>
                          </a:solidFill>
                          <a:latin typeface="Times New Roman" panose="02020603050405020304" pitchFamily="18" charset="0"/>
                          <a:ea typeface="+mn-ea"/>
                          <a:cs typeface="Times New Roman" panose="02020603050405020304" pitchFamily="18" charset="0"/>
                        </a:rPr>
                        <a:t>instruments that have a full </a:t>
                      </a:r>
                      <a:r>
                        <a:rPr lang="en-US" sz="1600" kern="1200" dirty="0" err="1" smtClean="0">
                          <a:solidFill>
                            <a:schemeClr val="tx1"/>
                          </a:solidFill>
                          <a:latin typeface="Times New Roman" panose="02020603050405020304" pitchFamily="18" charset="0"/>
                          <a:ea typeface="+mn-ea"/>
                          <a:cs typeface="Times New Roman" panose="02020603050405020304" pitchFamily="18" charset="0"/>
                        </a:rPr>
                        <a:t>SoQ</a:t>
                      </a:r>
                      <a:r>
                        <a:rPr lang="en-US" sz="1600" kern="1200" dirty="0" smtClean="0">
                          <a:solidFill>
                            <a:schemeClr val="tx1"/>
                          </a:solidFill>
                          <a:latin typeface="Times New Roman" panose="02020603050405020304" pitchFamily="18" charset="0"/>
                          <a:ea typeface="+mn-ea"/>
                          <a:cs typeface="Times New Roman" panose="02020603050405020304" pitchFamily="18" charset="0"/>
                        </a:rPr>
                        <a:t> guarantee</a:t>
                      </a:r>
                    </a:p>
                  </a:txBody>
                  <a:tcPr anchor="ctr"/>
                </a:tc>
              </a:tr>
              <a:tr h="88646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3</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30 DPD Rebuttable Assumption</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At an overall level, the Bank will not rebut the +30DPD assumption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baseline="0" dirty="0" smtClean="0">
                          <a:solidFill>
                            <a:schemeClr val="tx1"/>
                          </a:solidFill>
                          <a:latin typeface="Times New Roman" panose="02020603050405020304" pitchFamily="18" charset="0"/>
                          <a:ea typeface="+mn-ea"/>
                          <a:cs typeface="Times New Roman" panose="02020603050405020304" pitchFamily="18" charset="0"/>
                        </a:rPr>
                        <a:t>However, exceptions will be considered on an individual case-by-case basis for material not-retail counterparts but with a +60DPD backstop</a:t>
                      </a: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4</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Modification of Assets</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u="none" kern="1200" dirty="0" smtClean="0">
                          <a:solidFill>
                            <a:srgbClr val="000000"/>
                          </a:solidFill>
                          <a:latin typeface="Times New Roman" panose="02020603050405020304" pitchFamily="18" charset="0"/>
                          <a:ea typeface="+mn-ea"/>
                          <a:cs typeface="Times New Roman" panose="02020603050405020304" pitchFamily="18" charset="0"/>
                        </a:rPr>
                        <a:t>Asset modifications will be classified as</a:t>
                      </a:r>
                      <a:r>
                        <a:rPr lang="en-US" sz="1600" b="0" u="none" kern="1200" baseline="0" dirty="0" smtClean="0">
                          <a:solidFill>
                            <a:srgbClr val="000000"/>
                          </a:solidFill>
                          <a:latin typeface="Times New Roman" panose="02020603050405020304" pitchFamily="18" charset="0"/>
                          <a:ea typeface="+mn-ea"/>
                          <a:cs typeface="Times New Roman" panose="02020603050405020304" pitchFamily="18" charset="0"/>
                        </a:rPr>
                        <a:t> follows:-</a:t>
                      </a:r>
                    </a:p>
                    <a:p>
                      <a:pPr marL="742950" marR="0" lvl="1" indent="-285750" algn="l" defTabSz="914400" rtl="0" eaLnBrk="1" fontAlgn="auto" latinLnBrk="0" hangingPunct="1">
                        <a:lnSpc>
                          <a:spcPct val="100000"/>
                        </a:lnSpc>
                        <a:spcBef>
                          <a:spcPts val="0"/>
                        </a:spcBef>
                        <a:spcAft>
                          <a:spcPts val="0"/>
                        </a:spcAft>
                        <a:buClrTx/>
                        <a:buSzPct val="90000"/>
                        <a:buFont typeface="Courier New" panose="02070309020205020404" pitchFamily="49" charset="0"/>
                        <a:buChar char="o"/>
                        <a:tabLst/>
                        <a:defRPr/>
                      </a:pPr>
                      <a:r>
                        <a:rPr lang="en-US" sz="1600" b="0" u="none" kern="1200" dirty="0" smtClean="0">
                          <a:solidFill>
                            <a:srgbClr val="000000"/>
                          </a:solidFill>
                          <a:latin typeface="Times New Roman" panose="02020603050405020304" pitchFamily="18" charset="0"/>
                          <a:ea typeface="+mn-ea"/>
                          <a:cs typeface="Times New Roman" panose="02020603050405020304" pitchFamily="18" charset="0"/>
                        </a:rPr>
                        <a:t>Stage 1 – Commercial reasons</a:t>
                      </a:r>
                    </a:p>
                    <a:p>
                      <a:pPr marL="742950" marR="0" lvl="1" indent="-285750" algn="l" defTabSz="914400" rtl="0" eaLnBrk="1" fontAlgn="auto" latinLnBrk="0" hangingPunct="1">
                        <a:lnSpc>
                          <a:spcPct val="100000"/>
                        </a:lnSpc>
                        <a:spcBef>
                          <a:spcPts val="0"/>
                        </a:spcBef>
                        <a:spcAft>
                          <a:spcPts val="0"/>
                        </a:spcAft>
                        <a:buClrTx/>
                        <a:buSzPct val="90000"/>
                        <a:buFont typeface="Courier New" panose="02070309020205020404" pitchFamily="49" charset="0"/>
                        <a:buChar char="o"/>
                        <a:tabLst/>
                        <a:defRPr/>
                      </a:pPr>
                      <a:r>
                        <a:rPr lang="en-US" sz="1600" b="0" u="none" kern="1200" dirty="0" smtClean="0">
                          <a:solidFill>
                            <a:srgbClr val="000000"/>
                          </a:solidFill>
                          <a:latin typeface="Times New Roman" panose="02020603050405020304" pitchFamily="18" charset="0"/>
                          <a:ea typeface="+mn-ea"/>
                          <a:cs typeface="Times New Roman" panose="02020603050405020304" pitchFamily="18" charset="0"/>
                        </a:rPr>
                        <a:t>Stage</a:t>
                      </a:r>
                      <a:r>
                        <a:rPr lang="en-US" sz="1600" b="0" u="none" kern="1200" baseline="0" dirty="0" smtClean="0">
                          <a:solidFill>
                            <a:srgbClr val="000000"/>
                          </a:solidFill>
                          <a:latin typeface="Times New Roman" panose="02020603050405020304" pitchFamily="18" charset="0"/>
                          <a:ea typeface="+mn-ea"/>
                          <a:cs typeface="Times New Roman" panose="02020603050405020304" pitchFamily="18" charset="0"/>
                        </a:rPr>
                        <a:t> 2 – C</a:t>
                      </a:r>
                      <a:r>
                        <a:rPr lang="en-US" sz="1600" b="0" u="none" kern="1200" dirty="0" smtClean="0">
                          <a:solidFill>
                            <a:srgbClr val="000000"/>
                          </a:solidFill>
                          <a:latin typeface="Times New Roman" panose="02020603050405020304" pitchFamily="18" charset="0"/>
                          <a:ea typeface="+mn-ea"/>
                          <a:cs typeface="Times New Roman" panose="02020603050405020304" pitchFamily="18" charset="0"/>
                        </a:rPr>
                        <a:t>redit reasons not amounting to default</a:t>
                      </a:r>
                      <a:endParaRPr lang="en-US" sz="1600" b="0" u="none" kern="1200" baseline="0" dirty="0" smtClean="0">
                        <a:solidFill>
                          <a:srgbClr val="000000"/>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auto" latinLnBrk="0" hangingPunct="1">
                        <a:lnSpc>
                          <a:spcPct val="100000"/>
                        </a:lnSpc>
                        <a:spcBef>
                          <a:spcPts val="0"/>
                        </a:spcBef>
                        <a:spcAft>
                          <a:spcPts val="0"/>
                        </a:spcAft>
                        <a:buClrTx/>
                        <a:buSzPct val="90000"/>
                        <a:buFont typeface="Courier New" panose="02070309020205020404" pitchFamily="49" charset="0"/>
                        <a:buChar char="o"/>
                        <a:tabLst/>
                        <a:defRPr/>
                      </a:pPr>
                      <a:r>
                        <a:rPr lang="en-US" sz="1600" b="0" u="none" kern="1200" baseline="0" dirty="0" smtClean="0">
                          <a:solidFill>
                            <a:srgbClr val="000000"/>
                          </a:solidFill>
                          <a:latin typeface="Times New Roman" panose="02020603050405020304" pitchFamily="18" charset="0"/>
                          <a:ea typeface="+mn-ea"/>
                          <a:cs typeface="Times New Roman" panose="02020603050405020304" pitchFamily="18" charset="0"/>
                        </a:rPr>
                        <a:t>Stage 3 – C</a:t>
                      </a:r>
                      <a:r>
                        <a:rPr lang="en-US" sz="1600" b="0" u="none" kern="1200" dirty="0" smtClean="0">
                          <a:solidFill>
                            <a:srgbClr val="000000"/>
                          </a:solidFill>
                          <a:latin typeface="Times New Roman" panose="02020603050405020304" pitchFamily="18" charset="0"/>
                          <a:ea typeface="+mn-ea"/>
                          <a:cs typeface="Times New Roman" panose="02020603050405020304" pitchFamily="18" charset="0"/>
                        </a:rPr>
                        <a:t>redit reasons amounting to default</a:t>
                      </a: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5</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Facility Level vs  Counterparty Level Assessment of SICR</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600" kern="1200" dirty="0" smtClean="0">
                          <a:solidFill>
                            <a:srgbClr val="000000"/>
                          </a:solidFill>
                          <a:latin typeface="Times New Roman" panose="02020603050405020304" pitchFamily="18" charset="0"/>
                          <a:ea typeface="+mn-ea"/>
                          <a:cs typeface="Times New Roman" panose="02020603050405020304" pitchFamily="18" charset="0"/>
                        </a:rPr>
                        <a:t>For non-retail, the +30DPD criteria will be applied at facility level</a:t>
                      </a: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 but the rating downgrade criteria will be applied at counterparty level</a:t>
                      </a:r>
                    </a:p>
                    <a:p>
                      <a:pPr marL="285750" indent="-285750">
                        <a:buFont typeface="Arial" panose="020B0604020202020204" pitchFamily="34" charset="0"/>
                        <a:buChar char="•"/>
                      </a:pP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For retail, the facility level will be applied. </a:t>
                      </a:r>
                      <a:endParaRPr lang="en-IN" sz="16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r>
            </a:tbl>
          </a:graphicData>
        </a:graphic>
      </p:graphicFrame>
    </p:spTree>
    <p:extLst>
      <p:ext uri="{BB962C8B-B14F-4D97-AF65-F5344CB8AC3E}">
        <p14:creationId xmlns:p14="http://schemas.microsoft.com/office/powerpoint/2010/main" val="22039532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t>Interpretations – Decision Summaries (continued)</a:t>
            </a:r>
            <a:endParaRPr lang="en-IN" sz="2400" b="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6</a:t>
            </a:fld>
            <a:endParaRPr lang="en-US" altLang="en-US"/>
          </a:p>
        </p:txBody>
      </p:sp>
      <p:graphicFrame>
        <p:nvGraphicFramePr>
          <p:cNvPr id="15" name="Table 14"/>
          <p:cNvGraphicFramePr>
            <a:graphicFrameLocks noGrp="1"/>
          </p:cNvGraphicFramePr>
          <p:nvPr>
            <p:extLst>
              <p:ext uri="{D42A27DB-BD31-4B8C-83A1-F6EECF244321}">
                <p14:modId xmlns:p14="http://schemas.microsoft.com/office/powerpoint/2010/main" val="708549146"/>
              </p:ext>
            </p:extLst>
          </p:nvPr>
        </p:nvGraphicFramePr>
        <p:xfrm>
          <a:off x="287338" y="895350"/>
          <a:ext cx="8723311" cy="4765040"/>
        </p:xfrm>
        <a:graphic>
          <a:graphicData uri="http://schemas.openxmlformats.org/drawingml/2006/table">
            <a:tbl>
              <a:tblPr firstRow="1" bandRow="1">
                <a:tableStyleId>{5940675A-B579-460E-94D1-54222C63F5DA}</a:tableStyleId>
              </a:tblPr>
              <a:tblGrid>
                <a:gridCol w="638491"/>
                <a:gridCol w="1874520"/>
                <a:gridCol w="6210300"/>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Note</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Area</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Taken</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6</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Individual vs. Collective Assessment</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600" kern="1200" dirty="0" smtClean="0">
                          <a:solidFill>
                            <a:srgbClr val="000000"/>
                          </a:solidFill>
                          <a:latin typeface="Times New Roman" panose="02020603050405020304" pitchFamily="18" charset="0"/>
                          <a:ea typeface="+mn-ea"/>
                          <a:cs typeface="Times New Roman" panose="02020603050405020304" pitchFamily="18" charset="0"/>
                        </a:rPr>
                        <a:t>The</a:t>
                      </a: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 Bank will be assessing all facilities on an individual basis, either via the application of automated rules, or via additional individual assessment of material non-retail accounts</a:t>
                      </a:r>
                      <a:endParaRPr lang="en-IN" sz="16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7</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Backward Transition</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dirty="0" smtClean="0">
                          <a:solidFill>
                            <a:srgbClr val="000000"/>
                          </a:solidFill>
                          <a:latin typeface="Times New Roman" panose="02020603050405020304" pitchFamily="18" charset="0"/>
                          <a:ea typeface="+mn-ea"/>
                          <a:cs typeface="Times New Roman" panose="02020603050405020304" pitchFamily="18" charset="0"/>
                        </a:rPr>
                        <a:t>For </a:t>
                      </a: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non-retail accounts, a 12 month probation period will be enforced for all backward transitions out of stages 2 and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For retail accounts, subject to QCB approval, a probation period for backward transitions of only 3 months will be enforced</a:t>
                      </a:r>
                      <a:endParaRPr lang="en-IN" sz="16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8</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12 Month PD vs. Lifetime PD</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600" kern="1200" dirty="0" smtClean="0">
                          <a:solidFill>
                            <a:srgbClr val="000000"/>
                          </a:solidFill>
                          <a:latin typeface="Times New Roman" panose="02020603050405020304" pitchFamily="18" charset="0"/>
                          <a:ea typeface="+mn-ea"/>
                          <a:cs typeface="Times New Roman" panose="02020603050405020304" pitchFamily="18" charset="0"/>
                        </a:rPr>
                        <a:t>This</a:t>
                      </a: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 is not applicable for retail accounts, as 30DPD will be the only criteria.  For non-retail accounts, the Bank will be applying the practical expedient as Equation ratings are not truly indicative of lifetime default risk</a:t>
                      </a:r>
                      <a:endParaRPr lang="en-IN" sz="16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9</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anose="02020603050405020304" pitchFamily="18" charset="0"/>
                          <a:cs typeface="Times New Roman" panose="02020603050405020304" pitchFamily="18" charset="0"/>
                        </a:rPr>
                        <a:t>SICR at transition</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dirty="0" smtClean="0">
                          <a:solidFill>
                            <a:srgbClr val="000000"/>
                          </a:solidFill>
                          <a:latin typeface="Times New Roman" panose="02020603050405020304" pitchFamily="18" charset="0"/>
                          <a:ea typeface="+mn-ea"/>
                          <a:cs typeface="Times New Roman" panose="02020603050405020304" pitchFamily="18" charset="0"/>
                        </a:rPr>
                        <a:t>F</a:t>
                      </a: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or retail facilities, the DPD at transition will be the only criteria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baseline="0" dirty="0" smtClean="0">
                          <a:solidFill>
                            <a:srgbClr val="000000"/>
                          </a:solidFill>
                          <a:latin typeface="Times New Roman" panose="02020603050405020304" pitchFamily="18" charset="0"/>
                          <a:ea typeface="+mn-ea"/>
                          <a:cs typeface="Times New Roman" panose="02020603050405020304" pitchFamily="18" charset="0"/>
                        </a:rPr>
                        <a:t>For old non-retail facilities, the Bank will compare the Equation rating as at 2013 (i.e. post oil price shock) with the Equation rating as at 1Jan18 as a proxy for SICR.</a:t>
                      </a:r>
                      <a:endParaRPr lang="en-IN" sz="16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10</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Staging</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600" kern="1200" dirty="0" smtClean="0">
                          <a:solidFill>
                            <a:srgbClr val="FF0000"/>
                          </a:solidFill>
                          <a:latin typeface="Times New Roman" panose="02020603050405020304" pitchFamily="18" charset="0"/>
                          <a:ea typeface="+mn-ea"/>
                          <a:cs typeface="Times New Roman" panose="02020603050405020304" pitchFamily="18" charset="0"/>
                        </a:rPr>
                        <a:t>To be inserted following agreement of staging document </a:t>
                      </a:r>
                    </a:p>
                  </a:txBody>
                  <a:tcPr anchor="ctr"/>
                </a:tc>
              </a:tr>
            </a:tbl>
          </a:graphicData>
        </a:graphic>
      </p:graphicFrame>
    </p:spTree>
    <p:extLst>
      <p:ext uri="{BB962C8B-B14F-4D97-AF65-F5344CB8AC3E}">
        <p14:creationId xmlns:p14="http://schemas.microsoft.com/office/powerpoint/2010/main" val="31762482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t>Interpretations – Decision Summaries (continued)</a:t>
            </a:r>
            <a:endParaRPr lang="en-IN" sz="2400" b="1" dirty="0"/>
          </a:p>
        </p:txBody>
      </p:sp>
      <p:sp>
        <p:nvSpPr>
          <p:cNvPr id="4" name="Slide Number Placeholder 3"/>
          <p:cNvSpPr>
            <a:spLocks noGrp="1"/>
          </p:cNvSpPr>
          <p:nvPr>
            <p:ph type="sldNum" sz="quarter" idx="10"/>
          </p:nvPr>
        </p:nvSpPr>
        <p:spPr/>
        <p:txBody>
          <a:bodyPr/>
          <a:lstStyle/>
          <a:p>
            <a:fld id="{619DD51E-23C3-4AB3-B9A1-A43F0E8D019A}" type="slidenum">
              <a:rPr lang="en-US" altLang="en-US" smtClean="0"/>
              <a:pPr/>
              <a:t>7</a:t>
            </a:fld>
            <a:endParaRPr lang="en-US" altLang="en-US"/>
          </a:p>
        </p:txBody>
      </p:sp>
      <p:graphicFrame>
        <p:nvGraphicFramePr>
          <p:cNvPr id="15" name="Table 14"/>
          <p:cNvGraphicFramePr>
            <a:graphicFrameLocks noGrp="1"/>
          </p:cNvGraphicFramePr>
          <p:nvPr>
            <p:extLst>
              <p:ext uri="{D42A27DB-BD31-4B8C-83A1-F6EECF244321}">
                <p14:modId xmlns:p14="http://schemas.microsoft.com/office/powerpoint/2010/main" val="1166164424"/>
              </p:ext>
            </p:extLst>
          </p:nvPr>
        </p:nvGraphicFramePr>
        <p:xfrm>
          <a:off x="287339" y="1181100"/>
          <a:ext cx="8723311" cy="3129280"/>
        </p:xfrm>
        <a:graphic>
          <a:graphicData uri="http://schemas.openxmlformats.org/drawingml/2006/table">
            <a:tbl>
              <a:tblPr firstRow="1" bandRow="1">
                <a:tableStyleId>{5940675A-B579-460E-94D1-54222C63F5DA}</a:tableStyleId>
              </a:tblPr>
              <a:tblGrid>
                <a:gridCol w="638491"/>
                <a:gridCol w="1874520"/>
                <a:gridCol w="6210300"/>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Note</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Area</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Taken</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11</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Eligible Collateral</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dirty="0" smtClean="0">
                          <a:solidFill>
                            <a:srgbClr val="FF0000"/>
                          </a:solidFill>
                          <a:latin typeface="Times New Roman" panose="02020603050405020304" pitchFamily="18" charset="0"/>
                          <a:ea typeface="+mn-ea"/>
                          <a:cs typeface="Times New Roman" panose="02020603050405020304" pitchFamily="18" charset="0"/>
                        </a:rPr>
                        <a:t>To be inserted once listed</a:t>
                      </a:r>
                      <a:r>
                        <a:rPr lang="en-IN" sz="1600" kern="1200" baseline="0" dirty="0" smtClean="0">
                          <a:solidFill>
                            <a:srgbClr val="FF0000"/>
                          </a:solidFill>
                          <a:latin typeface="Times New Roman" panose="02020603050405020304" pitchFamily="18" charset="0"/>
                          <a:ea typeface="+mn-ea"/>
                          <a:cs typeface="Times New Roman" panose="02020603050405020304" pitchFamily="18" charset="0"/>
                        </a:rPr>
                        <a:t> in the TIN</a:t>
                      </a:r>
                      <a:r>
                        <a:rPr lang="en-IN" sz="1600" kern="1200" dirty="0" smtClean="0">
                          <a:solidFill>
                            <a:srgbClr val="FF0000"/>
                          </a:solidFill>
                          <a:latin typeface="Times New Roman" panose="02020603050405020304" pitchFamily="18" charset="0"/>
                          <a:ea typeface="+mn-ea"/>
                          <a:cs typeface="Times New Roman" panose="02020603050405020304" pitchFamily="18" charset="0"/>
                        </a:rPr>
                        <a:t> </a:t>
                      </a: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12</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Contractual vs. Effective Interest Rate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baseline="0" dirty="0" smtClean="0">
                          <a:solidFill>
                            <a:schemeClr val="tx1"/>
                          </a:solidFill>
                          <a:latin typeface="Times New Roman" panose="02020603050405020304" pitchFamily="18" charset="0"/>
                          <a:ea typeface="+mn-ea"/>
                          <a:cs typeface="Times New Roman" panose="02020603050405020304" pitchFamily="18" charset="0"/>
                        </a:rPr>
                        <a:t>Due to the immateriality of the amounts, t</a:t>
                      </a:r>
                      <a:r>
                        <a:rPr lang="en-US" sz="1600" b="0" kern="1200" dirty="0" smtClean="0">
                          <a:solidFill>
                            <a:schemeClr val="tx1"/>
                          </a:solidFill>
                          <a:latin typeface="Times New Roman" panose="02020603050405020304" pitchFamily="18" charset="0"/>
                          <a:ea typeface="+mn-ea"/>
                          <a:cs typeface="Times New Roman" panose="02020603050405020304" pitchFamily="18" charset="0"/>
                        </a:rPr>
                        <a:t>he Bank will use contractual interest rates as a substitute for effective</a:t>
                      </a:r>
                      <a:r>
                        <a:rPr lang="en-US" sz="1600" b="0" kern="1200" baseline="0" dirty="0" smtClean="0">
                          <a:solidFill>
                            <a:schemeClr val="tx1"/>
                          </a:solidFill>
                          <a:latin typeface="Times New Roman" panose="02020603050405020304" pitchFamily="18" charset="0"/>
                          <a:ea typeface="+mn-ea"/>
                          <a:cs typeface="Times New Roman" panose="02020603050405020304" pitchFamily="18" charset="0"/>
                        </a:rPr>
                        <a:t> interest rates </a:t>
                      </a:r>
                      <a:r>
                        <a:rPr lang="en-US" sz="1600" b="0" kern="1200" dirty="0" smtClean="0">
                          <a:solidFill>
                            <a:schemeClr val="tx1"/>
                          </a:solidFill>
                          <a:latin typeface="Times New Roman" panose="02020603050405020304" pitchFamily="18" charset="0"/>
                          <a:ea typeface="+mn-ea"/>
                          <a:cs typeface="Times New Roman" panose="02020603050405020304" pitchFamily="18" charset="0"/>
                        </a:rPr>
                        <a:t>for the purpose of discounting</a:t>
                      </a:r>
                      <a:r>
                        <a:rPr lang="en-US" sz="1600" b="0" kern="1200" baseline="0" dirty="0" smtClean="0">
                          <a:solidFill>
                            <a:schemeClr val="tx1"/>
                          </a:solidFill>
                          <a:latin typeface="Times New Roman" panose="02020603050405020304" pitchFamily="18" charset="0"/>
                          <a:ea typeface="+mn-ea"/>
                          <a:cs typeface="Times New Roman" panose="02020603050405020304" pitchFamily="18" charset="0"/>
                        </a:rPr>
                        <a:t> within the ECL impairment calculation</a:t>
                      </a:r>
                      <a:r>
                        <a:rPr lang="en-US" sz="1600" b="0" kern="1200" dirty="0" smtClean="0">
                          <a:solidFill>
                            <a:schemeClr val="tx1"/>
                          </a:solidFill>
                          <a:latin typeface="Times New Roman" panose="02020603050405020304" pitchFamily="18" charset="0"/>
                          <a:ea typeface="+mn-ea"/>
                          <a:cs typeface="Times New Roman" panose="02020603050405020304" pitchFamily="18" charset="0"/>
                        </a:rPr>
                        <a:t>.</a:t>
                      </a: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13</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Period of Exposure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dirty="0" smtClean="0">
                          <a:solidFill>
                            <a:srgbClr val="FF0000"/>
                          </a:solidFill>
                          <a:latin typeface="Times New Roman" panose="02020603050405020304" pitchFamily="18" charset="0"/>
                          <a:ea typeface="+mn-ea"/>
                          <a:cs typeface="Times New Roman" panose="02020603050405020304" pitchFamily="18" charset="0"/>
                        </a:rPr>
                        <a:t>To be inserted once decided</a:t>
                      </a: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14</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ECL Approach</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dirty="0" smtClean="0">
                          <a:solidFill>
                            <a:srgbClr val="FF0000"/>
                          </a:solidFill>
                          <a:latin typeface="Times New Roman" panose="02020603050405020304" pitchFamily="18" charset="0"/>
                          <a:ea typeface="+mn-ea"/>
                          <a:cs typeface="Times New Roman" panose="02020603050405020304" pitchFamily="18" charset="0"/>
                        </a:rPr>
                        <a:t>To be inserted once decided</a:t>
                      </a:r>
                    </a:p>
                  </a:txBody>
                  <a:tcPr anchor="ctr"/>
                </a:tc>
              </a:tr>
              <a:tr h="370840">
                <a:tc>
                  <a:txBody>
                    <a:bodyPr/>
                    <a:lstStyle/>
                    <a:p>
                      <a:pPr algn="ctr"/>
                      <a:r>
                        <a:rPr lang="en-US" sz="1600" kern="1200" dirty="0" smtClean="0">
                          <a:solidFill>
                            <a:srgbClr val="000000"/>
                          </a:solidFill>
                          <a:latin typeface="Times New Roman" panose="02020603050405020304" pitchFamily="18" charset="0"/>
                          <a:ea typeface="+mn-ea"/>
                          <a:cs typeface="Times New Roman" panose="02020603050405020304" pitchFamily="18" charset="0"/>
                        </a:rPr>
                        <a:t>15</a:t>
                      </a:r>
                      <a:endParaRPr lang="en-US" sz="16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anose="02020603050405020304" pitchFamily="18" charset="0"/>
                          <a:cs typeface="Times New Roman" panose="02020603050405020304" pitchFamily="18" charset="0"/>
                        </a:rPr>
                        <a:t>Scenarios and Forward Looking Information</a:t>
                      </a:r>
                      <a:endParaRPr lang="en-US" sz="1600" dirty="0" smtClean="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1200" dirty="0" smtClean="0">
                          <a:solidFill>
                            <a:srgbClr val="FF0000"/>
                          </a:solidFill>
                          <a:latin typeface="Times New Roman" panose="02020603050405020304" pitchFamily="18" charset="0"/>
                          <a:ea typeface="+mn-ea"/>
                          <a:cs typeface="Times New Roman" panose="02020603050405020304" pitchFamily="18" charset="0"/>
                        </a:rPr>
                        <a:t>To be inserted once decided</a:t>
                      </a:r>
                    </a:p>
                  </a:txBody>
                  <a:tcPr anchor="ctr"/>
                </a:tc>
              </a:tr>
            </a:tbl>
          </a:graphicData>
        </a:graphic>
      </p:graphicFrame>
    </p:spTree>
    <p:extLst>
      <p:ext uri="{BB962C8B-B14F-4D97-AF65-F5344CB8AC3E}">
        <p14:creationId xmlns:p14="http://schemas.microsoft.com/office/powerpoint/2010/main" val="2363819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a:t>Technical</a:t>
            </a:r>
            <a:r>
              <a:rPr lang="fr-FR" altLang="en-US" sz="2200" dirty="0"/>
              <a:t> </a:t>
            </a:r>
            <a:r>
              <a:rPr lang="fr-FR" altLang="en-US" sz="2200" dirty="0" err="1"/>
              <a:t>Interpretation</a:t>
            </a:r>
            <a:r>
              <a:rPr lang="fr-FR" altLang="en-US" sz="2200" dirty="0"/>
              <a:t> </a:t>
            </a:r>
            <a:r>
              <a:rPr lang="fr-FR" altLang="en-US" sz="2200" dirty="0" smtClean="0"/>
              <a:t>Note</a:t>
            </a:r>
            <a:br>
              <a:rPr lang="fr-FR" altLang="en-US" sz="2200" dirty="0" smtClean="0"/>
            </a:br>
            <a:r>
              <a:rPr lang="fr-FR" altLang="en-US" sz="2200" dirty="0"/>
              <a:t/>
            </a:r>
            <a:br>
              <a:rPr lang="fr-FR" altLang="en-US" sz="2200" dirty="0"/>
            </a:br>
            <a:r>
              <a:rPr lang="fr-FR" altLang="en-US" sz="2200" dirty="0" smtClean="0"/>
              <a:t>Default </a:t>
            </a:r>
            <a:r>
              <a:rPr lang="fr-FR" altLang="en-US" sz="2200" dirty="0" err="1"/>
              <a:t>Definition</a:t>
            </a:r>
            <a:r>
              <a:rPr lang="fr-FR" altLang="en-US" sz="2200" dirty="0"/>
              <a:t/>
            </a:r>
            <a:br>
              <a:rPr lang="fr-FR" altLang="en-US" sz="2200" dirty="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2" name="TextBox 1"/>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1</a:t>
            </a:r>
            <a:endParaRPr lang="en-IN" sz="2400" b="1" dirty="0">
              <a:solidFill>
                <a:schemeClr val="bg1"/>
              </a:solidFill>
            </a:endParaRPr>
          </a:p>
        </p:txBody>
      </p:sp>
    </p:spTree>
    <p:extLst>
      <p:ext uri="{BB962C8B-B14F-4D97-AF65-F5344CB8AC3E}">
        <p14:creationId xmlns:p14="http://schemas.microsoft.com/office/powerpoint/2010/main" val="25234375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6683"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9</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479892"/>
            <a:chOff x="274638" y="1133475"/>
            <a:chExt cx="9324936" cy="1453652"/>
          </a:xfrm>
        </p:grpSpPr>
        <p:sp>
          <p:nvSpPr>
            <p:cNvPr id="18442" name="Rectangle 6"/>
            <p:cNvSpPr>
              <a:spLocks noChangeArrowheads="1"/>
            </p:cNvSpPr>
            <p:nvPr>
              <p:custDataLst>
                <p:tags r:id="rId5"/>
              </p:custDataLst>
            </p:nvPr>
          </p:nvSpPr>
          <p:spPr bwMode="auto">
            <a:xfrm>
              <a:off x="274638" y="1133475"/>
              <a:ext cx="1701800" cy="1453652"/>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4536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IN" altLang="en-US" sz="1400" dirty="0">
                  <a:solidFill>
                    <a:srgbClr val="000000"/>
                  </a:solidFill>
                </a:rPr>
                <a:t>The concept of “default” is critical to the implementation of </a:t>
              </a:r>
              <a:r>
                <a:rPr lang="en-IN" altLang="en-US" sz="1400" dirty="0" smtClean="0">
                  <a:solidFill>
                    <a:srgbClr val="000000"/>
                  </a:solidFill>
                </a:rPr>
                <a:t>IFRS9. IFRS9 </a:t>
              </a:r>
              <a:r>
                <a:rPr lang="en-IN" altLang="en-US" sz="1400" dirty="0">
                  <a:solidFill>
                    <a:srgbClr val="000000"/>
                  </a:solidFill>
                </a:rPr>
                <a:t>requires that when making the assessment of whether there has been a significant increase in credit risk since initial recognition, an entity uses the change in the risk of default occurring over the expected life of the financial instrument. </a:t>
              </a:r>
              <a:endParaRPr lang="en-IN" altLang="en-US" sz="1400" dirty="0" smtClean="0">
                <a:solidFill>
                  <a:srgbClr val="000000"/>
                </a:solidFill>
              </a:endParaRPr>
            </a:p>
            <a:p>
              <a:pPr eaLnBrk="1" hangingPunct="1">
                <a:lnSpc>
                  <a:spcPts val="1400"/>
                </a:lnSpc>
                <a:spcBef>
                  <a:spcPts val="300"/>
                </a:spcBef>
                <a:buFont typeface="Arial" panose="020B0604020202020204" pitchFamily="34" charset="0"/>
                <a:buChar char="•"/>
              </a:pPr>
              <a:r>
                <a:rPr lang="en-IN" altLang="en-US" sz="1400" dirty="0">
                  <a:solidFill>
                    <a:srgbClr val="000000"/>
                  </a:solidFill>
                </a:rPr>
                <a:t>Furthermore, </a:t>
              </a:r>
              <a:r>
                <a:rPr lang="en-IN" altLang="en-US" sz="1400" dirty="0" smtClean="0">
                  <a:solidFill>
                    <a:srgbClr val="000000"/>
                  </a:solidFill>
                </a:rPr>
                <a:t>IFRS9 </a:t>
              </a:r>
              <a:r>
                <a:rPr lang="en-IN" altLang="en-US" sz="1400" dirty="0">
                  <a:solidFill>
                    <a:srgbClr val="000000"/>
                  </a:solidFill>
                </a:rPr>
                <a:t>requires that assets meeting the definition of credit impaired (‘Stage 3 Assets’) should be disclosed and the definition of credit impaired includes references to defaults, as well as other events that have a detrimental impact on estimated future cash flows</a:t>
              </a:r>
              <a:r>
                <a:rPr lang="en-IN" altLang="en-US" sz="1400" dirty="0" smtClean="0">
                  <a:solidFill>
                    <a:srgbClr val="000000"/>
                  </a:solidFill>
                </a:rPr>
                <a:t>.</a:t>
              </a:r>
              <a:endParaRPr lang="en-IN" altLang="en-US" sz="1400" dirty="0">
                <a:solidFill>
                  <a:srgbClr val="000000"/>
                </a:solidFill>
              </a:endParaRPr>
            </a:p>
          </p:txBody>
        </p:sp>
      </p:grpSp>
      <p:sp>
        <p:nvSpPr>
          <p:cNvPr id="14" name="Rectangle 6"/>
          <p:cNvSpPr>
            <a:spLocks noChangeArrowheads="1"/>
          </p:cNvSpPr>
          <p:nvPr>
            <p:custDataLst>
              <p:tags r:id="rId3"/>
            </p:custDataLst>
          </p:nvPr>
        </p:nvSpPr>
        <p:spPr bwMode="auto">
          <a:xfrm>
            <a:off x="261938" y="2746375"/>
            <a:ext cx="1701807" cy="1595309"/>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089120" y="2746375"/>
            <a:ext cx="7497793" cy="15953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altLang="en-US" sz="1400" dirty="0">
                <a:solidFill>
                  <a:srgbClr val="000000"/>
                </a:solidFill>
              </a:rPr>
              <a:t>This is important from the perspective of implementation of </a:t>
            </a:r>
            <a:r>
              <a:rPr lang="en-IN" altLang="en-US" sz="1400" dirty="0" smtClean="0">
                <a:solidFill>
                  <a:srgbClr val="000000"/>
                </a:solidFill>
              </a:rPr>
              <a:t>IFRS9 </a:t>
            </a:r>
            <a:r>
              <a:rPr lang="en-IN" altLang="en-US" sz="1400" dirty="0">
                <a:solidFill>
                  <a:srgbClr val="000000"/>
                </a:solidFill>
              </a:rPr>
              <a:t>due to the following reasons:</a:t>
            </a:r>
          </a:p>
          <a:p>
            <a:pPr marL="0" indent="0" eaLnBrk="1" hangingPunct="1">
              <a:lnSpc>
                <a:spcPts val="1400"/>
              </a:lnSpc>
              <a:spcBef>
                <a:spcPts val="300"/>
              </a:spcBef>
            </a:pPr>
            <a:endParaRPr lang="en-IN" altLang="en-US" sz="1400" dirty="0" smtClean="0">
              <a:solidFill>
                <a:srgbClr val="000000"/>
              </a:solidFill>
            </a:endParaRPr>
          </a:p>
          <a:p>
            <a:pPr eaLnBrk="1" hangingPunct="1">
              <a:lnSpc>
                <a:spcPts val="1400"/>
              </a:lnSpc>
              <a:spcBef>
                <a:spcPts val="300"/>
              </a:spcBef>
              <a:buFont typeface="Arial" panose="020B0604020202020204" pitchFamily="34" charset="0"/>
              <a:buChar char="•"/>
            </a:pPr>
            <a:r>
              <a:rPr lang="en-IN" altLang="en-US" sz="1400" dirty="0" smtClean="0">
                <a:solidFill>
                  <a:srgbClr val="000000"/>
                </a:solidFill>
              </a:rPr>
              <a:t>Default </a:t>
            </a:r>
            <a:r>
              <a:rPr lang="en-IN" altLang="en-US" sz="1400" dirty="0">
                <a:solidFill>
                  <a:srgbClr val="000000"/>
                </a:solidFill>
              </a:rPr>
              <a:t>definition drives SICR and also identification of Stage 3 </a:t>
            </a:r>
            <a:r>
              <a:rPr lang="en-IN" altLang="en-US" sz="1400" dirty="0" smtClean="0">
                <a:solidFill>
                  <a:srgbClr val="000000"/>
                </a:solidFill>
              </a:rPr>
              <a:t>assets.</a:t>
            </a:r>
          </a:p>
          <a:p>
            <a:pPr eaLnBrk="1" hangingPunct="1">
              <a:lnSpc>
                <a:spcPts val="1400"/>
              </a:lnSpc>
              <a:spcBef>
                <a:spcPts val="300"/>
              </a:spcBef>
              <a:buFont typeface="Arial" panose="020B0604020202020204" pitchFamily="34" charset="0"/>
              <a:buChar char="•"/>
            </a:pPr>
            <a:r>
              <a:rPr lang="en-IN" altLang="en-US" sz="1400" dirty="0">
                <a:solidFill>
                  <a:srgbClr val="000000"/>
                </a:solidFill>
              </a:rPr>
              <a:t>Default definition drives the computation of risk parameters for </a:t>
            </a:r>
            <a:r>
              <a:rPr lang="en-IN" altLang="en-US" sz="1400" dirty="0" smtClean="0">
                <a:solidFill>
                  <a:srgbClr val="000000"/>
                </a:solidFill>
              </a:rPr>
              <a:t>IFRS9 </a:t>
            </a:r>
            <a:r>
              <a:rPr lang="en-IN" altLang="en-US" sz="1400" dirty="0">
                <a:solidFill>
                  <a:srgbClr val="000000"/>
                </a:solidFill>
              </a:rPr>
              <a:t>i.e. PD, LGD, EAD. Inconsistencies between definition of default used for risk parameter estimation and internal credit risk management practices would result in significant </a:t>
            </a:r>
            <a:r>
              <a:rPr lang="en-IN" altLang="en-US" sz="1400" dirty="0" smtClean="0">
                <a:solidFill>
                  <a:srgbClr val="000000"/>
                </a:solidFill>
              </a:rPr>
              <a:t>variances.</a:t>
            </a:r>
            <a:endParaRPr lang="en-IN" altLang="en-US" sz="1400" dirty="0">
              <a:solidFill>
                <a:srgbClr val="000000"/>
              </a:solidFill>
            </a:endParaRPr>
          </a:p>
          <a:p>
            <a:pPr eaLnBrk="1" hangingPunct="1">
              <a:lnSpc>
                <a:spcPts val="1400"/>
              </a:lnSpc>
              <a:spcBef>
                <a:spcPts val="300"/>
              </a:spcBef>
              <a:buFont typeface="Arial" panose="020B0604020202020204" pitchFamily="34" charset="0"/>
              <a:buChar char="•"/>
            </a:pPr>
            <a:r>
              <a:rPr lang="en-IN" altLang="en-US" sz="1400" dirty="0">
                <a:solidFill>
                  <a:srgbClr val="000000"/>
                </a:solidFill>
              </a:rPr>
              <a:t>Documentation and disclosure of default definition is a requirement under </a:t>
            </a:r>
            <a:r>
              <a:rPr lang="en-IN" altLang="en-US" sz="1400" dirty="0" smtClean="0">
                <a:solidFill>
                  <a:srgbClr val="000000"/>
                </a:solidFill>
              </a:rPr>
              <a:t>IFRS9.</a:t>
            </a:r>
            <a:endParaRPr lang="en-IN" altLang="en-US" sz="1400" dirty="0">
              <a:solidFill>
                <a:srgbClr val="000000"/>
              </a:solidFill>
            </a:endParaRPr>
          </a:p>
        </p:txBody>
      </p:sp>
    </p:spTree>
    <p:extLst>
      <p:ext uri="{BB962C8B-B14F-4D97-AF65-F5344CB8AC3E}">
        <p14:creationId xmlns:p14="http://schemas.microsoft.com/office/powerpoint/2010/main" val="1667925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a:t>
            </a:fld>
            <a:endParaRPr lang="en-US" altLang="en-US"/>
          </a:p>
        </p:txBody>
      </p:sp>
      <p:graphicFrame>
        <p:nvGraphicFramePr>
          <p:cNvPr id="4" name="Table 3"/>
          <p:cNvGraphicFramePr>
            <a:graphicFrameLocks noGrp="1"/>
          </p:cNvGraphicFramePr>
          <p:nvPr>
            <p:extLst/>
          </p:nvPr>
        </p:nvGraphicFramePr>
        <p:xfrm>
          <a:off x="895350" y="1181100"/>
          <a:ext cx="8115300" cy="222504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How will “Default” be defined for the purpose of IFRS9?</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Will there be difference in definition of “Credit Impairment” and “Default Definitions”?</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3</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Will there be an exception to the +90 DPD rule considering</a:t>
                      </a:r>
                      <a:r>
                        <a:rPr lang="en-US" sz="1400" kern="1200" baseline="0" dirty="0" smtClean="0">
                          <a:solidFill>
                            <a:srgbClr val="000000"/>
                          </a:solidFill>
                          <a:latin typeface="Times New Roman" panose="02020603050405020304" pitchFamily="18" charset="0"/>
                          <a:ea typeface="+mn-ea"/>
                          <a:cs typeface="Times New Roman" panose="02020603050405020304" pitchFamily="18" charset="0"/>
                        </a:rPr>
                        <a:t> QCB’s guidelines</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4</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How will “Cure” from default be defined?</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5</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How will “Cross Default” definition be applied?</a:t>
                      </a:r>
                    </a:p>
                  </a:txBody>
                  <a:tcPr anchor="ctr"/>
                </a:tc>
              </a:tr>
            </a:tbl>
          </a:graphicData>
        </a:graphic>
      </p:graphicFrame>
    </p:spTree>
    <p:extLst>
      <p:ext uri="{BB962C8B-B14F-4D97-AF65-F5344CB8AC3E}">
        <p14:creationId xmlns:p14="http://schemas.microsoft.com/office/powerpoint/2010/main" val="31662861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a:t>
            </a:fld>
            <a:endParaRPr lang="en-US" altLang="en-US"/>
          </a:p>
        </p:txBody>
      </p:sp>
      <p:graphicFrame>
        <p:nvGraphicFramePr>
          <p:cNvPr id="5" name="Table 4"/>
          <p:cNvGraphicFramePr>
            <a:graphicFrameLocks noGrp="1"/>
          </p:cNvGraphicFramePr>
          <p:nvPr>
            <p:extLst/>
          </p:nvPr>
        </p:nvGraphicFramePr>
        <p:xfrm>
          <a:off x="287338" y="939800"/>
          <a:ext cx="9331325" cy="4053840"/>
        </p:xfrm>
        <a:graphic>
          <a:graphicData uri="http://schemas.openxmlformats.org/drawingml/2006/table">
            <a:tbl>
              <a:tblPr firstRow="1" bandRow="1">
                <a:tableStyleId>{5940675A-B579-460E-94D1-54222C63F5DA}</a:tableStyleId>
              </a:tblPr>
              <a:tblGrid>
                <a:gridCol w="1439858"/>
                <a:gridCol w="1574069"/>
                <a:gridCol w="6317398"/>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B5.3.6, 5.5.9, 35F</a:t>
                      </a: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Appendix A</a:t>
                      </a: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Basis for Conclusions BC5.248-253</a:t>
                      </a:r>
                    </a:p>
                  </a:txBody>
                  <a:tcPr anchor="ctr"/>
                </a:tc>
                <a:tc>
                  <a:txBody>
                    <a:bodyPr/>
                    <a:lstStyle/>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 does not define “Default”. All it says is apply a default definition that is consistent with the definition used for internal credit risk management purposes for the relevant financial instrument and consider qualitative indicators (for example, financial covenants) when appropriate.</a:t>
                      </a:r>
                      <a:r>
                        <a:rPr lang="en-US" sz="1400" kern="1200" baseline="0" dirty="0" smtClean="0">
                          <a:solidFill>
                            <a:srgbClr val="000000"/>
                          </a:solidFill>
                          <a:latin typeface="Times New Roman" panose="02020603050405020304" pitchFamily="18" charset="0"/>
                          <a:ea typeface="+mn-ea"/>
                          <a:cs typeface="Times New Roman" panose="02020603050405020304" pitchFamily="18" charset="0"/>
                        </a:rPr>
                        <a:t>  Allows for d</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ifferences in default definitions across financial instruments if justifiable</a:t>
                      </a:r>
                    </a:p>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It provides a 90+ DPD rebuttable assumption</a:t>
                      </a:r>
                    </a:p>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 also gives a specific definition of a “Credit Impaired” asset that includes a set of qualitative criteria</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2.1 – Stage 3</a:t>
                      </a:r>
                    </a:p>
                    <a:p>
                      <a:r>
                        <a:rPr lang="en-US" sz="1400" kern="1200" dirty="0" smtClean="0">
                          <a:solidFill>
                            <a:schemeClr val="tx1"/>
                          </a:solidFill>
                          <a:latin typeface="Times New Roman" panose="02020603050405020304" pitchFamily="18" charset="0"/>
                          <a:ea typeface="+mn-ea"/>
                          <a:cs typeface="Times New Roman" panose="02020603050405020304" pitchFamily="18" charset="0"/>
                        </a:rPr>
                        <a:t>and 2.2</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In</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reference to Stage 3 assets, the QCB requires Banks to continue to follow the existing instructions contained in the Instructions to Banks - Sep13 (page 172 in the English version), which, in addition to other factors, defines Credit Impaired as +90 DPD.</a:t>
                      </a:r>
                      <a:endParaRPr lang="en-US" sz="1400" kern="1200" dirty="0">
                        <a:solidFill>
                          <a:srgbClr val="FF0000"/>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4.7, 4.8</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Recommends aligning IFRS9 and SAMA definitions of default or document good reasons of not aligning the definition.</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Recommends aligning the definition of default and credit impairment.</a:t>
                      </a:r>
                    </a:p>
                  </a:txBody>
                  <a:tcPr/>
                </a:tc>
              </a:tr>
            </a:tbl>
          </a:graphicData>
        </a:graphic>
      </p:graphicFrame>
    </p:spTree>
    <p:extLst>
      <p:ext uri="{BB962C8B-B14F-4D97-AF65-F5344CB8AC3E}">
        <p14:creationId xmlns:p14="http://schemas.microsoft.com/office/powerpoint/2010/main" val="4717952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12</a:t>
            </a:fld>
            <a:endParaRPr lang="en-US" altLang="en-US"/>
          </a:p>
        </p:txBody>
      </p:sp>
      <p:graphicFrame>
        <p:nvGraphicFramePr>
          <p:cNvPr id="5" name="Table 4"/>
          <p:cNvGraphicFramePr>
            <a:graphicFrameLocks noGrp="1"/>
          </p:cNvGraphicFramePr>
          <p:nvPr>
            <p:extLst/>
          </p:nvPr>
        </p:nvGraphicFramePr>
        <p:xfrm>
          <a:off x="287338" y="977900"/>
          <a:ext cx="9331324" cy="5186680"/>
        </p:xfrm>
        <a:graphic>
          <a:graphicData uri="http://schemas.openxmlformats.org/drawingml/2006/table">
            <a:tbl>
              <a:tblPr firstRow="1" bandRow="1">
                <a:tableStyleId>{5940675A-B579-460E-94D1-54222C63F5DA}</a:tableStyleId>
              </a:tblPr>
              <a:tblGrid>
                <a:gridCol w="1439858"/>
                <a:gridCol w="1803213"/>
                <a:gridCol w="608825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Section 2.2 (full section dealing with default definition)</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According to GPPC a sophisticated approach would be to align regulatory and accounting definitions of default or document good reasons why these should not be aligned.</a:t>
                      </a:r>
                    </a:p>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All qualitative indicators of credit impaired assets in IFRS9 and “Unlikeliness to Pay” Indicators (UTP) indicators of Basel would be considered.</a:t>
                      </a:r>
                    </a:p>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GPPC allows for customization of default definition across different types of financial instruments if there are good reasons to do so.</a:t>
                      </a:r>
                    </a:p>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Cases where accounts are considered credit impaired but not defaulted due to differences in definition should be treated as exceptions and reasons for the difference needs to be documented.</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AP1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ITG is in line with IFRS9 guidelines.</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A4-A5</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Basel Committee has recommended that the IFRS9 definition of default should be consistent with that used for regulatory purposes. This means that the expectation is to use 90 DPD and the other Unlikeliness to Pay (UTP) indicators as the basis of default definition.</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Furthermore the Committee says that even if the regulatory definition of default in case of specific portfolios and entities is more than 90 days (e.g. 120 days in case of retail) the 90 DPD rebuttable assumption still needs to be applied. It means that even in such cases the bank has to demonstrate</a:t>
                      </a:r>
                      <a:r>
                        <a:rPr lang="en-IN" sz="1400" kern="1200" baseline="0" dirty="0" smtClean="0">
                          <a:solidFill>
                            <a:srgbClr val="000000"/>
                          </a:solidFill>
                          <a:latin typeface="Times New Roman" panose="02020603050405020304" pitchFamily="18" charset="0"/>
                          <a:ea typeface="+mn-ea"/>
                          <a:cs typeface="Times New Roman" panose="02020603050405020304" pitchFamily="18" charset="0"/>
                        </a:rPr>
                        <a:t> </a:t>
                      </a:r>
                      <a:r>
                        <a:rPr lang="en-IN" sz="1400" kern="1200" dirty="0" smtClean="0">
                          <a:solidFill>
                            <a:srgbClr val="000000"/>
                          </a:solidFill>
                          <a:latin typeface="Times New Roman" panose="02020603050405020304" pitchFamily="18" charset="0"/>
                          <a:ea typeface="+mn-ea"/>
                          <a:cs typeface="Times New Roman" panose="02020603050405020304" pitchFamily="18" charset="0"/>
                        </a:rPr>
                        <a:t>why 90 DPD should not be applied.</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7153766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Default Definition</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13</a:t>
            </a:fld>
            <a:endParaRPr lang="en-US" altLang="en-US"/>
          </a:p>
        </p:txBody>
      </p:sp>
      <p:graphicFrame>
        <p:nvGraphicFramePr>
          <p:cNvPr id="5" name="Table 4"/>
          <p:cNvGraphicFramePr>
            <a:graphicFrameLocks noGrp="1"/>
          </p:cNvGraphicFramePr>
          <p:nvPr>
            <p:extLst/>
          </p:nvPr>
        </p:nvGraphicFramePr>
        <p:xfrm>
          <a:off x="287338" y="977900"/>
          <a:ext cx="9331324" cy="4485640"/>
        </p:xfrm>
        <a:graphic>
          <a:graphicData uri="http://schemas.openxmlformats.org/drawingml/2006/table">
            <a:tbl>
              <a:tblPr firstRow="1" bandRow="1">
                <a:tableStyleId>{5940675A-B579-460E-94D1-54222C63F5DA}</a:tableStyleId>
              </a:tblPr>
              <a:tblGrid>
                <a:gridCol w="969962"/>
                <a:gridCol w="1879600"/>
                <a:gridCol w="64817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111252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1 &amp; 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“Default” be defined for the purpose of IFRS9?</a:t>
                      </a:r>
                    </a:p>
                    <a:p>
                      <a:pPr algn="l"/>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pPr algn="l"/>
                      <a:r>
                        <a:rPr lang="en-IN" sz="1400" kern="1200" dirty="0" smtClean="0">
                          <a:solidFill>
                            <a:srgbClr val="000000"/>
                          </a:solidFill>
                          <a:latin typeface="Times New Roman" panose="02020603050405020304" pitchFamily="18" charset="0"/>
                          <a:ea typeface="+mn-ea"/>
                          <a:cs typeface="Times New Roman" panose="02020603050405020304" pitchFamily="18" charset="0"/>
                        </a:rPr>
                        <a:t>Will there be difference in definition of “Credit Impaired” and “Default Definitions”?</a:t>
                      </a:r>
                    </a:p>
                  </a:txBody>
                  <a:tcPr anchor="ctr"/>
                </a:tc>
                <a:tc>
                  <a:txBody>
                    <a:bodyPr/>
                    <a:lstStyle/>
                    <a:p>
                      <a:pPr marL="285750" indent="-285750">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After</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due consideration of the various published Guidance, including the QCB instructions the Bank will define default as +90DPD in repaying a loan installment</a:t>
                      </a:r>
                    </a:p>
                    <a:p>
                      <a:pPr marL="285750" indent="-285750">
                        <a:buFont typeface="Arial" panose="020B0604020202020204" pitchFamily="34" charset="0"/>
                        <a:buChar char="•"/>
                      </a:pPr>
                      <a:endParaRPr lang="en-US"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endParaRPr lang="en-US"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As the above definition is taken from the QCB Instructions to Banks, it means the definitions of Credit Impaired and Default are perfectly aligned.</a:t>
                      </a:r>
                    </a:p>
                    <a:p>
                      <a:pPr marL="285750" indent="-285750">
                        <a:buFont typeface="Arial" panose="020B0604020202020204" pitchFamily="34" charset="0"/>
                        <a:buChar char="•"/>
                      </a:pPr>
                      <a:endParaRPr lang="en-US" sz="1400" kern="1200" baseline="0" dirty="0" smtClean="0">
                        <a:solidFill>
                          <a:srgbClr val="FF0000"/>
                        </a:solidFill>
                        <a:latin typeface="Times New Roman" panose="02020603050405020304" pitchFamily="18" charset="0"/>
                        <a:ea typeface="+mn-ea"/>
                        <a:cs typeface="Times New Roman" panose="02020603050405020304" pitchFamily="18" charset="0"/>
                      </a:endParaRPr>
                    </a:p>
                    <a:p>
                      <a:pPr marL="0" indent="0">
                        <a:buFont typeface="Arial" panose="020B0604020202020204" pitchFamily="34" charset="0"/>
                        <a:buNone/>
                      </a:pPr>
                      <a:endParaRPr lang="en-US" sz="1400" kern="1200" dirty="0">
                        <a:solidFill>
                          <a:srgbClr val="FF0000"/>
                        </a:solidFill>
                        <a:latin typeface="Times New Roman" panose="02020603050405020304" pitchFamily="18" charset="0"/>
                        <a:ea typeface="+mn-ea"/>
                        <a:cs typeface="Times New Roman" panose="02020603050405020304" pitchFamily="18" charset="0"/>
                      </a:endParaRPr>
                    </a:p>
                  </a:txBody>
                  <a:tcPr/>
                </a:tc>
              </a:tr>
              <a:tr h="1112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Will there be an exception to the 90 DPD rule? </a:t>
                      </a:r>
                    </a:p>
                  </a:txBody>
                  <a:tcPr anchor="ctr"/>
                </a:tc>
                <a:tc>
                  <a:txBody>
                    <a:bodyPr/>
                    <a:lstStyle/>
                    <a:p>
                      <a:pPr marL="0" indent="0">
                        <a:buFont typeface="Arial" panose="020B0604020202020204" pitchFamily="34" charset="0"/>
                        <a:buNone/>
                      </a:pPr>
                      <a:r>
                        <a:rPr lang="en-IN" sz="1400" kern="1200" dirty="0" smtClean="0">
                          <a:solidFill>
                            <a:schemeClr val="tx1"/>
                          </a:solidFill>
                          <a:latin typeface="Times New Roman" panose="02020603050405020304" pitchFamily="18" charset="0"/>
                          <a:ea typeface="+mn-ea"/>
                          <a:cs typeface="Times New Roman" panose="02020603050405020304" pitchFamily="18" charset="0"/>
                        </a:rPr>
                        <a:t>In</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general there will be no exceptions, as the QCB does not permit them.  However, additional analysis would be performed in the event of technical or systems issues (that generate false positives) and the default classification would be made according to the outcome of the analysis.  This could, for example, occur at transition when systems and process are being aligned to IFRS 9 for the first time.</a:t>
                      </a:r>
                    </a:p>
                  </a:txBody>
                  <a:tcPr/>
                </a:tc>
              </a:tr>
              <a:tr h="1112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What will be the “Cure from default” definition?</a:t>
                      </a: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Based on the Technical Interpretation Note 11</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IN" sz="1400" kern="1200" dirty="0" smtClean="0">
                          <a:solidFill>
                            <a:schemeClr val="tx1"/>
                          </a:solidFill>
                          <a:latin typeface="Times New Roman" panose="02020603050405020304" pitchFamily="18" charset="0"/>
                          <a:ea typeface="+mn-ea"/>
                          <a:cs typeface="Times New Roman" panose="02020603050405020304" pitchFamily="18" charset="0"/>
                        </a:rPr>
                        <a:t>on Backward Transition), cure from default will be permitted in line with the </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QCB Guidance, as follows:</a:t>
                      </a: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Up to date with payments with no arrears</a:t>
                      </a: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Minimum 12 month probation period</a:t>
                      </a: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After permission</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is obtained from the QCB</a:t>
                      </a:r>
                    </a:p>
                  </a:txBody>
                  <a:tcPr/>
                </a:tc>
              </a:tr>
            </a:tbl>
          </a:graphicData>
        </a:graphic>
      </p:graphicFrame>
    </p:spTree>
    <p:extLst>
      <p:ext uri="{BB962C8B-B14F-4D97-AF65-F5344CB8AC3E}">
        <p14:creationId xmlns:p14="http://schemas.microsoft.com/office/powerpoint/2010/main" val="30193845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Default Definition</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14</a:t>
            </a:fld>
            <a:endParaRPr lang="en-US" altLang="en-US"/>
          </a:p>
        </p:txBody>
      </p:sp>
      <p:graphicFrame>
        <p:nvGraphicFramePr>
          <p:cNvPr id="5" name="Table 4"/>
          <p:cNvGraphicFramePr>
            <a:graphicFrameLocks noGrp="1"/>
          </p:cNvGraphicFramePr>
          <p:nvPr>
            <p:extLst/>
          </p:nvPr>
        </p:nvGraphicFramePr>
        <p:xfrm>
          <a:off x="287338" y="850900"/>
          <a:ext cx="9331325" cy="3606069"/>
        </p:xfrm>
        <a:graphic>
          <a:graphicData uri="http://schemas.openxmlformats.org/drawingml/2006/table">
            <a:tbl>
              <a:tblPr firstRow="1" bandRow="1">
                <a:tableStyleId>{5940675A-B579-460E-94D1-54222C63F5DA}</a:tableStyleId>
              </a:tblPr>
              <a:tblGrid>
                <a:gridCol w="614362"/>
                <a:gridCol w="990600"/>
                <a:gridCol w="800100"/>
                <a:gridCol w="69262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1914429">
                <a:tc rowSpan="2">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5</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rowSpan="2">
                  <a:txBody>
                    <a:bodyPr/>
                    <a:lstStyle/>
                    <a:p>
                      <a:pPr algn="l"/>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cross default be applied?</a:t>
                      </a: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Non-Retail</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Cross default is typically applied in case of Non-Retail obligors. This is also in line with Basel guidelines.  Furthermore</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the ORR rating on the Bank’s system is for the counterparty and not facility, so cross default is implied in the ratings methodology.</a:t>
                      </a:r>
                    </a:p>
                    <a:p>
                      <a:pPr marL="285750" indent="-285750">
                        <a:buFont typeface="Arial" panose="020B0604020202020204" pitchFamily="34" charset="0"/>
                        <a:buChar char="•"/>
                      </a:pP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Consequently, the Bank </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will apply cross default in case of Non-Retail obligors.  However, for the larger</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 counterparties and/or any other counterparties that undergo individual assessment, cross default can be ignored if it is not specifically included in the contractual arrangements and there is valid evidence to support separate assessment of the facilities.</a:t>
                      </a:r>
                    </a:p>
                  </a:txBody>
                  <a:tcPr/>
                </a:tc>
              </a:tr>
              <a:tr h="1112520">
                <a:tc vMerge="1">
                  <a:txBody>
                    <a:bodyPr/>
                    <a:lstStyle/>
                    <a:p>
                      <a:endParaRPr lang="en-US" sz="13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vMerge="1">
                  <a:txBody>
                    <a:bodyPr/>
                    <a:lstStyle/>
                    <a:p>
                      <a:endParaRPr lang="en-IN" sz="13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Retail</a:t>
                      </a:r>
                      <a:endParaRPr lang="en-IN"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Cross default is typically not applied across different retail products (mortgages, auto loans, credit cards etc.) to same borrower, which is also</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IN" sz="1400" kern="1200" dirty="0" smtClean="0">
                          <a:solidFill>
                            <a:schemeClr val="tx1"/>
                          </a:solidFill>
                          <a:latin typeface="Times New Roman" panose="02020603050405020304" pitchFamily="18" charset="0"/>
                          <a:ea typeface="+mn-ea"/>
                          <a:cs typeface="Times New Roman" panose="02020603050405020304" pitchFamily="18" charset="0"/>
                        </a:rPr>
                        <a:t>the case at QNB.</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a:t>
                      </a:r>
                    </a:p>
                    <a:p>
                      <a:pPr marL="285750" indent="-285750">
                        <a:buFont typeface="Arial" panose="020B0604020202020204" pitchFamily="34" charset="0"/>
                        <a:buChar char="•"/>
                      </a:pP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Consequently, the Bank </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will not be applying cross default in case of Retail obligors. </a:t>
                      </a: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5051476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15</a:t>
            </a:fld>
            <a:endParaRPr lang="en-US" altLang="en-US"/>
          </a:p>
        </p:txBody>
      </p:sp>
      <p:graphicFrame>
        <p:nvGraphicFramePr>
          <p:cNvPr id="5" name="Chart 4"/>
          <p:cNvGraphicFramePr>
            <a:graphicFrameLocks/>
          </p:cNvGraphicFramePr>
          <p:nvPr>
            <p:extLst>
              <p:ext uri="{D42A27DB-BD31-4B8C-83A1-F6EECF244321}">
                <p14:modId xmlns:p14="http://schemas.microsoft.com/office/powerpoint/2010/main" val="4209394930"/>
              </p:ext>
            </p:extLst>
          </p:nvPr>
        </p:nvGraphicFramePr>
        <p:xfrm>
          <a:off x="491613" y="1181100"/>
          <a:ext cx="4461387"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2083912224"/>
              </p:ext>
            </p:extLst>
          </p:nvPr>
        </p:nvGraphicFramePr>
        <p:xfrm>
          <a:off x="5093494" y="11811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811270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Low </a:t>
            </a:r>
            <a:r>
              <a:rPr lang="en-US" sz="2400" dirty="0"/>
              <a:t>Credit Risk Expedient</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2</a:t>
            </a:r>
            <a:endParaRPr lang="en-IN" sz="2400" b="1" dirty="0">
              <a:solidFill>
                <a:schemeClr val="bg1"/>
              </a:solidFill>
            </a:endParaRPr>
          </a:p>
        </p:txBody>
      </p:sp>
    </p:spTree>
    <p:extLst>
      <p:ext uri="{BB962C8B-B14F-4D97-AF65-F5344CB8AC3E}">
        <p14:creationId xmlns:p14="http://schemas.microsoft.com/office/powerpoint/2010/main" val="1545574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7706"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17</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120820"/>
            <a:chOff x="274638" y="1133475"/>
            <a:chExt cx="9324936" cy="1100946"/>
          </a:xfrm>
        </p:grpSpPr>
        <p:sp>
          <p:nvSpPr>
            <p:cNvPr id="18442" name="Rectangle 6"/>
            <p:cNvSpPr>
              <a:spLocks noChangeArrowheads="1"/>
            </p:cNvSpPr>
            <p:nvPr>
              <p:custDataLst>
                <p:tags r:id="rId5"/>
              </p:custDataLst>
            </p:nvPr>
          </p:nvSpPr>
          <p:spPr bwMode="auto">
            <a:xfrm>
              <a:off x="274638" y="1133475"/>
              <a:ext cx="1701800" cy="1100946"/>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1009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IFRS 9 offers </a:t>
              </a:r>
              <a:r>
                <a:rPr lang="en-US" altLang="en-US" sz="1400" dirty="0" smtClean="0">
                  <a:solidFill>
                    <a:srgbClr val="000000"/>
                  </a:solidFill>
                </a:rPr>
                <a:t>the Low </a:t>
              </a:r>
              <a:r>
                <a:rPr lang="en-US" altLang="en-US" sz="1400" dirty="0">
                  <a:solidFill>
                    <a:srgbClr val="000000"/>
                  </a:solidFill>
                </a:rPr>
                <a:t>Credit Risk (LCR) expedient for the purpose of allocating </a:t>
              </a:r>
              <a:r>
                <a:rPr lang="en-US" altLang="en-US" sz="1400" dirty="0" smtClean="0">
                  <a:solidFill>
                    <a:srgbClr val="000000"/>
                  </a:solidFill>
                </a:rPr>
                <a:t>exposures to stages </a:t>
              </a:r>
              <a:r>
                <a:rPr lang="en-US" altLang="en-US" sz="1400" dirty="0">
                  <a:solidFill>
                    <a:srgbClr val="000000"/>
                  </a:solidFill>
                </a:rPr>
                <a:t>to </a:t>
              </a:r>
              <a:r>
                <a:rPr lang="en-US" altLang="en-US" sz="1400" dirty="0" smtClean="0">
                  <a:solidFill>
                    <a:srgbClr val="000000"/>
                  </a:solidFill>
                </a:rPr>
                <a:t>based </a:t>
              </a:r>
              <a:r>
                <a:rPr lang="en-US" altLang="en-US" sz="1400" dirty="0">
                  <a:solidFill>
                    <a:srgbClr val="000000"/>
                  </a:solidFill>
                </a:rPr>
                <a:t>on the Significant Increase in Credit Risk (SICR) of the exposures . </a:t>
              </a:r>
            </a:p>
            <a:p>
              <a:pPr eaLnBrk="1" hangingPunct="1">
                <a:lnSpc>
                  <a:spcPts val="1400"/>
                </a:lnSpc>
                <a:spcBef>
                  <a:spcPts val="300"/>
                </a:spcBef>
                <a:buFont typeface="Arial" panose="020B0604020202020204" pitchFamily="34" charset="0"/>
                <a:buChar char="•"/>
              </a:pPr>
              <a:r>
                <a:rPr lang="en-US" altLang="en-US" sz="1400" dirty="0">
                  <a:solidFill>
                    <a:srgbClr val="000000"/>
                  </a:solidFill>
                </a:rPr>
                <a:t>Under this expedient, an entity may assume that the credit risk on a financial instrument has not increased significantly since initial recognition if the financial instrument is determined to have low credit risk at the reporting date.</a:t>
              </a:r>
            </a:p>
          </p:txBody>
        </p:sp>
      </p:grpSp>
      <p:sp>
        <p:nvSpPr>
          <p:cNvPr id="14" name="Rectangle 6"/>
          <p:cNvSpPr>
            <a:spLocks noChangeArrowheads="1"/>
          </p:cNvSpPr>
          <p:nvPr>
            <p:custDataLst>
              <p:tags r:id="rId3"/>
            </p:custDataLst>
          </p:nvPr>
        </p:nvSpPr>
        <p:spPr bwMode="auto">
          <a:xfrm>
            <a:off x="261938" y="2350861"/>
            <a:ext cx="1714507" cy="1736373"/>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2350861"/>
            <a:ext cx="7497793" cy="17363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altLang="en-US" sz="1400" dirty="0">
                <a:solidFill>
                  <a:srgbClr val="000000"/>
                </a:solidFill>
              </a:rPr>
              <a:t>This is a key expedient from the perspective of implementation of IFRS 9 due to the following reasons</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Any instrument deemed to have LCR is automatically placed in Stage 1 and 12-Month ECL is computed for such instrument</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So long an instrument is classified as LCR, the Bank does not need to assess SICR on every reporting date</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Once an instrument is no longer classified as LCR, it need not immediately be moved to Stage 2. The Bank needs to move the instrument to Stage 2 only if there has been SICR since inception.</a:t>
            </a:r>
          </a:p>
        </p:txBody>
      </p:sp>
    </p:spTree>
    <p:extLst>
      <p:ext uri="{BB962C8B-B14F-4D97-AF65-F5344CB8AC3E}">
        <p14:creationId xmlns:p14="http://schemas.microsoft.com/office/powerpoint/2010/main" val="17536019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18</a:t>
            </a:fld>
            <a:endParaRPr lang="en-US" altLang="en-US"/>
          </a:p>
        </p:txBody>
      </p:sp>
      <p:graphicFrame>
        <p:nvGraphicFramePr>
          <p:cNvPr id="4" name="Table 3"/>
          <p:cNvGraphicFramePr>
            <a:graphicFrameLocks noGrp="1"/>
          </p:cNvGraphicFramePr>
          <p:nvPr>
            <p:extLst/>
          </p:nvPr>
        </p:nvGraphicFramePr>
        <p:xfrm>
          <a:off x="895350" y="1181100"/>
          <a:ext cx="8115300" cy="111252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Will the Bank apply the LCR expedient?</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How will the Bank identify LCR and what parameters will be used for the same?</a:t>
                      </a:r>
                    </a:p>
                  </a:txBody>
                  <a:tcPr anchor="ctr"/>
                </a:tc>
              </a:tr>
            </a:tbl>
          </a:graphicData>
        </a:graphic>
      </p:graphicFrame>
    </p:spTree>
    <p:extLst>
      <p:ext uri="{BB962C8B-B14F-4D97-AF65-F5344CB8AC3E}">
        <p14:creationId xmlns:p14="http://schemas.microsoft.com/office/powerpoint/2010/main" val="28773726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19</a:t>
            </a:fld>
            <a:endParaRPr lang="en-US" altLang="en-US"/>
          </a:p>
        </p:txBody>
      </p:sp>
      <p:graphicFrame>
        <p:nvGraphicFramePr>
          <p:cNvPr id="5" name="Table 4"/>
          <p:cNvGraphicFramePr>
            <a:graphicFrameLocks noGrp="1"/>
          </p:cNvGraphicFramePr>
          <p:nvPr>
            <p:extLst/>
          </p:nvPr>
        </p:nvGraphicFramePr>
        <p:xfrm>
          <a:off x="287338" y="939800"/>
          <a:ext cx="9331325" cy="469392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5.5.10</a:t>
                      </a: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 5.5.22 to B 5.5.24</a:t>
                      </a:r>
                    </a:p>
                  </a:txBody>
                  <a:tcPr anchor="ctr"/>
                </a:tc>
                <a:tc>
                  <a:txBody>
                    <a:bodyPr/>
                    <a:lstStyle/>
                    <a:p>
                      <a:pPr marL="0" indent="0">
                        <a:buFont typeface="Arial" panose="020B0604020202020204" pitchFamily="34" charset="0"/>
                        <a:buNone/>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permits the use of LCR as an expedient and provides the following guidelines:</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LCR is applied if the borrower has low risk of default, strong capacity to meet its contractual cash flow obligations in the near term and adverse changes in economic and business conditions in the longer term may, but will not necessarily, reduce the ability of the borrower to fulfil its contractual cash flow obligations</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LCR should not be applied based on low risk of loss depending upon the collateral amount but it must be applied based on the risk of default.</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LCR is an absolute measure and should not be judged relative to risk of other instruments in the Bank or with reference to the specific jurisdiction</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External Rating of investment grade i.e. BBB+ is mentioned as an example of LCR. However external rating is not a pre-condition.</a:t>
                      </a:r>
                    </a:p>
                  </a:txBody>
                  <a:tcPr/>
                </a:tc>
              </a:tr>
              <a:tr h="370840">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2.4.4</a:t>
                      </a:r>
                    </a:p>
                  </a:txBody>
                  <a:tcPr anchor="ctr"/>
                </a:tc>
                <a:tc>
                  <a:txBody>
                    <a:bodyPr/>
                    <a:lstStyle/>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As</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per the Standard, a</a:t>
                      </a:r>
                      <a:r>
                        <a:rPr lang="en-US" sz="1400" kern="1200" dirty="0" smtClean="0">
                          <a:solidFill>
                            <a:schemeClr val="tx1"/>
                          </a:solidFill>
                          <a:latin typeface="Times New Roman" panose="02020603050405020304" pitchFamily="18" charset="0"/>
                          <a:ea typeface="+mn-ea"/>
                          <a:cs typeface="Times New Roman" panose="02020603050405020304" pitchFamily="18" charset="0"/>
                        </a:rPr>
                        <a:t>lthough</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not mandatory, the QCB permits Banks to apply the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LCR expedient to </a:t>
                      </a:r>
                      <a:r>
                        <a:rPr lang="en-US" sz="1400" u="sng" kern="1200" dirty="0" smtClean="0">
                          <a:solidFill>
                            <a:schemeClr val="tx1"/>
                          </a:solidFill>
                          <a:latin typeface="Times New Roman" panose="02020603050405020304" pitchFamily="18" charset="0"/>
                          <a:ea typeface="+mn-ea"/>
                          <a:cs typeface="Times New Roman" panose="02020603050405020304" pitchFamily="18" charset="0"/>
                        </a:rPr>
                        <a:t>externally</a:t>
                      </a:r>
                      <a:r>
                        <a:rPr lang="en-US" sz="1400" u="sng" kern="1200" baseline="0" dirty="0" smtClean="0">
                          <a:solidFill>
                            <a:schemeClr val="tx1"/>
                          </a:solidFill>
                          <a:latin typeface="Times New Roman" panose="02020603050405020304" pitchFamily="18" charset="0"/>
                          <a:ea typeface="+mn-ea"/>
                          <a:cs typeface="Times New Roman" panose="02020603050405020304" pitchFamily="18" charset="0"/>
                        </a:rPr>
                        <a:t> rated </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sovereign and bank borrowers</a:t>
                      </a:r>
                      <a:r>
                        <a:rPr lang="en-US" sz="1400" kern="1200" dirty="0" smtClean="0">
                          <a:solidFill>
                            <a:schemeClr val="tx1"/>
                          </a:solidFill>
                          <a:latin typeface="Times New Roman" panose="02020603050405020304" pitchFamily="18" charset="0"/>
                          <a:ea typeface="+mn-ea"/>
                          <a:cs typeface="Times New Roman" panose="02020603050405020304" pitchFamily="18" charset="0"/>
                        </a:rPr>
                        <a:t>, subject to the watermark of Aa-</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being established</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as the cut-off.  Any other assets require</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the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QBC’s no objection</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4.6.5.5</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has been strict on application of LCR expedient and being a G-20 Regulator has aligned the guidance with Basel GARECL Guidance</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Only investment grade instruments to sovereigns including GCC exposures will be considered under LCR</a:t>
                      </a:r>
                    </a:p>
                  </a:txBody>
                  <a:tcPr/>
                </a:tc>
              </a:tr>
            </a:tbl>
          </a:graphicData>
        </a:graphic>
      </p:graphicFrame>
    </p:spTree>
    <p:extLst>
      <p:ext uri="{BB962C8B-B14F-4D97-AF65-F5344CB8AC3E}">
        <p14:creationId xmlns:p14="http://schemas.microsoft.com/office/powerpoint/2010/main" val="7940105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20</a:t>
            </a:fld>
            <a:endParaRPr lang="en-US" altLang="en-US"/>
          </a:p>
        </p:txBody>
      </p:sp>
      <p:graphicFrame>
        <p:nvGraphicFramePr>
          <p:cNvPr id="5" name="Table 4"/>
          <p:cNvGraphicFramePr>
            <a:graphicFrameLocks noGrp="1"/>
          </p:cNvGraphicFramePr>
          <p:nvPr>
            <p:extLst/>
          </p:nvPr>
        </p:nvGraphicFramePr>
        <p:xfrm>
          <a:off x="287338" y="977900"/>
          <a:ext cx="9331324" cy="375920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2.7.2.18</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Does not have any specific guidance on this context. Does not explicitly prohibit this.</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AP1-SICR</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Similar to IFRS 9 guidance in spirit</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A48</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Although use of the low-credit-risk exemption is provided as an option in IFRS 9, the Committee expects that use of this exemption should be limited. In particular, it expects banks to conduct timely assessment of significant increases in credit risk for all lending exposures.</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Any use of the low-credit-risk exemption must be accompanied by clear evidence that credit risk as of the reporting date is sufficiently low that a significant increase in credit risk since initial recognition could not have occurred.</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All lending exposures that have an “investment grade” rating from a external credit rating agency cannot automatically be considered low credit risk.  The Committee expects banks to rely primarily on their own credit risk assessments in order to evaluate the credit risk of a lending exposure, and not to rely solely or mechanistically on ratings provided by external credit rating agencies (where the latter are available)</a:t>
                      </a:r>
                    </a:p>
                  </a:txBody>
                  <a:tcPr/>
                </a:tc>
              </a:tr>
            </a:tbl>
          </a:graphicData>
        </a:graphic>
      </p:graphicFrame>
    </p:spTree>
    <p:extLst>
      <p:ext uri="{BB962C8B-B14F-4D97-AF65-F5344CB8AC3E}">
        <p14:creationId xmlns:p14="http://schemas.microsoft.com/office/powerpoint/2010/main" val="16710542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Low Credit Risk Expedient</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21</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2300596274"/>
              </p:ext>
            </p:extLst>
          </p:nvPr>
        </p:nvGraphicFramePr>
        <p:xfrm>
          <a:off x="287338" y="850900"/>
          <a:ext cx="9331325" cy="3901440"/>
        </p:xfrm>
        <a:graphic>
          <a:graphicData uri="http://schemas.openxmlformats.org/drawingml/2006/table">
            <a:tbl>
              <a:tblPr firstRow="1" bandRow="1">
                <a:tableStyleId>{5940675A-B579-460E-94D1-54222C63F5DA}</a:tableStyleId>
              </a:tblPr>
              <a:tblGrid>
                <a:gridCol w="588962"/>
                <a:gridCol w="952500"/>
                <a:gridCol w="7789863"/>
              </a:tblGrid>
              <a:tr h="332261">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786935">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200" kern="1200" dirty="0" smtClean="0">
                          <a:solidFill>
                            <a:srgbClr val="000000"/>
                          </a:solidFill>
                          <a:latin typeface="Times New Roman" panose="02020603050405020304" pitchFamily="18" charset="0"/>
                          <a:ea typeface="+mn-ea"/>
                          <a:cs typeface="Times New Roman" panose="02020603050405020304" pitchFamily="18" charset="0"/>
                        </a:rPr>
                        <a:t>Will the Bank apply the LCR expedient?</a:t>
                      </a:r>
                    </a:p>
                  </a:txBody>
                  <a:tcPr anchor="ctr"/>
                </a:tc>
                <a:tc>
                  <a:txBody>
                    <a:bodyPr/>
                    <a:lstStyle/>
                    <a:p>
                      <a:pPr marL="0" indent="0">
                        <a:lnSpc>
                          <a:spcPct val="100000"/>
                        </a:lnSpc>
                        <a:buFont typeface="Arial" panose="020B0604020202020204" pitchFamily="34" charset="0"/>
                        <a:buNone/>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Taking into account the Technical Guidance mentioned above, QNB’s views are as follows:</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QNB believes that LCR is a key expedient provided by IFRS 9 to reduce the time and effort of banks in assessing the SICR for low risk accounts.</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However, considering the principles espoused by Basel GARECL, QNB</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will apply this expedient responsibly and only to assets that are deemed to be LCR based on robust justification</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as defined below.</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In addition, in accordance</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with QCB guidance, exposures to the Government of Qatar (represented by the Ministry of Finance and the QCB) will be exempt from the ECL calculation.</a:t>
                      </a:r>
                    </a:p>
                  </a:txBody>
                  <a:tcPr/>
                </a:tc>
              </a:tr>
              <a:tr h="977900">
                <a:tc rowSpan="2">
                  <a:txBody>
                    <a:bodyPr/>
                    <a:lstStyle/>
                    <a:p>
                      <a:pPr marL="0" algn="l" defTabSz="914400" rtl="0" eaLnBrk="1" latinLnBrk="0" hangingPunct="1"/>
                      <a:r>
                        <a:rPr lang="en-US" sz="12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rowSpan="2">
                  <a:txBody>
                    <a:bodyPr/>
                    <a:lstStyle/>
                    <a:p>
                      <a:pPr marL="0" algn="l" defTabSz="914400" rtl="0" eaLnBrk="1" latinLnBrk="0" hangingPunct="1"/>
                      <a:r>
                        <a:rPr lang="en-US" sz="1200" kern="1200" dirty="0" smtClean="0">
                          <a:solidFill>
                            <a:srgbClr val="000000"/>
                          </a:solidFill>
                          <a:latin typeface="Times New Roman" panose="02020603050405020304" pitchFamily="18" charset="0"/>
                          <a:ea typeface="+mn-ea"/>
                          <a:cs typeface="Times New Roman" panose="02020603050405020304" pitchFamily="18" charset="0"/>
                        </a:rPr>
                        <a:t>How will the Bank identify LCR and what parameters will be used for the same?</a:t>
                      </a:r>
                    </a:p>
                  </a:txBody>
                  <a:tcPr anchor="ctr"/>
                </a:tc>
                <a:tc>
                  <a:txBody>
                    <a:bodyPr/>
                    <a:lstStyle/>
                    <a:p>
                      <a:pPr marL="119063" indent="-119063" algn="l" defTabSz="914400" rtl="0" eaLnBrk="1" latinLnBrk="0" hangingPunct="1">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IFRS 9 indicates investment grade rating i.e. BBB- as the cut-off for LCR. However, mindful of the guidance provided by the QCB, QNB will maintain a higher watermark of externally rated and</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Aa- and above as the cut-off grade for applying LCR</a:t>
                      </a:r>
                      <a:r>
                        <a:rPr lang="en-US" sz="1400" kern="1200" dirty="0" smtClean="0">
                          <a:solidFill>
                            <a:srgbClr val="00B050"/>
                          </a:solidFill>
                          <a:latin typeface="Times New Roman" panose="02020603050405020304" pitchFamily="18" charset="0"/>
                          <a:ea typeface="+mn-ea"/>
                          <a:cs typeface="Times New Roman" panose="02020603050405020304" pitchFamily="18" charset="0"/>
                        </a:rPr>
                        <a:t>.  (how</a:t>
                      </a:r>
                      <a:r>
                        <a:rPr lang="en-US" sz="1400" kern="1200" baseline="0" dirty="0" smtClean="0">
                          <a:solidFill>
                            <a:srgbClr val="00B050"/>
                          </a:solidFill>
                          <a:latin typeface="Times New Roman" panose="02020603050405020304" pitchFamily="18" charset="0"/>
                          <a:ea typeface="+mn-ea"/>
                          <a:cs typeface="Times New Roman" panose="02020603050405020304" pitchFamily="18" charset="0"/>
                        </a:rPr>
                        <a:t> about </a:t>
                      </a:r>
                      <a:r>
                        <a:rPr lang="en-US" sz="1400" b="1" u="sng" kern="1200" baseline="0" dirty="0" smtClean="0">
                          <a:solidFill>
                            <a:srgbClr val="00B050"/>
                          </a:solidFill>
                          <a:latin typeface="Times New Roman" panose="02020603050405020304" pitchFamily="18" charset="0"/>
                          <a:ea typeface="+mn-ea"/>
                          <a:cs typeface="Times New Roman" panose="02020603050405020304" pitchFamily="18" charset="0"/>
                        </a:rPr>
                        <a:t>unrated</a:t>
                      </a:r>
                      <a:r>
                        <a:rPr lang="en-US" sz="1400" kern="1200" baseline="0" dirty="0" smtClean="0">
                          <a:solidFill>
                            <a:srgbClr val="00B050"/>
                          </a:solidFill>
                          <a:latin typeface="Times New Roman" panose="02020603050405020304" pitchFamily="18" charset="0"/>
                          <a:ea typeface="+mn-ea"/>
                          <a:cs typeface="Times New Roman" panose="02020603050405020304" pitchFamily="18" charset="0"/>
                        </a:rPr>
                        <a:t> ORR 1’s or is this covered in the below bullet)</a:t>
                      </a:r>
                      <a:endParaRPr lang="en-US" sz="1400" kern="1200" dirty="0" smtClean="0">
                        <a:solidFill>
                          <a:srgbClr val="00B050"/>
                        </a:solidFill>
                        <a:latin typeface="Times New Roman" panose="02020603050405020304" pitchFamily="18" charset="0"/>
                        <a:ea typeface="+mn-ea"/>
                        <a:cs typeface="Times New Roman" panose="02020603050405020304" pitchFamily="18" charset="0"/>
                      </a:endParaRPr>
                    </a:p>
                  </a:txBody>
                  <a:tcPr anchor="ctr"/>
                </a:tc>
              </a:tr>
              <a:tr h="577850">
                <a:tc vMerge="1">
                  <a:txBody>
                    <a:bodyPr/>
                    <a:lstStyle/>
                    <a:p>
                      <a:pPr marL="0" algn="l" defTabSz="914400" rtl="0" eaLnBrk="1" latinLnBrk="0" hangingPunct="1"/>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vMerge="1">
                  <a:txBody>
                    <a:bodyPr/>
                    <a:lstStyle/>
                    <a:p>
                      <a:pPr marL="0" algn="l" defTabSz="914400" rtl="0" eaLnBrk="1" latinLnBrk="0" hangingPunct="1"/>
                      <a:endParaRPr lang="en-IN" sz="12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lgn="l" defTabSz="914400" rtl="0" eaLnBrk="1" latinLnBrk="0" hangingPunct="1">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Subject</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to QCB approval, i</a:t>
                      </a:r>
                      <a:r>
                        <a:rPr lang="en-US" sz="1400" kern="1200" dirty="0" smtClean="0">
                          <a:solidFill>
                            <a:schemeClr val="tx1"/>
                          </a:solidFill>
                          <a:latin typeface="Times New Roman" panose="02020603050405020304" pitchFamily="18" charset="0"/>
                          <a:ea typeface="+mn-ea"/>
                          <a:cs typeface="Times New Roman" panose="02020603050405020304" pitchFamily="18" charset="0"/>
                        </a:rPr>
                        <a:t>n addition to the above, QNB may</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consider a</a:t>
                      </a:r>
                      <a:r>
                        <a:rPr lang="en-US" sz="1400" kern="1200" dirty="0" smtClean="0">
                          <a:solidFill>
                            <a:schemeClr val="tx1"/>
                          </a:solidFill>
                          <a:latin typeface="Times New Roman" panose="02020603050405020304" pitchFamily="18" charset="0"/>
                          <a:ea typeface="+mn-ea"/>
                          <a:cs typeface="Times New Roman" panose="02020603050405020304" pitchFamily="18" charset="0"/>
                        </a:rPr>
                        <a:t>pplying</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LCR to both externally</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rated or unrated facilities/</a:t>
                      </a:r>
                      <a:r>
                        <a:rPr lang="en-US" sz="1400" kern="1200" dirty="0" smtClean="0">
                          <a:solidFill>
                            <a:schemeClr val="tx1"/>
                          </a:solidFill>
                          <a:latin typeface="Times New Roman" panose="02020603050405020304" pitchFamily="18" charset="0"/>
                          <a:ea typeface="+mn-ea"/>
                          <a:cs typeface="Times New Roman" panose="02020603050405020304" pitchFamily="18" charset="0"/>
                        </a:rPr>
                        <a:t>instruments that have a full </a:t>
                      </a:r>
                      <a:r>
                        <a:rPr lang="en-US" sz="1400" kern="1200" dirty="0" err="1" smtClean="0">
                          <a:solidFill>
                            <a:schemeClr val="tx1"/>
                          </a:solidFill>
                          <a:latin typeface="Times New Roman" panose="02020603050405020304" pitchFamily="18" charset="0"/>
                          <a:ea typeface="+mn-ea"/>
                          <a:cs typeface="Times New Roman" panose="02020603050405020304" pitchFamily="18" charset="0"/>
                        </a:rPr>
                        <a:t>SoQ</a:t>
                      </a:r>
                      <a:r>
                        <a:rPr lang="en-US" sz="1400" kern="1200" dirty="0" smtClean="0">
                          <a:solidFill>
                            <a:schemeClr val="tx1"/>
                          </a:solidFill>
                          <a:latin typeface="Times New Roman" panose="02020603050405020304" pitchFamily="18" charset="0"/>
                          <a:ea typeface="+mn-ea"/>
                          <a:cs typeface="Times New Roman" panose="02020603050405020304" pitchFamily="18" charset="0"/>
                        </a:rPr>
                        <a:t> guarantee.</a:t>
                      </a:r>
                    </a:p>
                  </a:txBody>
                  <a:tcPr anchor="ctr"/>
                </a:tc>
              </a:tr>
            </a:tbl>
          </a:graphicData>
        </a:graphic>
      </p:graphicFrame>
    </p:spTree>
    <p:extLst>
      <p:ext uri="{BB962C8B-B14F-4D97-AF65-F5344CB8AC3E}">
        <p14:creationId xmlns:p14="http://schemas.microsoft.com/office/powerpoint/2010/main" val="16424716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22</a:t>
            </a:fld>
            <a:endParaRPr lang="en-US" altLang="en-US"/>
          </a:p>
        </p:txBody>
      </p:sp>
      <p:graphicFrame>
        <p:nvGraphicFramePr>
          <p:cNvPr id="5" name="Chart 4"/>
          <p:cNvGraphicFramePr>
            <a:graphicFrameLocks/>
          </p:cNvGraphicFramePr>
          <p:nvPr>
            <p:extLst>
              <p:ext uri="{D42A27DB-BD31-4B8C-83A1-F6EECF244321}">
                <p14:modId xmlns:p14="http://schemas.microsoft.com/office/powerpoint/2010/main" val="2091199452"/>
              </p:ext>
            </p:extLst>
          </p:nvPr>
        </p:nvGraphicFramePr>
        <p:xfrm>
          <a:off x="491367" y="1181100"/>
          <a:ext cx="4572000" cy="277023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92025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a:t>Technical</a:t>
            </a:r>
            <a:r>
              <a:rPr lang="fr-FR" altLang="en-US" sz="2200" dirty="0"/>
              <a:t> </a:t>
            </a:r>
            <a:r>
              <a:rPr lang="fr-FR" altLang="en-US" sz="2200" dirty="0" err="1"/>
              <a:t>Interpretation</a:t>
            </a:r>
            <a:r>
              <a:rPr lang="fr-FR" altLang="en-US" sz="2200" dirty="0"/>
              <a:t> </a:t>
            </a:r>
            <a:r>
              <a:rPr lang="fr-FR" altLang="en-US" sz="2200" dirty="0" smtClean="0"/>
              <a:t>Note</a:t>
            </a:r>
            <a:br>
              <a:rPr lang="fr-FR" altLang="en-US" sz="2200" dirty="0" smtClean="0"/>
            </a:br>
            <a:r>
              <a:rPr lang="fr-FR" altLang="en-US" sz="2200" dirty="0"/>
              <a:t/>
            </a:r>
            <a:br>
              <a:rPr lang="fr-FR" altLang="en-US" sz="2200" dirty="0"/>
            </a:br>
            <a:r>
              <a:rPr lang="en-US" sz="2400" dirty="0" smtClean="0"/>
              <a:t>30 </a:t>
            </a:r>
            <a:r>
              <a:rPr lang="en-US" sz="2400" dirty="0"/>
              <a:t>DPD Rebuttable Assumption</a:t>
            </a:r>
            <a:r>
              <a:rPr lang="fr-FR" altLang="en-US" sz="2200" dirty="0"/>
              <a:t/>
            </a:r>
            <a:br>
              <a:rPr lang="fr-FR" altLang="en-US" sz="2200" dirty="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3</a:t>
            </a:r>
            <a:endParaRPr lang="en-IN" sz="2400" b="1" dirty="0">
              <a:solidFill>
                <a:schemeClr val="bg1"/>
              </a:solidFill>
            </a:endParaRPr>
          </a:p>
        </p:txBody>
      </p:sp>
    </p:spTree>
    <p:extLst>
      <p:ext uri="{BB962C8B-B14F-4D97-AF65-F5344CB8AC3E}">
        <p14:creationId xmlns:p14="http://schemas.microsoft.com/office/powerpoint/2010/main" val="6838514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8730"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24</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697902"/>
            <a:chOff x="274638" y="1133475"/>
            <a:chExt cx="9324936" cy="1667796"/>
          </a:xfrm>
        </p:grpSpPr>
        <p:sp>
          <p:nvSpPr>
            <p:cNvPr id="18442" name="Rectangle 6"/>
            <p:cNvSpPr>
              <a:spLocks noChangeArrowheads="1"/>
            </p:cNvSpPr>
            <p:nvPr>
              <p:custDataLst>
                <p:tags r:id="rId5"/>
              </p:custDataLst>
            </p:nvPr>
          </p:nvSpPr>
          <p:spPr bwMode="auto">
            <a:xfrm>
              <a:off x="274638" y="1133475"/>
              <a:ext cx="1701800" cy="1667796"/>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66779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IN" altLang="en-US" sz="1400" dirty="0">
                  <a:solidFill>
                    <a:srgbClr val="000000"/>
                  </a:solidFill>
                </a:rPr>
                <a:t>For measuring SICR, </a:t>
              </a:r>
              <a:r>
                <a:rPr lang="en-IN" altLang="en-US" sz="1400" dirty="0" smtClean="0">
                  <a:solidFill>
                    <a:srgbClr val="000000"/>
                  </a:solidFill>
                </a:rPr>
                <a:t>IFRS9 </a:t>
              </a:r>
              <a:r>
                <a:rPr lang="en-IN" altLang="en-US" sz="1400" dirty="0">
                  <a:solidFill>
                    <a:srgbClr val="000000"/>
                  </a:solidFill>
                </a:rPr>
                <a:t>expects the banks to use reasonable and supportable forward looking information that can be obtained without undue cost or effort. However, when such information is not available then past due status can be used to determine SICR.</a:t>
              </a:r>
            </a:p>
            <a:p>
              <a:pPr eaLnBrk="1" hangingPunct="1">
                <a:lnSpc>
                  <a:spcPts val="1400"/>
                </a:lnSpc>
                <a:spcBef>
                  <a:spcPts val="300"/>
                </a:spcBef>
                <a:buFont typeface="Arial" panose="020B0604020202020204" pitchFamily="34" charset="0"/>
                <a:buChar char="•"/>
              </a:pPr>
              <a:r>
                <a:rPr lang="en-IN" altLang="en-US" sz="1400" dirty="0">
                  <a:solidFill>
                    <a:srgbClr val="000000"/>
                  </a:solidFill>
                </a:rPr>
                <a:t>Regardless of the way in which an entity assesses significant increases in credit risk, there is a rebuttable presumption that the credit risk on a financial asset has increased significantly since initial recognition when contractual payments are more than 30 days past due</a:t>
              </a:r>
              <a:r>
                <a:rPr lang="en-IN" altLang="en-US" sz="1400" dirty="0" smtClean="0">
                  <a:solidFill>
                    <a:srgbClr val="000000"/>
                  </a:solidFill>
                </a:rPr>
                <a:t>.</a:t>
              </a:r>
            </a:p>
            <a:p>
              <a:pPr eaLnBrk="1" hangingPunct="1">
                <a:lnSpc>
                  <a:spcPts val="1400"/>
                </a:lnSpc>
                <a:spcBef>
                  <a:spcPts val="300"/>
                </a:spcBef>
                <a:buFont typeface="Arial" panose="020B0604020202020204" pitchFamily="34" charset="0"/>
                <a:buChar char="•"/>
              </a:pPr>
              <a:r>
                <a:rPr lang="en-IN" altLang="en-US" sz="1400" dirty="0">
                  <a:solidFill>
                    <a:srgbClr val="000000"/>
                  </a:solidFill>
                </a:rPr>
                <a:t>Rebuttal should be based on demonstrable information that 30+ DPD does not represent significant increase in credit </a:t>
              </a:r>
              <a:r>
                <a:rPr lang="en-IN" altLang="en-US" sz="1400" dirty="0" smtClean="0">
                  <a:solidFill>
                    <a:srgbClr val="000000"/>
                  </a:solidFill>
                </a:rPr>
                <a:t>risk.</a:t>
              </a:r>
              <a:endParaRPr lang="en-IN" altLang="en-US" sz="1400" dirty="0">
                <a:solidFill>
                  <a:srgbClr val="000000"/>
                </a:solidFill>
              </a:endParaRPr>
            </a:p>
          </p:txBody>
        </p:sp>
      </p:grpSp>
      <p:sp>
        <p:nvSpPr>
          <p:cNvPr id="14" name="Rectangle 6"/>
          <p:cNvSpPr>
            <a:spLocks noChangeArrowheads="1"/>
          </p:cNvSpPr>
          <p:nvPr>
            <p:custDataLst>
              <p:tags r:id="rId3"/>
            </p:custDataLst>
          </p:nvPr>
        </p:nvSpPr>
        <p:spPr bwMode="auto">
          <a:xfrm>
            <a:off x="261938" y="2962276"/>
            <a:ext cx="1701807" cy="1556836"/>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089120" y="2962275"/>
            <a:ext cx="7497793" cy="15568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altLang="en-US" sz="1400" dirty="0">
                <a:solidFill>
                  <a:srgbClr val="000000"/>
                </a:solidFill>
              </a:rPr>
              <a:t>This is important from the perspective of implementation of </a:t>
            </a:r>
            <a:r>
              <a:rPr lang="en-IN" altLang="en-US" sz="1400" dirty="0" smtClean="0">
                <a:solidFill>
                  <a:srgbClr val="000000"/>
                </a:solidFill>
              </a:rPr>
              <a:t>IFRS9 </a:t>
            </a:r>
            <a:r>
              <a:rPr lang="en-IN" altLang="en-US" sz="1400" dirty="0">
                <a:solidFill>
                  <a:srgbClr val="000000"/>
                </a:solidFill>
              </a:rPr>
              <a:t>due to the following reasons:</a:t>
            </a:r>
          </a:p>
          <a:p>
            <a:pPr marL="0" indent="0" eaLnBrk="1" hangingPunct="1">
              <a:lnSpc>
                <a:spcPts val="1400"/>
              </a:lnSpc>
              <a:spcBef>
                <a:spcPts val="300"/>
              </a:spcBef>
            </a:pPr>
            <a:endParaRPr lang="en-IN" altLang="en-US" sz="1400" dirty="0" smtClean="0">
              <a:solidFill>
                <a:srgbClr val="000000"/>
              </a:solidFill>
            </a:endParaRPr>
          </a:p>
          <a:p>
            <a:pPr eaLnBrk="1" hangingPunct="1">
              <a:lnSpc>
                <a:spcPts val="1400"/>
              </a:lnSpc>
              <a:spcBef>
                <a:spcPts val="300"/>
              </a:spcBef>
              <a:buFont typeface="Arial" panose="020B0604020202020204" pitchFamily="34" charset="0"/>
              <a:buChar char="•"/>
            </a:pPr>
            <a:r>
              <a:rPr lang="en-IN" altLang="en-US" sz="1400" dirty="0">
                <a:solidFill>
                  <a:srgbClr val="000000"/>
                </a:solidFill>
              </a:rPr>
              <a:t>Delinquency status is a very important predictive criteria for default particularly in case of retail portfolio. Flow rates from 30+ buckets to default would indicate the propensity of an account to default</a:t>
            </a:r>
            <a:r>
              <a:rPr lang="en-IN" altLang="en-US" sz="1400" dirty="0" smtClean="0">
                <a:solidFill>
                  <a:srgbClr val="000000"/>
                </a:solidFill>
              </a:rPr>
              <a:t>.</a:t>
            </a:r>
          </a:p>
          <a:p>
            <a:pPr eaLnBrk="1" hangingPunct="1">
              <a:lnSpc>
                <a:spcPts val="1400"/>
              </a:lnSpc>
              <a:spcBef>
                <a:spcPts val="300"/>
              </a:spcBef>
              <a:buFont typeface="Arial" panose="020B0604020202020204" pitchFamily="34" charset="0"/>
              <a:buChar char="•"/>
            </a:pPr>
            <a:r>
              <a:rPr lang="en-IN" altLang="en-US" sz="1400" dirty="0">
                <a:solidFill>
                  <a:srgbClr val="000000"/>
                </a:solidFill>
              </a:rPr>
              <a:t>In case of collective assessment for retail portfolio, the use of past due status and 30+ DPD assumption would be justifiable measures for SICR from </a:t>
            </a:r>
            <a:r>
              <a:rPr lang="en-IN" altLang="en-US" sz="1400" dirty="0" smtClean="0">
                <a:solidFill>
                  <a:srgbClr val="000000"/>
                </a:solidFill>
              </a:rPr>
              <a:t>IFRS9 perspective.</a:t>
            </a:r>
            <a:endParaRPr lang="en-IN" altLang="en-US" sz="1400" dirty="0">
              <a:solidFill>
                <a:srgbClr val="000000"/>
              </a:solidFill>
            </a:endParaRPr>
          </a:p>
        </p:txBody>
      </p:sp>
    </p:spTree>
    <p:extLst>
      <p:ext uri="{BB962C8B-B14F-4D97-AF65-F5344CB8AC3E}">
        <p14:creationId xmlns:p14="http://schemas.microsoft.com/office/powerpoint/2010/main" val="17542419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25</a:t>
            </a:fld>
            <a:endParaRPr lang="en-US" altLang="en-US"/>
          </a:p>
        </p:txBody>
      </p:sp>
      <p:graphicFrame>
        <p:nvGraphicFramePr>
          <p:cNvPr id="4" name="Table 3"/>
          <p:cNvGraphicFramePr>
            <a:graphicFrameLocks noGrp="1"/>
          </p:cNvGraphicFramePr>
          <p:nvPr>
            <p:extLst/>
          </p:nvPr>
        </p:nvGraphicFramePr>
        <p:xfrm>
          <a:off x="895350" y="1181100"/>
          <a:ext cx="8115300" cy="111252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Will the Bank be using only Past Due status for measuring SICR?</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Will the Bank be using the 30+ DPD assumption or will it be rebutted?</a:t>
                      </a:r>
                    </a:p>
                  </a:txBody>
                  <a:tcPr anchor="ctr"/>
                </a:tc>
              </a:tr>
            </a:tbl>
          </a:graphicData>
        </a:graphic>
      </p:graphicFrame>
    </p:spTree>
    <p:extLst>
      <p:ext uri="{BB962C8B-B14F-4D97-AF65-F5344CB8AC3E}">
        <p14:creationId xmlns:p14="http://schemas.microsoft.com/office/powerpoint/2010/main" val="41958420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26</a:t>
            </a:fld>
            <a:endParaRPr lang="en-US" altLang="en-US"/>
          </a:p>
        </p:txBody>
      </p:sp>
      <p:graphicFrame>
        <p:nvGraphicFramePr>
          <p:cNvPr id="5" name="Table 4"/>
          <p:cNvGraphicFramePr>
            <a:graphicFrameLocks noGrp="1"/>
          </p:cNvGraphicFramePr>
          <p:nvPr>
            <p:extLst/>
          </p:nvPr>
        </p:nvGraphicFramePr>
        <p:xfrm>
          <a:off x="287338" y="939800"/>
          <a:ext cx="9331325" cy="3840480"/>
        </p:xfrm>
        <a:graphic>
          <a:graphicData uri="http://schemas.openxmlformats.org/drawingml/2006/table">
            <a:tbl>
              <a:tblPr firstRow="1" bandRow="1">
                <a:tableStyleId>{5940675A-B579-460E-94D1-54222C63F5DA}</a:tableStyleId>
              </a:tblPr>
              <a:tblGrid>
                <a:gridCol w="1350962"/>
                <a:gridCol w="1092200"/>
                <a:gridCol w="68881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5.5.11</a:t>
                      </a: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 5.5.19 to B 5.5.21</a:t>
                      </a:r>
                    </a:p>
                  </a:txBody>
                  <a:tcPr anchor="ctr"/>
                </a:tc>
                <a:tc>
                  <a:txBody>
                    <a:bodyPr/>
                    <a:lstStyle/>
                    <a:p>
                      <a:pPr marL="285750" indent="-285750">
                        <a:buFont typeface="Arial" panose="020B0604020202020204" pitchFamily="34" charset="0"/>
                        <a:buChar char="•"/>
                      </a:pPr>
                      <a:r>
                        <a:rPr lang="en-IN" sz="1400" kern="1200" dirty="0" smtClean="0">
                          <a:solidFill>
                            <a:schemeClr val="accent6"/>
                          </a:solidFill>
                          <a:latin typeface="Times New Roman" panose="02020603050405020304" pitchFamily="18" charset="0"/>
                          <a:ea typeface="+mn-ea"/>
                          <a:cs typeface="Times New Roman" panose="02020603050405020304" pitchFamily="18" charset="0"/>
                        </a:rPr>
                        <a:t>IFRS9 allows the bank to use past due criteria as the sole criteria for assessing SICR if the bank demonstrates that it cannot obtain reasonable and supportable forward looking information to assess SICR.</a:t>
                      </a:r>
                    </a:p>
                    <a:p>
                      <a:pPr marL="285750" indent="-285750">
                        <a:buFont typeface="Arial" panose="020B0604020202020204" pitchFamily="34" charset="0"/>
                        <a:buChar char="•"/>
                      </a:pPr>
                      <a:r>
                        <a:rPr lang="en-IN" sz="1400" kern="1200" dirty="0" smtClean="0">
                          <a:solidFill>
                            <a:schemeClr val="accent6"/>
                          </a:solidFill>
                          <a:latin typeface="Times New Roman" panose="02020603050405020304" pitchFamily="18" charset="0"/>
                          <a:ea typeface="+mn-ea"/>
                          <a:cs typeface="Times New Roman" panose="02020603050405020304" pitchFamily="18" charset="0"/>
                        </a:rPr>
                        <a:t>It also says that regardless of how SICR is assessed, there will be a 30+ DPD backstop unless the bank can rebut this backstop based on reasonable and supportable information.</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2.4.1</a:t>
                      </a: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2.4.1.1</a:t>
                      </a: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chemeClr val="accent6"/>
                          </a:solidFill>
                          <a:latin typeface="Times New Roman" panose="02020603050405020304" pitchFamily="18" charset="0"/>
                          <a:ea typeface="+mn-ea"/>
                          <a:cs typeface="Times New Roman" panose="02020603050405020304" pitchFamily="18" charset="0"/>
                        </a:rPr>
                        <a:t>Reiterates</a:t>
                      </a:r>
                      <a:r>
                        <a:rPr lang="en-IN" sz="1400" kern="1200" baseline="0" dirty="0" smtClean="0">
                          <a:solidFill>
                            <a:schemeClr val="accent6"/>
                          </a:solidFill>
                          <a:latin typeface="Times New Roman" panose="02020603050405020304" pitchFamily="18" charset="0"/>
                          <a:ea typeface="+mn-ea"/>
                          <a:cs typeface="Times New Roman" panose="02020603050405020304" pitchFamily="18" charset="0"/>
                        </a:rPr>
                        <a:t> the Standard’s assumption of SICR once the payment of an instalment becomes </a:t>
                      </a:r>
                      <a:r>
                        <a:rPr lang="en-IN" sz="1400" kern="1200" dirty="0" smtClean="0">
                          <a:solidFill>
                            <a:schemeClr val="accent6"/>
                          </a:solidFill>
                          <a:latin typeface="Times New Roman" panose="02020603050405020304" pitchFamily="18" charset="0"/>
                          <a:ea typeface="+mn-ea"/>
                          <a:cs typeface="Times New Roman" panose="02020603050405020304" pitchFamily="18" charset="0"/>
                        </a:rPr>
                        <a:t>30+ DPD,</a:t>
                      </a:r>
                      <a:r>
                        <a:rPr lang="en-IN" sz="1400" kern="1200" baseline="0" dirty="0" smtClean="0">
                          <a:solidFill>
                            <a:schemeClr val="accent6"/>
                          </a:solidFill>
                          <a:latin typeface="Times New Roman" panose="02020603050405020304" pitchFamily="18" charset="0"/>
                          <a:ea typeface="+mn-ea"/>
                          <a:cs typeface="Times New Roman" panose="02020603050405020304" pitchFamily="18" charset="0"/>
                        </a:rPr>
                        <a:t> unless the Bank has information to back up the use of a longer period, but not exceeding </a:t>
                      </a:r>
                      <a:r>
                        <a:rPr lang="en-IN" sz="1400" kern="1200" dirty="0" smtClean="0">
                          <a:solidFill>
                            <a:schemeClr val="accent6"/>
                          </a:solidFill>
                          <a:latin typeface="Times New Roman" panose="02020603050405020304" pitchFamily="18" charset="0"/>
                          <a:ea typeface="+mn-ea"/>
                          <a:cs typeface="Times New Roman" panose="02020603050405020304" pitchFamily="18" charset="0"/>
                        </a:rPr>
                        <a:t>60+ DPD.</a:t>
                      </a:r>
                    </a:p>
                    <a:p>
                      <a:pPr marL="285750" indent="-285750">
                        <a:buFont typeface="Arial" panose="020B0604020202020204" pitchFamily="34" charset="0"/>
                        <a:buChar char="•"/>
                      </a:pPr>
                      <a:r>
                        <a:rPr lang="en-IN" sz="1400" kern="1200" baseline="0" dirty="0" smtClean="0">
                          <a:solidFill>
                            <a:schemeClr val="accent6"/>
                          </a:solidFill>
                          <a:latin typeface="Times New Roman" panose="02020603050405020304" pitchFamily="18" charset="0"/>
                          <a:ea typeface="+mn-ea"/>
                          <a:cs typeface="Times New Roman" panose="02020603050405020304" pitchFamily="18" charset="0"/>
                        </a:rPr>
                        <a:t>Banks are also r</a:t>
                      </a:r>
                      <a:r>
                        <a:rPr lang="en-IN" sz="1400" kern="1200" dirty="0" smtClean="0">
                          <a:solidFill>
                            <a:schemeClr val="accent6"/>
                          </a:solidFill>
                          <a:latin typeface="Times New Roman" panose="02020603050405020304" pitchFamily="18" charset="0"/>
                          <a:ea typeface="+mn-ea"/>
                          <a:cs typeface="Times New Roman" panose="02020603050405020304" pitchFamily="18" charset="0"/>
                        </a:rPr>
                        <a:t>equired,</a:t>
                      </a:r>
                      <a:r>
                        <a:rPr lang="en-IN" sz="1400" kern="1200" baseline="0" dirty="0" smtClean="0">
                          <a:solidFill>
                            <a:schemeClr val="accent6"/>
                          </a:solidFill>
                          <a:latin typeface="Times New Roman" panose="02020603050405020304" pitchFamily="18" charset="0"/>
                          <a:ea typeface="+mn-ea"/>
                          <a:cs typeface="Times New Roman" panose="02020603050405020304" pitchFamily="18" charset="0"/>
                        </a:rPr>
                        <a:t> as a minimum, to establish SICR, (Moody’s equivalent) rating downgrades of </a:t>
                      </a:r>
                      <a:r>
                        <a:rPr lang="en-IN" sz="1400" kern="1200" dirty="0" smtClean="0">
                          <a:solidFill>
                            <a:schemeClr val="accent6"/>
                          </a:solidFill>
                          <a:latin typeface="Times New Roman" panose="02020603050405020304" pitchFamily="18" charset="0"/>
                          <a:ea typeface="+mn-ea"/>
                          <a:cs typeface="Times New Roman" panose="02020603050405020304" pitchFamily="18" charset="0"/>
                        </a:rPr>
                        <a:t>two notches (from </a:t>
                      </a:r>
                      <a:r>
                        <a:rPr lang="en-IN" sz="1400" kern="1200" dirty="0" err="1" smtClean="0">
                          <a:solidFill>
                            <a:schemeClr val="accent6"/>
                          </a:solidFill>
                          <a:latin typeface="Times New Roman" panose="02020603050405020304" pitchFamily="18" charset="0"/>
                          <a:ea typeface="+mn-ea"/>
                          <a:cs typeface="Times New Roman" panose="02020603050405020304" pitchFamily="18" charset="0"/>
                        </a:rPr>
                        <a:t>Aaa</a:t>
                      </a:r>
                      <a:r>
                        <a:rPr lang="en-IN" sz="1400" kern="1200" dirty="0" smtClean="0">
                          <a:solidFill>
                            <a:schemeClr val="accent6"/>
                          </a:solidFill>
                          <a:latin typeface="Times New Roman" panose="02020603050405020304" pitchFamily="18" charset="0"/>
                          <a:ea typeface="+mn-ea"/>
                          <a:cs typeface="Times New Roman" panose="02020603050405020304" pitchFamily="18" charset="0"/>
                        </a:rPr>
                        <a:t>, Aa, A and Baa) and downgrades of one notch (</a:t>
                      </a:r>
                      <a:r>
                        <a:rPr lang="en-IN" sz="1400" i="0" kern="1200" dirty="0" smtClean="0">
                          <a:solidFill>
                            <a:schemeClr val="accent6"/>
                          </a:solidFill>
                          <a:latin typeface="Times New Roman" panose="02020603050405020304" pitchFamily="18" charset="0"/>
                          <a:ea typeface="+mn-ea"/>
                          <a:cs typeface="Times New Roman" panose="02020603050405020304" pitchFamily="18" charset="0"/>
                        </a:rPr>
                        <a:t>from Ba, B and </a:t>
                      </a:r>
                      <a:r>
                        <a:rPr lang="en-IN" sz="1400" i="0" kern="1200" dirty="0" err="1" smtClean="0">
                          <a:solidFill>
                            <a:schemeClr val="accent6"/>
                          </a:solidFill>
                          <a:latin typeface="Times New Roman" panose="02020603050405020304" pitchFamily="18" charset="0"/>
                          <a:ea typeface="+mn-ea"/>
                          <a:cs typeface="Times New Roman" panose="02020603050405020304" pitchFamily="18" charset="0"/>
                        </a:rPr>
                        <a:t>Caa</a:t>
                      </a:r>
                      <a:r>
                        <a:rPr lang="en-IN" sz="1400" i="0" kern="1200" dirty="0" smtClean="0">
                          <a:solidFill>
                            <a:schemeClr val="accent6"/>
                          </a:solidFill>
                          <a:latin typeface="Times New Roman" panose="02020603050405020304" pitchFamily="18" charset="0"/>
                          <a:ea typeface="+mn-ea"/>
                          <a:cs typeface="Times New Roman" panose="02020603050405020304" pitchFamily="18" charset="0"/>
                        </a:rPr>
                        <a:t>).</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4.7, 4.8</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Very similar to Basel GARECL guidelines and says that use of only 30+ DPD or backward looking delinquency based criteria would be a less sophisticated application for IFRS9.</a:t>
                      </a:r>
                    </a:p>
                  </a:txBody>
                  <a:tcPr/>
                </a:tc>
              </a:tr>
            </a:tbl>
          </a:graphicData>
        </a:graphic>
      </p:graphicFrame>
    </p:spTree>
    <p:extLst>
      <p:ext uri="{BB962C8B-B14F-4D97-AF65-F5344CB8AC3E}">
        <p14:creationId xmlns:p14="http://schemas.microsoft.com/office/powerpoint/2010/main" val="5702177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27</a:t>
            </a:fld>
            <a:endParaRPr lang="en-US" altLang="en-US"/>
          </a:p>
        </p:txBody>
      </p:sp>
      <p:graphicFrame>
        <p:nvGraphicFramePr>
          <p:cNvPr id="5" name="Table 4"/>
          <p:cNvGraphicFramePr>
            <a:graphicFrameLocks noGrp="1"/>
          </p:cNvGraphicFramePr>
          <p:nvPr>
            <p:extLst/>
          </p:nvPr>
        </p:nvGraphicFramePr>
        <p:xfrm>
          <a:off x="287338" y="977900"/>
          <a:ext cx="9331324" cy="3840480"/>
        </p:xfrm>
        <a:graphic>
          <a:graphicData uri="http://schemas.openxmlformats.org/drawingml/2006/table">
            <a:tbl>
              <a:tblPr firstRow="1" bandRow="1">
                <a:tableStyleId>{5940675A-B579-460E-94D1-54222C63F5DA}</a:tableStyleId>
              </a:tblPr>
              <a:tblGrid>
                <a:gridCol w="1439858"/>
                <a:gridCol w="1803213"/>
                <a:gridCol w="608825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2.7.3.2</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GPPC has said that assessment of whether there has been a significant increase in credit risk should be based not only on if the instrument is past due, or other lagging borrower-specific </a:t>
                      </a:r>
                      <a:r>
                        <a:rPr lang="en-IN" sz="1400" kern="1200" dirty="0" err="1" smtClean="0">
                          <a:solidFill>
                            <a:srgbClr val="000000"/>
                          </a:solidFill>
                          <a:latin typeface="Times New Roman" panose="02020603050405020304" pitchFamily="18" charset="0"/>
                          <a:ea typeface="+mn-ea"/>
                          <a:cs typeface="Times New Roman" panose="02020603050405020304" pitchFamily="18" charset="0"/>
                        </a:rPr>
                        <a:t>behavioral</a:t>
                      </a:r>
                      <a:r>
                        <a:rPr lang="en-IN" sz="1400" kern="1200" dirty="0" smtClean="0">
                          <a:solidFill>
                            <a:srgbClr val="000000"/>
                          </a:solidFill>
                          <a:latin typeface="Times New Roman" panose="02020603050405020304" pitchFamily="18" charset="0"/>
                          <a:ea typeface="+mn-ea"/>
                          <a:cs typeface="Times New Roman" panose="02020603050405020304" pitchFamily="18" charset="0"/>
                        </a:rPr>
                        <a:t> factors such as credit-bureau scores. The assessment should also use forward-looking information that is available without undue cost or effort.</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AP1 para 47, 19-25</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ITG also endorses the view of IFRS9 but discourages banks from using 30+ DPD or any such delinquency indicators as the sole criteria. As these criteria's might not be adequately forward looking indicators of default.</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Use of 30+ DPD as a backstop is endorsed.</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A39</a:t>
                      </a:r>
                    </a:p>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A52 to A55</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Basel is of the strong view that rampant use of a 30+ DPD criterion as primary or sole basis for SICR introduces bias leading to a move to LECL later than the objective of the standard requires</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Committee </a:t>
                      </a:r>
                      <a:r>
                        <a:rPr lang="en-IN" sz="1400" kern="1200" dirty="0" err="1" smtClean="0">
                          <a:solidFill>
                            <a:srgbClr val="000000"/>
                          </a:solidFill>
                          <a:latin typeface="Times New Roman" panose="02020603050405020304" pitchFamily="18" charset="0"/>
                          <a:ea typeface="+mn-ea"/>
                          <a:cs typeface="Times New Roman" panose="02020603050405020304" pitchFamily="18" charset="0"/>
                        </a:rPr>
                        <a:t>favors</a:t>
                      </a:r>
                      <a:r>
                        <a:rPr lang="en-IN" sz="1400" kern="1200" dirty="0" smtClean="0">
                          <a:solidFill>
                            <a:srgbClr val="000000"/>
                          </a:solidFill>
                          <a:latin typeface="Times New Roman" panose="02020603050405020304" pitchFamily="18" charset="0"/>
                          <a:ea typeface="+mn-ea"/>
                          <a:cs typeface="Times New Roman" panose="02020603050405020304" pitchFamily="18" charset="0"/>
                        </a:rPr>
                        <a:t> use of 30+ DPD criteria as a backstop if it cannot be rebutted.</a:t>
                      </a:r>
                    </a:p>
                  </a:txBody>
                  <a:tcPr/>
                </a:tc>
              </a:tr>
            </a:tbl>
          </a:graphicData>
        </a:graphic>
      </p:graphicFrame>
    </p:spTree>
    <p:extLst>
      <p:ext uri="{BB962C8B-B14F-4D97-AF65-F5344CB8AC3E}">
        <p14:creationId xmlns:p14="http://schemas.microsoft.com/office/powerpoint/2010/main" val="9378243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30 DPD rebuttable criteria</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28</a:t>
            </a:fld>
            <a:endParaRPr lang="en-US" altLang="en-US"/>
          </a:p>
        </p:txBody>
      </p:sp>
      <p:graphicFrame>
        <p:nvGraphicFramePr>
          <p:cNvPr id="5" name="Table 4"/>
          <p:cNvGraphicFramePr>
            <a:graphicFrameLocks noGrp="1"/>
          </p:cNvGraphicFramePr>
          <p:nvPr>
            <p:extLst>
              <p:ext uri="{D42A27DB-BD31-4B8C-83A1-F6EECF244321}">
                <p14:modId xmlns:p14="http://schemas.microsoft.com/office/powerpoint/2010/main" val="3143028207"/>
              </p:ext>
            </p:extLst>
          </p:nvPr>
        </p:nvGraphicFramePr>
        <p:xfrm>
          <a:off x="287338" y="850900"/>
          <a:ext cx="9331325" cy="3853729"/>
        </p:xfrm>
        <a:graphic>
          <a:graphicData uri="http://schemas.openxmlformats.org/drawingml/2006/table">
            <a:tbl>
              <a:tblPr firstRow="1" bandRow="1">
                <a:tableStyleId>{5940675A-B579-460E-94D1-54222C63F5DA}</a:tableStyleId>
              </a:tblPr>
              <a:tblGrid>
                <a:gridCol w="614362"/>
                <a:gridCol w="990600"/>
                <a:gridCol w="800100"/>
                <a:gridCol w="69262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744769">
                <a:tc rowSpan="2">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rowSpan="2">
                  <a:txBody>
                    <a:bodyPr/>
                    <a:lstStyle/>
                    <a:p>
                      <a:pPr algn="l"/>
                      <a:r>
                        <a:rPr lang="en-IN" sz="1400" kern="1200" dirty="0" smtClean="0">
                          <a:solidFill>
                            <a:srgbClr val="000000"/>
                          </a:solidFill>
                          <a:latin typeface="Times New Roman" panose="02020603050405020304" pitchFamily="18" charset="0"/>
                          <a:ea typeface="+mn-ea"/>
                          <a:cs typeface="Times New Roman" panose="02020603050405020304" pitchFamily="18" charset="0"/>
                        </a:rPr>
                        <a:t>Will the Bank be using only Past Due status for measuring SICR?</a:t>
                      </a: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Non-Retail</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lnSpc>
                          <a:spcPct val="100000"/>
                        </a:lnSpc>
                        <a:buFont typeface="Arial" panose="020B0604020202020204" pitchFamily="34" charset="0"/>
                        <a:buChar char="•"/>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For non-retail, the</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 Bank</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 proposes to use a mix of individual and automated (rule based) assessment criteria using forward looking information for SICR.</a:t>
                      </a:r>
                    </a:p>
                    <a:p>
                      <a:pPr marL="285750" indent="-285750">
                        <a:lnSpc>
                          <a:spcPct val="100000"/>
                        </a:lnSpc>
                        <a:buFont typeface="Arial" panose="020B0604020202020204" pitchFamily="34" charset="0"/>
                        <a:buChar char="•"/>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Delinquency (as of point </a:t>
                      </a:r>
                      <a:r>
                        <a:rPr lang="en-IN" sz="1400" b="0" kern="1200" smtClean="0">
                          <a:solidFill>
                            <a:schemeClr val="tx1"/>
                          </a:solidFill>
                          <a:latin typeface="Times New Roman" panose="02020603050405020304" pitchFamily="18" charset="0"/>
                          <a:ea typeface="+mn-ea"/>
                          <a:cs typeface="Times New Roman" panose="02020603050405020304" pitchFamily="18" charset="0"/>
                        </a:rPr>
                        <a:t>in time) </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will be one of the parameters but not the sole parameter.</a:t>
                      </a:r>
                    </a:p>
                  </a:txBody>
                  <a:tcPr/>
                </a:tc>
              </a:tr>
              <a:tr h="1112520">
                <a:tc vMerge="1">
                  <a:txBody>
                    <a:bodyPr/>
                    <a:lstStyle/>
                    <a:p>
                      <a:endParaRPr lang="en-US" sz="13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vMerge="1">
                  <a:txBody>
                    <a:bodyPr/>
                    <a:lstStyle/>
                    <a:p>
                      <a:endParaRPr lang="en-IN" sz="13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Retail</a:t>
                      </a:r>
                      <a:endParaRPr lang="en-IN"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For retail portfolios, delinquency (+30 DPD)</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at the reporting date </a:t>
                      </a:r>
                      <a:r>
                        <a:rPr lang="en-IN" sz="1400" kern="1200" dirty="0" smtClean="0">
                          <a:solidFill>
                            <a:schemeClr val="tx1"/>
                          </a:solidFill>
                          <a:latin typeface="Times New Roman" panose="02020603050405020304" pitchFamily="18" charset="0"/>
                          <a:ea typeface="+mn-ea"/>
                          <a:cs typeface="Times New Roman" panose="02020603050405020304" pitchFamily="18" charset="0"/>
                        </a:rPr>
                        <a:t>will</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be the only </a:t>
                      </a:r>
                      <a:r>
                        <a:rPr lang="en-IN" sz="1400" kern="1200" dirty="0" smtClean="0">
                          <a:solidFill>
                            <a:schemeClr val="tx1"/>
                          </a:solidFill>
                          <a:latin typeface="Times New Roman" panose="02020603050405020304" pitchFamily="18" charset="0"/>
                          <a:ea typeface="+mn-ea"/>
                          <a:cs typeface="Times New Roman" panose="02020603050405020304" pitchFamily="18" charset="0"/>
                        </a:rPr>
                        <a:t>indicator of SICR. </a:t>
                      </a:r>
                    </a:p>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Furthermore,</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as per Technical Interpretation Note 11 (Backwards Transitions), </a:t>
                      </a:r>
                      <a:r>
                        <a:rPr lang="en-IN" sz="1400" b="1" i="1" kern="1200" baseline="0" dirty="0" smtClean="0">
                          <a:solidFill>
                            <a:schemeClr val="tx1"/>
                          </a:solidFill>
                          <a:latin typeface="Times New Roman" panose="02020603050405020304" pitchFamily="18" charset="0"/>
                          <a:ea typeface="+mn-ea"/>
                          <a:cs typeface="Times New Roman" panose="02020603050405020304" pitchFamily="18" charset="0"/>
                        </a:rPr>
                        <a:t>subject to QCB approval</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a cure/probation period of 3 months will also be applied, to ensure that accounts do not immediately move back to stage 1 from stage 2.</a:t>
                      </a:r>
                    </a:p>
                  </a:txBody>
                  <a:tcPr/>
                </a:tc>
              </a:tr>
              <a:tr h="111252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Will the Bank be rebutting the 30+ DPD criteria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Retail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   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Non-Retail</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The Bank</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will assess the </a:t>
                      </a:r>
                      <a:r>
                        <a:rPr lang="en-IN" sz="1400" b="0" kern="1200" dirty="0" err="1" smtClean="0">
                          <a:solidFill>
                            <a:schemeClr val="tx1"/>
                          </a:solidFill>
                          <a:latin typeface="Times New Roman" panose="02020603050405020304" pitchFamily="18" charset="0"/>
                          <a:ea typeface="+mn-ea"/>
                          <a:cs typeface="Times New Roman" panose="02020603050405020304" pitchFamily="18" charset="0"/>
                        </a:rPr>
                        <a:t>rebuttability</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 of the 30+ DPD criteria on a case by case basis only for the material corporate</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 transactions, via documented individual assessments.  However, even in cases when it is rebutted, it will be replaced by a 60+ DPD criteria.</a:t>
                      </a:r>
                    </a:p>
                    <a:p>
                      <a:pPr marL="285750" indent="-285750">
                        <a:buFont typeface="Arial" panose="020B0604020202020204" pitchFamily="34" charset="0"/>
                        <a:buChar char="•"/>
                      </a:pPr>
                      <a:r>
                        <a:rPr lang="en-IN" sz="1400" b="0" kern="1200" baseline="0" dirty="0" smtClean="0">
                          <a:solidFill>
                            <a:srgbClr val="00B050"/>
                          </a:solidFill>
                          <a:latin typeface="Times New Roman" panose="02020603050405020304" pitchFamily="18" charset="0"/>
                          <a:ea typeface="+mn-ea"/>
                          <a:cs typeface="Times New Roman" panose="02020603050405020304" pitchFamily="18" charset="0"/>
                        </a:rPr>
                        <a:t>This may need to change based on analysis currently being performed</a:t>
                      </a:r>
                      <a:endParaRPr lang="en-IN" sz="1400" kern="1200" baseline="0" dirty="0" smtClean="0">
                        <a:solidFill>
                          <a:srgbClr val="00B050"/>
                        </a:solidFill>
                        <a:latin typeface="Times New Roman" panose="02020603050405020304" pitchFamily="18" charset="0"/>
                        <a:ea typeface="+mn-ea"/>
                        <a:cs typeface="Times New Roman" panose="02020603050405020304" pitchFamily="18" charset="0"/>
                      </a:endParaRPr>
                    </a:p>
                  </a:txBody>
                  <a:tcPr anchor="ctr"/>
                </a:tc>
              </a:tr>
            </a:tbl>
          </a:graphicData>
        </a:graphic>
      </p:graphicFrame>
    </p:spTree>
    <p:extLst>
      <p:ext uri="{BB962C8B-B14F-4D97-AF65-F5344CB8AC3E}">
        <p14:creationId xmlns:p14="http://schemas.microsoft.com/office/powerpoint/2010/main" val="6835959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29</a:t>
            </a:fld>
            <a:endParaRPr lang="en-US" altLang="en-US"/>
          </a:p>
        </p:txBody>
      </p:sp>
      <p:graphicFrame>
        <p:nvGraphicFramePr>
          <p:cNvPr id="5" name="Chart 4"/>
          <p:cNvGraphicFramePr>
            <a:graphicFrameLocks/>
          </p:cNvGraphicFramePr>
          <p:nvPr>
            <p:extLst>
              <p:ext uri="{D42A27DB-BD31-4B8C-83A1-F6EECF244321}">
                <p14:modId xmlns:p14="http://schemas.microsoft.com/office/powerpoint/2010/main" val="3180405275"/>
              </p:ext>
            </p:extLst>
          </p:nvPr>
        </p:nvGraphicFramePr>
        <p:xfrm>
          <a:off x="1026242" y="875808"/>
          <a:ext cx="4791628" cy="288466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287338" y="3655953"/>
            <a:ext cx="5393372" cy="307777"/>
          </a:xfrm>
          <a:prstGeom prst="rect">
            <a:avLst/>
          </a:prstGeom>
          <a:noFill/>
        </p:spPr>
        <p:txBody>
          <a:bodyPr wrap="square" rtlCol="0">
            <a:spAutoFit/>
          </a:bodyPr>
          <a:lstStyle/>
          <a:p>
            <a:r>
              <a:rPr lang="en-GB" sz="1400" b="1" dirty="0" smtClean="0">
                <a:solidFill>
                  <a:schemeClr val="accent1">
                    <a:lumMod val="50000"/>
                  </a:schemeClr>
                </a:solidFill>
              </a:rPr>
              <a:t>Cure rates                           20%                                          40%</a:t>
            </a:r>
            <a:endParaRPr lang="en-GB" sz="1400" b="1" dirty="0">
              <a:solidFill>
                <a:schemeClr val="accent1">
                  <a:lumMod val="50000"/>
                </a:schemeClr>
              </a:solidFill>
            </a:endParaRPr>
          </a:p>
        </p:txBody>
      </p:sp>
      <p:pic>
        <p:nvPicPr>
          <p:cNvPr id="4" name="Picture 3"/>
          <p:cNvPicPr>
            <a:picLocks noChangeAspect="1"/>
          </p:cNvPicPr>
          <p:nvPr/>
        </p:nvPicPr>
        <p:blipFill>
          <a:blip r:embed="rId3"/>
          <a:stretch>
            <a:fillRect/>
          </a:stretch>
        </p:blipFill>
        <p:spPr>
          <a:xfrm>
            <a:off x="1913296" y="4062247"/>
            <a:ext cx="7534828" cy="2376336"/>
          </a:xfrm>
          <a:prstGeom prst="rect">
            <a:avLst/>
          </a:prstGeom>
        </p:spPr>
      </p:pic>
      <p:sp>
        <p:nvSpPr>
          <p:cNvPr id="8" name="TextBox 7"/>
          <p:cNvSpPr txBox="1"/>
          <p:nvPr/>
        </p:nvSpPr>
        <p:spPr>
          <a:xfrm>
            <a:off x="5403692" y="3719992"/>
            <a:ext cx="4354830" cy="315268"/>
          </a:xfrm>
          <a:prstGeom prst="rect">
            <a:avLst/>
          </a:prstGeom>
          <a:noFill/>
        </p:spPr>
        <p:txBody>
          <a:bodyPr wrap="square" rtlCol="0">
            <a:spAutoFit/>
          </a:bodyPr>
          <a:lstStyle/>
          <a:p>
            <a:r>
              <a:rPr lang="en-GB" sz="1400" b="1" dirty="0" smtClean="0">
                <a:solidFill>
                  <a:schemeClr val="accent1">
                    <a:lumMod val="50000"/>
                  </a:schemeClr>
                </a:solidFill>
              </a:rPr>
              <a:t>Corporate, +30DPD into +90DPD rates, exceed 40%</a:t>
            </a:r>
            <a:endParaRPr lang="en-GB" sz="1400" b="1" dirty="0">
              <a:solidFill>
                <a:schemeClr val="accent1">
                  <a:lumMod val="50000"/>
                </a:schemeClr>
              </a:solidFill>
            </a:endParaRPr>
          </a:p>
        </p:txBody>
      </p:sp>
    </p:spTree>
    <p:extLst>
      <p:ext uri="{BB962C8B-B14F-4D97-AF65-F5344CB8AC3E}">
        <p14:creationId xmlns:p14="http://schemas.microsoft.com/office/powerpoint/2010/main" val="96896766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Modification </a:t>
            </a:r>
            <a:r>
              <a:rPr lang="en-US" sz="2400" dirty="0"/>
              <a:t>of </a:t>
            </a:r>
            <a:r>
              <a:rPr lang="en-US" sz="2400" dirty="0" smtClean="0"/>
              <a:t>Assets</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4</a:t>
            </a:r>
            <a:endParaRPr lang="en-IN" sz="2400" b="1" dirty="0">
              <a:solidFill>
                <a:schemeClr val="bg1"/>
              </a:solidFill>
            </a:endParaRPr>
          </a:p>
        </p:txBody>
      </p:sp>
    </p:spTree>
    <p:extLst>
      <p:ext uri="{BB962C8B-B14F-4D97-AF65-F5344CB8AC3E}">
        <p14:creationId xmlns:p14="http://schemas.microsoft.com/office/powerpoint/2010/main" val="28295501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9754"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31</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697901"/>
            <a:chOff x="274638" y="1133475"/>
            <a:chExt cx="9324936" cy="1667794"/>
          </a:xfrm>
        </p:grpSpPr>
        <p:sp>
          <p:nvSpPr>
            <p:cNvPr id="18442" name="Rectangle 6"/>
            <p:cNvSpPr>
              <a:spLocks noChangeArrowheads="1"/>
            </p:cNvSpPr>
            <p:nvPr>
              <p:custDataLst>
                <p:tags r:id="rId5"/>
              </p:custDataLst>
            </p:nvPr>
          </p:nvSpPr>
          <p:spPr bwMode="auto">
            <a:xfrm>
              <a:off x="274638" y="1133475"/>
              <a:ext cx="1701800" cy="1667794"/>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6677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IFRS 9 introduces the concept of Modification of Assets,  it occurs when the contractual cash flows of a financial assets are renegotiated or otherwise modified but</a:t>
              </a:r>
              <a:r>
                <a:rPr lang="en-US" altLang="en-US" sz="1400" b="1" i="1" dirty="0">
                  <a:solidFill>
                    <a:srgbClr val="000000"/>
                  </a:solidFill>
                </a:rPr>
                <a:t> not de-recognized </a:t>
              </a:r>
              <a:r>
                <a:rPr lang="en-US" altLang="en-US" sz="1400" dirty="0">
                  <a:solidFill>
                    <a:srgbClr val="000000"/>
                  </a:solidFill>
                </a:rPr>
                <a:t>(please note that de-recognition implications are part of Classification &amp; Measurement section of IFRS 9 and are not addressed in this Note</a:t>
              </a:r>
              <a:r>
                <a:rPr lang="en-US" altLang="en-US" sz="1400" dirty="0" smtClean="0">
                  <a:solidFill>
                    <a:srgbClr val="000000"/>
                  </a:solidFill>
                </a:rPr>
                <a:t>).</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a:solidFill>
                    <a:srgbClr val="000000"/>
                  </a:solidFill>
                </a:rPr>
                <a:t>Once an asset is modified, IFRS 9 requires the change in fair value computed using original EIR to be recognized in P&amp;L</a:t>
              </a:r>
              <a:r>
                <a:rPr lang="en-US" altLang="en-US" sz="1400" dirty="0" smtClean="0">
                  <a:solidFill>
                    <a:srgbClr val="000000"/>
                  </a:solidFill>
                </a:rPr>
                <a:t>.</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a:solidFill>
                    <a:srgbClr val="000000"/>
                  </a:solidFill>
                </a:rPr>
                <a:t>There could be multiple underlying factors which contribute to the decision of modifying an asset. Assessment of modified assets require judgement as there is no specific guidance offered by IFRS 9. </a:t>
              </a:r>
            </a:p>
          </p:txBody>
        </p:sp>
      </p:grpSp>
      <p:sp>
        <p:nvSpPr>
          <p:cNvPr id="14" name="Rectangle 6"/>
          <p:cNvSpPr>
            <a:spLocks noChangeArrowheads="1"/>
          </p:cNvSpPr>
          <p:nvPr>
            <p:custDataLst>
              <p:tags r:id="rId3"/>
            </p:custDataLst>
          </p:nvPr>
        </p:nvSpPr>
        <p:spPr bwMode="auto">
          <a:xfrm>
            <a:off x="261938" y="2960459"/>
            <a:ext cx="1714507" cy="1633781"/>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2960459"/>
            <a:ext cx="7497793" cy="163378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altLang="en-US" sz="1400" dirty="0">
                <a:solidFill>
                  <a:srgbClr val="000000"/>
                </a:solidFill>
              </a:rPr>
              <a:t>This is an important area from the perspective of implementing  IFRS 9 due to the following reasons</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Modification of cash flows of an asset can occur due to one of the following reasons:</a:t>
            </a:r>
          </a:p>
          <a:p>
            <a:pPr marL="804863" lvl="1" indent="-176213" eaLnBrk="1" hangingPunct="1">
              <a:lnSpc>
                <a:spcPts val="1400"/>
              </a:lnSpc>
              <a:spcBef>
                <a:spcPts val="300"/>
              </a:spcBef>
              <a:buFont typeface="+mj-lt"/>
              <a:buAutoNum type="romanLcPeriod"/>
            </a:pPr>
            <a:r>
              <a:rPr lang="en-US" altLang="en-US" sz="1400" dirty="0">
                <a:solidFill>
                  <a:srgbClr val="000000"/>
                </a:solidFill>
              </a:rPr>
              <a:t>Asset modification due to commercial reasons</a:t>
            </a:r>
          </a:p>
          <a:p>
            <a:pPr marL="804863" lvl="1" indent="-176213" eaLnBrk="1" hangingPunct="1">
              <a:lnSpc>
                <a:spcPts val="1400"/>
              </a:lnSpc>
              <a:spcBef>
                <a:spcPts val="300"/>
              </a:spcBef>
              <a:buFont typeface="+mj-lt"/>
              <a:buAutoNum type="romanLcPeriod"/>
            </a:pPr>
            <a:r>
              <a:rPr lang="en-US" altLang="en-US" sz="1400" dirty="0">
                <a:solidFill>
                  <a:srgbClr val="000000"/>
                </a:solidFill>
              </a:rPr>
              <a:t>Modification of assets due to credit related stress that is not construed as default</a:t>
            </a:r>
          </a:p>
          <a:p>
            <a:pPr marL="804863" lvl="1" indent="-176213" eaLnBrk="1" hangingPunct="1">
              <a:lnSpc>
                <a:spcPts val="1400"/>
              </a:lnSpc>
              <a:spcBef>
                <a:spcPts val="300"/>
              </a:spcBef>
              <a:buFont typeface="+mj-lt"/>
              <a:buAutoNum type="romanLcPeriod"/>
            </a:pPr>
            <a:r>
              <a:rPr lang="en-US" altLang="en-US" sz="1400" dirty="0">
                <a:solidFill>
                  <a:srgbClr val="000000"/>
                </a:solidFill>
              </a:rPr>
              <a:t>Modification of assets due to financial difficulty that is construed as </a:t>
            </a:r>
            <a:r>
              <a:rPr lang="en-US" altLang="en-US" sz="1400" dirty="0" smtClean="0">
                <a:solidFill>
                  <a:srgbClr val="000000"/>
                </a:solidFill>
              </a:rPr>
              <a:t>default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The treatment of each of the above cases would be different and hence it is important for the Bank to define how they would separate cases 1,2 and 3 as shown above</a:t>
            </a:r>
          </a:p>
        </p:txBody>
      </p:sp>
    </p:spTree>
    <p:extLst>
      <p:ext uri="{BB962C8B-B14F-4D97-AF65-F5344CB8AC3E}">
        <p14:creationId xmlns:p14="http://schemas.microsoft.com/office/powerpoint/2010/main" val="24527974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32</a:t>
            </a:fld>
            <a:endParaRPr lang="en-US" altLang="en-US"/>
          </a:p>
        </p:txBody>
      </p:sp>
      <p:graphicFrame>
        <p:nvGraphicFramePr>
          <p:cNvPr id="4" name="Table 3"/>
          <p:cNvGraphicFramePr>
            <a:graphicFrameLocks noGrp="1"/>
          </p:cNvGraphicFramePr>
          <p:nvPr>
            <p:extLst/>
          </p:nvPr>
        </p:nvGraphicFramePr>
        <p:xfrm>
          <a:off x="895350" y="1181100"/>
          <a:ext cx="8115300" cy="131572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How will QNB distinguish between the following:</a:t>
                      </a:r>
                    </a:p>
                    <a:p>
                      <a:pPr marL="631825" lvl="1" indent="-174625">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Asset modification due to commercial reasons.</a:t>
                      </a:r>
                    </a:p>
                    <a:p>
                      <a:pPr marL="631825" lvl="1" indent="-174625">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Modification of assets due to credit related stress that is not construed as default.</a:t>
                      </a:r>
                    </a:p>
                    <a:p>
                      <a:pPr marL="631825" lvl="1" indent="-174625">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Modification of assets due to financial difficulty that is construed as default.</a:t>
                      </a:r>
                    </a:p>
                  </a:txBody>
                  <a:tcPr anchor="ctr"/>
                </a:tc>
              </a:tr>
            </a:tbl>
          </a:graphicData>
        </a:graphic>
      </p:graphicFrame>
    </p:spTree>
    <p:extLst>
      <p:ext uri="{BB962C8B-B14F-4D97-AF65-F5344CB8AC3E}">
        <p14:creationId xmlns:p14="http://schemas.microsoft.com/office/powerpoint/2010/main" val="25749160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33</a:t>
            </a:fld>
            <a:endParaRPr lang="en-US" altLang="en-US"/>
          </a:p>
        </p:txBody>
      </p:sp>
      <p:graphicFrame>
        <p:nvGraphicFramePr>
          <p:cNvPr id="5" name="Table 4"/>
          <p:cNvGraphicFramePr>
            <a:graphicFrameLocks noGrp="1"/>
          </p:cNvGraphicFramePr>
          <p:nvPr>
            <p:extLst/>
          </p:nvPr>
        </p:nvGraphicFramePr>
        <p:xfrm>
          <a:off x="287338" y="939800"/>
          <a:ext cx="9331325" cy="384048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B5.5.25-27</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 the contractual cash flows on a financial asset have been renegotiated or otherwise modified, but the financial asset is not de-recognized, that financial asset is not automatically considered to have lower credit risk.</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An entity shall assess whether there has been a significant increase in credit risk since initial recognition on the basis of all reasonable and supportable information that is available without undue cost or effort.</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Typically a customer would need to demonstrate consistently good payment behavior over a period of time before the credit risk is considered to have decreased. For example, a history of missed or incomplete payments would not typically be erased by simply making one payment on time following a modification of the contractual terms.</a:t>
                      </a:r>
                    </a:p>
                  </a:txBody>
                  <a:tcPr/>
                </a:tc>
              </a:tr>
              <a:tr h="370840">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NA</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Nothing specific in</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respect of</a:t>
                      </a:r>
                      <a:r>
                        <a:rPr lang="en-US" sz="1400" kern="1200" dirty="0" smtClean="0">
                          <a:solidFill>
                            <a:schemeClr val="tx1"/>
                          </a:solidFill>
                          <a:latin typeface="Times New Roman" panose="02020603050405020304" pitchFamily="18" charset="0"/>
                          <a:ea typeface="+mn-ea"/>
                          <a:cs typeface="Times New Roman" panose="02020603050405020304" pitchFamily="18" charset="0"/>
                        </a:rPr>
                        <a:t> this matter.</a:t>
                      </a:r>
                    </a:p>
                  </a:txBody>
                  <a:tcPr anchor="ct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NA</a:t>
                      </a:r>
                    </a:p>
                  </a:txBody>
                  <a:tcPr anchor="ctr"/>
                </a:tc>
                <a:tc>
                  <a:txBody>
                    <a:bodyPr/>
                    <a:lstStyle/>
                    <a:p>
                      <a:pPr marL="119063" indent="-119063">
                        <a:buFont typeface="Arial" panose="020B0604020202020204" pitchFamily="34" charset="0"/>
                        <a:buChar char="•"/>
                      </a:pPr>
                      <a:r>
                        <a:rPr lang="en-US" sz="1400" kern="1200" smtClean="0">
                          <a:solidFill>
                            <a:srgbClr val="000000"/>
                          </a:solidFill>
                          <a:latin typeface="Times New Roman" panose="02020603050405020304" pitchFamily="18" charset="0"/>
                          <a:ea typeface="+mn-ea"/>
                          <a:cs typeface="Times New Roman" panose="02020603050405020304" pitchFamily="18" charset="0"/>
                        </a:rPr>
                        <a:t>Nothing specific</a:t>
                      </a:r>
                      <a:r>
                        <a:rPr lang="en-US" sz="1400" kern="1200" smtClean="0">
                          <a:solidFill>
                            <a:schemeClr val="accent6"/>
                          </a:solidFill>
                          <a:latin typeface="Times New Roman" panose="02020603050405020304" pitchFamily="18" charset="0"/>
                          <a:ea typeface="+mn-ea"/>
                          <a:cs typeface="Times New Roman" panose="02020603050405020304" pitchFamily="18" charset="0"/>
                        </a:rPr>
                        <a:t> in</a:t>
                      </a:r>
                      <a:r>
                        <a:rPr lang="en-US" sz="1400" kern="1200" baseline="0" smtClean="0">
                          <a:solidFill>
                            <a:schemeClr val="accent6"/>
                          </a:solidFill>
                          <a:latin typeface="Times New Roman" panose="02020603050405020304" pitchFamily="18" charset="0"/>
                          <a:ea typeface="+mn-ea"/>
                          <a:cs typeface="Times New Roman" panose="02020603050405020304" pitchFamily="18" charset="0"/>
                        </a:rPr>
                        <a:t> respect of</a:t>
                      </a:r>
                      <a:r>
                        <a:rPr lang="en-US" sz="1400" kern="1200" smtClean="0">
                          <a:solidFill>
                            <a:schemeClr val="accent6"/>
                          </a:solidFill>
                          <a:latin typeface="Times New Roman" panose="02020603050405020304" pitchFamily="18" charset="0"/>
                          <a:ea typeface="+mn-ea"/>
                          <a:cs typeface="Times New Roman" panose="02020603050405020304" pitchFamily="18" charset="0"/>
                        </a:rPr>
                        <a:t> this matter.</a:t>
                      </a:r>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0638651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34</a:t>
            </a:fld>
            <a:endParaRPr lang="en-US" altLang="en-US"/>
          </a:p>
        </p:txBody>
      </p:sp>
      <p:graphicFrame>
        <p:nvGraphicFramePr>
          <p:cNvPr id="5" name="Table 4"/>
          <p:cNvGraphicFramePr>
            <a:graphicFrameLocks noGrp="1"/>
          </p:cNvGraphicFramePr>
          <p:nvPr>
            <p:extLst/>
          </p:nvPr>
        </p:nvGraphicFramePr>
        <p:xfrm>
          <a:off x="287338" y="977900"/>
          <a:ext cx="9331324" cy="290576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NA</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Nothing specific on this context</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NA</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Nothing specific on this context</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Para 39</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 bank’s accounting policies should address, and its allowance methodology should include, criteria for (a) restructurings/modifications of lending exposures.</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It would not be appropriate to assume that restructurings automatically lead to the conclusion that there has been an immediate decrease in the credit risk on the exposure, and any decrease in the reported allowance level due to improved credit risk should be well supported by strong evidence. Typically, a customer would need to demonstrate consistently satisfactory payment performance over a reasonable period of time before credit risk would be considered to have decreased.</a:t>
                      </a:r>
                    </a:p>
                  </a:txBody>
                  <a:tcPr/>
                </a:tc>
              </a:tr>
            </a:tbl>
          </a:graphicData>
        </a:graphic>
      </p:graphicFrame>
    </p:spTree>
    <p:extLst>
      <p:ext uri="{BB962C8B-B14F-4D97-AF65-F5344CB8AC3E}">
        <p14:creationId xmlns:p14="http://schemas.microsoft.com/office/powerpoint/2010/main" val="3630856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Modification of </a:t>
            </a:r>
            <a:r>
              <a:rPr lang="en-IN" b="1" dirty="0" smtClean="0"/>
              <a:t>Assets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35</a:t>
            </a:fld>
            <a:endParaRPr lang="en-US" altLang="en-US"/>
          </a:p>
        </p:txBody>
      </p:sp>
      <p:graphicFrame>
        <p:nvGraphicFramePr>
          <p:cNvPr id="6" name="Table 5"/>
          <p:cNvGraphicFramePr>
            <a:graphicFrameLocks noGrp="1"/>
          </p:cNvGraphicFramePr>
          <p:nvPr>
            <p:extLst/>
          </p:nvPr>
        </p:nvGraphicFramePr>
        <p:xfrm>
          <a:off x="287338" y="850900"/>
          <a:ext cx="9331325" cy="3657600"/>
        </p:xfrm>
        <a:graphic>
          <a:graphicData uri="http://schemas.openxmlformats.org/drawingml/2006/table">
            <a:tbl>
              <a:tblPr firstRow="1" bandRow="1">
                <a:tableStyleId>{5940675A-B579-460E-94D1-54222C63F5DA}</a:tableStyleId>
              </a:tblPr>
              <a:tblGrid>
                <a:gridCol w="588962"/>
                <a:gridCol w="1511300"/>
                <a:gridCol w="7231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519680">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Asset modification due to commercial reasons</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Loan assets modified purely because of non-stress reasons like retaining a reputed customer etc. are regarded as commercially modified assets. </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The Bank does not incur material losses due to these kind of restructures. The losses due to these kinds of restructures would be compensated by the future benefits. </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Some (non-exhaustive) examples of cases where asset modification would be due to commercial reasons are as follows:</a:t>
                      </a:r>
                    </a:p>
                    <a:p>
                      <a:pPr marL="685800" lvl="1" indent="-228600">
                        <a:lnSpc>
                          <a:spcPct val="100000"/>
                        </a:lnSpc>
                        <a:buFont typeface="+mj-lt"/>
                        <a:buAutoNum type="romanLcPeriod"/>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Any changes in rates including reduction in contractual rates done for strategic reasons</a:t>
                      </a:r>
                    </a:p>
                    <a:p>
                      <a:pPr marL="685800" lvl="1" indent="-228600">
                        <a:lnSpc>
                          <a:spcPct val="100000"/>
                        </a:lnSpc>
                        <a:buFont typeface="+mj-lt"/>
                        <a:buAutoNum type="romanLcPeriod"/>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Any payment holidays declared for particular groups due to strategic or at behest of regulator</a:t>
                      </a:r>
                    </a:p>
                    <a:p>
                      <a:pPr marL="685800" lvl="1" indent="-228600">
                        <a:lnSpc>
                          <a:spcPct val="100000"/>
                        </a:lnSpc>
                        <a:buFont typeface="+mj-lt"/>
                        <a:buAutoNum type="romanLcPeriod"/>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Any changes to maturity that is initiated by a customer who is in no financial difficulty and the Bank is comfortable that even if the modification is not done, the client would be able to service the debt</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Such assets that are modified due to commercial reasons will</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be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treated as Stage 1, when</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there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are no other signs of SICR.</a:t>
                      </a:r>
                    </a:p>
                  </a:txBody>
                  <a:tcPr/>
                </a:tc>
              </a:tr>
            </a:tbl>
          </a:graphicData>
        </a:graphic>
      </p:graphicFrame>
    </p:spTree>
    <p:extLst>
      <p:ext uri="{BB962C8B-B14F-4D97-AF65-F5344CB8AC3E}">
        <p14:creationId xmlns:p14="http://schemas.microsoft.com/office/powerpoint/2010/main" val="4291756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Modification of </a:t>
            </a:r>
            <a:r>
              <a:rPr lang="en-IN" b="1" dirty="0" smtClean="0"/>
              <a:t>Assets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36</a:t>
            </a:fld>
            <a:endParaRPr lang="en-US" altLang="en-US"/>
          </a:p>
        </p:txBody>
      </p:sp>
      <p:graphicFrame>
        <p:nvGraphicFramePr>
          <p:cNvPr id="6" name="Table 5"/>
          <p:cNvGraphicFramePr>
            <a:graphicFrameLocks noGrp="1"/>
          </p:cNvGraphicFramePr>
          <p:nvPr>
            <p:extLst/>
          </p:nvPr>
        </p:nvGraphicFramePr>
        <p:xfrm>
          <a:off x="287338" y="850904"/>
          <a:ext cx="9331325" cy="5184615"/>
        </p:xfrm>
        <a:graphic>
          <a:graphicData uri="http://schemas.openxmlformats.org/drawingml/2006/table">
            <a:tbl>
              <a:tblPr firstRow="1" bandRow="1">
                <a:tableStyleId>{5940675A-B579-460E-94D1-54222C63F5DA}</a:tableStyleId>
              </a:tblPr>
              <a:tblGrid>
                <a:gridCol w="588962"/>
                <a:gridCol w="1511300"/>
                <a:gridCol w="7231063"/>
              </a:tblGrid>
              <a:tr h="570717">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454341">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Asset modification due to credit reasons </a:t>
                      </a:r>
                      <a:r>
                        <a:rPr lang="en-US" sz="1200" b="1" u="sng" kern="1200" dirty="0" smtClean="0">
                          <a:solidFill>
                            <a:srgbClr val="000000"/>
                          </a:solidFill>
                          <a:latin typeface="Times New Roman" panose="02020603050405020304" pitchFamily="18" charset="0"/>
                          <a:ea typeface="+mn-ea"/>
                          <a:cs typeface="Times New Roman" panose="02020603050405020304" pitchFamily="18" charset="0"/>
                        </a:rPr>
                        <a:t>not amounting to default</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Assets can be modified due to credit related reasons. In some cases, these would not amount to default and in other cases these would be treated as default</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Some (non-exhaustive)</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examples of credit related modification of assets could be:-</a:t>
                      </a:r>
                    </a:p>
                    <a:p>
                      <a:pPr marL="576263" lvl="1"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Modification of cash flows for the clients who are showing signs of financial difficulty e.g. 30+ DPD plus or are showing any other signs of stress</a:t>
                      </a:r>
                    </a:p>
                    <a:p>
                      <a:pPr marL="576263" lvl="1"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Extension of maturity or reduction in contractual rates that is not part of any strategic or regulatory mandate but is done because the client would not be able to service the original cash flows</a:t>
                      </a:r>
                    </a:p>
                    <a:p>
                      <a:pPr marL="576263" lvl="1"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Any other modifications that the Bank would not do in normal course of business but has to do in a specific case due to financial difficulty of the client</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However, it could be that even when such modifications are done, they do not result in material loss to the Bank. In such a case it will not be treated as default.  However, such accounts will still require</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movement into</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 Stage 2.</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After</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being moved into Stage 2, t</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he accounts would be subjected</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to the standard backward transition rules (as defined in the Technical Interpretation Note 11) before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being moved back into Stage 1.</a:t>
                      </a:r>
                    </a:p>
                  </a:txBody>
                  <a:tcPr/>
                </a:tc>
              </a:tr>
              <a:tr h="1100295">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3</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u="none" kern="1200" dirty="0" smtClean="0">
                          <a:solidFill>
                            <a:srgbClr val="000000"/>
                          </a:solidFill>
                          <a:latin typeface="Times New Roman" panose="02020603050405020304" pitchFamily="18" charset="0"/>
                          <a:ea typeface="+mn-ea"/>
                          <a:cs typeface="Times New Roman" panose="02020603050405020304" pitchFamily="18" charset="0"/>
                        </a:rPr>
                        <a:t>Asset modification due to credit reasons </a:t>
                      </a:r>
                      <a:r>
                        <a:rPr lang="en-US" sz="1200" b="1" u="sng" kern="1200" dirty="0" smtClean="0">
                          <a:solidFill>
                            <a:srgbClr val="000000"/>
                          </a:solidFill>
                          <a:latin typeface="Times New Roman" panose="02020603050405020304" pitchFamily="18" charset="0"/>
                          <a:ea typeface="+mn-ea"/>
                          <a:cs typeface="Times New Roman" panose="02020603050405020304" pitchFamily="18" charset="0"/>
                        </a:rPr>
                        <a:t>amounting to default</a:t>
                      </a:r>
                    </a:p>
                    <a:p>
                      <a:pPr algn="l"/>
                      <a:endParaRPr lang="en-US" sz="1200" u="sng"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If modification of an asset is due to credit reasons and it results in a material or significant loss to the Bank then it will be treated as default and moved into Stage 3 as per IFRS 9.</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There are no specific guidelines on what is “significant loss”</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but QNB will follow the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Industry practice in this area and will apply</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 threshold of 1</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0% of the carrying value of the asset.</a:t>
                      </a:r>
                    </a:p>
                  </a:txBody>
                  <a:tcPr/>
                </a:tc>
              </a:tr>
            </a:tbl>
          </a:graphicData>
        </a:graphic>
      </p:graphicFrame>
    </p:spTree>
    <p:extLst>
      <p:ext uri="{BB962C8B-B14F-4D97-AF65-F5344CB8AC3E}">
        <p14:creationId xmlns:p14="http://schemas.microsoft.com/office/powerpoint/2010/main" val="31609361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37</a:t>
            </a:fld>
            <a:endParaRPr lang="en-US" altLang="en-US"/>
          </a:p>
        </p:txBody>
      </p:sp>
      <p:graphicFrame>
        <p:nvGraphicFramePr>
          <p:cNvPr id="5" name="Chart 4"/>
          <p:cNvGraphicFramePr>
            <a:graphicFrameLocks/>
          </p:cNvGraphicFramePr>
          <p:nvPr>
            <p:extLst>
              <p:ext uri="{D42A27DB-BD31-4B8C-83A1-F6EECF244321}">
                <p14:modId xmlns:p14="http://schemas.microsoft.com/office/powerpoint/2010/main" val="1574077353"/>
              </p:ext>
            </p:extLst>
          </p:nvPr>
        </p:nvGraphicFramePr>
        <p:xfrm>
          <a:off x="1946906" y="1809185"/>
          <a:ext cx="6746519" cy="4366328"/>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p:cNvSpPr/>
          <p:nvPr/>
        </p:nvSpPr>
        <p:spPr>
          <a:xfrm>
            <a:off x="1918195" y="1112520"/>
            <a:ext cx="3661708" cy="369332"/>
          </a:xfrm>
          <a:prstGeom prst="rect">
            <a:avLst/>
          </a:prstGeom>
        </p:spPr>
        <p:txBody>
          <a:bodyPr wrap="none">
            <a:spAutoFit/>
          </a:bodyPr>
          <a:lstStyle/>
          <a:p>
            <a:pPr algn="ctr">
              <a:defRPr sz="1800" b="1" i="0" u="none" strike="noStrike" kern="1200" baseline="0">
                <a:solidFill>
                  <a:srgbClr val="000000"/>
                </a:solidFill>
                <a:latin typeface="+mn-lt"/>
                <a:ea typeface="+mn-ea"/>
                <a:cs typeface="+mn-cs"/>
              </a:defRPr>
            </a:pPr>
            <a:r>
              <a:rPr lang="en-US" b="1" dirty="0" smtClean="0">
                <a:solidFill>
                  <a:srgbClr val="000000"/>
                </a:solidFill>
              </a:rPr>
              <a:t>Rescheduled &amp; restructured (</a:t>
            </a:r>
            <a:r>
              <a:rPr lang="en-US" b="1" dirty="0" err="1" smtClean="0">
                <a:solidFill>
                  <a:srgbClr val="000000"/>
                </a:solidFill>
              </a:rPr>
              <a:t>QARm</a:t>
            </a:r>
            <a:r>
              <a:rPr lang="en-US" b="1" dirty="0" smtClean="0">
                <a:solidFill>
                  <a:srgbClr val="000000"/>
                </a:solidFill>
              </a:rPr>
              <a:t>)</a:t>
            </a:r>
            <a:endParaRPr lang="en-US" b="1" dirty="0">
              <a:solidFill>
                <a:srgbClr val="000000"/>
              </a:solidFill>
            </a:endParaRPr>
          </a:p>
        </p:txBody>
      </p:sp>
    </p:spTree>
    <p:extLst>
      <p:ext uri="{BB962C8B-B14F-4D97-AF65-F5344CB8AC3E}">
        <p14:creationId xmlns:p14="http://schemas.microsoft.com/office/powerpoint/2010/main" val="6734380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883981"/>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Facility </a:t>
            </a:r>
            <a:r>
              <a:rPr lang="en-US" sz="2400" dirty="0"/>
              <a:t>Level vs. Counterparty Level Assessment of </a:t>
            </a:r>
            <a:r>
              <a:rPr lang="en-US" sz="2400" dirty="0" smtClean="0"/>
              <a:t>SICR</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5</a:t>
            </a:r>
            <a:endParaRPr lang="en-IN" sz="2400" b="1" dirty="0">
              <a:solidFill>
                <a:schemeClr val="bg1"/>
              </a:solidFill>
            </a:endParaRPr>
          </a:p>
        </p:txBody>
      </p:sp>
    </p:spTree>
    <p:extLst>
      <p:ext uri="{BB962C8B-B14F-4D97-AF65-F5344CB8AC3E}">
        <p14:creationId xmlns:p14="http://schemas.microsoft.com/office/powerpoint/2010/main" val="404290610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0776"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39</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736373"/>
            <a:chOff x="274638" y="1133475"/>
            <a:chExt cx="9324936" cy="1705584"/>
          </a:xfrm>
        </p:grpSpPr>
        <p:sp>
          <p:nvSpPr>
            <p:cNvPr id="18442" name="Rectangle 6"/>
            <p:cNvSpPr>
              <a:spLocks noChangeArrowheads="1"/>
            </p:cNvSpPr>
            <p:nvPr>
              <p:custDataLst>
                <p:tags r:id="rId5"/>
              </p:custDataLst>
            </p:nvPr>
          </p:nvSpPr>
          <p:spPr bwMode="auto">
            <a:xfrm>
              <a:off x="274638" y="1133475"/>
              <a:ext cx="1701800" cy="1705584"/>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7055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IFRS 9 technically applies at the level of </a:t>
              </a:r>
              <a:r>
                <a:rPr lang="en-US" altLang="en-US" sz="1400" dirty="0" smtClean="0">
                  <a:solidFill>
                    <a:srgbClr val="000000"/>
                  </a:solidFill>
                </a:rPr>
                <a:t>a Facility</a:t>
              </a:r>
              <a:r>
                <a:rPr lang="en-US" altLang="en-US" sz="1400" dirty="0">
                  <a:solidFill>
                    <a:srgbClr val="000000"/>
                  </a:solidFill>
                </a:rPr>
                <a:t>. </a:t>
              </a:r>
              <a:r>
                <a:rPr lang="en-US" altLang="en-US" sz="1400" dirty="0" smtClean="0">
                  <a:solidFill>
                    <a:srgbClr val="000000"/>
                  </a:solidFill>
                </a:rPr>
                <a:t> This </a:t>
              </a:r>
              <a:r>
                <a:rPr lang="en-US" altLang="en-US" sz="1400" dirty="0">
                  <a:solidFill>
                    <a:srgbClr val="000000"/>
                  </a:solidFill>
                </a:rPr>
                <a:t>means that assessment of SICR needs to be done at a Facility level. </a:t>
              </a:r>
            </a:p>
            <a:p>
              <a:pPr eaLnBrk="1" hangingPunct="1">
                <a:lnSpc>
                  <a:spcPts val="1400"/>
                </a:lnSpc>
                <a:spcBef>
                  <a:spcPts val="300"/>
                </a:spcBef>
                <a:buFont typeface="Arial" panose="020B0604020202020204" pitchFamily="34" charset="0"/>
                <a:buChar char="•"/>
              </a:pPr>
              <a:r>
                <a:rPr lang="en-US" altLang="en-US" sz="1400" dirty="0">
                  <a:solidFill>
                    <a:srgbClr val="000000"/>
                  </a:solidFill>
                </a:rPr>
                <a:t>However, keeping in view the fact that banks often tend to manage relationship risk at a counterparty level, it provides an expedient whereby assessment of SICR can be done at a counterparty </a:t>
              </a:r>
              <a:r>
                <a:rPr lang="en-US" altLang="en-US" sz="1400" dirty="0" smtClean="0">
                  <a:solidFill>
                    <a:srgbClr val="000000"/>
                  </a:solidFill>
                </a:rPr>
                <a:t>level.</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a:solidFill>
                    <a:srgbClr val="000000"/>
                  </a:solidFill>
                </a:rPr>
                <a:t>This means that if the counterparty is assessed to have suffered SICR then all Facilities under the counterparty would be deemed to have suffered SICR and will entail Lifetime ECL</a:t>
              </a:r>
              <a:r>
                <a:rPr lang="en-US" altLang="en-US" sz="1400" dirty="0" smtClean="0">
                  <a:solidFill>
                    <a:srgbClr val="000000"/>
                  </a:solidFill>
                </a:rPr>
                <a:t>.</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a:solidFill>
                    <a:srgbClr val="000000"/>
                  </a:solidFill>
                </a:rPr>
                <a:t>However, IFRS 9 also cautions that they expect this expedient to be used only if the SICR outcome would not have been different if the instruments were assessed individually</a:t>
              </a:r>
            </a:p>
          </p:txBody>
        </p:sp>
      </p:grpSp>
      <p:sp>
        <p:nvSpPr>
          <p:cNvPr id="14" name="Rectangle 6"/>
          <p:cNvSpPr>
            <a:spLocks noChangeArrowheads="1"/>
          </p:cNvSpPr>
          <p:nvPr>
            <p:custDataLst>
              <p:tags r:id="rId3"/>
            </p:custDataLst>
          </p:nvPr>
        </p:nvSpPr>
        <p:spPr bwMode="auto">
          <a:xfrm>
            <a:off x="261938" y="3025774"/>
            <a:ext cx="1714507" cy="2095445"/>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3025774"/>
            <a:ext cx="7497793" cy="209544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altLang="en-US" sz="1400" dirty="0">
                <a:solidFill>
                  <a:srgbClr val="000000"/>
                </a:solidFill>
              </a:rPr>
              <a:t>This is an important expedient from the IFRS 9 implementation perspective due to the following reasons</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Banks typically rate counterparties or obligors </a:t>
            </a:r>
            <a:r>
              <a:rPr lang="en-US" altLang="en-US" sz="1400" dirty="0" smtClean="0">
                <a:solidFill>
                  <a:srgbClr val="000000"/>
                </a:solidFill>
              </a:rPr>
              <a:t>(not facilities) and such </a:t>
            </a:r>
            <a:r>
              <a:rPr lang="en-US" altLang="en-US" sz="1400" dirty="0">
                <a:solidFill>
                  <a:srgbClr val="000000"/>
                </a:solidFill>
              </a:rPr>
              <a:t>rating </a:t>
            </a:r>
            <a:r>
              <a:rPr lang="en-US" altLang="en-US" sz="1400" dirty="0" smtClean="0">
                <a:solidFill>
                  <a:srgbClr val="000000"/>
                </a:solidFill>
              </a:rPr>
              <a:t>are periodically </a:t>
            </a:r>
            <a:r>
              <a:rPr lang="en-US" altLang="en-US" sz="1400" dirty="0">
                <a:solidFill>
                  <a:srgbClr val="000000"/>
                </a:solidFill>
              </a:rPr>
              <a:t>tracked and reviewed. </a:t>
            </a: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Particularly for Non-Retail Obligors, cross-default condition </a:t>
            </a:r>
            <a:r>
              <a:rPr lang="en-US" altLang="en-US" sz="1400" dirty="0" smtClean="0">
                <a:solidFill>
                  <a:srgbClr val="000000"/>
                </a:solidFill>
              </a:rPr>
              <a:t>normally forms part </a:t>
            </a:r>
            <a:r>
              <a:rPr lang="en-US" altLang="en-US" sz="1400" dirty="0">
                <a:solidFill>
                  <a:srgbClr val="000000"/>
                </a:solidFill>
              </a:rPr>
              <a:t>of the </a:t>
            </a:r>
            <a:r>
              <a:rPr lang="en-US" altLang="en-US" sz="1400" dirty="0" smtClean="0">
                <a:solidFill>
                  <a:srgbClr val="000000"/>
                </a:solidFill>
              </a:rPr>
              <a:t>contracts. </a:t>
            </a:r>
            <a:r>
              <a:rPr lang="en-US" altLang="en-US" sz="1400" dirty="0">
                <a:solidFill>
                  <a:srgbClr val="000000"/>
                </a:solidFill>
              </a:rPr>
              <a:t>This means that banks view risk to all facilities against a counterparty through the </a:t>
            </a:r>
            <a:r>
              <a:rPr lang="en-US" altLang="en-US" sz="1400" dirty="0" smtClean="0">
                <a:solidFill>
                  <a:srgbClr val="000000"/>
                </a:solidFill>
              </a:rPr>
              <a:t>lens </a:t>
            </a:r>
            <a:r>
              <a:rPr lang="en-US" altLang="en-US" sz="1400" dirty="0">
                <a:solidFill>
                  <a:srgbClr val="000000"/>
                </a:solidFill>
              </a:rPr>
              <a:t>of obligor rating</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Therefore assessing SICR at counterparty level would be in keeping with the way risk is managed within the Bank. Assessing SICR at facility level, particularly for Non-Retail, would create a huge additional burden on implementation.</a:t>
            </a:r>
          </a:p>
        </p:txBody>
      </p:sp>
    </p:spTree>
    <p:extLst>
      <p:ext uri="{BB962C8B-B14F-4D97-AF65-F5344CB8AC3E}">
        <p14:creationId xmlns:p14="http://schemas.microsoft.com/office/powerpoint/2010/main" val="13319625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1800" name="think-cell Slide" r:id="rId5" imgW="360" imgH="360" progId="TCLayout.ActiveDocument.1">
                  <p:embed/>
                </p:oleObj>
              </mc:Choice>
              <mc:Fallback>
                <p:oleObj name="think-cell Slide" r:id="rId5" imgW="360" imgH="360" progId="TCLayout.ActiveDocument.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40</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Illustrative Example</a:t>
            </a:r>
            <a:endParaRPr lang="en-US" altLang="en-US" sz="1400" b="1" dirty="0" smtClean="0"/>
          </a:p>
        </p:txBody>
      </p:sp>
      <p:graphicFrame>
        <p:nvGraphicFramePr>
          <p:cNvPr id="16" name="Table 15"/>
          <p:cNvGraphicFramePr>
            <a:graphicFrameLocks noGrp="1"/>
          </p:cNvGraphicFramePr>
          <p:nvPr>
            <p:extLst/>
          </p:nvPr>
        </p:nvGraphicFramePr>
        <p:xfrm>
          <a:off x="446312" y="685801"/>
          <a:ext cx="9167590" cy="1767840"/>
        </p:xfrm>
        <a:graphic>
          <a:graphicData uri="http://schemas.openxmlformats.org/drawingml/2006/table">
            <a:tbl>
              <a:tblPr firstRow="1" bandRow="1"/>
              <a:tblGrid>
                <a:gridCol w="1264497"/>
                <a:gridCol w="1159120"/>
                <a:gridCol w="1098907"/>
                <a:gridCol w="1129013"/>
                <a:gridCol w="1038690"/>
                <a:gridCol w="1053745"/>
                <a:gridCol w="1159120"/>
                <a:gridCol w="1264498"/>
              </a:tblGrid>
              <a:tr h="207594">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a:t>
                      </a:r>
                      <a:r>
                        <a:rPr lang="en-US" sz="14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1</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a:t>
                      </a:r>
                      <a:r>
                        <a:rPr lang="en-US" sz="14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1</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a:t>
                      </a:r>
                      <a:r>
                        <a:rPr lang="en-US" sz="14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2</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3</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4</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5</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6</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7</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r>
              <a:tr h="326218">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Obligor</a:t>
                      </a:r>
                      <a:r>
                        <a:rPr lang="en-US" sz="1400" b="1" baseline="0" dirty="0" smtClean="0">
                          <a:latin typeface="Times New Roman" panose="02020603050405020304" pitchFamily="18" charset="0"/>
                          <a:ea typeface="Verdana" panose="020B0604030504040204" pitchFamily="34" charset="0"/>
                          <a:cs typeface="Times New Roman" panose="02020603050405020304" pitchFamily="18" charset="0"/>
                        </a:rPr>
                        <a:t> Risk Rating</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3</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3</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3</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5</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5</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5</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5</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r>
              <a:tr h="563468">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Events</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Obligor Origination</a:t>
                      </a:r>
                      <a:r>
                        <a:rPr lang="en-US" sz="1400" b="1" baseline="0" dirty="0" smtClean="0">
                          <a:latin typeface="Times New Roman" panose="02020603050405020304" pitchFamily="18" charset="0"/>
                          <a:ea typeface="Verdana" panose="020B0604030504040204" pitchFamily="34" charset="0"/>
                          <a:cs typeface="Times New Roman" panose="02020603050405020304" pitchFamily="18" charset="0"/>
                        </a:rPr>
                        <a:t> along with Facility 1</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DEF3F6"/>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Facility</a:t>
                      </a:r>
                      <a:r>
                        <a:rPr lang="en-US" sz="1400" b="1" baseline="0" dirty="0" smtClean="0">
                          <a:latin typeface="Times New Roman" panose="02020603050405020304" pitchFamily="18" charset="0"/>
                          <a:ea typeface="Verdana" panose="020B0604030504040204" pitchFamily="34" charset="0"/>
                          <a:cs typeface="Times New Roman" panose="02020603050405020304" pitchFamily="18" charset="0"/>
                        </a:rPr>
                        <a:t> 2 Origination</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Assessment of SICR for IFRS  Purposes</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D99BED"/>
                    </a:solidFill>
                  </a:tcPr>
                </a:tc>
              </a:tr>
            </a:tbl>
          </a:graphicData>
        </a:graphic>
      </p:graphicFrame>
      <p:graphicFrame>
        <p:nvGraphicFramePr>
          <p:cNvPr id="17" name="Table 16"/>
          <p:cNvGraphicFramePr>
            <a:graphicFrameLocks noGrp="1"/>
          </p:cNvGraphicFramePr>
          <p:nvPr>
            <p:extLst/>
          </p:nvPr>
        </p:nvGraphicFramePr>
        <p:xfrm>
          <a:off x="446312" y="3700725"/>
          <a:ext cx="9167588" cy="1767840"/>
        </p:xfrm>
        <a:graphic>
          <a:graphicData uri="http://schemas.openxmlformats.org/drawingml/2006/table">
            <a:tbl>
              <a:tblPr firstRow="1" bandRow="1"/>
              <a:tblGrid>
                <a:gridCol w="1264497"/>
                <a:gridCol w="1159120"/>
                <a:gridCol w="1098907"/>
                <a:gridCol w="1129013"/>
                <a:gridCol w="1249438"/>
                <a:gridCol w="1008587"/>
                <a:gridCol w="993528"/>
                <a:gridCol w="1264498"/>
              </a:tblGrid>
              <a:tr h="207594">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a:t>
                      </a:r>
                      <a:r>
                        <a:rPr lang="en-US" sz="14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2</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a:t>
                      </a:r>
                      <a:r>
                        <a:rPr lang="en-US" sz="14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1</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a:t>
                      </a:r>
                      <a:r>
                        <a:rPr lang="en-US" sz="14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2</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3</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4</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5</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6</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Year 7</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6C8CA"/>
                    </a:solidFill>
                  </a:tcPr>
                </a:tc>
              </a:tr>
              <a:tr h="326218">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Obligor</a:t>
                      </a:r>
                      <a:r>
                        <a:rPr lang="en-US" sz="1400" b="1" baseline="0" dirty="0" smtClean="0">
                          <a:latin typeface="Times New Roman" panose="02020603050405020304" pitchFamily="18" charset="0"/>
                          <a:ea typeface="Verdana" panose="020B0604030504040204" pitchFamily="34" charset="0"/>
                          <a:cs typeface="Times New Roman" panose="02020603050405020304" pitchFamily="18" charset="0"/>
                        </a:rPr>
                        <a:t> Risk Rating</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3</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3</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3</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5</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5</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7</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7</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r>
              <a:tr h="563468">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Events</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Obligor Origination</a:t>
                      </a:r>
                      <a:r>
                        <a:rPr lang="en-US" sz="1400" b="1" baseline="0" dirty="0" smtClean="0">
                          <a:latin typeface="Times New Roman" panose="02020603050405020304" pitchFamily="18" charset="0"/>
                          <a:ea typeface="Verdana" panose="020B0604030504040204" pitchFamily="34" charset="0"/>
                          <a:cs typeface="Times New Roman" panose="02020603050405020304" pitchFamily="18" charset="0"/>
                        </a:rPr>
                        <a:t> along with Facility 1</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DEF3F6"/>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Facility 2 Origination</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CBD0DB"/>
                    </a:solid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Museo Sans 100"/>
                        </a:defRPr>
                      </a:lvl1pPr>
                      <a:lvl2pPr marL="457200" algn="l" defTabSz="914400" rtl="0" eaLnBrk="1" latinLnBrk="0" hangingPunct="1">
                        <a:defRPr sz="1800" kern="1200">
                          <a:solidFill>
                            <a:schemeClr val="tx1"/>
                          </a:solidFill>
                          <a:latin typeface="Museo Sans 100"/>
                        </a:defRPr>
                      </a:lvl2pPr>
                      <a:lvl3pPr marL="914400" algn="l" defTabSz="914400" rtl="0" eaLnBrk="1" latinLnBrk="0" hangingPunct="1">
                        <a:defRPr sz="1800" kern="1200">
                          <a:solidFill>
                            <a:schemeClr val="tx1"/>
                          </a:solidFill>
                          <a:latin typeface="Museo Sans 100"/>
                        </a:defRPr>
                      </a:lvl3pPr>
                      <a:lvl4pPr marL="1371600" algn="l" defTabSz="914400" rtl="0" eaLnBrk="1" latinLnBrk="0" hangingPunct="1">
                        <a:defRPr sz="1800" kern="1200">
                          <a:solidFill>
                            <a:schemeClr val="tx1"/>
                          </a:solidFill>
                          <a:latin typeface="Museo Sans 100"/>
                        </a:defRPr>
                      </a:lvl4pPr>
                      <a:lvl5pPr marL="1828800" algn="l" defTabSz="914400" rtl="0" eaLnBrk="1" latinLnBrk="0" hangingPunct="1">
                        <a:defRPr sz="1800" kern="1200">
                          <a:solidFill>
                            <a:schemeClr val="tx1"/>
                          </a:solidFill>
                          <a:latin typeface="Museo Sans 100"/>
                        </a:defRPr>
                      </a:lvl5pPr>
                      <a:lvl6pPr marL="2286000" algn="l" defTabSz="914400" rtl="0" eaLnBrk="1" latinLnBrk="0" hangingPunct="1">
                        <a:defRPr sz="1800" kern="1200">
                          <a:solidFill>
                            <a:schemeClr val="tx1"/>
                          </a:solidFill>
                          <a:latin typeface="Museo Sans 100"/>
                        </a:defRPr>
                      </a:lvl6pPr>
                      <a:lvl7pPr marL="2743200" algn="l" defTabSz="914400" rtl="0" eaLnBrk="1" latinLnBrk="0" hangingPunct="1">
                        <a:defRPr sz="1800" kern="1200">
                          <a:solidFill>
                            <a:schemeClr val="tx1"/>
                          </a:solidFill>
                          <a:latin typeface="Museo Sans 100"/>
                        </a:defRPr>
                      </a:lvl7pPr>
                      <a:lvl8pPr marL="3200400" algn="l" defTabSz="914400" rtl="0" eaLnBrk="1" latinLnBrk="0" hangingPunct="1">
                        <a:defRPr sz="1800" kern="1200">
                          <a:solidFill>
                            <a:schemeClr val="tx1"/>
                          </a:solidFill>
                          <a:latin typeface="Museo Sans 100"/>
                        </a:defRPr>
                      </a:lvl8pPr>
                      <a:lvl9pPr marL="3657600" algn="l" defTabSz="914400" rtl="0" eaLnBrk="1" latinLnBrk="0" hangingPunct="1">
                        <a:defRPr sz="1800" kern="1200">
                          <a:solidFill>
                            <a:schemeClr val="tx1"/>
                          </a:solidFill>
                          <a:latin typeface="Museo Sans 100"/>
                        </a:defRPr>
                      </a:lvl9pPr>
                    </a:lstStyle>
                    <a:p>
                      <a:pPr algn="ctr"/>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Assessment of SICR</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anchor="ctr">
                    <a:lnL w="12700" cmpd="sng">
                      <a:solidFill>
                        <a:srgbClr val="545962"/>
                      </a:solidFill>
                    </a:lnL>
                    <a:lnR w="12700" cmpd="sng">
                      <a:solidFill>
                        <a:srgbClr val="545962"/>
                      </a:solidFill>
                    </a:lnR>
                    <a:lnT w="12700" cmpd="sng">
                      <a:solidFill>
                        <a:srgbClr val="545962"/>
                      </a:solidFill>
                    </a:lnT>
                    <a:lnB w="12700" cmpd="sng">
                      <a:solidFill>
                        <a:srgbClr val="545962"/>
                      </a:solidFill>
                    </a:lnB>
                    <a:lnTlToBr w="12700" cmpd="sng">
                      <a:noFill/>
                      <a:prstDash val="solid"/>
                    </a:lnTlToBr>
                    <a:lnBlToTr w="12700" cmpd="sng">
                      <a:noFill/>
                      <a:prstDash val="solid"/>
                    </a:lnBlToTr>
                    <a:solidFill>
                      <a:srgbClr val="D99BED"/>
                    </a:solidFill>
                  </a:tcPr>
                </a:tc>
              </a:tr>
            </a:tbl>
          </a:graphicData>
        </a:graphic>
      </p:graphicFrame>
      <p:sp>
        <p:nvSpPr>
          <p:cNvPr id="18" name="Rectangle 17"/>
          <p:cNvSpPr/>
          <p:nvPr/>
        </p:nvSpPr>
        <p:spPr>
          <a:xfrm>
            <a:off x="446314" y="2598320"/>
            <a:ext cx="9167586" cy="957726"/>
          </a:xfrm>
          <a:prstGeom prst="rect">
            <a:avLst/>
          </a:prstGeom>
          <a:noFill/>
          <a:ln w="3175" cap="flat" cmpd="sng" algn="ctr">
            <a:solidFill>
              <a:srgbClr val="545962"/>
            </a:solidFill>
            <a:prstDash val="solid"/>
          </a:ln>
          <a:effectLst/>
        </p:spPr>
        <p:txBody>
          <a:bodyPr lIns="57040" tIns="28520" rIns="57040" bIns="28520" rtlCol="0" anchor="ctr" anchorCtr="0"/>
          <a:lstStyle/>
          <a:p>
            <a:pPr marL="119063" marR="0" lvl="0" indent="-119063" defTabSz="28520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smtClean="0">
                <a:ln>
                  <a:noFill/>
                </a:ln>
                <a:effectLst/>
                <a:uLnTx/>
                <a:uFillTx/>
                <a:ea typeface="Verdana" panose="020B0604030504040204" pitchFamily="34" charset="0"/>
              </a:rPr>
              <a:t>If looked at from the Obligor Level then SICR is triggered (rating change from 3 to 5). Both Facility 1 and 2 would be SICR.</a:t>
            </a:r>
          </a:p>
          <a:p>
            <a:pPr marL="119063" marR="0" lvl="0" indent="-119063" defTabSz="28520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smtClean="0">
                <a:ln>
                  <a:noFill/>
                </a:ln>
                <a:effectLst/>
                <a:uLnTx/>
                <a:uFillTx/>
                <a:ea typeface="Verdana" panose="020B0604030504040204" pitchFamily="34" charset="0"/>
              </a:rPr>
              <a:t>If looked at from Facility Level then Facility 1 suffered SICR but there has been no deterioration of credit since Facility 2 has originated. Hence, only Facility 1 suffers SICR and entails Lifetime ECL.</a:t>
            </a:r>
          </a:p>
        </p:txBody>
      </p:sp>
      <p:sp>
        <p:nvSpPr>
          <p:cNvPr id="19" name="Rectangle 18"/>
          <p:cNvSpPr/>
          <p:nvPr/>
        </p:nvSpPr>
        <p:spPr>
          <a:xfrm>
            <a:off x="446314" y="5613244"/>
            <a:ext cx="9167586" cy="548070"/>
          </a:xfrm>
          <a:prstGeom prst="rect">
            <a:avLst/>
          </a:prstGeom>
          <a:noFill/>
          <a:ln w="3175" cap="flat" cmpd="sng" algn="ctr">
            <a:solidFill>
              <a:srgbClr val="545962"/>
            </a:solidFill>
            <a:prstDash val="solid"/>
          </a:ln>
          <a:effectLst/>
        </p:spPr>
        <p:txBody>
          <a:bodyPr lIns="57040" tIns="28520" rIns="57040" bIns="28520" rtlCol="0" anchor="ctr" anchorCtr="0"/>
          <a:lstStyle/>
          <a:p>
            <a:pPr marL="119063" marR="0" lvl="0" indent="-119063" defTabSz="28520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smtClean="0">
                <a:ln>
                  <a:noFill/>
                </a:ln>
                <a:effectLst/>
                <a:uLnTx/>
                <a:uFillTx/>
                <a:ea typeface="Verdana" panose="020B0604030504040204" pitchFamily="34" charset="0"/>
              </a:rPr>
              <a:t>In case 2, when looked at from Obligor or Facility Level, SICR would be triggered in both cases. So assessment can be done at Obligor Level.</a:t>
            </a:r>
          </a:p>
        </p:txBody>
      </p:sp>
    </p:spTree>
    <p:extLst>
      <p:ext uri="{BB962C8B-B14F-4D97-AF65-F5344CB8AC3E}">
        <p14:creationId xmlns:p14="http://schemas.microsoft.com/office/powerpoint/2010/main" val="9720790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41</a:t>
            </a:fld>
            <a:endParaRPr lang="en-US" altLang="en-US"/>
          </a:p>
        </p:txBody>
      </p:sp>
      <p:graphicFrame>
        <p:nvGraphicFramePr>
          <p:cNvPr id="4" name="Table 3"/>
          <p:cNvGraphicFramePr>
            <a:graphicFrameLocks noGrp="1"/>
          </p:cNvGraphicFramePr>
          <p:nvPr>
            <p:extLst/>
          </p:nvPr>
        </p:nvGraphicFramePr>
        <p:xfrm>
          <a:off x="895350" y="1181100"/>
          <a:ext cx="8115300" cy="74168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Will SICR be assessed at Borrower or Facility Level?</a:t>
                      </a:r>
                    </a:p>
                  </a:txBody>
                  <a:tcPr anchor="ctr"/>
                </a:tc>
              </a:tr>
            </a:tbl>
          </a:graphicData>
        </a:graphic>
      </p:graphicFrame>
    </p:spTree>
    <p:extLst>
      <p:ext uri="{BB962C8B-B14F-4D97-AF65-F5344CB8AC3E}">
        <p14:creationId xmlns:p14="http://schemas.microsoft.com/office/powerpoint/2010/main" val="31471454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42</a:t>
            </a:fld>
            <a:endParaRPr lang="en-US" altLang="en-US"/>
          </a:p>
        </p:txBody>
      </p:sp>
      <p:graphicFrame>
        <p:nvGraphicFramePr>
          <p:cNvPr id="5" name="Table 4"/>
          <p:cNvGraphicFramePr>
            <a:graphicFrameLocks noGrp="1"/>
          </p:cNvGraphicFramePr>
          <p:nvPr>
            <p:extLst/>
          </p:nvPr>
        </p:nvGraphicFramePr>
        <p:xfrm>
          <a:off x="287338" y="939800"/>
          <a:ext cx="9331325" cy="341376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BC5.166 to BC5.168</a:t>
                      </a:r>
                    </a:p>
                    <a:p>
                      <a:r>
                        <a:rPr lang="en-US" sz="1000" kern="1200" dirty="0" smtClean="0">
                          <a:solidFill>
                            <a:srgbClr val="000000"/>
                          </a:solidFill>
                          <a:latin typeface="Times New Roman" panose="02020603050405020304" pitchFamily="18" charset="0"/>
                          <a:ea typeface="+mn-ea"/>
                          <a:cs typeface="Times New Roman" panose="02020603050405020304" pitchFamily="18" charset="0"/>
                        </a:rPr>
                        <a:t>(Basis for Conclusions, Dec 2014 for IFRS 9)</a:t>
                      </a:r>
                    </a:p>
                    <a:p>
                      <a:r>
                        <a:rPr lang="en-US" sz="1000" kern="1200" dirty="0" smtClean="0">
                          <a:solidFill>
                            <a:srgbClr val="000000"/>
                          </a:solidFill>
                          <a:latin typeface="Times New Roman" panose="02020603050405020304" pitchFamily="18" charset="0"/>
                          <a:ea typeface="+mn-ea"/>
                          <a:cs typeface="Times New Roman" panose="02020603050405020304" pitchFamily="18" charset="0"/>
                        </a:rPr>
                        <a:t>Illustrative Example 7 (IE.7)</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does not refer much to this issue in the main document. But the December, 2014 basis for conclusions goes into some detail on this issue. There is also an Illustrative</a:t>
                      </a:r>
                      <a:r>
                        <a:rPr lang="en-US" sz="1400" b="0" kern="1200" dirty="0" smtClean="0">
                          <a:solidFill>
                            <a:srgbClr val="000000"/>
                          </a:solidFill>
                          <a:latin typeface="Times New Roman" panose="02020603050405020304" pitchFamily="18" charset="0"/>
                          <a:ea typeface="+mn-ea"/>
                          <a:cs typeface="Times New Roman" panose="02020603050405020304" pitchFamily="18" charset="0"/>
                        </a:rPr>
                        <a:t> example provided by IFRS 9 on this topic.</a:t>
                      </a:r>
                    </a:p>
                    <a:p>
                      <a:pPr marL="119063" indent="-119063">
                        <a:buFont typeface="Arial" panose="020B0604020202020204" pitchFamily="34" charset="0"/>
                        <a:buChar char="•"/>
                      </a:pPr>
                      <a:r>
                        <a:rPr lang="en-US" sz="1400" b="0" kern="1200" dirty="0" smtClean="0">
                          <a:solidFill>
                            <a:srgbClr val="000000"/>
                          </a:solidFill>
                          <a:latin typeface="Times New Roman" panose="02020603050405020304" pitchFamily="18" charset="0"/>
                          <a:ea typeface="+mn-ea"/>
                          <a:cs typeface="Times New Roman" panose="02020603050405020304" pitchFamily="18" charset="0"/>
                        </a:rPr>
                        <a:t>Essentially the view of IFRS 9 is that assessing SICR at counterparty level would be acceptable provided the outcome would not be “markedly” different if SICR were to be assessed at individual Facility level. A s shown in the example in the previous slide and also in IE.7 there can be cases where the assessments might be markedly different.</a:t>
                      </a:r>
                    </a:p>
                  </a:txBody>
                  <a:tcPr anchor="ctr"/>
                </a:tc>
              </a:tr>
              <a:tr h="370840">
                <a:tc>
                  <a:txBody>
                    <a:bodyPr/>
                    <a:lstStyle/>
                    <a:p>
                      <a:r>
                        <a:rPr lang="en-US" sz="1400" kern="1200" dirty="0" smtClean="0">
                          <a:solidFill>
                            <a:schemeClr val="accent6"/>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accent6"/>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accent6"/>
                          </a:solidFill>
                          <a:latin typeface="Times New Roman" panose="02020603050405020304" pitchFamily="18" charset="0"/>
                          <a:ea typeface="+mn-ea"/>
                          <a:cs typeface="Times New Roman" panose="02020603050405020304" pitchFamily="18" charset="0"/>
                        </a:rPr>
                        <a:t>NA</a:t>
                      </a:r>
                      <a:endParaRPr lang="en-US" sz="1400" kern="1200" dirty="0">
                        <a:solidFill>
                          <a:schemeClr val="accent6"/>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Nothing specific has been mentioned in this regard</a:t>
                      </a:r>
                    </a:p>
                  </a:txBody>
                  <a:tcPr anchor="ct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NA</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Similar to IFRS 9 guideline and nothing specific has been mentioned.</a:t>
                      </a:r>
                    </a:p>
                  </a:txBody>
                  <a:tcPr anchor="ctr"/>
                </a:tc>
              </a:tr>
            </a:tbl>
          </a:graphicData>
        </a:graphic>
      </p:graphicFrame>
    </p:spTree>
    <p:extLst>
      <p:ext uri="{BB962C8B-B14F-4D97-AF65-F5344CB8AC3E}">
        <p14:creationId xmlns:p14="http://schemas.microsoft.com/office/powerpoint/2010/main" val="398690170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43</a:t>
            </a:fld>
            <a:endParaRPr lang="en-US" altLang="en-US"/>
          </a:p>
        </p:txBody>
      </p:sp>
      <p:graphicFrame>
        <p:nvGraphicFramePr>
          <p:cNvPr id="5" name="Table 4"/>
          <p:cNvGraphicFramePr>
            <a:graphicFrameLocks noGrp="1"/>
          </p:cNvGraphicFramePr>
          <p:nvPr>
            <p:extLst/>
          </p:nvPr>
        </p:nvGraphicFramePr>
        <p:xfrm>
          <a:off x="287338" y="977900"/>
          <a:ext cx="9331324" cy="369316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2.7.4.3</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GPPC has taken a more hardline stand on this and has deemed that assessing significant increase of risk only by counterparty rather than by exposure without assessing the impact of cases in which there are multiple exposures to the same counterparty which may have been originated at different times and with different initial PDs (and thus have experienced different levels of relative increase in credit risk) would be an example of Non-Compliant practice</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AP1</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Same as IFRS 9. Nothing specific has been mentioned by ITG.</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A31</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Committee’s view is slightly different. They acknowledge that sometimes a bank will assess that there has been a significant increase in credit risk for some and not all of its exposures to a particular counterparty. </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 says that while it is possible to be the case – for example, because of differences in the timing of when lending was provided. Particular care should be taken in this situation to ensure that all exposures are identified where there has been a significant increase in credit risk. It means that they don’t want banks to apply IFRS 9 too literally but adhere to the spirit of SICR.</a:t>
                      </a:r>
                    </a:p>
                  </a:txBody>
                  <a:tcPr/>
                </a:tc>
              </a:tr>
            </a:tbl>
          </a:graphicData>
        </a:graphic>
      </p:graphicFrame>
    </p:spTree>
    <p:extLst>
      <p:ext uri="{BB962C8B-B14F-4D97-AF65-F5344CB8AC3E}">
        <p14:creationId xmlns:p14="http://schemas.microsoft.com/office/powerpoint/2010/main" val="38668947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view on </a:t>
            </a:r>
            <a:r>
              <a:rPr lang="en-US" b="1" dirty="0"/>
              <a:t>Facility Level vs. Counterparty Level Assessment</a:t>
            </a:r>
            <a:br>
              <a:rPr lang="en-US"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44</a:t>
            </a:fld>
            <a:endParaRPr lang="en-US" altLang="en-US"/>
          </a:p>
        </p:txBody>
      </p:sp>
      <p:graphicFrame>
        <p:nvGraphicFramePr>
          <p:cNvPr id="6" name="Table 5"/>
          <p:cNvGraphicFramePr>
            <a:graphicFrameLocks noGrp="1"/>
          </p:cNvGraphicFramePr>
          <p:nvPr>
            <p:extLst/>
          </p:nvPr>
        </p:nvGraphicFramePr>
        <p:xfrm>
          <a:off x="287338" y="850900"/>
          <a:ext cx="9331325" cy="3302158"/>
        </p:xfrm>
        <a:graphic>
          <a:graphicData uri="http://schemas.openxmlformats.org/drawingml/2006/table">
            <a:tbl>
              <a:tblPr firstRow="1" bandRow="1">
                <a:tableStyleId>{5940675A-B579-460E-94D1-54222C63F5DA}</a:tableStyleId>
              </a:tblPr>
              <a:tblGrid>
                <a:gridCol w="485548"/>
                <a:gridCol w="925285"/>
                <a:gridCol w="805543"/>
                <a:gridCol w="7114949"/>
              </a:tblGrid>
              <a:tr h="704028">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Cases</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1839625">
                <a:tc rowSpan="2">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rowSpan="2">
                  <a:txBody>
                    <a:bodyPr/>
                    <a:lstStyle/>
                    <a:p>
                      <a:r>
                        <a:rPr lang="en-US" sz="1200" kern="1200" dirty="0" smtClean="0">
                          <a:solidFill>
                            <a:srgbClr val="000000"/>
                          </a:solidFill>
                          <a:latin typeface="Times New Roman" panose="02020603050405020304" pitchFamily="18" charset="0"/>
                          <a:ea typeface="+mn-ea"/>
                          <a:cs typeface="Times New Roman" panose="02020603050405020304" pitchFamily="18" charset="0"/>
                        </a:rPr>
                        <a:t>Will SICR be assessed at Borrower or Facility Level?</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rgbClr val="000000"/>
                          </a:solidFill>
                          <a:latin typeface="Times New Roman" panose="02020603050405020304" pitchFamily="18" charset="0"/>
                          <a:ea typeface="+mn-ea"/>
                          <a:cs typeface="Times New Roman" panose="02020603050405020304" pitchFamily="18" charset="0"/>
                        </a:rPr>
                        <a:t>Non-Retail</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For the SICR rule applied using the +30DPD criteria,</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as the rule will be applied at the individual contract level, the SICR assessment will be at facility level.</a:t>
                      </a:r>
                      <a:endParaRPr lang="en-US"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buFont typeface="Arial" panose="020B0604020202020204" pitchFamily="34" charset="0"/>
                        <a:buChar char="•"/>
                      </a:pPr>
                      <a:endParaRPr lang="en-US"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buFont typeface="Arial" panose="020B0604020202020204" pitchFamily="34" charset="0"/>
                        <a:buChar char="•"/>
                      </a:pP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For the SICR rule that will be applied for ratings downgrades, where t</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he</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Bank</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 does not rate non-retail facilities but rates obligors, the obligor rating applies to all facilities against the obligor.  Hence, risk is managed at obligor level and not at facility level.</a:t>
                      </a: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Based on t</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he above, the Bank will adopt the practical expedient and will assess SICR using Internal ORR Credit Ratings at the counterparty level.</a:t>
                      </a:r>
                    </a:p>
                  </a:txBody>
                  <a:tcPr/>
                </a:tc>
              </a:tr>
              <a:tr h="758505">
                <a:tc vMerge="1">
                  <a:txBody>
                    <a:bodyPr/>
                    <a:lstStyle/>
                    <a:p>
                      <a:endParaRPr lang="en-US" sz="13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vMerge="1">
                  <a:txBody>
                    <a:bodyPr/>
                    <a:lstStyle/>
                    <a:p>
                      <a:endParaRPr lang="en-IN" sz="1300" kern="1200" dirty="0" smtClean="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Retail</a:t>
                      </a:r>
                    </a:p>
                  </a:txBody>
                  <a:tcPr anchor="ctr"/>
                </a:tc>
                <a:tc>
                  <a:txBody>
                    <a:bodyPr/>
                    <a:lstStyle/>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Since the assessment</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of SICR for retail facilities will be performed solely by using the individual loan product DPD (with +30DPD being the threshold for Stage 2), this implies that the SICR assessment will be at the facility level.</a:t>
                      </a:r>
                    </a:p>
                  </a:txBody>
                  <a:tcPr anchor="ctr"/>
                </a:tc>
              </a:tr>
            </a:tbl>
          </a:graphicData>
        </a:graphic>
      </p:graphicFrame>
    </p:spTree>
    <p:extLst>
      <p:ext uri="{BB962C8B-B14F-4D97-AF65-F5344CB8AC3E}">
        <p14:creationId xmlns:p14="http://schemas.microsoft.com/office/powerpoint/2010/main" val="390687954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45</a:t>
            </a:fld>
            <a:endParaRPr lang="en-US" altLang="en-US"/>
          </a:p>
        </p:txBody>
      </p:sp>
      <p:graphicFrame>
        <p:nvGraphicFramePr>
          <p:cNvPr id="13" name="Chart 12"/>
          <p:cNvGraphicFramePr>
            <a:graphicFrameLocks/>
          </p:cNvGraphicFramePr>
          <p:nvPr>
            <p:extLst>
              <p:ext uri="{D42A27DB-BD31-4B8C-83A1-F6EECF244321}">
                <p14:modId xmlns:p14="http://schemas.microsoft.com/office/powerpoint/2010/main" val="412520753"/>
              </p:ext>
            </p:extLst>
          </p:nvPr>
        </p:nvGraphicFramePr>
        <p:xfrm>
          <a:off x="5728769" y="1154185"/>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14" name="Rectangle 13"/>
          <p:cNvSpPr/>
          <p:nvPr/>
        </p:nvSpPr>
        <p:spPr>
          <a:xfrm>
            <a:off x="7679156" y="535265"/>
            <a:ext cx="1719638" cy="369332"/>
          </a:xfrm>
          <a:prstGeom prst="rect">
            <a:avLst/>
          </a:prstGeom>
        </p:spPr>
        <p:txBody>
          <a:bodyPr wrap="none">
            <a:spAutoFit/>
          </a:bodyPr>
          <a:lstStyle/>
          <a:p>
            <a:pPr algn="ctr">
              <a:defRPr sz="1800" b="1" i="0" u="none" strike="noStrike" kern="1200" baseline="0">
                <a:solidFill>
                  <a:srgbClr val="000000"/>
                </a:solidFill>
                <a:latin typeface="+mn-lt"/>
                <a:ea typeface="+mn-ea"/>
                <a:cs typeface="+mn-cs"/>
              </a:defRPr>
            </a:pPr>
            <a:r>
              <a:rPr lang="en-US" b="1" dirty="0" smtClean="0">
                <a:solidFill>
                  <a:srgbClr val="000000"/>
                </a:solidFill>
              </a:rPr>
              <a:t>Facilities : </a:t>
            </a:r>
            <a:r>
              <a:rPr lang="en-US" b="1" dirty="0">
                <a:solidFill>
                  <a:srgbClr val="000000"/>
                </a:solidFill>
              </a:rPr>
              <a:t>R</a:t>
            </a:r>
            <a:r>
              <a:rPr lang="en-US" b="1" dirty="0" smtClean="0">
                <a:solidFill>
                  <a:srgbClr val="000000"/>
                </a:solidFill>
              </a:rPr>
              <a:t>etail</a:t>
            </a:r>
            <a:endParaRPr lang="en-US" b="1" dirty="0">
              <a:solidFill>
                <a:srgbClr val="000000"/>
              </a:solidFill>
            </a:endParaRPr>
          </a:p>
        </p:txBody>
      </p:sp>
      <p:graphicFrame>
        <p:nvGraphicFramePr>
          <p:cNvPr id="15" name="Chart 14"/>
          <p:cNvGraphicFramePr>
            <a:graphicFrameLocks/>
          </p:cNvGraphicFramePr>
          <p:nvPr>
            <p:extLst>
              <p:ext uri="{D42A27DB-BD31-4B8C-83A1-F6EECF244321}">
                <p14:modId xmlns:p14="http://schemas.microsoft.com/office/powerpoint/2010/main" val="3645245875"/>
              </p:ext>
            </p:extLst>
          </p:nvPr>
        </p:nvGraphicFramePr>
        <p:xfrm>
          <a:off x="287338" y="860876"/>
          <a:ext cx="5083155" cy="33298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444292334"/>
              </p:ext>
            </p:extLst>
          </p:nvPr>
        </p:nvGraphicFramePr>
        <p:xfrm>
          <a:off x="1404352" y="1356623"/>
          <a:ext cx="772038" cy="342442"/>
        </p:xfrm>
        <a:graphic>
          <a:graphicData uri="http://schemas.openxmlformats.org/drawingml/2006/table">
            <a:tbl>
              <a:tblPr/>
              <a:tblGrid>
                <a:gridCol w="554980"/>
                <a:gridCol w="217058"/>
              </a:tblGrid>
              <a:tr h="171221">
                <a:tc>
                  <a:txBody>
                    <a:bodyPr/>
                    <a:lstStyle/>
                    <a:p>
                      <a:pPr algn="l" fontAlgn="b"/>
                      <a:r>
                        <a:rPr lang="en-US" sz="800" b="0" i="0" u="none" strike="noStrike" dirty="0">
                          <a:solidFill>
                            <a:srgbClr val="000000"/>
                          </a:solidFill>
                          <a:effectLst/>
                          <a:latin typeface="Calibri"/>
                        </a:rPr>
                        <a:t>Customers</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104</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r h="171221">
                <a:tc>
                  <a:txBody>
                    <a:bodyPr/>
                    <a:lstStyle/>
                    <a:p>
                      <a:pPr algn="l" fontAlgn="b"/>
                      <a:r>
                        <a:rPr lang="en-US" sz="800" b="0" i="0" u="none" strike="noStrike">
                          <a:solidFill>
                            <a:srgbClr val="000000"/>
                          </a:solidFill>
                          <a:effectLst/>
                          <a:latin typeface="Calibri"/>
                        </a:rPr>
                        <a:t>&gt; I facility</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a:solidFill>
                            <a:srgbClr val="000000"/>
                          </a:solidFill>
                          <a:effectLst/>
                          <a:latin typeface="Calibri"/>
                        </a:rPr>
                        <a:t>74</a:t>
                      </a:r>
                    </a:p>
                  </a:txBody>
                  <a:tcPr marL="9525" marR="9525" marT="9525" marB="0" anchor="b">
                    <a:lnL>
                      <a:noFill/>
                    </a:lnL>
                    <a:lnR>
                      <a:noFill/>
                    </a:lnR>
                    <a:lnT>
                      <a:noFill/>
                    </a:lnT>
                    <a:lnB>
                      <a:noFill/>
                    </a:lnB>
                    <a:solidFill>
                      <a:schemeClr val="bg2">
                        <a:lumMod val="90000"/>
                      </a:schemeClr>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754565251"/>
              </p:ext>
            </p:extLst>
          </p:nvPr>
        </p:nvGraphicFramePr>
        <p:xfrm>
          <a:off x="2032396" y="1912688"/>
          <a:ext cx="930546" cy="342442"/>
        </p:xfrm>
        <a:graphic>
          <a:graphicData uri="http://schemas.openxmlformats.org/drawingml/2006/table">
            <a:tbl>
              <a:tblPr/>
              <a:tblGrid>
                <a:gridCol w="643845"/>
                <a:gridCol w="286701"/>
              </a:tblGrid>
              <a:tr h="171221">
                <a:tc>
                  <a:txBody>
                    <a:bodyPr/>
                    <a:lstStyle/>
                    <a:p>
                      <a:pPr algn="l" fontAlgn="b"/>
                      <a:r>
                        <a:rPr lang="en-US" sz="800" b="0" i="0" u="none" strike="noStrike" dirty="0">
                          <a:solidFill>
                            <a:srgbClr val="000000"/>
                          </a:solidFill>
                          <a:effectLst/>
                          <a:latin typeface="Calibri"/>
                        </a:rPr>
                        <a:t>Customers</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1,171</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r h="171221">
                <a:tc>
                  <a:txBody>
                    <a:bodyPr/>
                    <a:lstStyle/>
                    <a:p>
                      <a:pPr algn="l" fontAlgn="b"/>
                      <a:r>
                        <a:rPr lang="en-US" sz="800" b="0" i="0" u="none" strike="noStrike" dirty="0">
                          <a:solidFill>
                            <a:srgbClr val="000000"/>
                          </a:solidFill>
                          <a:effectLst/>
                          <a:latin typeface="Calibri"/>
                        </a:rPr>
                        <a:t>&gt; I facility</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170</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220919846"/>
              </p:ext>
            </p:extLst>
          </p:nvPr>
        </p:nvGraphicFramePr>
        <p:xfrm>
          <a:off x="3142080" y="2241583"/>
          <a:ext cx="761108" cy="342442"/>
        </p:xfrm>
        <a:graphic>
          <a:graphicData uri="http://schemas.openxmlformats.org/drawingml/2006/table">
            <a:tbl>
              <a:tblPr/>
              <a:tblGrid>
                <a:gridCol w="613580"/>
                <a:gridCol w="147528"/>
              </a:tblGrid>
              <a:tr h="171221">
                <a:tc>
                  <a:txBody>
                    <a:bodyPr/>
                    <a:lstStyle/>
                    <a:p>
                      <a:pPr algn="l" fontAlgn="b"/>
                      <a:r>
                        <a:rPr lang="en-US" sz="800" b="0" i="0" u="none" strike="noStrike" dirty="0">
                          <a:solidFill>
                            <a:srgbClr val="000000"/>
                          </a:solidFill>
                          <a:effectLst/>
                          <a:latin typeface="Calibri"/>
                        </a:rPr>
                        <a:t>Customers</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25</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r h="171221">
                <a:tc>
                  <a:txBody>
                    <a:bodyPr/>
                    <a:lstStyle/>
                    <a:p>
                      <a:pPr algn="l" fontAlgn="b"/>
                      <a:r>
                        <a:rPr lang="en-US" sz="800" b="0" i="0" u="none" strike="noStrike" dirty="0">
                          <a:solidFill>
                            <a:srgbClr val="000000"/>
                          </a:solidFill>
                          <a:effectLst/>
                          <a:latin typeface="Calibri"/>
                        </a:rPr>
                        <a:t>&gt; I facility</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1</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4138223070"/>
              </p:ext>
            </p:extLst>
          </p:nvPr>
        </p:nvGraphicFramePr>
        <p:xfrm>
          <a:off x="3903188" y="2994270"/>
          <a:ext cx="761108" cy="399818"/>
        </p:xfrm>
        <a:graphic>
          <a:graphicData uri="http://schemas.openxmlformats.org/drawingml/2006/table">
            <a:tbl>
              <a:tblPr/>
              <a:tblGrid>
                <a:gridCol w="613580"/>
                <a:gridCol w="147528"/>
              </a:tblGrid>
              <a:tr h="228597">
                <a:tc>
                  <a:txBody>
                    <a:bodyPr/>
                    <a:lstStyle/>
                    <a:p>
                      <a:pPr algn="l" fontAlgn="b"/>
                      <a:r>
                        <a:rPr lang="en-US" sz="800" b="0" i="0" u="none" strike="noStrike" dirty="0">
                          <a:solidFill>
                            <a:srgbClr val="000000"/>
                          </a:solidFill>
                          <a:effectLst/>
                          <a:latin typeface="Calibri"/>
                        </a:rPr>
                        <a:t>Customers</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19</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r h="171221">
                <a:tc>
                  <a:txBody>
                    <a:bodyPr/>
                    <a:lstStyle/>
                    <a:p>
                      <a:pPr algn="l" fontAlgn="b"/>
                      <a:r>
                        <a:rPr lang="en-US" sz="800" b="0" i="0" u="none" strike="noStrike" dirty="0">
                          <a:solidFill>
                            <a:srgbClr val="000000"/>
                          </a:solidFill>
                          <a:effectLst/>
                          <a:latin typeface="Calibri"/>
                        </a:rPr>
                        <a:t>&gt; I facility</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7</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684763254"/>
              </p:ext>
            </p:extLst>
          </p:nvPr>
        </p:nvGraphicFramePr>
        <p:xfrm>
          <a:off x="4854446" y="3194179"/>
          <a:ext cx="761108" cy="399818"/>
        </p:xfrm>
        <a:graphic>
          <a:graphicData uri="http://schemas.openxmlformats.org/drawingml/2006/table">
            <a:tbl>
              <a:tblPr/>
              <a:tblGrid>
                <a:gridCol w="613580"/>
                <a:gridCol w="147528"/>
              </a:tblGrid>
              <a:tr h="228597">
                <a:tc>
                  <a:txBody>
                    <a:bodyPr/>
                    <a:lstStyle/>
                    <a:p>
                      <a:pPr algn="l" fontAlgn="b"/>
                      <a:r>
                        <a:rPr lang="en-US" sz="800" b="0" i="0" u="none" strike="noStrike" dirty="0">
                          <a:solidFill>
                            <a:srgbClr val="000000"/>
                          </a:solidFill>
                          <a:effectLst/>
                          <a:latin typeface="Calibri"/>
                        </a:rPr>
                        <a:t>Customers</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41</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r h="171221">
                <a:tc>
                  <a:txBody>
                    <a:bodyPr/>
                    <a:lstStyle/>
                    <a:p>
                      <a:pPr algn="l" fontAlgn="b"/>
                      <a:r>
                        <a:rPr lang="en-US" sz="800" b="0" i="0" u="none" strike="noStrike" dirty="0">
                          <a:solidFill>
                            <a:srgbClr val="000000"/>
                          </a:solidFill>
                          <a:effectLst/>
                          <a:latin typeface="Calibri"/>
                        </a:rPr>
                        <a:t>&gt; I facility</a:t>
                      </a:r>
                    </a:p>
                  </a:txBody>
                  <a:tcPr marL="9525" marR="9525" marT="9525" marB="0" anchor="b">
                    <a:lnL>
                      <a:noFill/>
                    </a:lnL>
                    <a:lnR>
                      <a:noFill/>
                    </a:lnR>
                    <a:lnT>
                      <a:noFill/>
                    </a:lnT>
                    <a:lnB>
                      <a:noFill/>
                    </a:lnB>
                    <a:solidFill>
                      <a:schemeClr val="bg2">
                        <a:lumMod val="90000"/>
                      </a:schemeClr>
                    </a:solidFill>
                  </a:tcPr>
                </a:tc>
                <a:tc>
                  <a:txBody>
                    <a:bodyPr/>
                    <a:lstStyle/>
                    <a:p>
                      <a:pPr algn="r" fontAlgn="b"/>
                      <a:r>
                        <a:rPr lang="en-US" sz="800" b="0" i="0" u="none" strike="noStrike" dirty="0" smtClean="0">
                          <a:solidFill>
                            <a:srgbClr val="000000"/>
                          </a:solidFill>
                          <a:effectLst/>
                          <a:latin typeface="Calibri"/>
                        </a:rPr>
                        <a:t>9</a:t>
                      </a:r>
                      <a:endParaRPr lang="en-US" sz="800" b="0" i="0" u="none" strike="noStrike" dirty="0">
                        <a:solidFill>
                          <a:srgbClr val="000000"/>
                        </a:solidFill>
                        <a:effectLst/>
                        <a:latin typeface="Calibri"/>
                      </a:endParaRPr>
                    </a:p>
                  </a:txBody>
                  <a:tcPr marL="9525" marR="9525" marT="9525" marB="0" anchor="b">
                    <a:lnL>
                      <a:noFill/>
                    </a:lnL>
                    <a:lnR>
                      <a:noFill/>
                    </a:lnR>
                    <a:lnT>
                      <a:noFill/>
                    </a:lnT>
                    <a:lnB>
                      <a:noFill/>
                    </a:lnB>
                    <a:solidFill>
                      <a:schemeClr val="bg2">
                        <a:lumMod val="90000"/>
                      </a:schemeClr>
                    </a:solidFill>
                  </a:tcPr>
                </a:tc>
              </a:tr>
            </a:tbl>
          </a:graphicData>
        </a:graphic>
      </p:graphicFrame>
    </p:spTree>
    <p:extLst>
      <p:ext uri="{BB962C8B-B14F-4D97-AF65-F5344CB8AC3E}">
        <p14:creationId xmlns:p14="http://schemas.microsoft.com/office/powerpoint/2010/main" val="330479828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570514"/>
            <a:ext cx="6169025" cy="1395186"/>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Individual </a:t>
            </a:r>
            <a:r>
              <a:rPr lang="en-US" sz="2400" dirty="0"/>
              <a:t>vs. Collective Assessment</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6</a:t>
            </a:r>
            <a:endParaRPr lang="en-IN" sz="2400" b="1" dirty="0">
              <a:solidFill>
                <a:schemeClr val="bg1"/>
              </a:solidFill>
            </a:endParaRPr>
          </a:p>
        </p:txBody>
      </p:sp>
    </p:spTree>
    <p:extLst>
      <p:ext uri="{BB962C8B-B14F-4D97-AF65-F5344CB8AC3E}">
        <p14:creationId xmlns:p14="http://schemas.microsoft.com/office/powerpoint/2010/main" val="1716656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2823"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47</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120820"/>
            <a:chOff x="274638" y="1133475"/>
            <a:chExt cx="9324936" cy="1100946"/>
          </a:xfrm>
        </p:grpSpPr>
        <p:sp>
          <p:nvSpPr>
            <p:cNvPr id="18442" name="Rectangle 6"/>
            <p:cNvSpPr>
              <a:spLocks noChangeArrowheads="1"/>
            </p:cNvSpPr>
            <p:nvPr>
              <p:custDataLst>
                <p:tags r:id="rId5"/>
              </p:custDataLst>
            </p:nvPr>
          </p:nvSpPr>
          <p:spPr bwMode="auto">
            <a:xfrm>
              <a:off x="274638" y="1133475"/>
              <a:ext cx="1701800" cy="1100946"/>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1009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IFRS 9 technically requires assessment of SICR and ECL at the level of individual instrument using qualitative and quantitative information. This is referred to as Individual Assessment</a:t>
              </a:r>
              <a:r>
                <a:rPr lang="en-US" altLang="en-US" sz="1400" dirty="0" smtClean="0">
                  <a:solidFill>
                    <a:srgbClr val="000000"/>
                  </a:solidFill>
                </a:rPr>
                <a:t>.</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a:solidFill>
                    <a:srgbClr val="000000"/>
                  </a:solidFill>
                </a:rPr>
                <a:t>However, keeping in view the fact that individual assessment would be not feasible or practical for exposures that are small and are managed on portfolio basis, IFRS 9 allows the bank to </a:t>
              </a:r>
              <a:r>
                <a:rPr lang="en-US" altLang="en-US" sz="1400" dirty="0" smtClean="0">
                  <a:solidFill>
                    <a:srgbClr val="000000"/>
                  </a:solidFill>
                </a:rPr>
                <a:t>perform </a:t>
              </a:r>
              <a:r>
                <a:rPr lang="en-US" altLang="en-US" sz="1400" dirty="0">
                  <a:solidFill>
                    <a:srgbClr val="000000"/>
                  </a:solidFill>
                </a:rPr>
                <a:t>a Collective Assessment.</a:t>
              </a:r>
            </a:p>
          </p:txBody>
        </p:sp>
      </p:grpSp>
      <p:sp>
        <p:nvSpPr>
          <p:cNvPr id="14" name="Rectangle 6"/>
          <p:cNvSpPr>
            <a:spLocks noChangeArrowheads="1"/>
          </p:cNvSpPr>
          <p:nvPr>
            <p:custDataLst>
              <p:tags r:id="rId3"/>
            </p:custDataLst>
          </p:nvPr>
        </p:nvSpPr>
        <p:spPr bwMode="auto">
          <a:xfrm>
            <a:off x="261938" y="2405287"/>
            <a:ext cx="1714507" cy="1518364"/>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2405287"/>
            <a:ext cx="7497793" cy="151836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altLang="en-US" sz="1400" dirty="0">
                <a:solidFill>
                  <a:srgbClr val="000000"/>
                </a:solidFill>
              </a:rPr>
              <a:t>This is an important expedient from the perspective of IFRS 9 implementation due to the following reasons</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Individual Assessment is particularly important for large material exposures, as these are managed individually and incorporate obligor and facility specific information that might not be incorporated in a rule based SICR framework</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Collective Assessment would enable the Bank to apply rules to specific portfolios for assessing SICR and mitigate the burden of implementation. </a:t>
            </a:r>
          </a:p>
        </p:txBody>
      </p:sp>
    </p:spTree>
    <p:extLst>
      <p:ext uri="{BB962C8B-B14F-4D97-AF65-F5344CB8AC3E}">
        <p14:creationId xmlns:p14="http://schemas.microsoft.com/office/powerpoint/2010/main" val="153668678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48</a:t>
            </a:fld>
            <a:endParaRPr lang="en-US" altLang="en-US"/>
          </a:p>
        </p:txBody>
      </p:sp>
      <p:graphicFrame>
        <p:nvGraphicFramePr>
          <p:cNvPr id="4" name="Table 3"/>
          <p:cNvGraphicFramePr>
            <a:graphicFrameLocks noGrp="1"/>
          </p:cNvGraphicFramePr>
          <p:nvPr>
            <p:extLst/>
          </p:nvPr>
        </p:nvGraphicFramePr>
        <p:xfrm>
          <a:off x="895350" y="1181100"/>
          <a:ext cx="8115300" cy="125984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What will be the criteria of deciding exposures to be individually and collectively assessed for SICR?</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Will the Bank be estimating ECL on a collective basis or on a individual basis?</a:t>
                      </a:r>
                    </a:p>
                  </a:txBody>
                  <a:tcPr anchor="ctr"/>
                </a:tc>
              </a:tr>
            </a:tbl>
          </a:graphicData>
        </a:graphic>
      </p:graphicFrame>
    </p:spTree>
    <p:extLst>
      <p:ext uri="{BB962C8B-B14F-4D97-AF65-F5344CB8AC3E}">
        <p14:creationId xmlns:p14="http://schemas.microsoft.com/office/powerpoint/2010/main" val="220166350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49</a:t>
            </a:fld>
            <a:endParaRPr lang="en-US" altLang="en-US"/>
          </a:p>
        </p:txBody>
      </p:sp>
      <p:graphicFrame>
        <p:nvGraphicFramePr>
          <p:cNvPr id="5" name="Table 4"/>
          <p:cNvGraphicFramePr>
            <a:graphicFrameLocks noGrp="1"/>
          </p:cNvGraphicFramePr>
          <p:nvPr>
            <p:extLst/>
          </p:nvPr>
        </p:nvGraphicFramePr>
        <p:xfrm>
          <a:off x="287338" y="939800"/>
          <a:ext cx="9331325" cy="405384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5.5.7 and B.5.5.27</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allows the measurement of SICR and ECL on Collective basis due to either of the following reasons:</a:t>
                      </a:r>
                    </a:p>
                    <a:p>
                      <a:pPr marL="576263" lvl="1"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Due to absence of reasonable and supportable information without undue cost or effort at individual level</a:t>
                      </a:r>
                    </a:p>
                    <a:p>
                      <a:pPr marL="576263" lvl="1"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Wherever measuring SICR on a Collective Basis would be the correct method since the bank manages the financial instruments on a collective basis and individual instruments are not tracked or monitored e.g. retail portfolios being managed based on delinquency buckets</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also states that instruments should be grouped based on shared risk characteristics e.g. Type, Rating, Industry etc. </a:t>
                      </a:r>
                    </a:p>
                  </a:txBody>
                  <a:tcPr/>
                </a:tc>
              </a:tr>
              <a:tr h="370840">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2.3.6.1</a:t>
                      </a:r>
                    </a:p>
                    <a:p>
                      <a:r>
                        <a:rPr lang="en-US" sz="1000" kern="1200" dirty="0" smtClean="0">
                          <a:solidFill>
                            <a:schemeClr val="tx1"/>
                          </a:solidFill>
                          <a:latin typeface="Times New Roman" panose="02020603050405020304" pitchFamily="18" charset="0"/>
                          <a:ea typeface="+mn-ea"/>
                          <a:cs typeface="Times New Roman" panose="02020603050405020304" pitchFamily="18" charset="0"/>
                        </a:rPr>
                        <a:t>Retail</a:t>
                      </a:r>
                      <a:r>
                        <a:rPr lang="en-US" sz="1000" kern="1200" baseline="0" dirty="0" smtClean="0">
                          <a:solidFill>
                            <a:schemeClr val="tx1"/>
                          </a:solidFill>
                          <a:latin typeface="Times New Roman" panose="02020603050405020304" pitchFamily="18" charset="0"/>
                          <a:ea typeface="+mn-ea"/>
                          <a:cs typeface="Times New Roman" panose="02020603050405020304" pitchFamily="18" charset="0"/>
                        </a:rPr>
                        <a:t> Credit</a:t>
                      </a:r>
                      <a:endParaRPr lang="en-US" sz="1000" kern="1200" dirty="0" smtClean="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Permits</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banks to estimate PD and ECL at the level of each portfolio of retail facilities (including SMEs) that has identical credit risk characteristics (such as a portfolio of salary loans for Qataris and another for non-Qataris), but only after QCB’s no objection is obtained.</a:t>
                      </a:r>
                      <a:endParaRPr lang="en-US" sz="1400" kern="1200" dirty="0" smtClean="0">
                        <a:solidFill>
                          <a:schemeClr val="tx1"/>
                        </a:solidFill>
                        <a:latin typeface="Times New Roman" panose="02020603050405020304" pitchFamily="18" charset="0"/>
                        <a:ea typeface="+mn-ea"/>
                        <a:cs typeface="Times New Roman" panose="02020603050405020304" pitchFamily="18" charset="0"/>
                      </a:endParaRP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4.6.5.3</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On similar lines with IFRS 9</a:t>
                      </a:r>
                    </a:p>
                  </a:txBody>
                  <a:tcPr anchor="ctr"/>
                </a:tc>
              </a:tr>
            </a:tbl>
          </a:graphicData>
        </a:graphic>
      </p:graphicFrame>
    </p:spTree>
    <p:extLst>
      <p:ext uri="{BB962C8B-B14F-4D97-AF65-F5344CB8AC3E}">
        <p14:creationId xmlns:p14="http://schemas.microsoft.com/office/powerpoint/2010/main" val="29036236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50</a:t>
            </a:fld>
            <a:endParaRPr lang="en-US" altLang="en-US"/>
          </a:p>
        </p:txBody>
      </p:sp>
      <p:graphicFrame>
        <p:nvGraphicFramePr>
          <p:cNvPr id="5" name="Table 4"/>
          <p:cNvGraphicFramePr>
            <a:graphicFrameLocks noGrp="1"/>
          </p:cNvGraphicFramePr>
          <p:nvPr>
            <p:extLst/>
          </p:nvPr>
        </p:nvGraphicFramePr>
        <p:xfrm>
          <a:off x="287338" y="977900"/>
          <a:ext cx="9331324" cy="262636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2.1.2.8</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GPPC states that the exposures to retail portfolio and exposures to many small and medium-sized enterprises where less borrower-specific information is available, ECLs are measured on a collective basis. This is similar in tone to IFRS 9 guideline.</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AP1</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Similar in principle to IFRS 9 guideline. No relevant or specific exceptions mentioned.</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Collective assessment is often used for large groups of homogeneous lending exposures with shared credit risk characteristics, such as retail portfolios. Individual ECL assessments are often conducted for significant exposures, or where credit concerns have been identified at the individual loan level, such as watch list and past-due loans.</a:t>
                      </a:r>
                    </a:p>
                  </a:txBody>
                  <a:tcPr/>
                </a:tc>
              </a:tr>
            </a:tbl>
          </a:graphicData>
        </a:graphic>
      </p:graphicFrame>
    </p:spTree>
    <p:extLst>
      <p:ext uri="{BB962C8B-B14F-4D97-AF65-F5344CB8AC3E}">
        <p14:creationId xmlns:p14="http://schemas.microsoft.com/office/powerpoint/2010/main" val="353459926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Individual vs. Collective Assessment</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51</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434863503"/>
              </p:ext>
            </p:extLst>
          </p:nvPr>
        </p:nvGraphicFramePr>
        <p:xfrm>
          <a:off x="287338" y="850900"/>
          <a:ext cx="9331325" cy="3145915"/>
        </p:xfrm>
        <a:graphic>
          <a:graphicData uri="http://schemas.openxmlformats.org/drawingml/2006/table">
            <a:tbl>
              <a:tblPr firstRow="1" bandRow="1">
                <a:tableStyleId>{5940675A-B579-460E-94D1-54222C63F5DA}</a:tableStyleId>
              </a:tblPr>
              <a:tblGrid>
                <a:gridCol w="507319"/>
                <a:gridCol w="957943"/>
                <a:gridCol w="772886"/>
                <a:gridCol w="7093177"/>
              </a:tblGrid>
              <a:tr h="537077">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Cases</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1688961">
                <a:tc rowSpan="2">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rowSpan="2">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What will be the criteria for deciding exposures to be individually and collectively assessed for SICR?</a:t>
                      </a:r>
                    </a:p>
                  </a:txBody>
                  <a:tcPr anchor="ctr"/>
                </a:tc>
                <a:tc>
                  <a:txBody>
                    <a:bodyPr/>
                    <a:lstStyle/>
                    <a:p>
                      <a:pPr marL="119063" lvl="1" indent="-119063">
                        <a:lnSpc>
                          <a:spcPct val="100000"/>
                        </a:lnSpc>
                        <a:buFont typeface="Arial" panose="020B0604020202020204" pitchFamily="34" charset="0"/>
                        <a:buChar char="•"/>
                      </a:pPr>
                      <a:r>
                        <a:rPr lang="en-IN" sz="1400" b="0" kern="1200" dirty="0" smtClean="0">
                          <a:solidFill>
                            <a:srgbClr val="000000"/>
                          </a:solidFill>
                          <a:latin typeface="Times New Roman" panose="02020603050405020304" pitchFamily="18" charset="0"/>
                          <a:ea typeface="+mn-ea"/>
                          <a:cs typeface="Times New Roman" panose="02020603050405020304" pitchFamily="18" charset="0"/>
                        </a:rPr>
                        <a:t>Non-Retail</a:t>
                      </a:r>
                    </a:p>
                  </a:txBody>
                  <a:tcPr anchor="ctr"/>
                </a:tc>
                <a:tc>
                  <a:txBody>
                    <a:bodyPr/>
                    <a:lstStyle/>
                    <a:p>
                      <a:pPr marL="119063" indent="-119063">
                        <a:lnSpc>
                          <a:spcPct val="100000"/>
                        </a:lnSpc>
                        <a:buFont typeface="Arial" panose="020B0604020202020204" pitchFamily="34" charset="0"/>
                        <a:buChar char="•"/>
                      </a:pP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The Bank will first apply automated SICR rules (e.g. +30DPD, ORR ratings downgrades, watch list and restructured) using system information to all the facilities of non-retail customers.</a:t>
                      </a:r>
                    </a:p>
                    <a:p>
                      <a:pPr marL="119063" indent="-119063">
                        <a:lnSpc>
                          <a:spcPct val="100000"/>
                        </a:lnSpc>
                        <a:buFont typeface="Arial" panose="020B0604020202020204" pitchFamily="34" charset="0"/>
                        <a:buChar char="•"/>
                      </a:pP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Further, additional individual customer assessments will be performed for accounts/facilities for which the automated rules would indicate a move from stage 1 to stage 2.</a:t>
                      </a:r>
                    </a:p>
                    <a:p>
                      <a:pPr marL="119063" indent="-119063">
                        <a:lnSpc>
                          <a:spcPct val="100000"/>
                        </a:lnSpc>
                        <a:buFont typeface="Arial" panose="020B0604020202020204" pitchFamily="34" charset="0"/>
                        <a:buChar char="•"/>
                      </a:pP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Consequently, this implies that the Bank will be performing the assessment on an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Individual basis.</a:t>
                      </a:r>
                    </a:p>
                  </a:txBody>
                  <a:tcPr/>
                </a:tc>
              </a:tr>
              <a:tr h="877834">
                <a:tc vMerge="1">
                  <a:txBody>
                    <a:bodyPr/>
                    <a:lstStyle/>
                    <a:p>
                      <a:endParaRPr lang="en-US" sz="1300" kern="1200" dirty="0">
                        <a:solidFill>
                          <a:srgbClr val="FF0000"/>
                        </a:solidFill>
                        <a:latin typeface="Times New Roman" panose="02020603050405020304" pitchFamily="18" charset="0"/>
                        <a:ea typeface="+mn-ea"/>
                        <a:cs typeface="Times New Roman" panose="02020603050405020304" pitchFamily="18" charset="0"/>
                      </a:endParaRPr>
                    </a:p>
                  </a:txBody>
                  <a:tcPr anchor="ctr"/>
                </a:tc>
                <a:tc vMerge="1">
                  <a:txBody>
                    <a:bodyPr/>
                    <a:lstStyle/>
                    <a:p>
                      <a:endParaRPr lang="en-IN" sz="1300" kern="1200" dirty="0" smtClean="0">
                        <a:solidFill>
                          <a:srgbClr val="FF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Retail</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The</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assessment of SICR for all retail accounts/products will be based entirely on the +30 DPD criteria applied to each loan.  Consequently, this implies that the Bank will be performing the assessment on an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Individual basis.</a:t>
                      </a:r>
                    </a:p>
                  </a:txBody>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78982134"/>
              </p:ext>
            </p:extLst>
          </p:nvPr>
        </p:nvGraphicFramePr>
        <p:xfrm>
          <a:off x="287338" y="4012994"/>
          <a:ext cx="9331325" cy="1020867"/>
        </p:xfrm>
        <a:graphic>
          <a:graphicData uri="http://schemas.openxmlformats.org/drawingml/2006/table">
            <a:tbl>
              <a:tblPr firstRow="1" bandRow="1">
                <a:tableStyleId>{5940675A-B579-460E-94D1-54222C63F5DA}</a:tableStyleId>
              </a:tblPr>
              <a:tblGrid>
                <a:gridCol w="514328"/>
                <a:gridCol w="1724364"/>
                <a:gridCol w="7092633"/>
              </a:tblGrid>
              <a:tr h="1020867">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2</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Will the Bank be estimating ECL on individual or collective basis?</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Not withstanding the differentiation mentioned in the previous decision point, the Bank proposes to measure ECL at an Individual Instrument level taking into account the projected cash flows, PD, LGD, CCF, discount rate etc.</a:t>
                      </a:r>
                    </a:p>
                  </a:txBody>
                  <a:tcPr/>
                </a:tc>
              </a:tr>
            </a:tbl>
          </a:graphicData>
        </a:graphic>
      </p:graphicFrame>
    </p:spTree>
    <p:extLst>
      <p:ext uri="{BB962C8B-B14F-4D97-AF65-F5344CB8AC3E}">
        <p14:creationId xmlns:p14="http://schemas.microsoft.com/office/powerpoint/2010/main" val="140970653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Backward Transition</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7</a:t>
            </a:r>
            <a:endParaRPr lang="en-IN" sz="2400" b="1" dirty="0">
              <a:solidFill>
                <a:schemeClr val="bg1"/>
              </a:solidFill>
            </a:endParaRPr>
          </a:p>
        </p:txBody>
      </p:sp>
    </p:spTree>
    <p:extLst>
      <p:ext uri="{BB962C8B-B14F-4D97-AF65-F5344CB8AC3E}">
        <p14:creationId xmlns:p14="http://schemas.microsoft.com/office/powerpoint/2010/main" val="26051612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3847"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53</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solidFill>
                <a:srgbClr val="FF0000"/>
              </a:solidFill>
            </a:endParaRPr>
          </a:p>
        </p:txBody>
      </p:sp>
      <p:grpSp>
        <p:nvGrpSpPr>
          <p:cNvPr id="18437" name="Group 16"/>
          <p:cNvGrpSpPr>
            <a:grpSpLocks/>
          </p:cNvGrpSpPr>
          <p:nvPr/>
        </p:nvGrpSpPr>
        <p:grpSpPr bwMode="auto">
          <a:xfrm>
            <a:off x="274638" y="1133475"/>
            <a:ext cx="9324975" cy="1982594"/>
            <a:chOff x="274638" y="1133475"/>
            <a:chExt cx="9324936" cy="1947439"/>
          </a:xfrm>
        </p:grpSpPr>
        <p:sp>
          <p:nvSpPr>
            <p:cNvPr id="18442" name="Rectangle 6"/>
            <p:cNvSpPr>
              <a:spLocks noChangeArrowheads="1"/>
            </p:cNvSpPr>
            <p:nvPr>
              <p:custDataLst>
                <p:tags r:id="rId5"/>
              </p:custDataLst>
            </p:nvPr>
          </p:nvSpPr>
          <p:spPr bwMode="auto">
            <a:xfrm>
              <a:off x="274638" y="1133475"/>
              <a:ext cx="1701800" cy="1947439"/>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9474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IN" altLang="en-US" sz="1400" dirty="0" smtClean="0">
                  <a:solidFill>
                    <a:srgbClr val="000000"/>
                  </a:solidFill>
                </a:rPr>
                <a:t>IFRS9 </a:t>
              </a:r>
              <a:r>
                <a:rPr lang="en-IN" altLang="en-US" sz="1400" dirty="0">
                  <a:solidFill>
                    <a:srgbClr val="000000"/>
                  </a:solidFill>
                </a:rPr>
                <a:t>requires the movement of accounts from Stage 1 to Stage 2 based on SICR. However, from the perspective of </a:t>
              </a:r>
              <a:r>
                <a:rPr lang="en-IN" altLang="en-US" sz="1400" dirty="0" smtClean="0">
                  <a:solidFill>
                    <a:srgbClr val="000000"/>
                  </a:solidFill>
                </a:rPr>
                <a:t>IFRS9, </a:t>
              </a:r>
              <a:r>
                <a:rPr lang="en-IN" altLang="en-US" sz="1400" dirty="0">
                  <a:solidFill>
                    <a:srgbClr val="000000"/>
                  </a:solidFill>
                </a:rPr>
                <a:t>movement across stages is a “Two Way” phenomenon. This means that if the conditions that triggered the movement to Stage 2 are no longer met then the bank can move the accounts back to Stage 1 and recognize 12-Month ECL instead of Lifetime ECL. This is called a “Backward Transition”.</a:t>
              </a:r>
            </a:p>
            <a:p>
              <a:pPr eaLnBrk="1" hangingPunct="1">
                <a:spcBef>
                  <a:spcPts val="300"/>
                </a:spcBef>
                <a:buFont typeface="Arial" panose="020B0604020202020204" pitchFamily="34" charset="0"/>
                <a:buChar char="•"/>
              </a:pPr>
              <a:r>
                <a:rPr lang="en-IN" altLang="en-US" sz="1400" dirty="0">
                  <a:solidFill>
                    <a:srgbClr val="000000"/>
                  </a:solidFill>
                </a:rPr>
                <a:t>The movement across the stages cannot be “Symmetric”. This means that movement from Stage 1 to Stage 2 would be immediate if the SICR conditions are triggered. However, once the SICR conditions are no longer triggered, the movement back to Stage 1 has to be “Calibrated” and should not be automatic and immediate. </a:t>
              </a:r>
            </a:p>
          </p:txBody>
        </p:sp>
      </p:grpSp>
      <p:sp>
        <p:nvSpPr>
          <p:cNvPr id="14" name="Rectangle 6"/>
          <p:cNvSpPr>
            <a:spLocks noChangeArrowheads="1"/>
          </p:cNvSpPr>
          <p:nvPr>
            <p:custDataLst>
              <p:tags r:id="rId3"/>
            </p:custDataLst>
          </p:nvPr>
        </p:nvSpPr>
        <p:spPr bwMode="auto">
          <a:xfrm>
            <a:off x="261938" y="3254375"/>
            <a:ext cx="1701807" cy="1087477"/>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3254375"/>
            <a:ext cx="7497793" cy="108747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altLang="en-US" sz="1400" dirty="0">
                <a:solidFill>
                  <a:srgbClr val="000000"/>
                </a:solidFill>
              </a:rPr>
              <a:t>This is important from the perspective of implementation of </a:t>
            </a:r>
            <a:r>
              <a:rPr lang="en-IN" altLang="en-US" sz="1400" dirty="0" smtClean="0">
                <a:solidFill>
                  <a:srgbClr val="000000"/>
                </a:solidFill>
              </a:rPr>
              <a:t>IFRS9 </a:t>
            </a:r>
            <a:r>
              <a:rPr lang="en-IN" altLang="en-US" sz="1400" dirty="0">
                <a:solidFill>
                  <a:srgbClr val="000000"/>
                </a:solidFill>
              </a:rPr>
              <a:t>due to the following reasons:</a:t>
            </a:r>
          </a:p>
          <a:p>
            <a:pPr eaLnBrk="1" hangingPunct="1">
              <a:spcBef>
                <a:spcPts val="300"/>
              </a:spcBef>
              <a:buFont typeface="Arial" panose="020B0604020202020204" pitchFamily="34" charset="0"/>
              <a:buChar char="•"/>
            </a:pPr>
            <a:r>
              <a:rPr lang="en-IN" altLang="en-US" sz="1400" dirty="0">
                <a:solidFill>
                  <a:srgbClr val="000000"/>
                </a:solidFill>
              </a:rPr>
              <a:t>Banks needs to ensure that there is a robust governance process around Backward Transition.</a:t>
            </a:r>
          </a:p>
          <a:p>
            <a:pPr eaLnBrk="1" hangingPunct="1">
              <a:spcBef>
                <a:spcPts val="300"/>
              </a:spcBef>
              <a:buFont typeface="Arial" panose="020B0604020202020204" pitchFamily="34" charset="0"/>
              <a:buChar char="•"/>
            </a:pPr>
            <a:r>
              <a:rPr lang="en-IN" altLang="en-US" sz="1400" dirty="0">
                <a:solidFill>
                  <a:srgbClr val="000000"/>
                </a:solidFill>
              </a:rPr>
              <a:t>Cool-off or Cure periods (in case of Stage 3 to Stage 2 transitions) and conditions for Backward Transitions must be formalized.</a:t>
            </a:r>
          </a:p>
        </p:txBody>
      </p:sp>
    </p:spTree>
    <p:extLst>
      <p:ext uri="{BB962C8B-B14F-4D97-AF65-F5344CB8AC3E}">
        <p14:creationId xmlns:p14="http://schemas.microsoft.com/office/powerpoint/2010/main" val="9899482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54</a:t>
            </a:fld>
            <a:endParaRPr lang="en-US" altLang="en-US"/>
          </a:p>
        </p:txBody>
      </p:sp>
      <p:graphicFrame>
        <p:nvGraphicFramePr>
          <p:cNvPr id="4" name="Table 3"/>
          <p:cNvGraphicFramePr>
            <a:graphicFrameLocks noGrp="1"/>
          </p:cNvGraphicFramePr>
          <p:nvPr>
            <p:extLst/>
          </p:nvPr>
        </p:nvGraphicFramePr>
        <p:xfrm>
          <a:off x="895350" y="1181100"/>
          <a:ext cx="8115300" cy="74168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What will be the criteria for Backward Transition of accounts?</a:t>
                      </a:r>
                    </a:p>
                  </a:txBody>
                  <a:tcPr anchor="ctr"/>
                </a:tc>
              </a:tr>
            </a:tbl>
          </a:graphicData>
        </a:graphic>
      </p:graphicFrame>
    </p:spTree>
    <p:extLst>
      <p:ext uri="{BB962C8B-B14F-4D97-AF65-F5344CB8AC3E}">
        <p14:creationId xmlns:p14="http://schemas.microsoft.com/office/powerpoint/2010/main" val="17225559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55</a:t>
            </a:fld>
            <a:endParaRPr lang="en-US" altLang="en-US"/>
          </a:p>
        </p:txBody>
      </p:sp>
      <p:graphicFrame>
        <p:nvGraphicFramePr>
          <p:cNvPr id="5" name="Table 4"/>
          <p:cNvGraphicFramePr>
            <a:graphicFrameLocks noGrp="1"/>
          </p:cNvGraphicFramePr>
          <p:nvPr>
            <p:extLst/>
          </p:nvPr>
        </p:nvGraphicFramePr>
        <p:xfrm>
          <a:off x="287338" y="939800"/>
          <a:ext cx="9331325" cy="512064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5.5.7 and B.5.5.27</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IFRS9 says that if the conditions that triggered SICR are no longer relevant then the account can be transferred to Stage 1 and 12-month ECL can be measured. IFRS9 does not provide any specific guidance or condition for Backward Transition except in case of improvement in performance due to renegotiation of cash flows or modifications.</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In case of improvement in performance due to renegotiation of cash flows or modifications, the bank should not automatically move the asset to Stage 1. There must be clear evidence in form of history of up-to-date and timely payment against modified contractual terms before the risk is deemed to have reduced.</a:t>
                      </a:r>
                    </a:p>
                  </a:txBody>
                  <a:tcPr/>
                </a:tc>
              </a:tr>
              <a:tr h="370840">
                <a:tc>
                  <a:txBody>
                    <a:bodyPr/>
                    <a:lstStyle/>
                    <a:p>
                      <a:r>
                        <a:rPr lang="en-US" sz="1400" kern="1200" dirty="0" smtClean="0">
                          <a:solidFill>
                            <a:schemeClr val="accent6"/>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accent6"/>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accent6"/>
                          </a:solidFill>
                          <a:latin typeface="Times New Roman" panose="02020603050405020304" pitchFamily="18" charset="0"/>
                          <a:ea typeface="+mn-ea"/>
                          <a:cs typeface="Times New Roman" panose="02020603050405020304" pitchFamily="18" charset="0"/>
                        </a:rPr>
                        <a:t>2.4.2.1</a:t>
                      </a:r>
                    </a:p>
                    <a:p>
                      <a:endParaRPr lang="en-US" sz="1400" kern="1200" dirty="0" smtClean="0">
                        <a:solidFill>
                          <a:schemeClr val="accent6"/>
                        </a:solidFill>
                        <a:latin typeface="Times New Roman" panose="02020603050405020304" pitchFamily="18" charset="0"/>
                        <a:ea typeface="+mn-ea"/>
                        <a:cs typeface="Times New Roman" panose="02020603050405020304" pitchFamily="18" charset="0"/>
                      </a:endParaRPr>
                    </a:p>
                    <a:p>
                      <a:r>
                        <a:rPr lang="en-US" sz="1400" kern="1200" dirty="0" smtClean="0">
                          <a:solidFill>
                            <a:schemeClr val="accent6"/>
                          </a:solidFill>
                          <a:latin typeface="Times New Roman" panose="02020603050405020304" pitchFamily="18" charset="0"/>
                          <a:ea typeface="+mn-ea"/>
                          <a:cs typeface="Times New Roman" panose="02020603050405020304" pitchFamily="18" charset="0"/>
                        </a:rPr>
                        <a:t>2.4.2.2</a:t>
                      </a:r>
                    </a:p>
                    <a:p>
                      <a:endParaRPr lang="en-US" sz="1400" kern="1200" dirty="0" smtClean="0">
                        <a:solidFill>
                          <a:schemeClr val="accent6"/>
                        </a:solidFill>
                        <a:latin typeface="Times New Roman" panose="02020603050405020304" pitchFamily="18" charset="0"/>
                        <a:ea typeface="+mn-ea"/>
                        <a:cs typeface="Times New Roman" panose="02020603050405020304" pitchFamily="18" charset="0"/>
                      </a:endParaRPr>
                    </a:p>
                    <a:p>
                      <a:endParaRPr lang="en-US" sz="1400" kern="1200" dirty="0" smtClean="0">
                        <a:solidFill>
                          <a:schemeClr val="accent6"/>
                        </a:solidFill>
                        <a:latin typeface="Times New Roman" panose="02020603050405020304" pitchFamily="18" charset="0"/>
                        <a:ea typeface="+mn-ea"/>
                        <a:cs typeface="Times New Roman" panose="02020603050405020304" pitchFamily="18" charset="0"/>
                      </a:endParaRPr>
                    </a:p>
                    <a:p>
                      <a:endParaRPr lang="en-US" sz="1400" kern="1200" dirty="0" smtClean="0">
                        <a:solidFill>
                          <a:schemeClr val="accent6"/>
                        </a:solidFill>
                        <a:latin typeface="Times New Roman" panose="02020603050405020304" pitchFamily="18" charset="0"/>
                        <a:ea typeface="+mn-ea"/>
                        <a:cs typeface="Times New Roman" panose="02020603050405020304" pitchFamily="18" charset="0"/>
                      </a:endParaRPr>
                    </a:p>
                    <a:p>
                      <a:endParaRPr lang="en-US" sz="1400" kern="1200" dirty="0">
                        <a:solidFill>
                          <a:schemeClr val="accent6"/>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For </a:t>
                      </a:r>
                      <a:r>
                        <a:rPr lang="en-IN" sz="1400" b="1" kern="1200" dirty="0" smtClean="0">
                          <a:solidFill>
                            <a:schemeClr val="tx1"/>
                          </a:solidFill>
                          <a:latin typeface="Times New Roman" panose="02020603050405020304" pitchFamily="18" charset="0"/>
                          <a:ea typeface="+mn-ea"/>
                          <a:cs typeface="Times New Roman" panose="02020603050405020304" pitchFamily="18" charset="0"/>
                        </a:rPr>
                        <a:t>Stage 3 to 2</a:t>
                      </a:r>
                      <a:r>
                        <a:rPr lang="en-IN" sz="1400" kern="1200" dirty="0" smtClean="0">
                          <a:solidFill>
                            <a:schemeClr val="tx1"/>
                          </a:solidFill>
                          <a:latin typeface="Times New Roman" panose="02020603050405020304" pitchFamily="18" charset="0"/>
                          <a:ea typeface="+mn-ea"/>
                          <a:cs typeface="Times New Roman" panose="02020603050405020304" pitchFamily="18" charset="0"/>
                        </a:rPr>
                        <a:t>, Banks</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must continue to comply with the existing Reclassification of Credit Facilities contained in the QCB Instruction to Banks – Sep13 (page 179 English version), which stipulates that Banks must inform (obtain permission of) the QCB before they reclassify from Non-Performing to Performing.</a:t>
                      </a:r>
                    </a:p>
                    <a:p>
                      <a:pPr marL="285750" indent="-285750">
                        <a:buFont typeface="Arial" panose="020B0604020202020204" pitchFamily="34" charset="0"/>
                        <a:buChar char="•"/>
                      </a:pP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For </a:t>
                      </a:r>
                      <a:r>
                        <a:rPr lang="en-IN" sz="1400" b="1" kern="1200" dirty="0" smtClean="0">
                          <a:solidFill>
                            <a:schemeClr val="tx1"/>
                          </a:solidFill>
                          <a:latin typeface="Times New Roman" panose="02020603050405020304" pitchFamily="18" charset="0"/>
                          <a:ea typeface="+mn-ea"/>
                          <a:cs typeface="Times New Roman" panose="02020603050405020304" pitchFamily="18" charset="0"/>
                        </a:rPr>
                        <a:t>Stage</a:t>
                      </a:r>
                      <a:r>
                        <a:rPr lang="en-IN" sz="1400" b="1" kern="1200" baseline="0" dirty="0" smtClean="0">
                          <a:solidFill>
                            <a:schemeClr val="tx1"/>
                          </a:solidFill>
                          <a:latin typeface="Times New Roman" panose="02020603050405020304" pitchFamily="18" charset="0"/>
                          <a:ea typeface="+mn-ea"/>
                          <a:cs typeface="Times New Roman" panose="02020603050405020304" pitchFamily="18" charset="0"/>
                        </a:rPr>
                        <a:t> 2 to 1</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the </a:t>
                      </a:r>
                      <a:r>
                        <a:rPr lang="en-IN" sz="1400" kern="1200" dirty="0" smtClean="0">
                          <a:solidFill>
                            <a:schemeClr val="tx1"/>
                          </a:solidFill>
                          <a:latin typeface="Times New Roman" panose="02020603050405020304" pitchFamily="18" charset="0"/>
                          <a:ea typeface="+mn-ea"/>
                          <a:cs typeface="Times New Roman" panose="02020603050405020304" pitchFamily="18" charset="0"/>
                        </a:rPr>
                        <a:t>QCB lays out 2 considerations</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for transition:-</a:t>
                      </a: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Up to date with payments with no arrears</a:t>
                      </a: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Minimum 12 month probation period</a:t>
                      </a: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Also, details of all Stage 2 to 1 transitions must be provided to the QCB before the end of each quarter, in order to obtain the QCB’s no objection </a:t>
                      </a: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4.6.3.4, 4.6.2</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Banks need to define a “cure period”. Generally expected to be 12 months</a:t>
                      </a:r>
                    </a:p>
                  </a:txBody>
                  <a:tcPr anchor="ctr"/>
                </a:tc>
              </a:tr>
            </a:tbl>
          </a:graphicData>
        </a:graphic>
      </p:graphicFrame>
    </p:spTree>
    <p:extLst>
      <p:ext uri="{BB962C8B-B14F-4D97-AF65-F5344CB8AC3E}">
        <p14:creationId xmlns:p14="http://schemas.microsoft.com/office/powerpoint/2010/main" val="429095653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56</a:t>
            </a:fld>
            <a:endParaRPr lang="en-US" altLang="en-US"/>
          </a:p>
        </p:txBody>
      </p:sp>
      <p:graphicFrame>
        <p:nvGraphicFramePr>
          <p:cNvPr id="5" name="Table 4"/>
          <p:cNvGraphicFramePr>
            <a:graphicFrameLocks noGrp="1"/>
          </p:cNvGraphicFramePr>
          <p:nvPr>
            <p:extLst/>
          </p:nvPr>
        </p:nvGraphicFramePr>
        <p:xfrm>
          <a:off x="287338" y="977900"/>
          <a:ext cx="9331324" cy="241300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2.7.2.18</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GPPC talks about a “Probation Period” that needs to be defined by the bank. Backward Transition is possible only after the “Probation Period”.</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AP1</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ITG’s stand is similar to IFRS9 guideline. No specific difference in their requirements.</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 44</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Typically a customer would need to demonstrate consistently good payment </a:t>
                      </a:r>
                      <a:r>
                        <a:rPr lang="en-IN" sz="1400" kern="1200" dirty="0" err="1" smtClean="0">
                          <a:solidFill>
                            <a:srgbClr val="000000"/>
                          </a:solidFill>
                          <a:latin typeface="Times New Roman" panose="02020603050405020304" pitchFamily="18" charset="0"/>
                          <a:ea typeface="+mn-ea"/>
                          <a:cs typeface="Times New Roman" panose="02020603050405020304" pitchFamily="18" charset="0"/>
                        </a:rPr>
                        <a:t>behavior</a:t>
                      </a:r>
                      <a:r>
                        <a:rPr lang="en-IN" sz="1400" kern="1200" dirty="0" smtClean="0">
                          <a:solidFill>
                            <a:srgbClr val="000000"/>
                          </a:solidFill>
                          <a:latin typeface="Times New Roman" panose="02020603050405020304" pitchFamily="18" charset="0"/>
                          <a:ea typeface="+mn-ea"/>
                          <a:cs typeface="Times New Roman" panose="02020603050405020304" pitchFamily="18" charset="0"/>
                        </a:rPr>
                        <a:t> over a period of time before the credit risk is considered to have decreased. For example, a history of missed or incomplete payments would not be erased by simply making one payment on time following a modification of the contractual terms.</a:t>
                      </a:r>
                    </a:p>
                  </a:txBody>
                  <a:tcPr/>
                </a:tc>
              </a:tr>
            </a:tbl>
          </a:graphicData>
        </a:graphic>
      </p:graphicFrame>
    </p:spTree>
    <p:extLst>
      <p:ext uri="{BB962C8B-B14F-4D97-AF65-F5344CB8AC3E}">
        <p14:creationId xmlns:p14="http://schemas.microsoft.com/office/powerpoint/2010/main" val="247887911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Backward Transitions</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57</a:t>
            </a:fld>
            <a:endParaRPr lang="en-US" altLang="en-US"/>
          </a:p>
        </p:txBody>
      </p:sp>
      <p:graphicFrame>
        <p:nvGraphicFramePr>
          <p:cNvPr id="6" name="Table 5"/>
          <p:cNvGraphicFramePr>
            <a:graphicFrameLocks noGrp="1"/>
          </p:cNvGraphicFramePr>
          <p:nvPr>
            <p:extLst/>
          </p:nvPr>
        </p:nvGraphicFramePr>
        <p:xfrm>
          <a:off x="287338" y="850900"/>
          <a:ext cx="9331325" cy="4937760"/>
        </p:xfrm>
        <a:graphic>
          <a:graphicData uri="http://schemas.openxmlformats.org/drawingml/2006/table">
            <a:tbl>
              <a:tblPr firstRow="1" bandRow="1">
                <a:tableStyleId>{5940675A-B579-460E-94D1-54222C63F5DA}</a:tableStyleId>
              </a:tblPr>
              <a:tblGrid>
                <a:gridCol w="588962"/>
                <a:gridCol w="1511300"/>
                <a:gridCol w="7231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519680">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1200" kern="1200" dirty="0" smtClean="0">
                          <a:solidFill>
                            <a:srgbClr val="000000"/>
                          </a:solidFill>
                          <a:latin typeface="Times New Roman" panose="02020603050405020304" pitchFamily="18" charset="0"/>
                          <a:ea typeface="+mn-ea"/>
                          <a:cs typeface="Times New Roman" panose="02020603050405020304" pitchFamily="18" charset="0"/>
                        </a:rPr>
                        <a:t>What will be the criteria for Backward Transition of accounts?</a:t>
                      </a:r>
                    </a:p>
                  </a:txBody>
                  <a:tcPr anchor="ctr"/>
                </a:tc>
                <a:tc>
                  <a:txBody>
                    <a:bodyPr/>
                    <a:lstStyle/>
                    <a:p>
                      <a:pPr marL="285750" indent="-285750">
                        <a:lnSpc>
                          <a:spcPct val="100000"/>
                        </a:lnSpc>
                        <a:buFont typeface="Arial" panose="020B0604020202020204" pitchFamily="34" charset="0"/>
                        <a:buChar char="•"/>
                      </a:pPr>
                      <a:endParaRPr lang="en-IN" sz="1400" b="0" kern="1200" dirty="0" smtClean="0">
                        <a:solidFill>
                          <a:srgbClr val="FF0000"/>
                        </a:solidFill>
                        <a:latin typeface="Times New Roman" panose="02020603050405020304" pitchFamily="18" charset="0"/>
                        <a:ea typeface="+mn-ea"/>
                        <a:cs typeface="Times New Roman" panose="02020603050405020304" pitchFamily="18" charset="0"/>
                      </a:endParaRPr>
                    </a:p>
                    <a:p>
                      <a:pPr marL="285750" indent="-285750">
                        <a:lnSpc>
                          <a:spcPct val="100000"/>
                        </a:lnSpc>
                        <a:buFont typeface="Arial" panose="020B0604020202020204" pitchFamily="34" charset="0"/>
                        <a:buChar char="•"/>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For non-retail accounts, as per the Technical Guidance provided in the previous slides</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 and in accordance with the additional QCB guidance, the Bank</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 will apply</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the following rules for Backward Transition:</a:t>
                      </a:r>
                    </a:p>
                    <a:p>
                      <a:pPr marL="0" indent="0">
                        <a:buFont typeface="Arial" panose="020B0604020202020204" pitchFamily="34" charset="0"/>
                        <a:buNone/>
                      </a:pP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0" indent="0">
                        <a:buFont typeface="Arial" panose="020B0604020202020204" pitchFamily="34" charset="0"/>
                        <a:buNone/>
                      </a:pP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From stage 3 to stage 2</a:t>
                      </a: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Up to date with payments with no arrears</a:t>
                      </a: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Minimum 12 month probation period</a:t>
                      </a: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After</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informing the QCB</a:t>
                      </a:r>
                    </a:p>
                    <a:p>
                      <a:pPr marL="0" indent="0">
                        <a:buFont typeface="Arial" panose="020B0604020202020204" pitchFamily="34" charset="0"/>
                        <a:buNone/>
                      </a:pPr>
                      <a:endParaRPr lang="en-IN" sz="140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0" indent="0">
                        <a:buFont typeface="Arial" panose="020B0604020202020204" pitchFamily="34" charset="0"/>
                        <a:buNone/>
                      </a:pP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From stage 2 to stage 1</a:t>
                      </a: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Up to date with payments with no arrears</a:t>
                      </a:r>
                    </a:p>
                    <a:p>
                      <a:pPr marL="857250" lvl="1" indent="-400050">
                        <a:buFont typeface="+mj-lt"/>
                        <a:buAutoNum type="romanLcPeriod"/>
                      </a:pPr>
                      <a:r>
                        <a:rPr lang="en-IN" sz="1400" kern="1200" dirty="0" smtClean="0">
                          <a:solidFill>
                            <a:schemeClr val="tx1"/>
                          </a:solidFill>
                          <a:latin typeface="Times New Roman" panose="02020603050405020304" pitchFamily="18" charset="0"/>
                          <a:ea typeface="+mn-ea"/>
                          <a:cs typeface="Times New Roman" panose="02020603050405020304" pitchFamily="18" charset="0"/>
                        </a:rPr>
                        <a:t>Minimum 12 month probation period</a:t>
                      </a:r>
                    </a:p>
                    <a:p>
                      <a:pPr marL="857250" lvl="1" indent="-400050">
                        <a:buFont typeface="+mj-lt"/>
                        <a:buAutoNum type="romanLcPeriod"/>
                      </a:pP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No objection from the QCB</a:t>
                      </a:r>
                    </a:p>
                    <a:p>
                      <a:pPr marL="285750" indent="-285750" rtl="0">
                        <a:lnSpc>
                          <a:spcPct val="100000"/>
                        </a:lnSpc>
                        <a:buFont typeface="Arial" panose="020B0604020202020204" pitchFamily="34" charset="0"/>
                        <a:buChar char="•"/>
                      </a:pPr>
                      <a:endParaRPr lang="en-IN" sz="1400" b="0" kern="1200" dirty="0" smtClean="0">
                        <a:solidFill>
                          <a:srgbClr val="FF0000"/>
                        </a:solidFill>
                        <a:latin typeface="Times New Roman" panose="02020603050405020304" pitchFamily="18" charset="0"/>
                        <a:ea typeface="+mn-ea"/>
                        <a:cs typeface="Times New Roman" panose="02020603050405020304" pitchFamily="18" charset="0"/>
                      </a:endParaRPr>
                    </a:p>
                    <a:p>
                      <a:pPr marL="285750" indent="-285750">
                        <a:lnSpc>
                          <a:spcPct val="100000"/>
                        </a:lnSpc>
                        <a:buFont typeface="Arial" panose="020B0604020202020204" pitchFamily="34" charset="0"/>
                        <a:buChar char="•"/>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For retail accounts</a:t>
                      </a:r>
                      <a:r>
                        <a:rPr lang="en-IN" sz="1400" b="1" i="1" kern="1200" dirty="0" smtClean="0">
                          <a:solidFill>
                            <a:schemeClr val="tx1"/>
                          </a:solidFill>
                          <a:latin typeface="Times New Roman" panose="02020603050405020304" pitchFamily="18" charset="0"/>
                          <a:ea typeface="+mn-ea"/>
                          <a:cs typeface="Times New Roman" panose="02020603050405020304" pitchFamily="18" charset="0"/>
                        </a:rPr>
                        <a:t>, subject</a:t>
                      </a:r>
                      <a:r>
                        <a:rPr lang="en-IN" sz="1400" b="1" i="1" kern="1200" baseline="0" dirty="0" smtClean="0">
                          <a:solidFill>
                            <a:schemeClr val="tx1"/>
                          </a:solidFill>
                          <a:latin typeface="Times New Roman" panose="02020603050405020304" pitchFamily="18" charset="0"/>
                          <a:ea typeface="+mn-ea"/>
                          <a:cs typeface="Times New Roman" panose="02020603050405020304" pitchFamily="18" charset="0"/>
                        </a:rPr>
                        <a:t> to QCB approval </a:t>
                      </a:r>
                      <a:r>
                        <a:rPr lang="en-IN" sz="1400" b="1" i="1" kern="1200" dirty="0" smtClean="0">
                          <a:solidFill>
                            <a:schemeClr val="tx1"/>
                          </a:solidFill>
                          <a:latin typeface="Times New Roman" panose="02020603050405020304" pitchFamily="18" charset="0"/>
                          <a:ea typeface="+mn-ea"/>
                          <a:cs typeface="Times New Roman" panose="02020603050405020304" pitchFamily="18" charset="0"/>
                        </a:rPr>
                        <a:t>where SICR is triggered by 30+ DPD criteria, </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accounts will be moved back into Stage 1 if they are in the Current Bucket for a period of at least 3 consecutive months. The relative leniency is due to the fact that 30+ DPD criteria is a strict backstop condition of SICR.</a:t>
                      </a:r>
                    </a:p>
                    <a:p>
                      <a:pPr marL="285750" indent="-285750">
                        <a:lnSpc>
                          <a:spcPct val="100000"/>
                        </a:lnSpc>
                        <a:buFont typeface="Arial" panose="020B0604020202020204" pitchFamily="34" charset="0"/>
                        <a:buChar char="•"/>
                      </a:pPr>
                      <a:endParaRPr lang="en-IN" sz="1400" b="0" kern="1200" dirty="0" smtClean="0">
                        <a:solidFill>
                          <a:srgbClr val="FF0000"/>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407373123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58</a:t>
            </a:fld>
            <a:endParaRPr lang="en-US" altLang="en-US"/>
          </a:p>
        </p:txBody>
      </p:sp>
      <p:graphicFrame>
        <p:nvGraphicFramePr>
          <p:cNvPr id="5" name="Chart 4"/>
          <p:cNvGraphicFramePr>
            <a:graphicFrameLocks/>
          </p:cNvGraphicFramePr>
          <p:nvPr>
            <p:extLst>
              <p:ext uri="{D42A27DB-BD31-4B8C-83A1-F6EECF244321}">
                <p14:modId xmlns:p14="http://schemas.microsoft.com/office/powerpoint/2010/main" val="3732199137"/>
              </p:ext>
            </p:extLst>
          </p:nvPr>
        </p:nvGraphicFramePr>
        <p:xfrm>
          <a:off x="1083392" y="1081548"/>
          <a:ext cx="6098458" cy="371905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491490" y="4800600"/>
            <a:ext cx="6423660" cy="338554"/>
          </a:xfrm>
          <a:prstGeom prst="rect">
            <a:avLst/>
          </a:prstGeom>
          <a:noFill/>
        </p:spPr>
        <p:txBody>
          <a:bodyPr wrap="square" rtlCol="0">
            <a:spAutoFit/>
          </a:bodyPr>
          <a:lstStyle/>
          <a:p>
            <a:r>
              <a:rPr lang="en-GB" sz="1600" b="1" dirty="0" smtClean="0">
                <a:solidFill>
                  <a:schemeClr val="accent1">
                    <a:lumMod val="50000"/>
                  </a:schemeClr>
                </a:solidFill>
              </a:rPr>
              <a:t>Cure rates                          20%                                               40%</a:t>
            </a:r>
            <a:endParaRPr lang="en-GB" sz="1600" b="1" dirty="0">
              <a:solidFill>
                <a:schemeClr val="accent1">
                  <a:lumMod val="50000"/>
                </a:schemeClr>
              </a:solidFill>
            </a:endParaRPr>
          </a:p>
        </p:txBody>
      </p:sp>
    </p:spTree>
    <p:extLst>
      <p:ext uri="{BB962C8B-B14F-4D97-AF65-F5344CB8AC3E}">
        <p14:creationId xmlns:p14="http://schemas.microsoft.com/office/powerpoint/2010/main" val="352994640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a:t>Technical</a:t>
            </a:r>
            <a:r>
              <a:rPr lang="fr-FR" altLang="en-US" sz="2200" dirty="0"/>
              <a:t> </a:t>
            </a:r>
            <a:r>
              <a:rPr lang="fr-FR" altLang="en-US" sz="2200" dirty="0" err="1"/>
              <a:t>Interpretation</a:t>
            </a:r>
            <a:r>
              <a:rPr lang="fr-FR" altLang="en-US" sz="2200" dirty="0"/>
              <a:t> </a:t>
            </a:r>
            <a:r>
              <a:rPr lang="fr-FR" altLang="en-US" sz="2200" dirty="0" smtClean="0"/>
              <a:t>Note</a:t>
            </a:r>
            <a:br>
              <a:rPr lang="fr-FR" altLang="en-US" sz="2200" dirty="0" smtClean="0"/>
            </a:br>
            <a:r>
              <a:rPr lang="fr-FR" altLang="en-US" sz="2200" dirty="0"/>
              <a:t/>
            </a:r>
            <a:br>
              <a:rPr lang="fr-FR" altLang="en-US" sz="2200" dirty="0"/>
            </a:br>
            <a:r>
              <a:rPr lang="en-IN" sz="2400" dirty="0" smtClean="0"/>
              <a:t>Use </a:t>
            </a:r>
            <a:r>
              <a:rPr lang="en-IN" sz="2400" dirty="0"/>
              <a:t>of 12 Month vs. Lifetime </a:t>
            </a:r>
            <a:r>
              <a:rPr lang="en-IN" sz="2400" dirty="0" smtClean="0"/>
              <a:t>PD</a:t>
            </a:r>
            <a:br>
              <a:rPr lang="en-IN" sz="2400" dirty="0" smtClean="0"/>
            </a:br>
            <a:r>
              <a:rPr lang="en-IN" sz="2400" dirty="0" smtClean="0"/>
              <a:t>for </a:t>
            </a:r>
            <a:r>
              <a:rPr lang="en-IN" sz="2400" dirty="0"/>
              <a:t>measuring SICR</a:t>
            </a:r>
            <a:r>
              <a:rPr lang="fr-FR" altLang="en-US" sz="2200" dirty="0"/>
              <a:t/>
            </a:r>
            <a:br>
              <a:rPr lang="fr-FR" altLang="en-US" sz="2200" dirty="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8</a:t>
            </a:r>
            <a:endParaRPr lang="en-IN" sz="2400" b="1" dirty="0">
              <a:solidFill>
                <a:schemeClr val="bg1"/>
              </a:solidFill>
            </a:endParaRPr>
          </a:p>
        </p:txBody>
      </p:sp>
    </p:spTree>
    <p:extLst>
      <p:ext uri="{BB962C8B-B14F-4D97-AF65-F5344CB8AC3E}">
        <p14:creationId xmlns:p14="http://schemas.microsoft.com/office/powerpoint/2010/main" val="107832526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4871"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60</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626086"/>
            <a:chOff x="274638" y="1133475"/>
            <a:chExt cx="9324936" cy="1597253"/>
          </a:xfrm>
        </p:grpSpPr>
        <p:sp>
          <p:nvSpPr>
            <p:cNvPr id="18442" name="Rectangle 6"/>
            <p:cNvSpPr>
              <a:spLocks noChangeArrowheads="1"/>
            </p:cNvSpPr>
            <p:nvPr>
              <p:custDataLst>
                <p:tags r:id="rId5"/>
              </p:custDataLst>
            </p:nvPr>
          </p:nvSpPr>
          <p:spPr bwMode="auto">
            <a:xfrm>
              <a:off x="274638" y="1133475"/>
              <a:ext cx="1701800" cy="1597253"/>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59725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IN" altLang="en-US" sz="1400" dirty="0">
                  <a:solidFill>
                    <a:srgbClr val="000000"/>
                  </a:solidFill>
                </a:rPr>
                <a:t>Under </a:t>
              </a:r>
              <a:r>
                <a:rPr lang="en-IN" altLang="en-US" sz="1400" dirty="0" smtClean="0">
                  <a:solidFill>
                    <a:srgbClr val="000000"/>
                  </a:solidFill>
                </a:rPr>
                <a:t>IFRS9, </a:t>
              </a:r>
              <a:r>
                <a:rPr lang="en-IN" altLang="en-US" sz="1400" dirty="0">
                  <a:solidFill>
                    <a:srgbClr val="000000"/>
                  </a:solidFill>
                </a:rPr>
                <a:t>assessing whether the credit risk of a financial instrument has increased significantly </a:t>
              </a:r>
              <a:r>
                <a:rPr lang="en-IN" altLang="en-US" sz="1400" dirty="0" smtClean="0">
                  <a:solidFill>
                    <a:srgbClr val="000000"/>
                  </a:solidFill>
                </a:rPr>
                <a:t>should be based </a:t>
              </a:r>
              <a:r>
                <a:rPr lang="en-IN" altLang="en-US" sz="1400" dirty="0">
                  <a:solidFill>
                    <a:srgbClr val="000000"/>
                  </a:solidFill>
                </a:rPr>
                <a:t>on the changes in the risk of default occurring over the </a:t>
              </a:r>
              <a:r>
                <a:rPr lang="en-IN" altLang="en-US" sz="1400" b="1" i="1" dirty="0">
                  <a:solidFill>
                    <a:srgbClr val="000000"/>
                  </a:solidFill>
                </a:rPr>
                <a:t>expected life of an instrument</a:t>
              </a:r>
              <a:r>
                <a:rPr lang="en-IN" altLang="en-US" sz="1400" dirty="0" smtClean="0">
                  <a:solidFill>
                    <a:srgbClr val="000000"/>
                  </a:solidFill>
                </a:rPr>
                <a:t>. Hence</a:t>
              </a:r>
              <a:r>
                <a:rPr lang="en-IN" altLang="en-US" sz="1400" dirty="0">
                  <a:solidFill>
                    <a:srgbClr val="000000"/>
                  </a:solidFill>
                </a:rPr>
                <a:t>, the Bank should compare the lifetime risk of default at reporting date with the corresponding lifetime risk of default at initial recognition.</a:t>
              </a:r>
            </a:p>
            <a:p>
              <a:pPr eaLnBrk="1" hangingPunct="1">
                <a:spcBef>
                  <a:spcPts val="300"/>
                </a:spcBef>
                <a:buFont typeface="Arial" panose="020B0604020202020204" pitchFamily="34" charset="0"/>
                <a:buChar char="•"/>
              </a:pPr>
              <a:r>
                <a:rPr lang="en-IN" altLang="en-US" sz="1400" dirty="0">
                  <a:solidFill>
                    <a:srgbClr val="000000"/>
                  </a:solidFill>
                </a:rPr>
                <a:t>However, </a:t>
              </a:r>
              <a:r>
                <a:rPr lang="en-IN" altLang="en-US" sz="1400" dirty="0" smtClean="0">
                  <a:solidFill>
                    <a:srgbClr val="000000"/>
                  </a:solidFill>
                </a:rPr>
                <a:t>IFRS9 </a:t>
              </a:r>
              <a:r>
                <a:rPr lang="en-IN" altLang="en-US" sz="1400" dirty="0">
                  <a:solidFill>
                    <a:srgbClr val="000000"/>
                  </a:solidFill>
                </a:rPr>
                <a:t>provides an expedient. In some cases the standard indicates that it may be reasonable to </a:t>
              </a:r>
              <a:r>
                <a:rPr lang="en-IN" altLang="en-US" sz="1400" b="1" i="1" dirty="0">
                  <a:solidFill>
                    <a:srgbClr val="000000"/>
                  </a:solidFill>
                </a:rPr>
                <a:t>use the changes in 12-Month risk of default instead of lifetime risk of default</a:t>
              </a:r>
              <a:r>
                <a:rPr lang="en-IN" altLang="en-US" sz="1400" dirty="0" smtClean="0">
                  <a:solidFill>
                    <a:srgbClr val="000000"/>
                  </a:solidFill>
                </a:rPr>
                <a:t>.</a:t>
              </a:r>
            </a:p>
            <a:p>
              <a:pPr eaLnBrk="1" hangingPunct="1">
                <a:spcBef>
                  <a:spcPts val="300"/>
                </a:spcBef>
                <a:buFont typeface="Arial" panose="020B0604020202020204" pitchFamily="34" charset="0"/>
                <a:buChar char="•"/>
              </a:pPr>
              <a:r>
                <a:rPr lang="en-IN" altLang="en-US" sz="1400" dirty="0">
                  <a:solidFill>
                    <a:srgbClr val="000000"/>
                  </a:solidFill>
                </a:rPr>
                <a:t>Application of this expedient is however subject to certain conditions as laid out in </a:t>
              </a:r>
              <a:r>
                <a:rPr lang="en-IN" altLang="en-US" sz="1400" dirty="0" smtClean="0">
                  <a:solidFill>
                    <a:srgbClr val="000000"/>
                  </a:solidFill>
                </a:rPr>
                <a:t>IFRS9.</a:t>
              </a:r>
              <a:endParaRPr lang="en-IN" altLang="en-US" sz="1400" dirty="0">
                <a:solidFill>
                  <a:srgbClr val="000000"/>
                </a:solidFill>
              </a:endParaRPr>
            </a:p>
          </p:txBody>
        </p:sp>
      </p:grpSp>
      <p:sp>
        <p:nvSpPr>
          <p:cNvPr id="14" name="Rectangle 6"/>
          <p:cNvSpPr>
            <a:spLocks noChangeArrowheads="1"/>
          </p:cNvSpPr>
          <p:nvPr>
            <p:custDataLst>
              <p:tags r:id="rId3"/>
            </p:custDataLst>
          </p:nvPr>
        </p:nvSpPr>
        <p:spPr bwMode="auto">
          <a:xfrm>
            <a:off x="261938" y="2936875"/>
            <a:ext cx="1701807" cy="1949251"/>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089120" y="2936875"/>
            <a:ext cx="7497793" cy="19492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altLang="en-US" sz="1400" dirty="0">
                <a:solidFill>
                  <a:srgbClr val="000000"/>
                </a:solidFill>
              </a:rPr>
              <a:t>This is important from the perspective of implementation of </a:t>
            </a:r>
            <a:r>
              <a:rPr lang="en-IN" altLang="en-US" sz="1400" dirty="0" smtClean="0">
                <a:solidFill>
                  <a:srgbClr val="000000"/>
                </a:solidFill>
              </a:rPr>
              <a:t>IFRS9 </a:t>
            </a:r>
            <a:r>
              <a:rPr lang="en-IN" altLang="en-US" sz="1400" dirty="0">
                <a:solidFill>
                  <a:srgbClr val="000000"/>
                </a:solidFill>
              </a:rPr>
              <a:t>due to the following reasons:</a:t>
            </a:r>
          </a:p>
          <a:p>
            <a:pPr eaLnBrk="1" hangingPunct="1">
              <a:spcBef>
                <a:spcPts val="300"/>
              </a:spcBef>
              <a:buFont typeface="Arial" panose="020B0604020202020204" pitchFamily="34" charset="0"/>
              <a:buChar char="•"/>
            </a:pPr>
            <a:r>
              <a:rPr lang="en-IN" altLang="en-US" sz="1400" dirty="0" smtClean="0">
                <a:solidFill>
                  <a:srgbClr val="000000"/>
                </a:solidFill>
              </a:rPr>
              <a:t>In </a:t>
            </a:r>
            <a:r>
              <a:rPr lang="en-IN" altLang="en-US" sz="1400" dirty="0">
                <a:solidFill>
                  <a:srgbClr val="000000"/>
                </a:solidFill>
              </a:rPr>
              <a:t>general, rating systems at Banks are calibrated to 12-Month risk of default, measured in terms of Probability of Default (PD). Therefore it is easier for the Banks to assess the SICR by comparing 12-month risk of default across the date of initial recognition and the reporting date.</a:t>
            </a:r>
          </a:p>
          <a:p>
            <a:pPr eaLnBrk="1" hangingPunct="1">
              <a:spcBef>
                <a:spcPts val="300"/>
              </a:spcBef>
              <a:buFont typeface="Arial" panose="020B0604020202020204" pitchFamily="34" charset="0"/>
              <a:buChar char="•"/>
            </a:pPr>
            <a:r>
              <a:rPr lang="en-IN" altLang="en-US" sz="1400" dirty="0">
                <a:solidFill>
                  <a:srgbClr val="000000"/>
                </a:solidFill>
              </a:rPr>
              <a:t>Banks normally use a 12-Month PD measure for prudential regulatory requirements and it </a:t>
            </a:r>
            <a:r>
              <a:rPr lang="en-IN" altLang="en-US" sz="1400" dirty="0" smtClean="0">
                <a:solidFill>
                  <a:srgbClr val="000000"/>
                </a:solidFill>
              </a:rPr>
              <a:t>would be easy </a:t>
            </a:r>
            <a:r>
              <a:rPr lang="en-IN" altLang="en-US" sz="1400" dirty="0">
                <a:solidFill>
                  <a:srgbClr val="000000"/>
                </a:solidFill>
              </a:rPr>
              <a:t>to leverage their existing systems and methodologies as a starting point to determine the significant increases in credit risk, thus keeping the efforts of implementation within reasonable bounds</a:t>
            </a:r>
          </a:p>
        </p:txBody>
      </p:sp>
    </p:spTree>
    <p:extLst>
      <p:ext uri="{BB962C8B-B14F-4D97-AF65-F5344CB8AC3E}">
        <p14:creationId xmlns:p14="http://schemas.microsoft.com/office/powerpoint/2010/main" val="53306522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61</a:t>
            </a:fld>
            <a:endParaRPr lang="en-US" altLang="en-US"/>
          </a:p>
        </p:txBody>
      </p:sp>
      <p:graphicFrame>
        <p:nvGraphicFramePr>
          <p:cNvPr id="4" name="Table 3"/>
          <p:cNvGraphicFramePr>
            <a:graphicFrameLocks noGrp="1"/>
          </p:cNvGraphicFramePr>
          <p:nvPr>
            <p:extLst/>
          </p:nvPr>
        </p:nvGraphicFramePr>
        <p:xfrm>
          <a:off x="895350" y="1181100"/>
          <a:ext cx="8115300" cy="125984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Will Bank apply the expedient of 12-Month risk of default as proxy for Lifetime risk of default?</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What will be the criteria for application of this expedient?</a:t>
                      </a:r>
                    </a:p>
                  </a:txBody>
                  <a:tcPr anchor="ctr"/>
                </a:tc>
              </a:tr>
            </a:tbl>
          </a:graphicData>
        </a:graphic>
      </p:graphicFrame>
    </p:spTree>
    <p:extLst>
      <p:ext uri="{BB962C8B-B14F-4D97-AF65-F5344CB8AC3E}">
        <p14:creationId xmlns:p14="http://schemas.microsoft.com/office/powerpoint/2010/main" val="198526034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62</a:t>
            </a:fld>
            <a:endParaRPr lang="en-US" altLang="en-US"/>
          </a:p>
        </p:txBody>
      </p:sp>
      <p:graphicFrame>
        <p:nvGraphicFramePr>
          <p:cNvPr id="5" name="Table 4"/>
          <p:cNvGraphicFramePr>
            <a:graphicFrameLocks noGrp="1"/>
          </p:cNvGraphicFramePr>
          <p:nvPr>
            <p:extLst/>
          </p:nvPr>
        </p:nvGraphicFramePr>
        <p:xfrm>
          <a:off x="287338" y="939800"/>
          <a:ext cx="9331325" cy="330708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B5.5.13</a:t>
                      </a: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IFRS9 says that in case of financial instruments where default patterns are not concentrated at specific points over the life of the asset, the expedient can be used</a:t>
                      </a:r>
                    </a:p>
                    <a:p>
                      <a:pPr marL="285750" indent="-285750">
                        <a:lnSpc>
                          <a:spcPct val="150000"/>
                        </a:lnSpc>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However, specific cases have been mentioned where the expedient might not be suitable:</a:t>
                      </a:r>
                    </a:p>
                    <a:p>
                      <a:pPr marL="800100" lvl="1" indent="-342900">
                        <a:lnSpc>
                          <a:spcPct val="100000"/>
                        </a:lnSpc>
                        <a:buFont typeface="+mj-lt"/>
                        <a:buAutoNum type="alphaLcParen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Where significant payment obligations are beyond 12 months</a:t>
                      </a:r>
                    </a:p>
                    <a:p>
                      <a:pPr marL="800100" lvl="1" indent="-342900">
                        <a:lnSpc>
                          <a:spcPct val="100000"/>
                        </a:lnSpc>
                        <a:buFont typeface="+mj-lt"/>
                        <a:buAutoNum type="alphaLcParen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Changes in macro and other credit related factors are not reflected in 12 month PD</a:t>
                      </a:r>
                    </a:p>
                    <a:p>
                      <a:pPr marL="800100" lvl="1" indent="-342900">
                        <a:lnSpc>
                          <a:spcPct val="100000"/>
                        </a:lnSpc>
                        <a:buFont typeface="+mj-lt"/>
                        <a:buAutoNum type="alphaLcParen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Changes in credit related factors have impact on credit risk only beyond 12 months</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2.4.1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Refers only to the relevant sections</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of the Standard</a:t>
                      </a: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txBody>
                  <a:tcPr anchor="ct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4.6.3.1</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SAMA has allowed the use of 12-month PD as proxy for Lifetime PD if the bank evidences that this is reasonable approximation. However, limitations similar to IFRS9, GPPC and ITG also apply.</a:t>
                      </a:r>
                    </a:p>
                  </a:txBody>
                  <a:tcPr/>
                </a:tc>
              </a:tr>
            </a:tbl>
          </a:graphicData>
        </a:graphic>
      </p:graphicFrame>
    </p:spTree>
    <p:extLst>
      <p:ext uri="{BB962C8B-B14F-4D97-AF65-F5344CB8AC3E}">
        <p14:creationId xmlns:p14="http://schemas.microsoft.com/office/powerpoint/2010/main" val="28055703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63</a:t>
            </a:fld>
            <a:endParaRPr lang="en-US" altLang="en-US"/>
          </a:p>
        </p:txBody>
      </p:sp>
      <p:graphicFrame>
        <p:nvGraphicFramePr>
          <p:cNvPr id="5" name="Table 4"/>
          <p:cNvGraphicFramePr>
            <a:graphicFrameLocks noGrp="1"/>
          </p:cNvGraphicFramePr>
          <p:nvPr>
            <p:extLst/>
          </p:nvPr>
        </p:nvGraphicFramePr>
        <p:xfrm>
          <a:off x="287338" y="977900"/>
          <a:ext cx="9331324" cy="3693160"/>
        </p:xfrm>
        <a:graphic>
          <a:graphicData uri="http://schemas.openxmlformats.org/drawingml/2006/table">
            <a:tbl>
              <a:tblPr firstRow="1" bandRow="1">
                <a:tableStyleId>{5940675A-B579-460E-94D1-54222C63F5DA}</a:tableStyleId>
              </a:tblPr>
              <a:tblGrid>
                <a:gridCol w="1439858"/>
                <a:gridCol w="1282704"/>
                <a:gridCol w="66087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2.7.3.3-2.7.3.4</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Similar to IFRS9 and ITG, as per GPPC, in order to justify the continued use of 12-month PDs, a periodic review should be performed. The nature and frequency of the review would depend on the facts and circumstances. </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One approach would be to identify the key factors that would affect the appropriateness of using changes in 12-month PDs as a proxy, to monitor these factors on an ongoing basis as part of a qualitative review and to consider whether any changes in those factors indicate that changes in 12-month PDs are no longer an appropriate proxy.</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Key factors would include the differing impacts of macroeconomic changes across the remaining lives of the instruments. </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AP2</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Similar to IFRS9 guidelines in principle. No relevant or specific exceptions have been mentioned</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A3</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Refers to IFRS9 B.5.5.14 and it is similar to IFRS9, ITG and GPPC guidelines.</a:t>
                      </a:r>
                    </a:p>
                  </a:txBody>
                  <a:tcPr/>
                </a:tc>
              </a:tr>
            </a:tbl>
          </a:graphicData>
        </a:graphic>
      </p:graphicFrame>
    </p:spTree>
    <p:extLst>
      <p:ext uri="{BB962C8B-B14F-4D97-AF65-F5344CB8AC3E}">
        <p14:creationId xmlns:p14="http://schemas.microsoft.com/office/powerpoint/2010/main" val="11055152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use of 12-Month Default Risk Proxy</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64</a:t>
            </a:fld>
            <a:endParaRPr lang="en-US" altLang="en-US"/>
          </a:p>
        </p:txBody>
      </p:sp>
      <p:graphicFrame>
        <p:nvGraphicFramePr>
          <p:cNvPr id="6" name="Table 5"/>
          <p:cNvGraphicFramePr>
            <a:graphicFrameLocks noGrp="1"/>
          </p:cNvGraphicFramePr>
          <p:nvPr>
            <p:extLst/>
          </p:nvPr>
        </p:nvGraphicFramePr>
        <p:xfrm>
          <a:off x="287338" y="758660"/>
          <a:ext cx="9331325" cy="3444240"/>
        </p:xfrm>
        <a:graphic>
          <a:graphicData uri="http://schemas.openxmlformats.org/drawingml/2006/table">
            <a:tbl>
              <a:tblPr firstRow="1" bandRow="1">
                <a:tableStyleId>{5940675A-B579-460E-94D1-54222C63F5DA}</a:tableStyleId>
              </a:tblPr>
              <a:tblGrid>
                <a:gridCol w="640917"/>
                <a:gridCol w="1052945"/>
                <a:gridCol w="1055914"/>
                <a:gridCol w="6581549"/>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957580">
                <a:tc rowSpan="2">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1 &amp; 2</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rowSpan="2">
                  <a:txBody>
                    <a:bodyPr/>
                    <a:lstStyle/>
                    <a:p>
                      <a:pPr algn="l"/>
                      <a:r>
                        <a:rPr lang="en-IN" sz="1400" kern="1200" dirty="0" smtClean="0">
                          <a:solidFill>
                            <a:schemeClr val="tx1"/>
                          </a:solidFill>
                          <a:latin typeface="Times New Roman" panose="02020603050405020304" pitchFamily="18" charset="0"/>
                          <a:ea typeface="+mn-ea"/>
                          <a:cs typeface="Times New Roman" panose="02020603050405020304" pitchFamily="18" charset="0"/>
                        </a:rPr>
                        <a:t>Will the Bank apply the 12 Month proxy expedient?</a:t>
                      </a:r>
                    </a:p>
                    <a:p>
                      <a:pPr algn="l"/>
                      <a:endParaRPr lang="en-US" sz="1400" kern="1200" dirty="0" smtClean="0">
                        <a:solidFill>
                          <a:schemeClr val="tx1"/>
                        </a:solidFill>
                        <a:latin typeface="Times New Roman" panose="02020603050405020304" pitchFamily="18" charset="0"/>
                        <a:ea typeface="+mn-ea"/>
                        <a:cs typeface="Times New Roman" panose="02020603050405020304" pitchFamily="18" charset="0"/>
                      </a:endParaRPr>
                    </a:p>
                    <a:p>
                      <a:pPr algn="l"/>
                      <a:r>
                        <a:rPr lang="en-IN" sz="1400" kern="1200" dirty="0" smtClean="0">
                          <a:solidFill>
                            <a:schemeClr val="tx1"/>
                          </a:solidFill>
                          <a:latin typeface="Times New Roman" panose="02020603050405020304" pitchFamily="18" charset="0"/>
                          <a:ea typeface="+mn-ea"/>
                          <a:cs typeface="Times New Roman" panose="02020603050405020304" pitchFamily="18" charset="0"/>
                        </a:rPr>
                        <a:t>What will be the criteria for application of this expedient?</a:t>
                      </a:r>
                    </a:p>
                  </a:txBody>
                  <a:tcPr anchor="ctr"/>
                </a:tc>
                <a:tc>
                  <a:txBody>
                    <a:bodyPr/>
                    <a:lstStyle/>
                    <a:p>
                      <a:pPr algn="l"/>
                      <a:r>
                        <a:rPr lang="en-US" sz="1400" kern="1200" dirty="0" smtClean="0">
                          <a:solidFill>
                            <a:schemeClr val="tx1"/>
                          </a:solidFill>
                          <a:latin typeface="Times New Roman" panose="02020603050405020304" pitchFamily="18" charset="0"/>
                          <a:ea typeface="+mn-ea"/>
                          <a:cs typeface="Times New Roman" panose="02020603050405020304" pitchFamily="18" charset="0"/>
                        </a:rPr>
                        <a:t>Non-Retail</a:t>
                      </a:r>
                    </a:p>
                  </a:txBody>
                  <a:tcPr anchor="ctr"/>
                </a:tc>
                <a:tc>
                  <a:txBody>
                    <a:bodyPr/>
                    <a:lstStyle/>
                    <a:p>
                      <a:pPr marL="285750" indent="-285750">
                        <a:lnSpc>
                          <a:spcPct val="100000"/>
                        </a:lnSpc>
                        <a:buFont typeface="Arial" panose="020B0604020202020204" pitchFamily="34" charset="0"/>
                        <a:buChar char="•"/>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For the non-retail portfolio, QNB will be using Equation Internal Credit Risk Ratings as one of the primary metrics for SICR.  However,</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 as the Equation ratings are based primarily on expert judgement, with minimal objective evidence of assessment criteria, it is difficult to claim that they are truly indicative of </a:t>
                      </a:r>
                      <a:r>
                        <a:rPr lang="en-IN" sz="1400" b="0" kern="1200" dirty="0" smtClean="0">
                          <a:solidFill>
                            <a:schemeClr val="tx1"/>
                          </a:solidFill>
                          <a:latin typeface="Times New Roman" panose="02020603050405020304" pitchFamily="18" charset="0"/>
                          <a:ea typeface="+mn-ea"/>
                          <a:cs typeface="Times New Roman" panose="02020603050405020304" pitchFamily="18" charset="0"/>
                        </a:rPr>
                        <a:t>risk of default over the lifetime of the instrument</a:t>
                      </a: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a:t>
                      </a: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lnSpc>
                          <a:spcPct val="100000"/>
                        </a:lnSpc>
                        <a:buFont typeface="Arial" panose="020B0604020202020204" pitchFamily="34" charset="0"/>
                        <a:buChar char="•"/>
                      </a:pPr>
                      <a:endParaRPr lang="en-IN" sz="1400" b="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285750" indent="-285750">
                        <a:lnSpc>
                          <a:spcPct val="100000"/>
                        </a:lnSpc>
                        <a:buFont typeface="Arial" panose="020B0604020202020204" pitchFamily="34" charset="0"/>
                        <a:buChar char="•"/>
                      </a:pPr>
                      <a:r>
                        <a:rPr lang="en-IN" sz="1400" b="0" kern="1200" baseline="0" dirty="0" smtClean="0">
                          <a:solidFill>
                            <a:schemeClr val="tx1"/>
                          </a:solidFill>
                          <a:latin typeface="Times New Roman" panose="02020603050405020304" pitchFamily="18" charset="0"/>
                          <a:ea typeface="+mn-ea"/>
                          <a:cs typeface="Times New Roman" panose="02020603050405020304" pitchFamily="18" charset="0"/>
                        </a:rPr>
                        <a:t>Consequently, the Bank will be claiming application of the expedient.</a:t>
                      </a:r>
                    </a:p>
                  </a:txBody>
                  <a:tcPr/>
                </a:tc>
              </a:tr>
              <a:tr h="639280">
                <a:tc vMerge="1">
                  <a:txBody>
                    <a:bodyPr/>
                    <a:lstStyle/>
                    <a:p>
                      <a:endParaRPr lang="en-US" sz="13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vMerge="1">
                  <a:txBody>
                    <a:bodyPr/>
                    <a:lstStyle/>
                    <a:p>
                      <a:endParaRPr lang="en-IN" sz="13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smtClean="0">
                          <a:solidFill>
                            <a:schemeClr val="tx1"/>
                          </a:solidFill>
                          <a:latin typeface="Times New Roman" panose="02020603050405020304" pitchFamily="18" charset="0"/>
                          <a:ea typeface="+mn-ea"/>
                          <a:cs typeface="Times New Roman" panose="02020603050405020304" pitchFamily="18" charset="0"/>
                        </a:rPr>
                        <a:t>Retail</a:t>
                      </a:r>
                      <a:endParaRPr lang="en-US" sz="1400" kern="1200" dirty="0" smtClean="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400" kern="1200" dirty="0" smtClean="0">
                        <a:solidFill>
                          <a:schemeClr val="tx1"/>
                        </a:solidFill>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For Retail Loans, the Bank will be using</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only the days past due as the proxy </a:t>
                      </a:r>
                      <a:r>
                        <a:rPr lang="en-IN" sz="1400" kern="1200" dirty="0" smtClean="0">
                          <a:solidFill>
                            <a:schemeClr val="tx1"/>
                          </a:solidFill>
                          <a:latin typeface="Times New Roman" panose="02020603050405020304" pitchFamily="18" charset="0"/>
                          <a:ea typeface="+mn-ea"/>
                          <a:cs typeface="Times New Roman" panose="02020603050405020304" pitchFamily="18" charset="0"/>
                        </a:rPr>
                        <a:t>measure of lifetime risk both at origination and at reporting date.</a:t>
                      </a: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19262059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091543"/>
            <a:ext cx="6169025" cy="1874157"/>
          </a:xfrm>
        </p:spPr>
        <p:txBody>
          <a:bodyPr/>
          <a:lstStyle/>
          <a:p>
            <a:pPr eaLnBrk="1" hangingPunct="1"/>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Rectangle 2"/>
          <p:cNvSpPr/>
          <p:nvPr/>
        </p:nvSpPr>
        <p:spPr>
          <a:xfrm>
            <a:off x="3446463" y="2723193"/>
            <a:ext cx="6644593" cy="1569660"/>
          </a:xfrm>
          <a:prstGeom prst="rect">
            <a:avLst/>
          </a:prstGeom>
        </p:spPr>
        <p:txBody>
          <a:bodyPr wrap="square">
            <a:spAutoFit/>
          </a:bodyPr>
          <a:lstStyle/>
          <a:p>
            <a:r>
              <a:rPr lang="en-US" altLang="en-US" sz="2800" dirty="0">
                <a:solidFill>
                  <a:srgbClr val="FFFFFF"/>
                </a:solidFill>
                <a:ea typeface="+mj-ea"/>
              </a:rPr>
              <a:t>Qatar National Bank</a:t>
            </a:r>
            <a:br>
              <a:rPr lang="en-US" altLang="en-US" sz="2800" dirty="0">
                <a:solidFill>
                  <a:srgbClr val="FFFFFF"/>
                </a:solidFill>
                <a:ea typeface="+mj-ea"/>
              </a:rPr>
            </a:br>
            <a:r>
              <a:rPr lang="fr-FR" altLang="en-US" sz="2200" dirty="0" err="1">
                <a:solidFill>
                  <a:srgbClr val="FFFFFF"/>
                </a:solidFill>
                <a:ea typeface="+mj-ea"/>
              </a:rPr>
              <a:t>Technical</a:t>
            </a:r>
            <a:r>
              <a:rPr lang="fr-FR" altLang="en-US" sz="2200" dirty="0">
                <a:solidFill>
                  <a:srgbClr val="FFFFFF"/>
                </a:solidFill>
                <a:ea typeface="+mj-ea"/>
              </a:rPr>
              <a:t> </a:t>
            </a:r>
            <a:r>
              <a:rPr lang="fr-FR" altLang="en-US" sz="2200" dirty="0" err="1">
                <a:solidFill>
                  <a:srgbClr val="FFFFFF"/>
                </a:solidFill>
                <a:ea typeface="+mj-ea"/>
              </a:rPr>
              <a:t>Interpretation</a:t>
            </a:r>
            <a:r>
              <a:rPr lang="fr-FR" altLang="en-US" sz="2200" dirty="0">
                <a:solidFill>
                  <a:srgbClr val="FFFFFF"/>
                </a:solidFill>
                <a:ea typeface="+mj-ea"/>
              </a:rPr>
              <a:t> </a:t>
            </a:r>
            <a:r>
              <a:rPr lang="fr-FR" altLang="en-US" sz="2200" dirty="0" smtClean="0">
                <a:solidFill>
                  <a:srgbClr val="FFFFFF"/>
                </a:solidFill>
                <a:ea typeface="+mj-ea"/>
              </a:rPr>
              <a:t>Note</a:t>
            </a:r>
          </a:p>
          <a:p>
            <a:endParaRPr lang="fr-FR" sz="2200" dirty="0">
              <a:solidFill>
                <a:srgbClr val="FFFFFF"/>
              </a:solidFill>
              <a:ea typeface="+mj-ea"/>
            </a:endParaRPr>
          </a:p>
          <a:p>
            <a:r>
              <a:rPr lang="en-US" sz="2400" dirty="0" smtClean="0">
                <a:solidFill>
                  <a:srgbClr val="FFFFFF"/>
                </a:solidFill>
                <a:ea typeface="+mj-ea"/>
              </a:rPr>
              <a:t>SICR </a:t>
            </a:r>
            <a:r>
              <a:rPr lang="en-US" sz="2400" dirty="0">
                <a:solidFill>
                  <a:srgbClr val="FFFFFF"/>
                </a:solidFill>
                <a:ea typeface="+mj-ea"/>
              </a:rPr>
              <a:t>at </a:t>
            </a:r>
            <a:r>
              <a:rPr lang="en-US" sz="2400" dirty="0" smtClean="0">
                <a:solidFill>
                  <a:srgbClr val="FFFFFF"/>
                </a:solidFill>
                <a:ea typeface="+mj-ea"/>
              </a:rPr>
              <a:t>Transition to IFRS 9</a:t>
            </a:r>
            <a:endParaRPr lang="en-US" dirty="0"/>
          </a:p>
        </p:txBody>
      </p:sp>
      <p:sp>
        <p:nvSpPr>
          <p:cNvPr id="4" name="TextBox 3"/>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9</a:t>
            </a:r>
            <a:endParaRPr lang="en-IN" sz="2400" b="1" dirty="0">
              <a:solidFill>
                <a:schemeClr val="bg1"/>
              </a:solidFill>
            </a:endParaRPr>
          </a:p>
        </p:txBody>
      </p:sp>
    </p:spTree>
    <p:extLst>
      <p:ext uri="{BB962C8B-B14F-4D97-AF65-F5344CB8AC3E}">
        <p14:creationId xmlns:p14="http://schemas.microsoft.com/office/powerpoint/2010/main" val="44816922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5895"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66</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338828"/>
            <a:chOff x="274638" y="1133475"/>
            <a:chExt cx="9324936" cy="1315088"/>
          </a:xfrm>
        </p:grpSpPr>
        <p:sp>
          <p:nvSpPr>
            <p:cNvPr id="18442" name="Rectangle 6"/>
            <p:cNvSpPr>
              <a:spLocks noChangeArrowheads="1"/>
            </p:cNvSpPr>
            <p:nvPr>
              <p:custDataLst>
                <p:tags r:id="rId5"/>
              </p:custDataLst>
            </p:nvPr>
          </p:nvSpPr>
          <p:spPr bwMode="auto">
            <a:xfrm>
              <a:off x="274638" y="1133475"/>
              <a:ext cx="1701800" cy="1315088"/>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3150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Under IFRS 9 assessment of Significant Increase of Credit Risk (SICR) requires comparison of default risk at the reporting date with the risk at origination or initial recognition of the asset</a:t>
              </a:r>
              <a:r>
                <a:rPr lang="en-US" altLang="en-US" sz="1400" dirty="0" smtClean="0">
                  <a:solidFill>
                    <a:srgbClr val="000000"/>
                  </a:solidFill>
                </a:rPr>
                <a:t>.</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a:solidFill>
                    <a:srgbClr val="000000"/>
                  </a:solidFill>
                </a:rPr>
                <a:t>It also takes cognizance of the fact that for historical portfolio at the time of origination measuring the default risk at initial recognition might not be easy. </a:t>
              </a:r>
            </a:p>
            <a:p>
              <a:pPr eaLnBrk="1" hangingPunct="1">
                <a:lnSpc>
                  <a:spcPts val="1400"/>
                </a:lnSpc>
                <a:spcBef>
                  <a:spcPts val="300"/>
                </a:spcBef>
                <a:buFont typeface="Arial" panose="020B0604020202020204" pitchFamily="34" charset="0"/>
                <a:buChar char="•"/>
              </a:pPr>
              <a:r>
                <a:rPr lang="en-US" altLang="en-US" sz="1400" dirty="0">
                  <a:solidFill>
                    <a:srgbClr val="000000"/>
                  </a:solidFill>
                </a:rPr>
                <a:t>Therefore it says that if the Bank cannot measure default risk at initial recognition for SICR purposes without undue cost or effort then </a:t>
              </a:r>
              <a:r>
                <a:rPr lang="en-US" altLang="en-US" sz="1400" b="1" dirty="0">
                  <a:solidFill>
                    <a:srgbClr val="000000"/>
                  </a:solidFill>
                </a:rPr>
                <a:t>it should recognize lifetime ECL on that instrument</a:t>
              </a:r>
            </a:p>
          </p:txBody>
        </p:sp>
      </p:grpSp>
      <p:sp>
        <p:nvSpPr>
          <p:cNvPr id="14" name="Rectangle 6"/>
          <p:cNvSpPr>
            <a:spLocks noChangeArrowheads="1"/>
          </p:cNvSpPr>
          <p:nvPr>
            <p:custDataLst>
              <p:tags r:id="rId3"/>
            </p:custDataLst>
          </p:nvPr>
        </p:nvSpPr>
        <p:spPr bwMode="auto">
          <a:xfrm>
            <a:off x="261938" y="2579461"/>
            <a:ext cx="1714507" cy="1518364"/>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2579461"/>
            <a:ext cx="7497793" cy="151836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altLang="en-US" sz="1400" dirty="0">
                <a:solidFill>
                  <a:srgbClr val="000000"/>
                </a:solidFill>
              </a:rPr>
              <a:t>This is an important option from the perspective of implementation of IFRS 9 due to the following reasons</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Notwithstanding the fact that there are issues in measuring default risk at initial recognition for accounts that were originated long time back, banks would not want to recognize lifetime ECL on a blanket basis for such </a:t>
            </a:r>
            <a:r>
              <a:rPr lang="en-US" altLang="en-US" sz="1400" dirty="0" smtClean="0">
                <a:solidFill>
                  <a:srgbClr val="000000"/>
                </a:solidFill>
              </a:rPr>
              <a:t>accounts</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It will have to weigh the relative cost of measuring default risk at initial recognition with the impact of recognizing lifetime ECL and come to a decision on the approach to be followed</a:t>
            </a:r>
          </a:p>
        </p:txBody>
      </p:sp>
    </p:spTree>
    <p:extLst>
      <p:ext uri="{BB962C8B-B14F-4D97-AF65-F5344CB8AC3E}">
        <p14:creationId xmlns:p14="http://schemas.microsoft.com/office/powerpoint/2010/main" val="37459597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67</a:t>
            </a:fld>
            <a:endParaRPr lang="en-US" altLang="en-US"/>
          </a:p>
        </p:txBody>
      </p:sp>
      <p:graphicFrame>
        <p:nvGraphicFramePr>
          <p:cNvPr id="4" name="Table 3"/>
          <p:cNvGraphicFramePr>
            <a:graphicFrameLocks noGrp="1"/>
          </p:cNvGraphicFramePr>
          <p:nvPr>
            <p:extLst/>
          </p:nvPr>
        </p:nvGraphicFramePr>
        <p:xfrm>
          <a:off x="895350" y="1181100"/>
          <a:ext cx="8115300" cy="88900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How will QNB treat cases where there is no rating at origination available for assessing SICR?</a:t>
                      </a:r>
                    </a:p>
                  </a:txBody>
                  <a:tcPr anchor="ctr"/>
                </a:tc>
              </a:tr>
            </a:tbl>
          </a:graphicData>
        </a:graphic>
      </p:graphicFrame>
    </p:spTree>
    <p:extLst>
      <p:ext uri="{BB962C8B-B14F-4D97-AF65-F5344CB8AC3E}">
        <p14:creationId xmlns:p14="http://schemas.microsoft.com/office/powerpoint/2010/main" val="347788387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68</a:t>
            </a:fld>
            <a:endParaRPr lang="en-US" altLang="en-US"/>
          </a:p>
        </p:txBody>
      </p:sp>
      <p:graphicFrame>
        <p:nvGraphicFramePr>
          <p:cNvPr id="5" name="Table 4"/>
          <p:cNvGraphicFramePr>
            <a:graphicFrameLocks noGrp="1"/>
          </p:cNvGraphicFramePr>
          <p:nvPr>
            <p:extLst/>
          </p:nvPr>
        </p:nvGraphicFramePr>
        <p:xfrm>
          <a:off x="287338" y="939800"/>
          <a:ext cx="9331325" cy="301752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7.2.17 to 7.2.20</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essentially says that entities should make all reasonable effort to assess risk at origination and compare it with the risk at reporting date. However, some banks might argue that it might be cheaper for them to recognize lifetime ECL than to measure the risk at origination using reasonable and supportable information. In such cases IFRS 9 agrees with the lifetime ECL being recognized.</a:t>
                      </a:r>
                    </a:p>
                  </a:txBody>
                  <a:tcPr/>
                </a:tc>
              </a:tr>
              <a:tr h="370840">
                <a:tc>
                  <a:txBody>
                    <a:bodyPr/>
                    <a:lstStyle/>
                    <a:p>
                      <a:r>
                        <a:rPr lang="en-US" sz="1400" kern="1200" dirty="0" smtClean="0">
                          <a:solidFill>
                            <a:schemeClr val="accent6"/>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accent6"/>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accent6"/>
                          </a:solidFill>
                          <a:latin typeface="Times New Roman" panose="02020603050405020304" pitchFamily="18" charset="0"/>
                          <a:ea typeface="+mn-ea"/>
                          <a:cs typeface="Times New Roman" panose="02020603050405020304" pitchFamily="18" charset="0"/>
                        </a:rPr>
                        <a:t>3.3</a:t>
                      </a:r>
                    </a:p>
                    <a:p>
                      <a:r>
                        <a:rPr lang="en-US" sz="1000" kern="1200" dirty="0" smtClean="0">
                          <a:solidFill>
                            <a:schemeClr val="accent6"/>
                          </a:solidFill>
                          <a:latin typeface="Times New Roman" panose="02020603050405020304" pitchFamily="18" charset="0"/>
                          <a:ea typeface="+mn-ea"/>
                          <a:cs typeface="Times New Roman" panose="02020603050405020304" pitchFamily="18" charset="0"/>
                        </a:rPr>
                        <a:t>Classification</a:t>
                      </a:r>
                      <a:r>
                        <a:rPr lang="en-US" sz="1000" kern="1200" baseline="0" dirty="0" smtClean="0">
                          <a:solidFill>
                            <a:schemeClr val="accent6"/>
                          </a:solidFill>
                          <a:latin typeface="Times New Roman" panose="02020603050405020304" pitchFamily="18" charset="0"/>
                          <a:ea typeface="+mn-ea"/>
                          <a:cs typeface="Times New Roman" panose="02020603050405020304" pitchFamily="18" charset="0"/>
                        </a:rPr>
                        <a:t> of Credit Assets</a:t>
                      </a:r>
                      <a:endParaRPr lang="en-US" sz="1000" kern="1200" dirty="0">
                        <a:solidFill>
                          <a:schemeClr val="accent6"/>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chemeClr val="accent6"/>
                          </a:solidFill>
                          <a:latin typeface="Times New Roman" panose="02020603050405020304" pitchFamily="18" charset="0"/>
                          <a:ea typeface="+mn-ea"/>
                          <a:cs typeface="Times New Roman" panose="02020603050405020304" pitchFamily="18" charset="0"/>
                        </a:rPr>
                        <a:t>Within</a:t>
                      </a:r>
                      <a:r>
                        <a:rPr lang="en-US" sz="1400" kern="1200" baseline="0" dirty="0" smtClean="0">
                          <a:solidFill>
                            <a:schemeClr val="accent6"/>
                          </a:solidFill>
                          <a:latin typeface="Times New Roman" panose="02020603050405020304" pitchFamily="18" charset="0"/>
                          <a:ea typeface="+mn-ea"/>
                          <a:cs typeface="Times New Roman" panose="02020603050405020304" pitchFamily="18" charset="0"/>
                        </a:rPr>
                        <a:t> its transition rules, the QCB echoes the Standard, in that it requires banks to classify all performing assets between Stage 1 and Stage 2 depending on the change in the credit rating from when the credit was extended to the date that IFRS9 is applied.</a:t>
                      </a:r>
                      <a:endParaRPr lang="en-US" sz="1400" kern="1200" dirty="0" smtClean="0">
                        <a:solidFill>
                          <a:schemeClr val="accent6"/>
                        </a:solidFill>
                        <a:latin typeface="Times New Roman" panose="02020603050405020304" pitchFamily="18" charset="0"/>
                        <a:ea typeface="+mn-ea"/>
                        <a:cs typeface="Times New Roman" panose="02020603050405020304" pitchFamily="18" charset="0"/>
                      </a:endParaRP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4.6.1</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Exactly the same as per GPPC guidelines</a:t>
                      </a:r>
                    </a:p>
                  </a:txBody>
                  <a:tcPr anchor="ctr"/>
                </a:tc>
              </a:tr>
            </a:tbl>
          </a:graphicData>
        </a:graphic>
      </p:graphicFrame>
    </p:spTree>
    <p:extLst>
      <p:ext uri="{BB962C8B-B14F-4D97-AF65-F5344CB8AC3E}">
        <p14:creationId xmlns:p14="http://schemas.microsoft.com/office/powerpoint/2010/main" val="900194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69</a:t>
            </a:fld>
            <a:endParaRPr lang="en-US" altLang="en-US"/>
          </a:p>
        </p:txBody>
      </p:sp>
      <p:graphicFrame>
        <p:nvGraphicFramePr>
          <p:cNvPr id="5" name="Table 4"/>
          <p:cNvGraphicFramePr>
            <a:graphicFrameLocks noGrp="1"/>
          </p:cNvGraphicFramePr>
          <p:nvPr>
            <p:extLst/>
          </p:nvPr>
        </p:nvGraphicFramePr>
        <p:xfrm>
          <a:off x="287338" y="977900"/>
          <a:ext cx="9331324" cy="305308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1.4.4 to 1.4.7</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GPPC has provided a full sub-section titled “Simplifications used in deriving or modeling historical data”. It says that bank should “seek to approximate” the credit risk on initial recognition by considering all reasonable and supportable information</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 bank with little historical information may use data from internal reports and statistics, data about similar products or peer group experience for comparable instruments.</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It also says that if the bank cannot determine the individual PDs on origination at an account level, it can compare with some maximum acceptable levels</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NA</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Nothing specific on this regard</a:t>
                      </a:r>
                    </a:p>
                  </a:txBody>
                  <a:tcPr anchor="ct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NA</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Nothing specific on this regard</a:t>
                      </a:r>
                    </a:p>
                  </a:txBody>
                  <a:tcPr anchor="ctr"/>
                </a:tc>
              </a:tr>
            </a:tbl>
          </a:graphicData>
        </a:graphic>
      </p:graphicFrame>
    </p:spTree>
    <p:extLst>
      <p:ext uri="{BB962C8B-B14F-4D97-AF65-F5344CB8AC3E}">
        <p14:creationId xmlns:p14="http://schemas.microsoft.com/office/powerpoint/2010/main" val="103293551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SICR at transition</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70</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2460309619"/>
              </p:ext>
            </p:extLst>
          </p:nvPr>
        </p:nvGraphicFramePr>
        <p:xfrm>
          <a:off x="287338" y="850900"/>
          <a:ext cx="9399679" cy="3444240"/>
        </p:xfrm>
        <a:graphic>
          <a:graphicData uri="http://schemas.openxmlformats.org/drawingml/2006/table">
            <a:tbl>
              <a:tblPr firstRow="1" bandRow="1">
                <a:tableStyleId>{5940675A-B579-460E-94D1-54222C63F5DA}</a:tableStyleId>
              </a:tblPr>
              <a:tblGrid>
                <a:gridCol w="532130"/>
                <a:gridCol w="1023257"/>
                <a:gridCol w="805543"/>
                <a:gridCol w="7038749"/>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519680">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1</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What will be QNB’s approach to handle SICR at transition for accounts where assessment of default risk at origination is not available?</a:t>
                      </a:r>
                    </a:p>
                  </a:txBody>
                  <a:tcPr anchor="ctr"/>
                </a:tc>
                <a:tc>
                  <a:txBody>
                    <a:bodyPr/>
                    <a:lstStyle/>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Non-Retail</a:t>
                      </a: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lvl="1" indent="0">
                        <a:lnSpc>
                          <a:spcPct val="100000"/>
                        </a:lnSpc>
                        <a:buFont typeface="+mj-lt"/>
                        <a:buNone/>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Retail</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For Non-Retail accounts, the deterioration in the internal ‘Equation’ risk rating will be one of the main drivers of SICR</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and for which there are adequate system records dating back to 2013.  Although there may be accounts that were originated prior to 2013, since the oil price crisis occurred after this date, the Bank is comfortable that using the 2013 rating will be an effective conservative proxy for origination date.</a:t>
                      </a:r>
                    </a:p>
                    <a:p>
                      <a:pPr marL="119063" indent="-119063">
                        <a:lnSpc>
                          <a:spcPct val="100000"/>
                        </a:lnSpc>
                        <a:buFont typeface="Arial" panose="020B0604020202020204" pitchFamily="34" charset="0"/>
                        <a:buChar char="•"/>
                      </a:pPr>
                      <a:endParaRPr lang="en-US" sz="1400" b="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buFont typeface="Arial" panose="020B0604020202020204" pitchFamily="34" charset="0"/>
                        <a:buChar char="•"/>
                      </a:pP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A review of accounts has established only QAR3.5bn that have origination dates prior to 2013, thus this proxy is deemed a materially acceptable effective expedient for the Bank.</a:t>
                      </a:r>
                    </a:p>
                    <a:p>
                      <a:pPr marL="457200" lvl="1" indent="0">
                        <a:lnSpc>
                          <a:spcPct val="100000"/>
                        </a:lnSpc>
                        <a:buFont typeface="+mj-lt"/>
                        <a:buNone/>
                      </a:pPr>
                      <a:endParaRPr lang="en-US" sz="1400" b="0" kern="1200" baseline="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For</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unrated accounts, the ratings will be deemed to be 5- and the stage will be 2. </a:t>
                      </a:r>
                      <a:endParaRPr lang="en-US"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buFont typeface="Arial" panose="020B0604020202020204" pitchFamily="34" charset="0"/>
                        <a:buChar char="•"/>
                      </a:pPr>
                      <a:endParaRPr lang="en-US"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For</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retail accounts, this problem does not exist because the sole driver for SICR will be days past due as at the reporting date.</a:t>
                      </a:r>
                    </a:p>
                  </a:txBody>
                  <a:tcPr/>
                </a:tc>
              </a:tr>
            </a:tbl>
          </a:graphicData>
        </a:graphic>
      </p:graphicFrame>
    </p:spTree>
    <p:extLst>
      <p:ext uri="{BB962C8B-B14F-4D97-AF65-F5344CB8AC3E}">
        <p14:creationId xmlns:p14="http://schemas.microsoft.com/office/powerpoint/2010/main" val="273288197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71</a:t>
            </a:fld>
            <a:endParaRPr lang="en-US" altLang="en-US"/>
          </a:p>
        </p:txBody>
      </p:sp>
      <p:sp>
        <p:nvSpPr>
          <p:cNvPr id="5" name="TextBox 4"/>
          <p:cNvSpPr txBox="1"/>
          <p:nvPr/>
        </p:nvSpPr>
        <p:spPr>
          <a:xfrm>
            <a:off x="2194560" y="354390"/>
            <a:ext cx="3765755" cy="338554"/>
          </a:xfrm>
          <a:prstGeom prst="rect">
            <a:avLst/>
          </a:prstGeom>
          <a:noFill/>
        </p:spPr>
        <p:txBody>
          <a:bodyPr wrap="square" rtlCol="0">
            <a:spAutoFit/>
          </a:bodyPr>
          <a:lstStyle/>
          <a:p>
            <a:r>
              <a:rPr lang="en-US" sz="1600" b="1" dirty="0" smtClean="0">
                <a:solidFill>
                  <a:schemeClr val="accent1">
                    <a:lumMod val="50000"/>
                  </a:schemeClr>
                </a:solidFill>
              </a:rPr>
              <a:t>Top 100 Counterparties by EAD </a:t>
            </a:r>
            <a:r>
              <a:rPr lang="en-US" sz="1600" b="1" dirty="0" err="1" smtClean="0">
                <a:solidFill>
                  <a:schemeClr val="accent1">
                    <a:lumMod val="50000"/>
                  </a:schemeClr>
                </a:solidFill>
              </a:rPr>
              <a:t>QARm</a:t>
            </a:r>
            <a:endParaRPr lang="en-GB" sz="1600" b="1" dirty="0">
              <a:solidFill>
                <a:schemeClr val="accent1">
                  <a:lumMod val="50000"/>
                </a:schemeClr>
              </a:solidFill>
            </a:endParaRPr>
          </a:p>
        </p:txBody>
      </p:sp>
      <p:sp>
        <p:nvSpPr>
          <p:cNvPr id="7" name="TextBox 6"/>
          <p:cNvSpPr txBox="1"/>
          <p:nvPr/>
        </p:nvSpPr>
        <p:spPr>
          <a:xfrm>
            <a:off x="6126659" y="915998"/>
            <a:ext cx="3529780" cy="2308324"/>
          </a:xfrm>
          <a:prstGeom prst="rect">
            <a:avLst/>
          </a:prstGeom>
          <a:noFill/>
        </p:spPr>
        <p:txBody>
          <a:bodyPr wrap="square" rtlCol="0">
            <a:spAutoFit/>
          </a:bodyPr>
          <a:lstStyle/>
          <a:p>
            <a:pPr marL="171450" indent="-171450">
              <a:buFont typeface="Arial" pitchFamily="34" charset="0"/>
              <a:buChar char="•"/>
            </a:pPr>
            <a:r>
              <a:rPr lang="en-US" dirty="0" smtClean="0"/>
              <a:t>Top 100 customers accounted for QR286bn i.e. 81% of ECL eligible exposures in the Doha book.</a:t>
            </a:r>
          </a:p>
          <a:p>
            <a:pPr marL="171450" indent="-171450">
              <a:buFont typeface="Arial" pitchFamily="34" charset="0"/>
              <a:buChar char="•"/>
            </a:pPr>
            <a:endParaRPr lang="en-US" dirty="0" smtClean="0"/>
          </a:p>
          <a:p>
            <a:pPr marL="171450" indent="-171450">
              <a:buFont typeface="Arial" pitchFamily="34" charset="0"/>
              <a:buChar char="•"/>
            </a:pPr>
            <a:r>
              <a:rPr lang="en-US" dirty="0" smtClean="0"/>
              <a:t>Qatar-based customers accounted for 77% of EAD followed by 4.5% in UAE.</a:t>
            </a:r>
          </a:p>
          <a:p>
            <a:pPr marL="171450" indent="-171450">
              <a:buFont typeface="Arial" pitchFamily="34" charset="0"/>
              <a:buChar char="•"/>
            </a:pPr>
            <a:endParaRPr lang="en-US" dirty="0" smtClean="0"/>
          </a:p>
          <a:p>
            <a:pPr marL="171450" indent="-171450">
              <a:buFont typeface="Arial" pitchFamily="34" charset="0"/>
              <a:buChar char="•"/>
            </a:pPr>
            <a:r>
              <a:rPr lang="en-US" dirty="0" smtClean="0"/>
              <a:t>Against these EAD is collateral value of QR316bn and average collateral coverage of 131%</a:t>
            </a:r>
          </a:p>
          <a:p>
            <a:pPr marL="171450" indent="-171450">
              <a:buFont typeface="Arial" pitchFamily="34" charset="0"/>
              <a:buChar char="•"/>
            </a:pPr>
            <a:endParaRPr lang="en-US" dirty="0" smtClean="0"/>
          </a:p>
          <a:p>
            <a:pPr marL="171450" indent="-171450">
              <a:buFont typeface="Arial" pitchFamily="34" charset="0"/>
              <a:buChar char="•"/>
            </a:pPr>
            <a:r>
              <a:rPr lang="en-US" b="1" dirty="0" smtClean="0">
                <a:solidFill>
                  <a:srgbClr val="116FC4"/>
                </a:solidFill>
              </a:rPr>
              <a:t>Only QR3.5bn of exposures currently have an origination date prior to 2013.</a:t>
            </a:r>
          </a:p>
          <a:p>
            <a:pPr marL="171450" indent="-171450">
              <a:buFont typeface="Arial" pitchFamily="34" charset="0"/>
              <a:buChar char="•"/>
            </a:pP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686188986"/>
              </p:ext>
            </p:extLst>
          </p:nvPr>
        </p:nvGraphicFramePr>
        <p:xfrm>
          <a:off x="1289350" y="727179"/>
          <a:ext cx="2097152" cy="5805384"/>
        </p:xfrm>
        <a:graphic>
          <a:graphicData uri="http://schemas.openxmlformats.org/drawingml/2006/table">
            <a:tbl>
              <a:tblPr/>
              <a:tblGrid>
                <a:gridCol w="529250"/>
                <a:gridCol w="661562"/>
                <a:gridCol w="588790"/>
                <a:gridCol w="317550"/>
              </a:tblGrid>
              <a:tr h="99234">
                <a:tc>
                  <a:txBody>
                    <a:bodyPr/>
                    <a:lstStyle/>
                    <a:p>
                      <a:pPr algn="ctr" fontAlgn="b"/>
                      <a:r>
                        <a:rPr lang="en-US" sz="700" b="0" i="0" u="none" strike="noStrike" dirty="0">
                          <a:solidFill>
                            <a:srgbClr val="FFFFFF"/>
                          </a:solidFill>
                          <a:effectLst/>
                          <a:latin typeface="Calibri"/>
                        </a:rPr>
                        <a:t>Customer</a:t>
                      </a:r>
                    </a:p>
                  </a:txBody>
                  <a:tcPr marL="4962" marR="4962" marT="4962" marB="0" anchor="b">
                    <a:lnL>
                      <a:noFill/>
                    </a:lnL>
                    <a:lnR>
                      <a:noFill/>
                    </a:lnR>
                    <a:lnT>
                      <a:noFill/>
                    </a:lnT>
                    <a:lnB>
                      <a:noFill/>
                    </a:lnB>
                    <a:solidFill>
                      <a:srgbClr val="244062"/>
                    </a:solidFill>
                  </a:tcPr>
                </a:tc>
                <a:tc>
                  <a:txBody>
                    <a:bodyPr/>
                    <a:lstStyle/>
                    <a:p>
                      <a:pPr algn="ctr" fontAlgn="b"/>
                      <a:r>
                        <a:rPr lang="en-US" sz="700" b="0" i="0" u="none" strike="noStrike" dirty="0">
                          <a:solidFill>
                            <a:srgbClr val="FFFFFF"/>
                          </a:solidFill>
                          <a:effectLst/>
                          <a:latin typeface="Calibri"/>
                        </a:rPr>
                        <a:t> EAD </a:t>
                      </a:r>
                    </a:p>
                  </a:txBody>
                  <a:tcPr marL="4962" marR="4962" marT="4962" marB="0" anchor="b">
                    <a:lnL>
                      <a:noFill/>
                    </a:lnL>
                    <a:lnR>
                      <a:noFill/>
                    </a:lnR>
                    <a:lnT>
                      <a:noFill/>
                    </a:lnT>
                    <a:lnB>
                      <a:noFill/>
                    </a:lnB>
                    <a:solidFill>
                      <a:srgbClr val="244062"/>
                    </a:solidFill>
                  </a:tcPr>
                </a:tc>
                <a:tc>
                  <a:txBody>
                    <a:bodyPr/>
                    <a:lstStyle/>
                    <a:p>
                      <a:pPr algn="ctr" fontAlgn="b"/>
                      <a:r>
                        <a:rPr lang="en-US" sz="700" b="0" i="0" u="none" strike="noStrike" dirty="0">
                          <a:solidFill>
                            <a:srgbClr val="FFFFFF"/>
                          </a:solidFill>
                          <a:effectLst/>
                          <a:latin typeface="Calibri"/>
                        </a:rPr>
                        <a:t> ECL </a:t>
                      </a:r>
                    </a:p>
                  </a:txBody>
                  <a:tcPr marL="4962" marR="4962" marT="4962" marB="0" anchor="b">
                    <a:lnL>
                      <a:noFill/>
                    </a:lnL>
                    <a:lnR>
                      <a:noFill/>
                    </a:lnR>
                    <a:lnT>
                      <a:noFill/>
                    </a:lnT>
                    <a:lnB>
                      <a:noFill/>
                    </a:lnB>
                    <a:solidFill>
                      <a:srgbClr val="244062"/>
                    </a:solidFill>
                  </a:tcPr>
                </a:tc>
                <a:tc>
                  <a:txBody>
                    <a:bodyPr/>
                    <a:lstStyle/>
                    <a:p>
                      <a:pPr algn="ctr" fontAlgn="b"/>
                      <a:r>
                        <a:rPr lang="en-US" sz="700" b="0" i="0" u="none" strike="noStrike" dirty="0" smtClean="0">
                          <a:solidFill>
                            <a:srgbClr val="FFFFFF"/>
                          </a:solidFill>
                          <a:effectLst/>
                          <a:latin typeface="Calibri"/>
                        </a:rPr>
                        <a:t>Country </a:t>
                      </a:r>
                      <a:endParaRPr lang="en-US" sz="700" b="0" i="0" u="none" strike="noStrike" dirty="0">
                        <a:solidFill>
                          <a:srgbClr val="FFFFFF"/>
                        </a:solidFill>
                        <a:effectLst/>
                        <a:latin typeface="Calibri"/>
                      </a:endParaRPr>
                    </a:p>
                  </a:txBody>
                  <a:tcPr marL="4962" marR="4962" marT="4962" marB="0" anchor="b">
                    <a:lnL>
                      <a:noFill/>
                    </a:lnL>
                    <a:lnR>
                      <a:noFill/>
                    </a:lnR>
                    <a:lnT>
                      <a:noFill/>
                    </a:lnT>
                    <a:lnB>
                      <a:noFill/>
                    </a:lnB>
                    <a:solidFill>
                      <a:srgbClr val="244062"/>
                    </a:solidFill>
                  </a:tcPr>
                </a:tc>
              </a:tr>
              <a:tr h="99234">
                <a:tc>
                  <a:txBody>
                    <a:bodyPr/>
                    <a:lstStyle/>
                    <a:p>
                      <a:pPr algn="ctr" fontAlgn="b"/>
                      <a:r>
                        <a:rPr lang="en-US" sz="700" b="0" i="0" u="none" strike="noStrike">
                          <a:solidFill>
                            <a:srgbClr val="000000"/>
                          </a:solidFill>
                          <a:effectLst/>
                          <a:latin typeface="Calibri"/>
                        </a:rPr>
                        <a:t>24590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71,515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2643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38,726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21492</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8,985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335</a:t>
                      </a:r>
                    </a:p>
                  </a:txBody>
                  <a:tcPr marL="4962" marR="4962" marT="4962"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a:endParaRP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31736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7,984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10800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5,259</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9</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244781</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4,194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36</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32634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3,700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11040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3,548</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820470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3,422</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Japan</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11498</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3,380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5</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800208</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3,243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Japan</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815800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3,129</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US</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9516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3,097</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817070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3,062</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809170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2,905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33854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2,894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833374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2,730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Kuwait</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47133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2,613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16922</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2,558</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2214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2,553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0">
                <a:tc>
                  <a:txBody>
                    <a:bodyPr/>
                    <a:lstStyle/>
                    <a:p>
                      <a:pPr algn="ctr" fontAlgn="b"/>
                      <a:r>
                        <a:rPr lang="en-US" sz="700" b="0" i="0" u="none" strike="noStrike">
                          <a:solidFill>
                            <a:srgbClr val="000000"/>
                          </a:solidFill>
                          <a:effectLst/>
                          <a:latin typeface="Calibri"/>
                        </a:rPr>
                        <a:t>48125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2,548</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23721</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2,495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22531</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2,453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747000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2,405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28823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2,390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804870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2,366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37</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France</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821220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2,366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France</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833095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2,366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Canada</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33853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2,349</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309</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2,247</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31276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2,245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1214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2,184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23796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2,170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15343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2,153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13</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UK</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833296</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2,092</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28554</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2,011</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833001</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1,999</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Saudia</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73002</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1,917</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599090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1,905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800155</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1,820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46</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Tunisia</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226200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1,810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5</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746003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1,717</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35512</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1,687</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701570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1,653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39740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1,609</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3</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34932</a:t>
                      </a:r>
                    </a:p>
                  </a:txBody>
                  <a:tcPr marL="4962" marR="4962" marT="4962"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1,593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74744</a:t>
                      </a:r>
                    </a:p>
                  </a:txBody>
                  <a:tcPr marL="4962" marR="4962" marT="4962"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1,588</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44332</a:t>
                      </a:r>
                    </a:p>
                  </a:txBody>
                  <a:tcPr marL="4962" marR="4962" marT="4962"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1,548</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USA</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819270</a:t>
                      </a:r>
                    </a:p>
                  </a:txBody>
                  <a:tcPr marL="4962" marR="4962" marT="4962"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1,500</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62" marR="4962" marT="4962" marB="0" anchor="b">
                    <a:lnL>
                      <a:noFill/>
                    </a:lnL>
                    <a:lnR>
                      <a:noFill/>
                    </a:lnR>
                    <a:lnT>
                      <a:noFill/>
                    </a:lnT>
                    <a:lnB>
                      <a:noFill/>
                    </a:lnB>
                  </a:tcPr>
                </a:tc>
                <a:tc>
                  <a:txBody>
                    <a:bodyPr/>
                    <a:lstStyle/>
                    <a:p>
                      <a:pPr algn="l" fontAlgn="b"/>
                      <a:r>
                        <a:rPr lang="en-US" sz="700" b="0" i="0" u="none" strike="noStrike" dirty="0">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r>
                        <a:rPr lang="en-US" sz="700" b="0" i="0" u="none" strike="noStrike">
                          <a:solidFill>
                            <a:srgbClr val="000000"/>
                          </a:solidFill>
                          <a:effectLst/>
                          <a:latin typeface="Calibri"/>
                        </a:rPr>
                        <a:t>36826</a:t>
                      </a:r>
                    </a:p>
                  </a:txBody>
                  <a:tcPr marL="4962" marR="4962" marT="4962"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1,493</a:t>
                      </a:r>
                    </a:p>
                  </a:txBody>
                  <a:tcPr marL="4962" marR="4962" marT="4962"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62" marR="4962" marT="4962" marB="0" anchor="b">
                    <a:lnL>
                      <a:noFill/>
                    </a:lnL>
                    <a:lnR>
                      <a:noFill/>
                    </a:lnR>
                    <a:lnT>
                      <a:noFill/>
                    </a:lnT>
                    <a:lnB>
                      <a:noFill/>
                    </a:lnB>
                  </a:tcPr>
                </a:tc>
                <a:tc>
                  <a:txBody>
                    <a:bodyPr/>
                    <a:lstStyle/>
                    <a:p>
                      <a:pPr algn="l" fontAlgn="b"/>
                      <a:r>
                        <a:rPr lang="en-US" sz="700" b="0" i="0" u="none" strike="noStrike" dirty="0">
                          <a:solidFill>
                            <a:srgbClr val="000000"/>
                          </a:solidFill>
                          <a:effectLst/>
                          <a:latin typeface="Calibri"/>
                        </a:rPr>
                        <a:t>Qatar</a:t>
                      </a:r>
                    </a:p>
                  </a:txBody>
                  <a:tcPr marL="4962" marR="4962" marT="4962" marB="0" anchor="b">
                    <a:lnL>
                      <a:noFill/>
                    </a:lnL>
                    <a:lnR>
                      <a:noFill/>
                    </a:lnR>
                    <a:lnT>
                      <a:noFill/>
                    </a:lnT>
                    <a:lnB>
                      <a:noFill/>
                    </a:lnB>
                  </a:tcPr>
                </a:tc>
              </a:tr>
              <a:tr h="99234">
                <a:tc>
                  <a:txBody>
                    <a:bodyPr/>
                    <a:lstStyle/>
                    <a:p>
                      <a:pPr algn="ctr" fontAlgn="b"/>
                      <a:endParaRPr lang="en-US" sz="700" b="0" i="0" u="none" strike="noStrike">
                        <a:solidFill>
                          <a:srgbClr val="000000"/>
                        </a:solidFill>
                        <a:effectLst/>
                        <a:latin typeface="Calibri"/>
                      </a:endParaRPr>
                    </a:p>
                  </a:txBody>
                  <a:tcPr marL="4962" marR="4962" marT="4962" marB="0" anchor="b">
                    <a:lnL>
                      <a:noFill/>
                    </a:lnL>
                    <a:lnR>
                      <a:noFill/>
                    </a:lnR>
                    <a:lnT>
                      <a:noFill/>
                    </a:lnT>
                    <a:lnB>
                      <a:noFill/>
                    </a:lnB>
                  </a:tcPr>
                </a:tc>
                <a:tc>
                  <a:txBody>
                    <a:bodyPr/>
                    <a:lstStyle/>
                    <a:p>
                      <a:pPr algn="ctr" fontAlgn="b"/>
                      <a:r>
                        <a:rPr lang="en-US" sz="700" b="0" i="0" u="none" strike="noStrike" dirty="0" smtClean="0">
                          <a:solidFill>
                            <a:schemeClr val="bg1"/>
                          </a:solidFill>
                          <a:effectLst/>
                          <a:latin typeface="Calibri"/>
                        </a:rPr>
                        <a:t>240,180</a:t>
                      </a:r>
                      <a:endParaRPr lang="en-US" sz="700" b="0" i="0" u="none" strike="noStrike" dirty="0">
                        <a:solidFill>
                          <a:schemeClr val="bg1"/>
                        </a:solidFill>
                        <a:effectLst/>
                        <a:latin typeface="Calibri"/>
                      </a:endParaRPr>
                    </a:p>
                  </a:txBody>
                  <a:tcPr marL="4962" marR="4962" marT="4962" marB="0" anchor="b">
                    <a:lnL>
                      <a:noFill/>
                    </a:lnL>
                    <a:lnR>
                      <a:noFill/>
                    </a:lnR>
                    <a:lnT>
                      <a:noFill/>
                    </a:lnT>
                    <a:lnB>
                      <a:noFill/>
                    </a:lnB>
                    <a:solidFill>
                      <a:schemeClr val="accent1">
                        <a:lumMod val="50000"/>
                      </a:schemeClr>
                    </a:solidFill>
                  </a:tcPr>
                </a:tc>
                <a:tc>
                  <a:txBody>
                    <a:bodyPr/>
                    <a:lstStyle/>
                    <a:p>
                      <a:pPr algn="ctr" fontAlgn="b"/>
                      <a:r>
                        <a:rPr lang="en-US" sz="700" b="0" i="0" u="none" strike="noStrike" dirty="0" smtClean="0">
                          <a:solidFill>
                            <a:schemeClr val="bg1"/>
                          </a:solidFill>
                          <a:effectLst/>
                          <a:latin typeface="Calibri"/>
                        </a:rPr>
                        <a:t>612</a:t>
                      </a:r>
                      <a:endParaRPr lang="en-US" sz="700" b="0" i="0" u="none" strike="noStrike" dirty="0">
                        <a:solidFill>
                          <a:schemeClr val="bg1"/>
                        </a:solidFill>
                        <a:effectLst/>
                        <a:latin typeface="Calibri"/>
                      </a:endParaRPr>
                    </a:p>
                  </a:txBody>
                  <a:tcPr marL="4962" marR="4962" marT="4962" marB="0" anchor="b">
                    <a:lnL>
                      <a:noFill/>
                    </a:lnL>
                    <a:lnR>
                      <a:noFill/>
                    </a:lnR>
                    <a:lnT>
                      <a:noFill/>
                    </a:lnT>
                    <a:lnB>
                      <a:noFill/>
                    </a:lnB>
                    <a:solidFill>
                      <a:schemeClr val="accent1">
                        <a:lumMod val="50000"/>
                      </a:schemeClr>
                    </a:solidFill>
                  </a:tcPr>
                </a:tc>
                <a:tc>
                  <a:txBody>
                    <a:bodyPr/>
                    <a:lstStyle/>
                    <a:p>
                      <a:pPr algn="l" fontAlgn="b"/>
                      <a:endParaRPr lang="en-US" sz="700" b="0" i="0" u="none" strike="noStrike" dirty="0">
                        <a:solidFill>
                          <a:srgbClr val="000000"/>
                        </a:solidFill>
                        <a:effectLst/>
                        <a:latin typeface="Calibri"/>
                      </a:endParaRPr>
                    </a:p>
                  </a:txBody>
                  <a:tcPr marL="4962" marR="4962" marT="4962" marB="0" anchor="b">
                    <a:lnL>
                      <a:noFill/>
                    </a:lnL>
                    <a:lnR>
                      <a:noFill/>
                    </a:lnR>
                    <a:lnT>
                      <a:noFill/>
                    </a:lnT>
                    <a:lnB>
                      <a:noFill/>
                    </a:lnB>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691134533"/>
              </p:ext>
            </p:extLst>
          </p:nvPr>
        </p:nvGraphicFramePr>
        <p:xfrm>
          <a:off x="3483077" y="726261"/>
          <a:ext cx="2314133" cy="5806302"/>
        </p:xfrm>
        <a:graphic>
          <a:graphicData uri="http://schemas.openxmlformats.org/drawingml/2006/table">
            <a:tbl>
              <a:tblPr/>
              <a:tblGrid>
                <a:gridCol w="553535"/>
                <a:gridCol w="691918"/>
                <a:gridCol w="615807"/>
                <a:gridCol w="452873"/>
              </a:tblGrid>
              <a:tr h="109970">
                <a:tc>
                  <a:txBody>
                    <a:bodyPr/>
                    <a:lstStyle/>
                    <a:p>
                      <a:pPr algn="ctr" fontAlgn="b"/>
                      <a:r>
                        <a:rPr lang="en-US" sz="700" b="0" i="0" u="none" strike="noStrike" dirty="0">
                          <a:solidFill>
                            <a:srgbClr val="FFFFFF"/>
                          </a:solidFill>
                          <a:effectLst/>
                          <a:latin typeface="Calibri"/>
                        </a:rPr>
                        <a:t>Customer</a:t>
                      </a:r>
                    </a:p>
                  </a:txBody>
                  <a:tcPr marL="4962" marR="4962" marT="4962" marB="0" anchor="b">
                    <a:lnL>
                      <a:noFill/>
                    </a:lnL>
                    <a:lnR>
                      <a:noFill/>
                    </a:lnR>
                    <a:lnT>
                      <a:noFill/>
                    </a:lnT>
                    <a:lnB>
                      <a:noFill/>
                    </a:lnB>
                    <a:solidFill>
                      <a:schemeClr val="accent1">
                        <a:lumMod val="50000"/>
                      </a:schemeClr>
                    </a:solidFill>
                  </a:tcPr>
                </a:tc>
                <a:tc>
                  <a:txBody>
                    <a:bodyPr/>
                    <a:lstStyle/>
                    <a:p>
                      <a:pPr algn="ctr" fontAlgn="b"/>
                      <a:r>
                        <a:rPr lang="en-US" sz="700" b="0" i="0" u="none" strike="noStrike" dirty="0">
                          <a:solidFill>
                            <a:srgbClr val="FFFFFF"/>
                          </a:solidFill>
                          <a:effectLst/>
                          <a:latin typeface="Calibri"/>
                        </a:rPr>
                        <a:t> EAD </a:t>
                      </a:r>
                    </a:p>
                  </a:txBody>
                  <a:tcPr marL="4962" marR="4962" marT="4962" marB="0" anchor="b">
                    <a:lnL>
                      <a:noFill/>
                    </a:lnL>
                    <a:lnR>
                      <a:noFill/>
                    </a:lnR>
                    <a:lnT>
                      <a:noFill/>
                    </a:lnT>
                    <a:lnB>
                      <a:noFill/>
                    </a:lnB>
                    <a:solidFill>
                      <a:schemeClr val="accent1">
                        <a:lumMod val="50000"/>
                      </a:schemeClr>
                    </a:solidFill>
                  </a:tcPr>
                </a:tc>
                <a:tc>
                  <a:txBody>
                    <a:bodyPr/>
                    <a:lstStyle/>
                    <a:p>
                      <a:pPr algn="ctr" fontAlgn="b"/>
                      <a:r>
                        <a:rPr lang="en-US" sz="700" b="0" i="0" u="none" strike="noStrike" dirty="0">
                          <a:solidFill>
                            <a:srgbClr val="FFFFFF"/>
                          </a:solidFill>
                          <a:effectLst/>
                          <a:latin typeface="Calibri"/>
                        </a:rPr>
                        <a:t> ECL </a:t>
                      </a:r>
                    </a:p>
                  </a:txBody>
                  <a:tcPr marL="4962" marR="4962" marT="4962" marB="0" anchor="b">
                    <a:lnL>
                      <a:noFill/>
                    </a:lnL>
                    <a:lnR>
                      <a:noFill/>
                    </a:lnR>
                    <a:lnT>
                      <a:noFill/>
                    </a:lnT>
                    <a:lnB>
                      <a:noFill/>
                    </a:lnB>
                    <a:solidFill>
                      <a:schemeClr val="accent1">
                        <a:lumMod val="50000"/>
                      </a:schemeClr>
                    </a:solidFill>
                  </a:tcPr>
                </a:tc>
                <a:tc>
                  <a:txBody>
                    <a:bodyPr/>
                    <a:lstStyle/>
                    <a:p>
                      <a:pPr algn="ctr" fontAlgn="b"/>
                      <a:r>
                        <a:rPr lang="en-US" sz="700" b="0" i="0" u="none" strike="noStrike" dirty="0" smtClean="0">
                          <a:solidFill>
                            <a:srgbClr val="FFFFFF"/>
                          </a:solidFill>
                          <a:effectLst/>
                          <a:latin typeface="Calibri"/>
                        </a:rPr>
                        <a:t>Country </a:t>
                      </a:r>
                      <a:endParaRPr lang="en-US" sz="700" b="0" i="0" u="none" strike="noStrike" dirty="0">
                        <a:solidFill>
                          <a:srgbClr val="FFFFFF"/>
                        </a:solidFill>
                        <a:effectLst/>
                        <a:latin typeface="Calibri"/>
                      </a:endParaRPr>
                    </a:p>
                  </a:txBody>
                  <a:tcPr marL="4962" marR="4962" marT="4962" marB="0" anchor="b">
                    <a:lnL>
                      <a:noFill/>
                    </a:lnL>
                    <a:lnR>
                      <a:noFill/>
                    </a:lnR>
                    <a:lnT>
                      <a:noFill/>
                    </a:lnT>
                    <a:lnB>
                      <a:noFill/>
                    </a:lnB>
                    <a:solidFill>
                      <a:schemeClr val="accent1">
                        <a:lumMod val="50000"/>
                      </a:schemeClr>
                    </a:solidFill>
                  </a:tcPr>
                </a:tc>
              </a:tr>
              <a:tr h="109988">
                <a:tc>
                  <a:txBody>
                    <a:bodyPr/>
                    <a:lstStyle/>
                    <a:p>
                      <a:pPr algn="ctr" fontAlgn="b"/>
                      <a:r>
                        <a:rPr lang="en-US" sz="700" b="0" i="0" u="none" strike="noStrike" dirty="0">
                          <a:solidFill>
                            <a:srgbClr val="000000"/>
                          </a:solidFill>
                          <a:effectLst/>
                          <a:latin typeface="Calibri"/>
                        </a:rPr>
                        <a:t>833437</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1,456</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3</a:t>
                      </a:r>
                    </a:p>
                  </a:txBody>
                  <a:tcPr marL="4980" marR="4980" marT="4980" marB="0" anchor="b">
                    <a:lnL>
                      <a:noFill/>
                    </a:lnL>
                    <a:lnR>
                      <a:noFill/>
                    </a:lnR>
                    <a:lnT>
                      <a:noFill/>
                    </a:lnT>
                    <a:lnB>
                      <a:noFill/>
                    </a:lnB>
                  </a:tcPr>
                </a:tc>
                <a:tc>
                  <a:txBody>
                    <a:bodyPr/>
                    <a:lstStyle/>
                    <a:p>
                      <a:pPr algn="l" fontAlgn="b"/>
                      <a:r>
                        <a:rPr lang="en-US" sz="700" b="0" i="0" u="none" strike="noStrike" dirty="0">
                          <a:solidFill>
                            <a:srgbClr val="000000"/>
                          </a:solidFill>
                          <a:effectLst/>
                          <a:latin typeface="Calibri"/>
                        </a:rPr>
                        <a:t>UK</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801207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1,456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47153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1,449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Singapore</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47553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1,411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29599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1,398</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701792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1,395</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Lebanon</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934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1,318</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7831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1,289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27461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1,274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Malaysia</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38235</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1,274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810020</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1,274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833027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1,274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Australia</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102090</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1,266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14424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1,263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833482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1,238</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19</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Canada</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295481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1,182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Lebanon</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833379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1,141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Saudia</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27611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981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UK</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800441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863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9</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Turkey</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36763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857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45839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817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833113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816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Japan</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29142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807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5</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3386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782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800569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774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2275</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759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16497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743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38445</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741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80924">
                <a:tc>
                  <a:txBody>
                    <a:bodyPr/>
                    <a:lstStyle/>
                    <a:p>
                      <a:pPr algn="ctr" fontAlgn="b"/>
                      <a:r>
                        <a:rPr lang="en-US" sz="700" b="0" i="0" u="none" strike="noStrike" dirty="0">
                          <a:solidFill>
                            <a:srgbClr val="000000"/>
                          </a:solidFill>
                          <a:effectLst/>
                          <a:latin typeface="Calibri"/>
                        </a:rPr>
                        <a:t>50114</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728</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dirty="0">
                          <a:solidFill>
                            <a:srgbClr val="000000"/>
                          </a:solidFill>
                          <a:effectLst/>
                          <a:latin typeface="Calibri"/>
                        </a:rPr>
                        <a:t>Switzerland</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2626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728</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50761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717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35676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713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33716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712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22763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710</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38821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706</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7</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24794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692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800020</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692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31322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682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2</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11245</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677</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800293</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664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40</a:t>
                      </a:r>
                    </a:p>
                  </a:txBody>
                  <a:tcPr marL="4980" marR="4980" marT="4980"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a:endParaRP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13455</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662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a:solidFill>
                            <a:srgbClr val="000000"/>
                          </a:solidFill>
                          <a:effectLst/>
                          <a:latin typeface="Calibri"/>
                        </a:rPr>
                        <a:t>40372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659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145</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2189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650</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35798</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629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23971</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621</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800456</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602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UAE</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16784</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602</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451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31153</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589</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11272</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584</a:t>
                      </a:r>
                    </a:p>
                  </a:txBody>
                  <a:tcPr marL="4980" marR="4980" marT="4980" marB="0" anchor="b">
                    <a:lnL>
                      <a:noFill/>
                    </a:lnL>
                    <a:lnR>
                      <a:noFill/>
                    </a:lnR>
                    <a:lnT>
                      <a:noFill/>
                    </a:lnT>
                    <a:lnB>
                      <a:noFill/>
                    </a:lnB>
                  </a:tcPr>
                </a:tc>
                <a:tc>
                  <a:txBody>
                    <a:bodyPr/>
                    <a:lstStyle/>
                    <a:p>
                      <a:pPr algn="ctr" fontAlgn="b"/>
                      <a:r>
                        <a:rPr lang="en-US" sz="700" b="0" i="0" u="none" strike="noStrike">
                          <a:solidFill>
                            <a:srgbClr val="000000"/>
                          </a:solidFill>
                          <a:effectLst/>
                          <a:latin typeface="Calibri"/>
                        </a:rPr>
                        <a:t>0</a:t>
                      </a:r>
                    </a:p>
                  </a:txBody>
                  <a:tcPr marL="4980" marR="4980" marT="4980" marB="0" anchor="b">
                    <a:lnL>
                      <a:noFill/>
                    </a:lnL>
                    <a:lnR>
                      <a:noFill/>
                    </a:lnR>
                    <a:lnT>
                      <a:noFill/>
                    </a:lnT>
                    <a:lnB>
                      <a:noFill/>
                    </a:lnB>
                  </a:tcPr>
                </a:tc>
                <a:tc>
                  <a:txBody>
                    <a:bodyPr/>
                    <a:lstStyle/>
                    <a:p>
                      <a:pPr algn="l" fontAlgn="b"/>
                      <a:r>
                        <a:rPr lang="en-US" sz="700" b="0" i="0" u="none" strike="noStrike">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r>
                        <a:rPr lang="en-US" sz="700" b="0" i="0" u="none" strike="noStrike" dirty="0">
                          <a:solidFill>
                            <a:srgbClr val="000000"/>
                          </a:solidFill>
                          <a:effectLst/>
                          <a:latin typeface="Calibri"/>
                        </a:rPr>
                        <a:t>27579</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579</a:t>
                      </a:r>
                    </a:p>
                  </a:txBody>
                  <a:tcPr marL="4980" marR="4980" marT="4980" marB="0" anchor="b">
                    <a:lnL>
                      <a:noFill/>
                    </a:lnL>
                    <a:lnR>
                      <a:noFill/>
                    </a:lnR>
                    <a:lnT>
                      <a:noFill/>
                    </a:lnT>
                    <a:lnB>
                      <a:noFill/>
                    </a:lnB>
                  </a:tcPr>
                </a:tc>
                <a:tc>
                  <a:txBody>
                    <a:bodyPr/>
                    <a:lstStyle/>
                    <a:p>
                      <a:pPr algn="ctr" fontAlgn="b"/>
                      <a:r>
                        <a:rPr lang="en-US" sz="700" b="0" i="0" u="none" strike="noStrike" dirty="0">
                          <a:solidFill>
                            <a:srgbClr val="000000"/>
                          </a:solidFill>
                          <a:effectLst/>
                          <a:latin typeface="Calibri"/>
                        </a:rPr>
                        <a:t>1</a:t>
                      </a:r>
                    </a:p>
                  </a:txBody>
                  <a:tcPr marL="4980" marR="4980" marT="4980" marB="0" anchor="b">
                    <a:lnL>
                      <a:noFill/>
                    </a:lnL>
                    <a:lnR>
                      <a:noFill/>
                    </a:lnR>
                    <a:lnT>
                      <a:noFill/>
                    </a:lnT>
                    <a:lnB>
                      <a:noFill/>
                    </a:lnB>
                  </a:tcPr>
                </a:tc>
                <a:tc>
                  <a:txBody>
                    <a:bodyPr/>
                    <a:lstStyle/>
                    <a:p>
                      <a:pPr algn="l" fontAlgn="b"/>
                      <a:r>
                        <a:rPr lang="en-US" sz="700" b="0" i="0" u="none" strike="noStrike" dirty="0">
                          <a:solidFill>
                            <a:srgbClr val="000000"/>
                          </a:solidFill>
                          <a:effectLst/>
                          <a:latin typeface="Calibri"/>
                        </a:rPr>
                        <a:t>Qatar</a:t>
                      </a:r>
                    </a:p>
                  </a:txBody>
                  <a:tcPr marL="4980" marR="4980" marT="4980" marB="0" anchor="b">
                    <a:lnL>
                      <a:noFill/>
                    </a:lnL>
                    <a:lnR>
                      <a:noFill/>
                    </a:lnR>
                    <a:lnT>
                      <a:noFill/>
                    </a:lnT>
                    <a:lnB>
                      <a:noFill/>
                    </a:lnB>
                  </a:tcPr>
                </a:tc>
              </a:tr>
              <a:tr h="109988">
                <a:tc>
                  <a:txBody>
                    <a:bodyPr/>
                    <a:lstStyle/>
                    <a:p>
                      <a:pPr algn="ctr" fontAlgn="b"/>
                      <a:endParaRPr lang="en-US" sz="700" b="0" i="0" u="none" strike="noStrike" dirty="0">
                        <a:solidFill>
                          <a:srgbClr val="000000"/>
                        </a:solidFill>
                        <a:effectLst/>
                        <a:latin typeface="Calibri"/>
                      </a:endParaRPr>
                    </a:p>
                  </a:txBody>
                  <a:tcPr marL="4980" marR="4980" marT="4980" marB="0" anchor="b">
                    <a:lnL>
                      <a:noFill/>
                    </a:lnL>
                    <a:lnR>
                      <a:noFill/>
                    </a:lnR>
                    <a:lnT>
                      <a:noFill/>
                    </a:lnT>
                    <a:lnB>
                      <a:noFill/>
                    </a:lnB>
                  </a:tcPr>
                </a:tc>
                <a:tc>
                  <a:txBody>
                    <a:bodyPr/>
                    <a:lstStyle/>
                    <a:p>
                      <a:pPr algn="ctr" fontAlgn="b"/>
                      <a:r>
                        <a:rPr lang="en-US" sz="700" b="0" i="0" u="none" strike="noStrike" dirty="0" smtClean="0">
                          <a:solidFill>
                            <a:schemeClr val="bg1"/>
                          </a:solidFill>
                          <a:effectLst/>
                          <a:latin typeface="Calibri"/>
                        </a:rPr>
                        <a:t>45,896</a:t>
                      </a:r>
                      <a:endParaRPr lang="en-US" sz="700" b="0" i="0" u="none" strike="noStrike" dirty="0">
                        <a:solidFill>
                          <a:schemeClr val="bg1"/>
                        </a:solidFill>
                        <a:effectLst/>
                        <a:latin typeface="Calibri"/>
                      </a:endParaRPr>
                    </a:p>
                  </a:txBody>
                  <a:tcPr marL="4980" marR="4980" marT="4980" marB="0" anchor="b">
                    <a:lnL>
                      <a:noFill/>
                    </a:lnL>
                    <a:lnR>
                      <a:noFill/>
                    </a:lnR>
                    <a:lnT>
                      <a:noFill/>
                    </a:lnT>
                    <a:lnB>
                      <a:noFill/>
                    </a:lnB>
                    <a:solidFill>
                      <a:schemeClr val="accent1">
                        <a:lumMod val="50000"/>
                      </a:schemeClr>
                    </a:solidFill>
                  </a:tcPr>
                </a:tc>
                <a:tc>
                  <a:txBody>
                    <a:bodyPr/>
                    <a:lstStyle/>
                    <a:p>
                      <a:pPr algn="ctr" fontAlgn="b"/>
                      <a:r>
                        <a:rPr lang="en-US" sz="700" b="0" i="0" u="none" strike="noStrike" dirty="0" smtClean="0">
                          <a:solidFill>
                            <a:schemeClr val="bg1"/>
                          </a:solidFill>
                          <a:effectLst/>
                          <a:latin typeface="Calibri"/>
                        </a:rPr>
                        <a:t>758</a:t>
                      </a:r>
                      <a:endParaRPr lang="en-US" sz="700" b="0" i="0" u="none" strike="noStrike" dirty="0">
                        <a:solidFill>
                          <a:schemeClr val="bg1"/>
                        </a:solidFill>
                        <a:effectLst/>
                        <a:latin typeface="Calibri"/>
                      </a:endParaRPr>
                    </a:p>
                  </a:txBody>
                  <a:tcPr marL="4980" marR="4980" marT="4980" marB="0" anchor="b">
                    <a:lnL>
                      <a:noFill/>
                    </a:lnL>
                    <a:lnR>
                      <a:noFill/>
                    </a:lnR>
                    <a:lnT>
                      <a:noFill/>
                    </a:lnT>
                    <a:lnB>
                      <a:noFill/>
                    </a:lnB>
                    <a:solidFill>
                      <a:schemeClr val="accent1">
                        <a:lumMod val="50000"/>
                      </a:schemeClr>
                    </a:solidFill>
                  </a:tcPr>
                </a:tc>
                <a:tc>
                  <a:txBody>
                    <a:bodyPr/>
                    <a:lstStyle/>
                    <a:p>
                      <a:pPr algn="l" fontAlgn="b"/>
                      <a:endParaRPr lang="en-US" sz="700" b="0" i="0" u="none" strike="noStrike" dirty="0">
                        <a:solidFill>
                          <a:srgbClr val="000000"/>
                        </a:solidFill>
                        <a:effectLst/>
                        <a:latin typeface="Calibri"/>
                      </a:endParaRPr>
                    </a:p>
                  </a:txBody>
                  <a:tcPr marL="4980" marR="4980" marT="4980" marB="0" anchor="b">
                    <a:lnL>
                      <a:noFill/>
                    </a:lnL>
                    <a:lnR>
                      <a:noFill/>
                    </a:lnR>
                    <a:lnT>
                      <a:noFill/>
                    </a:lnT>
                    <a:lnB>
                      <a:noFill/>
                    </a:lnB>
                  </a:tcPr>
                </a:tc>
              </a:tr>
            </a:tbl>
          </a:graphicData>
        </a:graphic>
      </p:graphicFrame>
    </p:spTree>
    <p:extLst>
      <p:ext uri="{BB962C8B-B14F-4D97-AF65-F5344CB8AC3E}">
        <p14:creationId xmlns:p14="http://schemas.microsoft.com/office/powerpoint/2010/main" val="297315154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Staging (1 and 2)</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a:t>
            </a:r>
            <a:r>
              <a:rPr lang="en-US" altLang="en-US" sz="2000" smtClean="0"/>
              <a:t>, May </a:t>
            </a:r>
            <a:r>
              <a:rPr lang="en-US" altLang="en-US" sz="2000" dirty="0" smtClean="0"/>
              <a:t>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10</a:t>
            </a:r>
            <a:endParaRPr lang="en-IN" sz="2400" b="1" dirty="0">
              <a:solidFill>
                <a:schemeClr val="bg1"/>
              </a:solidFill>
            </a:endParaRPr>
          </a:p>
        </p:txBody>
      </p:sp>
    </p:spTree>
    <p:extLst>
      <p:ext uri="{BB962C8B-B14F-4D97-AF65-F5344CB8AC3E}">
        <p14:creationId xmlns:p14="http://schemas.microsoft.com/office/powerpoint/2010/main" val="85153461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6919"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73</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sp>
        <p:nvSpPr>
          <p:cNvPr id="18442" name="Rectangle 6"/>
          <p:cNvSpPr>
            <a:spLocks noChangeArrowheads="1"/>
          </p:cNvSpPr>
          <p:nvPr>
            <p:custDataLst>
              <p:tags r:id="rId3"/>
            </p:custDataLst>
          </p:nvPr>
        </p:nvSpPr>
        <p:spPr bwMode="auto">
          <a:xfrm>
            <a:off x="261938" y="835025"/>
            <a:ext cx="1701807" cy="2123657"/>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4"/>
            </p:custDataLst>
          </p:nvPr>
        </p:nvSpPr>
        <p:spPr bwMode="gray">
          <a:xfrm>
            <a:off x="2219383" y="835024"/>
            <a:ext cx="7497794" cy="212365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defTabSz="380258"/>
            <a:r>
              <a:rPr lang="en-US" sz="1400" dirty="0">
                <a:ea typeface="Verdana" panose="020B0604030504040204" pitchFamily="34" charset="0"/>
              </a:rPr>
              <a:t>Under IFRS 9, </a:t>
            </a:r>
            <a:r>
              <a:rPr lang="en-US" sz="1400" dirty="0" smtClean="0">
                <a:ea typeface="Verdana" panose="020B0604030504040204" pitchFamily="34" charset="0"/>
              </a:rPr>
              <a:t>staging results from an assessment </a:t>
            </a:r>
            <a:r>
              <a:rPr lang="en-US" sz="1400" dirty="0">
                <a:ea typeface="Verdana" panose="020B0604030504040204" pitchFamily="34" charset="0"/>
              </a:rPr>
              <a:t>of Significant Increase of Credit Risk (SICR</a:t>
            </a:r>
            <a:r>
              <a:rPr lang="en-US" sz="1400" dirty="0" smtClean="0">
                <a:ea typeface="Verdana" panose="020B0604030504040204" pitchFamily="34" charset="0"/>
              </a:rPr>
              <a:t>), which requires </a:t>
            </a:r>
            <a:r>
              <a:rPr lang="en-US" sz="1400" dirty="0">
                <a:ea typeface="Verdana" panose="020B0604030504040204" pitchFamily="34" charset="0"/>
              </a:rPr>
              <a:t>comparison of </a:t>
            </a:r>
            <a:r>
              <a:rPr lang="en-US" sz="1400" dirty="0" smtClean="0">
                <a:ea typeface="Verdana" panose="020B0604030504040204" pitchFamily="34" charset="0"/>
              </a:rPr>
              <a:t>the default </a:t>
            </a:r>
            <a:r>
              <a:rPr lang="en-US" sz="1400" dirty="0">
                <a:ea typeface="Verdana" panose="020B0604030504040204" pitchFamily="34" charset="0"/>
              </a:rPr>
              <a:t>risk at the reporting date with the risk at origination of the asset</a:t>
            </a:r>
            <a:r>
              <a:rPr lang="en-US" sz="1400" dirty="0" smtClean="0">
                <a:ea typeface="Verdana" panose="020B0604030504040204" pitchFamily="34" charset="0"/>
              </a:rPr>
              <a:t>.  Assets </a:t>
            </a:r>
            <a:r>
              <a:rPr lang="en-US" sz="1400" dirty="0">
                <a:ea typeface="Verdana" panose="020B0604030504040204" pitchFamily="34" charset="0"/>
              </a:rPr>
              <a:t>identified to have experienced SICR are classified as stage 2 and are subject to lifetime ECL </a:t>
            </a:r>
            <a:r>
              <a:rPr lang="en-US" sz="1400" dirty="0" smtClean="0">
                <a:ea typeface="Verdana" panose="020B0604030504040204" pitchFamily="34" charset="0"/>
              </a:rPr>
              <a:t>calculation.  Primary </a:t>
            </a:r>
            <a:r>
              <a:rPr lang="en-US" sz="1400" dirty="0">
                <a:ea typeface="Verdana" panose="020B0604030504040204" pitchFamily="34" charset="0"/>
              </a:rPr>
              <a:t>indicators for assessing significant increase in credit risk should:</a:t>
            </a:r>
          </a:p>
          <a:p>
            <a:pPr marL="1066556" lvl="1" indent="-342900" defTabSz="380258">
              <a:buFont typeface="Courier New" panose="02070309020205020404" pitchFamily="49" charset="0"/>
              <a:buChar char="o"/>
            </a:pPr>
            <a:r>
              <a:rPr lang="en-US" sz="1400" dirty="0">
                <a:ea typeface="Verdana" panose="020B0604030504040204" pitchFamily="34" charset="0"/>
              </a:rPr>
              <a:t>Incorporate forward-looking factors</a:t>
            </a:r>
          </a:p>
          <a:p>
            <a:pPr marL="1066556" lvl="1" indent="-342900" defTabSz="380258">
              <a:buFont typeface="Courier New" panose="02070309020205020404" pitchFamily="49" charset="0"/>
              <a:buChar char="o"/>
            </a:pPr>
            <a:r>
              <a:rPr lang="en-US" sz="1400" dirty="0">
                <a:ea typeface="Verdana" panose="020B0604030504040204" pitchFamily="34" charset="0"/>
              </a:rPr>
              <a:t>Use lifetime as opposed to a 12-month measure</a:t>
            </a:r>
          </a:p>
          <a:p>
            <a:pPr marL="1066556" lvl="1" indent="-342900" defTabSz="380258">
              <a:buFont typeface="Courier New" panose="02070309020205020404" pitchFamily="49" charset="0"/>
              <a:buChar char="o"/>
            </a:pPr>
            <a:r>
              <a:rPr lang="en-US" sz="1400" dirty="0">
                <a:ea typeface="Verdana" panose="020B0604030504040204" pitchFamily="34" charset="0"/>
              </a:rPr>
              <a:t>Consider all reasonable and supportable information available at the time of </a:t>
            </a:r>
            <a:r>
              <a:rPr lang="en-US" sz="1400" dirty="0" smtClean="0">
                <a:ea typeface="Verdana" panose="020B0604030504040204" pitchFamily="34" charset="0"/>
              </a:rPr>
              <a:t>assessment</a:t>
            </a:r>
            <a:endParaRPr lang="en-US" sz="1400" dirty="0">
              <a:ea typeface="Verdana" panose="020B0604030504040204" pitchFamily="34" charset="0"/>
            </a:endParaRPr>
          </a:p>
          <a:p>
            <a:pPr marL="342900" indent="-342900" defTabSz="380258">
              <a:buFont typeface="Arial" panose="020B0604020202020204" pitchFamily="34" charset="0"/>
              <a:buChar char="•"/>
            </a:pPr>
            <a:endParaRPr lang="en-US" sz="1400" dirty="0">
              <a:ea typeface="Verdana" panose="020B0604030504040204" pitchFamily="34" charset="0"/>
            </a:endParaRPr>
          </a:p>
          <a:p>
            <a:pPr marL="0" indent="0" defTabSz="380258"/>
            <a:r>
              <a:rPr lang="en-US" sz="1400" dirty="0" smtClean="0">
                <a:ea typeface="Verdana" panose="020B0604030504040204" pitchFamily="34" charset="0"/>
              </a:rPr>
              <a:t>In all cases (unless rebutted) the back stop of +30DPD must be used as a staging criteria.</a:t>
            </a:r>
          </a:p>
        </p:txBody>
      </p:sp>
      <p:sp>
        <p:nvSpPr>
          <p:cNvPr id="14" name="Rectangle 6"/>
          <p:cNvSpPr>
            <a:spLocks noChangeArrowheads="1"/>
          </p:cNvSpPr>
          <p:nvPr>
            <p:custDataLst>
              <p:tags r:id="rId5"/>
            </p:custDataLst>
          </p:nvPr>
        </p:nvSpPr>
        <p:spPr bwMode="auto">
          <a:xfrm>
            <a:off x="261938" y="3164724"/>
            <a:ext cx="1714507" cy="1046439"/>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6"/>
            </p:custDataLst>
          </p:nvPr>
        </p:nvSpPr>
        <p:spPr bwMode="gray">
          <a:xfrm>
            <a:off x="2219384" y="3164723"/>
            <a:ext cx="7497793" cy="10464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defTabSz="380258"/>
            <a:r>
              <a:rPr lang="en-US" sz="1400" dirty="0" smtClean="0">
                <a:latin typeface="Cambria" panose="02040503050406030204" pitchFamily="18" charset="0"/>
                <a:ea typeface="Verdana" panose="020B0604030504040204" pitchFamily="34" charset="0"/>
                <a:cs typeface="Verdana" panose="020B0604030504040204" pitchFamily="34" charset="0"/>
              </a:rPr>
              <a:t>The </a:t>
            </a:r>
            <a:r>
              <a:rPr lang="en-US" sz="1400" dirty="0">
                <a:latin typeface="Cambria" panose="02040503050406030204" pitchFamily="18" charset="0"/>
                <a:ea typeface="Verdana" panose="020B0604030504040204" pitchFamily="34" charset="0"/>
                <a:cs typeface="Verdana" panose="020B0604030504040204" pitchFamily="34" charset="0"/>
              </a:rPr>
              <a:t>ECL for assets classified as </a:t>
            </a:r>
            <a:r>
              <a:rPr lang="en-US" sz="1400" b="1" i="1" dirty="0">
                <a:latin typeface="Cambria" panose="02040503050406030204" pitchFamily="18" charset="0"/>
                <a:ea typeface="Verdana" panose="020B0604030504040204" pitchFamily="34" charset="0"/>
                <a:cs typeface="Verdana" panose="020B0604030504040204" pitchFamily="34" charset="0"/>
              </a:rPr>
              <a:t>stage 1 </a:t>
            </a:r>
            <a:r>
              <a:rPr lang="en-US" sz="1400" dirty="0">
                <a:latin typeface="Cambria" panose="02040503050406030204" pitchFamily="18" charset="0"/>
                <a:ea typeface="Verdana" panose="020B0604030504040204" pitchFamily="34" charset="0"/>
                <a:cs typeface="Verdana" panose="020B0604030504040204" pitchFamily="34" charset="0"/>
              </a:rPr>
              <a:t>will be calculated as an amount equal to the </a:t>
            </a:r>
            <a:r>
              <a:rPr lang="en-US" sz="1400" b="1" i="1" dirty="0">
                <a:latin typeface="Cambria" panose="02040503050406030204" pitchFamily="18" charset="0"/>
                <a:ea typeface="Verdana" panose="020B0604030504040204" pitchFamily="34" charset="0"/>
                <a:cs typeface="Verdana" panose="020B0604030504040204" pitchFamily="34" charset="0"/>
              </a:rPr>
              <a:t>12 month expect credit </a:t>
            </a:r>
            <a:r>
              <a:rPr lang="en-US" sz="1400" b="1" i="1" dirty="0" smtClean="0">
                <a:latin typeface="Cambria" panose="02040503050406030204" pitchFamily="18" charset="0"/>
                <a:ea typeface="Verdana" panose="020B0604030504040204" pitchFamily="34" charset="0"/>
                <a:cs typeface="Verdana" panose="020B0604030504040204" pitchFamily="34" charset="0"/>
              </a:rPr>
              <a:t>losses</a:t>
            </a:r>
            <a:r>
              <a:rPr lang="en-US" sz="1400" dirty="0" smtClean="0">
                <a:latin typeface="Cambria" panose="02040503050406030204" pitchFamily="18" charset="0"/>
                <a:ea typeface="Verdana" panose="020B0604030504040204" pitchFamily="34" charset="0"/>
                <a:cs typeface="Verdana" panose="020B0604030504040204" pitchFamily="34" charset="0"/>
              </a:rPr>
              <a:t>, where-as the ECL for assets classified as </a:t>
            </a:r>
            <a:r>
              <a:rPr lang="en-US" sz="1400" b="1" i="1" dirty="0" smtClean="0">
                <a:latin typeface="Cambria" panose="02040503050406030204" pitchFamily="18" charset="0"/>
                <a:ea typeface="Verdana" panose="020B0604030504040204" pitchFamily="34" charset="0"/>
                <a:cs typeface="Verdana" panose="020B0604030504040204" pitchFamily="34" charset="0"/>
              </a:rPr>
              <a:t>stage 2 </a:t>
            </a:r>
            <a:r>
              <a:rPr lang="en-US" sz="1400" dirty="0" smtClean="0">
                <a:latin typeface="Cambria" panose="02040503050406030204" pitchFamily="18" charset="0"/>
                <a:ea typeface="Verdana" panose="020B0604030504040204" pitchFamily="34" charset="0"/>
                <a:cs typeface="Verdana" panose="020B0604030504040204" pitchFamily="34" charset="0"/>
              </a:rPr>
              <a:t>will be an amount equal to </a:t>
            </a:r>
            <a:r>
              <a:rPr lang="en-US" sz="1400" b="1" i="1" dirty="0" smtClean="0">
                <a:latin typeface="Cambria" panose="02040503050406030204" pitchFamily="18" charset="0"/>
                <a:ea typeface="Verdana" panose="020B0604030504040204" pitchFamily="34" charset="0"/>
                <a:cs typeface="Verdana" panose="020B0604030504040204" pitchFamily="34" charset="0"/>
              </a:rPr>
              <a:t>lifetime expected credit losses</a:t>
            </a:r>
            <a:r>
              <a:rPr lang="en-US" sz="1400" dirty="0" smtClean="0">
                <a:latin typeface="Cambria" panose="02040503050406030204" pitchFamily="18" charset="0"/>
                <a:ea typeface="Verdana" panose="020B0604030504040204" pitchFamily="34" charset="0"/>
                <a:cs typeface="Verdana" panose="020B0604030504040204" pitchFamily="34" charset="0"/>
              </a:rPr>
              <a:t>.  For assets with long maturities this can result in s significant increase in the ECL provision</a:t>
            </a:r>
          </a:p>
        </p:txBody>
      </p:sp>
    </p:spTree>
    <p:extLst>
      <p:ext uri="{BB962C8B-B14F-4D97-AF65-F5344CB8AC3E}">
        <p14:creationId xmlns:p14="http://schemas.microsoft.com/office/powerpoint/2010/main" val="82128102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74</a:t>
            </a:fld>
            <a:endParaRPr lang="en-US" altLang="en-US"/>
          </a:p>
        </p:txBody>
      </p:sp>
      <p:graphicFrame>
        <p:nvGraphicFramePr>
          <p:cNvPr id="4" name="Table 3"/>
          <p:cNvGraphicFramePr>
            <a:graphicFrameLocks noGrp="1"/>
          </p:cNvGraphicFramePr>
          <p:nvPr>
            <p:extLst/>
          </p:nvPr>
        </p:nvGraphicFramePr>
        <p:xfrm>
          <a:off x="895350" y="1181100"/>
          <a:ext cx="8115300" cy="74168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What</a:t>
                      </a:r>
                      <a:r>
                        <a:rPr lang="en-US" sz="1400" kern="1200" baseline="0" dirty="0" smtClean="0">
                          <a:solidFill>
                            <a:srgbClr val="000000"/>
                          </a:solidFill>
                          <a:latin typeface="Times New Roman" panose="02020603050405020304" pitchFamily="18" charset="0"/>
                          <a:ea typeface="+mn-ea"/>
                          <a:cs typeface="Times New Roman" panose="02020603050405020304" pitchFamily="18" charset="0"/>
                        </a:rPr>
                        <a:t> staging criteria will the Bank apply to assess SICR </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a:t>
                      </a:r>
                    </a:p>
                  </a:txBody>
                  <a:tcPr anchor="ctr"/>
                </a:tc>
              </a:tr>
            </a:tbl>
          </a:graphicData>
        </a:graphic>
      </p:graphicFrame>
    </p:spTree>
    <p:extLst>
      <p:ext uri="{BB962C8B-B14F-4D97-AF65-F5344CB8AC3E}">
        <p14:creationId xmlns:p14="http://schemas.microsoft.com/office/powerpoint/2010/main" val="335186732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75</a:t>
            </a:fld>
            <a:endParaRPr lang="en-US" altLang="en-US"/>
          </a:p>
        </p:txBody>
      </p:sp>
      <p:graphicFrame>
        <p:nvGraphicFramePr>
          <p:cNvPr id="5" name="Table 4"/>
          <p:cNvGraphicFramePr>
            <a:graphicFrameLocks noGrp="1"/>
          </p:cNvGraphicFramePr>
          <p:nvPr>
            <p:extLst/>
          </p:nvPr>
        </p:nvGraphicFramePr>
        <p:xfrm>
          <a:off x="287338" y="939800"/>
          <a:ext cx="9331325" cy="460248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IFRS9</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5.5.3~6</a:t>
                      </a:r>
                      <a:endParaRPr lang="en-US" sz="1400" kern="1200" baseline="0" dirty="0" smtClean="0">
                        <a:solidFill>
                          <a:schemeClr val="tx1"/>
                        </a:solidFill>
                        <a:latin typeface="Times New Roman" panose="02020603050405020304" pitchFamily="18" charset="0"/>
                        <a:ea typeface="+mn-ea"/>
                        <a:cs typeface="Times New Roman" panose="02020603050405020304" pitchFamily="18" charset="0"/>
                      </a:endParaRPr>
                    </a:p>
                    <a:p>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5.5.9~11</a:t>
                      </a:r>
                      <a:endParaRPr lang="en-US" sz="14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sz="1400" kern="1200" dirty="0" smtClean="0">
                          <a:solidFill>
                            <a:schemeClr val="tx1"/>
                          </a:solidFill>
                          <a:latin typeface="Times New Roman" panose="02020603050405020304" pitchFamily="18" charset="0"/>
                          <a:ea typeface="+mn-ea"/>
                          <a:cs typeface="Times New Roman" panose="02020603050405020304" pitchFamily="18" charset="0"/>
                        </a:rPr>
                        <a:t>B5.5.1~24</a:t>
                      </a:r>
                    </a:p>
                  </a:txBody>
                  <a:tcPr anchor="ctr"/>
                </a:tc>
                <a:tc>
                  <a:txBody>
                    <a:bodyPr/>
                    <a:lstStyle/>
                    <a:p>
                      <a:pPr marL="0" indent="0">
                        <a:buFont typeface="Arial" panose="020B0604020202020204" pitchFamily="34" charset="0"/>
                        <a:buNone/>
                      </a:pPr>
                      <a:r>
                        <a:rPr lang="en-US" sz="1400" kern="1200" dirty="0" smtClean="0">
                          <a:solidFill>
                            <a:schemeClr val="tx1"/>
                          </a:solidFill>
                          <a:latin typeface="Times New Roman" panose="02020603050405020304" pitchFamily="18" charset="0"/>
                          <a:ea typeface="+mn-ea"/>
                          <a:cs typeface="Times New Roman" panose="02020603050405020304" pitchFamily="18" charset="0"/>
                        </a:rPr>
                        <a:t>Including any practical expedients,</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IFRS 9 requires</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/suggests the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following guidelines:</a:t>
                      </a:r>
                    </a:p>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ECL for</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a:t>
                      </a:r>
                      <a:r>
                        <a:rPr lang="en-US" sz="1400" kern="1200" dirty="0" smtClean="0">
                          <a:solidFill>
                            <a:schemeClr val="tx1"/>
                          </a:solidFill>
                          <a:latin typeface="Times New Roman" panose="02020603050405020304" pitchFamily="18" charset="0"/>
                          <a:ea typeface="+mn-ea"/>
                          <a:cs typeface="Times New Roman" panose="02020603050405020304" pitchFamily="18" charset="0"/>
                        </a:rPr>
                        <a:t>ssets</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that have SICR since initial recognition must be based on lifetime losses, otherwise losses only over 12 months.  </a:t>
                      </a:r>
                      <a:r>
                        <a:rPr lang="en-US" sz="1400" kern="1200" dirty="0" smtClean="0">
                          <a:solidFill>
                            <a:schemeClr val="tx1"/>
                          </a:solidFill>
                          <a:latin typeface="Times New Roman" panose="02020603050405020304" pitchFamily="18" charset="0"/>
                          <a:ea typeface="+mn-ea"/>
                          <a:cs typeface="Times New Roman" panose="02020603050405020304" pitchFamily="18" charset="0"/>
                        </a:rPr>
                        <a:t>SICR</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should be determined by comparing the risk of default at reporting date versus the risk of default at origination date.</a:t>
                      </a:r>
                      <a:endParaRPr lang="en-US" sz="140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Low</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credit risk assets can be assumed not to have SICR. </a:t>
                      </a:r>
                      <a:endParaRPr lang="en-US" sz="140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buFont typeface="Arial" panose="020B0604020202020204" pitchFamily="34" charset="0"/>
                        <a:buChar cha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If</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information is available without undue cost an effort then an entity cannot rely solely on past due information.</a:t>
                      </a:r>
                    </a:p>
                    <a:p>
                      <a:pPr marL="119063" indent="-119063">
                        <a:buFont typeface="Arial" panose="020B0604020202020204" pitchFamily="34" charset="0"/>
                        <a:buChar char="•"/>
                      </a:pP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Regardless of what method is used to assess SICR, +30 days past due is a rebuttable presumption.</a:t>
                      </a:r>
                    </a:p>
                    <a:p>
                      <a:pPr marL="119063" indent="-119063">
                        <a:buFont typeface="Arial" panose="020B0604020202020204" pitchFamily="34" charset="0"/>
                        <a:buChar char="•"/>
                      </a:pP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Collective assessment is permissible for groups of assets when evidence of SICR may not be available for individual assets, such as retail assets.</a:t>
                      </a:r>
                    </a:p>
                    <a:p>
                      <a:pPr marL="119063" indent="-119063">
                        <a:buFont typeface="Arial" panose="020B0604020202020204" pitchFamily="34" charset="0"/>
                        <a:buChar char="•"/>
                      </a:pP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IFRS 9 (paragraph B5.517) provides a non exhaustive 16 point list of information that may be relevant in assessing changes in the risk of default.</a:t>
                      </a:r>
                    </a:p>
                  </a:txBody>
                  <a:tcPr/>
                </a:tc>
              </a:tr>
              <a:tr h="370840">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solidFill>
                          <a:latin typeface="Times New Roman" panose="02020603050405020304" pitchFamily="18" charset="0"/>
                          <a:ea typeface="+mn-ea"/>
                          <a:cs typeface="Times New Roman" panose="02020603050405020304" pitchFamily="18" charset="0"/>
                        </a:rPr>
                        <a:t>2.4.1</a:t>
                      </a:r>
                    </a:p>
                  </a:txBody>
                  <a:tcPr anchor="ctr"/>
                </a:tc>
                <a:tc>
                  <a:txBody>
                    <a:bodyPr/>
                    <a:lstStyle/>
                    <a:p>
                      <a:pPr marL="0" indent="0">
                        <a:buFont typeface="Arial" panose="020B0604020202020204" pitchFamily="34" charset="0"/>
                        <a:buNone/>
                      </a:pPr>
                      <a:r>
                        <a:rPr lang="en-US" sz="1400" kern="1200" dirty="0" smtClean="0">
                          <a:solidFill>
                            <a:schemeClr val="tx1"/>
                          </a:solidFill>
                          <a:latin typeface="Times New Roman" panose="02020603050405020304" pitchFamily="18" charset="0"/>
                          <a:ea typeface="+mn-ea"/>
                          <a:cs typeface="Times New Roman" panose="02020603050405020304" pitchFamily="18" charset="0"/>
                        </a:rPr>
                        <a:t>The QCB follows</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the standard with the addition of the following:-</a:t>
                      </a:r>
                    </a:p>
                    <a:p>
                      <a:pPr marL="119063" indent="-119063">
                        <a:buFont typeface="Arial" panose="020B0604020202020204" pitchFamily="34" charset="0"/>
                        <a:buChar char="•"/>
                      </a:pPr>
                      <a:r>
                        <a:rPr lang="en-US" sz="1400" kern="1200" baseline="0" dirty="0" smtClean="0">
                          <a:solidFill>
                            <a:srgbClr val="000000"/>
                          </a:solidFill>
                          <a:latin typeface="Times New Roman" panose="02020603050405020304" pitchFamily="18" charset="0"/>
                          <a:ea typeface="+mn-ea"/>
                          <a:cs typeface="Times New Roman" panose="02020603050405020304" pitchFamily="18" charset="0"/>
                        </a:rPr>
                        <a:t>M</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aximum DPD criteria of +60DPD</a:t>
                      </a:r>
                    </a:p>
                    <a:p>
                      <a:pPr marL="119063" indent="-119063">
                        <a:buFont typeface="Arial" panose="020B0604020202020204" pitchFamily="34" charset="0"/>
                        <a:buChar char="•"/>
                      </a:pP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Minimum criteria for rating downgrades, which is 2 notches for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Aaa~Baa</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and 1 notch for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Ba~Caa</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Floor</a:t>
                      </a:r>
                      <a:r>
                        <a:rPr lang="en-US" sz="1400" kern="1200" baseline="0" dirty="0" smtClean="0">
                          <a:solidFill>
                            <a:srgbClr val="000000"/>
                          </a:solidFill>
                          <a:latin typeface="Times New Roman" panose="02020603050405020304" pitchFamily="18" charset="0"/>
                          <a:ea typeface="+mn-ea"/>
                          <a:cs typeface="Times New Roman" panose="02020603050405020304" pitchFamily="18" charset="0"/>
                        </a:rPr>
                        <a:t> on low credit risk assets of externally rated and no lower than AA- </a:t>
                      </a:r>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66790196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76</a:t>
            </a:fld>
            <a:endParaRPr lang="en-US" altLang="en-US"/>
          </a:p>
        </p:txBody>
      </p:sp>
      <p:graphicFrame>
        <p:nvGraphicFramePr>
          <p:cNvPr id="5" name="Table 4"/>
          <p:cNvGraphicFramePr>
            <a:graphicFrameLocks noGrp="1"/>
          </p:cNvGraphicFramePr>
          <p:nvPr>
            <p:extLst/>
          </p:nvPr>
        </p:nvGraphicFramePr>
        <p:xfrm>
          <a:off x="287338" y="977900"/>
          <a:ext cx="9331324" cy="3200400"/>
        </p:xfrm>
        <a:graphic>
          <a:graphicData uri="http://schemas.openxmlformats.org/drawingml/2006/table">
            <a:tbl>
              <a:tblPr firstRow="1" bandRow="1">
                <a:tableStyleId>{5940675A-B579-460E-94D1-54222C63F5DA}</a:tableStyleId>
              </a:tblPr>
              <a:tblGrid>
                <a:gridCol w="1439858"/>
                <a:gridCol w="1803213"/>
                <a:gridCol w="608825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2.7.3.2</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GPPC has said that assessment of whether there has been a significant increase in credit risk should be based not only on if the instrument is past due, or other lagging borrower-specific </a:t>
                      </a:r>
                      <a:r>
                        <a:rPr lang="en-IN" sz="1400" kern="1200" dirty="0" err="1" smtClean="0">
                          <a:solidFill>
                            <a:srgbClr val="000000"/>
                          </a:solidFill>
                          <a:latin typeface="Times New Roman" panose="02020603050405020304" pitchFamily="18" charset="0"/>
                          <a:ea typeface="+mn-ea"/>
                          <a:cs typeface="Times New Roman" panose="02020603050405020304" pitchFamily="18" charset="0"/>
                        </a:rPr>
                        <a:t>behavioral</a:t>
                      </a:r>
                      <a:r>
                        <a:rPr lang="en-IN" sz="1400" kern="1200" dirty="0" smtClean="0">
                          <a:solidFill>
                            <a:srgbClr val="000000"/>
                          </a:solidFill>
                          <a:latin typeface="Times New Roman" panose="02020603050405020304" pitchFamily="18" charset="0"/>
                          <a:ea typeface="+mn-ea"/>
                          <a:cs typeface="Times New Roman" panose="02020603050405020304" pitchFamily="18" charset="0"/>
                        </a:rPr>
                        <a:t> factors such as credit-bureau scores. The assessment should also use forward-looking information that is available without undue cost or effort.</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AP1 para 47, 19-25</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ITG also endorses the view of IFRS9 but discourages banks from using 30+ DPD or any such delinquency indicators as the sole criteria. As these criteria's might not be adequately forward looking indicators of default.</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A39</a:t>
                      </a:r>
                    </a:p>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A52 to A55</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Basel is of the strong view that rampant use of a 30+ DPD criterion as primary or sole basis for SICR introduces bias leading to a move to LECL later than the objective of the standard requires</a:t>
                      </a:r>
                    </a:p>
                  </a:txBody>
                  <a:tcPr/>
                </a:tc>
              </a:tr>
            </a:tbl>
          </a:graphicData>
        </a:graphic>
      </p:graphicFrame>
    </p:spTree>
    <p:extLst>
      <p:ext uri="{BB962C8B-B14F-4D97-AF65-F5344CB8AC3E}">
        <p14:creationId xmlns:p14="http://schemas.microsoft.com/office/powerpoint/2010/main" val="178053200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a:t>
            </a:r>
            <a:r>
              <a:rPr lang="en-IN" b="1" dirty="0" smtClean="0"/>
              <a:t>Staging Criteria</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77</a:t>
            </a:fld>
            <a:endParaRPr lang="en-US" altLang="en-US"/>
          </a:p>
        </p:txBody>
      </p:sp>
      <p:graphicFrame>
        <p:nvGraphicFramePr>
          <p:cNvPr id="5" name="Table 4"/>
          <p:cNvGraphicFramePr>
            <a:graphicFrameLocks noGrp="1"/>
          </p:cNvGraphicFramePr>
          <p:nvPr>
            <p:extLst/>
          </p:nvPr>
        </p:nvGraphicFramePr>
        <p:xfrm>
          <a:off x="287338" y="850900"/>
          <a:ext cx="9331325" cy="3606069"/>
        </p:xfrm>
        <a:graphic>
          <a:graphicData uri="http://schemas.openxmlformats.org/drawingml/2006/table">
            <a:tbl>
              <a:tblPr firstRow="1" bandRow="1">
                <a:tableStyleId>{5940675A-B579-460E-94D1-54222C63F5DA}</a:tableStyleId>
              </a:tblPr>
              <a:tblGrid>
                <a:gridCol w="614362"/>
                <a:gridCol w="990600"/>
                <a:gridCol w="800100"/>
                <a:gridCol w="69262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Case</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1914429">
                <a:tc rowSpan="2">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5</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rowSpan="2">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What</a:t>
                      </a:r>
                      <a:r>
                        <a:rPr lang="en-US" sz="1400" kern="1200" baseline="0" dirty="0" smtClean="0">
                          <a:solidFill>
                            <a:srgbClr val="000000"/>
                          </a:solidFill>
                          <a:latin typeface="Times New Roman" panose="02020603050405020304" pitchFamily="18" charset="0"/>
                          <a:ea typeface="+mn-ea"/>
                          <a:cs typeface="Times New Roman" panose="02020603050405020304" pitchFamily="18" charset="0"/>
                        </a:rPr>
                        <a:t> staging criteria will the Bank apply to assess SICR </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a:t>
                      </a: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Non-Retail</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endParaRPr lang="en-IN" sz="1400" kern="1200" dirty="0" smtClean="0">
                        <a:solidFill>
                          <a:srgbClr val="00B050"/>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IN" sz="1400" kern="1200" dirty="0" smtClean="0">
                          <a:solidFill>
                            <a:srgbClr val="00B050"/>
                          </a:solidFill>
                          <a:latin typeface="Times New Roman" panose="02020603050405020304" pitchFamily="18" charset="0"/>
                          <a:ea typeface="+mn-ea"/>
                          <a:cs typeface="Times New Roman" panose="02020603050405020304" pitchFamily="18" charset="0"/>
                        </a:rPr>
                        <a:t>To be inserted</a:t>
                      </a:r>
                      <a:endParaRPr lang="en-IN" sz="1400" b="0" kern="1200" baseline="0" dirty="0" smtClean="0">
                        <a:solidFill>
                          <a:srgbClr val="00B050"/>
                        </a:solidFill>
                        <a:latin typeface="Times New Roman" panose="02020603050405020304" pitchFamily="18" charset="0"/>
                        <a:ea typeface="+mn-ea"/>
                        <a:cs typeface="Times New Roman" panose="02020603050405020304" pitchFamily="18" charset="0"/>
                      </a:endParaRPr>
                    </a:p>
                  </a:txBody>
                  <a:tcPr/>
                </a:tc>
              </a:tr>
              <a:tr h="1112520">
                <a:tc vMerge="1">
                  <a:txBody>
                    <a:bodyPr/>
                    <a:lstStyle/>
                    <a:p>
                      <a:endParaRPr lang="en-US" sz="13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vMerge="1">
                  <a:txBody>
                    <a:bodyPr/>
                    <a:lstStyle/>
                    <a:p>
                      <a:endParaRPr lang="en-IN" sz="13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Retail</a:t>
                      </a:r>
                      <a:endParaRPr lang="en-IN"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endParaRPr lang="en-IN" sz="1400" kern="1200" dirty="0" smtClean="0">
                        <a:solidFill>
                          <a:srgbClr val="00B050"/>
                        </a:solidFill>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IN" sz="1400" kern="1200" dirty="0" smtClean="0">
                          <a:solidFill>
                            <a:srgbClr val="00B050"/>
                          </a:solidFill>
                          <a:latin typeface="Times New Roman" panose="02020603050405020304" pitchFamily="18" charset="0"/>
                          <a:ea typeface="+mn-ea"/>
                          <a:cs typeface="Times New Roman" panose="02020603050405020304" pitchFamily="18" charset="0"/>
                        </a:rPr>
                        <a:t>To be inserted</a:t>
                      </a:r>
                      <a:endParaRPr lang="en-IN" sz="1400" b="0" kern="1200" baseline="0" dirty="0" smtClean="0">
                        <a:solidFill>
                          <a:srgbClr val="00B050"/>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23675870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78</a:t>
            </a:fld>
            <a:endParaRPr lang="en-US" altLang="en-US"/>
          </a:p>
        </p:txBody>
      </p:sp>
      <p:graphicFrame>
        <p:nvGraphicFramePr>
          <p:cNvPr id="5" name="Table 4"/>
          <p:cNvGraphicFramePr>
            <a:graphicFrameLocks noGrp="1"/>
          </p:cNvGraphicFramePr>
          <p:nvPr>
            <p:extLst>
              <p:ext uri="{D42A27DB-BD31-4B8C-83A1-F6EECF244321}">
                <p14:modId xmlns:p14="http://schemas.microsoft.com/office/powerpoint/2010/main" val="635631691"/>
              </p:ext>
            </p:extLst>
          </p:nvPr>
        </p:nvGraphicFramePr>
        <p:xfrm>
          <a:off x="1067781" y="1355572"/>
          <a:ext cx="6384578" cy="3456460"/>
        </p:xfrm>
        <a:graphic>
          <a:graphicData uri="http://schemas.openxmlformats.org/drawingml/2006/table">
            <a:tbl>
              <a:tblPr/>
              <a:tblGrid>
                <a:gridCol w="2446427"/>
                <a:gridCol w="1491724"/>
                <a:gridCol w="2446427"/>
              </a:tblGrid>
              <a:tr h="345646">
                <a:tc>
                  <a:txBody>
                    <a:bodyPr/>
                    <a:lstStyle/>
                    <a:p>
                      <a:pPr algn="l" fontAlgn="b"/>
                      <a:r>
                        <a:rPr lang="en-US" sz="2000" b="1" i="0" u="none" strike="noStrike" dirty="0">
                          <a:solidFill>
                            <a:srgbClr val="FFFFFF"/>
                          </a:solidFill>
                          <a:effectLst/>
                          <a:latin typeface="Calibri"/>
                        </a:rPr>
                        <a:t>Retail</a:t>
                      </a:r>
                    </a:p>
                  </a:txBody>
                  <a:tcPr marL="9525" marR="9525" marT="9525" marB="0" anchor="b">
                    <a:lnL>
                      <a:noFill/>
                    </a:lnL>
                    <a:lnR>
                      <a:noFill/>
                    </a:lnR>
                    <a:lnT>
                      <a:noFill/>
                    </a:lnT>
                    <a:lnB>
                      <a:noFill/>
                    </a:lnB>
                    <a:solidFill>
                      <a:srgbClr val="244062"/>
                    </a:solidFill>
                  </a:tcPr>
                </a:tc>
                <a:tc>
                  <a:txBody>
                    <a:bodyPr/>
                    <a:lstStyle/>
                    <a:p>
                      <a:pPr algn="ctr" fontAlgn="b"/>
                      <a:r>
                        <a:rPr lang="en-US" sz="2000" b="0" i="0" u="none" strike="noStrike" dirty="0" smtClean="0">
                          <a:solidFill>
                            <a:srgbClr val="FFFFFF"/>
                          </a:solidFill>
                          <a:effectLst/>
                          <a:latin typeface="Calibri"/>
                        </a:rPr>
                        <a:t>EAD </a:t>
                      </a:r>
                      <a:r>
                        <a:rPr lang="en-US" sz="2000" b="0" i="0" u="none" strike="noStrike" dirty="0" err="1" smtClean="0">
                          <a:solidFill>
                            <a:srgbClr val="FFFFFF"/>
                          </a:solidFill>
                          <a:effectLst/>
                          <a:latin typeface="Calibri"/>
                        </a:rPr>
                        <a:t>QARm</a:t>
                      </a:r>
                      <a:endParaRPr lang="en-US" sz="2000" b="0" i="0" u="none" strike="noStrike" dirty="0">
                        <a:solidFill>
                          <a:srgbClr val="FFFFFF"/>
                        </a:solidFill>
                        <a:effectLst/>
                        <a:latin typeface="Calibri"/>
                      </a:endParaRPr>
                    </a:p>
                  </a:txBody>
                  <a:tcPr marL="9525" marR="9525" marT="9525" marB="0" anchor="b">
                    <a:lnL>
                      <a:noFill/>
                    </a:lnL>
                    <a:lnR>
                      <a:noFill/>
                    </a:lnR>
                    <a:lnT>
                      <a:noFill/>
                    </a:lnT>
                    <a:lnB>
                      <a:noFill/>
                    </a:lnB>
                    <a:solidFill>
                      <a:srgbClr val="244062"/>
                    </a:solidFill>
                  </a:tcPr>
                </a:tc>
                <a:tc>
                  <a:txBody>
                    <a:bodyPr/>
                    <a:lstStyle/>
                    <a:p>
                      <a:pPr algn="ctr" fontAlgn="b"/>
                      <a:r>
                        <a:rPr lang="en-US" sz="2000" b="0" i="0" u="none" strike="noStrike" dirty="0">
                          <a:solidFill>
                            <a:srgbClr val="FFFFFF"/>
                          </a:solidFill>
                          <a:effectLst/>
                          <a:latin typeface="Calibri"/>
                        </a:rPr>
                        <a:t>No. Customers</a:t>
                      </a:r>
                    </a:p>
                  </a:txBody>
                  <a:tcPr marL="9525" marR="9525" marT="9525" marB="0" anchor="b">
                    <a:lnL>
                      <a:noFill/>
                    </a:lnL>
                    <a:lnR>
                      <a:noFill/>
                    </a:lnR>
                    <a:lnT>
                      <a:noFill/>
                    </a:lnT>
                    <a:lnB>
                      <a:noFill/>
                    </a:lnB>
                    <a:solidFill>
                      <a:srgbClr val="244062"/>
                    </a:solidFill>
                  </a:tcPr>
                </a:tc>
              </a:tr>
              <a:tr h="345646">
                <a:tc>
                  <a:txBody>
                    <a:bodyPr/>
                    <a:lstStyle/>
                    <a:p>
                      <a:pPr algn="ctr" fontAlgn="b"/>
                      <a:r>
                        <a:rPr lang="en-US" sz="2000" b="0" i="0" u="none" strike="noStrike" dirty="0">
                          <a:solidFill>
                            <a:srgbClr val="000000"/>
                          </a:solidFill>
                          <a:effectLst/>
                          <a:latin typeface="Calibri"/>
                        </a:rPr>
                        <a:t>1</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8,051</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74,032</a:t>
                      </a:r>
                    </a:p>
                  </a:txBody>
                  <a:tcPr marL="9525" marR="9525" marT="9525" marB="0" anchor="b">
                    <a:lnL>
                      <a:noFill/>
                    </a:lnL>
                    <a:lnR>
                      <a:noFill/>
                    </a:lnR>
                    <a:lnT>
                      <a:noFill/>
                    </a:lnT>
                    <a:lnB>
                      <a:noFill/>
                    </a:lnB>
                  </a:tcPr>
                </a:tc>
              </a:tr>
              <a:tr h="345646">
                <a:tc>
                  <a:txBody>
                    <a:bodyPr/>
                    <a:lstStyle/>
                    <a:p>
                      <a:pPr algn="ctr" fontAlgn="b"/>
                      <a:r>
                        <a:rPr lang="en-US" sz="2000" b="0" i="0" u="none" strike="noStrike" dirty="0">
                          <a:solidFill>
                            <a:srgbClr val="000000"/>
                          </a:solidFill>
                          <a:effectLst/>
                          <a:latin typeface="Calibri"/>
                        </a:rPr>
                        <a:t>2</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324</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14,758</a:t>
                      </a:r>
                    </a:p>
                  </a:txBody>
                  <a:tcPr marL="9525" marR="9525" marT="9525" marB="0" anchor="b">
                    <a:lnL>
                      <a:noFill/>
                    </a:lnL>
                    <a:lnR>
                      <a:noFill/>
                    </a:lnR>
                    <a:lnT>
                      <a:noFill/>
                    </a:lnT>
                    <a:lnB>
                      <a:noFill/>
                    </a:lnB>
                  </a:tcPr>
                </a:tc>
              </a:tr>
              <a:tr h="345646">
                <a:tc>
                  <a:txBody>
                    <a:bodyPr/>
                    <a:lstStyle/>
                    <a:p>
                      <a:pPr algn="ctr" fontAlgn="b"/>
                      <a:r>
                        <a:rPr lang="en-US" sz="2000" b="0" i="0" u="none" strike="noStrike" dirty="0">
                          <a:solidFill>
                            <a:srgbClr val="000000"/>
                          </a:solidFill>
                          <a:effectLst/>
                          <a:latin typeface="Calibri"/>
                        </a:rPr>
                        <a:t>3</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707</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3,482</a:t>
                      </a:r>
                    </a:p>
                  </a:txBody>
                  <a:tcPr marL="9525" marR="9525" marT="9525" marB="0" anchor="b">
                    <a:lnL>
                      <a:noFill/>
                    </a:lnL>
                    <a:lnR>
                      <a:noFill/>
                    </a:lnR>
                    <a:lnT>
                      <a:noFill/>
                    </a:lnT>
                    <a:lnB>
                      <a:noFill/>
                    </a:lnB>
                  </a:tcPr>
                </a:tc>
              </a:tr>
              <a:tr h="345646">
                <a:tc>
                  <a:txBody>
                    <a:bodyPr/>
                    <a:lstStyle/>
                    <a:p>
                      <a:pPr algn="l" fontAlgn="b"/>
                      <a:endParaRPr lang="en-US" sz="20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ctr" fontAlgn="b"/>
                      <a:r>
                        <a:rPr lang="en-US" sz="2000" b="0" i="0" u="none" strike="noStrike">
                          <a:solidFill>
                            <a:srgbClr val="FFFFFF"/>
                          </a:solidFill>
                          <a:effectLst/>
                          <a:latin typeface="Calibri"/>
                        </a:rPr>
                        <a:t>9,081</a:t>
                      </a:r>
                    </a:p>
                  </a:txBody>
                  <a:tcPr marL="9525" marR="9525" marT="9525" marB="0" anchor="b">
                    <a:lnL>
                      <a:noFill/>
                    </a:lnL>
                    <a:lnR>
                      <a:noFill/>
                    </a:lnR>
                    <a:lnT>
                      <a:noFill/>
                    </a:lnT>
                    <a:lnB>
                      <a:noFill/>
                    </a:lnB>
                    <a:solidFill>
                      <a:srgbClr val="BFBFBF"/>
                    </a:solidFill>
                  </a:tcPr>
                </a:tc>
                <a:tc>
                  <a:txBody>
                    <a:bodyPr/>
                    <a:lstStyle/>
                    <a:p>
                      <a:pPr algn="ctr" fontAlgn="b"/>
                      <a:r>
                        <a:rPr lang="en-US" sz="2000" b="0" i="0" u="none" strike="noStrike">
                          <a:solidFill>
                            <a:srgbClr val="FFFFFF"/>
                          </a:solidFill>
                          <a:effectLst/>
                          <a:latin typeface="Calibri"/>
                        </a:rPr>
                        <a:t>92,272</a:t>
                      </a:r>
                    </a:p>
                  </a:txBody>
                  <a:tcPr marL="9525" marR="9525" marT="9525" marB="0" anchor="b">
                    <a:lnL>
                      <a:noFill/>
                    </a:lnL>
                    <a:lnR>
                      <a:noFill/>
                    </a:lnR>
                    <a:lnT>
                      <a:noFill/>
                    </a:lnT>
                    <a:lnB>
                      <a:noFill/>
                    </a:lnB>
                    <a:solidFill>
                      <a:srgbClr val="BFBFBF"/>
                    </a:solidFill>
                  </a:tcPr>
                </a:tc>
              </a:tr>
              <a:tr h="345646">
                <a:tc>
                  <a:txBody>
                    <a:bodyPr/>
                    <a:lstStyle/>
                    <a:p>
                      <a:pPr algn="l" fontAlgn="b"/>
                      <a:r>
                        <a:rPr lang="en-US" sz="2000" b="1" i="0" u="none" strike="noStrike" dirty="0" smtClean="0">
                          <a:solidFill>
                            <a:srgbClr val="FFFFFF"/>
                          </a:solidFill>
                          <a:effectLst/>
                          <a:latin typeface="Calibri"/>
                        </a:rPr>
                        <a:t>Non-Retail</a:t>
                      </a:r>
                      <a:endParaRPr lang="en-US" sz="2000" b="1" i="0" u="none" strike="noStrike" dirty="0">
                        <a:solidFill>
                          <a:srgbClr val="FFFFFF"/>
                        </a:solidFill>
                        <a:effectLst/>
                        <a:latin typeface="Calibri"/>
                      </a:endParaRPr>
                    </a:p>
                  </a:txBody>
                  <a:tcPr marL="9525" marR="9525" marT="9525" marB="0" anchor="b">
                    <a:lnL>
                      <a:noFill/>
                    </a:lnL>
                    <a:lnR>
                      <a:noFill/>
                    </a:lnR>
                    <a:lnT>
                      <a:noFill/>
                    </a:lnT>
                    <a:lnB>
                      <a:noFill/>
                    </a:lnB>
                    <a:solidFill>
                      <a:srgbClr val="244062"/>
                    </a:solidFill>
                  </a:tcPr>
                </a:tc>
                <a:tc>
                  <a:txBody>
                    <a:bodyPr/>
                    <a:lstStyle/>
                    <a:p>
                      <a:pPr algn="ctr" fontAlgn="b"/>
                      <a:r>
                        <a:rPr lang="en-US" sz="2000" b="0" i="0" u="none" strike="noStrike">
                          <a:solidFill>
                            <a:srgbClr val="FFFFFF"/>
                          </a:solidFill>
                          <a:effectLst/>
                          <a:latin typeface="Calibri"/>
                        </a:rPr>
                        <a:t> </a:t>
                      </a:r>
                    </a:p>
                  </a:txBody>
                  <a:tcPr marL="9525" marR="9525" marT="9525" marB="0" anchor="b">
                    <a:lnL>
                      <a:noFill/>
                    </a:lnL>
                    <a:lnR>
                      <a:noFill/>
                    </a:lnR>
                    <a:lnT>
                      <a:noFill/>
                    </a:lnT>
                    <a:lnB>
                      <a:noFill/>
                    </a:lnB>
                    <a:solidFill>
                      <a:srgbClr val="244062"/>
                    </a:solidFill>
                  </a:tcPr>
                </a:tc>
                <a:tc>
                  <a:txBody>
                    <a:bodyPr/>
                    <a:lstStyle/>
                    <a:p>
                      <a:pPr algn="ctr" fontAlgn="b"/>
                      <a:r>
                        <a:rPr lang="en-US" sz="2000" b="0" i="0" u="none" strike="noStrike">
                          <a:solidFill>
                            <a:srgbClr val="FFFFFF"/>
                          </a:solidFill>
                          <a:effectLst/>
                          <a:latin typeface="Calibri"/>
                        </a:rPr>
                        <a:t> </a:t>
                      </a:r>
                    </a:p>
                  </a:txBody>
                  <a:tcPr marL="9525" marR="9525" marT="9525" marB="0" anchor="b">
                    <a:lnL>
                      <a:noFill/>
                    </a:lnL>
                    <a:lnR>
                      <a:noFill/>
                    </a:lnR>
                    <a:lnT>
                      <a:noFill/>
                    </a:lnT>
                    <a:lnB>
                      <a:noFill/>
                    </a:lnB>
                    <a:solidFill>
                      <a:srgbClr val="244062"/>
                    </a:solidFill>
                  </a:tcPr>
                </a:tc>
              </a:tr>
              <a:tr h="345646">
                <a:tc>
                  <a:txBody>
                    <a:bodyPr/>
                    <a:lstStyle/>
                    <a:p>
                      <a:pPr algn="ctr" fontAlgn="b"/>
                      <a:r>
                        <a:rPr lang="en-US" sz="2000" b="0" i="0" u="none" strike="noStrike" dirty="0">
                          <a:solidFill>
                            <a:srgbClr val="000000"/>
                          </a:solidFill>
                          <a:effectLst/>
                          <a:latin typeface="Calibri"/>
                        </a:rPr>
                        <a:t>1</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315,659</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5,204</a:t>
                      </a:r>
                    </a:p>
                  </a:txBody>
                  <a:tcPr marL="9525" marR="9525" marT="9525" marB="0" anchor="b">
                    <a:lnL>
                      <a:noFill/>
                    </a:lnL>
                    <a:lnR>
                      <a:noFill/>
                    </a:lnR>
                    <a:lnT>
                      <a:noFill/>
                    </a:lnT>
                    <a:lnB>
                      <a:noFill/>
                    </a:lnB>
                  </a:tcPr>
                </a:tc>
              </a:tr>
              <a:tr h="345646">
                <a:tc>
                  <a:txBody>
                    <a:bodyPr/>
                    <a:lstStyle/>
                    <a:p>
                      <a:pPr algn="ctr" fontAlgn="b"/>
                      <a:r>
                        <a:rPr lang="en-US" sz="2000" b="0" i="0" u="none" strike="noStrike" dirty="0">
                          <a:solidFill>
                            <a:srgbClr val="000000"/>
                          </a:solidFill>
                          <a:effectLst/>
                          <a:latin typeface="Calibri"/>
                        </a:rPr>
                        <a:t>2</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26,992</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1,360</a:t>
                      </a:r>
                    </a:p>
                  </a:txBody>
                  <a:tcPr marL="9525" marR="9525" marT="9525" marB="0" anchor="b">
                    <a:lnL>
                      <a:noFill/>
                    </a:lnL>
                    <a:lnR>
                      <a:noFill/>
                    </a:lnR>
                    <a:lnT>
                      <a:noFill/>
                    </a:lnT>
                    <a:lnB>
                      <a:noFill/>
                    </a:lnB>
                  </a:tcPr>
                </a:tc>
              </a:tr>
              <a:tr h="345646">
                <a:tc>
                  <a:txBody>
                    <a:bodyPr/>
                    <a:lstStyle/>
                    <a:p>
                      <a:pPr algn="ctr" fontAlgn="b"/>
                      <a:r>
                        <a:rPr lang="en-US" sz="2000" b="0" i="0" u="none" strike="noStrike" dirty="0">
                          <a:solidFill>
                            <a:srgbClr val="000000"/>
                          </a:solidFill>
                          <a:effectLst/>
                          <a:latin typeface="Calibri"/>
                        </a:rPr>
                        <a:t>3</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1,916</a:t>
                      </a:r>
                    </a:p>
                  </a:txBody>
                  <a:tcPr marL="9525" marR="9525" marT="9525"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4,222</a:t>
                      </a:r>
                    </a:p>
                  </a:txBody>
                  <a:tcPr marL="9525" marR="9525" marT="9525" marB="0" anchor="b">
                    <a:lnL>
                      <a:noFill/>
                    </a:lnL>
                    <a:lnR>
                      <a:noFill/>
                    </a:lnR>
                    <a:lnT>
                      <a:noFill/>
                    </a:lnT>
                    <a:lnB>
                      <a:noFill/>
                    </a:lnB>
                  </a:tcPr>
                </a:tc>
              </a:tr>
              <a:tr h="345646">
                <a:tc>
                  <a:txBody>
                    <a:bodyPr/>
                    <a:lstStyle/>
                    <a:p>
                      <a:pPr algn="l" fontAlgn="b"/>
                      <a:endParaRPr lang="en-US" sz="2000" b="0" i="0" u="none" strike="noStrike">
                        <a:solidFill>
                          <a:srgbClr val="000000"/>
                        </a:solidFill>
                        <a:effectLst/>
                        <a:latin typeface="Calibri"/>
                      </a:endParaRPr>
                    </a:p>
                  </a:txBody>
                  <a:tcPr marL="9525" marR="9525" marT="9525" marB="0" anchor="b">
                    <a:lnL>
                      <a:noFill/>
                    </a:lnL>
                    <a:lnR>
                      <a:noFill/>
                    </a:lnR>
                    <a:lnT>
                      <a:noFill/>
                    </a:lnT>
                    <a:lnB>
                      <a:noFill/>
                    </a:lnB>
                  </a:tcPr>
                </a:tc>
                <a:tc>
                  <a:txBody>
                    <a:bodyPr/>
                    <a:lstStyle/>
                    <a:p>
                      <a:pPr algn="ctr" fontAlgn="b"/>
                      <a:r>
                        <a:rPr lang="en-US" sz="2000" b="0" i="0" u="none" strike="noStrike">
                          <a:solidFill>
                            <a:srgbClr val="FFFFFF"/>
                          </a:solidFill>
                          <a:effectLst/>
                          <a:latin typeface="Calibri"/>
                        </a:rPr>
                        <a:t>344,566</a:t>
                      </a:r>
                    </a:p>
                  </a:txBody>
                  <a:tcPr marL="9525" marR="9525" marT="9525" marB="0" anchor="b">
                    <a:lnL>
                      <a:noFill/>
                    </a:lnL>
                    <a:lnR>
                      <a:noFill/>
                    </a:lnR>
                    <a:lnT>
                      <a:noFill/>
                    </a:lnT>
                    <a:lnB>
                      <a:noFill/>
                    </a:lnB>
                    <a:solidFill>
                      <a:srgbClr val="BFBFBF"/>
                    </a:solidFill>
                  </a:tcPr>
                </a:tc>
                <a:tc>
                  <a:txBody>
                    <a:bodyPr/>
                    <a:lstStyle/>
                    <a:p>
                      <a:pPr algn="ctr" fontAlgn="b"/>
                      <a:r>
                        <a:rPr lang="en-US" sz="2000" b="0" i="0" u="none" strike="noStrike" dirty="0">
                          <a:solidFill>
                            <a:srgbClr val="FFFFFF"/>
                          </a:solidFill>
                          <a:effectLst/>
                          <a:latin typeface="Calibri"/>
                        </a:rPr>
                        <a:t>10,786</a:t>
                      </a:r>
                    </a:p>
                  </a:txBody>
                  <a:tcPr marL="9525" marR="9525" marT="9525" marB="0" anchor="b">
                    <a:lnL>
                      <a:noFill/>
                    </a:lnL>
                    <a:lnR>
                      <a:noFill/>
                    </a:lnR>
                    <a:lnT>
                      <a:noFill/>
                    </a:lnT>
                    <a:lnB>
                      <a:noFill/>
                    </a:lnB>
                    <a:solidFill>
                      <a:srgbClr val="BFBFBF"/>
                    </a:solidFill>
                  </a:tcPr>
                </a:tc>
              </a:tr>
            </a:tbl>
          </a:graphicData>
        </a:graphic>
      </p:graphicFrame>
    </p:spTree>
    <p:extLst>
      <p:ext uri="{BB962C8B-B14F-4D97-AF65-F5344CB8AC3E}">
        <p14:creationId xmlns:p14="http://schemas.microsoft.com/office/powerpoint/2010/main" val="261124412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783773"/>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fr-FR" altLang="en-US" sz="2200" dirty="0" smtClean="0"/>
              <a:t>Eligible </a:t>
            </a:r>
            <a:r>
              <a:rPr lang="fr-FR" altLang="en-US" sz="2200" dirty="0" err="1"/>
              <a:t>Collateral</a:t>
            </a:r>
            <a:r>
              <a:rPr lang="fr-FR" altLang="en-US" sz="2200" dirty="0"/>
              <a:t> for </a:t>
            </a:r>
            <a:r>
              <a:rPr lang="fr-FR" altLang="en-US" sz="2200" dirty="0" smtClean="0"/>
              <a:t>IFRS9</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11</a:t>
            </a:r>
            <a:endParaRPr lang="en-IN" sz="2400" b="1" dirty="0">
              <a:solidFill>
                <a:schemeClr val="bg1"/>
              </a:solidFill>
            </a:endParaRPr>
          </a:p>
        </p:txBody>
      </p:sp>
    </p:spTree>
    <p:extLst>
      <p:ext uri="{BB962C8B-B14F-4D97-AF65-F5344CB8AC3E}">
        <p14:creationId xmlns:p14="http://schemas.microsoft.com/office/powerpoint/2010/main" val="305917335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7943"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80</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774845"/>
            <a:chOff x="274638" y="1133475"/>
            <a:chExt cx="9324936" cy="1743374"/>
          </a:xfrm>
        </p:grpSpPr>
        <p:sp>
          <p:nvSpPr>
            <p:cNvPr id="18442" name="Rectangle 6"/>
            <p:cNvSpPr>
              <a:spLocks noChangeArrowheads="1"/>
            </p:cNvSpPr>
            <p:nvPr>
              <p:custDataLst>
                <p:tags r:id="rId5"/>
              </p:custDataLst>
            </p:nvPr>
          </p:nvSpPr>
          <p:spPr bwMode="auto">
            <a:xfrm>
              <a:off x="274638" y="1133475"/>
              <a:ext cx="1701800" cy="1743374"/>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5670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IN" altLang="en-US" sz="1400" dirty="0">
                  <a:solidFill>
                    <a:srgbClr val="000000"/>
                  </a:solidFill>
                </a:rPr>
                <a:t>Under </a:t>
              </a:r>
              <a:r>
                <a:rPr lang="en-IN" altLang="en-US" sz="1400" dirty="0" smtClean="0">
                  <a:solidFill>
                    <a:srgbClr val="000000"/>
                  </a:solidFill>
                </a:rPr>
                <a:t>IFRS9, </a:t>
              </a:r>
              <a:r>
                <a:rPr lang="en-IN" altLang="en-US" sz="1400" dirty="0">
                  <a:solidFill>
                    <a:srgbClr val="000000"/>
                  </a:solidFill>
                </a:rPr>
                <a:t>collaterals play a limited role in the SICR process. Since SICR is based on Default Risk and collaterals are Loss </a:t>
              </a:r>
              <a:r>
                <a:rPr lang="en-IN" altLang="en-US" sz="1400" dirty="0" err="1">
                  <a:solidFill>
                    <a:srgbClr val="000000"/>
                  </a:solidFill>
                </a:rPr>
                <a:t>m</a:t>
              </a:r>
              <a:r>
                <a:rPr lang="en-IN" altLang="en-US" sz="1400" dirty="0" err="1" smtClean="0">
                  <a:solidFill>
                    <a:srgbClr val="000000"/>
                  </a:solidFill>
                </a:rPr>
                <a:t>itigants</a:t>
              </a:r>
              <a:r>
                <a:rPr lang="en-IN" altLang="en-US" sz="1400" dirty="0" smtClean="0">
                  <a:solidFill>
                    <a:srgbClr val="000000"/>
                  </a:solidFill>
                </a:rPr>
                <a:t> </a:t>
              </a:r>
              <a:r>
                <a:rPr lang="en-IN" altLang="en-US" sz="1400" dirty="0">
                  <a:solidFill>
                    <a:srgbClr val="000000"/>
                  </a:solidFill>
                </a:rPr>
                <a:t>and not Default </a:t>
              </a:r>
              <a:r>
                <a:rPr lang="en-IN" altLang="en-US" sz="1400" dirty="0" err="1">
                  <a:solidFill>
                    <a:srgbClr val="000000"/>
                  </a:solidFill>
                </a:rPr>
                <a:t>mitigants</a:t>
              </a:r>
              <a:r>
                <a:rPr lang="en-IN" altLang="en-US" sz="1400" dirty="0">
                  <a:solidFill>
                    <a:srgbClr val="000000"/>
                  </a:solidFill>
                </a:rPr>
                <a:t> (barring some exceptions) collaterals are not considered in SICR.</a:t>
              </a:r>
            </a:p>
            <a:p>
              <a:pPr eaLnBrk="1" hangingPunct="1">
                <a:lnSpc>
                  <a:spcPts val="1400"/>
                </a:lnSpc>
                <a:spcBef>
                  <a:spcPts val="300"/>
                </a:spcBef>
                <a:buFont typeface="Arial" panose="020B0604020202020204" pitchFamily="34" charset="0"/>
                <a:buChar char="•"/>
              </a:pPr>
              <a:endParaRPr lang="en-IN" altLang="en-US" sz="1400" dirty="0">
                <a:solidFill>
                  <a:srgbClr val="000000"/>
                </a:solidFill>
              </a:endParaRPr>
            </a:p>
            <a:p>
              <a:pPr eaLnBrk="1" hangingPunct="1">
                <a:lnSpc>
                  <a:spcPts val="1400"/>
                </a:lnSpc>
                <a:spcBef>
                  <a:spcPts val="300"/>
                </a:spcBef>
                <a:buFont typeface="Arial" panose="020B0604020202020204" pitchFamily="34" charset="0"/>
                <a:buChar char="•"/>
              </a:pPr>
              <a:r>
                <a:rPr lang="en-IN" altLang="en-US" sz="1400" dirty="0" smtClean="0">
                  <a:solidFill>
                    <a:srgbClr val="000000"/>
                  </a:solidFill>
                </a:rPr>
                <a:t>IFRS9 </a:t>
              </a:r>
              <a:r>
                <a:rPr lang="en-IN" altLang="en-US" sz="1400" dirty="0">
                  <a:solidFill>
                    <a:srgbClr val="000000"/>
                  </a:solidFill>
                </a:rPr>
                <a:t>allows the factoring in of cash flows from collaterals as part of the ECL computation process. </a:t>
              </a:r>
            </a:p>
            <a:p>
              <a:pPr eaLnBrk="1" hangingPunct="1">
                <a:lnSpc>
                  <a:spcPts val="1400"/>
                </a:lnSpc>
                <a:spcBef>
                  <a:spcPts val="300"/>
                </a:spcBef>
                <a:buFont typeface="Arial" panose="020B0604020202020204" pitchFamily="34" charset="0"/>
                <a:buChar char="•"/>
              </a:pPr>
              <a:endParaRPr lang="en-IN" altLang="en-US" sz="1400" dirty="0">
                <a:solidFill>
                  <a:srgbClr val="000000"/>
                </a:solidFill>
              </a:endParaRPr>
            </a:p>
            <a:p>
              <a:pPr eaLnBrk="1" hangingPunct="1">
                <a:lnSpc>
                  <a:spcPts val="1400"/>
                </a:lnSpc>
                <a:spcBef>
                  <a:spcPts val="300"/>
                </a:spcBef>
                <a:buFont typeface="Arial" panose="020B0604020202020204" pitchFamily="34" charset="0"/>
                <a:buChar char="•"/>
              </a:pPr>
              <a:r>
                <a:rPr lang="en-IN" altLang="en-US" sz="1400" dirty="0" smtClean="0">
                  <a:solidFill>
                    <a:srgbClr val="000000"/>
                  </a:solidFill>
                </a:rPr>
                <a:t>IFRS9 </a:t>
              </a:r>
              <a:r>
                <a:rPr lang="en-IN" altLang="en-US" sz="1400" dirty="0">
                  <a:solidFill>
                    <a:srgbClr val="000000"/>
                  </a:solidFill>
                </a:rPr>
                <a:t>has not specified what types of collateral are eligible for consideration (unlike Basel). </a:t>
              </a:r>
            </a:p>
          </p:txBody>
        </p:sp>
      </p:grpSp>
      <p:sp>
        <p:nvSpPr>
          <p:cNvPr id="14" name="Rectangle 6"/>
          <p:cNvSpPr>
            <a:spLocks noChangeArrowheads="1"/>
          </p:cNvSpPr>
          <p:nvPr>
            <p:custDataLst>
              <p:tags r:id="rId3"/>
            </p:custDataLst>
          </p:nvPr>
        </p:nvSpPr>
        <p:spPr bwMode="auto">
          <a:xfrm>
            <a:off x="261938" y="3254375"/>
            <a:ext cx="1701807" cy="1556836"/>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3254375"/>
            <a:ext cx="7497793" cy="15568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altLang="en-US" sz="1400" dirty="0">
                <a:solidFill>
                  <a:srgbClr val="000000"/>
                </a:solidFill>
              </a:rPr>
              <a:t>This is important from the perspective of implementation of </a:t>
            </a:r>
            <a:r>
              <a:rPr lang="en-IN" altLang="en-US" sz="1400" dirty="0" smtClean="0">
                <a:solidFill>
                  <a:srgbClr val="000000"/>
                </a:solidFill>
              </a:rPr>
              <a:t>IFRS9 </a:t>
            </a:r>
            <a:r>
              <a:rPr lang="en-IN" altLang="en-US" sz="1400" dirty="0">
                <a:solidFill>
                  <a:srgbClr val="000000"/>
                </a:solidFill>
              </a:rPr>
              <a:t>due to the following reasons:</a:t>
            </a:r>
          </a:p>
          <a:p>
            <a:pPr eaLnBrk="1" hangingPunct="1">
              <a:spcBef>
                <a:spcPts val="300"/>
              </a:spcBef>
              <a:buFont typeface="Arial" panose="020B0604020202020204" pitchFamily="34" charset="0"/>
              <a:buChar char="•"/>
            </a:pPr>
            <a:r>
              <a:rPr lang="en-IN" altLang="en-US" sz="1400" dirty="0" smtClean="0">
                <a:solidFill>
                  <a:srgbClr val="000000"/>
                </a:solidFill>
              </a:rPr>
              <a:t>IFRS9 </a:t>
            </a:r>
            <a:r>
              <a:rPr lang="en-IN" altLang="en-US" sz="1400" dirty="0">
                <a:solidFill>
                  <a:srgbClr val="000000"/>
                </a:solidFill>
              </a:rPr>
              <a:t>does not specify any criteria for the inclusion of a collateral type for the expected loss computations.</a:t>
            </a:r>
          </a:p>
          <a:p>
            <a:pPr eaLnBrk="1" hangingPunct="1">
              <a:spcBef>
                <a:spcPts val="300"/>
              </a:spcBef>
              <a:buFont typeface="Arial" panose="020B0604020202020204" pitchFamily="34" charset="0"/>
              <a:buChar char="•"/>
            </a:pPr>
            <a:endParaRPr lang="en-IN" altLang="en-US" sz="1400" dirty="0">
              <a:solidFill>
                <a:srgbClr val="000000"/>
              </a:solidFill>
            </a:endParaRPr>
          </a:p>
          <a:p>
            <a:pPr eaLnBrk="1" hangingPunct="1">
              <a:spcBef>
                <a:spcPts val="300"/>
              </a:spcBef>
              <a:buFont typeface="Arial" panose="020B0604020202020204" pitchFamily="34" charset="0"/>
              <a:buChar char="•"/>
            </a:pPr>
            <a:r>
              <a:rPr lang="en-IN" altLang="en-US" sz="1400" dirty="0">
                <a:solidFill>
                  <a:srgbClr val="000000"/>
                </a:solidFill>
              </a:rPr>
              <a:t>Eligible collateral is a key input to determine the Loss given Default of a facility which is an important parameter in </a:t>
            </a:r>
            <a:r>
              <a:rPr lang="en-IN" altLang="en-US" sz="1400" dirty="0" smtClean="0">
                <a:solidFill>
                  <a:srgbClr val="000000"/>
                </a:solidFill>
              </a:rPr>
              <a:t>IFRS9 </a:t>
            </a:r>
            <a:r>
              <a:rPr lang="en-IN" altLang="en-US" sz="1400" dirty="0">
                <a:solidFill>
                  <a:srgbClr val="000000"/>
                </a:solidFill>
              </a:rPr>
              <a:t>provision computation</a:t>
            </a:r>
          </a:p>
        </p:txBody>
      </p:sp>
    </p:spTree>
    <p:extLst>
      <p:ext uri="{BB962C8B-B14F-4D97-AF65-F5344CB8AC3E}">
        <p14:creationId xmlns:p14="http://schemas.microsoft.com/office/powerpoint/2010/main" val="74481798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81</a:t>
            </a:fld>
            <a:endParaRPr lang="en-US" altLang="en-US"/>
          </a:p>
        </p:txBody>
      </p:sp>
      <p:graphicFrame>
        <p:nvGraphicFramePr>
          <p:cNvPr id="4" name="Table 3"/>
          <p:cNvGraphicFramePr>
            <a:graphicFrameLocks noGrp="1"/>
          </p:cNvGraphicFramePr>
          <p:nvPr>
            <p:extLst/>
          </p:nvPr>
        </p:nvGraphicFramePr>
        <p:xfrm>
          <a:off x="895350" y="1181100"/>
          <a:ext cx="8115300" cy="741680"/>
        </p:xfrm>
        <a:graphic>
          <a:graphicData uri="http://schemas.openxmlformats.org/drawingml/2006/table">
            <a:tbl>
              <a:tblPr firstRow="1" bandRow="1">
                <a:tableStyleId>{5940675A-B579-460E-94D1-54222C63F5DA}</a:tableStyleId>
              </a:tblPr>
              <a:tblGrid>
                <a:gridCol w="1365250"/>
                <a:gridCol w="6750050"/>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the bank specify the Eligible collaterals in its Expected Credit loss computations?</a:t>
                      </a:r>
                    </a:p>
                  </a:txBody>
                  <a:tcPr anchor="ctr"/>
                </a:tc>
              </a:tr>
            </a:tbl>
          </a:graphicData>
        </a:graphic>
      </p:graphicFrame>
    </p:spTree>
    <p:extLst>
      <p:ext uri="{BB962C8B-B14F-4D97-AF65-F5344CB8AC3E}">
        <p14:creationId xmlns:p14="http://schemas.microsoft.com/office/powerpoint/2010/main" val="169330936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82</a:t>
            </a:fld>
            <a:endParaRPr lang="en-US" altLang="en-US"/>
          </a:p>
        </p:txBody>
      </p:sp>
      <p:graphicFrame>
        <p:nvGraphicFramePr>
          <p:cNvPr id="5" name="Table 4"/>
          <p:cNvGraphicFramePr>
            <a:graphicFrameLocks noGrp="1"/>
          </p:cNvGraphicFramePr>
          <p:nvPr>
            <p:extLst/>
          </p:nvPr>
        </p:nvGraphicFramePr>
        <p:xfrm>
          <a:off x="287338" y="939800"/>
          <a:ext cx="9331325" cy="4267200"/>
        </p:xfrm>
        <a:graphic>
          <a:graphicData uri="http://schemas.openxmlformats.org/drawingml/2006/table">
            <a:tbl>
              <a:tblPr firstRow="1" bandRow="1">
                <a:tableStyleId>{5940675A-B579-460E-94D1-54222C63F5DA}</a:tableStyleId>
              </a:tblPr>
              <a:tblGrid>
                <a:gridCol w="1350962"/>
                <a:gridCol w="1257300"/>
                <a:gridCol w="6723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IFRS9 B5.5.55</a:t>
                      </a:r>
                    </a:p>
                    <a:p>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p>
                      <a:r>
                        <a:rPr lang="en-IN" sz="1400" kern="1200" dirty="0" smtClean="0">
                          <a:solidFill>
                            <a:srgbClr val="000000"/>
                          </a:solidFill>
                          <a:latin typeface="Times New Roman" panose="02020603050405020304" pitchFamily="18" charset="0"/>
                          <a:ea typeface="+mn-ea"/>
                          <a:cs typeface="Times New Roman" panose="02020603050405020304" pitchFamily="18" charset="0"/>
                        </a:rPr>
                        <a:t>Appendix : Definition of Credit Loss </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IFRS9 allows the use of expected cash flows from collateral in estimation of ECL including cash flows from possible foreclosure.</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Although IFRS9 do not define eligible collateral, it says that the cash flows which are considered shall include cash flows from the sale of collateral held or other credit enhancements that are </a:t>
                      </a:r>
                      <a:r>
                        <a:rPr lang="en-IN" sz="1400" b="1" kern="1200" dirty="0" smtClean="0">
                          <a:solidFill>
                            <a:srgbClr val="000000"/>
                          </a:solidFill>
                          <a:latin typeface="Times New Roman" panose="02020603050405020304" pitchFamily="18" charset="0"/>
                          <a:ea typeface="+mn-ea"/>
                          <a:cs typeface="Times New Roman" panose="02020603050405020304" pitchFamily="18" charset="0"/>
                        </a:rPr>
                        <a:t>integral to the contractual terms and not recognized separately.</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2.3.6.3</a:t>
                      </a:r>
                    </a:p>
                  </a:txBody>
                  <a:tcPr anchor="ctr"/>
                </a:tc>
                <a:tc>
                  <a:txBody>
                    <a:bodyPr/>
                    <a:lstStyle/>
                    <a:p>
                      <a:pPr marL="285750" indent="-285750">
                        <a:buFont typeface="Arial" panose="020B0604020202020204" pitchFamily="34" charset="0"/>
                        <a:buChar char="•"/>
                      </a:pPr>
                      <a:r>
                        <a:rPr lang="en-IN"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No limitations on</a:t>
                      </a:r>
                      <a:r>
                        <a:rPr lang="en-IN" sz="1400" kern="1200" baseline="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what is eligible collateral, only that the haircuts applied should be no less that those stipulated in the QCB Instruction to Banks 2013.  However, the </a:t>
                      </a:r>
                      <a:r>
                        <a:rPr lang="en-IN"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haircut on any</a:t>
                      </a:r>
                      <a:r>
                        <a:rPr lang="en-IN" sz="1400" kern="1200" baseline="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a:t>
                      </a:r>
                      <a:r>
                        <a:rPr lang="en-IN"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Qatar </a:t>
                      </a:r>
                      <a:r>
                        <a:rPr lang="en-IN" sz="1400" kern="1200" dirty="0" err="1" smtClean="0">
                          <a:solidFill>
                            <a:schemeClr val="tx1">
                              <a:lumMod val="95000"/>
                              <a:lumOff val="5000"/>
                            </a:schemeClr>
                          </a:solidFill>
                          <a:latin typeface="Times New Roman" panose="02020603050405020304" pitchFamily="18" charset="0"/>
                          <a:ea typeface="+mn-ea"/>
                          <a:cs typeface="Times New Roman" panose="02020603050405020304" pitchFamily="18" charset="0"/>
                        </a:rPr>
                        <a:t>MoF</a:t>
                      </a:r>
                      <a:r>
                        <a:rPr lang="en-IN"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collateral</a:t>
                      </a:r>
                      <a:r>
                        <a:rPr lang="en-IN" sz="1400" kern="1200" baseline="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will be zero</a:t>
                      </a:r>
                      <a:r>
                        <a:rPr lang="en-IN"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fr-FR" sz="1400" kern="1200" dirty="0" smtClean="0">
                          <a:solidFill>
                            <a:srgbClr val="000000"/>
                          </a:solidFill>
                          <a:latin typeface="Times New Roman" panose="02020603050405020304" pitchFamily="18" charset="0"/>
                          <a:ea typeface="+mn-ea"/>
                          <a:cs typeface="Times New Roman" panose="02020603050405020304" pitchFamily="18" charset="0"/>
                        </a:rPr>
                        <a:t>4.13.5.1 (page 108)</a:t>
                      </a:r>
                    </a:p>
                    <a:p>
                      <a:pPr algn="l"/>
                      <a:endParaRPr lang="fr-FR" sz="1400" kern="1200" dirty="0" smtClean="0">
                        <a:solidFill>
                          <a:srgbClr val="000000"/>
                        </a:solidFill>
                        <a:latin typeface="Times New Roman" panose="02020603050405020304" pitchFamily="18" charset="0"/>
                        <a:ea typeface="+mn-ea"/>
                        <a:cs typeface="Times New Roman" panose="02020603050405020304" pitchFamily="18" charset="0"/>
                      </a:endParaRPr>
                    </a:p>
                    <a:p>
                      <a:pPr algn="l"/>
                      <a:r>
                        <a:rPr lang="fr-FR" sz="1400" kern="1200" dirty="0" smtClean="0">
                          <a:solidFill>
                            <a:srgbClr val="000000"/>
                          </a:solidFill>
                          <a:latin typeface="Times New Roman" panose="02020603050405020304" pitchFamily="18" charset="0"/>
                          <a:ea typeface="+mn-ea"/>
                          <a:cs typeface="Times New Roman" panose="02020603050405020304" pitchFamily="18" charset="0"/>
                        </a:rPr>
                        <a:t>4.14 (</a:t>
                      </a:r>
                      <a:r>
                        <a:rPr lang="fr-FR" sz="1400" kern="1200" dirty="0" err="1" smtClean="0">
                          <a:solidFill>
                            <a:srgbClr val="000000"/>
                          </a:solidFill>
                          <a:latin typeface="Times New Roman" panose="02020603050405020304" pitchFamily="18" charset="0"/>
                          <a:ea typeface="+mn-ea"/>
                          <a:cs typeface="Times New Roman" panose="02020603050405020304" pitchFamily="18" charset="0"/>
                        </a:rPr>
                        <a:t>Appendix</a:t>
                      </a:r>
                      <a:r>
                        <a:rPr lang="fr-FR" sz="1400" kern="1200" dirty="0" smtClean="0">
                          <a:solidFill>
                            <a:srgbClr val="000000"/>
                          </a:solidFill>
                          <a:latin typeface="Times New Roman" panose="02020603050405020304" pitchFamily="18" charset="0"/>
                          <a:ea typeface="+mn-ea"/>
                          <a:cs typeface="Times New Roman" panose="02020603050405020304" pitchFamily="18" charset="0"/>
                        </a:rPr>
                        <a:t> A)</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SAMA is pretty explicit on this topic and says that in case collateral are used then there must be an Effective Collateral Management Framework in place including legal certainty, enforceability and regular revaluation.</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It also says that the collateral used must be reconciled to list sanctioned by SAMA for regulatory purposes and thus restricts the list of eligible collateral</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In Appendix A, the language is slightly relaxed and seems to allow the use of various types of collateral so long the bank can prove legal right and history of enforceability</a:t>
                      </a:r>
                    </a:p>
                  </a:txBody>
                  <a:tcPr/>
                </a:tc>
              </a:tr>
            </a:tbl>
          </a:graphicData>
        </a:graphic>
      </p:graphicFrame>
    </p:spTree>
    <p:extLst>
      <p:ext uri="{BB962C8B-B14F-4D97-AF65-F5344CB8AC3E}">
        <p14:creationId xmlns:p14="http://schemas.microsoft.com/office/powerpoint/2010/main" val="363964720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83</a:t>
            </a:fld>
            <a:endParaRPr lang="en-US" altLang="en-US"/>
          </a:p>
        </p:txBody>
      </p:sp>
      <p:graphicFrame>
        <p:nvGraphicFramePr>
          <p:cNvPr id="5" name="Table 4"/>
          <p:cNvGraphicFramePr>
            <a:graphicFrameLocks noGrp="1"/>
          </p:cNvGraphicFramePr>
          <p:nvPr>
            <p:extLst/>
          </p:nvPr>
        </p:nvGraphicFramePr>
        <p:xfrm>
          <a:off x="287338" y="977900"/>
          <a:ext cx="9331324" cy="3413760"/>
        </p:xfrm>
        <a:graphic>
          <a:graphicData uri="http://schemas.openxmlformats.org/drawingml/2006/table">
            <a:tbl>
              <a:tblPr firstRow="1" bandRow="1">
                <a:tableStyleId>{5940675A-B579-460E-94D1-54222C63F5DA}</a:tableStyleId>
              </a:tblPr>
              <a:tblGrid>
                <a:gridCol w="957262"/>
                <a:gridCol w="1231900"/>
                <a:gridCol w="71421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2.5.2.3</a:t>
                      </a:r>
                    </a:p>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2.5.4</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GPPC is similar in tone to IFRS9 and says that for secured exposures forecast of future collateral value, cross collateralization etc. should be considered</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It also says that failure to update collateral values is a non-compliant practice.</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AP5- Collateral and Other Credit  Enhancements </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ITG has deliberated on the implications of integral to the contractual terms and not recognized separately. The conclusion reaches is that “integral” does not mean that the collateral must be explicitly referenced and economic substance should be taken into account.</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However, if an asset is recognized separately by the bank then it cannot be considered as collateral for another asset.</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34(g)</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Basel specifies timely evaluations of collateral value and consideration of factors that may impact the future value of collateral (bearing in mind that collateral values directly affect estimates of loss-given-default) as a best practice.</a:t>
                      </a:r>
                    </a:p>
                  </a:txBody>
                  <a:tcPr/>
                </a:tc>
              </a:tr>
            </a:tbl>
          </a:graphicData>
        </a:graphic>
      </p:graphicFrame>
    </p:spTree>
    <p:extLst>
      <p:ext uri="{BB962C8B-B14F-4D97-AF65-F5344CB8AC3E}">
        <p14:creationId xmlns:p14="http://schemas.microsoft.com/office/powerpoint/2010/main" val="155218131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use of Eligible Collaterals</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84</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18164513"/>
              </p:ext>
            </p:extLst>
          </p:nvPr>
        </p:nvGraphicFramePr>
        <p:xfrm>
          <a:off x="287338" y="850900"/>
          <a:ext cx="9331325" cy="3688080"/>
        </p:xfrm>
        <a:graphic>
          <a:graphicData uri="http://schemas.openxmlformats.org/drawingml/2006/table">
            <a:tbl>
              <a:tblPr firstRow="1" bandRow="1">
                <a:tableStyleId>{5940675A-B579-460E-94D1-54222C63F5DA}</a:tableStyleId>
              </a:tblPr>
              <a:tblGrid>
                <a:gridCol w="588962"/>
                <a:gridCol w="1511300"/>
                <a:gridCol w="7231063"/>
              </a:tblGrid>
              <a:tr h="471637">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052034">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the bank specify the eligible collaterals in its Expected Credit loss computations ?</a:t>
                      </a:r>
                    </a:p>
                  </a:txBody>
                  <a:tcPr anchor="ctr"/>
                </a:tc>
                <a:tc>
                  <a:txBody>
                    <a:bodyPr/>
                    <a:lstStyle/>
                    <a:p>
                      <a:pPr marL="0" indent="0">
                        <a:lnSpc>
                          <a:spcPct val="100000"/>
                        </a:lnSpc>
                        <a:spcBef>
                          <a:spcPts val="300"/>
                        </a:spcBef>
                        <a:spcAft>
                          <a:spcPts val="300"/>
                        </a:spcAft>
                        <a:buFont typeface="Arial" panose="020B0604020202020204" pitchFamily="34" charset="0"/>
                        <a:buNone/>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As per the guidance of IFRS 9, QNB will consider eligible collateral in the following ways:</a:t>
                      </a:r>
                    </a:p>
                    <a:p>
                      <a:pPr marL="285750" indent="-285750" algn="l" defTabSz="914400" rtl="0" eaLnBrk="1" latinLnBrk="0" hangingPunct="1">
                        <a:lnSpc>
                          <a:spcPct val="100000"/>
                        </a:lnSpc>
                        <a:spcBef>
                          <a:spcPts val="300"/>
                        </a:spcBef>
                        <a:spcAft>
                          <a:spcPts val="300"/>
                        </a:spcAft>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QNB can consider the QCB’s collateral eligibility and guideline regulations. As per QCB, eligibility of collateral</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types, along with details of applicable haircuts are listed in Section 5 of Volume Two of the QCB’s Instruction to Banks</a:t>
                      </a:r>
                      <a:r>
                        <a:rPr lang="en-IN" sz="1400" kern="1200" dirty="0" smtClean="0">
                          <a:solidFill>
                            <a:schemeClr val="tx1"/>
                          </a:solidFill>
                          <a:latin typeface="Times New Roman" panose="02020603050405020304" pitchFamily="18" charset="0"/>
                          <a:ea typeface="+mn-ea"/>
                          <a:cs typeface="Times New Roman" panose="02020603050405020304" pitchFamily="18" charset="0"/>
                        </a:rPr>
                        <a:t>.</a:t>
                      </a:r>
                    </a:p>
                    <a:p>
                      <a:pPr marL="285750" indent="-285750" algn="l" defTabSz="914400" rtl="0" eaLnBrk="1" latinLnBrk="0" hangingPunct="1">
                        <a:lnSpc>
                          <a:spcPct val="100000"/>
                        </a:lnSpc>
                        <a:spcBef>
                          <a:spcPts val="300"/>
                        </a:spcBef>
                        <a:spcAft>
                          <a:spcPts val="300"/>
                        </a:spcAft>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The Bank can also consider collateral</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types that are eligible as per </a:t>
                      </a:r>
                      <a:r>
                        <a:rPr lang="en-IN" sz="1400" kern="1200" dirty="0" smtClean="0">
                          <a:solidFill>
                            <a:schemeClr val="tx1"/>
                          </a:solidFill>
                          <a:latin typeface="Times New Roman" panose="02020603050405020304" pitchFamily="18" charset="0"/>
                          <a:ea typeface="+mn-ea"/>
                          <a:cs typeface="Times New Roman" panose="02020603050405020304" pitchFamily="18" charset="0"/>
                        </a:rPr>
                        <a:t>Basel 2 guidelines (BCBS June 2006 Paragraph 145)</a:t>
                      </a:r>
                    </a:p>
                    <a:p>
                      <a:pPr marL="285750" indent="-285750" algn="l" defTabSz="914400" rtl="0" eaLnBrk="1" latinLnBrk="0" hangingPunct="1">
                        <a:lnSpc>
                          <a:spcPct val="100000"/>
                        </a:lnSpc>
                        <a:spcBef>
                          <a:spcPts val="300"/>
                        </a:spcBef>
                        <a:spcAft>
                          <a:spcPts val="300"/>
                        </a:spcAft>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In addition to the above, QNB will consider any other collateral as eligible for IFRS 9 provided the following can be demonstrated:</a:t>
                      </a:r>
                    </a:p>
                    <a:p>
                      <a:pPr marL="542925" lvl="1" indent="-277813" algn="l" defTabSz="914400" rtl="0" eaLnBrk="1" latinLnBrk="0" hangingPunct="1">
                        <a:lnSpc>
                          <a:spcPct val="100000"/>
                        </a:lnSpc>
                        <a:spcBef>
                          <a:spcPts val="300"/>
                        </a:spcBef>
                        <a:spcAft>
                          <a:spcPts val="300"/>
                        </a:spcAft>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Legal certainty and enforceability</a:t>
                      </a:r>
                    </a:p>
                    <a:p>
                      <a:pPr marL="542925" lvl="1" indent="-277813" algn="l" defTabSz="914400" rtl="0" eaLnBrk="1" latinLnBrk="0" hangingPunct="1">
                        <a:lnSpc>
                          <a:spcPct val="100000"/>
                        </a:lnSpc>
                        <a:spcBef>
                          <a:spcPts val="300"/>
                        </a:spcBef>
                        <a:spcAft>
                          <a:spcPts val="300"/>
                        </a:spcAft>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History of enforceability and recovery</a:t>
                      </a:r>
                    </a:p>
                    <a:p>
                      <a:pPr marL="542925" lvl="1" indent="-277813" algn="l" defTabSz="914400" rtl="0" eaLnBrk="1" latinLnBrk="0" hangingPunct="1">
                        <a:lnSpc>
                          <a:spcPct val="100000"/>
                        </a:lnSpc>
                        <a:spcBef>
                          <a:spcPts val="300"/>
                        </a:spcBef>
                        <a:spcAft>
                          <a:spcPts val="300"/>
                        </a:spcAft>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For such collateral, include additional degree of conservatism in valuation and haircut application</a:t>
                      </a:r>
                    </a:p>
                  </a:txBody>
                  <a:tcPr/>
                </a:tc>
              </a:tr>
            </a:tbl>
          </a:graphicData>
        </a:graphic>
      </p:graphicFrame>
    </p:spTree>
    <p:extLst>
      <p:ext uri="{BB962C8B-B14F-4D97-AF65-F5344CB8AC3E}">
        <p14:creationId xmlns:p14="http://schemas.microsoft.com/office/powerpoint/2010/main" val="354433043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use of Eligible Collaterals</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85</a:t>
            </a:fld>
            <a:endParaRPr lang="en-US" altLang="en-US"/>
          </a:p>
        </p:txBody>
      </p:sp>
      <p:sp>
        <p:nvSpPr>
          <p:cNvPr id="7" name="TextBox 6"/>
          <p:cNvSpPr txBox="1"/>
          <p:nvPr/>
        </p:nvSpPr>
        <p:spPr>
          <a:xfrm>
            <a:off x="1387269" y="6319390"/>
            <a:ext cx="6250985" cy="415498"/>
          </a:xfrm>
          <a:prstGeom prst="rect">
            <a:avLst/>
          </a:prstGeom>
          <a:noFill/>
        </p:spPr>
        <p:txBody>
          <a:bodyPr wrap="square" rtlCol="0">
            <a:spAutoFit/>
          </a:bodyPr>
          <a:lstStyle/>
          <a:p>
            <a:r>
              <a:rPr lang="en-US" sz="1050" b="1" dirty="0" smtClean="0"/>
              <a:t>* </a:t>
            </a:r>
            <a:r>
              <a:rPr lang="en-US" sz="1050" dirty="0" smtClean="0"/>
              <a:t>Eligible collateral list and applicable haircuts are picked up from QNB assumptions used for ECL computations</a:t>
            </a:r>
          </a:p>
          <a:p>
            <a:r>
              <a:rPr lang="en-US" sz="1050" dirty="0" smtClean="0"/>
              <a:t>** Bank Guarantees will have the substitution effect on PD and no impact on LGD </a:t>
            </a:r>
            <a:endParaRPr lang="en-US" sz="1050" dirty="0"/>
          </a:p>
        </p:txBody>
      </p:sp>
      <p:graphicFrame>
        <p:nvGraphicFramePr>
          <p:cNvPr id="6" name="Table 5"/>
          <p:cNvGraphicFramePr>
            <a:graphicFrameLocks noGrp="1"/>
          </p:cNvGraphicFramePr>
          <p:nvPr>
            <p:extLst/>
          </p:nvPr>
        </p:nvGraphicFramePr>
        <p:xfrm>
          <a:off x="287338" y="812773"/>
          <a:ext cx="9346992" cy="5442740"/>
        </p:xfrm>
        <a:graphic>
          <a:graphicData uri="http://schemas.openxmlformats.org/drawingml/2006/table">
            <a:tbl>
              <a:tblPr/>
              <a:tblGrid>
                <a:gridCol w="1541462"/>
                <a:gridCol w="819150"/>
                <a:gridCol w="600075"/>
                <a:gridCol w="733425"/>
                <a:gridCol w="818126"/>
                <a:gridCol w="742694"/>
                <a:gridCol w="772805"/>
                <a:gridCol w="952500"/>
                <a:gridCol w="2366755"/>
              </a:tblGrid>
              <a:tr h="727913">
                <a:tc>
                  <a:txBody>
                    <a:bodyPr/>
                    <a:lstStyle/>
                    <a:p>
                      <a:pPr algn="l" rtl="0" fontAlgn="ctr">
                        <a:spcBef>
                          <a:spcPts val="600"/>
                        </a:spcBef>
                        <a:spcAft>
                          <a:spcPts val="600"/>
                        </a:spcAft>
                      </a:pPr>
                      <a:r>
                        <a:rPr lang="en-IN" sz="1050" b="1" i="0" u="none" strike="noStrike" dirty="0">
                          <a:solidFill>
                            <a:srgbClr val="FFFFFF"/>
                          </a:solidFill>
                          <a:effectLst/>
                          <a:latin typeface="Times New Roman" panose="02020603050405020304" pitchFamily="18" charset="0"/>
                        </a:rPr>
                        <a:t>Collateral Type</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ctr" rtl="0" fontAlgn="ctr">
                        <a:spcBef>
                          <a:spcPts val="600"/>
                        </a:spcBef>
                        <a:spcAft>
                          <a:spcPts val="600"/>
                        </a:spcAft>
                      </a:pPr>
                      <a:r>
                        <a:rPr lang="en-IN" sz="1050" b="1" i="0" u="none" strike="noStrike" dirty="0">
                          <a:solidFill>
                            <a:srgbClr val="FFFFFF"/>
                          </a:solidFill>
                          <a:effectLst/>
                          <a:latin typeface="Times New Roman" panose="02020603050405020304" pitchFamily="18" charset="0"/>
                        </a:rPr>
                        <a:t>Eligible as per QNB Policy?</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ctr" rtl="0" fontAlgn="ctr">
                        <a:spcBef>
                          <a:spcPts val="600"/>
                        </a:spcBef>
                        <a:spcAft>
                          <a:spcPts val="600"/>
                        </a:spcAft>
                      </a:pPr>
                      <a:r>
                        <a:rPr lang="en-IN" sz="1050" b="1" i="0" u="none" strike="noStrike" dirty="0">
                          <a:solidFill>
                            <a:srgbClr val="FFFFFF"/>
                          </a:solidFill>
                          <a:effectLst/>
                          <a:latin typeface="Times New Roman" panose="02020603050405020304" pitchFamily="18" charset="0"/>
                        </a:rPr>
                        <a:t>Eligible </a:t>
                      </a:r>
                      <a:r>
                        <a:rPr lang="en-IN" sz="1050" b="1" i="0" u="none" strike="noStrike" dirty="0" smtClean="0">
                          <a:solidFill>
                            <a:srgbClr val="FFFFFF"/>
                          </a:solidFill>
                          <a:effectLst/>
                          <a:latin typeface="Times New Roman" panose="02020603050405020304" pitchFamily="18" charset="0"/>
                        </a:rPr>
                        <a:t>as per QCB ?</a:t>
                      </a:r>
                      <a:endParaRPr lang="en-IN" sz="1050" b="1" i="0" u="none" strike="noStrike" dirty="0">
                        <a:solidFill>
                          <a:srgbClr val="FFFFFF"/>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ctr" rtl="0" fontAlgn="ctr">
                        <a:spcBef>
                          <a:spcPts val="600"/>
                        </a:spcBef>
                        <a:spcAft>
                          <a:spcPts val="600"/>
                        </a:spcAft>
                      </a:pPr>
                      <a:r>
                        <a:rPr lang="en-IN" sz="1050" b="1" i="0" u="none" strike="noStrike" dirty="0">
                          <a:solidFill>
                            <a:srgbClr val="FFFFFF"/>
                          </a:solidFill>
                          <a:effectLst/>
                          <a:latin typeface="Times New Roman" panose="02020603050405020304" pitchFamily="18" charset="0"/>
                        </a:rPr>
                        <a:t>Proposed for </a:t>
                      </a:r>
                      <a:r>
                        <a:rPr lang="en-IN" sz="1050" b="1" i="0" u="none" strike="noStrike" dirty="0" smtClean="0">
                          <a:solidFill>
                            <a:srgbClr val="FFFFFF"/>
                          </a:solidFill>
                          <a:effectLst/>
                          <a:latin typeface="Times New Roman" panose="02020603050405020304" pitchFamily="18" charset="0"/>
                        </a:rPr>
                        <a:t>IFRS9</a:t>
                      </a:r>
                      <a:r>
                        <a:rPr lang="en-IN" sz="1050" b="1" i="0" u="none" strike="noStrike" dirty="0">
                          <a:solidFill>
                            <a:srgbClr val="FFFFFF"/>
                          </a:solidFill>
                          <a:effectLst/>
                          <a:latin typeface="Times New Roman" panose="02020603050405020304" pitchFamily="18" charset="0"/>
                        </a:rPr>
                        <a:t>?</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ctr" rtl="0" fontAlgn="ctr">
                        <a:spcBef>
                          <a:spcPts val="600"/>
                        </a:spcBef>
                        <a:spcAft>
                          <a:spcPts val="600"/>
                        </a:spcAft>
                      </a:pPr>
                      <a:r>
                        <a:rPr lang="en-IN" sz="1050" b="1" i="0" u="none" strike="noStrike" dirty="0" smtClean="0">
                          <a:solidFill>
                            <a:srgbClr val="FFFFFF"/>
                          </a:solidFill>
                          <a:effectLst/>
                          <a:latin typeface="Times New Roman" panose="02020603050405020304" pitchFamily="18" charset="0"/>
                        </a:rPr>
                        <a:t>Re-valuation Frequency</a:t>
                      </a:r>
                      <a:endParaRPr lang="en-IN" sz="1050" b="1" i="0" u="none" strike="noStrike" dirty="0">
                        <a:solidFill>
                          <a:srgbClr val="FFFFFF"/>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ctr" rtl="0" fontAlgn="ctr">
                        <a:spcBef>
                          <a:spcPts val="600"/>
                        </a:spcBef>
                        <a:spcAft>
                          <a:spcPts val="600"/>
                        </a:spcAft>
                      </a:pPr>
                      <a:r>
                        <a:rPr lang="en-IN" sz="1050" b="1" i="0" u="none" strike="noStrike" dirty="0" smtClean="0">
                          <a:solidFill>
                            <a:srgbClr val="FFFFFF"/>
                          </a:solidFill>
                          <a:effectLst/>
                          <a:latin typeface="Times New Roman" panose="02020603050405020304" pitchFamily="18" charset="0"/>
                        </a:rPr>
                        <a:t>Haircut*</a:t>
                      </a:r>
                      <a:endParaRPr lang="en-IN" sz="1050" b="1" i="0" u="none" strike="noStrike" dirty="0">
                        <a:solidFill>
                          <a:srgbClr val="FFFFFF"/>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ctr" rtl="0" fontAlgn="ctr">
                        <a:spcBef>
                          <a:spcPts val="600"/>
                        </a:spcBef>
                        <a:spcAft>
                          <a:spcPts val="600"/>
                        </a:spcAft>
                      </a:pPr>
                      <a:r>
                        <a:rPr lang="en-IN" sz="1050" b="1" i="0" u="none" strike="noStrike" dirty="0">
                          <a:solidFill>
                            <a:srgbClr val="FFFFFF"/>
                          </a:solidFill>
                          <a:effectLst/>
                          <a:latin typeface="Times New Roman" panose="02020603050405020304" pitchFamily="18" charset="0"/>
                        </a:rPr>
                        <a:t>Legal </a:t>
                      </a:r>
                      <a:r>
                        <a:rPr lang="en-IN" sz="1050" b="1" i="0" u="none" strike="noStrike" dirty="0" smtClean="0">
                          <a:solidFill>
                            <a:srgbClr val="FFFFFF"/>
                          </a:solidFill>
                          <a:effectLst/>
                          <a:latin typeface="Times New Roman" panose="02020603050405020304" pitchFamily="18" charset="0"/>
                        </a:rPr>
                        <a:t>Certainty</a:t>
                      </a:r>
                      <a:endParaRPr lang="en-IN" sz="1050" b="1" i="0" u="none" strike="noStrike" dirty="0">
                        <a:solidFill>
                          <a:srgbClr val="FFFFFF"/>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ctr" rtl="0" fontAlgn="ctr">
                        <a:spcBef>
                          <a:spcPts val="600"/>
                        </a:spcBef>
                        <a:spcAft>
                          <a:spcPts val="600"/>
                        </a:spcAft>
                      </a:pPr>
                      <a:r>
                        <a:rPr lang="en-IN" sz="1050" b="1" i="0" u="none" strike="noStrike" dirty="0">
                          <a:solidFill>
                            <a:srgbClr val="FFFFFF"/>
                          </a:solidFill>
                          <a:effectLst/>
                          <a:latin typeface="Times New Roman" panose="02020603050405020304" pitchFamily="18" charset="0"/>
                        </a:rPr>
                        <a:t>Historical Enforceability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c>
                  <a:txBody>
                    <a:bodyPr/>
                    <a:lstStyle/>
                    <a:p>
                      <a:pPr algn="l" rtl="0" fontAlgn="ctr">
                        <a:spcBef>
                          <a:spcPts val="600"/>
                        </a:spcBef>
                        <a:spcAft>
                          <a:spcPts val="600"/>
                        </a:spcAft>
                      </a:pPr>
                      <a:r>
                        <a:rPr lang="en-IN" sz="1050" b="1" i="0" u="none" strike="noStrike" dirty="0">
                          <a:solidFill>
                            <a:srgbClr val="FFFFFF"/>
                          </a:solidFill>
                          <a:effectLst/>
                          <a:latin typeface="Times New Roman" panose="02020603050405020304" pitchFamily="18" charset="0"/>
                        </a:rPr>
                        <a:t>Comments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0F33"/>
                    </a:solidFill>
                  </a:tcPr>
                </a:tc>
              </a:tr>
              <a:tr h="235105">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Assignments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r>
                        <a:rPr lang="en-IN" sz="1000" b="0" i="0" u="none" strike="noStrike" dirty="0" smtClean="0">
                          <a:solidFill>
                            <a:srgbClr val="000000"/>
                          </a:solidFill>
                          <a:effectLst/>
                          <a:latin typeface="Times New Roman" panose="02020603050405020304" pitchFamily="18" charset="0"/>
                        </a:rPr>
                        <a:t>Yes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No</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r>
                        <a:rPr lang="en-IN" sz="1000" b="0" i="0" u="none" strike="noStrike" dirty="0" smtClean="0">
                          <a:solidFill>
                            <a:srgbClr val="000000"/>
                          </a:solidFill>
                          <a:effectLst/>
                          <a:latin typeface="Times New Roman" panose="02020603050405020304" pitchFamily="18" charset="0"/>
                        </a:rPr>
                        <a:t>Yes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Not SA </a:t>
                      </a:r>
                      <a:r>
                        <a:rPr lang="en-IN" sz="1000" b="0" i="0" u="none" strike="noStrike" dirty="0" smtClean="0">
                          <a:solidFill>
                            <a:srgbClr val="000000"/>
                          </a:solidFill>
                          <a:effectLst/>
                          <a:latin typeface="Times New Roman" panose="02020603050405020304" pitchFamily="18" charset="0"/>
                        </a:rPr>
                        <a:t>eligible</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291548">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Commercial Building</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No</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r>
                        <a:rPr lang="en-IN" sz="1000" b="0" i="0" u="none" strike="noStrike" dirty="0" smtClean="0">
                          <a:solidFill>
                            <a:srgbClr val="000000"/>
                          </a:solidFill>
                          <a:effectLst/>
                          <a:latin typeface="Times New Roman" panose="02020603050405020304" pitchFamily="18" charset="0"/>
                        </a:rPr>
                        <a:t>Yearly</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Not SA </a:t>
                      </a:r>
                      <a:r>
                        <a:rPr lang="en-IN" sz="1000" b="0" i="0" u="none" strike="noStrike" dirty="0" smtClean="0">
                          <a:solidFill>
                            <a:srgbClr val="000000"/>
                          </a:solidFill>
                          <a:effectLst/>
                          <a:latin typeface="Times New Roman" panose="02020603050405020304" pitchFamily="18" charset="0"/>
                        </a:rPr>
                        <a:t>eligible</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42900">
                <a:tc>
                  <a:txBody>
                    <a:bodyPr/>
                    <a:lstStyle/>
                    <a:p>
                      <a:pPr algn="l"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Sovereign Debt</a:t>
                      </a:r>
                      <a:r>
                        <a:rPr lang="en-IN" sz="1000" b="0" i="0" u="none" strike="noStrike" baseline="0" dirty="0" smtClean="0">
                          <a:solidFill>
                            <a:srgbClr val="000000"/>
                          </a:solidFill>
                          <a:effectLst/>
                          <a:latin typeface="Times New Roman" panose="02020603050405020304" pitchFamily="18" charset="0"/>
                        </a:rPr>
                        <a:t> Securities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0</a:t>
                      </a:r>
                      <a:r>
                        <a:rPr lang="en-IN" sz="1000" b="0" i="0" u="none" strike="noStrike" dirty="0">
                          <a:solidFill>
                            <a:srgbClr val="000000"/>
                          </a:solidFill>
                          <a:effectLst/>
                          <a:latin typeface="Times New Roman" panose="02020603050405020304" pitchFamily="18" charset="0"/>
                        </a:rPr>
                        <a:t>%</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Debt Securities / Capital guaranteed Islamic </a:t>
                      </a:r>
                      <a:r>
                        <a:rPr lang="en-IN" sz="1000" b="0" i="0" u="none" strike="noStrike" dirty="0" err="1" smtClean="0">
                          <a:solidFill>
                            <a:srgbClr val="000000"/>
                          </a:solidFill>
                          <a:effectLst/>
                          <a:latin typeface="Times New Roman" panose="02020603050405020304" pitchFamily="18" charset="0"/>
                        </a:rPr>
                        <a:t>Sukuks</a:t>
                      </a:r>
                      <a:r>
                        <a:rPr lang="en-IN" sz="1000" b="0" i="0" u="none" strike="noStrike" dirty="0" smtClean="0">
                          <a:solidFill>
                            <a:srgbClr val="000000"/>
                          </a:solidFill>
                          <a:effectLst/>
                          <a:latin typeface="Times New Roman" panose="02020603050405020304" pitchFamily="18" charset="0"/>
                        </a:rPr>
                        <a:t> by State of Qatar / GCC</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23850">
                <a:tc>
                  <a:txBody>
                    <a:bodyPr/>
                    <a:lstStyle/>
                    <a:p>
                      <a:pPr algn="l"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Debt Securities issued by other States (AAA to AA-) </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US" sz="1000" b="0" i="0" u="none" strike="noStrike" dirty="0" smtClean="0">
                          <a:solidFill>
                            <a:srgbClr val="000000"/>
                          </a:solidFill>
                          <a:effectLst/>
                          <a:latin typeface="Times New Roman" panose="02020603050405020304" pitchFamily="18" charset="0"/>
                        </a:rPr>
                        <a:t>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US" sz="1000" b="0" i="0" u="none" strike="noStrike" dirty="0" smtClean="0">
                          <a:solidFill>
                            <a:srgbClr val="000000"/>
                          </a:solidFill>
                          <a:effectLst/>
                          <a:latin typeface="Times New Roman" panose="02020603050405020304" pitchFamily="18" charset="0"/>
                        </a:rPr>
                        <a:t>20%</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endParaRPr lang="en-IN" sz="1000" b="0" i="0" u="none" strike="noStrike" kern="1200" dirty="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endParaRPr lang="en-IN" sz="1000" b="0" i="0" u="none" strike="noStrike" kern="120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US" sz="1000" b="0" i="0" u="none" strike="noStrike" dirty="0" smtClean="0">
                          <a:solidFill>
                            <a:srgbClr val="000000"/>
                          </a:solidFill>
                          <a:effectLst/>
                          <a:latin typeface="Times New Roman" panose="02020603050405020304" pitchFamily="18" charset="0"/>
                        </a:rPr>
                        <a:t>Including those issued by </a:t>
                      </a:r>
                      <a:r>
                        <a:rPr lang="en-IN" sz="1000" b="0" i="0" u="none" strike="noStrike" dirty="0" smtClean="0">
                          <a:solidFill>
                            <a:srgbClr val="000000"/>
                          </a:solidFill>
                          <a:effectLst/>
                          <a:latin typeface="Times New Roman" panose="02020603050405020304" pitchFamily="18" charset="0"/>
                        </a:rPr>
                        <a:t> by banks or other</a:t>
                      </a:r>
                      <a:r>
                        <a:rPr lang="en-IN" sz="1000" b="0" i="0" u="none" strike="noStrike" baseline="0" dirty="0" smtClean="0">
                          <a:solidFill>
                            <a:srgbClr val="000000"/>
                          </a:solidFill>
                          <a:effectLst/>
                          <a:latin typeface="Times New Roman" panose="02020603050405020304" pitchFamily="18" charset="0"/>
                        </a:rPr>
                        <a:t> </a:t>
                      </a:r>
                      <a:r>
                        <a:rPr lang="en-IN" sz="1000" b="0" i="0" u="none" strike="noStrike" dirty="0" smtClean="0">
                          <a:solidFill>
                            <a:srgbClr val="000000"/>
                          </a:solidFill>
                          <a:effectLst/>
                          <a:latin typeface="Times New Roman" panose="02020603050405020304" pitchFamily="18" charset="0"/>
                        </a:rPr>
                        <a:t>entities (BBB) </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23850">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Title Deed</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r>
                        <a:rPr lang="en-IN" sz="1000" b="0" i="0" u="none" strike="noStrike" dirty="0" smtClean="0">
                          <a:solidFill>
                            <a:srgbClr val="000000"/>
                          </a:solidFill>
                          <a:effectLst/>
                          <a:latin typeface="Times New Roman" panose="02020603050405020304" pitchFamily="18" charset="0"/>
                        </a:rPr>
                        <a:t>No</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Not SA </a:t>
                      </a:r>
                      <a:r>
                        <a:rPr lang="en-IN" sz="1000" b="0" i="0" u="none" strike="noStrike" dirty="0" smtClean="0">
                          <a:solidFill>
                            <a:srgbClr val="000000"/>
                          </a:solidFill>
                          <a:effectLst/>
                          <a:latin typeface="Times New Roman" panose="02020603050405020304" pitchFamily="18" charset="0"/>
                        </a:rPr>
                        <a:t>eligible</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483704">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Foreign Bank Guarantee </a:t>
                      </a:r>
                      <a:r>
                        <a:rPr lang="en-IN" sz="1000" b="0" i="0" u="none" strike="noStrike" dirty="0" smtClean="0">
                          <a:solidFill>
                            <a:srgbClr val="000000"/>
                          </a:solidFill>
                          <a:effectLst/>
                          <a:latin typeface="Times New Roman" panose="02020603050405020304" pitchFamily="18" charset="0"/>
                        </a:rPr>
                        <a:t>LCY</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Yes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n/a</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dirty="0">
                          <a:solidFill>
                            <a:srgbClr val="FF0000"/>
                          </a:solidFill>
                          <a:effectLst/>
                          <a:latin typeface="Times New Roman" panose="02020603050405020304" pitchFamily="18" charset="0"/>
                        </a:rPr>
                        <a:t>6%</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endParaRPr lang="en-IN" sz="1000" b="0" i="0" u="none" strike="noStrike" kern="1200" dirty="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Assume A to BBB- rating for local banks and residual maturity of 1-5yrs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56990">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Fixed Deposits </a:t>
                      </a:r>
                      <a:r>
                        <a:rPr lang="en-IN" sz="1000" b="0" i="0" u="none" strike="noStrike" dirty="0" smtClean="0">
                          <a:solidFill>
                            <a:srgbClr val="000000"/>
                          </a:solidFill>
                          <a:effectLst/>
                          <a:latin typeface="Times New Roman" panose="02020603050405020304" pitchFamily="18" charset="0"/>
                        </a:rPr>
                        <a:t>LCY</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Yes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n/a</a:t>
                      </a:r>
                      <a:r>
                        <a:rPr lang="en-IN" sz="1000" b="0" i="0" u="none" strike="noStrike" dirty="0">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a:solidFill>
                            <a:srgbClr val="000000"/>
                          </a:solidFill>
                          <a:effectLst/>
                          <a:latin typeface="Times New Roman" panose="02020603050405020304" pitchFamily="18" charset="0"/>
                        </a:rPr>
                        <a:t>0%</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US" sz="1000" b="0" i="0" u="none" strike="noStrike" kern="1200" dirty="0" smtClean="0">
                          <a:solidFill>
                            <a:srgbClr val="000000"/>
                          </a:solidFill>
                          <a:effectLst/>
                          <a:latin typeface="Times New Roman" panose="02020603050405020304" pitchFamily="18" charset="0"/>
                          <a:ea typeface="+mn-ea"/>
                          <a:cs typeface="+mn-cs"/>
                        </a:rPr>
                        <a:t>Yes</a:t>
                      </a:r>
                      <a:endParaRPr lang="en-IN" sz="1000" b="0" i="0" u="none" strike="noStrike" kern="1200" dirty="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Per para 155</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45376">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International Stocks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r>
                        <a:rPr lang="en-IN" sz="1000" b="0" i="0" u="none" strike="noStrike" dirty="0" smtClean="0">
                          <a:solidFill>
                            <a:srgbClr val="000000"/>
                          </a:solidFill>
                          <a:effectLst/>
                          <a:latin typeface="Times New Roman" panose="02020603050405020304" pitchFamily="18" charset="0"/>
                        </a:rPr>
                        <a:t>Daily</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dirty="0">
                          <a:solidFill>
                            <a:srgbClr val="FF0000"/>
                          </a:solidFill>
                          <a:effectLst/>
                          <a:latin typeface="Times New Roman" panose="02020603050405020304" pitchFamily="18" charset="0"/>
                        </a:rPr>
                        <a:t>15%</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endParaRPr lang="en-IN" sz="1000" b="0" i="0" u="none" strike="noStrike" kern="1200" dirty="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Listed on recognised Stock Exchanges in GCC; and those listed in the Main Index of international Stock Exchanges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57410">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Local Bank Guarantee</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Yes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n/a</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dirty="0">
                          <a:solidFill>
                            <a:srgbClr val="FF0000"/>
                          </a:solidFill>
                          <a:effectLst/>
                          <a:latin typeface="Times New Roman" panose="02020603050405020304" pitchFamily="18" charset="0"/>
                        </a:rPr>
                        <a:t>6%</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US" sz="1000" b="0" i="0" u="none" strike="noStrike" kern="1200" dirty="0" smtClean="0">
                          <a:solidFill>
                            <a:srgbClr val="000000"/>
                          </a:solidFill>
                          <a:effectLst/>
                          <a:latin typeface="Times New Roman" panose="02020603050405020304" pitchFamily="18" charset="0"/>
                          <a:ea typeface="+mn-ea"/>
                          <a:cs typeface="+mn-cs"/>
                        </a:rPr>
                        <a:t>Yes</a:t>
                      </a:r>
                      <a:endParaRPr lang="en-IN" sz="1000" b="0" i="0" u="none" strike="noStrike" kern="1200" dirty="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Assume A to BBB- rating for local banks and residual maturity of 1-5yrs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18890">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Local Shares</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Daily</a:t>
                      </a:r>
                      <a:r>
                        <a:rPr lang="en-IN" sz="1000" b="0" i="0" u="none" strike="noStrike" dirty="0">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dirty="0">
                          <a:solidFill>
                            <a:srgbClr val="FF0000"/>
                          </a:solidFill>
                          <a:effectLst/>
                          <a:latin typeface="Times New Roman" panose="02020603050405020304" pitchFamily="18" charset="0"/>
                        </a:rPr>
                        <a:t>15%</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endParaRPr lang="en-IN" sz="1000" b="0" i="0" u="none" strike="noStrike" kern="1200" dirty="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Per para 155</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66910">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Margin </a:t>
                      </a:r>
                      <a:r>
                        <a:rPr lang="en-IN" sz="1000" b="0" i="0" u="none" strike="noStrike" dirty="0" smtClean="0">
                          <a:solidFill>
                            <a:srgbClr val="000000"/>
                          </a:solidFill>
                          <a:effectLst/>
                          <a:latin typeface="Times New Roman" panose="02020603050405020304" pitchFamily="18" charset="0"/>
                        </a:rPr>
                        <a:t>FCY</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n/a</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a:solidFill>
                            <a:srgbClr val="000000"/>
                          </a:solidFill>
                          <a:effectLst/>
                          <a:latin typeface="Times New Roman" panose="02020603050405020304" pitchFamily="18" charset="0"/>
                        </a:rPr>
                        <a:t>8%</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US" sz="1000" b="0" i="0" u="none" strike="noStrike" kern="1200" dirty="0" smtClean="0">
                          <a:solidFill>
                            <a:srgbClr val="000000"/>
                          </a:solidFill>
                          <a:effectLst/>
                          <a:latin typeface="Times New Roman" panose="02020603050405020304" pitchFamily="18" charset="0"/>
                          <a:ea typeface="+mn-ea"/>
                          <a:cs typeface="+mn-cs"/>
                        </a:rPr>
                        <a:t>Yes</a:t>
                      </a:r>
                      <a:endParaRPr lang="en-IN" sz="1000" b="0" i="0" u="none" strike="noStrike" kern="1200" dirty="0">
                        <a:solidFill>
                          <a:srgbClr val="000000"/>
                        </a:solidFill>
                        <a:effectLst/>
                        <a:latin typeface="Times New Roman" panose="02020603050405020304" pitchFamily="18" charset="0"/>
                        <a:ea typeface="+mn-ea"/>
                        <a:cs typeface="+mn-cs"/>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8% </a:t>
                      </a:r>
                      <a:r>
                        <a:rPr lang="en-IN" sz="1000" b="0" i="0" u="none" strike="noStrike" dirty="0" smtClean="0">
                          <a:solidFill>
                            <a:srgbClr val="000000"/>
                          </a:solidFill>
                          <a:effectLst/>
                          <a:latin typeface="Times New Roman" panose="02020603050405020304" pitchFamily="18" charset="0"/>
                        </a:rPr>
                        <a:t>currency </a:t>
                      </a:r>
                      <a:r>
                        <a:rPr lang="en-IN" sz="1000" b="0" i="0" u="none" strike="noStrike" dirty="0">
                          <a:solidFill>
                            <a:srgbClr val="000000"/>
                          </a:solidFill>
                          <a:effectLst/>
                          <a:latin typeface="Times New Roman" panose="02020603050405020304" pitchFamily="18" charset="0"/>
                        </a:rPr>
                        <a:t>mismatch</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04800">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Personal Guarantee</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a:solidFill>
                            <a:srgbClr val="000000"/>
                          </a:solidFill>
                          <a:effectLst/>
                          <a:latin typeface="Times New Roman" panose="02020603050405020304" pitchFamily="18" charset="0"/>
                        </a:rPr>
                        <a:t>No</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n/a</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Not SA </a:t>
                      </a:r>
                      <a:r>
                        <a:rPr lang="en-IN" sz="1000" b="0" i="0" u="none" strike="noStrike" dirty="0" smtClean="0">
                          <a:solidFill>
                            <a:srgbClr val="000000"/>
                          </a:solidFill>
                          <a:effectLst/>
                          <a:latin typeface="Times New Roman" panose="02020603050405020304" pitchFamily="18" charset="0"/>
                        </a:rPr>
                        <a:t>eligible</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42900">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Mortgage</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No</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smtClean="0">
                          <a:solidFill>
                            <a:srgbClr val="000000"/>
                          </a:solidFill>
                          <a:effectLst/>
                          <a:latin typeface="Times New Roman" panose="02020603050405020304" pitchFamily="18" charset="0"/>
                        </a:rPr>
                        <a:t> Yes</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r>
                        <a:rPr lang="en-IN" sz="1000" b="0" i="0" u="none" strike="noStrike" dirty="0" smtClean="0">
                          <a:solidFill>
                            <a:srgbClr val="000000"/>
                          </a:solidFill>
                          <a:effectLst/>
                          <a:latin typeface="Times New Roman" panose="02020603050405020304" pitchFamily="18" charset="0"/>
                        </a:rPr>
                        <a:t>Yearly</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algn="ctr" defTabSz="914400" rtl="0" eaLnBrk="1" fontAlgn="ctr" latinLnBrk="0" hangingPunct="1">
                        <a:spcBef>
                          <a:spcPts val="600"/>
                        </a:spcBef>
                        <a:spcAft>
                          <a:spcPts val="600"/>
                        </a:spcAft>
                      </a:pPr>
                      <a:r>
                        <a:rPr lang="en-IN" sz="1000" b="0" i="0" u="none" strike="noStrike" kern="1200" dirty="0">
                          <a:solidFill>
                            <a:srgbClr val="000000"/>
                          </a:solidFill>
                          <a:effectLst/>
                          <a:latin typeface="Times New Roman" panose="02020603050405020304" pitchFamily="18" charset="0"/>
                          <a:ea typeface="+mn-ea"/>
                          <a:cs typeface="+mn-cs"/>
                        </a:rPr>
                        <a:t> </a:t>
                      </a: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rtl="0" fontAlgn="ctr">
                        <a:spcBef>
                          <a:spcPts val="600"/>
                        </a:spcBef>
                        <a:spcAft>
                          <a:spcPts val="600"/>
                        </a:spcAft>
                      </a:pPr>
                      <a:r>
                        <a:rPr lang="en-IN" sz="1000" b="0" i="0" u="none" strike="noStrike" dirty="0">
                          <a:solidFill>
                            <a:srgbClr val="000000"/>
                          </a:solidFill>
                          <a:effectLst/>
                          <a:latin typeface="Times New Roman" panose="02020603050405020304" pitchFamily="18" charset="0"/>
                        </a:rPr>
                        <a:t>Not SA </a:t>
                      </a:r>
                      <a:r>
                        <a:rPr lang="en-IN" sz="1000" b="0" i="0" u="none" strike="noStrike" dirty="0" smtClean="0">
                          <a:solidFill>
                            <a:srgbClr val="000000"/>
                          </a:solidFill>
                          <a:effectLst/>
                          <a:latin typeface="Times New Roman" panose="02020603050405020304" pitchFamily="18" charset="0"/>
                        </a:rPr>
                        <a:t>eligible</a:t>
                      </a:r>
                      <a:endParaRPr lang="en-IN" sz="1000" b="0" i="0" u="none" strike="noStrike" dirty="0">
                        <a:solidFill>
                          <a:srgbClr val="000000"/>
                        </a:solidFill>
                        <a:effectLst/>
                        <a:latin typeface="Times New Roman" panose="02020603050405020304" pitchFamily="18" charset="0"/>
                      </a:endParaRPr>
                    </a:p>
                  </a:txBody>
                  <a:tcPr marL="36000" marR="36000" marT="877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89456788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Analysis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86</a:t>
            </a:fld>
            <a:endParaRPr lang="en-US" altLang="en-US"/>
          </a:p>
        </p:txBody>
      </p:sp>
      <p:graphicFrame>
        <p:nvGraphicFramePr>
          <p:cNvPr id="5" name="Chart 4"/>
          <p:cNvGraphicFramePr>
            <a:graphicFrameLocks/>
          </p:cNvGraphicFramePr>
          <p:nvPr>
            <p:extLst>
              <p:ext uri="{D42A27DB-BD31-4B8C-83A1-F6EECF244321}">
                <p14:modId xmlns:p14="http://schemas.microsoft.com/office/powerpoint/2010/main" val="658870939"/>
              </p:ext>
            </p:extLst>
          </p:nvPr>
        </p:nvGraphicFramePr>
        <p:xfrm>
          <a:off x="1817376" y="1829434"/>
          <a:ext cx="5829294" cy="3314065"/>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p:cNvSpPr/>
          <p:nvPr/>
        </p:nvSpPr>
        <p:spPr>
          <a:xfrm>
            <a:off x="3935143" y="1181100"/>
            <a:ext cx="3082877" cy="369332"/>
          </a:xfrm>
          <a:prstGeom prst="rect">
            <a:avLst/>
          </a:prstGeom>
        </p:spPr>
        <p:txBody>
          <a:bodyPr wrap="square">
            <a:spAutoFit/>
          </a:bodyPr>
          <a:lstStyle/>
          <a:p>
            <a:pPr algn="ctr">
              <a:defRPr sz="1800" b="1" i="0" u="none" strike="noStrike" kern="1200" baseline="0">
                <a:solidFill>
                  <a:srgbClr val="000000"/>
                </a:solidFill>
                <a:latin typeface="+mn-lt"/>
                <a:ea typeface="+mn-ea"/>
                <a:cs typeface="+mn-cs"/>
              </a:defRPr>
            </a:pPr>
            <a:r>
              <a:rPr lang="en-US" b="1" dirty="0" smtClean="0">
                <a:solidFill>
                  <a:srgbClr val="000000"/>
                </a:solidFill>
              </a:rPr>
              <a:t>Post-haircut Collateral </a:t>
            </a:r>
            <a:r>
              <a:rPr lang="en-US" b="1" dirty="0" err="1" smtClean="0">
                <a:solidFill>
                  <a:srgbClr val="000000"/>
                </a:solidFill>
              </a:rPr>
              <a:t>QARm</a:t>
            </a:r>
            <a:endParaRPr lang="en-US" b="1" dirty="0">
              <a:solidFill>
                <a:srgbClr val="000000"/>
              </a:solidFill>
            </a:endParaRPr>
          </a:p>
        </p:txBody>
      </p:sp>
    </p:spTree>
    <p:extLst>
      <p:ext uri="{BB962C8B-B14F-4D97-AF65-F5344CB8AC3E}">
        <p14:creationId xmlns:p14="http://schemas.microsoft.com/office/powerpoint/2010/main" val="240939912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821351"/>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Contractual </a:t>
            </a:r>
            <a:r>
              <a:rPr lang="en-US" sz="2400" dirty="0"/>
              <a:t>vs. Effective Interest </a:t>
            </a:r>
            <a:r>
              <a:rPr lang="en-US" sz="2400" dirty="0" smtClean="0"/>
              <a:t>Rate</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12</a:t>
            </a:r>
            <a:endParaRPr lang="en-IN" sz="2400" b="1" dirty="0">
              <a:solidFill>
                <a:schemeClr val="bg1"/>
              </a:solidFill>
            </a:endParaRPr>
          </a:p>
        </p:txBody>
      </p:sp>
    </p:spTree>
    <p:extLst>
      <p:ext uri="{BB962C8B-B14F-4D97-AF65-F5344CB8AC3E}">
        <p14:creationId xmlns:p14="http://schemas.microsoft.com/office/powerpoint/2010/main" val="171210076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8967"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88</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736373"/>
            <a:chOff x="274638" y="1133475"/>
            <a:chExt cx="9324936" cy="1705584"/>
          </a:xfrm>
        </p:grpSpPr>
        <p:sp>
          <p:nvSpPr>
            <p:cNvPr id="18442" name="Rectangle 6"/>
            <p:cNvSpPr>
              <a:spLocks noChangeArrowheads="1"/>
            </p:cNvSpPr>
            <p:nvPr>
              <p:custDataLst>
                <p:tags r:id="rId5"/>
              </p:custDataLst>
            </p:nvPr>
          </p:nvSpPr>
          <p:spPr bwMode="auto">
            <a:xfrm>
              <a:off x="274638" y="1133475"/>
              <a:ext cx="1701800" cy="1705584"/>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70558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Under IFRS 9, interest rates play an important role as they are used for discounting the future losses to the reporting date for ECL computation. </a:t>
              </a:r>
            </a:p>
            <a:p>
              <a:pPr eaLnBrk="1" hangingPunct="1">
                <a:lnSpc>
                  <a:spcPts val="1400"/>
                </a:lnSpc>
                <a:spcBef>
                  <a:spcPts val="300"/>
                </a:spcBef>
                <a:buFont typeface="Arial" panose="020B0604020202020204" pitchFamily="34" charset="0"/>
                <a:buChar char="•"/>
              </a:pPr>
              <a:r>
                <a:rPr lang="en-US" altLang="en-US" sz="1400" dirty="0">
                  <a:solidFill>
                    <a:srgbClr val="000000"/>
                  </a:solidFill>
                </a:rPr>
                <a:t>As per the standard, </a:t>
              </a:r>
              <a:r>
                <a:rPr lang="en-US" altLang="en-US" sz="1400" dirty="0" smtClean="0">
                  <a:solidFill>
                    <a:srgbClr val="000000"/>
                  </a:solidFill>
                </a:rPr>
                <a:t>the rate </a:t>
              </a:r>
              <a:r>
                <a:rPr lang="en-US" altLang="en-US" sz="1400" dirty="0">
                  <a:solidFill>
                    <a:srgbClr val="000000"/>
                  </a:solidFill>
                </a:rPr>
                <a:t>to be used for discounting future losses is the Effective Interest Rate (EIR) corresponding to the particular account. </a:t>
              </a:r>
            </a:p>
            <a:p>
              <a:pPr eaLnBrk="1" hangingPunct="1">
                <a:lnSpc>
                  <a:spcPts val="1400"/>
                </a:lnSpc>
                <a:spcBef>
                  <a:spcPts val="300"/>
                </a:spcBef>
                <a:buFont typeface="Arial" panose="020B0604020202020204" pitchFamily="34" charset="0"/>
                <a:buChar char="•"/>
              </a:pPr>
              <a:r>
                <a:rPr lang="en-US" altLang="en-US" sz="1400" dirty="0">
                  <a:solidFill>
                    <a:srgbClr val="000000"/>
                  </a:solidFill>
                </a:rPr>
                <a:t>In addition, the rate is also used to estimate the change in value during modification of cash flows or change in the expected life of risk without de-recognition</a:t>
              </a:r>
              <a:r>
                <a:rPr lang="en-US" altLang="en-US" sz="1400" dirty="0" smtClean="0">
                  <a:solidFill>
                    <a:srgbClr val="000000"/>
                  </a:solidFill>
                </a:rPr>
                <a:t>.</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a:solidFill>
                    <a:srgbClr val="000000"/>
                  </a:solidFill>
                </a:rPr>
                <a:t>In case the bank is not possible to reliably estimate the EIR it can use the Contractual Interest Rate (CIR) for discounting purpose.</a:t>
              </a:r>
            </a:p>
          </p:txBody>
        </p:sp>
      </p:grpSp>
      <p:sp>
        <p:nvSpPr>
          <p:cNvPr id="14" name="Rectangle 6"/>
          <p:cNvSpPr>
            <a:spLocks noChangeArrowheads="1"/>
          </p:cNvSpPr>
          <p:nvPr>
            <p:custDataLst>
              <p:tags r:id="rId3"/>
            </p:custDataLst>
          </p:nvPr>
        </p:nvSpPr>
        <p:spPr bwMode="auto">
          <a:xfrm>
            <a:off x="261938" y="2993113"/>
            <a:ext cx="1701807" cy="1338828"/>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2993113"/>
            <a:ext cx="7497793" cy="13388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altLang="en-US" sz="1400" dirty="0">
                <a:solidFill>
                  <a:srgbClr val="000000"/>
                </a:solidFill>
              </a:rPr>
              <a:t>This is an important option from the perspective of implementing IFRS 9 due to the following reasons</a:t>
            </a:r>
            <a:r>
              <a:rPr lang="en-US" altLang="en-US" sz="1400" dirty="0" smtClean="0">
                <a:solidFill>
                  <a:srgbClr val="000000"/>
                </a:solidFill>
              </a:rPr>
              <a:t>:</a:t>
            </a:r>
            <a:endParaRPr lang="en-US" altLang="en-US" sz="1400" dirty="0">
              <a:solidFill>
                <a:srgbClr val="000000"/>
              </a:solidFill>
            </a:endParaRPr>
          </a:p>
          <a:p>
            <a:pPr marL="0" indent="0" eaLnBrk="1" hangingPunct="1">
              <a:lnSpc>
                <a:spcPts val="1400"/>
              </a:lnSpc>
              <a:spcBef>
                <a:spcPts val="300"/>
              </a:spcBef>
            </a:pPr>
            <a:r>
              <a:rPr lang="en-US" altLang="en-US" sz="1400" dirty="0">
                <a:solidFill>
                  <a:srgbClr val="000000"/>
                </a:solidFill>
              </a:rPr>
              <a:t>Computation of EIR requires the Bank to reliably estimate the cash flows and expected life of a financial instrument</a:t>
            </a:r>
            <a:r>
              <a:rPr lang="en-US" altLang="en-US" sz="1400" dirty="0" smtClean="0">
                <a:solidFill>
                  <a:srgbClr val="000000"/>
                </a:solidFill>
              </a:rPr>
              <a:t>.</a:t>
            </a:r>
            <a:endParaRPr lang="en-US" altLang="en-US" sz="1400" dirty="0">
              <a:solidFill>
                <a:srgbClr val="000000"/>
              </a:solidFill>
            </a:endParaRPr>
          </a:p>
          <a:p>
            <a:pPr marL="0" indent="0" eaLnBrk="1" hangingPunct="1">
              <a:lnSpc>
                <a:spcPts val="1400"/>
              </a:lnSpc>
              <a:spcBef>
                <a:spcPts val="300"/>
              </a:spcBef>
            </a:pPr>
            <a:r>
              <a:rPr lang="en-US" altLang="en-US" sz="1400" dirty="0">
                <a:solidFill>
                  <a:srgbClr val="000000"/>
                </a:solidFill>
              </a:rPr>
              <a:t>In all the cases it might not be possible for the Bank to reliably compute the EIR. In such cases, the Bank needs to exercise the option of using the </a:t>
            </a:r>
            <a:r>
              <a:rPr lang="en-US" altLang="en-US" sz="1400" dirty="0" smtClean="0">
                <a:solidFill>
                  <a:srgbClr val="000000"/>
                </a:solidFill>
              </a:rPr>
              <a:t>CIR</a:t>
            </a:r>
            <a:endParaRPr lang="en-US" altLang="en-US" sz="1400" dirty="0">
              <a:solidFill>
                <a:srgbClr val="000000"/>
              </a:solidFill>
            </a:endParaRPr>
          </a:p>
        </p:txBody>
      </p:sp>
    </p:spTree>
    <p:extLst>
      <p:ext uri="{BB962C8B-B14F-4D97-AF65-F5344CB8AC3E}">
        <p14:creationId xmlns:p14="http://schemas.microsoft.com/office/powerpoint/2010/main" val="415302343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89</a:t>
            </a:fld>
            <a:endParaRPr lang="en-US" altLang="en-US"/>
          </a:p>
        </p:txBody>
      </p:sp>
      <p:graphicFrame>
        <p:nvGraphicFramePr>
          <p:cNvPr id="4" name="Table 3"/>
          <p:cNvGraphicFramePr>
            <a:graphicFrameLocks noGrp="1"/>
          </p:cNvGraphicFramePr>
          <p:nvPr>
            <p:extLst/>
          </p:nvPr>
        </p:nvGraphicFramePr>
        <p:xfrm>
          <a:off x="895350" y="1181100"/>
          <a:ext cx="8115300" cy="88900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Which are the products where QNB will be using EIR and where will the option to use CIR be exercised ?</a:t>
                      </a:r>
                    </a:p>
                  </a:txBody>
                  <a:tcPr anchor="ctr"/>
                </a:tc>
              </a:tr>
            </a:tbl>
          </a:graphicData>
        </a:graphic>
      </p:graphicFrame>
    </p:spTree>
    <p:extLst>
      <p:ext uri="{BB962C8B-B14F-4D97-AF65-F5344CB8AC3E}">
        <p14:creationId xmlns:p14="http://schemas.microsoft.com/office/powerpoint/2010/main" val="39809107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90</a:t>
            </a:fld>
            <a:endParaRPr lang="en-US" altLang="en-US"/>
          </a:p>
        </p:txBody>
      </p:sp>
      <p:graphicFrame>
        <p:nvGraphicFramePr>
          <p:cNvPr id="5" name="Table 4"/>
          <p:cNvGraphicFramePr>
            <a:graphicFrameLocks noGrp="1"/>
          </p:cNvGraphicFramePr>
          <p:nvPr>
            <p:extLst/>
          </p:nvPr>
        </p:nvGraphicFramePr>
        <p:xfrm>
          <a:off x="287338" y="939800"/>
          <a:ext cx="9331325" cy="405384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App</a:t>
                      </a:r>
                      <a:r>
                        <a:rPr lang="en-US" sz="1400" kern="1200" baseline="0" dirty="0" smtClean="0">
                          <a:solidFill>
                            <a:srgbClr val="000000"/>
                          </a:solidFill>
                          <a:latin typeface="Times New Roman" panose="02020603050405020304" pitchFamily="18" charset="0"/>
                          <a:ea typeface="+mn-ea"/>
                          <a:cs typeface="Times New Roman" panose="02020603050405020304" pitchFamily="18" charset="0"/>
                        </a:rPr>
                        <a:t> - </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A defined terms</a:t>
                      </a: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B5.4.1 to B5.4.7</a:t>
                      </a: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has defined EIR and the different components of EIR. It has specifically said that if EIR is not computable due to justifiable reasons the Bank can use the CIR. However, it can use the term “in the rare case”. Therefore the implicit expectation is that banks should ideally attempt to compute EIR and CIR only as exception.</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keeps the door open to assess EIR across a group of financial instruments if doing so would make it easier for the Bank.</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The Basis for Conclusions also says that if it is not possible to estimate the future cash flows or the expected life of a financial instrument reliably, the entity should use contractual cash flows over the full contractual term of the financial instrument.</a:t>
                      </a:r>
                    </a:p>
                  </a:txBody>
                  <a:tcPr/>
                </a:tc>
              </a:tr>
              <a:tr h="370840">
                <a:tc>
                  <a:txBody>
                    <a:bodyPr/>
                    <a:lstStyle/>
                    <a:p>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NA</a:t>
                      </a:r>
                      <a:endParaRPr lang="en-US" sz="1400"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It does not say anything specific on the contractual vs. effective interest rate. Only mentions EIR but again, does not specifically prohibit using contractual interest rates.</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4.13.5</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acknowledges that there could be issues in determining EIR due to lack of data availability or complexity. However, they have not mentioned using contractual rates as the option. They have requested banks to use portfolio based assumptions of cash flows or time to maturity. </a:t>
                      </a:r>
                    </a:p>
                  </a:txBody>
                  <a:tcPr/>
                </a:tc>
              </a:tr>
            </a:tbl>
          </a:graphicData>
        </a:graphic>
      </p:graphicFrame>
    </p:spTree>
    <p:extLst>
      <p:ext uri="{BB962C8B-B14F-4D97-AF65-F5344CB8AC3E}">
        <p14:creationId xmlns:p14="http://schemas.microsoft.com/office/powerpoint/2010/main" val="266249607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91</a:t>
            </a:fld>
            <a:endParaRPr lang="en-US" altLang="en-US"/>
          </a:p>
        </p:txBody>
      </p:sp>
      <p:graphicFrame>
        <p:nvGraphicFramePr>
          <p:cNvPr id="5" name="Table 4"/>
          <p:cNvGraphicFramePr>
            <a:graphicFrameLocks noGrp="1"/>
          </p:cNvGraphicFramePr>
          <p:nvPr>
            <p:extLst/>
          </p:nvPr>
        </p:nvGraphicFramePr>
        <p:xfrm>
          <a:off x="287338" y="977900"/>
          <a:ext cx="9331324" cy="219964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2.6</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GPPC in section 2.6 on discounting does not mention anything about the use of contractual rate. However, it also does not explicitly prohibit the use of contractual rates in circumstances where the EIR cannot be reliably estimated.</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AP7</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Does not add anything new to the topic and reiterates the view of IFRS 9.</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NA</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Does not mention anything</a:t>
                      </a:r>
                    </a:p>
                  </a:txBody>
                  <a:tcPr anchor="ctr"/>
                </a:tc>
              </a:tr>
            </a:tbl>
          </a:graphicData>
        </a:graphic>
      </p:graphicFrame>
    </p:spTree>
    <p:extLst>
      <p:ext uri="{BB962C8B-B14F-4D97-AF65-F5344CB8AC3E}">
        <p14:creationId xmlns:p14="http://schemas.microsoft.com/office/powerpoint/2010/main" val="60741991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a:t>
            </a:r>
            <a:r>
              <a:rPr lang="en-US" b="1" dirty="0"/>
              <a:t>C</a:t>
            </a:r>
            <a:r>
              <a:rPr lang="en-US" b="1" dirty="0" smtClean="0"/>
              <a:t>ontractual </a:t>
            </a:r>
            <a:r>
              <a:rPr lang="en-US" b="1" dirty="0"/>
              <a:t>vs. </a:t>
            </a:r>
            <a:r>
              <a:rPr lang="en-US" b="1" dirty="0" smtClean="0"/>
              <a:t>Effective </a:t>
            </a:r>
            <a:r>
              <a:rPr lang="en-US" b="1" dirty="0"/>
              <a:t>I</a:t>
            </a:r>
            <a:r>
              <a:rPr lang="en-US" b="1" dirty="0" smtClean="0"/>
              <a:t>nterest </a:t>
            </a:r>
            <a:r>
              <a:rPr lang="en-US" b="1" dirty="0"/>
              <a:t>R</a:t>
            </a:r>
            <a:r>
              <a:rPr lang="en-US" b="1" dirty="0" smtClean="0"/>
              <a:t>ate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92</a:t>
            </a:fld>
            <a:endParaRPr lang="en-US" altLang="en-US"/>
          </a:p>
        </p:txBody>
      </p:sp>
      <p:graphicFrame>
        <p:nvGraphicFramePr>
          <p:cNvPr id="6" name="Table 5"/>
          <p:cNvGraphicFramePr>
            <a:graphicFrameLocks noGrp="1"/>
          </p:cNvGraphicFramePr>
          <p:nvPr>
            <p:extLst/>
          </p:nvPr>
        </p:nvGraphicFramePr>
        <p:xfrm>
          <a:off x="287338" y="850900"/>
          <a:ext cx="9331325" cy="1964501"/>
        </p:xfrm>
        <a:graphic>
          <a:graphicData uri="http://schemas.openxmlformats.org/drawingml/2006/table">
            <a:tbl>
              <a:tblPr firstRow="1" bandRow="1">
                <a:tableStyleId>{5940675A-B579-460E-94D1-54222C63F5DA}</a:tableStyleId>
              </a:tblPr>
              <a:tblGrid>
                <a:gridCol w="588962"/>
                <a:gridCol w="1511300"/>
                <a:gridCol w="7231063"/>
              </a:tblGrid>
              <a:tr h="485148">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1385381">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Which are the products where QNB will be using EIR and where will the option to use CIR be exercised?</a:t>
                      </a:r>
                    </a:p>
                  </a:txBody>
                  <a:tcPr anchor="ctr"/>
                </a:tc>
                <a:tc>
                  <a:txBody>
                    <a:bodyPr/>
                    <a:lstStyle/>
                    <a:p>
                      <a:pPr marL="119063" indent="-119063">
                        <a:lnSpc>
                          <a:spcPct val="100000"/>
                        </a:lnSpc>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Due to the relative immateriality of the amounts, the Bank</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typically recognizes fees and commissions payable or receivable on an up front basis.  Therefore, to be consistent, it has been decided that t</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he Bank will use contractual interest rates (CIR) as a substitute for EIR for the purpose of discounting</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within the ECL impairment calculation</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a:t>
                      </a:r>
                    </a:p>
                  </a:txBody>
                  <a:tcPr anchor="ctr"/>
                </a:tc>
              </a:tr>
            </a:tbl>
          </a:graphicData>
        </a:graphic>
      </p:graphicFrame>
    </p:spTree>
    <p:extLst>
      <p:ext uri="{BB962C8B-B14F-4D97-AF65-F5344CB8AC3E}">
        <p14:creationId xmlns:p14="http://schemas.microsoft.com/office/powerpoint/2010/main" val="81522311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846403"/>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Period </a:t>
            </a:r>
            <a:r>
              <a:rPr lang="en-US" sz="2400" dirty="0"/>
              <a:t>of Exposure (Use of Contractual Maturity vs. Effective Time to Maturity</a:t>
            </a:r>
            <a:r>
              <a:rPr lang="en-US" sz="2400" dirty="0" smtClean="0"/>
              <a:t>)</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13</a:t>
            </a:r>
            <a:endParaRPr lang="en-IN" sz="2400" b="1" dirty="0">
              <a:solidFill>
                <a:schemeClr val="bg1"/>
              </a:solidFill>
            </a:endParaRPr>
          </a:p>
        </p:txBody>
      </p:sp>
    </p:spTree>
    <p:extLst>
      <p:ext uri="{BB962C8B-B14F-4D97-AF65-F5344CB8AC3E}">
        <p14:creationId xmlns:p14="http://schemas.microsoft.com/office/powerpoint/2010/main" val="10656599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9991"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94</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479892"/>
            <a:chOff x="274638" y="1133475"/>
            <a:chExt cx="9324936" cy="1453651"/>
          </a:xfrm>
        </p:grpSpPr>
        <p:sp>
          <p:nvSpPr>
            <p:cNvPr id="18442" name="Rectangle 6"/>
            <p:cNvSpPr>
              <a:spLocks noChangeArrowheads="1"/>
            </p:cNvSpPr>
            <p:nvPr>
              <p:custDataLst>
                <p:tags r:id="rId5"/>
              </p:custDataLst>
            </p:nvPr>
          </p:nvSpPr>
          <p:spPr bwMode="auto">
            <a:xfrm>
              <a:off x="274638" y="1133475"/>
              <a:ext cx="1701800" cy="1453651"/>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45365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IFRS 9 requires that the maximum period over which Expected Credit Losses (ECL) be computed correspond to </a:t>
              </a:r>
              <a:r>
                <a:rPr lang="en-US" altLang="en-US" sz="1400" b="1" dirty="0">
                  <a:solidFill>
                    <a:srgbClr val="000000"/>
                  </a:solidFill>
                </a:rPr>
                <a:t>maximum contractual period (and not a longer period) </a:t>
              </a:r>
              <a:r>
                <a:rPr lang="en-US" altLang="en-US" sz="1400" dirty="0">
                  <a:solidFill>
                    <a:srgbClr val="000000"/>
                  </a:solidFill>
                </a:rPr>
                <a:t>of the loan commitment/ financial guarantee contracts</a:t>
              </a:r>
            </a:p>
            <a:p>
              <a:pPr eaLnBrk="1" hangingPunct="1">
                <a:lnSpc>
                  <a:spcPts val="1400"/>
                </a:lnSpc>
                <a:spcBef>
                  <a:spcPts val="300"/>
                </a:spcBef>
                <a:buFont typeface="Arial" panose="020B0604020202020204" pitchFamily="34" charset="0"/>
                <a:buChar char="•"/>
              </a:pPr>
              <a:r>
                <a:rPr lang="en-US" altLang="en-US" sz="1400" dirty="0">
                  <a:solidFill>
                    <a:srgbClr val="000000"/>
                  </a:solidFill>
                </a:rPr>
                <a:t>However, </a:t>
              </a:r>
              <a:r>
                <a:rPr lang="en-US" altLang="en-US" sz="1400" b="1" dirty="0">
                  <a:solidFill>
                    <a:srgbClr val="000000"/>
                  </a:solidFill>
                </a:rPr>
                <a:t>for certain financial instruments, ECL must be computed over a period that the entity is exposed to credit risk even if that period extends beyond maximum contractual period. </a:t>
              </a:r>
              <a:r>
                <a:rPr lang="en-US" altLang="en-US" sz="1400" dirty="0">
                  <a:solidFill>
                    <a:srgbClr val="000000"/>
                  </a:solidFill>
                </a:rPr>
                <a:t>Such financial instruments typically correspond to </a:t>
              </a:r>
              <a:r>
                <a:rPr lang="en-US" altLang="en-US" sz="1400" b="1" dirty="0">
                  <a:solidFill>
                    <a:srgbClr val="000000"/>
                  </a:solidFill>
                </a:rPr>
                <a:t>revolving credit facilities </a:t>
              </a:r>
              <a:r>
                <a:rPr lang="en-US" altLang="en-US" sz="1400" dirty="0">
                  <a:solidFill>
                    <a:srgbClr val="000000"/>
                  </a:solidFill>
                </a:rPr>
                <a:t>(e.g. credit cards, overdrafts etc.)</a:t>
              </a:r>
            </a:p>
          </p:txBody>
        </p:sp>
      </p:grpSp>
      <p:sp>
        <p:nvSpPr>
          <p:cNvPr id="14" name="Rectangle 6"/>
          <p:cNvSpPr>
            <a:spLocks noChangeArrowheads="1"/>
          </p:cNvSpPr>
          <p:nvPr>
            <p:custDataLst>
              <p:tags r:id="rId3"/>
            </p:custDataLst>
          </p:nvPr>
        </p:nvSpPr>
        <p:spPr bwMode="auto">
          <a:xfrm>
            <a:off x="261938" y="2753628"/>
            <a:ext cx="1714507" cy="2274982"/>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2753628"/>
            <a:ext cx="7497793" cy="22749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The period of exposure limits the period over which possible defaults are considered and thus affects the determination of PDs and measurement of ECLs (especially for Stage 2 accounts with lifetime ECL) </a:t>
            </a: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Hence it is important to determine whether the financial instrument qualifies as non-revolving credit facility (and attracts maximum contractual maturity treatment) or revolving credit facility (and qualifies for effective maturity treatment) prior to determining ECL </a:t>
            </a: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For instruments which qualify as non-revolving credit facility, analysis of historical payment behavior of accounts can be undertaken to determine whether maximum contractual maturity or relatively shorter maturity is to be used for ECL determination </a:t>
            </a: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For instruments which qualify as revolving credit facility, effective maturity is estimated based on past history of similar accounts to be used for ECL estimation </a:t>
            </a:r>
          </a:p>
        </p:txBody>
      </p:sp>
    </p:spTree>
    <p:extLst>
      <p:ext uri="{BB962C8B-B14F-4D97-AF65-F5344CB8AC3E}">
        <p14:creationId xmlns:p14="http://schemas.microsoft.com/office/powerpoint/2010/main" val="131531196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95</a:t>
            </a:fld>
            <a:endParaRPr lang="en-US" altLang="en-US"/>
          </a:p>
        </p:txBody>
      </p:sp>
      <p:graphicFrame>
        <p:nvGraphicFramePr>
          <p:cNvPr id="4" name="Table 3"/>
          <p:cNvGraphicFramePr>
            <a:graphicFrameLocks noGrp="1"/>
          </p:cNvGraphicFramePr>
          <p:nvPr>
            <p:extLst/>
          </p:nvPr>
        </p:nvGraphicFramePr>
        <p:xfrm>
          <a:off x="895350" y="1181100"/>
          <a:ext cx="8115300" cy="277876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the Bank classify financial instruments as revolving credit facilities (as per IFRS 9 para 5.5.20 and qualify for effective maturity treatment) vis-à-vis non-revolving credit facilities (as per IFRS 9 para 5.5.19 and qualify for maximum contractual maturity treatment) </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For non-revolving credit facilities, will the Bank measure ‘period of exposure’ as maximum contractual maturity or shortened maturity incorporating past behavior of accounts (for example, prepayments on accounts)? If the latter approach is selected, what will be the basis for estimating shortened maturity? </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3</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For revolving credit facilities, on what basis will the Bank determine effective maturity to be used for ECL estimation? </a:t>
                      </a:r>
                    </a:p>
                  </a:txBody>
                  <a:tcPr anchor="ctr"/>
                </a:tc>
              </a:tr>
            </a:tbl>
          </a:graphicData>
        </a:graphic>
      </p:graphicFrame>
    </p:spTree>
    <p:extLst>
      <p:ext uri="{BB962C8B-B14F-4D97-AF65-F5344CB8AC3E}">
        <p14:creationId xmlns:p14="http://schemas.microsoft.com/office/powerpoint/2010/main" val="10771073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96</a:t>
            </a:fld>
            <a:endParaRPr lang="en-US" altLang="en-US"/>
          </a:p>
        </p:txBody>
      </p:sp>
      <p:graphicFrame>
        <p:nvGraphicFramePr>
          <p:cNvPr id="5" name="Table 4"/>
          <p:cNvGraphicFramePr>
            <a:graphicFrameLocks noGrp="1"/>
          </p:cNvGraphicFramePr>
          <p:nvPr>
            <p:extLst/>
          </p:nvPr>
        </p:nvGraphicFramePr>
        <p:xfrm>
          <a:off x="287338" y="939800"/>
          <a:ext cx="9331325" cy="533400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5.5.19, 5.5.20</a:t>
                      </a: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 5.5.38 to B 5.5.40</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requires that maximum period for ECL computation should correspond to maximum contractual maturity (and not a longer period) of financial instruments </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The only exception to the above rule, wherein a period more than the contractual period (if specified), should be used for instruments with following characteristics: </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Instruments that do not have a fixed term of repayment structure and usually have a short cancellation period</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Contractual ability to cancel the contract is not enforced in normal day-to-day management </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Instruments managed on a collective basis </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In such cases, as mentioned above, effective maturity should be estimated based on the following principles:</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Period over which the entity was exposed to credit risk on similar financial instruments; </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Length of time for related defaults to occur on similar financial instruments following a significant increase in credit risk; </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Credit risk management actions that an entity expects to take once the credit risk on the financial instrument has increased (e.g. reduction or removal of limits etc.) </a:t>
                      </a:r>
                    </a:p>
                  </a:txBody>
                  <a:tcPr/>
                </a:tc>
              </a:tr>
              <a:tr h="370840">
                <a:tc>
                  <a:txBody>
                    <a:bodyPr/>
                    <a:lstStyle/>
                    <a:p>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2.4.7</a:t>
                      </a:r>
                    </a:p>
                  </a:txBody>
                  <a:tcPr anchor="ctr"/>
                </a:tc>
                <a:tc>
                  <a:txBody>
                    <a:bodyPr/>
                    <a:lstStyle/>
                    <a:p>
                      <a:pPr marL="119063" indent="-119063">
                        <a:buFont typeface="Arial" panose="020B0604020202020204" pitchFamily="34" charset="0"/>
                        <a:buChar char="•"/>
                      </a:pPr>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Aligned to IFRS 9 in both</a:t>
                      </a:r>
                      <a:r>
                        <a:rPr lang="en-US" sz="1400" kern="1200" baseline="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guidance and spirit </a:t>
                      </a:r>
                    </a:p>
                  </a:txBody>
                  <a:tcPr anchor="ct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4.13.5.1</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Similar to GPPC guidance in spirit and specifies both more sophisticated and less sophisticated approaches towards period of exposure treatment </a:t>
                      </a:r>
                    </a:p>
                  </a:txBody>
                  <a:tcPr/>
                </a:tc>
              </a:tr>
            </a:tbl>
          </a:graphicData>
        </a:graphic>
      </p:graphicFrame>
    </p:spTree>
    <p:extLst>
      <p:ext uri="{BB962C8B-B14F-4D97-AF65-F5344CB8AC3E}">
        <p14:creationId xmlns:p14="http://schemas.microsoft.com/office/powerpoint/2010/main" val="301270830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97</a:t>
            </a:fld>
            <a:endParaRPr lang="en-US" altLang="en-US"/>
          </a:p>
        </p:txBody>
      </p:sp>
      <p:graphicFrame>
        <p:nvGraphicFramePr>
          <p:cNvPr id="6" name="Table 5"/>
          <p:cNvGraphicFramePr>
            <a:graphicFrameLocks noGrp="1"/>
          </p:cNvGraphicFramePr>
          <p:nvPr>
            <p:extLst/>
          </p:nvPr>
        </p:nvGraphicFramePr>
        <p:xfrm>
          <a:off x="287338" y="941978"/>
          <a:ext cx="9331324" cy="451104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2.4.2.1 to 2.4.2.5, 2.4.3.1, 2.4.3.2</a:t>
                      </a:r>
                    </a:p>
                  </a:txBody>
                  <a:tcPr anchor="ctr"/>
                </a:tc>
                <a:tc>
                  <a:txBody>
                    <a:bodyPr/>
                    <a:lstStyle/>
                    <a:p>
                      <a:pPr marL="119063" indent="-119063">
                        <a:buFont typeface="Arial" panose="020B0604020202020204" pitchFamily="34" charset="0"/>
                        <a:buChar char="•"/>
                        <a:tabLst>
                          <a:tab pos="119063" algn="l"/>
                        </a:tabLst>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Similar to IFRS 9 guidance in spirit with regards to applying maximum contractual or effective maturity across different financial instruments </a:t>
                      </a:r>
                    </a:p>
                    <a:p>
                      <a:pPr marL="119063" indent="-119063">
                        <a:buFont typeface="Arial" panose="020B0604020202020204" pitchFamily="34" charset="0"/>
                        <a:buChar char="•"/>
                        <a:tabLst>
                          <a:tab pos="119063" algn="l"/>
                        </a:tabLst>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Specifies two implementation approaches – sophisticated or simpler approach to be adopted depending upon materiality of portfolios </a:t>
                      </a:r>
                    </a:p>
                    <a:p>
                      <a:pPr marL="119063" indent="-119063">
                        <a:buFont typeface="Arial" panose="020B0604020202020204" pitchFamily="34" charset="0"/>
                        <a:buChar char="•"/>
                        <a:tabLst>
                          <a:tab pos="119063" algn="l"/>
                        </a:tabLst>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Under sophisticated approach: </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For instruments qualifying for maximum contractual maturity treatment (non-revolving credit facilities), historical behavior information (e.g. on prepayments) can either be incorporated in EAD estimation or maturity estimation</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In case behavioral information is incorporated in maturity estimation, it should be based on historical behavior of accounts across homogeneous segments with adjustments for forward-looking information  (wherever required) </a:t>
                      </a:r>
                    </a:p>
                    <a:p>
                      <a:pPr marL="685800" lvl="1" indent="-228600">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For revolving credit facilities, no additional guidance over and above IFRS 9 has been provided</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Under simpler approach: </a:t>
                      </a:r>
                    </a:p>
                    <a:p>
                      <a:pPr marL="685800" lvl="1" indent="-228600">
                        <a:buFont typeface="+mj-lt"/>
                        <a:buAutoNum type="romanLcPeriod"/>
                        <a:tabLst>
                          <a:tab pos="631825" algn="l"/>
                        </a:tabLst>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For instruments qualifying for maximum contractual maturity treatment, a shorter period of exposure is allowed (e.g. the point at which a specified percentage of the balance as been repaid) subject to reasonable evidence that the impact on ECLs is immaterial </a:t>
                      </a:r>
                    </a:p>
                    <a:p>
                      <a:pPr marL="685800" lvl="1" indent="-228600">
                        <a:buFont typeface="+mj-lt"/>
                        <a:buAutoNum type="romanLcPeriod"/>
                        <a:tabLst>
                          <a:tab pos="631825" algn="l"/>
                        </a:tabLst>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Remaining all principles are same as sophisticated approach </a:t>
                      </a:r>
                    </a:p>
                  </a:txBody>
                  <a:tcPr/>
                </a:tc>
              </a:tr>
            </a:tbl>
          </a:graphicData>
        </a:graphic>
      </p:graphicFrame>
    </p:spTree>
    <p:extLst>
      <p:ext uri="{BB962C8B-B14F-4D97-AF65-F5344CB8AC3E}">
        <p14:creationId xmlns:p14="http://schemas.microsoft.com/office/powerpoint/2010/main" val="205527639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98</a:t>
            </a:fld>
            <a:endParaRPr lang="en-US" altLang="en-US"/>
          </a:p>
        </p:txBody>
      </p:sp>
      <p:graphicFrame>
        <p:nvGraphicFramePr>
          <p:cNvPr id="6" name="Table 5"/>
          <p:cNvGraphicFramePr>
            <a:graphicFrameLocks noGrp="1"/>
          </p:cNvGraphicFramePr>
          <p:nvPr>
            <p:extLst/>
          </p:nvPr>
        </p:nvGraphicFramePr>
        <p:xfrm>
          <a:off x="287338" y="977900"/>
          <a:ext cx="9331324" cy="515112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Dec 2015 ITG meeting: Agenda Ref 2 (9), Agenda Ref 4 (20) </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Provides further guidance/ clarification to IFRS 9 guidance. Key highlights include: </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Consensus that ‘credit risk mitigating actions’ contemplated in paragraph B5.5.40(c) of IFRS 9 should be limited to actions that reduce an entity’s exposure to credit risk, such as reducing the credit limit or withdrawing the commitment. Other actions such as enhanced or more frequent internal monitoring, or reminder collection phone calls would not qualify as mitigating actions </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Para 5.5.20 of IFRS 9 relates to those financial instruments with a drawn and undrawn component where the borrower has flexibility in how frequently they make drawdowns on the facility and consequently it is possible that the facility could be fully drawn or fully undrawn as of the reporting date</a:t>
                      </a:r>
                    </a:p>
                    <a:p>
                      <a:pPr marL="119063" indent="-119063">
                        <a:buFont typeface="Arial" panose="020B0604020202020204" pitchFamily="34" charset="0"/>
                        <a:buChar char="•"/>
                      </a:pPr>
                      <a:r>
                        <a:rPr lang="en-US" sz="1400" b="1" kern="1200" dirty="0" smtClean="0">
                          <a:solidFill>
                            <a:srgbClr val="000000"/>
                          </a:solidFill>
                          <a:latin typeface="Times New Roman" panose="02020603050405020304" pitchFamily="18" charset="0"/>
                          <a:ea typeface="+mn-ea"/>
                          <a:cs typeface="Times New Roman" panose="02020603050405020304" pitchFamily="18" charset="0"/>
                        </a:rPr>
                        <a:t>Period of exposure determination varies across stage of account</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 as per below: </a:t>
                      </a:r>
                    </a:p>
                    <a:p>
                      <a:pPr marL="685800" lvl="1" indent="-228600">
                        <a:buFont typeface="+mj-lt"/>
                        <a:buAutoNum type="alphaLcParenR"/>
                      </a:pPr>
                      <a:r>
                        <a:rPr lang="en-US" sz="1400" b="1" kern="1200" dirty="0" smtClean="0">
                          <a:solidFill>
                            <a:srgbClr val="000000"/>
                          </a:solidFill>
                          <a:latin typeface="Times New Roman" panose="02020603050405020304" pitchFamily="18" charset="0"/>
                          <a:ea typeface="+mn-ea"/>
                          <a:cs typeface="Times New Roman" panose="02020603050405020304" pitchFamily="18" charset="0"/>
                        </a:rPr>
                        <a:t>Stage 1</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 Maximum period to consider would be 12 months. It is unlikely that it would be a shorter, although it is theoretically possible</a:t>
                      </a:r>
                    </a:p>
                    <a:p>
                      <a:pPr marL="685800" lvl="1" indent="-228600">
                        <a:buFont typeface="+mj-lt"/>
                        <a:buAutoNum type="alphaLcParenR"/>
                      </a:pPr>
                      <a:r>
                        <a:rPr lang="en-US" sz="1400" b="1" kern="1200" dirty="0" smtClean="0">
                          <a:solidFill>
                            <a:srgbClr val="000000"/>
                          </a:solidFill>
                          <a:latin typeface="Times New Roman" panose="02020603050405020304" pitchFamily="18" charset="0"/>
                          <a:ea typeface="+mn-ea"/>
                          <a:cs typeface="Times New Roman" panose="02020603050405020304" pitchFamily="18" charset="0"/>
                        </a:rPr>
                        <a:t>Stage 2</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 An entity should estimate the following proportions and weigh the respective behavioral lives by these proportions to determine the appropriate period over which to calculate expected credit losses: </a:t>
                      </a:r>
                    </a:p>
                    <a:p>
                      <a:pPr marL="1089025" lvl="2" indent="-174625">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Proportion of facilities that revert to Stage 1 or remain in Stage 2 and never default, or move to Stage 3 but eventually get cured – appropriate period of exposure would be the behavioral life for each of these segments </a:t>
                      </a:r>
                    </a:p>
                    <a:p>
                      <a:pPr marL="1089025" lvl="2" indent="-174625">
                        <a:buFont typeface="+mj-lt"/>
                        <a:buAutoNum type="romanLcPeriod"/>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Proportion of facilities that flow to Stage 3 and do not get cured – appropriate period would be the sum of the period till mitigating actions are taken, as defined above, and average recovery period of impaired accounts </a:t>
                      </a:r>
                    </a:p>
                  </a:txBody>
                  <a:tcPr/>
                </a:tc>
              </a:tr>
            </a:tbl>
          </a:graphicData>
        </a:graphic>
      </p:graphicFrame>
    </p:spTree>
    <p:extLst>
      <p:ext uri="{BB962C8B-B14F-4D97-AF65-F5344CB8AC3E}">
        <p14:creationId xmlns:p14="http://schemas.microsoft.com/office/powerpoint/2010/main" val="199496222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99</a:t>
            </a:fld>
            <a:endParaRPr lang="en-US" altLang="en-US"/>
          </a:p>
        </p:txBody>
      </p:sp>
      <p:graphicFrame>
        <p:nvGraphicFramePr>
          <p:cNvPr id="6" name="Table 5"/>
          <p:cNvGraphicFramePr>
            <a:graphicFrameLocks noGrp="1"/>
          </p:cNvGraphicFramePr>
          <p:nvPr>
            <p:extLst/>
          </p:nvPr>
        </p:nvGraphicFramePr>
        <p:xfrm>
          <a:off x="287338" y="977900"/>
          <a:ext cx="9331324" cy="268224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Dec 2015 ITG meeting: Agenda Ref 2 (9), Agenda Ref 4 (20) </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Additionally, it is noted that the </a:t>
                      </a:r>
                      <a:r>
                        <a:rPr lang="en-US" sz="1400" b="1" kern="1200" dirty="0" smtClean="0">
                          <a:solidFill>
                            <a:srgbClr val="000000"/>
                          </a:solidFill>
                          <a:latin typeface="Times New Roman" panose="02020603050405020304" pitchFamily="18" charset="0"/>
                          <a:ea typeface="+mn-ea"/>
                          <a:cs typeface="Times New Roman" panose="02020603050405020304" pitchFamily="18" charset="0"/>
                        </a:rPr>
                        <a:t>‘period of exposure’ could be capped at the date at which the next thorough credit review will be undertaken </a:t>
                      </a:r>
                      <a:r>
                        <a:rPr lang="en-US" sz="1400" kern="1200" dirty="0" smtClean="0">
                          <a:solidFill>
                            <a:srgbClr val="000000"/>
                          </a:solidFill>
                          <a:latin typeface="Times New Roman" panose="02020603050405020304" pitchFamily="18" charset="0"/>
                          <a:ea typeface="+mn-ea"/>
                          <a:cs typeface="Times New Roman" panose="02020603050405020304" pitchFamily="18" charset="0"/>
                        </a:rPr>
                        <a:t>(however this would only be appropriate if the entity is likely to withdraw and has historically withdrawn some facilities as a result of review) </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NA</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Does not have any explicit guidance on this </a:t>
                      </a:r>
                    </a:p>
                  </a:txBody>
                  <a:tcPr anchor="ctr"/>
                </a:tc>
              </a:tr>
            </a:tbl>
          </a:graphicData>
        </a:graphic>
      </p:graphicFrame>
    </p:spTree>
    <p:extLst>
      <p:ext uri="{BB962C8B-B14F-4D97-AF65-F5344CB8AC3E}">
        <p14:creationId xmlns:p14="http://schemas.microsoft.com/office/powerpoint/2010/main" val="33784251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a:t>
            </a:r>
            <a:r>
              <a:rPr lang="en-US" b="1" dirty="0"/>
              <a:t>estimation of ‘period of exposure’ </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100</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3087177154"/>
              </p:ext>
            </p:extLst>
          </p:nvPr>
        </p:nvGraphicFramePr>
        <p:xfrm>
          <a:off x="287338" y="850900"/>
          <a:ext cx="9331325" cy="4541520"/>
        </p:xfrm>
        <a:graphic>
          <a:graphicData uri="http://schemas.openxmlformats.org/drawingml/2006/table">
            <a:tbl>
              <a:tblPr firstRow="1" bandRow="1">
                <a:tableStyleId>{5940675A-B579-460E-94D1-54222C63F5DA}</a:tableStyleId>
              </a:tblPr>
              <a:tblGrid>
                <a:gridCol w="588962"/>
                <a:gridCol w="1511300"/>
                <a:gridCol w="7231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519680">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1</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How will the Bank classify financial instruments as revolving credit facilities vis-à-vis non-revolving credit facilities? </a:t>
                      </a:r>
                    </a:p>
                  </a:txBody>
                  <a:tcPr anchor="ctr"/>
                </a:tc>
                <a:tc>
                  <a:txBody>
                    <a:bodyPr/>
                    <a:lstStyle/>
                    <a:p>
                      <a:pPr marL="119063" indent="-119063">
                        <a:lnSpc>
                          <a:spcPct val="100000"/>
                        </a:lnSpc>
                        <a:spcBef>
                          <a:spcPts val="300"/>
                        </a:spcBef>
                        <a:spcAft>
                          <a:spcPts val="300"/>
                        </a:spcAft>
                        <a:buFont typeface="Arial" panose="020B0604020202020204" pitchFamily="34" charset="0"/>
                        <a:buChar char="•"/>
                      </a:pPr>
                      <a:r>
                        <a:rPr lang="en-US" sz="1400" b="1" kern="1200" dirty="0" smtClean="0">
                          <a:solidFill>
                            <a:schemeClr val="tx1"/>
                          </a:solidFill>
                          <a:latin typeface="Times New Roman" panose="02020603050405020304" pitchFamily="18" charset="0"/>
                          <a:ea typeface="+mn-ea"/>
                          <a:cs typeface="Times New Roman" panose="02020603050405020304" pitchFamily="18" charset="0"/>
                        </a:rPr>
                        <a:t>Revolving credit facilities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would be identified as those financial instruments with a drawn and undrawn commitment with following key characteristics: </a:t>
                      </a:r>
                    </a:p>
                    <a:p>
                      <a:pPr marL="631825" lvl="1" indent="-174625">
                        <a:lnSpc>
                          <a:spcPct val="100000"/>
                        </a:lnSpc>
                        <a:spcBef>
                          <a:spcPts val="300"/>
                        </a:spcBef>
                        <a:spcAft>
                          <a:spcPts val="300"/>
                        </a:spcAft>
                        <a:buFont typeface="+mj-lt"/>
                        <a:buAutoNum type="alphaLcParen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No fixed term or repayment structure and usually a short contractual cancellation period </a:t>
                      </a:r>
                    </a:p>
                    <a:p>
                      <a:pPr marL="631825" lvl="1" indent="-174625">
                        <a:lnSpc>
                          <a:spcPct val="100000"/>
                        </a:lnSpc>
                        <a:spcBef>
                          <a:spcPts val="300"/>
                        </a:spcBef>
                        <a:spcAft>
                          <a:spcPts val="300"/>
                        </a:spcAft>
                        <a:buFont typeface="+mj-lt"/>
                        <a:buAutoNum type="alphaLcParen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Contractual ability to cancel the facility is not enforced in normal day-to-day management and the Bank only cancels the contract in case of significant increase in credit risk (SICR) </a:t>
                      </a:r>
                    </a:p>
                    <a:p>
                      <a:pPr marL="631825" lvl="1" indent="-174625">
                        <a:lnSpc>
                          <a:spcPct val="100000"/>
                        </a:lnSpc>
                        <a:spcBef>
                          <a:spcPts val="300"/>
                        </a:spcBef>
                        <a:spcAft>
                          <a:spcPts val="300"/>
                        </a:spcAft>
                        <a:buFont typeface="+mj-lt"/>
                        <a:buAutoNum type="alphaLcParen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Such instruments are managed on a collective basis </a:t>
                      </a:r>
                    </a:p>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Additionally, in accordance with the ITG guidance, revolving credit facilities would be those facilities where the borrower has flexibility in how frequently they make drawdowns on the facility and consequently it is possible that the facility could be fully drawn or fully undrawn as of the reporting date </a:t>
                      </a:r>
                    </a:p>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Any financial instrument not meeting the criteria mentioned above would be classified as a </a:t>
                      </a:r>
                      <a:r>
                        <a:rPr lang="en-US" sz="1400" b="1" kern="1200" dirty="0" smtClean="0">
                          <a:solidFill>
                            <a:schemeClr val="tx1"/>
                          </a:solidFill>
                          <a:latin typeface="Times New Roman" panose="02020603050405020304" pitchFamily="18" charset="0"/>
                          <a:ea typeface="+mn-ea"/>
                          <a:cs typeface="Times New Roman" panose="02020603050405020304" pitchFamily="18" charset="0"/>
                        </a:rPr>
                        <a:t>non-revolving credit facility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(and would qualify for the maximum contractual maturity treatment as defined under IFRS 9 para 5.5.19) </a:t>
                      </a:r>
                    </a:p>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rgbClr val="FF0000"/>
                          </a:solidFill>
                          <a:latin typeface="Times New Roman" panose="02020603050405020304" pitchFamily="18" charset="0"/>
                          <a:ea typeface="+mn-ea"/>
                          <a:cs typeface="Times New Roman" panose="02020603050405020304" pitchFamily="18" charset="0"/>
                        </a:rPr>
                        <a:t>QNB does not expect that revolving credit cards and overdraft facilities would qualify as financial instruments requiring treatment as specified under para 5.5.20.</a:t>
                      </a:r>
                    </a:p>
                  </a:txBody>
                  <a:tcPr/>
                </a:tc>
              </a:tr>
            </a:tbl>
          </a:graphicData>
        </a:graphic>
      </p:graphicFrame>
    </p:spTree>
    <p:extLst>
      <p:ext uri="{BB962C8B-B14F-4D97-AF65-F5344CB8AC3E}">
        <p14:creationId xmlns:p14="http://schemas.microsoft.com/office/powerpoint/2010/main" val="105017806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a:t>
            </a:r>
            <a:r>
              <a:rPr lang="en-US" b="1" dirty="0"/>
              <a:t>estimation of ‘period of exposure’ </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101</a:t>
            </a:fld>
            <a:endParaRPr lang="en-US" altLang="en-US"/>
          </a:p>
        </p:txBody>
      </p:sp>
      <p:graphicFrame>
        <p:nvGraphicFramePr>
          <p:cNvPr id="6" name="Table 5"/>
          <p:cNvGraphicFramePr>
            <a:graphicFrameLocks noGrp="1"/>
          </p:cNvGraphicFramePr>
          <p:nvPr>
            <p:extLst/>
          </p:nvPr>
        </p:nvGraphicFramePr>
        <p:xfrm>
          <a:off x="287338" y="850900"/>
          <a:ext cx="9331325" cy="3962400"/>
        </p:xfrm>
        <a:graphic>
          <a:graphicData uri="http://schemas.openxmlformats.org/drawingml/2006/table">
            <a:tbl>
              <a:tblPr firstRow="1" bandRow="1">
                <a:tableStyleId>{5940675A-B579-460E-94D1-54222C63F5DA}</a:tableStyleId>
              </a:tblPr>
              <a:tblGrid>
                <a:gridCol w="588962"/>
                <a:gridCol w="1511300"/>
                <a:gridCol w="7231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519680">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2</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For non-revolving credit facilities, will the Bank measure ‘period of exposure’ as maximum contractual maturity or shortened maturity incorporating past behavior of accounts? If the latter approach is selected, what will be the basis for estimating shortened maturity? </a:t>
                      </a:r>
                    </a:p>
                    <a:p>
                      <a:pPr algn="l"/>
                      <a:r>
                        <a:rPr lang="en-IN" sz="1200" kern="1200" dirty="0" smtClean="0">
                          <a:solidFill>
                            <a:schemeClr val="tx1"/>
                          </a:solidFill>
                          <a:latin typeface="Times New Roman" panose="02020603050405020304" pitchFamily="18" charset="0"/>
                          <a:ea typeface="+mn-ea"/>
                          <a:cs typeface="Times New Roman" panose="02020603050405020304" pitchFamily="18" charset="0"/>
                        </a:rPr>
                        <a:t>What will be the criteria for Backward Transition of accounts?</a:t>
                      </a:r>
                    </a:p>
                  </a:txBody>
                  <a:tcPr anchor="ctr"/>
                </a:tc>
                <a:tc>
                  <a:txBody>
                    <a:bodyPr/>
                    <a:lstStyle/>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As a conservative estimate, QNB will consider</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ECLs for all non-revolving credit facilities to be measured for a period corresponding to the maximum contractual maturity without any exceptions. </a:t>
                      </a:r>
                    </a:p>
                    <a:p>
                      <a:pPr marL="119063" indent="-119063">
                        <a:lnSpc>
                          <a:spcPct val="100000"/>
                        </a:lnSpc>
                        <a:spcBef>
                          <a:spcPts val="300"/>
                        </a:spcBef>
                        <a:spcAft>
                          <a:spcPts val="300"/>
                        </a:spcAft>
                        <a:buFont typeface="Arial" panose="020B0604020202020204" pitchFamily="34" charset="0"/>
                        <a:buChar char="•"/>
                      </a:pPr>
                      <a:endParaRPr lang="en-IN"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spcBef>
                          <a:spcPts val="300"/>
                        </a:spcBef>
                        <a:spcAft>
                          <a:spcPts val="300"/>
                        </a:spcAft>
                        <a:buFont typeface="Arial" panose="020B0604020202020204" pitchFamily="34" charset="0"/>
                        <a:buChar char="•"/>
                      </a:pPr>
                      <a:r>
                        <a:rPr lang="en-IN" sz="1400" b="0" kern="1200" dirty="0" smtClean="0">
                          <a:solidFill>
                            <a:schemeClr val="tx1"/>
                          </a:solidFill>
                          <a:latin typeface="Times New Roman" panose="02020603050405020304" pitchFamily="18" charset="0"/>
                          <a:ea typeface="+mn-ea"/>
                          <a:cs typeface="Times New Roman" panose="02020603050405020304" pitchFamily="18" charset="0"/>
                        </a:rPr>
                        <a:t>For facilities where maturity date is unavailable, the current assumption - of using a weighted average residual maturity that is refreshed on each reporting date – will be considered</a:t>
                      </a:r>
                    </a:p>
                    <a:p>
                      <a:pPr marL="119063" indent="-119063">
                        <a:lnSpc>
                          <a:spcPct val="100000"/>
                        </a:lnSpc>
                        <a:spcBef>
                          <a:spcPts val="300"/>
                        </a:spcBef>
                        <a:spcAft>
                          <a:spcPts val="300"/>
                        </a:spcAft>
                        <a:buFont typeface="Arial" panose="020B0604020202020204" pitchFamily="34" charset="0"/>
                        <a:buChar char="•"/>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The possibility of using a conservative buffer additional to the maturity as estimated above may require consideration</a:t>
                      </a:r>
                    </a:p>
                    <a:p>
                      <a:pPr marL="119063" indent="-119063">
                        <a:lnSpc>
                          <a:spcPct val="100000"/>
                        </a:lnSpc>
                        <a:buFont typeface="Arial" panose="020B0604020202020204" pitchFamily="34" charset="0"/>
                        <a:buChar char="•"/>
                      </a:pPr>
                      <a:endParaRPr lang="en-US" sz="1400" b="0" kern="1200" dirty="0" smtClean="0">
                        <a:solidFill>
                          <a:srgbClr val="00B050"/>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33103532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a:t>
            </a:r>
            <a:r>
              <a:rPr lang="en-US" b="1" dirty="0"/>
              <a:t>estimation of ‘period of exposure’ </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102</a:t>
            </a:fld>
            <a:endParaRPr lang="en-US" altLang="en-US"/>
          </a:p>
        </p:txBody>
      </p:sp>
      <p:graphicFrame>
        <p:nvGraphicFramePr>
          <p:cNvPr id="6" name="Table 5"/>
          <p:cNvGraphicFramePr>
            <a:graphicFrameLocks noGrp="1"/>
          </p:cNvGraphicFramePr>
          <p:nvPr>
            <p:extLst/>
          </p:nvPr>
        </p:nvGraphicFramePr>
        <p:xfrm>
          <a:off x="287338" y="850900"/>
          <a:ext cx="9331325" cy="5196840"/>
        </p:xfrm>
        <a:graphic>
          <a:graphicData uri="http://schemas.openxmlformats.org/drawingml/2006/table">
            <a:tbl>
              <a:tblPr firstRow="1" bandRow="1">
                <a:tableStyleId>{5940675A-B579-460E-94D1-54222C63F5DA}</a:tableStyleId>
              </a:tblPr>
              <a:tblGrid>
                <a:gridCol w="588962"/>
                <a:gridCol w="1511300"/>
                <a:gridCol w="7231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519680">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3</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For revolving credit facilities, on what basis will the Bank determine effective maturity to be used for ECL estimation? </a:t>
                      </a:r>
                    </a:p>
                  </a:txBody>
                  <a:tcPr anchor="ctr"/>
                </a:tc>
                <a:tc>
                  <a:txBody>
                    <a:bodyPr/>
                    <a:lstStyle/>
                    <a:p>
                      <a:pPr marL="0" indent="0">
                        <a:lnSpc>
                          <a:spcPct val="100000"/>
                        </a:lnSpc>
                        <a:spcBef>
                          <a:spcPts val="300"/>
                        </a:spcBef>
                        <a:spcAft>
                          <a:spcPts val="300"/>
                        </a:spcAft>
                        <a:buFont typeface="Arial" panose="020B0604020202020204" pitchFamily="34" charset="0"/>
                        <a:buNone/>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In accordance with the IFRS 9 principles and additional ITG guidance, QNB will adopt the following principles for effective maturity estimation:  </a:t>
                      </a:r>
                    </a:p>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Given that historical information is unavailable, behavioral maturity will not be estimated based on average time post origination taken for accounts to either get closed or become impaired following a significant increase in credit risk </a:t>
                      </a:r>
                    </a:p>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For each facility, the upper limit on effective maturity estimate would be determined based on the time due for the next </a:t>
                      </a:r>
                      <a:r>
                        <a:rPr lang="en-US" sz="1400" b="0" i="1" kern="1200" dirty="0" smtClean="0">
                          <a:solidFill>
                            <a:schemeClr val="tx1"/>
                          </a:solidFill>
                          <a:latin typeface="Times New Roman" panose="02020603050405020304" pitchFamily="18" charset="0"/>
                          <a:ea typeface="+mn-ea"/>
                          <a:cs typeface="Times New Roman" panose="02020603050405020304" pitchFamily="18" charset="0"/>
                        </a:rPr>
                        <a:t>thorough </a:t>
                      </a:r>
                      <a:r>
                        <a:rPr lang="en-US" sz="1400" b="0" kern="1200" dirty="0" smtClean="0">
                          <a:solidFill>
                            <a:schemeClr val="tx1"/>
                          </a:solidFill>
                          <a:latin typeface="Times New Roman" panose="02020603050405020304" pitchFamily="18" charset="0"/>
                          <a:ea typeface="+mn-ea"/>
                          <a:cs typeface="Times New Roman" panose="02020603050405020304" pitchFamily="18" charset="0"/>
                        </a:rPr>
                        <a:t>credit review of the facility as of reporting date </a:t>
                      </a:r>
                      <a:r>
                        <a:rPr lang="en-US" sz="1400" b="0" kern="1200" dirty="0" smtClean="0">
                          <a:solidFill>
                            <a:srgbClr val="FF0000"/>
                          </a:solidFill>
                          <a:latin typeface="Times New Roman" panose="02020603050405020304" pitchFamily="18" charset="0"/>
                          <a:ea typeface="+mn-ea"/>
                          <a:cs typeface="Times New Roman" panose="02020603050405020304" pitchFamily="18" charset="0"/>
                        </a:rPr>
                        <a:t>plus an additional buffer. The additional buffer:</a:t>
                      </a:r>
                    </a:p>
                    <a:p>
                      <a:pPr marL="631825" lvl="1" indent="-174625">
                        <a:lnSpc>
                          <a:spcPct val="100000"/>
                        </a:lnSpc>
                        <a:spcBef>
                          <a:spcPts val="300"/>
                        </a:spcBef>
                        <a:spcAft>
                          <a:spcPts val="300"/>
                        </a:spcAft>
                        <a:buFont typeface="+mj-lt"/>
                        <a:buAutoNum type="romanLcPeriod"/>
                      </a:pPr>
                      <a:r>
                        <a:rPr lang="en-US" sz="1400" b="0" kern="1200" dirty="0" smtClean="0">
                          <a:solidFill>
                            <a:srgbClr val="FF0000"/>
                          </a:solidFill>
                          <a:latin typeface="Times New Roman" panose="02020603050405020304" pitchFamily="18" charset="0"/>
                          <a:ea typeface="+mn-ea"/>
                          <a:cs typeface="Times New Roman" panose="02020603050405020304" pitchFamily="18" charset="0"/>
                        </a:rPr>
                        <a:t>would correspond to the average time taken to undertake credit risk mitigating actions (such as reduction or removal of credit limit etc.) after credit review for accounts identified with significant increase in credit risk </a:t>
                      </a:r>
                    </a:p>
                    <a:p>
                      <a:pPr marL="631825" lvl="1" indent="-174625">
                        <a:lnSpc>
                          <a:spcPct val="100000"/>
                        </a:lnSpc>
                        <a:spcBef>
                          <a:spcPts val="300"/>
                        </a:spcBef>
                        <a:spcAft>
                          <a:spcPts val="300"/>
                        </a:spcAft>
                        <a:buFont typeface="+mj-lt"/>
                        <a:buAutoNum type="romanLcPeriod"/>
                      </a:pPr>
                      <a:r>
                        <a:rPr lang="en-US" sz="1400" b="0" kern="1200" dirty="0" smtClean="0">
                          <a:solidFill>
                            <a:srgbClr val="FF0000"/>
                          </a:solidFill>
                          <a:latin typeface="Times New Roman" panose="02020603050405020304" pitchFamily="18" charset="0"/>
                          <a:ea typeface="+mn-ea"/>
                          <a:cs typeface="Times New Roman" panose="02020603050405020304" pitchFamily="18" charset="0"/>
                        </a:rPr>
                        <a:t>would be estimated based on expert judgment and/ or past history of accounts  </a:t>
                      </a:r>
                    </a:p>
                    <a:p>
                      <a:pPr marL="119063" indent="-119063">
                        <a:lnSpc>
                          <a:spcPct val="100000"/>
                        </a:lnSpc>
                        <a:spcBef>
                          <a:spcPts val="300"/>
                        </a:spcBef>
                        <a:spcAft>
                          <a:spcPts val="300"/>
                        </a:spcAft>
                        <a:buFont typeface="Arial" panose="020B0604020202020204" pitchFamily="34" charset="0"/>
                        <a:buChar char="•"/>
                      </a:pPr>
                      <a:endParaRPr lang="en-US"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Additional considerations will include:</a:t>
                      </a:r>
                    </a:p>
                    <a:p>
                      <a:pPr marL="631825" lvl="1" indent="-174625">
                        <a:lnSpc>
                          <a:spcPct val="100000"/>
                        </a:lnSpc>
                        <a:spcBef>
                          <a:spcPts val="300"/>
                        </a:spcBef>
                        <a:spcAft>
                          <a:spcPts val="300"/>
                        </a:spcAft>
                        <a:buFont typeface="+mj-lt"/>
                        <a:buAutoNum type="romanLcPeriod"/>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For Stage 2 accounts, final effective maturity would be floored at 12m</a:t>
                      </a:r>
                    </a:p>
                    <a:p>
                      <a:pPr marL="631825" lvl="1" indent="-174625">
                        <a:lnSpc>
                          <a:spcPct val="100000"/>
                        </a:lnSpc>
                        <a:spcBef>
                          <a:spcPts val="300"/>
                        </a:spcBef>
                        <a:spcAft>
                          <a:spcPts val="300"/>
                        </a:spcAft>
                        <a:buFont typeface="+mj-lt"/>
                        <a:buAutoNum type="romanLcPeriod"/>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For Stage 1 accounts, no floor would be applied</a:t>
                      </a:r>
                    </a:p>
                    <a:p>
                      <a:pPr marL="119063" indent="-119063">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The above treatment would ensure that Stage 2 accounts always have effective maturity greater than or equal to Stage 1 accounts thereby ensuring a higher ECL for such accounts </a:t>
                      </a:r>
                    </a:p>
                  </a:txBody>
                  <a:tcPr/>
                </a:tc>
              </a:tr>
            </a:tbl>
          </a:graphicData>
        </a:graphic>
      </p:graphicFrame>
    </p:spTree>
    <p:extLst>
      <p:ext uri="{BB962C8B-B14F-4D97-AF65-F5344CB8AC3E}">
        <p14:creationId xmlns:p14="http://schemas.microsoft.com/office/powerpoint/2010/main" val="98575536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a:t>
            </a:r>
            <a:r>
              <a:rPr lang="en-US" b="1" dirty="0"/>
              <a:t>estimation of ‘period of exposure’ </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103</a:t>
            </a:fld>
            <a:endParaRPr lang="en-US" altLang="en-US"/>
          </a:p>
        </p:txBody>
      </p:sp>
      <p:graphicFrame>
        <p:nvGraphicFramePr>
          <p:cNvPr id="5" name="Table 4"/>
          <p:cNvGraphicFramePr>
            <a:graphicFrameLocks noGrp="1"/>
          </p:cNvGraphicFramePr>
          <p:nvPr>
            <p:extLst/>
          </p:nvPr>
        </p:nvGraphicFramePr>
        <p:xfrm>
          <a:off x="918369" y="1181100"/>
          <a:ext cx="8069262" cy="4806189"/>
        </p:xfrm>
        <a:graphic>
          <a:graphicData uri="http://schemas.openxmlformats.org/drawingml/2006/table">
            <a:tbl>
              <a:tblPr firstRow="1" bandRow="1"/>
              <a:tblGrid>
                <a:gridCol w="1832503"/>
                <a:gridCol w="1351643"/>
                <a:gridCol w="1195224"/>
                <a:gridCol w="1146446"/>
                <a:gridCol w="2543446"/>
              </a:tblGrid>
              <a:tr h="684163">
                <a:tc>
                  <a:txBody>
                    <a:bodyPr/>
                    <a:lstStyle>
                      <a:lvl1pPr marL="0" algn="l" defTabSz="548457" rtl="0" eaLnBrk="1" latinLnBrk="0" hangingPunct="1">
                        <a:defRPr sz="1080" b="1" kern="1200">
                          <a:solidFill>
                            <a:schemeClr val="bg1"/>
                          </a:solidFill>
                          <a:latin typeface="Museo Sans 100"/>
                        </a:defRPr>
                      </a:lvl1pPr>
                      <a:lvl2pPr marL="274229" algn="l" defTabSz="548457" rtl="0" eaLnBrk="1" latinLnBrk="0" hangingPunct="1">
                        <a:defRPr sz="1080" b="1" kern="1200">
                          <a:solidFill>
                            <a:schemeClr val="bg1"/>
                          </a:solidFill>
                          <a:latin typeface="Museo Sans 100"/>
                        </a:defRPr>
                      </a:lvl2pPr>
                      <a:lvl3pPr marL="548457" algn="l" defTabSz="548457" rtl="0" eaLnBrk="1" latinLnBrk="0" hangingPunct="1">
                        <a:defRPr sz="1080" b="1" kern="1200">
                          <a:solidFill>
                            <a:schemeClr val="bg1"/>
                          </a:solidFill>
                          <a:latin typeface="Museo Sans 100"/>
                        </a:defRPr>
                      </a:lvl3pPr>
                      <a:lvl4pPr marL="822686" algn="l" defTabSz="548457" rtl="0" eaLnBrk="1" latinLnBrk="0" hangingPunct="1">
                        <a:defRPr sz="1080" b="1" kern="1200">
                          <a:solidFill>
                            <a:schemeClr val="bg1"/>
                          </a:solidFill>
                          <a:latin typeface="Museo Sans 100"/>
                        </a:defRPr>
                      </a:lvl4pPr>
                      <a:lvl5pPr marL="1096914" algn="l" defTabSz="548457" rtl="0" eaLnBrk="1" latinLnBrk="0" hangingPunct="1">
                        <a:defRPr sz="1080" b="1" kern="1200">
                          <a:solidFill>
                            <a:schemeClr val="bg1"/>
                          </a:solidFill>
                          <a:latin typeface="Museo Sans 100"/>
                        </a:defRPr>
                      </a:lvl5pPr>
                      <a:lvl6pPr marL="1371143" algn="l" defTabSz="548457" rtl="0" eaLnBrk="1" latinLnBrk="0" hangingPunct="1">
                        <a:defRPr sz="1080" b="1" kern="1200">
                          <a:solidFill>
                            <a:schemeClr val="bg1"/>
                          </a:solidFill>
                          <a:latin typeface="Museo Sans 100"/>
                        </a:defRPr>
                      </a:lvl6pPr>
                      <a:lvl7pPr marL="1645371" algn="l" defTabSz="548457" rtl="0" eaLnBrk="1" latinLnBrk="0" hangingPunct="1">
                        <a:defRPr sz="1080" b="1" kern="1200">
                          <a:solidFill>
                            <a:schemeClr val="bg1"/>
                          </a:solidFill>
                          <a:latin typeface="Museo Sans 100"/>
                        </a:defRPr>
                      </a:lvl7pPr>
                      <a:lvl8pPr marL="1919600" algn="l" defTabSz="548457" rtl="0" eaLnBrk="1" latinLnBrk="0" hangingPunct="1">
                        <a:defRPr sz="1080" b="1" kern="1200">
                          <a:solidFill>
                            <a:schemeClr val="bg1"/>
                          </a:solidFill>
                          <a:latin typeface="Museo Sans 100"/>
                        </a:defRPr>
                      </a:lvl8pPr>
                      <a:lvl9pPr marL="2193828" algn="l" defTabSz="548457" rtl="0" eaLnBrk="1" latinLnBrk="0" hangingPunct="1">
                        <a:defRPr sz="1080" b="1" kern="1200">
                          <a:solidFill>
                            <a:schemeClr val="bg1"/>
                          </a:solidFill>
                          <a:latin typeface="Museo Sans 100"/>
                        </a:defRPr>
                      </a:lvl9pPr>
                    </a:lstStyle>
                    <a:p>
                      <a:pPr algn="l"/>
                      <a:r>
                        <a:rPr lang="en-US" sz="140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Product</a:t>
                      </a:r>
                      <a:endParaRPr lang="en-US" sz="1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rgbClr val="000F33"/>
                    </a:solidFill>
                  </a:tcPr>
                </a:tc>
                <a:tc>
                  <a:txBody>
                    <a:bodyPr/>
                    <a:lstStyle>
                      <a:lvl1pPr marL="0" algn="l" defTabSz="548457" rtl="0" eaLnBrk="1" latinLnBrk="0" hangingPunct="1">
                        <a:defRPr sz="1080" b="1" kern="1200">
                          <a:solidFill>
                            <a:schemeClr val="bg1"/>
                          </a:solidFill>
                          <a:latin typeface="Museo Sans 100"/>
                        </a:defRPr>
                      </a:lvl1pPr>
                      <a:lvl2pPr marL="274229" algn="l" defTabSz="548457" rtl="0" eaLnBrk="1" latinLnBrk="0" hangingPunct="1">
                        <a:defRPr sz="1080" b="1" kern="1200">
                          <a:solidFill>
                            <a:schemeClr val="bg1"/>
                          </a:solidFill>
                          <a:latin typeface="Museo Sans 100"/>
                        </a:defRPr>
                      </a:lvl2pPr>
                      <a:lvl3pPr marL="548457" algn="l" defTabSz="548457" rtl="0" eaLnBrk="1" latinLnBrk="0" hangingPunct="1">
                        <a:defRPr sz="1080" b="1" kern="1200">
                          <a:solidFill>
                            <a:schemeClr val="bg1"/>
                          </a:solidFill>
                          <a:latin typeface="Museo Sans 100"/>
                        </a:defRPr>
                      </a:lvl3pPr>
                      <a:lvl4pPr marL="822686" algn="l" defTabSz="548457" rtl="0" eaLnBrk="1" latinLnBrk="0" hangingPunct="1">
                        <a:defRPr sz="1080" b="1" kern="1200">
                          <a:solidFill>
                            <a:schemeClr val="bg1"/>
                          </a:solidFill>
                          <a:latin typeface="Museo Sans 100"/>
                        </a:defRPr>
                      </a:lvl4pPr>
                      <a:lvl5pPr marL="1096914" algn="l" defTabSz="548457" rtl="0" eaLnBrk="1" latinLnBrk="0" hangingPunct="1">
                        <a:defRPr sz="1080" b="1" kern="1200">
                          <a:solidFill>
                            <a:schemeClr val="bg1"/>
                          </a:solidFill>
                          <a:latin typeface="Museo Sans 100"/>
                        </a:defRPr>
                      </a:lvl5pPr>
                      <a:lvl6pPr marL="1371143" algn="l" defTabSz="548457" rtl="0" eaLnBrk="1" latinLnBrk="0" hangingPunct="1">
                        <a:defRPr sz="1080" b="1" kern="1200">
                          <a:solidFill>
                            <a:schemeClr val="bg1"/>
                          </a:solidFill>
                          <a:latin typeface="Museo Sans 100"/>
                        </a:defRPr>
                      </a:lvl6pPr>
                      <a:lvl7pPr marL="1645371" algn="l" defTabSz="548457" rtl="0" eaLnBrk="1" latinLnBrk="0" hangingPunct="1">
                        <a:defRPr sz="1080" b="1" kern="1200">
                          <a:solidFill>
                            <a:schemeClr val="bg1"/>
                          </a:solidFill>
                          <a:latin typeface="Museo Sans 100"/>
                        </a:defRPr>
                      </a:lvl7pPr>
                      <a:lvl8pPr marL="1919600" algn="l" defTabSz="548457" rtl="0" eaLnBrk="1" latinLnBrk="0" hangingPunct="1">
                        <a:defRPr sz="1080" b="1" kern="1200">
                          <a:solidFill>
                            <a:schemeClr val="bg1"/>
                          </a:solidFill>
                          <a:latin typeface="Museo Sans 100"/>
                        </a:defRPr>
                      </a:lvl8pPr>
                      <a:lvl9pPr marL="2193828" algn="l" defTabSz="548457" rtl="0" eaLnBrk="1" latinLnBrk="0" hangingPunct="1">
                        <a:defRPr sz="1080" b="1" kern="1200">
                          <a:solidFill>
                            <a:schemeClr val="bg1"/>
                          </a:solidFill>
                          <a:latin typeface="Museo Sans 100"/>
                        </a:defRPr>
                      </a:lvl9pPr>
                    </a:lstStyle>
                    <a:p>
                      <a:pPr algn="ctr"/>
                      <a:r>
                        <a:rPr lang="en-US" sz="140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Revolving</a:t>
                      </a:r>
                      <a:r>
                        <a:rPr lang="en-US" sz="1400"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 Non-Revolving</a:t>
                      </a:r>
                      <a:endParaRPr lang="en-US" sz="1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rgbClr val="000F33"/>
                    </a:solidFill>
                  </a:tcPr>
                </a:tc>
                <a:tc>
                  <a:txBody>
                    <a:bodyPr/>
                    <a:lstStyle>
                      <a:lvl1pPr marL="0" algn="l" defTabSz="548457" rtl="0" eaLnBrk="1" latinLnBrk="0" hangingPunct="1">
                        <a:defRPr sz="1080" b="1" kern="1200">
                          <a:solidFill>
                            <a:schemeClr val="bg1"/>
                          </a:solidFill>
                          <a:latin typeface="Museo Sans 100"/>
                        </a:defRPr>
                      </a:lvl1pPr>
                      <a:lvl2pPr marL="274229" algn="l" defTabSz="548457" rtl="0" eaLnBrk="1" latinLnBrk="0" hangingPunct="1">
                        <a:defRPr sz="1080" b="1" kern="1200">
                          <a:solidFill>
                            <a:schemeClr val="bg1"/>
                          </a:solidFill>
                          <a:latin typeface="Museo Sans 100"/>
                        </a:defRPr>
                      </a:lvl2pPr>
                      <a:lvl3pPr marL="548457" algn="l" defTabSz="548457" rtl="0" eaLnBrk="1" latinLnBrk="0" hangingPunct="1">
                        <a:defRPr sz="1080" b="1" kern="1200">
                          <a:solidFill>
                            <a:schemeClr val="bg1"/>
                          </a:solidFill>
                          <a:latin typeface="Museo Sans 100"/>
                        </a:defRPr>
                      </a:lvl3pPr>
                      <a:lvl4pPr marL="822686" algn="l" defTabSz="548457" rtl="0" eaLnBrk="1" latinLnBrk="0" hangingPunct="1">
                        <a:defRPr sz="1080" b="1" kern="1200">
                          <a:solidFill>
                            <a:schemeClr val="bg1"/>
                          </a:solidFill>
                          <a:latin typeface="Museo Sans 100"/>
                        </a:defRPr>
                      </a:lvl4pPr>
                      <a:lvl5pPr marL="1096914" algn="l" defTabSz="548457" rtl="0" eaLnBrk="1" latinLnBrk="0" hangingPunct="1">
                        <a:defRPr sz="1080" b="1" kern="1200">
                          <a:solidFill>
                            <a:schemeClr val="bg1"/>
                          </a:solidFill>
                          <a:latin typeface="Museo Sans 100"/>
                        </a:defRPr>
                      </a:lvl5pPr>
                      <a:lvl6pPr marL="1371143" algn="l" defTabSz="548457" rtl="0" eaLnBrk="1" latinLnBrk="0" hangingPunct="1">
                        <a:defRPr sz="1080" b="1" kern="1200">
                          <a:solidFill>
                            <a:schemeClr val="bg1"/>
                          </a:solidFill>
                          <a:latin typeface="Museo Sans 100"/>
                        </a:defRPr>
                      </a:lvl6pPr>
                      <a:lvl7pPr marL="1645371" algn="l" defTabSz="548457" rtl="0" eaLnBrk="1" latinLnBrk="0" hangingPunct="1">
                        <a:defRPr sz="1080" b="1" kern="1200">
                          <a:solidFill>
                            <a:schemeClr val="bg1"/>
                          </a:solidFill>
                          <a:latin typeface="Museo Sans 100"/>
                        </a:defRPr>
                      </a:lvl7pPr>
                      <a:lvl8pPr marL="1919600" algn="l" defTabSz="548457" rtl="0" eaLnBrk="1" latinLnBrk="0" hangingPunct="1">
                        <a:defRPr sz="1080" b="1" kern="1200">
                          <a:solidFill>
                            <a:schemeClr val="bg1"/>
                          </a:solidFill>
                          <a:latin typeface="Museo Sans 100"/>
                        </a:defRPr>
                      </a:lvl8pPr>
                      <a:lvl9pPr marL="2193828" algn="l" defTabSz="548457" rtl="0" eaLnBrk="1" latinLnBrk="0" hangingPunct="1">
                        <a:defRPr sz="1080" b="1" kern="1200">
                          <a:solidFill>
                            <a:schemeClr val="bg1"/>
                          </a:solidFill>
                          <a:latin typeface="Museo Sans 100"/>
                        </a:defRPr>
                      </a:lvl9pPr>
                    </a:lstStyle>
                    <a:p>
                      <a:pPr algn="ctr"/>
                      <a:r>
                        <a:rPr lang="en-US" sz="140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Maturity Date Available</a:t>
                      </a:r>
                      <a:endParaRPr lang="en-US" sz="14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rgbClr val="000F33"/>
                    </a:solidFill>
                  </a:tcPr>
                </a:tc>
                <a:tc>
                  <a:txBody>
                    <a:body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Additional Buffer</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rgbClr val="000F33"/>
                    </a:solidFill>
                  </a:tcPr>
                </a:tc>
                <a:tc>
                  <a:txBody>
                    <a:bodyPr/>
                    <a:lstStyle/>
                    <a:p>
                      <a:pPr algn="ctr"/>
                      <a:r>
                        <a:rPr lang="en-US" sz="14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Comments</a:t>
                      </a:r>
                      <a:endParaRPr lang="en-US" sz="14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rgbClr val="000F33"/>
                    </a:solidFill>
                  </a:tcPr>
                </a:tc>
              </a:tr>
              <a:tr h="339939">
                <a:tc gridSpan="5">
                  <a:txBody>
                    <a:bodyPr/>
                    <a:lstStyle/>
                    <a:p>
                      <a:pPr algn="l"/>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Non-Retail</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548457" rtl="0" eaLnBrk="1" fontAlgn="auto" latinLnBrk="0" hangingPunct="1">
                        <a:lnSpc>
                          <a:spcPct val="100000"/>
                        </a:lnSpc>
                        <a:spcBef>
                          <a:spcPts val="0"/>
                        </a:spcBef>
                        <a:spcAft>
                          <a:spcPts val="0"/>
                        </a:spcAft>
                        <a:buClrTx/>
                        <a:buSzTx/>
                        <a:buFontTx/>
                        <a:buNone/>
                        <a:tabLst/>
                        <a:defRPr/>
                      </a:pPr>
                      <a:endParaRPr lang="en-US" sz="1400" b="1" dirty="0" smtClean="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indent="0" algn="ctr">
                        <a:buFont typeface="Arial" panose="020B0604020202020204" pitchFamily="34" charset="0"/>
                        <a:buNone/>
                      </a:pPr>
                      <a:endParaRPr lang="en-US" sz="1400" b="1" dirty="0" smtClean="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pPr algn="l"/>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39939">
                <a:tc>
                  <a:txBody>
                    <a:bodyPr/>
                    <a:lstStyle>
                      <a:lvl1pPr marL="0" algn="l" defTabSz="548457" rtl="0" eaLnBrk="1" latinLnBrk="0" hangingPunct="1">
                        <a:defRPr sz="1080" kern="1200">
                          <a:solidFill>
                            <a:schemeClr val="tx1"/>
                          </a:solidFill>
                          <a:latin typeface="Museo Sans 100"/>
                        </a:defRPr>
                      </a:lvl1pPr>
                      <a:lvl2pPr marL="274229" algn="l" defTabSz="548457" rtl="0" eaLnBrk="1" latinLnBrk="0" hangingPunct="1">
                        <a:defRPr sz="1080" kern="1200">
                          <a:solidFill>
                            <a:schemeClr val="tx1"/>
                          </a:solidFill>
                          <a:latin typeface="Museo Sans 100"/>
                        </a:defRPr>
                      </a:lvl2pPr>
                      <a:lvl3pPr marL="548457" algn="l" defTabSz="548457" rtl="0" eaLnBrk="1" latinLnBrk="0" hangingPunct="1">
                        <a:defRPr sz="1080" kern="1200">
                          <a:solidFill>
                            <a:schemeClr val="tx1"/>
                          </a:solidFill>
                          <a:latin typeface="Museo Sans 100"/>
                        </a:defRPr>
                      </a:lvl3pPr>
                      <a:lvl4pPr marL="822686" algn="l" defTabSz="548457" rtl="0" eaLnBrk="1" latinLnBrk="0" hangingPunct="1">
                        <a:defRPr sz="1080" kern="1200">
                          <a:solidFill>
                            <a:schemeClr val="tx1"/>
                          </a:solidFill>
                          <a:latin typeface="Museo Sans 100"/>
                        </a:defRPr>
                      </a:lvl4pPr>
                      <a:lvl5pPr marL="1096914" algn="l" defTabSz="548457" rtl="0" eaLnBrk="1" latinLnBrk="0" hangingPunct="1">
                        <a:defRPr sz="1080" kern="1200">
                          <a:solidFill>
                            <a:schemeClr val="tx1"/>
                          </a:solidFill>
                          <a:latin typeface="Museo Sans 100"/>
                        </a:defRPr>
                      </a:lvl5pPr>
                      <a:lvl6pPr marL="1371143" algn="l" defTabSz="548457" rtl="0" eaLnBrk="1" latinLnBrk="0" hangingPunct="1">
                        <a:defRPr sz="1080" kern="1200">
                          <a:solidFill>
                            <a:schemeClr val="tx1"/>
                          </a:solidFill>
                          <a:latin typeface="Museo Sans 100"/>
                        </a:defRPr>
                      </a:lvl6pPr>
                      <a:lvl7pPr marL="1645371" algn="l" defTabSz="548457" rtl="0" eaLnBrk="1" latinLnBrk="0" hangingPunct="1">
                        <a:defRPr sz="1080" kern="1200">
                          <a:solidFill>
                            <a:schemeClr val="tx1"/>
                          </a:solidFill>
                          <a:latin typeface="Museo Sans 100"/>
                        </a:defRPr>
                      </a:lvl7pPr>
                      <a:lvl8pPr marL="1919600" algn="l" defTabSz="548457" rtl="0" eaLnBrk="1" latinLnBrk="0" hangingPunct="1">
                        <a:defRPr sz="1080" kern="1200">
                          <a:solidFill>
                            <a:schemeClr val="tx1"/>
                          </a:solidFill>
                          <a:latin typeface="Museo Sans 100"/>
                        </a:defRPr>
                      </a:lvl8pPr>
                      <a:lvl9pPr marL="2193828" algn="l" defTabSz="548457" rtl="0" eaLnBrk="1" latinLnBrk="0" hangingPunct="1">
                        <a:defRPr sz="1080" kern="1200">
                          <a:solidFill>
                            <a:schemeClr val="tx1"/>
                          </a:solidFill>
                          <a:latin typeface="Museo Sans 100"/>
                        </a:defRPr>
                      </a:lvl9p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Line of Guarantee</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48457" rtl="0" eaLnBrk="1" latinLnBrk="0" hangingPunct="1">
                        <a:defRPr sz="1080" kern="1200">
                          <a:solidFill>
                            <a:schemeClr val="tx1"/>
                          </a:solidFill>
                          <a:latin typeface="Museo Sans 100"/>
                        </a:defRPr>
                      </a:lvl1pPr>
                      <a:lvl2pPr marL="274229" algn="l" defTabSz="548457" rtl="0" eaLnBrk="1" latinLnBrk="0" hangingPunct="1">
                        <a:defRPr sz="1080" kern="1200">
                          <a:solidFill>
                            <a:schemeClr val="tx1"/>
                          </a:solidFill>
                          <a:latin typeface="Museo Sans 100"/>
                        </a:defRPr>
                      </a:lvl2pPr>
                      <a:lvl3pPr marL="548457" algn="l" defTabSz="548457" rtl="0" eaLnBrk="1" latinLnBrk="0" hangingPunct="1">
                        <a:defRPr sz="1080" kern="1200">
                          <a:solidFill>
                            <a:schemeClr val="tx1"/>
                          </a:solidFill>
                          <a:latin typeface="Museo Sans 100"/>
                        </a:defRPr>
                      </a:lvl3pPr>
                      <a:lvl4pPr marL="822686" algn="l" defTabSz="548457" rtl="0" eaLnBrk="1" latinLnBrk="0" hangingPunct="1">
                        <a:defRPr sz="1080" kern="1200">
                          <a:solidFill>
                            <a:schemeClr val="tx1"/>
                          </a:solidFill>
                          <a:latin typeface="Museo Sans 100"/>
                        </a:defRPr>
                      </a:lvl4pPr>
                      <a:lvl5pPr marL="1096914" algn="l" defTabSz="548457" rtl="0" eaLnBrk="1" latinLnBrk="0" hangingPunct="1">
                        <a:defRPr sz="1080" kern="1200">
                          <a:solidFill>
                            <a:schemeClr val="tx1"/>
                          </a:solidFill>
                          <a:latin typeface="Museo Sans 100"/>
                        </a:defRPr>
                      </a:lvl5pPr>
                      <a:lvl6pPr marL="1371143" algn="l" defTabSz="548457" rtl="0" eaLnBrk="1" latinLnBrk="0" hangingPunct="1">
                        <a:defRPr sz="1080" kern="1200">
                          <a:solidFill>
                            <a:schemeClr val="tx1"/>
                          </a:solidFill>
                          <a:latin typeface="Museo Sans 100"/>
                        </a:defRPr>
                      </a:lvl6pPr>
                      <a:lvl7pPr marL="1645371" algn="l" defTabSz="548457" rtl="0" eaLnBrk="1" latinLnBrk="0" hangingPunct="1">
                        <a:defRPr sz="1080" kern="1200">
                          <a:solidFill>
                            <a:schemeClr val="tx1"/>
                          </a:solidFill>
                          <a:latin typeface="Museo Sans 100"/>
                        </a:defRPr>
                      </a:lvl7pPr>
                      <a:lvl8pPr marL="1919600" algn="l" defTabSz="548457" rtl="0" eaLnBrk="1" latinLnBrk="0" hangingPunct="1">
                        <a:defRPr sz="1080" kern="1200">
                          <a:solidFill>
                            <a:schemeClr val="tx1"/>
                          </a:solidFill>
                          <a:latin typeface="Museo Sans 100"/>
                        </a:defRPr>
                      </a:lvl8pPr>
                      <a:lvl9pPr marL="2193828" algn="l" defTabSz="548457" rtl="0" eaLnBrk="1" latinLnBrk="0" hangingPunct="1">
                        <a:defRPr sz="1080" kern="1200">
                          <a:solidFill>
                            <a:schemeClr val="tx1"/>
                          </a:solidFill>
                          <a:latin typeface="Museo Sans 100"/>
                        </a:defRPr>
                      </a:lvl9pPr>
                    </a:lstStyle>
                    <a:p>
                      <a:pPr marL="0" marR="0" lvl="0" indent="0" algn="ctr" defTabSz="548457"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Non-Revolving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48457" rtl="0" eaLnBrk="1" latinLnBrk="0" hangingPunct="1">
                        <a:defRPr sz="1080" kern="1200">
                          <a:solidFill>
                            <a:schemeClr val="tx1"/>
                          </a:solidFill>
                          <a:latin typeface="Museo Sans 100"/>
                        </a:defRPr>
                      </a:lvl1pPr>
                      <a:lvl2pPr marL="274229" algn="l" defTabSz="548457" rtl="0" eaLnBrk="1" latinLnBrk="0" hangingPunct="1">
                        <a:defRPr sz="1080" kern="1200">
                          <a:solidFill>
                            <a:schemeClr val="tx1"/>
                          </a:solidFill>
                          <a:latin typeface="Museo Sans 100"/>
                        </a:defRPr>
                      </a:lvl2pPr>
                      <a:lvl3pPr marL="548457" algn="l" defTabSz="548457" rtl="0" eaLnBrk="1" latinLnBrk="0" hangingPunct="1">
                        <a:defRPr sz="1080" kern="1200">
                          <a:solidFill>
                            <a:schemeClr val="tx1"/>
                          </a:solidFill>
                          <a:latin typeface="Museo Sans 100"/>
                        </a:defRPr>
                      </a:lvl3pPr>
                      <a:lvl4pPr marL="822686" algn="l" defTabSz="548457" rtl="0" eaLnBrk="1" latinLnBrk="0" hangingPunct="1">
                        <a:defRPr sz="1080" kern="1200">
                          <a:solidFill>
                            <a:schemeClr val="tx1"/>
                          </a:solidFill>
                          <a:latin typeface="Museo Sans 100"/>
                        </a:defRPr>
                      </a:lvl4pPr>
                      <a:lvl5pPr marL="1096914" algn="l" defTabSz="548457" rtl="0" eaLnBrk="1" latinLnBrk="0" hangingPunct="1">
                        <a:defRPr sz="1080" kern="1200">
                          <a:solidFill>
                            <a:schemeClr val="tx1"/>
                          </a:solidFill>
                          <a:latin typeface="Museo Sans 100"/>
                        </a:defRPr>
                      </a:lvl5pPr>
                      <a:lvl6pPr marL="1371143" algn="l" defTabSz="548457" rtl="0" eaLnBrk="1" latinLnBrk="0" hangingPunct="1">
                        <a:defRPr sz="1080" kern="1200">
                          <a:solidFill>
                            <a:schemeClr val="tx1"/>
                          </a:solidFill>
                          <a:latin typeface="Museo Sans 100"/>
                        </a:defRPr>
                      </a:lvl6pPr>
                      <a:lvl7pPr marL="1645371" algn="l" defTabSz="548457" rtl="0" eaLnBrk="1" latinLnBrk="0" hangingPunct="1">
                        <a:defRPr sz="1080" kern="1200">
                          <a:solidFill>
                            <a:schemeClr val="tx1"/>
                          </a:solidFill>
                          <a:latin typeface="Museo Sans 100"/>
                        </a:defRPr>
                      </a:lvl7pPr>
                      <a:lvl8pPr marL="1919600" algn="l" defTabSz="548457" rtl="0" eaLnBrk="1" latinLnBrk="0" hangingPunct="1">
                        <a:defRPr sz="1080" kern="1200">
                          <a:solidFill>
                            <a:schemeClr val="tx1"/>
                          </a:solidFill>
                          <a:latin typeface="Museo Sans 100"/>
                        </a:defRPr>
                      </a:lvl8pPr>
                      <a:lvl9pPr marL="2193828" algn="l" defTabSz="548457" rtl="0" eaLnBrk="1" latinLnBrk="0" hangingPunct="1">
                        <a:defRPr sz="1080" kern="1200">
                          <a:solidFill>
                            <a:schemeClr val="tx1"/>
                          </a:solidFill>
                          <a:latin typeface="Museo Sans 100"/>
                        </a:defRPr>
                      </a:lvl9pPr>
                    </a:lstStyle>
                    <a:p>
                      <a:pPr marL="0" indent="0" algn="ctr">
                        <a:buFont typeface="Arial" panose="020B0604020202020204" pitchFamily="34" charset="0"/>
                        <a:buNone/>
                      </a:pPr>
                      <a:endParaRPr lang="en-US" sz="1400" b="0" dirty="0" smtClean="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kern="1200" dirty="0"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NA</a:t>
                      </a:r>
                      <a:endParaRPr lang="en-IN" sz="1400" b="0" kern="1200" dirty="0">
                        <a:solidFill>
                          <a:schemeClr val="tx1"/>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a:txBody>
                    <a:body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Term Loan</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Non-Revolving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Yes</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kern="1200" dirty="0"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NA</a:t>
                      </a:r>
                      <a:endParaRPr lang="en-IN" sz="1400" b="0" kern="1200" dirty="0">
                        <a:solidFill>
                          <a:schemeClr val="tx1"/>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a:txBody>
                    <a:bodyPr/>
                    <a:lstStyle>
                      <a:lvl1pPr marL="0" algn="l" defTabSz="548457" rtl="0" eaLnBrk="1" latinLnBrk="0" hangingPunct="1">
                        <a:defRPr sz="1080" kern="1200">
                          <a:solidFill>
                            <a:schemeClr val="tx1"/>
                          </a:solidFill>
                          <a:latin typeface="Museo Sans 100"/>
                        </a:defRPr>
                      </a:lvl1pPr>
                      <a:lvl2pPr marL="274229" algn="l" defTabSz="548457" rtl="0" eaLnBrk="1" latinLnBrk="0" hangingPunct="1">
                        <a:defRPr sz="1080" kern="1200">
                          <a:solidFill>
                            <a:schemeClr val="tx1"/>
                          </a:solidFill>
                          <a:latin typeface="Museo Sans 100"/>
                        </a:defRPr>
                      </a:lvl2pPr>
                      <a:lvl3pPr marL="548457" algn="l" defTabSz="548457" rtl="0" eaLnBrk="1" latinLnBrk="0" hangingPunct="1">
                        <a:defRPr sz="1080" kern="1200">
                          <a:solidFill>
                            <a:schemeClr val="tx1"/>
                          </a:solidFill>
                          <a:latin typeface="Museo Sans 100"/>
                        </a:defRPr>
                      </a:lvl3pPr>
                      <a:lvl4pPr marL="822686" algn="l" defTabSz="548457" rtl="0" eaLnBrk="1" latinLnBrk="0" hangingPunct="1">
                        <a:defRPr sz="1080" kern="1200">
                          <a:solidFill>
                            <a:schemeClr val="tx1"/>
                          </a:solidFill>
                          <a:latin typeface="Museo Sans 100"/>
                        </a:defRPr>
                      </a:lvl4pPr>
                      <a:lvl5pPr marL="1096914" algn="l" defTabSz="548457" rtl="0" eaLnBrk="1" latinLnBrk="0" hangingPunct="1">
                        <a:defRPr sz="1080" kern="1200">
                          <a:solidFill>
                            <a:schemeClr val="tx1"/>
                          </a:solidFill>
                          <a:latin typeface="Museo Sans 100"/>
                        </a:defRPr>
                      </a:lvl5pPr>
                      <a:lvl6pPr marL="1371143" algn="l" defTabSz="548457" rtl="0" eaLnBrk="1" latinLnBrk="0" hangingPunct="1">
                        <a:defRPr sz="1080" kern="1200">
                          <a:solidFill>
                            <a:schemeClr val="tx1"/>
                          </a:solidFill>
                          <a:latin typeface="Museo Sans 100"/>
                        </a:defRPr>
                      </a:lvl6pPr>
                      <a:lvl7pPr marL="1645371" algn="l" defTabSz="548457" rtl="0" eaLnBrk="1" latinLnBrk="0" hangingPunct="1">
                        <a:defRPr sz="1080" kern="1200">
                          <a:solidFill>
                            <a:schemeClr val="tx1"/>
                          </a:solidFill>
                          <a:latin typeface="Museo Sans 100"/>
                        </a:defRPr>
                      </a:lvl7pPr>
                      <a:lvl8pPr marL="1919600" algn="l" defTabSz="548457" rtl="0" eaLnBrk="1" latinLnBrk="0" hangingPunct="1">
                        <a:defRPr sz="1080" kern="1200">
                          <a:solidFill>
                            <a:schemeClr val="tx1"/>
                          </a:solidFill>
                          <a:latin typeface="Museo Sans 100"/>
                        </a:defRPr>
                      </a:lvl8pPr>
                      <a:lvl9pPr marL="2193828" algn="l" defTabSz="548457" rtl="0" eaLnBrk="1" latinLnBrk="0" hangingPunct="1">
                        <a:defRPr sz="1080" kern="1200">
                          <a:solidFill>
                            <a:schemeClr val="tx1"/>
                          </a:solidFill>
                          <a:latin typeface="Museo Sans 100"/>
                        </a:defRPr>
                      </a:lvl9p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Line of Credit</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kern="12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TBD</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a:txBody>
                    <a:body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Overdraft</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kern="12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TBD</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400" b="0" kern="12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Consider 12M</a:t>
                      </a:r>
                      <a:r>
                        <a:rPr lang="en-US" sz="1400" b="0" kern="1200" baseline="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 as the period of lifetime exposure</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a:txBody>
                    <a:body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Project Finance</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kern="12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TBD</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gridSpan="5">
                  <a:txBody>
                    <a:bodyPr/>
                    <a:lstStyle/>
                    <a:p>
                      <a:pPr algn="l"/>
                      <a:r>
                        <a:rPr lang="en-US" sz="1400" b="1" dirty="0" smtClean="0">
                          <a:latin typeface="Times New Roman" panose="02020603050405020304" pitchFamily="18" charset="0"/>
                          <a:ea typeface="Verdana" panose="020B0604030504040204" pitchFamily="34" charset="0"/>
                          <a:cs typeface="Times New Roman" panose="02020603050405020304" pitchFamily="18" charset="0"/>
                        </a:rPr>
                        <a:t>Retail</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endParaRPr lang="en-US" sz="1400" b="1" dirty="0" smtClean="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indent="0" algn="ctr">
                        <a:buFont typeface="Arial" panose="020B0604020202020204" pitchFamily="34" charset="0"/>
                        <a:buNone/>
                      </a:pP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pPr algn="l"/>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39939">
                <a:tc>
                  <a:txBody>
                    <a:body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Personal Loan</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Non-Revolving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Yes</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400" b="0" kern="1200"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NA</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a:txBody>
                    <a:body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Vehicle</a:t>
                      </a:r>
                      <a:r>
                        <a:rPr lang="en-US" sz="1400" b="0" baseline="0" dirty="0" smtClean="0">
                          <a:latin typeface="Times New Roman" panose="02020603050405020304" pitchFamily="18" charset="0"/>
                          <a:ea typeface="Verdana" panose="020B0604030504040204" pitchFamily="34" charset="0"/>
                          <a:cs typeface="Times New Roman" panose="02020603050405020304" pitchFamily="18" charset="0"/>
                        </a:rPr>
                        <a:t> Loan</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smtClean="0">
                          <a:latin typeface="Times New Roman" panose="02020603050405020304" pitchFamily="18" charset="0"/>
                          <a:ea typeface="Verdana" panose="020B0604030504040204" pitchFamily="34" charset="0"/>
                          <a:cs typeface="Times New Roman" panose="02020603050405020304" pitchFamily="18" charset="0"/>
                        </a:rPr>
                        <a:t>Non-Revolving</a:t>
                      </a:r>
                      <a:endParaRPr lang="en-US" sz="1400" b="0" dirty="0" smtClean="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Yes</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400" b="0" kern="1200"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NA</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a:txBody>
                    <a:body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Mortgage</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Non-Revolving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Yes</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400" b="0" kern="1200" dirty="0"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NA</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r h="339939">
                <a:tc>
                  <a:txBody>
                    <a:bodyPr/>
                    <a:lstStyle/>
                    <a:p>
                      <a:pPr algn="l"/>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Credit Card</a:t>
                      </a: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44104" rtl="0" eaLnBrk="1" fontAlgn="auto"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ea typeface="Verdana" panose="020B0604030504040204" pitchFamily="34" charset="0"/>
                          <a:cs typeface="Times New Roman" panose="02020603050405020304" pitchFamily="18" charset="0"/>
                        </a:rPr>
                        <a:t>Revolving</a:t>
                      </a: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endParaRPr lang="en-US" sz="1400" b="0" dirty="0">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400" b="0" kern="12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TBD</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400" b="0" kern="12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Consider 12M</a:t>
                      </a:r>
                      <a:r>
                        <a:rPr lang="en-US" sz="1400" b="0" kern="1200" baseline="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 as the period of lifetime exposure</a:t>
                      </a:r>
                      <a:endParaRPr lang="en-IN" sz="1400" b="0" kern="12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txBody>
                  <a:tcPr marL="84407" marR="84407" marT="42203" marB="42203" anchor="ctr">
                    <a:lnL w="12700" cap="flat" cmpd="sng" algn="ctr">
                      <a:solidFill>
                        <a:srgbClr val="545962"/>
                      </a:solidFill>
                      <a:prstDash val="solid"/>
                      <a:round/>
                      <a:headEnd type="none" w="med" len="med"/>
                      <a:tailEnd type="none" w="med" len="med"/>
                    </a:lnL>
                    <a:lnR w="12700" cap="flat" cmpd="sng" algn="ctr">
                      <a:solidFill>
                        <a:srgbClr val="545962"/>
                      </a:solidFill>
                      <a:prstDash val="solid"/>
                      <a:round/>
                      <a:headEnd type="none" w="med" len="med"/>
                      <a:tailEnd type="none" w="med" len="med"/>
                    </a:lnR>
                    <a:lnT w="12700" cap="flat" cmpd="sng" algn="ctr">
                      <a:solidFill>
                        <a:srgbClr val="545962"/>
                      </a:solidFill>
                      <a:prstDash val="solid"/>
                      <a:round/>
                      <a:headEnd type="none" w="med" len="med"/>
                      <a:tailEnd type="none" w="med" len="med"/>
                    </a:lnT>
                    <a:lnB w="12700" cap="flat" cmpd="sng" algn="ctr">
                      <a:solidFill>
                        <a:srgbClr val="545962"/>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176529563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74619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US" sz="2400" dirty="0" smtClean="0"/>
              <a:t>ECL </a:t>
            </a:r>
            <a:r>
              <a:rPr lang="en-US" sz="2400" dirty="0"/>
              <a:t>Approach Options</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14</a:t>
            </a:r>
            <a:endParaRPr lang="en-IN" sz="2400" b="1" dirty="0">
              <a:solidFill>
                <a:schemeClr val="bg1"/>
              </a:solidFill>
            </a:endParaRPr>
          </a:p>
        </p:txBody>
      </p:sp>
    </p:spTree>
    <p:extLst>
      <p:ext uri="{BB962C8B-B14F-4D97-AF65-F5344CB8AC3E}">
        <p14:creationId xmlns:p14="http://schemas.microsoft.com/office/powerpoint/2010/main" val="39401774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1015"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105</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1518364"/>
            <a:chOff x="274638" y="1133475"/>
            <a:chExt cx="9324936" cy="1491441"/>
          </a:xfrm>
        </p:grpSpPr>
        <p:sp>
          <p:nvSpPr>
            <p:cNvPr id="18442" name="Rectangle 6"/>
            <p:cNvSpPr>
              <a:spLocks noChangeArrowheads="1"/>
            </p:cNvSpPr>
            <p:nvPr>
              <p:custDataLst>
                <p:tags r:id="rId5"/>
              </p:custDataLst>
            </p:nvPr>
          </p:nvSpPr>
          <p:spPr bwMode="auto">
            <a:xfrm>
              <a:off x="274638" y="1133475"/>
              <a:ext cx="1701800" cy="1491441"/>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149144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US" altLang="en-US" sz="1400" dirty="0">
                  <a:solidFill>
                    <a:srgbClr val="000000"/>
                  </a:solidFill>
                </a:rPr>
                <a:t>IFRS 9 establishes the objectives of ECL measurement i.e. probability-weighted basis as the difference between the cash flows that are due to the bank in accordance with the contractual terms of a financial instrument and the cash flows that the bank expects to receive</a:t>
              </a:r>
              <a:r>
                <a:rPr lang="en-US" altLang="en-US" sz="1400" dirty="0" smtClean="0">
                  <a:solidFill>
                    <a:srgbClr val="000000"/>
                  </a:solidFill>
                </a:rPr>
                <a:t>.</a:t>
              </a:r>
              <a:endParaRPr lang="en-US" altLang="en-US" sz="1400" dirty="0">
                <a:solidFill>
                  <a:srgbClr val="000000"/>
                </a:solidFill>
              </a:endParaRPr>
            </a:p>
            <a:p>
              <a:pPr eaLnBrk="1" hangingPunct="1">
                <a:lnSpc>
                  <a:spcPts val="1400"/>
                </a:lnSpc>
                <a:spcBef>
                  <a:spcPts val="300"/>
                </a:spcBef>
                <a:buFont typeface="Arial" panose="020B0604020202020204" pitchFamily="34" charset="0"/>
                <a:buChar char="•"/>
              </a:pPr>
              <a:r>
                <a:rPr lang="en-US" altLang="en-US" sz="1400" dirty="0" smtClean="0">
                  <a:solidFill>
                    <a:srgbClr val="000000"/>
                  </a:solidFill>
                </a:rPr>
                <a:t>Although </a:t>
              </a:r>
              <a:r>
                <a:rPr lang="en-US" altLang="en-US" sz="1400" dirty="0">
                  <a:solidFill>
                    <a:srgbClr val="000000"/>
                  </a:solidFill>
                </a:rPr>
                <a:t>IFRS 9 establishes this objective, it generally does not prescribe particular detailed methods or techniques to achieve </a:t>
              </a:r>
              <a:r>
                <a:rPr lang="en-US" altLang="en-US" sz="1400" dirty="0" smtClean="0">
                  <a:solidFill>
                    <a:srgbClr val="000000"/>
                  </a:solidFill>
                </a:rPr>
                <a:t>it.</a:t>
              </a:r>
            </a:p>
            <a:p>
              <a:pPr eaLnBrk="1" hangingPunct="1">
                <a:lnSpc>
                  <a:spcPts val="1400"/>
                </a:lnSpc>
                <a:spcBef>
                  <a:spcPts val="300"/>
                </a:spcBef>
                <a:buFont typeface="Arial" panose="020B0604020202020204" pitchFamily="34" charset="0"/>
                <a:buChar char="•"/>
              </a:pPr>
              <a:r>
                <a:rPr lang="en-US" altLang="en-US" sz="1400" dirty="0" smtClean="0">
                  <a:solidFill>
                    <a:srgbClr val="000000"/>
                  </a:solidFill>
                </a:rPr>
                <a:t>It </a:t>
              </a:r>
              <a:r>
                <a:rPr lang="en-US" altLang="en-US" sz="1400" dirty="0">
                  <a:solidFill>
                    <a:srgbClr val="000000"/>
                  </a:solidFill>
                </a:rPr>
                <a:t>has mentioned some expedients like Loss Rate or Provision Matrix approach but has not detailed it further.</a:t>
              </a:r>
            </a:p>
          </p:txBody>
        </p:sp>
      </p:grpSp>
      <p:sp>
        <p:nvSpPr>
          <p:cNvPr id="14" name="Rectangle 6"/>
          <p:cNvSpPr>
            <a:spLocks noChangeArrowheads="1"/>
          </p:cNvSpPr>
          <p:nvPr>
            <p:custDataLst>
              <p:tags r:id="rId3"/>
            </p:custDataLst>
          </p:nvPr>
        </p:nvSpPr>
        <p:spPr bwMode="auto">
          <a:xfrm>
            <a:off x="261938" y="2742749"/>
            <a:ext cx="1714507" cy="1633781"/>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2742749"/>
            <a:ext cx="7497793" cy="163378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US" altLang="en-US" sz="1400" dirty="0">
                <a:solidFill>
                  <a:srgbClr val="000000"/>
                </a:solidFill>
              </a:rPr>
              <a:t>This is an important option from the perspective of implementing IFRS 9 due to the following reasons</a:t>
            </a:r>
            <a:r>
              <a:rPr lang="en-US" altLang="en-US" sz="1400" dirty="0" smtClean="0">
                <a:solidFill>
                  <a:srgbClr val="000000"/>
                </a:solidFill>
              </a:rPr>
              <a:t>:</a:t>
            </a:r>
            <a:endParaRPr lang="en-US" altLang="en-US" sz="1400" dirty="0">
              <a:solidFill>
                <a:srgbClr val="000000"/>
              </a:solidFill>
            </a:endParaRPr>
          </a:p>
          <a:p>
            <a:pPr marL="119063" indent="-119063" eaLnBrk="1" hangingPunct="1">
              <a:lnSpc>
                <a:spcPts val="1400"/>
              </a:lnSpc>
              <a:spcBef>
                <a:spcPts val="300"/>
              </a:spcBef>
              <a:buFont typeface="Arial" panose="020B0604020202020204" pitchFamily="34" charset="0"/>
              <a:buChar char="•"/>
            </a:pPr>
            <a:r>
              <a:rPr lang="en-US" altLang="en-US" sz="1400" dirty="0">
                <a:solidFill>
                  <a:srgbClr val="000000"/>
                </a:solidFill>
              </a:rPr>
              <a:t>As it would become evident in the Technical </a:t>
            </a:r>
            <a:r>
              <a:rPr lang="en-US" altLang="en-US" sz="1400" dirty="0" smtClean="0">
                <a:solidFill>
                  <a:srgbClr val="000000"/>
                </a:solidFill>
              </a:rPr>
              <a:t>Guidance, </a:t>
            </a:r>
            <a:r>
              <a:rPr lang="en-US" altLang="en-US" sz="1400" dirty="0">
                <a:solidFill>
                  <a:srgbClr val="000000"/>
                </a:solidFill>
              </a:rPr>
              <a:t>which follows 3 different methodologies</a:t>
            </a:r>
          </a:p>
          <a:p>
            <a:pPr marL="739775" lvl="1" indent="-111125" eaLnBrk="1" hangingPunct="1">
              <a:lnSpc>
                <a:spcPts val="1400"/>
              </a:lnSpc>
              <a:spcBef>
                <a:spcPts val="300"/>
              </a:spcBef>
              <a:buFont typeface="Arial" panose="020B0604020202020204" pitchFamily="34" charset="0"/>
              <a:buChar char="•"/>
            </a:pPr>
            <a:r>
              <a:rPr lang="en-US" altLang="en-US" sz="1400" dirty="0">
                <a:solidFill>
                  <a:srgbClr val="000000"/>
                </a:solidFill>
              </a:rPr>
              <a:t>Sophisticated: Sum of marginal losses approach or PD/LGD approach</a:t>
            </a:r>
          </a:p>
          <a:p>
            <a:pPr marL="739775" lvl="1" indent="-111125" eaLnBrk="1" hangingPunct="1">
              <a:lnSpc>
                <a:spcPts val="1400"/>
              </a:lnSpc>
              <a:spcBef>
                <a:spcPts val="300"/>
              </a:spcBef>
              <a:buFont typeface="Arial" panose="020B0604020202020204" pitchFamily="34" charset="0"/>
              <a:buChar char="•"/>
            </a:pPr>
            <a:r>
              <a:rPr lang="en-US" altLang="en-US" sz="1400" dirty="0">
                <a:solidFill>
                  <a:srgbClr val="000000"/>
                </a:solidFill>
              </a:rPr>
              <a:t>Simplified: Loss rate</a:t>
            </a:r>
          </a:p>
          <a:p>
            <a:pPr marL="739775" lvl="1" indent="-111125" eaLnBrk="1" hangingPunct="1">
              <a:lnSpc>
                <a:spcPts val="1400"/>
              </a:lnSpc>
              <a:spcBef>
                <a:spcPts val="300"/>
              </a:spcBef>
              <a:buFont typeface="Arial" panose="020B0604020202020204" pitchFamily="34" charset="0"/>
              <a:buChar char="•"/>
            </a:pPr>
            <a:r>
              <a:rPr lang="en-US" altLang="en-US" sz="1400" dirty="0">
                <a:solidFill>
                  <a:srgbClr val="000000"/>
                </a:solidFill>
              </a:rPr>
              <a:t>Simplified: Single Term to </a:t>
            </a:r>
            <a:r>
              <a:rPr lang="en-US" altLang="en-US" sz="1400" dirty="0" smtClean="0">
                <a:solidFill>
                  <a:srgbClr val="000000"/>
                </a:solidFill>
              </a:rPr>
              <a:t>maturity</a:t>
            </a:r>
            <a:endParaRPr lang="en-US" altLang="en-US" sz="1400" dirty="0">
              <a:solidFill>
                <a:srgbClr val="000000"/>
              </a:solidFill>
            </a:endParaRPr>
          </a:p>
          <a:p>
            <a:pPr marL="0" indent="0" eaLnBrk="1" hangingPunct="1">
              <a:lnSpc>
                <a:spcPts val="1400"/>
              </a:lnSpc>
              <a:spcBef>
                <a:spcPts val="300"/>
              </a:spcBef>
            </a:pPr>
            <a:r>
              <a:rPr lang="en-US" altLang="en-US" sz="1400" dirty="0">
                <a:solidFill>
                  <a:srgbClr val="000000"/>
                </a:solidFill>
              </a:rPr>
              <a:t>It is important to define the preferred approach to expedite the implementation </a:t>
            </a:r>
          </a:p>
        </p:txBody>
      </p:sp>
    </p:spTree>
    <p:extLst>
      <p:ext uri="{BB962C8B-B14F-4D97-AF65-F5344CB8AC3E}">
        <p14:creationId xmlns:p14="http://schemas.microsoft.com/office/powerpoint/2010/main" val="248107283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a:t>
            </a:r>
            <a:r>
              <a:rPr lang="en-IN" b="1" dirty="0"/>
              <a:t>perspective</a:t>
            </a:r>
            <a:br>
              <a:rPr lang="en-IN" b="1" dirty="0"/>
            </a:b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106</a:t>
            </a:fld>
            <a:endParaRPr lang="en-US" altLang="en-US"/>
          </a:p>
        </p:txBody>
      </p:sp>
      <p:graphicFrame>
        <p:nvGraphicFramePr>
          <p:cNvPr id="4" name="Table 3"/>
          <p:cNvGraphicFramePr>
            <a:graphicFrameLocks noGrp="1"/>
          </p:cNvGraphicFramePr>
          <p:nvPr>
            <p:extLst/>
          </p:nvPr>
        </p:nvGraphicFramePr>
        <p:xfrm>
          <a:off x="895350" y="1181100"/>
          <a:ext cx="8115300" cy="74168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Which is the preferred ECL methodology for the Bank?</a:t>
                      </a:r>
                    </a:p>
                  </a:txBody>
                  <a:tcPr anchor="ctr"/>
                </a:tc>
              </a:tr>
            </a:tbl>
          </a:graphicData>
        </a:graphic>
      </p:graphicFrame>
    </p:spTree>
    <p:extLst>
      <p:ext uri="{BB962C8B-B14F-4D97-AF65-F5344CB8AC3E}">
        <p14:creationId xmlns:p14="http://schemas.microsoft.com/office/powerpoint/2010/main" val="20355458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107</a:t>
            </a:fld>
            <a:endParaRPr lang="en-US" altLang="en-US"/>
          </a:p>
        </p:txBody>
      </p:sp>
      <p:graphicFrame>
        <p:nvGraphicFramePr>
          <p:cNvPr id="5" name="Table 4"/>
          <p:cNvGraphicFramePr>
            <a:graphicFrameLocks noGrp="1"/>
          </p:cNvGraphicFramePr>
          <p:nvPr>
            <p:extLst/>
          </p:nvPr>
        </p:nvGraphicFramePr>
        <p:xfrm>
          <a:off x="287338" y="939800"/>
          <a:ext cx="9331325" cy="490728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5.5.17</a:t>
                      </a: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B5.5.28</a:t>
                      </a: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B5.5.35</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IFRS 9 does not specify a methodology for measurement of 12-month and Lifetime ECL. It only says that ECL should be computed as the probability-weighted estimate of credit losses (i.e. the present value of all cash shortfalls) over the expected life of the financial asset.</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It further defines a cash shortfall as the difference between the cash flows that are due to an entity in accordance with the contract and the cash flows that the entity expects to receive.</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It requires that ECL estimates should be probability weighted, unbiased, incorporate time value of money, reflect historical, current and forward looking information</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It has provided an expedient saying that ECL can be assessed by defining Provision Rates or Loss Rates based on historical experience, adjusted for future outlook along different segments like delinquency, region, product type, rating bands etc.</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2.3.6</a:t>
                      </a:r>
                    </a:p>
                    <a:p>
                      <a:endParaRPr lang="en-US" sz="1400"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QCB states</a:t>
                      </a:r>
                      <a:r>
                        <a:rPr lang="en-US" sz="1400" kern="1200" baseline="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that it expects banks to use PD (12mths or Lifetime)</a:t>
                      </a:r>
                      <a:r>
                        <a:rPr lang="en-US" sz="1400" kern="1200" baseline="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a:t>
                      </a:r>
                      <a:r>
                        <a:rPr lang="en-US" sz="1400" kern="1200" dirty="0" smtClean="0">
                          <a:solidFill>
                            <a:schemeClr val="tx1">
                              <a:lumMod val="95000"/>
                              <a:lumOff val="5000"/>
                            </a:schemeClr>
                          </a:solidFill>
                          <a:latin typeface="Times New Roman" panose="02020603050405020304" pitchFamily="18" charset="0"/>
                          <a:ea typeface="+mn-ea"/>
                          <a:cs typeface="Times New Roman" panose="02020603050405020304" pitchFamily="18" charset="0"/>
                        </a:rPr>
                        <a:t>* LGD * EAD as the general approach for ECL measurement.</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4.13.5</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is similar to GPPC and defines the Sum of Marginal Loss Approach as the approach many banks are planning to adopt.</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In fact they say that Lifetime ECL should demonstrate how it takes into account all the potential default event from reporting date to maturity and the losses associated to each of them. Only the Sum of Marginal Loss Approach can meet this criteria.</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Similar to GPPC, SAMA refers to Loss Rate and Single Term of Maturity Approach as less sophisticated approaches.</a:t>
                      </a:r>
                    </a:p>
                  </a:txBody>
                  <a:tcPr/>
                </a:tc>
              </a:tr>
            </a:tbl>
          </a:graphicData>
        </a:graphic>
      </p:graphicFrame>
    </p:spTree>
    <p:extLst>
      <p:ext uri="{BB962C8B-B14F-4D97-AF65-F5344CB8AC3E}">
        <p14:creationId xmlns:p14="http://schemas.microsoft.com/office/powerpoint/2010/main" val="233977577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108</a:t>
            </a:fld>
            <a:endParaRPr lang="en-US" altLang="en-US"/>
          </a:p>
        </p:txBody>
      </p:sp>
      <p:graphicFrame>
        <p:nvGraphicFramePr>
          <p:cNvPr id="5" name="Table 4"/>
          <p:cNvGraphicFramePr>
            <a:graphicFrameLocks noGrp="1"/>
          </p:cNvGraphicFramePr>
          <p:nvPr>
            <p:extLst/>
          </p:nvPr>
        </p:nvGraphicFramePr>
        <p:xfrm>
          <a:off x="287338" y="977900"/>
          <a:ext cx="9331324" cy="369316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Whole of section 2.1</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GPPC has been pretty specific on the ECL methodology options and has clearly differentiated between a Sophisticated Approach, Simplified Approach and Non-Compliance Approach</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As a sophisticated approach that many banks are proposing to follow, GPPC mentioned the Sum of Marginal Losses Approach or PD/LGD Approach whereby ECLs are calculated as the sum of the marginal losses occurring in each time period from the balance sheet date. The marginal losses are derived from individual parameters that estimate exposures and losses in the case of default and the marginal probability of default for each period (the probability of a default in time period X conditional upon an exposure having survived to time period X)</a:t>
                      </a:r>
                    </a:p>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As simplified approach GPPC defined the Loss Rate approach (similar to IFRS 9) and a single Time to Maturity approach</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NA</a:t>
                      </a: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Nothing specific on possible methodology options</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NA</a:t>
                      </a:r>
                      <a:endParaRPr lang="en-IN" sz="1400" kern="1200" dirty="0" smtClean="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119063" indent="-119063">
                        <a:buFont typeface="Arial" panose="020B0604020202020204" pitchFamily="34" charset="0"/>
                        <a:buChar char="•"/>
                      </a:pPr>
                      <a:r>
                        <a:rPr lang="en-US" sz="1400" kern="1200" dirty="0" smtClean="0">
                          <a:solidFill>
                            <a:srgbClr val="000000"/>
                          </a:solidFill>
                          <a:latin typeface="Times New Roman" panose="02020603050405020304" pitchFamily="18" charset="0"/>
                          <a:ea typeface="+mn-ea"/>
                          <a:cs typeface="Times New Roman" panose="02020603050405020304" pitchFamily="18" charset="0"/>
                        </a:rPr>
                        <a:t>Nothing specific but it expects alignment with regulatory parameters. Therefore the expectation would be to use PD, LGD, EAD type methods.</a:t>
                      </a:r>
                    </a:p>
                  </a:txBody>
                  <a:tcPr/>
                </a:tc>
              </a:tr>
            </a:tbl>
          </a:graphicData>
        </a:graphic>
      </p:graphicFrame>
    </p:spTree>
    <p:extLst>
      <p:ext uri="{BB962C8B-B14F-4D97-AF65-F5344CB8AC3E}">
        <p14:creationId xmlns:p14="http://schemas.microsoft.com/office/powerpoint/2010/main" val="87628289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ECL Methodology Options</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109</a:t>
            </a:fld>
            <a:endParaRPr lang="en-US" altLang="en-US"/>
          </a:p>
        </p:txBody>
      </p:sp>
      <p:graphicFrame>
        <p:nvGraphicFramePr>
          <p:cNvPr id="6" name="Table 5"/>
          <p:cNvGraphicFramePr>
            <a:graphicFrameLocks noGrp="1"/>
          </p:cNvGraphicFramePr>
          <p:nvPr>
            <p:extLst/>
          </p:nvPr>
        </p:nvGraphicFramePr>
        <p:xfrm>
          <a:off x="287338" y="850900"/>
          <a:ext cx="9331325" cy="3535680"/>
        </p:xfrm>
        <a:graphic>
          <a:graphicData uri="http://schemas.openxmlformats.org/drawingml/2006/table">
            <a:tbl>
              <a:tblPr firstRow="1" bandRow="1">
                <a:tableStyleId>{5940675A-B579-460E-94D1-54222C63F5DA}</a:tableStyleId>
              </a:tblPr>
              <a:tblGrid>
                <a:gridCol w="588962"/>
                <a:gridCol w="1511300"/>
                <a:gridCol w="7231063"/>
              </a:tblGrid>
              <a:tr h="536991">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336384">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1</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200" kern="1200" dirty="0" smtClean="0">
                          <a:solidFill>
                            <a:schemeClr val="tx1"/>
                          </a:solidFill>
                          <a:latin typeface="Times New Roman" panose="02020603050405020304" pitchFamily="18" charset="0"/>
                          <a:ea typeface="+mn-ea"/>
                          <a:cs typeface="Times New Roman" panose="02020603050405020304" pitchFamily="18" charset="0"/>
                        </a:rPr>
                        <a:t>Which is the most preferred ECL methodology of the Bank?</a:t>
                      </a:r>
                    </a:p>
                  </a:txBody>
                  <a:tcPr anchor="ctr"/>
                </a:tc>
                <a:tc>
                  <a:txBody>
                    <a:bodyPr/>
                    <a:lstStyle/>
                    <a:p>
                      <a:pPr marL="266700" indent="-266700">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Given the overwhelming tilt towards the ‘Sum of Marginal Losses’ or PD/LGD approach in the Technical Guidance referenced, QNB will follow this approach for ECL computations.</a:t>
                      </a:r>
                    </a:p>
                    <a:p>
                      <a:pPr marL="266700" indent="-266700">
                        <a:lnSpc>
                          <a:spcPct val="100000"/>
                        </a:lnSpc>
                        <a:spcBef>
                          <a:spcPts val="300"/>
                        </a:spcBef>
                        <a:spcAft>
                          <a:spcPts val="300"/>
                        </a:spcAft>
                        <a:buFont typeface="Arial" panose="020B0604020202020204" pitchFamily="34" charset="0"/>
                        <a:buChar char="•"/>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There could be exceptions in case of small, non-material portfolios where (due to data or other such constraints) the Loss Rate methodology might be used. Such portfolios will be identified as part of the Design notes.</a:t>
                      </a:r>
                    </a:p>
                    <a:p>
                      <a:pPr marL="266700" indent="-266700">
                        <a:lnSpc>
                          <a:spcPct val="100000"/>
                        </a:lnSpc>
                        <a:spcBef>
                          <a:spcPts val="300"/>
                        </a:spcBef>
                        <a:spcAft>
                          <a:spcPts val="300"/>
                        </a:spcAft>
                        <a:buFont typeface="Arial" panose="020B0604020202020204" pitchFamily="34" charset="0"/>
                        <a:buChar char="•"/>
                      </a:pPr>
                      <a:r>
                        <a:rPr lang="en-US" sz="1400" b="0" kern="1200" dirty="0" smtClean="0">
                          <a:solidFill>
                            <a:srgbClr val="FF0000"/>
                          </a:solidFill>
                          <a:latin typeface="Times New Roman" panose="02020603050405020304" pitchFamily="18" charset="0"/>
                          <a:ea typeface="+mn-ea"/>
                          <a:cs typeface="Times New Roman" panose="02020603050405020304" pitchFamily="18" charset="0"/>
                        </a:rPr>
                        <a:t>QNB will not follow the Single Term to Maturity approach except in the case of bullet loans where there is effectively no difference between the Sum of Marginal Losses Approach and the Single Term to Maturity Approach</a:t>
                      </a:r>
                    </a:p>
                    <a:p>
                      <a:pPr marL="0" indent="0">
                        <a:lnSpc>
                          <a:spcPct val="100000"/>
                        </a:lnSpc>
                        <a:spcBef>
                          <a:spcPts val="300"/>
                        </a:spcBef>
                        <a:spcAft>
                          <a:spcPts val="300"/>
                        </a:spcAft>
                        <a:buFont typeface="Arial" panose="020B0604020202020204" pitchFamily="34" charset="0"/>
                        <a:buNone/>
                      </a:pPr>
                      <a:endParaRPr lang="en-US" sz="1400" b="0" kern="1200" dirty="0" smtClean="0">
                        <a:solidFill>
                          <a:schemeClr val="tx1"/>
                        </a:solidFill>
                        <a:latin typeface="Times New Roman" panose="02020603050405020304" pitchFamily="18" charset="0"/>
                        <a:ea typeface="+mn-ea"/>
                        <a:cs typeface="Times New Roman" panose="02020603050405020304" pitchFamily="18" charset="0"/>
                      </a:endParaRPr>
                    </a:p>
                    <a:p>
                      <a:pPr marL="0" indent="0">
                        <a:lnSpc>
                          <a:spcPct val="100000"/>
                        </a:lnSpc>
                        <a:spcBef>
                          <a:spcPts val="300"/>
                        </a:spcBef>
                        <a:spcAft>
                          <a:spcPts val="300"/>
                        </a:spcAft>
                        <a:buFont typeface="Arial" panose="020B0604020202020204" pitchFamily="34" charset="0"/>
                        <a:buNone/>
                      </a:pPr>
                      <a:r>
                        <a:rPr lang="en-US" sz="1400" b="0" kern="1200" dirty="0" smtClean="0">
                          <a:solidFill>
                            <a:schemeClr val="tx1"/>
                          </a:solidFill>
                          <a:latin typeface="Times New Roman" panose="02020603050405020304" pitchFamily="18" charset="0"/>
                          <a:ea typeface="+mn-ea"/>
                          <a:cs typeface="Times New Roman" panose="02020603050405020304" pitchFamily="18" charset="0"/>
                        </a:rPr>
                        <a:t>The Methodology</a:t>
                      </a:r>
                      <a:r>
                        <a:rPr lang="en-US" sz="1400" b="0" kern="1200" baseline="0" dirty="0" smtClean="0">
                          <a:solidFill>
                            <a:schemeClr val="tx1"/>
                          </a:solidFill>
                          <a:latin typeface="Times New Roman" panose="02020603050405020304" pitchFamily="18" charset="0"/>
                          <a:ea typeface="+mn-ea"/>
                          <a:cs typeface="Times New Roman" panose="02020603050405020304" pitchFamily="18" charset="0"/>
                        </a:rPr>
                        <a:t> Design Notes (for Non-Retail and Retail portfolios) will supplement these decisions with details related to the methodology / approach to estimate each component identified above.</a:t>
                      </a:r>
                      <a:endParaRPr lang="en-US" sz="1400" b="0" kern="1200" dirty="0" smtClean="0">
                        <a:solidFill>
                          <a:schemeClr val="tx1"/>
                        </a:solidFill>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77238586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solidFill>
                  <a:schemeClr val="tx1"/>
                </a:solidFill>
              </a:rPr>
              <a:t>Analysis </a:t>
            </a:r>
            <a:r>
              <a:rPr lang="en-US" sz="2400" b="1" dirty="0">
                <a:solidFill>
                  <a:schemeClr val="tx1"/>
                </a:solidFill>
              </a:rPr>
              <a:t>-</a:t>
            </a:r>
            <a:r>
              <a:rPr lang="en-US" sz="2400" b="1" dirty="0" smtClean="0">
                <a:solidFill>
                  <a:schemeClr val="tx1"/>
                </a:solidFill>
              </a:rPr>
              <a:t> </a:t>
            </a:r>
            <a:r>
              <a:rPr lang="en-US" sz="2400" b="1" dirty="0">
                <a:solidFill>
                  <a:schemeClr val="tx1"/>
                </a:solidFill>
              </a:rPr>
              <a:t>Sum of Marginal Losses Approach</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110</a:t>
            </a:fld>
            <a:endParaRPr lang="en-US" altLang="en-US"/>
          </a:p>
        </p:txBody>
      </p:sp>
      <p:pic>
        <p:nvPicPr>
          <p:cNvPr id="5" name="Picture 4"/>
          <p:cNvPicPr>
            <a:picLocks noChangeAspect="1"/>
          </p:cNvPicPr>
          <p:nvPr/>
        </p:nvPicPr>
        <p:blipFill>
          <a:blip r:embed="rId2"/>
          <a:stretch>
            <a:fillRect/>
          </a:stretch>
        </p:blipFill>
        <p:spPr>
          <a:xfrm>
            <a:off x="722313" y="1262063"/>
            <a:ext cx="7149316" cy="4083066"/>
          </a:xfrm>
          <a:prstGeom prst="rect">
            <a:avLst/>
          </a:prstGeom>
        </p:spPr>
      </p:pic>
    </p:spTree>
    <p:extLst>
      <p:ext uri="{BB962C8B-B14F-4D97-AF65-F5344CB8AC3E}">
        <p14:creationId xmlns:p14="http://schemas.microsoft.com/office/powerpoint/2010/main" val="105668370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smtClean="0">
                <a:solidFill>
                  <a:schemeClr val="tx1"/>
                </a:solidFill>
              </a:rPr>
              <a:t>Analysis - </a:t>
            </a:r>
            <a:r>
              <a:rPr lang="en-US" sz="2400" b="1" dirty="0">
                <a:solidFill>
                  <a:schemeClr val="tx1"/>
                </a:solidFill>
              </a:rPr>
              <a:t>Example of Sum of Marginal Losses Approach</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111</a:t>
            </a:fld>
            <a:endParaRPr lang="en-US" altLang="en-US"/>
          </a:p>
        </p:txBody>
      </p:sp>
      <p:pic>
        <p:nvPicPr>
          <p:cNvPr id="6" name="Picture 5"/>
          <p:cNvPicPr>
            <a:picLocks noChangeAspect="1"/>
          </p:cNvPicPr>
          <p:nvPr/>
        </p:nvPicPr>
        <p:blipFill>
          <a:blip r:embed="rId2"/>
          <a:stretch>
            <a:fillRect/>
          </a:stretch>
        </p:blipFill>
        <p:spPr>
          <a:xfrm>
            <a:off x="515937" y="1365250"/>
            <a:ext cx="9144570" cy="3405188"/>
          </a:xfrm>
          <a:prstGeom prst="rect">
            <a:avLst/>
          </a:prstGeom>
        </p:spPr>
      </p:pic>
    </p:spTree>
    <p:extLst>
      <p:ext uri="{BB962C8B-B14F-4D97-AF65-F5344CB8AC3E}">
        <p14:creationId xmlns:p14="http://schemas.microsoft.com/office/powerpoint/2010/main" val="334475324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type="ctrTitle"/>
          </p:nvPr>
        </p:nvSpPr>
        <p:spPr bwMode="gray">
          <a:xfrm>
            <a:off x="3446463" y="3495675"/>
            <a:ext cx="6169025" cy="1470025"/>
          </a:xfrm>
        </p:spPr>
        <p:txBody>
          <a:bodyPr/>
          <a:lstStyle/>
          <a:p>
            <a:pPr eaLnBrk="1" hangingPunct="1"/>
            <a:r>
              <a:rPr lang="en-US" altLang="en-US" sz="2800" dirty="0" smtClean="0"/>
              <a:t>Qatar National Bank</a:t>
            </a:r>
            <a:br>
              <a:rPr lang="en-US" altLang="en-US" sz="2800" dirty="0" smtClean="0"/>
            </a:br>
            <a:r>
              <a:rPr lang="fr-FR" altLang="en-US" sz="2200" dirty="0" err="1" smtClean="0"/>
              <a:t>Technical</a:t>
            </a:r>
            <a:r>
              <a:rPr lang="fr-FR" altLang="en-US" sz="2200" dirty="0" smtClean="0"/>
              <a:t> </a:t>
            </a:r>
            <a:r>
              <a:rPr lang="fr-FR" altLang="en-US" sz="2200" dirty="0" err="1" smtClean="0"/>
              <a:t>Interpretation</a:t>
            </a:r>
            <a:r>
              <a:rPr lang="fr-FR" altLang="en-US" sz="2200" dirty="0" smtClean="0"/>
              <a:t> Note</a:t>
            </a:r>
            <a:br>
              <a:rPr lang="fr-FR" altLang="en-US" sz="2200" dirty="0" smtClean="0"/>
            </a:br>
            <a:r>
              <a:rPr lang="fr-FR" altLang="en-US" sz="2200" dirty="0"/>
              <a:t/>
            </a:r>
            <a:br>
              <a:rPr lang="fr-FR" altLang="en-US" sz="2200" dirty="0"/>
            </a:br>
            <a:r>
              <a:rPr lang="en-IN" sz="2400" dirty="0" smtClean="0"/>
              <a:t>Scenarios </a:t>
            </a:r>
            <a:r>
              <a:rPr lang="en-IN" sz="2400" dirty="0"/>
              <a:t>and Forward Looking </a:t>
            </a:r>
            <a:r>
              <a:rPr lang="en-IN" sz="2400" dirty="0" smtClean="0"/>
              <a:t>Information</a:t>
            </a:r>
            <a:r>
              <a:rPr lang="fr-FR" altLang="en-US" sz="2200" dirty="0" smtClean="0"/>
              <a:t/>
            </a:r>
            <a:br>
              <a:rPr lang="fr-FR" altLang="en-US" sz="22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800" dirty="0" smtClean="0"/>
              <a:t/>
            </a:r>
            <a:br>
              <a:rPr lang="en-US" altLang="en-US" sz="2800" dirty="0" smtClean="0"/>
            </a:br>
            <a:r>
              <a:rPr lang="en-US" altLang="en-US" sz="2000" dirty="0" smtClean="0"/>
              <a:t>Doha, May 2017</a:t>
            </a:r>
            <a:endParaRPr lang="en-US" altLang="en-US" sz="2000" b="1" i="1" dirty="0"/>
          </a:p>
        </p:txBody>
      </p:sp>
      <p:sp>
        <p:nvSpPr>
          <p:cNvPr id="3" name="TextBox 2"/>
          <p:cNvSpPr txBox="1"/>
          <p:nvPr/>
        </p:nvSpPr>
        <p:spPr>
          <a:xfrm>
            <a:off x="9102055" y="260059"/>
            <a:ext cx="513433" cy="461665"/>
          </a:xfrm>
          <a:prstGeom prst="rect">
            <a:avLst/>
          </a:prstGeom>
          <a:noFill/>
        </p:spPr>
        <p:txBody>
          <a:bodyPr wrap="square" rtlCol="0">
            <a:spAutoFit/>
          </a:bodyPr>
          <a:lstStyle/>
          <a:p>
            <a:r>
              <a:rPr lang="en-US" sz="2400" b="1" dirty="0" smtClean="0">
                <a:solidFill>
                  <a:schemeClr val="bg1"/>
                </a:solidFill>
              </a:rPr>
              <a:t>15</a:t>
            </a:r>
            <a:endParaRPr lang="en-IN" sz="2400" b="1" dirty="0">
              <a:solidFill>
                <a:schemeClr val="bg1"/>
              </a:solidFill>
            </a:endParaRPr>
          </a:p>
        </p:txBody>
      </p:sp>
    </p:spTree>
    <p:extLst>
      <p:ext uri="{BB962C8B-B14F-4D97-AF65-F5344CB8AC3E}">
        <p14:creationId xmlns:p14="http://schemas.microsoft.com/office/powerpoint/2010/main" val="674980148"/>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2039"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fld id="{FF4CD487-BF52-40B9-BA3B-6552B9302907}" type="slidenum">
              <a:rPr lang="en-US" altLang="en-US">
                <a:solidFill>
                  <a:srgbClr val="000000"/>
                </a:solidFill>
              </a:rPr>
              <a:pPr eaLnBrk="1" hangingPunct="1"/>
              <a:t>113</a:t>
            </a:fld>
            <a:endParaRPr lang="en-US" altLang="en-US">
              <a:solidFill>
                <a:srgbClr val="000000"/>
              </a:solidFill>
            </a:endParaRPr>
          </a:p>
        </p:txBody>
      </p:sp>
      <p:sp>
        <p:nvSpPr>
          <p:cNvPr id="18436" name="Rectangle 7"/>
          <p:cNvSpPr>
            <a:spLocks noGrp="1"/>
          </p:cNvSpPr>
          <p:nvPr>
            <p:ph type="title" idx="4294967295"/>
          </p:nvPr>
        </p:nvSpPr>
        <p:spPr>
          <a:xfrm>
            <a:off x="287338" y="241300"/>
            <a:ext cx="9326562" cy="593725"/>
          </a:xfrm>
        </p:spPr>
        <p:txBody>
          <a:bodyPr/>
          <a:lstStyle/>
          <a:p>
            <a:r>
              <a:rPr lang="en-US" altLang="en-US" b="1" dirty="0" smtClean="0"/>
              <a:t>Introduction</a:t>
            </a:r>
            <a:endParaRPr lang="en-US" altLang="en-US" sz="1400" b="1" dirty="0" smtClean="0"/>
          </a:p>
        </p:txBody>
      </p:sp>
      <p:grpSp>
        <p:nvGrpSpPr>
          <p:cNvPr id="18437" name="Group 16"/>
          <p:cNvGrpSpPr>
            <a:grpSpLocks/>
          </p:cNvGrpSpPr>
          <p:nvPr/>
        </p:nvGrpSpPr>
        <p:grpSpPr bwMode="auto">
          <a:xfrm>
            <a:off x="274638" y="1133475"/>
            <a:ext cx="9324975" cy="2167260"/>
            <a:chOff x="274638" y="1133475"/>
            <a:chExt cx="9324936" cy="2128830"/>
          </a:xfrm>
        </p:grpSpPr>
        <p:sp>
          <p:nvSpPr>
            <p:cNvPr id="18442" name="Rectangle 6"/>
            <p:cNvSpPr>
              <a:spLocks noChangeArrowheads="1"/>
            </p:cNvSpPr>
            <p:nvPr>
              <p:custDataLst>
                <p:tags r:id="rId5"/>
              </p:custDataLst>
            </p:nvPr>
          </p:nvSpPr>
          <p:spPr bwMode="auto">
            <a:xfrm>
              <a:off x="274638" y="1133475"/>
              <a:ext cx="1701800" cy="2128830"/>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Definition</a:t>
              </a:r>
              <a:endParaRPr lang="en-US" altLang="en-US" sz="1400" b="1" dirty="0">
                <a:solidFill>
                  <a:srgbClr val="FFFFFF"/>
                </a:solidFill>
                <a:cs typeface="Arial" panose="020B0604020202020204" pitchFamily="34" charset="0"/>
              </a:endParaRPr>
            </a:p>
          </p:txBody>
        </p:sp>
        <p:sp>
          <p:nvSpPr>
            <p:cNvPr id="18443" name="Rectangle 22"/>
            <p:cNvSpPr>
              <a:spLocks noChangeArrowheads="1"/>
            </p:cNvSpPr>
            <p:nvPr>
              <p:custDataLst>
                <p:tags r:id="rId6"/>
              </p:custDataLst>
            </p:nvPr>
          </p:nvSpPr>
          <p:spPr bwMode="gray">
            <a:xfrm>
              <a:off x="2101812" y="1133475"/>
              <a:ext cx="7497762" cy="21288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eaLnBrk="1" hangingPunct="1">
                <a:lnSpc>
                  <a:spcPts val="1400"/>
                </a:lnSpc>
                <a:spcBef>
                  <a:spcPts val="300"/>
                </a:spcBef>
                <a:buFont typeface="Arial" panose="020B0604020202020204" pitchFamily="34" charset="0"/>
                <a:buChar char="•"/>
              </a:pPr>
              <a:r>
                <a:rPr lang="en-IN" altLang="en-US" sz="1400" dirty="0">
                  <a:solidFill>
                    <a:srgbClr val="000000"/>
                  </a:solidFill>
                </a:rPr>
                <a:t>One of the fundamental changes that </a:t>
              </a:r>
              <a:r>
                <a:rPr lang="en-IN" altLang="en-US" sz="1400" dirty="0" smtClean="0">
                  <a:solidFill>
                    <a:srgbClr val="000000"/>
                  </a:solidFill>
                </a:rPr>
                <a:t>IFRS9 </a:t>
              </a:r>
              <a:r>
                <a:rPr lang="en-IN" altLang="en-US" sz="1400" dirty="0">
                  <a:solidFill>
                    <a:srgbClr val="000000"/>
                  </a:solidFill>
                </a:rPr>
                <a:t>brings to the table is the way in which expected loss is measured through the incorporation of forward looking information.</a:t>
              </a:r>
            </a:p>
            <a:p>
              <a:pPr eaLnBrk="1" hangingPunct="1">
                <a:spcBef>
                  <a:spcPts val="300"/>
                </a:spcBef>
                <a:buFont typeface="Arial" panose="020B0604020202020204" pitchFamily="34" charset="0"/>
                <a:buChar char="•"/>
              </a:pPr>
              <a:r>
                <a:rPr lang="en-IN" altLang="en-US" sz="1400" dirty="0">
                  <a:solidFill>
                    <a:srgbClr val="000000"/>
                  </a:solidFill>
                </a:rPr>
                <a:t>It is expected that forward looking information would be incorporated within both SICR and the measurement of ECL.</a:t>
              </a:r>
            </a:p>
            <a:p>
              <a:pPr eaLnBrk="1" hangingPunct="1">
                <a:spcBef>
                  <a:spcPts val="300"/>
                </a:spcBef>
                <a:buFont typeface="Arial" panose="020B0604020202020204" pitchFamily="34" charset="0"/>
                <a:buChar char="•"/>
              </a:pPr>
              <a:r>
                <a:rPr lang="en-IN" altLang="en-US" sz="1400" dirty="0">
                  <a:solidFill>
                    <a:srgbClr val="000000"/>
                  </a:solidFill>
                </a:rPr>
                <a:t>Forward looking information is also incorporated through the scenarios liked to Macro-economic factors. </a:t>
              </a:r>
              <a:endParaRPr lang="en-IN" altLang="en-US" sz="1400" dirty="0" smtClean="0">
                <a:solidFill>
                  <a:srgbClr val="000000"/>
                </a:solidFill>
              </a:endParaRPr>
            </a:p>
            <a:p>
              <a:pPr eaLnBrk="1" hangingPunct="1">
                <a:spcBef>
                  <a:spcPts val="300"/>
                </a:spcBef>
                <a:buFont typeface="Arial" panose="020B0604020202020204" pitchFamily="34" charset="0"/>
                <a:buChar char="•"/>
              </a:pPr>
              <a:r>
                <a:rPr lang="en-IN" altLang="en-US" sz="1400" dirty="0">
                  <a:solidFill>
                    <a:srgbClr val="000000"/>
                  </a:solidFill>
                </a:rPr>
                <a:t>Obviously this presents several challenges and key areas of decision making or interpretation. </a:t>
              </a:r>
              <a:r>
                <a:rPr lang="en-IN" altLang="en-US" sz="1400" dirty="0" smtClean="0">
                  <a:solidFill>
                    <a:srgbClr val="000000"/>
                  </a:solidFill>
                </a:rPr>
                <a:t>IFRS9, </a:t>
              </a:r>
              <a:r>
                <a:rPr lang="en-IN" altLang="en-US" sz="1400" dirty="0">
                  <a:solidFill>
                    <a:srgbClr val="000000"/>
                  </a:solidFill>
                </a:rPr>
                <a:t>ITG, Basel, GPPC and local guidance provided by QCB and SAMA have provided valuable notes on how to address these </a:t>
              </a:r>
              <a:r>
                <a:rPr lang="en-IN" altLang="en-US" sz="1400" dirty="0" smtClean="0">
                  <a:solidFill>
                    <a:srgbClr val="000000"/>
                  </a:solidFill>
                </a:rPr>
                <a:t>challenges.</a:t>
              </a:r>
              <a:endParaRPr lang="en-IN" altLang="en-US" sz="1400" dirty="0">
                <a:solidFill>
                  <a:srgbClr val="000000"/>
                </a:solidFill>
              </a:endParaRPr>
            </a:p>
          </p:txBody>
        </p:sp>
      </p:grpSp>
      <p:sp>
        <p:nvSpPr>
          <p:cNvPr id="14" name="Rectangle 6"/>
          <p:cNvSpPr>
            <a:spLocks noChangeArrowheads="1"/>
          </p:cNvSpPr>
          <p:nvPr>
            <p:custDataLst>
              <p:tags r:id="rId3"/>
            </p:custDataLst>
          </p:nvPr>
        </p:nvSpPr>
        <p:spPr bwMode="auto">
          <a:xfrm>
            <a:off x="261938" y="3444875"/>
            <a:ext cx="1701807" cy="1379865"/>
          </a:xfrm>
          <a:prstGeom prst="rect">
            <a:avLst/>
          </a:prstGeom>
          <a:solidFill>
            <a:schemeClr val="tx2"/>
          </a:solidFill>
          <a:ln w="9525">
            <a:solidFill>
              <a:schemeClr val="tx2"/>
            </a:solidFill>
            <a:miter lim="800000"/>
            <a:headEnd/>
            <a:tailEnd/>
          </a:ln>
        </p:spPr>
        <p:txBody>
          <a:bodyPr tIns="91440" bIns="91440" anchor="ctr" anchorCtr="1"/>
          <a:lstStyle>
            <a:lvl1pPr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algn="ctr">
              <a:lnSpc>
                <a:spcPts val="1438"/>
              </a:lnSpc>
            </a:pPr>
            <a:r>
              <a:rPr lang="en-US" altLang="en-US" sz="1400" b="1" dirty="0" smtClean="0">
                <a:solidFill>
                  <a:srgbClr val="FFFFFF"/>
                </a:solidFill>
                <a:cs typeface="Arial" panose="020B0604020202020204" pitchFamily="34" charset="0"/>
              </a:rPr>
              <a:t>Importance</a:t>
            </a:r>
            <a:endParaRPr lang="en-US" altLang="en-US" sz="1400" b="1" dirty="0">
              <a:solidFill>
                <a:srgbClr val="FFFFFF"/>
              </a:solidFill>
              <a:cs typeface="Arial" panose="020B0604020202020204" pitchFamily="34" charset="0"/>
            </a:endParaRPr>
          </a:p>
        </p:txBody>
      </p:sp>
      <p:sp>
        <p:nvSpPr>
          <p:cNvPr id="15" name="Rectangle 22"/>
          <p:cNvSpPr>
            <a:spLocks noChangeArrowheads="1"/>
          </p:cNvSpPr>
          <p:nvPr>
            <p:custDataLst>
              <p:tags r:id="rId4"/>
            </p:custDataLst>
          </p:nvPr>
        </p:nvSpPr>
        <p:spPr bwMode="gray">
          <a:xfrm>
            <a:off x="2101819" y="3444875"/>
            <a:ext cx="7497793" cy="13798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indent="0" eaLnBrk="1" hangingPunct="1">
              <a:lnSpc>
                <a:spcPts val="1400"/>
              </a:lnSpc>
              <a:spcBef>
                <a:spcPts val="300"/>
              </a:spcBef>
            </a:pPr>
            <a:r>
              <a:rPr lang="en-IN" altLang="en-US" sz="1400" dirty="0">
                <a:solidFill>
                  <a:srgbClr val="000000"/>
                </a:solidFill>
              </a:rPr>
              <a:t>This is important from the perspective of implementation of </a:t>
            </a:r>
            <a:r>
              <a:rPr lang="en-IN" altLang="en-US" sz="1400" dirty="0" smtClean="0">
                <a:solidFill>
                  <a:srgbClr val="000000"/>
                </a:solidFill>
              </a:rPr>
              <a:t>IFRS9 </a:t>
            </a:r>
            <a:r>
              <a:rPr lang="en-IN" altLang="en-US" sz="1400" dirty="0">
                <a:solidFill>
                  <a:srgbClr val="000000"/>
                </a:solidFill>
              </a:rPr>
              <a:t>due to the following reasons:</a:t>
            </a:r>
          </a:p>
          <a:p>
            <a:pPr eaLnBrk="1" hangingPunct="1">
              <a:spcBef>
                <a:spcPts val="300"/>
              </a:spcBef>
              <a:buFont typeface="Arial" panose="020B0604020202020204" pitchFamily="34" charset="0"/>
              <a:buChar char="•"/>
            </a:pPr>
            <a:r>
              <a:rPr lang="en-IN" altLang="en-US" sz="1400" dirty="0">
                <a:solidFill>
                  <a:srgbClr val="000000"/>
                </a:solidFill>
              </a:rPr>
              <a:t>Sources of macro information and length of forward looking forecast.</a:t>
            </a:r>
          </a:p>
          <a:p>
            <a:pPr eaLnBrk="1" hangingPunct="1">
              <a:spcBef>
                <a:spcPts val="300"/>
              </a:spcBef>
              <a:buFont typeface="Arial" panose="020B0604020202020204" pitchFamily="34" charset="0"/>
              <a:buChar char="•"/>
            </a:pPr>
            <a:r>
              <a:rPr lang="en-IN" altLang="en-US" sz="1400" dirty="0">
                <a:solidFill>
                  <a:srgbClr val="000000"/>
                </a:solidFill>
              </a:rPr>
              <a:t>Number of scenarios to be considered</a:t>
            </a:r>
            <a:r>
              <a:rPr lang="en-IN" altLang="en-US" sz="1400" dirty="0" smtClean="0">
                <a:solidFill>
                  <a:srgbClr val="000000"/>
                </a:solidFill>
              </a:rPr>
              <a:t>.</a:t>
            </a:r>
          </a:p>
          <a:p>
            <a:pPr eaLnBrk="1" hangingPunct="1">
              <a:spcBef>
                <a:spcPts val="300"/>
              </a:spcBef>
              <a:buFont typeface="Arial" panose="020B0604020202020204" pitchFamily="34" charset="0"/>
              <a:buChar char="•"/>
            </a:pPr>
            <a:r>
              <a:rPr lang="en-IN" altLang="en-US" sz="1400" dirty="0">
                <a:solidFill>
                  <a:srgbClr val="000000"/>
                </a:solidFill>
              </a:rPr>
              <a:t>How to incorporate scenarios in SICR ?</a:t>
            </a:r>
          </a:p>
          <a:p>
            <a:pPr eaLnBrk="1" hangingPunct="1">
              <a:spcBef>
                <a:spcPts val="300"/>
              </a:spcBef>
              <a:buFont typeface="Arial" panose="020B0604020202020204" pitchFamily="34" charset="0"/>
              <a:buChar char="•"/>
            </a:pPr>
            <a:r>
              <a:rPr lang="en-IN" altLang="en-US" sz="1400" dirty="0">
                <a:solidFill>
                  <a:srgbClr val="000000"/>
                </a:solidFill>
              </a:rPr>
              <a:t>How to incorporate scenarios in ECL </a:t>
            </a:r>
            <a:r>
              <a:rPr lang="en-IN" altLang="en-US" sz="1400" dirty="0" smtClean="0">
                <a:solidFill>
                  <a:srgbClr val="000000"/>
                </a:solidFill>
              </a:rPr>
              <a:t>?</a:t>
            </a:r>
            <a:endParaRPr lang="en-IN" altLang="en-US" sz="1400" dirty="0">
              <a:solidFill>
                <a:srgbClr val="000000"/>
              </a:solidFill>
            </a:endParaRPr>
          </a:p>
        </p:txBody>
      </p:sp>
    </p:spTree>
    <p:extLst>
      <p:ext uri="{BB962C8B-B14F-4D97-AF65-F5344CB8AC3E}">
        <p14:creationId xmlns:p14="http://schemas.microsoft.com/office/powerpoint/2010/main" val="298639042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t>
            </a:r>
            <a:r>
              <a:rPr lang="en-IN" b="1" dirty="0"/>
              <a:t>Decision Points from </a:t>
            </a:r>
            <a:r>
              <a:rPr lang="en-IN" b="1" dirty="0" smtClean="0"/>
              <a:t>QNB’s perspective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114</a:t>
            </a:fld>
            <a:endParaRPr lang="en-US" altLang="en-US"/>
          </a:p>
        </p:txBody>
      </p:sp>
      <p:graphicFrame>
        <p:nvGraphicFramePr>
          <p:cNvPr id="4" name="Table 3"/>
          <p:cNvGraphicFramePr>
            <a:graphicFrameLocks noGrp="1"/>
          </p:cNvGraphicFramePr>
          <p:nvPr>
            <p:extLst/>
          </p:nvPr>
        </p:nvGraphicFramePr>
        <p:xfrm>
          <a:off x="895350" y="1181100"/>
          <a:ext cx="8115300" cy="1854200"/>
        </p:xfrm>
        <a:graphic>
          <a:graphicData uri="http://schemas.openxmlformats.org/drawingml/2006/table">
            <a:tbl>
              <a:tblPr firstRow="1" bandRow="1">
                <a:tableStyleId>{5940675A-B579-460E-94D1-54222C63F5DA}</a:tableStyleId>
              </a:tblPr>
              <a:tblGrid>
                <a:gridCol w="1409699"/>
                <a:gridCol w="6705601"/>
              </a:tblGrid>
              <a:tr h="370840">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No.</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c>
                  <a:txBody>
                    <a:bodyPr/>
                    <a:lstStyle/>
                    <a:p>
                      <a:pPr algn="ctr"/>
                      <a:r>
                        <a:rPr lang="en-US" sz="1600" b="1" kern="1200" dirty="0" smtClean="0">
                          <a:solidFill>
                            <a:srgbClr val="FFFFFF"/>
                          </a:solidFill>
                          <a:latin typeface="Times New Roman" panose="02020603050405020304" pitchFamily="18" charset="0"/>
                          <a:ea typeface="+mn-ea"/>
                          <a:cs typeface="Arial" panose="020B0604020202020204" pitchFamily="34" charset="0"/>
                        </a:rPr>
                        <a:t>Decision Points</a:t>
                      </a:r>
                      <a:endParaRPr lang="en-US" sz="1600" b="1" kern="1200" dirty="0">
                        <a:solidFill>
                          <a:srgbClr val="FFFFFF"/>
                        </a:solidFill>
                        <a:latin typeface="Times New Roman" panose="02020603050405020304" pitchFamily="18" charset="0"/>
                        <a:ea typeface="+mn-ea"/>
                        <a:cs typeface="Arial" panose="020B0604020202020204" pitchFamily="34" charset="0"/>
                      </a:endParaRPr>
                    </a:p>
                  </a:txBody>
                  <a:tcPr anchor="ctr">
                    <a:solidFill>
                      <a:schemeClr val="tx2"/>
                    </a:solidFill>
                  </a:tcP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What will be the Horizon for which scenario forecasts would be done?</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How many different macro-economic scenarios will be considered?</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3</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the Scenarios be incorporated into SICR?</a:t>
                      </a:r>
                    </a:p>
                  </a:txBody>
                  <a:tcPr anchor="ctr"/>
                </a:tc>
              </a:tr>
              <a:tr h="370840">
                <a:tc>
                  <a:txBody>
                    <a:bodyPr/>
                    <a:lstStyle/>
                    <a:p>
                      <a:pPr algn="ctr"/>
                      <a:r>
                        <a:rPr lang="en-US" sz="1400" kern="1200" dirty="0" smtClean="0">
                          <a:solidFill>
                            <a:srgbClr val="000000"/>
                          </a:solidFill>
                          <a:latin typeface="Times New Roman" panose="02020603050405020304" pitchFamily="18" charset="0"/>
                          <a:ea typeface="+mn-ea"/>
                          <a:cs typeface="Times New Roman" panose="02020603050405020304" pitchFamily="18" charset="0"/>
                        </a:rPr>
                        <a:t>4</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the Scenarios be incorporated into ECL computation?</a:t>
                      </a:r>
                    </a:p>
                  </a:txBody>
                  <a:tcPr anchor="ctr"/>
                </a:tc>
              </a:tr>
            </a:tbl>
          </a:graphicData>
        </a:graphic>
      </p:graphicFrame>
    </p:spTree>
    <p:extLst>
      <p:ext uri="{BB962C8B-B14F-4D97-AF65-F5344CB8AC3E}">
        <p14:creationId xmlns:p14="http://schemas.microsoft.com/office/powerpoint/2010/main" val="44253357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115</a:t>
            </a:fld>
            <a:endParaRPr lang="en-US" altLang="en-US"/>
          </a:p>
        </p:txBody>
      </p:sp>
      <p:graphicFrame>
        <p:nvGraphicFramePr>
          <p:cNvPr id="5" name="Table 4"/>
          <p:cNvGraphicFramePr>
            <a:graphicFrameLocks noGrp="1"/>
          </p:cNvGraphicFramePr>
          <p:nvPr>
            <p:extLst/>
          </p:nvPr>
        </p:nvGraphicFramePr>
        <p:xfrm>
          <a:off x="287338" y="939800"/>
          <a:ext cx="9331325" cy="3784600"/>
        </p:xfrm>
        <a:graphic>
          <a:graphicData uri="http://schemas.openxmlformats.org/drawingml/2006/table">
            <a:tbl>
              <a:tblPr firstRow="1" bandRow="1">
                <a:tableStyleId>{5940675A-B579-460E-94D1-54222C63F5DA}</a:tableStyleId>
              </a:tblPr>
              <a:tblGrid>
                <a:gridCol w="1350962"/>
                <a:gridCol w="977900"/>
                <a:gridCol w="70024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IFRS9</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5.5.4</a:t>
                      </a: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5.5.18</a:t>
                      </a:r>
                    </a:p>
                    <a:p>
                      <a:endParaRPr lang="en-US" sz="1400" kern="1200" dirty="0" smtClean="0">
                        <a:solidFill>
                          <a:srgbClr val="000000"/>
                        </a:solidFill>
                        <a:latin typeface="Times New Roman" panose="02020603050405020304" pitchFamily="18" charset="0"/>
                        <a:ea typeface="+mn-ea"/>
                        <a:cs typeface="Times New Roman" panose="02020603050405020304" pitchFamily="18" charset="0"/>
                      </a:endParaRP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B5.5.41</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IFRS9 states that in measuring SICR the bank must consider all reasonable and supportable information including that which is forward looking.</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It also says that expected credit loss must be estimated in an unbiased manner considering a set of scenarios. However, there is no compulsion to measure every possible scenario. IFRS9 wants is at least 2 scenarios i.e. that of credit loss occurring and not occurring must be considered.</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Qatar Central Bank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2.3.6.4</a:t>
                      </a:r>
                    </a:p>
                    <a:p>
                      <a:r>
                        <a:rPr lang="en-US" sz="1400" kern="1200" dirty="0" smtClean="0">
                          <a:solidFill>
                            <a:srgbClr val="000000"/>
                          </a:solidFill>
                          <a:latin typeface="Times New Roman" panose="02020603050405020304" pitchFamily="18" charset="0"/>
                          <a:ea typeface="+mn-ea"/>
                          <a:cs typeface="Times New Roman" panose="02020603050405020304" pitchFamily="18" charset="0"/>
                        </a:rPr>
                        <a:t>and 2.4.1</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285750" indent="-285750">
                        <a:buFont typeface="Arial" panose="020B0604020202020204" pitchFamily="34" charset="0"/>
                        <a:buChar char="•"/>
                      </a:pPr>
                      <a:r>
                        <a:rPr lang="en-IN" sz="1400" kern="1200" dirty="0" smtClean="0">
                          <a:solidFill>
                            <a:schemeClr val="tx1"/>
                          </a:solidFill>
                          <a:latin typeface="Times New Roman" panose="02020603050405020304" pitchFamily="18" charset="0"/>
                          <a:ea typeface="+mn-ea"/>
                          <a:cs typeface="Times New Roman" panose="02020603050405020304" pitchFamily="18" charset="0"/>
                        </a:rPr>
                        <a:t>Suggests at least 2 scenarios, including</a:t>
                      </a:r>
                      <a:r>
                        <a:rPr lang="en-IN" sz="1400" kern="1200" baseline="0" dirty="0" smtClean="0">
                          <a:solidFill>
                            <a:schemeClr val="tx1"/>
                          </a:solidFill>
                          <a:latin typeface="Times New Roman" panose="02020603050405020304" pitchFamily="18" charset="0"/>
                          <a:ea typeface="+mn-ea"/>
                          <a:cs typeface="Times New Roman" panose="02020603050405020304" pitchFamily="18" charset="0"/>
                        </a:rPr>
                        <a:t> the base case but has a</a:t>
                      </a:r>
                      <a:r>
                        <a:rPr lang="en-IN" sz="1400" kern="1200" dirty="0" smtClean="0">
                          <a:solidFill>
                            <a:schemeClr val="tx1"/>
                          </a:solidFill>
                          <a:latin typeface="Times New Roman" panose="02020603050405020304" pitchFamily="18" charset="0"/>
                          <a:ea typeface="+mn-ea"/>
                          <a:cs typeface="Times New Roman" panose="02020603050405020304" pitchFamily="18" charset="0"/>
                        </a:rPr>
                        <a:t> slightly confusing statement “</a:t>
                      </a:r>
                      <a:r>
                        <a:rPr lang="en-IN" sz="1400" i="1" kern="1200" dirty="0" smtClean="0">
                          <a:solidFill>
                            <a:schemeClr val="tx1"/>
                          </a:solidFill>
                          <a:latin typeface="Times New Roman" panose="02020603050405020304" pitchFamily="18" charset="0"/>
                          <a:ea typeface="+mn-ea"/>
                          <a:cs typeface="Times New Roman" panose="02020603050405020304" pitchFamily="18" charset="0"/>
                        </a:rPr>
                        <a:t>QCB requires these scenarios to be applied at overall PD level to reduce implementation effort</a:t>
                      </a:r>
                      <a:r>
                        <a:rPr lang="en-IN" sz="1400" kern="1200" dirty="0" smtClean="0">
                          <a:solidFill>
                            <a:schemeClr val="tx1"/>
                          </a:solidFill>
                          <a:latin typeface="Times New Roman" panose="02020603050405020304" pitchFamily="18" charset="0"/>
                          <a:ea typeface="+mn-ea"/>
                          <a:cs typeface="Times New Roman" panose="02020603050405020304" pitchFamily="18" charset="0"/>
                        </a:rPr>
                        <a:t>”. This can construed to mean that instead of weighted average ECL one can use the weighted average PD across scenarios to compute ECL</a:t>
                      </a:r>
                    </a:p>
                  </a:txBody>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SAMA Guidance</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4.6.3.1</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Reiterates ITG and GPPC conclusions</a:t>
                      </a:r>
                    </a:p>
                  </a:txBody>
                  <a:tcPr anchor="ct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Basel GARECL</a:t>
                      </a: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20-22</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Reiterates ITG and GPPC conclusions</a:t>
                      </a:r>
                    </a:p>
                  </a:txBody>
                  <a:tcPr anchor="ctr"/>
                </a:tc>
              </a:tr>
            </a:tbl>
          </a:graphicData>
        </a:graphic>
      </p:graphicFrame>
    </p:spTree>
    <p:extLst>
      <p:ext uri="{BB962C8B-B14F-4D97-AF65-F5344CB8AC3E}">
        <p14:creationId xmlns:p14="http://schemas.microsoft.com/office/powerpoint/2010/main" val="3595291234"/>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Technical Guidance</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116</a:t>
            </a:fld>
            <a:endParaRPr lang="en-US" altLang="en-US"/>
          </a:p>
        </p:txBody>
      </p:sp>
      <p:graphicFrame>
        <p:nvGraphicFramePr>
          <p:cNvPr id="5" name="Table 4"/>
          <p:cNvGraphicFramePr>
            <a:graphicFrameLocks noGrp="1"/>
          </p:cNvGraphicFramePr>
          <p:nvPr>
            <p:extLst/>
          </p:nvPr>
        </p:nvGraphicFramePr>
        <p:xfrm>
          <a:off x="287338" y="977900"/>
          <a:ext cx="9331324" cy="4175760"/>
        </p:xfrm>
        <a:graphic>
          <a:graphicData uri="http://schemas.openxmlformats.org/drawingml/2006/table">
            <a:tbl>
              <a:tblPr firstRow="1" bandRow="1">
                <a:tableStyleId>{5940675A-B579-460E-94D1-54222C63F5DA}</a:tableStyleId>
              </a:tblPr>
              <a:tblGrid>
                <a:gridCol w="957262"/>
                <a:gridCol w="1054100"/>
                <a:gridCol w="7319962"/>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Source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Para. Ref.</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Guidance Summary</a:t>
                      </a: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p>
                    <a:p>
                      <a:pPr algn="ctr"/>
                      <a:r>
                        <a:rPr lang="en-US" sz="1600" b="1" baseline="0"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(Please refer the original documents for detailed guidance)</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370840">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GPPC</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US" sz="1400" kern="1200" dirty="0" smtClean="0">
                          <a:solidFill>
                            <a:srgbClr val="000000"/>
                          </a:solidFill>
                          <a:latin typeface="Times New Roman" panose="02020603050405020304" pitchFamily="18" charset="0"/>
                          <a:ea typeface="+mn-ea"/>
                          <a:cs typeface="Times New Roman" panose="02020603050405020304" pitchFamily="18" charset="0"/>
                        </a:rPr>
                        <a:t>Whole of section 2.8</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GPPC has devoted a whole section on forward looking scenarios. The key points are as follows:</a:t>
                      </a:r>
                    </a:p>
                    <a:p>
                      <a:pPr marL="742950" lvl="1" indent="-285750">
                        <a:buFont typeface="Courier New" panose="02070309020205020404" pitchFamily="49" charset="0"/>
                        <a:buChar char="o"/>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Forecasts should reference both internal as well as external sources.</a:t>
                      </a:r>
                    </a:p>
                    <a:p>
                      <a:pPr marL="742950" lvl="1" indent="-285750">
                        <a:buFont typeface="Courier New" panose="02070309020205020404" pitchFamily="49" charset="0"/>
                        <a:buChar char="o"/>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Considering only a single economic scenario without accounting for adjustments of non-linear relationships.</a:t>
                      </a:r>
                    </a:p>
                    <a:p>
                      <a:pPr marL="742950" lvl="1" indent="-285750">
                        <a:buFont typeface="Courier New" panose="02070309020205020404" pitchFamily="49" charset="0"/>
                        <a:buChar char="o"/>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Scenarios should be coherent i.e. inter-relationships between macro variables must be accounted for.</a:t>
                      </a:r>
                    </a:p>
                    <a:p>
                      <a:pPr marL="742950" lvl="1" indent="-285750">
                        <a:buFont typeface="Courier New" panose="02070309020205020404" pitchFamily="49" charset="0"/>
                        <a:buChar char="o"/>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Base scenario must be  in line with what is used for budgeting and strategic planning.</a:t>
                      </a:r>
                    </a:p>
                    <a:p>
                      <a:pPr marL="742950" lvl="1" indent="-285750">
                        <a:buFont typeface="Courier New" panose="02070309020205020404" pitchFamily="49" charset="0"/>
                        <a:buChar char="o"/>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Use of stress testing scenarios is ok but banks need to make sure that they don’t bias the estimate.</a:t>
                      </a:r>
                    </a:p>
                    <a:p>
                      <a:pPr marL="742950" lvl="1" indent="-285750">
                        <a:buFont typeface="Courier New" panose="02070309020205020404" pitchFamily="49" charset="0"/>
                        <a:buChar char="o"/>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Reiterates the conclusions of ITG on the use of scenarios regarding the ECL and SICR.</a:t>
                      </a:r>
                    </a:p>
                  </a:txBody>
                  <a:tcPr/>
                </a:tc>
              </a:tr>
              <a:tr h="370840">
                <a:tc>
                  <a:txBody>
                    <a:bodyPr/>
                    <a:lstStyle/>
                    <a:p>
                      <a:r>
                        <a:rPr lang="en-US" sz="1400" kern="1200" dirty="0" smtClean="0">
                          <a:solidFill>
                            <a:srgbClr val="000000"/>
                          </a:solidFill>
                          <a:latin typeface="Times New Roman" panose="02020603050405020304" pitchFamily="18" charset="0"/>
                          <a:ea typeface="+mn-ea"/>
                          <a:cs typeface="Times New Roman" panose="02020603050405020304" pitchFamily="18" charset="0"/>
                        </a:rPr>
                        <a:t>ITG</a:t>
                      </a:r>
                      <a:endParaRPr lang="en-US" sz="14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Paper on “Forward Looking Scenarios”</a:t>
                      </a:r>
                    </a:p>
                  </a:txBody>
                  <a:tcPr anchor="ctr"/>
                </a:tc>
                <a:tc>
                  <a:txBody>
                    <a:bodyPr/>
                    <a:lstStyle/>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The ITG paper has mainly dealt with how to use scenarios in measurement of ECL and SICR. </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The conclusion in the paper is that due to non-linear relationship between ECL and risk parameters like PD and LGD, banks should estimate weighted average of ECL across different scenarios.</a:t>
                      </a:r>
                    </a:p>
                    <a:p>
                      <a:pPr marL="285750" indent="-285750">
                        <a:buFont typeface="Arial" panose="020B0604020202020204" pitchFamily="34" charset="0"/>
                        <a:buChar char="•"/>
                      </a:pPr>
                      <a:r>
                        <a:rPr lang="en-IN" sz="1400" kern="1200" dirty="0" smtClean="0">
                          <a:solidFill>
                            <a:srgbClr val="000000"/>
                          </a:solidFill>
                          <a:latin typeface="Times New Roman" panose="02020603050405020304" pitchFamily="18" charset="0"/>
                          <a:ea typeface="+mn-ea"/>
                          <a:cs typeface="Times New Roman" panose="02020603050405020304" pitchFamily="18" charset="0"/>
                        </a:rPr>
                        <a:t>Similarly the paper also says that in SICR not just the best or most likely estimate but the weighted average estimate across scenarios must be used.</a:t>
                      </a:r>
                    </a:p>
                  </a:txBody>
                  <a:tcPr/>
                </a:tc>
              </a:tr>
            </a:tbl>
          </a:graphicData>
        </a:graphic>
      </p:graphicFrame>
    </p:spTree>
    <p:extLst>
      <p:ext uri="{BB962C8B-B14F-4D97-AF65-F5344CB8AC3E}">
        <p14:creationId xmlns:p14="http://schemas.microsoft.com/office/powerpoint/2010/main" val="129077069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Scenarios and Forward Looking Information</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117</a:t>
            </a:fld>
            <a:endParaRPr lang="en-US" altLang="en-US"/>
          </a:p>
        </p:txBody>
      </p:sp>
      <p:graphicFrame>
        <p:nvGraphicFramePr>
          <p:cNvPr id="6" name="Table 5"/>
          <p:cNvGraphicFramePr>
            <a:graphicFrameLocks noGrp="1"/>
          </p:cNvGraphicFramePr>
          <p:nvPr>
            <p:extLst/>
          </p:nvPr>
        </p:nvGraphicFramePr>
        <p:xfrm>
          <a:off x="287338" y="850900"/>
          <a:ext cx="9331325" cy="5110480"/>
        </p:xfrm>
        <a:graphic>
          <a:graphicData uri="http://schemas.openxmlformats.org/drawingml/2006/table">
            <a:tbl>
              <a:tblPr firstRow="1" bandRow="1">
                <a:tableStyleId>{5940675A-B579-460E-94D1-54222C63F5DA}</a:tableStyleId>
              </a:tblPr>
              <a:tblGrid>
                <a:gridCol w="588962"/>
                <a:gridCol w="1511300"/>
                <a:gridCol w="7231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2519680">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1</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1400" kern="1200" dirty="0" smtClean="0">
                          <a:solidFill>
                            <a:srgbClr val="000000"/>
                          </a:solidFill>
                          <a:latin typeface="Times New Roman" panose="02020603050405020304" pitchFamily="18" charset="0"/>
                          <a:ea typeface="+mn-ea"/>
                          <a:cs typeface="Times New Roman" panose="02020603050405020304" pitchFamily="18" charset="0"/>
                        </a:rPr>
                        <a:t>What will be the Horizon for which forecasts would be done?</a:t>
                      </a:r>
                    </a:p>
                  </a:txBody>
                  <a:tcPr anchor="ctr"/>
                </a:tc>
                <a:tc>
                  <a:txBody>
                    <a:bodyPr/>
                    <a:lstStyle/>
                    <a:p>
                      <a:pPr marL="285750" indent="-285750">
                        <a:lnSpc>
                          <a:spcPct val="100000"/>
                        </a:lnSpc>
                        <a:buFont typeface="Arial" panose="020B0604020202020204" pitchFamily="34" charset="0"/>
                        <a:buChar char="•"/>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Forward looking forecast of macro-economic factors are not reliable beyond 3 to maximum of 5 years</a:t>
                      </a:r>
                    </a:p>
                    <a:p>
                      <a:pPr marL="857250" lvl="1" indent="-400050">
                        <a:lnSpc>
                          <a:spcPct val="100000"/>
                        </a:lnSpc>
                        <a:buFont typeface="+mj-lt"/>
                        <a:buAutoNum type="romanLcPeriod"/>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IMF-World Bank provides forecasts for 5 years on a rolling basis</a:t>
                      </a:r>
                    </a:p>
                    <a:p>
                      <a:pPr marL="857250" lvl="1" indent="-400050">
                        <a:lnSpc>
                          <a:spcPct val="100000"/>
                        </a:lnSpc>
                        <a:buFont typeface="+mj-lt"/>
                        <a:buAutoNum type="romanLcPeriod"/>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Internally, the Chief Economist of the Bank maintains projections for immediate 2 years</a:t>
                      </a:r>
                    </a:p>
                    <a:p>
                      <a:pPr marL="285750" indent="-285750">
                        <a:lnSpc>
                          <a:spcPct val="100000"/>
                        </a:lnSpc>
                        <a:buFont typeface="Arial" panose="020B0604020202020204" pitchFamily="34" charset="0"/>
                        <a:buChar char="•"/>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Therefore, the horizon for scenarios for QNB would be a maximum of 5 years with 3 years being the more realistic timeframe</a:t>
                      </a:r>
                    </a:p>
                    <a:p>
                      <a:pPr marL="285750" indent="-285750">
                        <a:lnSpc>
                          <a:spcPct val="100000"/>
                        </a:lnSpc>
                        <a:buFont typeface="Arial" panose="020B0604020202020204" pitchFamily="34" charset="0"/>
                        <a:buChar char="•"/>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For exposures that extend beyond the 3-5 year time-frame we will assume one of the following:</a:t>
                      </a:r>
                    </a:p>
                    <a:p>
                      <a:pPr marL="857250" lvl="1" indent="-400050">
                        <a:lnSpc>
                          <a:spcPct val="100000"/>
                        </a:lnSpc>
                        <a:buFont typeface="+mj-lt"/>
                        <a:buAutoNum type="romanLcPeriod"/>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Mean reversion i.e. forecast reverts to mean of next 3-5 years from year 6 onwards</a:t>
                      </a:r>
                    </a:p>
                    <a:p>
                      <a:pPr marL="857250" lvl="1" indent="-400050">
                        <a:lnSpc>
                          <a:spcPct val="100000"/>
                        </a:lnSpc>
                        <a:buFont typeface="+mj-lt"/>
                        <a:buAutoNum type="romanLcPeriod"/>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Forecast from year 6 onwards is the same as year 5</a:t>
                      </a:r>
                    </a:p>
                  </a:txBody>
                  <a:tcPr/>
                </a:tc>
              </a:tr>
              <a:tr h="1112520">
                <a:tc>
                  <a:txBody>
                    <a:bodyPr/>
                    <a:lstStyle/>
                    <a:p>
                      <a:r>
                        <a:rPr lang="en-US" sz="1300" kern="1200" dirty="0" smtClean="0">
                          <a:solidFill>
                            <a:srgbClr val="000000"/>
                          </a:solidFill>
                          <a:latin typeface="Times New Roman" panose="02020603050405020304" pitchFamily="18" charset="0"/>
                          <a:ea typeface="+mn-ea"/>
                          <a:cs typeface="Times New Roman" panose="02020603050405020304" pitchFamily="18" charset="0"/>
                        </a:rPr>
                        <a:t>2</a:t>
                      </a:r>
                      <a:endParaRPr lang="en-US" sz="13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How many different macro-economic scenarios will be considered?</a:t>
                      </a:r>
                    </a:p>
                  </a:txBody>
                  <a:tcPr anchor="ctr"/>
                </a:tc>
                <a:tc>
                  <a:txBody>
                    <a:bodyPr/>
                    <a:lstStyle/>
                    <a:p>
                      <a:pPr marL="285750" indent="-285750">
                        <a:buFont typeface="Arial" panose="020B0604020202020204" pitchFamily="34" charset="0"/>
                        <a:buChar char="•"/>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QNB due to complexity of implementation will not be using Monte-Carlo simulations</a:t>
                      </a:r>
                    </a:p>
                    <a:p>
                      <a:pPr marL="285750" indent="-285750">
                        <a:buFont typeface="Arial" panose="020B0604020202020204" pitchFamily="34" charset="0"/>
                        <a:buChar char="•"/>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We will be using a Discreet Multiple Scenario approach where we will be defining a discreet set of Scenarios</a:t>
                      </a:r>
                    </a:p>
                    <a:p>
                      <a:pPr marL="285750" indent="-285750">
                        <a:buFont typeface="Arial" panose="020B0604020202020204" pitchFamily="34" charset="0"/>
                        <a:buChar char="•"/>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Number of scenarios is expected to be 3 to maximum of 5 in number</a:t>
                      </a:r>
                    </a:p>
                    <a:p>
                      <a:pPr marL="285750" indent="-285750">
                        <a:buFont typeface="Arial" panose="020B0604020202020204" pitchFamily="34" charset="0"/>
                        <a:buChar char="•"/>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In order to avoid a “Scenario Blow-up” we will try to define the scenarios based on combination of PD and LGD</a:t>
                      </a:r>
                    </a:p>
                    <a:p>
                      <a:pPr marL="857250" lvl="1" indent="-400050">
                        <a:buFont typeface="+mj-lt"/>
                        <a:buAutoNum type="romanLcPeriod"/>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For example if we have 3 PD scenarios and 3 LGD scenarios, potentially there could be 9 combinations. To avoid this we will define 3-5 scenarios combining both PD and LGD</a:t>
                      </a:r>
                    </a:p>
                  </a:txBody>
                  <a:tcPr/>
                </a:tc>
              </a:tr>
            </a:tbl>
          </a:graphicData>
        </a:graphic>
      </p:graphicFrame>
    </p:spTree>
    <p:extLst>
      <p:ext uri="{BB962C8B-B14F-4D97-AF65-F5344CB8AC3E}">
        <p14:creationId xmlns:p14="http://schemas.microsoft.com/office/powerpoint/2010/main" val="364422497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QNB’s </a:t>
            </a:r>
            <a:r>
              <a:rPr lang="en-IN" b="1" dirty="0"/>
              <a:t>view on Scenarios and Forward Looking Information</a:t>
            </a:r>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118</a:t>
            </a:fld>
            <a:endParaRPr lang="en-US" altLang="en-US"/>
          </a:p>
        </p:txBody>
      </p:sp>
      <p:graphicFrame>
        <p:nvGraphicFramePr>
          <p:cNvPr id="5" name="Table 4"/>
          <p:cNvGraphicFramePr>
            <a:graphicFrameLocks noGrp="1"/>
          </p:cNvGraphicFramePr>
          <p:nvPr>
            <p:extLst/>
          </p:nvPr>
        </p:nvGraphicFramePr>
        <p:xfrm>
          <a:off x="287338" y="850900"/>
          <a:ext cx="9331325" cy="3906520"/>
        </p:xfrm>
        <a:graphic>
          <a:graphicData uri="http://schemas.openxmlformats.org/drawingml/2006/table">
            <a:tbl>
              <a:tblPr firstRow="1" bandRow="1">
                <a:tableStyleId>{5940675A-B579-460E-94D1-54222C63F5DA}</a:tableStyleId>
              </a:tblPr>
              <a:tblGrid>
                <a:gridCol w="588962"/>
                <a:gridCol w="1511300"/>
                <a:gridCol w="7231063"/>
              </a:tblGrid>
              <a:tr h="370840">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No.</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Decision Points</a:t>
                      </a:r>
                    </a:p>
                  </a:txBody>
                  <a:tcPr anchor="ctr">
                    <a:solidFill>
                      <a:schemeClr val="tx2"/>
                    </a:solidFill>
                  </a:tcPr>
                </a:tc>
                <a:tc>
                  <a:txBody>
                    <a:bodyPr/>
                    <a:lstStyle/>
                    <a:p>
                      <a:pPr algn="ctr"/>
                      <a:r>
                        <a:rPr lang="en-US" sz="1600" b="1" dirty="0" smtClean="0">
                          <a:solidFill>
                            <a:schemeClr val="bg1"/>
                          </a:solidFill>
                          <a:latin typeface="Times New Roman" panose="02020603050405020304" pitchFamily="18" charset="0"/>
                          <a:ea typeface="Verdana" panose="020B0604030504040204" pitchFamily="34" charset="0"/>
                          <a:cs typeface="Times New Roman" panose="02020603050405020304" pitchFamily="18" charset="0"/>
                        </a:rPr>
                        <a:t>QNB’s View</a:t>
                      </a:r>
                      <a:endParaRPr lang="en-US" sz="16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endParaRPr>
                    </a:p>
                  </a:txBody>
                  <a:tcPr anchor="ctr">
                    <a:solidFill>
                      <a:schemeClr val="tx2"/>
                    </a:solidFill>
                  </a:tcPr>
                </a:tc>
              </a:tr>
              <a:tr h="1529080">
                <a:tc>
                  <a:txBody>
                    <a:bodyPr/>
                    <a:lstStyle/>
                    <a:p>
                      <a:pPr algn="l"/>
                      <a:r>
                        <a:rPr lang="en-US" sz="1200" kern="1200" dirty="0" smtClean="0">
                          <a:solidFill>
                            <a:srgbClr val="000000"/>
                          </a:solidFill>
                          <a:latin typeface="Times New Roman" panose="02020603050405020304" pitchFamily="18" charset="0"/>
                          <a:ea typeface="+mn-ea"/>
                          <a:cs typeface="Times New Roman" panose="02020603050405020304" pitchFamily="18" charset="0"/>
                        </a:rPr>
                        <a:t>3</a:t>
                      </a:r>
                      <a:endParaRPr lang="en-US" sz="12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lang="en-IN" sz="1600" kern="1200" dirty="0" smtClean="0">
                          <a:solidFill>
                            <a:srgbClr val="000000"/>
                          </a:solidFill>
                          <a:latin typeface="Times New Roman" panose="02020603050405020304" pitchFamily="18" charset="0"/>
                          <a:ea typeface="+mn-ea"/>
                          <a:cs typeface="Times New Roman" panose="02020603050405020304" pitchFamily="18" charset="0"/>
                        </a:rPr>
                        <a:t>How will the Scenarios be incorporated into SICR?</a:t>
                      </a:r>
                    </a:p>
                  </a:txBody>
                  <a:tcPr anchor="ctr"/>
                </a:tc>
                <a:tc>
                  <a:txBody>
                    <a:bodyPr/>
                    <a:lstStyle/>
                    <a:p>
                      <a:pPr marL="285750" indent="-285750">
                        <a:lnSpc>
                          <a:spcPct val="100000"/>
                        </a:lnSpc>
                        <a:buFont typeface="Arial" panose="020B0604020202020204" pitchFamily="34" charset="0"/>
                        <a:buChar char="•"/>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QNB will be using a combination of Quantitative and Qualitative factors for SICR assessment. PD will be one of the parameters, albeit a key parameter which will be used to assess SICR.</a:t>
                      </a:r>
                    </a:p>
                    <a:p>
                      <a:pPr marL="285750" indent="-285750">
                        <a:lnSpc>
                          <a:spcPct val="100000"/>
                        </a:lnSpc>
                        <a:buFont typeface="Arial" panose="020B0604020202020204" pitchFamily="34" charset="0"/>
                        <a:buChar char="•"/>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Since IFRS9 expects the incorporation of forward looking scenarios in SICR, we will use the Weighted Average Forward Looking PD based on he scenarios selected on the basis of SICR.</a:t>
                      </a:r>
                    </a:p>
                    <a:p>
                      <a:pPr marL="285750" indent="-285750">
                        <a:lnSpc>
                          <a:spcPct val="100000"/>
                        </a:lnSpc>
                        <a:buFont typeface="Arial" panose="020B0604020202020204" pitchFamily="34" charset="0"/>
                        <a:buChar char="•"/>
                      </a:pPr>
                      <a:r>
                        <a:rPr lang="en-IN" sz="1400" b="0" kern="1200" dirty="0" smtClean="0">
                          <a:solidFill>
                            <a:srgbClr val="FF0000"/>
                          </a:solidFill>
                          <a:latin typeface="Times New Roman" panose="02020603050405020304" pitchFamily="18" charset="0"/>
                          <a:ea typeface="+mn-ea"/>
                          <a:cs typeface="Times New Roman" panose="02020603050405020304" pitchFamily="18" charset="0"/>
                        </a:rPr>
                        <a:t>This would be in line with expectations of IFRS9 as defined in ITG Technical Guidance.</a:t>
                      </a:r>
                    </a:p>
                  </a:txBody>
                  <a:tcPr/>
                </a:tc>
              </a:tr>
              <a:tr h="1112520">
                <a:tc>
                  <a:txBody>
                    <a:bodyPr/>
                    <a:lstStyle/>
                    <a:p>
                      <a:r>
                        <a:rPr lang="en-US" sz="1300" kern="1200" dirty="0" smtClean="0">
                          <a:solidFill>
                            <a:srgbClr val="000000"/>
                          </a:solidFill>
                          <a:latin typeface="Times New Roman" panose="02020603050405020304" pitchFamily="18" charset="0"/>
                          <a:ea typeface="+mn-ea"/>
                          <a:cs typeface="Times New Roman" panose="02020603050405020304" pitchFamily="18" charset="0"/>
                        </a:rPr>
                        <a:t>4</a:t>
                      </a:r>
                      <a:endParaRPr lang="en-US" sz="1300"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r>
                        <a:rPr lang="en-IN" sz="1400" kern="1200" dirty="0" smtClean="0">
                          <a:solidFill>
                            <a:srgbClr val="000000"/>
                          </a:solidFill>
                          <a:latin typeface="Times New Roman" panose="02020603050405020304" pitchFamily="18" charset="0"/>
                          <a:ea typeface="+mn-ea"/>
                          <a:cs typeface="Times New Roman" panose="02020603050405020304" pitchFamily="18" charset="0"/>
                        </a:rPr>
                        <a:t>How will the Scenarios be incorporated into ECL computation?</a:t>
                      </a:r>
                    </a:p>
                  </a:txBody>
                  <a:tcPr anchor="ctr"/>
                </a:tc>
                <a:tc>
                  <a:txBody>
                    <a:bodyPr/>
                    <a:lstStyle/>
                    <a:p>
                      <a:pPr marL="285750" indent="-285750">
                        <a:buFont typeface="Arial" panose="020B0604020202020204" pitchFamily="34" charset="0"/>
                        <a:buChar char="•"/>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As mentioned clearly in the ITG paper on incorporation of forward looking scenarios, QNB will compute ECL based on Probability Weighting of Individual ECL scenarios</a:t>
                      </a:r>
                    </a:p>
                    <a:p>
                      <a:pPr marL="857250" lvl="1" indent="-400050">
                        <a:buFont typeface="+mj-lt"/>
                        <a:buAutoNum type="romanLcPeriod"/>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12 Month or Life Time ECL is calculated separately for each scenario considered</a:t>
                      </a:r>
                    </a:p>
                    <a:p>
                      <a:pPr marL="857250" lvl="1" indent="-400050">
                        <a:buFont typeface="+mj-lt"/>
                        <a:buAutoNum type="romanLcPeriod"/>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Loss is calculated by probability-weighting the individual ECL of every scenario</a:t>
                      </a:r>
                    </a:p>
                    <a:p>
                      <a:pPr marL="285750" indent="-285750">
                        <a:buFont typeface="Arial" panose="020B0604020202020204" pitchFamily="34" charset="0"/>
                        <a:buChar char="•"/>
                      </a:pPr>
                      <a:r>
                        <a:rPr lang="en-IN" sz="1400" kern="1200" dirty="0" smtClean="0">
                          <a:solidFill>
                            <a:srgbClr val="FF0000"/>
                          </a:solidFill>
                          <a:latin typeface="Times New Roman" panose="02020603050405020304" pitchFamily="18" charset="0"/>
                          <a:ea typeface="+mn-ea"/>
                          <a:cs typeface="Times New Roman" panose="02020603050405020304" pitchFamily="18" charset="0"/>
                        </a:rPr>
                        <a:t>Keeping in view the fact that this approach increases the time and effort complexity of doing the ECL calculation runs, we might identify some exceptions where the impact of PD or LGD on the ECL is expected to be linear. For such cases we will compute ECL based on Probability Weighted Credit Risk factors. This is expected to be used in minimal cases.</a:t>
                      </a:r>
                    </a:p>
                  </a:txBody>
                  <a:tcPr/>
                </a:tc>
              </a:tr>
            </a:tbl>
          </a:graphicData>
        </a:graphic>
      </p:graphicFrame>
    </p:spTree>
    <p:extLst>
      <p:ext uri="{BB962C8B-B14F-4D97-AF65-F5344CB8AC3E}">
        <p14:creationId xmlns:p14="http://schemas.microsoft.com/office/powerpoint/2010/main" val="4270116397"/>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Next Steps</a:t>
            </a:r>
            <a:endParaRPr lang="en-IN" b="1" dirty="0"/>
          </a:p>
        </p:txBody>
      </p:sp>
      <p:sp>
        <p:nvSpPr>
          <p:cNvPr id="3" name="Slide Number Placeholder 2"/>
          <p:cNvSpPr>
            <a:spLocks noGrp="1"/>
          </p:cNvSpPr>
          <p:nvPr>
            <p:ph type="sldNum" sz="quarter" idx="10"/>
          </p:nvPr>
        </p:nvSpPr>
        <p:spPr/>
        <p:txBody>
          <a:bodyPr/>
          <a:lstStyle/>
          <a:p>
            <a:fld id="{EAB92969-8876-436D-8477-9215F712A2ED}" type="slidenum">
              <a:rPr lang="en-US" altLang="en-US" smtClean="0"/>
              <a:pPr/>
              <a:t>119</a:t>
            </a:fld>
            <a:endParaRPr lang="en-US" altLang="en-US"/>
          </a:p>
        </p:txBody>
      </p:sp>
      <p:sp>
        <p:nvSpPr>
          <p:cNvPr id="6" name="Rectangle 22"/>
          <p:cNvSpPr>
            <a:spLocks noChangeArrowheads="1"/>
          </p:cNvSpPr>
          <p:nvPr>
            <p:custDataLst>
              <p:tags r:id="rId1"/>
            </p:custDataLst>
          </p:nvPr>
        </p:nvSpPr>
        <p:spPr bwMode="gray">
          <a:xfrm>
            <a:off x="387320" y="1181100"/>
            <a:ext cx="7497793" cy="9797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112713" indent="-112713" eaLnBrk="0" hangingPunct="0">
              <a:defRPr sz="1200">
                <a:solidFill>
                  <a:schemeClr val="tx1"/>
                </a:solidFill>
                <a:latin typeface="Times New Roman" panose="02020603050405020304" pitchFamily="18" charset="0"/>
                <a:cs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cs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cs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cs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285750" indent="-285750" eaLnBrk="1" hangingPunct="1">
              <a:lnSpc>
                <a:spcPts val="1400"/>
              </a:lnSpc>
              <a:spcBef>
                <a:spcPts val="300"/>
              </a:spcBef>
              <a:buFont typeface="Arial" panose="020B0604020202020204" pitchFamily="34" charset="0"/>
              <a:buChar char="•"/>
            </a:pPr>
            <a:r>
              <a:rPr lang="en-IN" altLang="en-US" sz="1400" dirty="0">
                <a:solidFill>
                  <a:srgbClr val="FF0000"/>
                </a:solidFill>
              </a:rPr>
              <a:t>Assess the various kinds of forward looking variables which needs to be incorporated.</a:t>
            </a:r>
          </a:p>
          <a:p>
            <a:pPr marL="285750" indent="-285750" eaLnBrk="1" hangingPunct="1">
              <a:lnSpc>
                <a:spcPts val="1400"/>
              </a:lnSpc>
              <a:spcBef>
                <a:spcPts val="300"/>
              </a:spcBef>
              <a:buFont typeface="Arial" panose="020B0604020202020204" pitchFamily="34" charset="0"/>
              <a:buChar char="•"/>
            </a:pPr>
            <a:r>
              <a:rPr lang="en-IN" altLang="en-US" sz="1400" dirty="0">
                <a:solidFill>
                  <a:srgbClr val="FF0000"/>
                </a:solidFill>
              </a:rPr>
              <a:t>Need to determine the various kinds of metrics to be used for the scenarios.</a:t>
            </a:r>
          </a:p>
          <a:p>
            <a:pPr marL="285750" indent="-285750" eaLnBrk="1" hangingPunct="1">
              <a:lnSpc>
                <a:spcPts val="1400"/>
              </a:lnSpc>
              <a:spcBef>
                <a:spcPts val="300"/>
              </a:spcBef>
              <a:buFont typeface="Arial" panose="020B0604020202020204" pitchFamily="34" charset="0"/>
              <a:buChar char="•"/>
            </a:pPr>
            <a:r>
              <a:rPr lang="en-IN" altLang="en-US" sz="1400" dirty="0">
                <a:solidFill>
                  <a:srgbClr val="FF0000"/>
                </a:solidFill>
              </a:rPr>
              <a:t>Confirm the threshold values for the selected metrics and decide the staging across the different scenarios as well.</a:t>
            </a:r>
          </a:p>
        </p:txBody>
      </p:sp>
    </p:spTree>
    <p:extLst>
      <p:ext uri="{BB962C8B-B14F-4D97-AF65-F5344CB8AC3E}">
        <p14:creationId xmlns:p14="http://schemas.microsoft.com/office/powerpoint/2010/main" val="327617715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5937" y="1176691"/>
            <a:ext cx="8667751" cy="509114"/>
          </a:xfrm>
          <a:prstGeom prst="rect">
            <a:avLst/>
          </a:prstGeom>
          <a:noFill/>
        </p:spPr>
        <p:txBody>
          <a:bodyPr wrap="square" rtlCol="0">
            <a:spAutoFit/>
          </a:bodyPr>
          <a:lstStyle/>
          <a:p>
            <a:pPr marL="0" lvl="2"/>
            <a:r>
              <a:rPr lang="en-GB" sz="1354" dirty="0">
                <a:latin typeface="Verdana" panose="020B0604030504040204" pitchFamily="34" charset="0"/>
                <a:ea typeface="Verdana" panose="020B0604030504040204" pitchFamily="34" charset="0"/>
                <a:cs typeface="Verdana" panose="020B0604030504040204" pitchFamily="34" charset="0"/>
              </a:rPr>
              <a:t>How will the entity </a:t>
            </a:r>
            <a:r>
              <a:rPr lang="en-GB" sz="1354" u="sng" dirty="0">
                <a:latin typeface="Verdana" panose="020B0604030504040204" pitchFamily="34" charset="0"/>
                <a:ea typeface="Verdana" panose="020B0604030504040204" pitchFamily="34" charset="0"/>
                <a:cs typeface="Verdana" panose="020B0604030504040204" pitchFamily="34" charset="0"/>
              </a:rPr>
              <a:t>INCORPORATE PROBABILITY WEIGHTING</a:t>
            </a:r>
            <a:r>
              <a:rPr lang="en-GB" sz="1354" dirty="0">
                <a:latin typeface="Verdana" panose="020B0604030504040204" pitchFamily="34" charset="0"/>
                <a:ea typeface="Verdana" panose="020B0604030504040204" pitchFamily="34" charset="0"/>
                <a:cs typeface="Verdana" panose="020B0604030504040204" pitchFamily="34" charset="0"/>
              </a:rPr>
              <a:t> of scenarios in the ECL measurement?</a:t>
            </a:r>
            <a:endParaRPr lang="en-US" sz="1354"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 name="Table 2"/>
          <p:cNvGraphicFramePr>
            <a:graphicFrameLocks noGrp="1"/>
          </p:cNvGraphicFramePr>
          <p:nvPr>
            <p:extLst/>
          </p:nvPr>
        </p:nvGraphicFramePr>
        <p:xfrm>
          <a:off x="619125" y="2254275"/>
          <a:ext cx="7020000" cy="1031092"/>
        </p:xfrm>
        <a:graphic>
          <a:graphicData uri="http://schemas.openxmlformats.org/drawingml/2006/table">
            <a:tbl>
              <a:tblPr firstRow="1" bandRow="1">
                <a:tableStyleId>{2D5ABB26-0587-4C30-8999-92F81FD0307C}</a:tableStyleId>
              </a:tblPr>
              <a:tblGrid>
                <a:gridCol w="780000"/>
                <a:gridCol w="780000"/>
                <a:gridCol w="780000"/>
                <a:gridCol w="780000"/>
                <a:gridCol w="780000"/>
                <a:gridCol w="780000"/>
                <a:gridCol w="780000"/>
                <a:gridCol w="780000"/>
                <a:gridCol w="780000"/>
              </a:tblGrid>
              <a:tr h="243750">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Scenario</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Probability</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12m PD</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LT PD</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LGD</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EAD</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12m ECL</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LT ECL</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Stage</a:t>
                      </a:r>
                      <a:endParaRPr lang="en-US" sz="1100" b="1" i="0" u="none" strike="noStrike" dirty="0">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559">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A</a:t>
                      </a:r>
                      <a:endParaRPr lang="en-US"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55%</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4%</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5%</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60%</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1000</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24</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30</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1</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559">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B</a:t>
                      </a:r>
                      <a:endParaRPr lang="en-US"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10%</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13%</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17%</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60%</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1000</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78</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102</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1</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0224">
                <a:tc>
                  <a:txBody>
                    <a:bodyPr/>
                    <a:lstStyle/>
                    <a:p>
                      <a:pPr algn="ctr" fontAlgn="b"/>
                      <a:r>
                        <a:rPr lang="en-US" sz="1100" u="none" strike="noStrike" dirty="0">
                          <a:effectLst/>
                          <a:latin typeface="Verdana" panose="020B0604030504040204" pitchFamily="34" charset="0"/>
                          <a:ea typeface="Verdana" panose="020B0604030504040204" pitchFamily="34" charset="0"/>
                          <a:cs typeface="Verdana" panose="020B0604030504040204" pitchFamily="34" charset="0"/>
                        </a:rPr>
                        <a:t>C</a:t>
                      </a:r>
                      <a:endParaRPr lang="en-US"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1909" marR="11909" marT="1288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35%</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a:effectLst/>
                          <a:latin typeface="Verdana" panose="020B0604030504040204" pitchFamily="34" charset="0"/>
                          <a:ea typeface="Verdana" panose="020B0604030504040204" pitchFamily="34" charset="0"/>
                          <a:cs typeface="Verdana" panose="020B0604030504040204" pitchFamily="34" charset="0"/>
                        </a:rPr>
                        <a:t>17%</a:t>
                      </a:r>
                      <a:endParaRPr lang="en-GB" sz="11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22%</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60%</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800</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82</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106</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GB" sz="1100" u="none" strike="noStrike" dirty="0">
                          <a:effectLst/>
                          <a:latin typeface="Verdana" panose="020B0604030504040204" pitchFamily="34" charset="0"/>
                          <a:ea typeface="Verdana" panose="020B0604030504040204" pitchFamily="34" charset="0"/>
                          <a:cs typeface="Verdana" panose="020B0604030504040204" pitchFamily="34" charset="0"/>
                        </a:rPr>
                        <a:t>2</a:t>
                      </a:r>
                      <a:endParaRPr lang="en-GB" sz="11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12898" marR="12898" marT="1289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TextBox 44"/>
          <p:cNvSpPr txBox="1">
            <a:spLocks noChangeArrowheads="1"/>
          </p:cNvSpPr>
          <p:nvPr/>
        </p:nvSpPr>
        <p:spPr bwMode="auto">
          <a:xfrm>
            <a:off x="619126" y="1984375"/>
            <a:ext cx="6904418" cy="16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50000"/>
              </a:spcBef>
              <a:buClr>
                <a:schemeClr val="tx2"/>
              </a:buClr>
              <a:buFont typeface="Wingdings" pitchFamily="2" charset="2"/>
              <a:defRPr sz="2000">
                <a:solidFill>
                  <a:schemeClr val="tx1"/>
                </a:solidFill>
                <a:latin typeface="Arial" pitchFamily="34" charset="0"/>
                <a:cs typeface="Arial" pitchFamily="34" charset="0"/>
              </a:defRPr>
            </a:lvl1pPr>
            <a:lvl2pPr marL="742950" indent="-285750" eaLnBrk="0" hangingPunct="0">
              <a:spcBef>
                <a:spcPct val="50000"/>
              </a:spcBef>
              <a:buFont typeface="Wingdings" pitchFamily="2" charset="2"/>
              <a:buChar char=""/>
              <a:defRPr sz="2000">
                <a:solidFill>
                  <a:schemeClr val="tx1"/>
                </a:solidFill>
                <a:latin typeface="Arial" pitchFamily="34" charset="0"/>
                <a:cs typeface="Arial" pitchFamily="34" charset="0"/>
              </a:defRPr>
            </a:lvl2pPr>
            <a:lvl3pPr marL="1143000" indent="-228600" eaLnBrk="0" hangingPunct="0">
              <a:spcBef>
                <a:spcPct val="50000"/>
              </a:spcBef>
              <a:buFont typeface="Arial" pitchFamily="34" charset="0"/>
              <a:buChar char="–"/>
              <a:defRPr sz="2000">
                <a:solidFill>
                  <a:schemeClr val="tx1"/>
                </a:solidFill>
                <a:latin typeface="Arial" pitchFamily="34" charset="0"/>
                <a:cs typeface="Arial" pitchFamily="34" charset="0"/>
              </a:defRPr>
            </a:lvl3pPr>
            <a:lvl4pPr marL="1600200" indent="-228600" eaLnBrk="0" hangingPunct="0">
              <a:spcBef>
                <a:spcPct val="50000"/>
              </a:spcBef>
              <a:buFont typeface="Wingdings" pitchFamily="2" charset="2"/>
              <a:buChar char=""/>
              <a:defRPr sz="2000">
                <a:solidFill>
                  <a:schemeClr val="tx1"/>
                </a:solidFill>
                <a:latin typeface="Arial" pitchFamily="34" charset="0"/>
                <a:cs typeface="Arial" pitchFamily="34" charset="0"/>
              </a:defRPr>
            </a:lvl4pPr>
            <a:lvl5pPr marL="2057400" indent="-228600" eaLnBrk="0" hangingPunct="0">
              <a:spcBef>
                <a:spcPct val="50000"/>
              </a:spcBef>
              <a:buFont typeface="Arial" pitchFamily="34" charset="0"/>
              <a:buChar char="–"/>
              <a:defRPr sz="2000">
                <a:solidFill>
                  <a:schemeClr val="tx1"/>
                </a:solidFill>
                <a:latin typeface="Arial" pitchFamily="34" charset="0"/>
                <a:cs typeface="Arial" pitchFamily="34" charset="0"/>
              </a:defRPr>
            </a:lvl5pPr>
            <a:lvl6pPr marL="25146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6pPr>
            <a:lvl7pPr marL="29718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7pPr>
            <a:lvl8pPr marL="34290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8pPr>
            <a:lvl9pPr marL="38862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9pPr>
          </a:lstStyle>
          <a:p>
            <a:pPr eaLnBrk="1" hangingPunct="1">
              <a:spcBef>
                <a:spcPct val="0"/>
              </a:spcBef>
              <a:buClrTx/>
              <a:buFontTx/>
              <a:buNone/>
            </a:pPr>
            <a:r>
              <a:rPr lang="en-US" altLang="en-US" sz="1083" b="1" dirty="0">
                <a:latin typeface="Verdana" panose="020B0604030504040204" pitchFamily="34" charset="0"/>
                <a:ea typeface="Verdana" panose="020B0604030504040204" pitchFamily="34" charset="0"/>
                <a:cs typeface="Verdana" panose="020B0604030504040204" pitchFamily="34" charset="0"/>
              </a:rPr>
              <a:t>PW = Probability Weighted Value</a:t>
            </a:r>
            <a:endParaRPr lang="el-GR" altLang="en-US" sz="1083" b="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 name="Table 4"/>
          <p:cNvGraphicFramePr>
            <a:graphicFrameLocks noGrp="1"/>
          </p:cNvGraphicFramePr>
          <p:nvPr>
            <p:extLst/>
          </p:nvPr>
        </p:nvGraphicFramePr>
        <p:xfrm>
          <a:off x="619125" y="3429000"/>
          <a:ext cx="7119937" cy="582932"/>
        </p:xfrm>
        <a:graphic>
          <a:graphicData uri="http://schemas.openxmlformats.org/drawingml/2006/table">
            <a:tbl>
              <a:tblPr firstRow="1" bandRow="1">
                <a:tableStyleId>{2D5ABB26-0587-4C30-8999-92F81FD0307C}</a:tableStyleId>
              </a:tblPr>
              <a:tblGrid>
                <a:gridCol w="2096766"/>
                <a:gridCol w="1944280"/>
                <a:gridCol w="1298907"/>
                <a:gridCol w="1779984"/>
              </a:tblGrid>
              <a:tr h="288925">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Weighted 12m PD</a:t>
                      </a:r>
                      <a:endParaRPr lang="el-GR" sz="11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Weighted Life</a:t>
                      </a:r>
                      <a:r>
                        <a:rPr lang="en-US" sz="1100" baseline="0" dirty="0" smtClean="0">
                          <a:latin typeface="Verdana" panose="020B0604030504040204" pitchFamily="34" charset="0"/>
                          <a:ea typeface="Verdana" panose="020B0604030504040204" pitchFamily="34" charset="0"/>
                          <a:cs typeface="Verdana" panose="020B0604030504040204" pitchFamily="34" charset="0"/>
                        </a:rPr>
                        <a:t> </a:t>
                      </a:r>
                      <a:r>
                        <a:rPr lang="en-US" sz="1100" dirty="0" smtClean="0">
                          <a:latin typeface="Verdana" panose="020B0604030504040204" pitchFamily="34" charset="0"/>
                          <a:ea typeface="Verdana" panose="020B0604030504040204" pitchFamily="34" charset="0"/>
                          <a:cs typeface="Verdana" panose="020B0604030504040204" pitchFamily="34" charset="0"/>
                        </a:rPr>
                        <a:t>Time PD</a:t>
                      </a:r>
                      <a:endParaRPr lang="el-GR" sz="11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Weighted LGD</a:t>
                      </a:r>
                      <a:endParaRPr lang="el-GR" sz="11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Weighted EAD</a:t>
                      </a:r>
                      <a:endParaRPr lang="el-GR" sz="11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8925">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9 %</a:t>
                      </a:r>
                      <a:endParaRPr lang="el-GR" sz="1100" dirty="0">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12%</a:t>
                      </a:r>
                      <a:endParaRPr lang="el-GR" sz="1100" dirty="0">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60%</a:t>
                      </a:r>
                      <a:endParaRPr lang="el-GR" sz="1100" dirty="0">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smtClean="0">
                          <a:latin typeface="Verdana" panose="020B0604030504040204" pitchFamily="34" charset="0"/>
                          <a:ea typeface="Verdana" panose="020B0604030504040204" pitchFamily="34" charset="0"/>
                          <a:cs typeface="Verdana" panose="020B0604030504040204" pitchFamily="34" charset="0"/>
                        </a:rPr>
                        <a:t>950</a:t>
                      </a:r>
                      <a:endParaRPr lang="el-GR" sz="1100" dirty="0">
                        <a:latin typeface="Verdana" panose="020B0604030504040204" pitchFamily="34" charset="0"/>
                        <a:ea typeface="Verdana" panose="020B0604030504040204" pitchFamily="34" charset="0"/>
                        <a:cs typeface="Verdana" panose="020B0604030504040204" pitchFamily="34" charset="0"/>
                      </a:endParaRPr>
                    </a:p>
                  </a:txBody>
                  <a:tcPr marL="114347" marR="114347" marT="61913" marB="619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extBox 28"/>
          <p:cNvSpPr txBox="1">
            <a:spLocks noChangeArrowheads="1"/>
          </p:cNvSpPr>
          <p:nvPr/>
        </p:nvSpPr>
        <p:spPr bwMode="auto">
          <a:xfrm>
            <a:off x="619125" y="4190975"/>
            <a:ext cx="8667750" cy="16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50000"/>
              </a:spcBef>
              <a:buClr>
                <a:schemeClr val="tx2"/>
              </a:buClr>
              <a:buFont typeface="Wingdings" pitchFamily="2" charset="2"/>
              <a:defRPr sz="2000">
                <a:solidFill>
                  <a:schemeClr val="tx1"/>
                </a:solidFill>
                <a:latin typeface="Arial" pitchFamily="34" charset="0"/>
                <a:cs typeface="Arial" pitchFamily="34" charset="0"/>
              </a:defRPr>
            </a:lvl1pPr>
            <a:lvl2pPr marL="742950" indent="-285750" eaLnBrk="0" hangingPunct="0">
              <a:spcBef>
                <a:spcPct val="50000"/>
              </a:spcBef>
              <a:buFont typeface="Wingdings" pitchFamily="2" charset="2"/>
              <a:buChar char=""/>
              <a:defRPr sz="2000">
                <a:solidFill>
                  <a:schemeClr val="tx1"/>
                </a:solidFill>
                <a:latin typeface="Arial" pitchFamily="34" charset="0"/>
                <a:cs typeface="Arial" pitchFamily="34" charset="0"/>
              </a:defRPr>
            </a:lvl2pPr>
            <a:lvl3pPr marL="1143000" indent="-228600" eaLnBrk="0" hangingPunct="0">
              <a:spcBef>
                <a:spcPct val="50000"/>
              </a:spcBef>
              <a:buFont typeface="Arial" pitchFamily="34" charset="0"/>
              <a:buChar char="–"/>
              <a:defRPr sz="2000">
                <a:solidFill>
                  <a:schemeClr val="tx1"/>
                </a:solidFill>
                <a:latin typeface="Arial" pitchFamily="34" charset="0"/>
                <a:cs typeface="Arial" pitchFamily="34" charset="0"/>
              </a:defRPr>
            </a:lvl3pPr>
            <a:lvl4pPr marL="1600200" indent="-228600" eaLnBrk="0" hangingPunct="0">
              <a:spcBef>
                <a:spcPct val="50000"/>
              </a:spcBef>
              <a:buFont typeface="Wingdings" pitchFamily="2" charset="2"/>
              <a:buChar char=""/>
              <a:defRPr sz="2000">
                <a:solidFill>
                  <a:schemeClr val="tx1"/>
                </a:solidFill>
                <a:latin typeface="Arial" pitchFamily="34" charset="0"/>
                <a:cs typeface="Arial" pitchFamily="34" charset="0"/>
              </a:defRPr>
            </a:lvl4pPr>
            <a:lvl5pPr marL="2057400" indent="-228600" eaLnBrk="0" hangingPunct="0">
              <a:spcBef>
                <a:spcPct val="50000"/>
              </a:spcBef>
              <a:buFont typeface="Arial" pitchFamily="34" charset="0"/>
              <a:buChar char="–"/>
              <a:defRPr sz="2000">
                <a:solidFill>
                  <a:schemeClr val="tx1"/>
                </a:solidFill>
                <a:latin typeface="Arial" pitchFamily="34" charset="0"/>
                <a:cs typeface="Arial" pitchFamily="34" charset="0"/>
              </a:defRPr>
            </a:lvl5pPr>
            <a:lvl6pPr marL="25146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6pPr>
            <a:lvl7pPr marL="29718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7pPr>
            <a:lvl8pPr marL="34290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8pPr>
            <a:lvl9pPr marL="38862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9pPr>
          </a:lstStyle>
          <a:p>
            <a:pPr eaLnBrk="1" hangingPunct="1">
              <a:spcBef>
                <a:spcPct val="0"/>
              </a:spcBef>
              <a:buClrTx/>
              <a:buFontTx/>
              <a:buNone/>
            </a:pPr>
            <a:r>
              <a:rPr lang="en-GB" altLang="en-US" sz="1083" b="1" i="1" dirty="0"/>
              <a:t>Note: Loss Calc examples presented are over-simplified and do not take into account collateral</a:t>
            </a:r>
            <a:endParaRPr lang="el-GR" altLang="en-US" sz="1083" b="1" i="1" dirty="0"/>
          </a:p>
        </p:txBody>
      </p:sp>
      <p:sp>
        <p:nvSpPr>
          <p:cNvPr id="8" name="Title 1"/>
          <p:cNvSpPr>
            <a:spLocks noGrp="1"/>
          </p:cNvSpPr>
          <p:nvPr>
            <p:ph type="title"/>
          </p:nvPr>
        </p:nvSpPr>
        <p:spPr>
          <a:xfrm>
            <a:off x="287338" y="258763"/>
            <a:ext cx="9331325" cy="922337"/>
          </a:xfrm>
        </p:spPr>
        <p:txBody>
          <a:bodyPr/>
          <a:lstStyle/>
          <a:p>
            <a:r>
              <a:rPr lang="en-US" sz="2400" b="1" dirty="0" smtClean="0">
                <a:solidFill>
                  <a:schemeClr val="tx1"/>
                </a:solidFill>
              </a:rPr>
              <a:t>Analysis – Probability Weighting</a:t>
            </a:r>
            <a:endParaRPr lang="en-IN" b="1" dirty="0"/>
          </a:p>
        </p:txBody>
      </p:sp>
    </p:spTree>
    <p:extLst>
      <p:ext uri="{BB962C8B-B14F-4D97-AF65-F5344CB8AC3E}">
        <p14:creationId xmlns:p14="http://schemas.microsoft.com/office/powerpoint/2010/main" val="66545897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1960563" y="1262063"/>
          <a:ext cx="7429499" cy="3655318"/>
        </p:xfrm>
        <a:graphic>
          <a:graphicData uri="http://schemas.openxmlformats.org/drawingml/2006/table">
            <a:tbl>
              <a:tblPr firstRow="1" bandRow="1">
                <a:tableStyleId>{2D5ABB26-0587-4C30-8999-92F81FD0307C}</a:tableStyleId>
              </a:tblPr>
              <a:tblGrid>
                <a:gridCol w="1292086"/>
                <a:gridCol w="3230217"/>
                <a:gridCol w="323022"/>
                <a:gridCol w="2584174"/>
              </a:tblGrid>
              <a:tr h="842010">
                <a:tc rowSpan="2">
                  <a:txBody>
                    <a:bodyPr/>
                    <a:lstStyle/>
                    <a:p>
                      <a:pPr marL="60325" lvl="1" indent="0" algn="ctr" eaLnBrk="1" hangingPunct="1">
                        <a:spcBef>
                          <a:spcPct val="35000"/>
                        </a:spcBef>
                        <a:buFontTx/>
                        <a:buNone/>
                      </a:pPr>
                      <a:r>
                        <a:rPr lang="en-GB" altLang="zh-CN" sz="1100" b="1" dirty="0" smtClean="0">
                          <a:latin typeface="Verdana" panose="020B0604030504040204" pitchFamily="34" charset="0"/>
                          <a:ea typeface="Verdana" panose="020B0604030504040204" pitchFamily="34" charset="0"/>
                          <a:cs typeface="Verdana" panose="020B0604030504040204" pitchFamily="34" charset="0"/>
                        </a:rPr>
                        <a:t>Credit Factors</a:t>
                      </a:r>
                      <a:endParaRPr lang="en-GB" altLang="zh-CN" sz="1100" b="1" dirty="0">
                        <a:latin typeface="Verdana" panose="020B0604030504040204" pitchFamily="34" charset="0"/>
                        <a:ea typeface="Verdana" panose="020B0604030504040204" pitchFamily="34" charset="0"/>
                        <a:cs typeface="Verdana" panose="020B0604030504040204" pitchFamily="34" charset="0"/>
                      </a:endParaRP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gridSpan="3">
                  <a:txBody>
                    <a:bodyPr/>
                    <a:lstStyle/>
                    <a:p>
                      <a:pPr marL="182563" lvl="1" indent="-122238" eaLnBrk="1" hangingPunct="1">
                        <a:spcBef>
                          <a:spcPct val="35000"/>
                        </a:spcBef>
                        <a:buFontTx/>
                        <a:buChar char="•"/>
                      </a:pPr>
                      <a:r>
                        <a:rPr lang="en-GB" altLang="zh-CN" sz="1100" dirty="0" smtClean="0">
                          <a:latin typeface="Verdana" panose="020B0604030504040204" pitchFamily="34" charset="0"/>
                          <a:ea typeface="Verdana" panose="020B0604030504040204" pitchFamily="34" charset="0"/>
                          <a:cs typeface="Verdana" panose="020B0604030504040204" pitchFamily="34" charset="0"/>
                        </a:rPr>
                        <a:t>Loss is calculated based on the </a:t>
                      </a:r>
                      <a:r>
                        <a:rPr lang="en-GB" altLang="zh-CN" sz="1100" b="1" dirty="0" smtClean="0">
                          <a:latin typeface="Verdana" panose="020B0604030504040204" pitchFamily="34" charset="0"/>
                          <a:ea typeface="Verdana" panose="020B0604030504040204" pitchFamily="34" charset="0"/>
                          <a:cs typeface="Verdana" panose="020B0604030504040204" pitchFamily="34" charset="0"/>
                        </a:rPr>
                        <a:t>probability-weighted credit risk factors (PD, LGD, EAD)</a:t>
                      </a:r>
                      <a:endParaRPr lang="en-GB" altLang="zh-CN" sz="1100" dirty="0" smtClean="0">
                        <a:latin typeface="Verdana" panose="020B0604030504040204" pitchFamily="34" charset="0"/>
                        <a:ea typeface="Verdana" panose="020B0604030504040204" pitchFamily="34" charset="0"/>
                        <a:cs typeface="Verdana" panose="020B0604030504040204" pitchFamily="34" charset="0"/>
                      </a:endParaRPr>
                    </a:p>
                    <a:p>
                      <a:pPr marL="182563" lvl="1" indent="-122238" eaLnBrk="1" hangingPunct="1">
                        <a:spcBef>
                          <a:spcPct val="35000"/>
                        </a:spcBef>
                        <a:buFontTx/>
                        <a:buChar char="•"/>
                      </a:pPr>
                      <a:r>
                        <a:rPr lang="en-GB" altLang="zh-CN" sz="1100" dirty="0" smtClean="0">
                          <a:latin typeface="Verdana" panose="020B0604030504040204" pitchFamily="34" charset="0"/>
                          <a:ea typeface="Verdana" panose="020B0604030504040204" pitchFamily="34" charset="0"/>
                          <a:cs typeface="Verdana" panose="020B0604030504040204" pitchFamily="34" charset="0"/>
                        </a:rPr>
                        <a:t>Depending on the Stage  Weighted 12m PD or Weighted LT PD are be used for the calculation of Loss</a:t>
                      </a:r>
                      <a:endParaRPr lang="en-GB" altLang="zh-CN" sz="1100" dirty="0">
                        <a:latin typeface="Verdana" panose="020B0604030504040204" pitchFamily="34" charset="0"/>
                        <a:ea typeface="Verdana" panose="020B0604030504040204" pitchFamily="34" charset="0"/>
                        <a:cs typeface="Verdana" panose="020B0604030504040204" pitchFamily="34" charset="0"/>
                      </a:endParaRP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tc>
              </a:tr>
              <a:tr h="1015365">
                <a:tc vMerge="1">
                  <a:txBody>
                    <a:bodyPr/>
                    <a:lstStyle/>
                    <a:p>
                      <a:pPr marL="171450" lvl="1" indent="-171450" defTabSz="622300">
                        <a:lnSpc>
                          <a:spcPct val="90000"/>
                        </a:lnSpc>
                        <a:buFont typeface="Arial" panose="020B0604020202020204" pitchFamily="34" charset="0"/>
                        <a:buChar char="•"/>
                        <a:defRPr/>
                      </a:pPr>
                      <a:endParaRPr lang="en-GB" sz="80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defTabSz="622300">
                        <a:lnSpc>
                          <a:spcPct val="90000"/>
                        </a:lnSpc>
                        <a:defRPr/>
                      </a:pPr>
                      <a:r>
                        <a:rPr lang="en-GB"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Pros</a:t>
                      </a:r>
                    </a:p>
                    <a:p>
                      <a:pPr marL="341313" lvl="1" indent="-168275" defTabSz="622300">
                        <a:lnSpc>
                          <a:spcPct val="90000"/>
                        </a:lnSpc>
                        <a:buFont typeface="Wingdings" panose="05000000000000000000" pitchFamily="2" charset="2"/>
                        <a:buChar char="§"/>
                        <a:defRPr/>
                      </a:pPr>
                      <a:r>
                        <a:rPr lang="en-GB" sz="11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Fully factors in multiple economic scenarios in every stage of the ECL calculation</a:t>
                      </a:r>
                    </a:p>
                    <a:p>
                      <a:pPr marL="171450" lvl="1" indent="-171450" defTabSz="622300">
                        <a:lnSpc>
                          <a:spcPct val="90000"/>
                        </a:lnSpc>
                        <a:buFont typeface="Arial" panose="020B0604020202020204" pitchFamily="34" charset="0"/>
                        <a:buChar char="•"/>
                        <a:defRPr/>
                      </a:pPr>
                      <a:endParaRPr lang="en-GB" sz="110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lvl="1" defTabSz="622300">
                        <a:lnSpc>
                          <a:spcPct val="90000"/>
                        </a:lnSpc>
                        <a:defRPr/>
                      </a:pPr>
                      <a:r>
                        <a:rPr lang="en-GB"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Cons</a:t>
                      </a:r>
                    </a:p>
                    <a:p>
                      <a:pPr marL="341313" lvl="1" indent="-168275" algn="l" defTabSz="622300" rtl="0" eaLnBrk="1" latinLnBrk="0" hangingPunct="1">
                        <a:lnSpc>
                          <a:spcPct val="90000"/>
                        </a:lnSpc>
                        <a:buFont typeface="Wingdings" panose="05000000000000000000" pitchFamily="2" charset="2"/>
                        <a:buChar char="§"/>
                        <a:defRPr/>
                      </a:pPr>
                      <a:r>
                        <a:rPr lang="en-GB" sz="11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It does not correctly capture the correlation between PD, LGD, EAD </a:t>
                      </a:r>
                    </a:p>
                    <a:p>
                      <a:pPr marL="341313" lvl="1" indent="-168275" algn="l" defTabSz="622300" rtl="0" eaLnBrk="1" latinLnBrk="0" hangingPunct="1">
                        <a:lnSpc>
                          <a:spcPct val="90000"/>
                        </a:lnSpc>
                        <a:buFont typeface="Wingdings" panose="05000000000000000000" pitchFamily="2" charset="2"/>
                        <a:buChar char="§"/>
                        <a:defRPr/>
                      </a:pPr>
                      <a:r>
                        <a:rPr lang="en-GB" sz="11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Not in line with emerging market practice</a:t>
                      </a: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lvl="1" defTabSz="622300">
                        <a:lnSpc>
                          <a:spcPct val="90000"/>
                        </a:lnSpc>
                        <a:defRPr/>
                      </a:pPr>
                      <a:endParaRPr lang="en-GB" sz="8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34695">
                <a:tc rowSpan="2">
                  <a:txBody>
                    <a:bodyPr/>
                    <a:lstStyle/>
                    <a:p>
                      <a:pPr marL="60325" lvl="1" indent="0" algn="ctr" defTabSz="365745" rtl="0" eaLnBrk="1" latinLnBrk="0" hangingPunct="1">
                        <a:spcBef>
                          <a:spcPct val="35000"/>
                        </a:spcBef>
                        <a:buFontTx/>
                        <a:buNone/>
                      </a:pPr>
                      <a:r>
                        <a:rPr lang="en-US" altLang="en-US" sz="1100" b="1"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Probability Weighted ECL</a:t>
                      </a:r>
                      <a:endParaRPr lang="pl-PL" altLang="en-US" sz="1100" b="1"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gridSpan="3">
                  <a:txBody>
                    <a:bodyPr/>
                    <a:lstStyle/>
                    <a:p>
                      <a:pPr marL="182563" lvl="1" indent="-122238" algn="l" defTabSz="365745" rtl="0" eaLnBrk="1" latinLnBrk="0" hangingPunct="1">
                        <a:spcBef>
                          <a:spcPct val="35000"/>
                        </a:spcBef>
                        <a:buFontTx/>
                        <a:buChar char="•"/>
                      </a:pPr>
                      <a:r>
                        <a:rPr lang="en-GB" altLang="zh-CN" sz="11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12 month or Life Time ECL is calculated separately for each scenario considered</a:t>
                      </a:r>
                    </a:p>
                    <a:p>
                      <a:pPr marL="182563" lvl="1" indent="-122238" algn="l" defTabSz="365745" rtl="0" eaLnBrk="1" latinLnBrk="0" hangingPunct="1">
                        <a:spcBef>
                          <a:spcPct val="35000"/>
                        </a:spcBef>
                        <a:buFontTx/>
                        <a:buChar char="•"/>
                      </a:pPr>
                      <a:r>
                        <a:rPr lang="en-GB" altLang="zh-CN" sz="11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Loss is calculated by probability-weighting the individual ECL of every scenario</a:t>
                      </a:r>
                    </a:p>
                    <a:p>
                      <a:pPr marL="171450" lvl="1" indent="0" eaLnBrk="1" hangingPunct="1">
                        <a:spcBef>
                          <a:spcPct val="35000"/>
                        </a:spcBef>
                        <a:buNone/>
                      </a:pPr>
                      <a:r>
                        <a:rPr lang="en-US" altLang="en-US" sz="1100" i="1" dirty="0" smtClean="0">
                          <a:latin typeface="Verdana" panose="020B0604030504040204" pitchFamily="34" charset="0"/>
                          <a:ea typeface="Verdana" panose="020B0604030504040204" pitchFamily="34" charset="0"/>
                          <a:cs typeface="Verdana" panose="020B0604030504040204" pitchFamily="34" charset="0"/>
                        </a:rPr>
                        <a:t>E.g.</a:t>
                      </a:r>
                      <a:r>
                        <a:rPr lang="en-US" altLang="en-US" sz="1100" b="1" i="1" dirty="0" smtClean="0">
                          <a:latin typeface="Verdana" panose="020B0604030504040204" pitchFamily="34" charset="0"/>
                          <a:ea typeface="Verdana" panose="020B0604030504040204" pitchFamily="34" charset="0"/>
                          <a:cs typeface="Verdana" panose="020B0604030504040204" pitchFamily="34" charset="0"/>
                        </a:rPr>
                        <a:t> weighted</a:t>
                      </a:r>
                      <a:r>
                        <a:rPr lang="pl-PL" altLang="en-US" sz="1100" b="1" i="1" dirty="0" smtClean="0">
                          <a:latin typeface="Verdana" panose="020B0604030504040204" pitchFamily="34" charset="0"/>
                          <a:ea typeface="Verdana" panose="020B0604030504040204" pitchFamily="34" charset="0"/>
                          <a:cs typeface="Verdana" panose="020B0604030504040204" pitchFamily="34" charset="0"/>
                        </a:rPr>
                        <a:t> 12m ECL = </a:t>
                      </a:r>
                      <a:r>
                        <a:rPr lang="en-GB" altLang="en-US" sz="1100" b="1" i="1" dirty="0" smtClean="0">
                          <a:latin typeface="Verdana" panose="020B0604030504040204" pitchFamily="34" charset="0"/>
                          <a:ea typeface="Verdana" panose="020B0604030504040204" pitchFamily="34" charset="0"/>
                          <a:cs typeface="Verdana" panose="020B0604030504040204" pitchFamily="34" charset="0"/>
                        </a:rPr>
                        <a:t>55</a:t>
                      </a:r>
                      <a:r>
                        <a:rPr lang="pl-PL" altLang="en-US" sz="1100" b="1" i="1" dirty="0" smtClean="0">
                          <a:latin typeface="Verdana" panose="020B0604030504040204" pitchFamily="34" charset="0"/>
                          <a:ea typeface="Verdana" panose="020B0604030504040204" pitchFamily="34" charset="0"/>
                          <a:cs typeface="Verdana" panose="020B0604030504040204" pitchFamily="34" charset="0"/>
                        </a:rPr>
                        <a:t>% x 24 + </a:t>
                      </a:r>
                      <a:r>
                        <a:rPr lang="en-GB" altLang="en-US" sz="1100" b="1" i="1" dirty="0" smtClean="0">
                          <a:latin typeface="Verdana" panose="020B0604030504040204" pitchFamily="34" charset="0"/>
                          <a:ea typeface="Verdana" panose="020B0604030504040204" pitchFamily="34" charset="0"/>
                          <a:cs typeface="Verdana" panose="020B0604030504040204" pitchFamily="34" charset="0"/>
                        </a:rPr>
                        <a:t>10</a:t>
                      </a:r>
                      <a:r>
                        <a:rPr lang="pl-PL" altLang="en-US" sz="1100" b="1" i="1" dirty="0" smtClean="0">
                          <a:latin typeface="Verdana" panose="020B0604030504040204" pitchFamily="34" charset="0"/>
                          <a:ea typeface="Verdana" panose="020B0604030504040204" pitchFamily="34" charset="0"/>
                          <a:cs typeface="Verdana" panose="020B0604030504040204" pitchFamily="34" charset="0"/>
                        </a:rPr>
                        <a:t>% x 78 +</a:t>
                      </a:r>
                      <a:r>
                        <a:rPr lang="en-GB" altLang="en-US" sz="1100" b="1" i="1" dirty="0" smtClean="0">
                          <a:latin typeface="Verdana" panose="020B0604030504040204" pitchFamily="34" charset="0"/>
                          <a:ea typeface="Verdana" panose="020B0604030504040204" pitchFamily="34" charset="0"/>
                          <a:cs typeface="Verdana" panose="020B0604030504040204" pitchFamily="34" charset="0"/>
                        </a:rPr>
                        <a:t>35</a:t>
                      </a:r>
                      <a:r>
                        <a:rPr lang="pl-PL" altLang="en-US" sz="1100" b="1" i="1" dirty="0" smtClean="0">
                          <a:latin typeface="Verdana" panose="020B0604030504040204" pitchFamily="34" charset="0"/>
                          <a:ea typeface="Verdana" panose="020B0604030504040204" pitchFamily="34" charset="0"/>
                          <a:cs typeface="Verdana" panose="020B0604030504040204" pitchFamily="34" charset="0"/>
                        </a:rPr>
                        <a:t>% x 82 = </a:t>
                      </a:r>
                      <a:r>
                        <a:rPr lang="en-GB" altLang="en-US" sz="1100" b="1" i="1" dirty="0" smtClean="0">
                          <a:latin typeface="Verdana" panose="020B0604030504040204" pitchFamily="34" charset="0"/>
                          <a:ea typeface="Verdana" panose="020B0604030504040204" pitchFamily="34" charset="0"/>
                          <a:cs typeface="Verdana" panose="020B0604030504040204" pitchFamily="34" charset="0"/>
                        </a:rPr>
                        <a:t>50</a:t>
                      </a:r>
                      <a:endParaRPr lang="pl-PL" altLang="en-US" sz="1100" b="1" i="1" dirty="0">
                        <a:latin typeface="Verdana" panose="020B0604030504040204" pitchFamily="34" charset="0"/>
                        <a:ea typeface="Verdana" panose="020B0604030504040204" pitchFamily="34" charset="0"/>
                        <a:cs typeface="Verdana" panose="020B0604030504040204" pitchFamily="34" charset="0"/>
                      </a:endParaRP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tc>
              </a:tr>
              <a:tr h="1015365">
                <a:tc vMerge="1">
                  <a:txBody>
                    <a:bodyPr/>
                    <a:lstStyle/>
                    <a:p>
                      <a:pPr marL="344488" lvl="1" indent="-171450" algn="l" defTabSz="622300" rtl="0" eaLnBrk="1" latinLnBrk="0" hangingPunct="1">
                        <a:lnSpc>
                          <a:spcPct val="90000"/>
                        </a:lnSpc>
                        <a:buFont typeface="Wingdings" panose="05000000000000000000" pitchFamily="2" charset="2"/>
                        <a:buChar char="§"/>
                        <a:defRPr/>
                      </a:pPr>
                      <a:endParaRPr lang="en-GB" sz="800" b="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lvl="1" indent="0" algn="l" defTabSz="622300" rtl="0" eaLnBrk="1" latinLnBrk="0" hangingPunct="1">
                        <a:lnSpc>
                          <a:spcPct val="90000"/>
                        </a:lnSpc>
                        <a:buFontTx/>
                        <a:buNone/>
                        <a:defRPr/>
                      </a:pPr>
                      <a:r>
                        <a:rPr lang="en-GB" sz="1100" b="1"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Pros</a:t>
                      </a:r>
                    </a:p>
                    <a:p>
                      <a:pPr marL="344488" lvl="1" indent="-171450" algn="l" defTabSz="622300" rtl="0" eaLnBrk="1" latinLnBrk="0" hangingPunct="1">
                        <a:lnSpc>
                          <a:spcPct val="90000"/>
                        </a:lnSpc>
                        <a:buFont typeface="Wingdings" panose="05000000000000000000" pitchFamily="2" charset="2"/>
                        <a:buChar char="§"/>
                        <a:defRPr/>
                      </a:pPr>
                      <a:r>
                        <a:rPr lang="en-GB" sz="1100" b="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Resolves the issue with the weighted average ECL calculation under Option 1</a:t>
                      </a:r>
                    </a:p>
                    <a:p>
                      <a:pPr marL="344488" lvl="1" indent="-171450" algn="l" defTabSz="622300" rtl="0" eaLnBrk="1" latinLnBrk="0" hangingPunct="1">
                        <a:lnSpc>
                          <a:spcPct val="90000"/>
                        </a:lnSpc>
                        <a:buFont typeface="Wingdings" panose="05000000000000000000" pitchFamily="2" charset="2"/>
                        <a:buChar char="§"/>
                        <a:defRPr/>
                      </a:pPr>
                      <a:r>
                        <a:rPr lang="en-GB" sz="1100" b="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Adheres to the December 2015 ITG guidance</a:t>
                      </a:r>
                    </a:p>
                    <a:p>
                      <a:pPr marL="344488" lvl="1" indent="-171450" algn="l" defTabSz="622300" rtl="0" eaLnBrk="1" latinLnBrk="0" hangingPunct="1">
                        <a:lnSpc>
                          <a:spcPct val="90000"/>
                        </a:lnSpc>
                        <a:buFont typeface="Wingdings" panose="05000000000000000000" pitchFamily="2" charset="2"/>
                        <a:buChar char="§"/>
                        <a:defRPr/>
                      </a:pPr>
                      <a:r>
                        <a:rPr lang="en-GB" sz="1100" b="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In line with emerging market approach</a:t>
                      </a: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lvl="1" defTabSz="622300">
                        <a:lnSpc>
                          <a:spcPct val="90000"/>
                        </a:lnSpc>
                        <a:defRPr/>
                      </a:pPr>
                      <a:r>
                        <a:rPr lang="en-GB" sz="1100" b="1"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Cons</a:t>
                      </a:r>
                    </a:p>
                    <a:p>
                      <a:pPr marL="344488" lvl="1" indent="-171450" algn="l" defTabSz="622300" rtl="0" eaLnBrk="1" latinLnBrk="0" hangingPunct="1">
                        <a:lnSpc>
                          <a:spcPct val="90000"/>
                        </a:lnSpc>
                        <a:buFont typeface="Wingdings" panose="05000000000000000000" pitchFamily="2" charset="2"/>
                        <a:buChar char="§"/>
                        <a:defRPr/>
                      </a:pPr>
                      <a:r>
                        <a:rPr lang="en-GB" sz="1100" b="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Time / effort complexity even if small / insignificant</a:t>
                      </a:r>
                    </a:p>
                  </a:txBody>
                  <a:tcPr marL="123825" marR="123825" marT="61913" marB="61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Pentagon 4"/>
          <p:cNvSpPr>
            <a:spLocks noChangeArrowheads="1"/>
          </p:cNvSpPr>
          <p:nvPr/>
        </p:nvSpPr>
        <p:spPr bwMode="auto">
          <a:xfrm>
            <a:off x="412750" y="1262062"/>
            <a:ext cx="1444625" cy="3611563"/>
          </a:xfrm>
          <a:prstGeom prst="homePlate">
            <a:avLst>
              <a:gd name="adj" fmla="val 17815"/>
            </a:avLst>
          </a:prstGeom>
          <a:solidFill>
            <a:schemeClr val="bg1"/>
          </a:solidFill>
          <a:ln w="19050" algn="ctr">
            <a:solidFill>
              <a:schemeClr val="accent1"/>
            </a:solidFill>
            <a:round/>
            <a:headEnd/>
            <a:tailEnd/>
          </a:ln>
          <a:extLst/>
        </p:spPr>
        <p:txBody>
          <a:bodyPr lIns="0" tIns="0" rIns="0" bIns="0" anchor="ctr"/>
          <a:lstStyle>
            <a:lvl1pPr marL="171450" eaLnBrk="0" hangingPunct="0">
              <a:spcBef>
                <a:spcPct val="50000"/>
              </a:spcBef>
              <a:buClr>
                <a:schemeClr val="tx2"/>
              </a:buClr>
              <a:buFont typeface="Wingdings" pitchFamily="2" charset="2"/>
              <a:defRPr sz="2000">
                <a:solidFill>
                  <a:schemeClr val="tx1"/>
                </a:solidFill>
                <a:latin typeface="Arial" pitchFamily="34" charset="0"/>
                <a:cs typeface="Arial" pitchFamily="34" charset="0"/>
              </a:defRPr>
            </a:lvl1pPr>
            <a:lvl2pPr marL="742950" indent="-285750" eaLnBrk="0" hangingPunct="0">
              <a:spcBef>
                <a:spcPct val="50000"/>
              </a:spcBef>
              <a:buFont typeface="Wingdings" pitchFamily="2" charset="2"/>
              <a:buChar char=""/>
              <a:defRPr sz="2000">
                <a:solidFill>
                  <a:schemeClr val="tx1"/>
                </a:solidFill>
                <a:latin typeface="Arial" pitchFamily="34" charset="0"/>
                <a:cs typeface="Arial" pitchFamily="34" charset="0"/>
              </a:defRPr>
            </a:lvl2pPr>
            <a:lvl3pPr marL="1143000" indent="-228600" eaLnBrk="0" hangingPunct="0">
              <a:spcBef>
                <a:spcPct val="50000"/>
              </a:spcBef>
              <a:buFont typeface="Arial" pitchFamily="34" charset="0"/>
              <a:buChar char="–"/>
              <a:defRPr sz="2000">
                <a:solidFill>
                  <a:schemeClr val="tx1"/>
                </a:solidFill>
                <a:latin typeface="Arial" pitchFamily="34" charset="0"/>
                <a:cs typeface="Arial" pitchFamily="34" charset="0"/>
              </a:defRPr>
            </a:lvl3pPr>
            <a:lvl4pPr marL="1600200" indent="-228600" eaLnBrk="0" hangingPunct="0">
              <a:spcBef>
                <a:spcPct val="50000"/>
              </a:spcBef>
              <a:buFont typeface="Wingdings" pitchFamily="2" charset="2"/>
              <a:buChar char=""/>
              <a:defRPr sz="2000">
                <a:solidFill>
                  <a:schemeClr val="tx1"/>
                </a:solidFill>
                <a:latin typeface="Arial" pitchFamily="34" charset="0"/>
                <a:cs typeface="Arial" pitchFamily="34" charset="0"/>
              </a:defRPr>
            </a:lvl4pPr>
            <a:lvl5pPr marL="2057400" indent="-228600" eaLnBrk="0" hangingPunct="0">
              <a:spcBef>
                <a:spcPct val="50000"/>
              </a:spcBef>
              <a:buFont typeface="Arial" pitchFamily="34" charset="0"/>
              <a:buChar char="–"/>
              <a:defRPr sz="2000">
                <a:solidFill>
                  <a:schemeClr val="tx1"/>
                </a:solidFill>
                <a:latin typeface="Arial" pitchFamily="34" charset="0"/>
                <a:cs typeface="Arial" pitchFamily="34" charset="0"/>
              </a:defRPr>
            </a:lvl5pPr>
            <a:lvl6pPr marL="25146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6pPr>
            <a:lvl7pPr marL="29718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7pPr>
            <a:lvl8pPr marL="34290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8pPr>
            <a:lvl9pPr marL="3886200" indent="-228600" eaLnBrk="0" fontAlgn="base" hangingPunct="0">
              <a:spcBef>
                <a:spcPct val="50000"/>
              </a:spcBef>
              <a:spcAft>
                <a:spcPct val="0"/>
              </a:spcAft>
              <a:buFont typeface="Arial" pitchFamily="34" charset="0"/>
              <a:buChar char="–"/>
              <a:defRPr sz="2000">
                <a:solidFill>
                  <a:schemeClr val="tx1"/>
                </a:solidFill>
                <a:latin typeface="Arial" pitchFamily="34" charset="0"/>
                <a:cs typeface="Arial" pitchFamily="34" charset="0"/>
              </a:defRPr>
            </a:lvl9pPr>
          </a:lstStyle>
          <a:p>
            <a:pPr eaLnBrk="1" hangingPunct="1">
              <a:spcBef>
                <a:spcPts val="1163"/>
              </a:spcBef>
              <a:buClrTx/>
            </a:pPr>
            <a:r>
              <a:rPr lang="en-US" altLang="en-US" sz="1083" b="1" dirty="0">
                <a:latin typeface="Verdana" panose="020B0604030504040204" pitchFamily="34" charset="0"/>
                <a:ea typeface="Verdana" panose="020B0604030504040204" pitchFamily="34" charset="0"/>
                <a:cs typeface="Verdana" panose="020B0604030504040204" pitchFamily="34" charset="0"/>
              </a:rPr>
              <a:t>Probability Weighted on ECL Measurement</a:t>
            </a:r>
          </a:p>
        </p:txBody>
      </p:sp>
      <p:sp>
        <p:nvSpPr>
          <p:cNvPr id="8" name="Title 1"/>
          <p:cNvSpPr txBox="1">
            <a:spLocks/>
          </p:cNvSpPr>
          <p:nvPr/>
        </p:nvSpPr>
        <p:spPr bwMode="auto">
          <a:xfrm>
            <a:off x="287338" y="258763"/>
            <a:ext cx="93313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2200" kern="1200">
                <a:solidFill>
                  <a:schemeClr val="bg1"/>
                </a:solidFill>
                <a:latin typeface="Times New Roman" pitchFamily="18" charset="0"/>
                <a:ea typeface="+mj-ea"/>
                <a:cs typeface="Times New Roman" pitchFamily="18" charset="0"/>
              </a:defRPr>
            </a:lvl1pPr>
            <a:lvl2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2pPr>
            <a:lvl3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3pPr>
            <a:lvl4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4pPr>
            <a:lvl5pPr algn="l" rtl="0" eaLnBrk="0" fontAlgn="base" hangingPunct="0">
              <a:lnSpc>
                <a:spcPct val="90000"/>
              </a:lnSpc>
              <a:spcBef>
                <a:spcPct val="0"/>
              </a:spcBef>
              <a:spcAft>
                <a:spcPct val="0"/>
              </a:spcAft>
              <a:defRPr sz="2200">
                <a:solidFill>
                  <a:schemeClr val="tx2"/>
                </a:solidFill>
                <a:latin typeface="Times New Roman" pitchFamily="18" charset="0"/>
                <a:cs typeface="Times New Roman" pitchFamily="18" charset="0"/>
              </a:defRPr>
            </a:lvl5pPr>
            <a:lvl6pPr marL="457200" algn="l" rtl="0" fontAlgn="base">
              <a:spcBef>
                <a:spcPct val="0"/>
              </a:spcBef>
              <a:spcAft>
                <a:spcPct val="0"/>
              </a:spcAft>
              <a:defRPr sz="2400">
                <a:solidFill>
                  <a:srgbClr val="116FC4"/>
                </a:solidFill>
                <a:latin typeface="Times New Roman" pitchFamily="18" charset="0"/>
                <a:cs typeface="Times New Roman" pitchFamily="18" charset="0"/>
              </a:defRPr>
            </a:lvl6pPr>
            <a:lvl7pPr marL="914400" algn="l" rtl="0" fontAlgn="base">
              <a:spcBef>
                <a:spcPct val="0"/>
              </a:spcBef>
              <a:spcAft>
                <a:spcPct val="0"/>
              </a:spcAft>
              <a:defRPr sz="2400">
                <a:solidFill>
                  <a:srgbClr val="116FC4"/>
                </a:solidFill>
                <a:latin typeface="Times New Roman" pitchFamily="18" charset="0"/>
                <a:cs typeface="Times New Roman" pitchFamily="18" charset="0"/>
              </a:defRPr>
            </a:lvl7pPr>
            <a:lvl8pPr marL="1371600" algn="l" rtl="0" fontAlgn="base">
              <a:spcBef>
                <a:spcPct val="0"/>
              </a:spcBef>
              <a:spcAft>
                <a:spcPct val="0"/>
              </a:spcAft>
              <a:defRPr sz="2400">
                <a:solidFill>
                  <a:srgbClr val="116FC4"/>
                </a:solidFill>
                <a:latin typeface="Times New Roman" pitchFamily="18" charset="0"/>
                <a:cs typeface="Times New Roman" pitchFamily="18" charset="0"/>
              </a:defRPr>
            </a:lvl8pPr>
            <a:lvl9pPr marL="1828800" algn="l" rtl="0" fontAlgn="base">
              <a:spcBef>
                <a:spcPct val="0"/>
              </a:spcBef>
              <a:spcAft>
                <a:spcPct val="0"/>
              </a:spcAft>
              <a:defRPr sz="2400">
                <a:solidFill>
                  <a:srgbClr val="116FC4"/>
                </a:solidFill>
                <a:latin typeface="Times New Roman" pitchFamily="18" charset="0"/>
                <a:cs typeface="Times New Roman" pitchFamily="18" charset="0"/>
              </a:defRPr>
            </a:lvl9pPr>
          </a:lstStyle>
          <a:p>
            <a:r>
              <a:rPr lang="en-US" sz="2400" b="1" smtClean="0">
                <a:solidFill>
                  <a:schemeClr val="tx1"/>
                </a:solidFill>
              </a:rPr>
              <a:t>Analysis – Probability Weighting</a:t>
            </a:r>
            <a:endParaRPr lang="en-IN" b="1" dirty="0"/>
          </a:p>
        </p:txBody>
      </p:sp>
    </p:spTree>
    <p:extLst>
      <p:ext uri="{BB962C8B-B14F-4D97-AF65-F5344CB8AC3E}">
        <p14:creationId xmlns:p14="http://schemas.microsoft.com/office/powerpoint/2010/main" val="278818599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p:cNvSpPr>
          <p:nvPr>
            <p:ph type="title"/>
          </p:nvPr>
        </p:nvSpPr>
        <p:spPr/>
        <p:txBody>
          <a:bodyPr/>
          <a:lstStyle/>
          <a:p>
            <a:r>
              <a:rPr lang="en-US" altLang="en-US" dirty="0" smtClean="0"/>
              <a:t>End of Report</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17839&quot;&gt;&lt;version val=&quot;21182&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mruColor&gt;&lt;m_vecMRU length=&quot;7&quot;&gt;&lt;elem m_fUsage=&quot;3.48919807263062110000E+000&quot;&gt;&lt;m_ppcolschidx val=&quot;0&quot;/&gt;&lt;m_rgb r=&quot;87&quot; g=&quot;0&quot; b=&quot;52&quot;/&gt;&lt;/elem&gt;&lt;elem m_fUsage=&quot;2.74916192473307990000E+000&quot;&gt;&lt;m_ppcolschidx val=&quot;0&quot;/&gt;&lt;m_rgb r=&quot;ba&quot; g=&quot;b2&quot; b=&quot;c2&quot;/&gt;&lt;/elem&gt;&lt;elem m_fUsage=&quot;2.36126219654629390000E+000&quot;&gt;&lt;m_ppcolschidx val=&quot;0&quot;/&gt;&lt;m_rgb r=&quot;0&quot; g=&quot;f&quot; b=&quot;33&quot;/&gt;&lt;/elem&gt;&lt;elem m_fUsage=&quot;6.56100000000000130000E-001&quot;&gt;&lt;m_ppcolschidx val=&quot;0&quot;/&gt;&lt;m_rgb r=&quot;20&quot; g=&quot;20&quot; b=&quot;60&quot;/&gt;&lt;/elem&gt;&lt;elem m_fUsage=&quot;4.30467210000000160000E-001&quot;&gt;&lt;m_ppcolschidx val=&quot;0&quot;/&gt;&lt;m_rgb r=&quot;11&quot; g=&quot;6f&quot; b=&quot;c4&quot;/&gt;&lt;/elem&gt;&lt;elem m_fUsage=&quot;3.13810596090000170000E-001&quot;&gt;&lt;m_ppcolschidx val=&quot;0&quot;/&gt;&lt;m_rgb r=&quot;87&quot; g=&quot;2d&quot; b=&quot;1&quot;/&gt;&lt;/elem&gt;&lt;elem m_fUsage=&quot;6.60746024496384520000E-015&quot;&gt;&lt;m_ppcolschidx val=&quot;0&quot;/&gt;&lt;m_rgb r=&quot;df&quot; g=&quot;da&quot; b=&quot;c8&quot;/&gt;&lt;/elem&gt;&lt;/m_vecMRU&gt;&lt;/m_mruColor&gt;&lt;m_mapectfillschemeMRU/&gt;&lt;m_eweekdayFirstOfWeek val=&quot;1&quot;/&gt;&lt;m_eweekdayFirstOfWorkweek val=&quot;2&quot;/&gt;&lt;m_eweekdayFirstOfWeekend val=&quot;7&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chDecimalSymbol17909&gt;.&lt;/m_chDecimalSymbol17909&gt;&lt;m_nGroupingDigits17909 val=&quot;3&quot;/&gt;&lt;m_chGroupingSymbol17909&gt;,&lt;/m_chGroupingSymbol17909&gt;&lt;/m_precDefault&gt;&lt;/CDefaultPrec&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B9w18jNoWkawLOsC4IGJP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rGlXWvszAkylrV2lAPjzGQ"/>
</p:tagLst>
</file>

<file path=ppt/theme/theme1.xml><?xml version="1.0" encoding="utf-8"?>
<a:theme xmlns:a="http://schemas.openxmlformats.org/drawingml/2006/main" name="Sand option">
  <a:themeElements>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Ruby gradient">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uby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Ruby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Ruby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ivider option 02">
  <a:themeElements>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2">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Divider option 03">
  <a:themeElements>
    <a:clrScheme name="Divider option 03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3">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3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Divider option 04">
  <a:themeElements>
    <a:clrScheme name="Divider option 04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4">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4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Divider option 05">
  <a:themeElements>
    <a:clrScheme name="Divider option 05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5">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5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ivider option 06">
  <a:themeElements>
    <a:clrScheme name="Divider option 06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6">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6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Sand option">
  <a:themeElements>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Ruby gradient">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uby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Ruby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Ruby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_QNB">
  <a:themeElements>
    <a:clrScheme name="QNB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pphire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Sapphire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Sapphire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QNB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_Sand option">
  <a:themeElements>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Ruby gradient">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uby gradient 1">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Ruby gradient 2">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220000"/>
        </a:hlink>
        <a:folHlink>
          <a:srgbClr val="800080"/>
        </a:folHlink>
      </a:clrScheme>
      <a:clrMap bg1="lt1" tx1="dk1" bg2="lt2" tx2="dk2" accent1="accent1" accent2="accent2" accent3="accent3" accent4="accent4" accent5="accent5" accent6="accent6" hlink="hlink" folHlink="folHlink"/>
    </a:extraClrScheme>
    <a:extraClrScheme>
      <a:clrScheme name="Ruby gradient 3">
        <a:dk1>
          <a:srgbClr val="000000"/>
        </a:dk1>
        <a:lt1>
          <a:srgbClr val="FFFFFF"/>
        </a:lt1>
        <a:dk2>
          <a:srgbClr val="394040"/>
        </a:dk2>
        <a:lt2>
          <a:srgbClr val="CABFB7"/>
        </a:lt2>
        <a:accent1>
          <a:srgbClr val="116FC4"/>
        </a:accent1>
        <a:accent2>
          <a:srgbClr val="000F33"/>
        </a:accent2>
        <a:accent3>
          <a:srgbClr val="FFFFFF"/>
        </a:accent3>
        <a:accent4>
          <a:srgbClr val="000000"/>
        </a:accent4>
        <a:accent5>
          <a:srgbClr val="AABBDE"/>
        </a:accent5>
        <a:accent6>
          <a:srgbClr val="000C2D"/>
        </a:accent6>
        <a:hlink>
          <a:srgbClr val="870052"/>
        </a:hlink>
        <a:folHlink>
          <a:srgbClr val="220000"/>
        </a:folHlink>
      </a:clrScheme>
      <a:clrMap bg1="lt1" tx1="dk1" bg2="lt2" tx2="dk2" accent1="accent1" accent2="accent2" accent3="accent3" accent4="accent4" accent5="accent5" accent6="accent6" hlink="hlink" folHlink="folHlink"/>
    </a:extraClrScheme>
    <a:extraClrScheme>
      <a:clrScheme name="Sand option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_Divider option 02">
  <a:themeElements>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fontScheme name="Divider option 02">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vider option 02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ivider option 01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themeOverride>
</file>

<file path=ppt/theme/themeOverride2.xml><?xml version="1.0" encoding="utf-8"?>
<a:themeOverride xmlns:a="http://schemas.openxmlformats.org/drawingml/2006/main">
  <a:clrScheme name="Divider option 01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themeOverride>
</file>

<file path=ppt/theme/themeOverride3.xml><?xml version="1.0" encoding="utf-8"?>
<a:themeOverride xmlns:a="http://schemas.openxmlformats.org/drawingml/2006/main">
  <a:clrScheme name="Divider option 01 1">
    <a:dk1>
      <a:srgbClr val="000000"/>
    </a:dk1>
    <a:lt1>
      <a:srgbClr val="FFFFFF"/>
    </a:lt1>
    <a:dk2>
      <a:srgbClr val="000F33"/>
    </a:dk2>
    <a:lt2>
      <a:srgbClr val="DFDAC8"/>
    </a:lt2>
    <a:accent1>
      <a:srgbClr val="116FC4"/>
    </a:accent1>
    <a:accent2>
      <a:srgbClr val="000F33"/>
    </a:accent2>
    <a:accent3>
      <a:srgbClr val="FFFFFF"/>
    </a:accent3>
    <a:accent4>
      <a:srgbClr val="000000"/>
    </a:accent4>
    <a:accent5>
      <a:srgbClr val="AABBDE"/>
    </a:accent5>
    <a:accent6>
      <a:srgbClr val="000C2D"/>
    </a:accent6>
    <a:hlink>
      <a:srgbClr val="40A8C7"/>
    </a:hlink>
    <a:folHlink>
      <a:srgbClr val="474B49"/>
    </a:folHlink>
  </a:clrScheme>
</a:themeOverride>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1445687</vt:lpwstr>
  </property>
  <property fmtid="{D5CDD505-2E9C-101B-9397-08002B2CF9AE}" pid="4" name="OptimizationTime">
    <vt:lpwstr>20170523_1529</vt:lpwstr>
  </property>
</Properties>
</file>

<file path=docProps/app.xml><?xml version="1.0" encoding="utf-8"?>
<Properties xmlns="http://schemas.openxmlformats.org/officeDocument/2006/extended-properties" xmlns:vt="http://schemas.openxmlformats.org/officeDocument/2006/docPropsVTypes">
  <TotalTime>45977</TotalTime>
  <Words>16489</Words>
  <Application>Microsoft Office PowerPoint</Application>
  <PresentationFormat>A4 Paper (210x297 mm)</PresentationFormat>
  <Paragraphs>2241</Paragraphs>
  <Slides>122</Slides>
  <Notes>34</Notes>
  <HiddenSlides>0</HiddenSlides>
  <MMClips>0</MMClips>
  <ScaleCrop>false</ScaleCrop>
  <HeadingPairs>
    <vt:vector size="8" baseType="variant">
      <vt:variant>
        <vt:lpstr>Fonts Used</vt:lpstr>
      </vt:variant>
      <vt:variant>
        <vt:i4>8</vt:i4>
      </vt:variant>
      <vt:variant>
        <vt:lpstr>Theme</vt:lpstr>
      </vt:variant>
      <vt:variant>
        <vt:i4>10</vt:i4>
      </vt:variant>
      <vt:variant>
        <vt:lpstr>Embedded OLE Servers</vt:lpstr>
      </vt:variant>
      <vt:variant>
        <vt:i4>1</vt:i4>
      </vt:variant>
      <vt:variant>
        <vt:lpstr>Slide Titles</vt:lpstr>
      </vt:variant>
      <vt:variant>
        <vt:i4>122</vt:i4>
      </vt:variant>
    </vt:vector>
  </HeadingPairs>
  <TitlesOfParts>
    <vt:vector size="141" baseType="lpstr">
      <vt:lpstr>Adobe Fangsong Std R</vt:lpstr>
      <vt:lpstr>Arial</vt:lpstr>
      <vt:lpstr>Calibri</vt:lpstr>
      <vt:lpstr>Cambria</vt:lpstr>
      <vt:lpstr>Courier New</vt:lpstr>
      <vt:lpstr>Times New Roman</vt:lpstr>
      <vt:lpstr>Verdana</vt:lpstr>
      <vt:lpstr>Wingdings</vt:lpstr>
      <vt:lpstr>Sand option</vt:lpstr>
      <vt:lpstr>Divider option 02</vt:lpstr>
      <vt:lpstr>Divider option 03</vt:lpstr>
      <vt:lpstr>Divider option 04</vt:lpstr>
      <vt:lpstr>Divider option 05</vt:lpstr>
      <vt:lpstr>Divider option 06</vt:lpstr>
      <vt:lpstr>1_Sand option</vt:lpstr>
      <vt:lpstr>1_QNB</vt:lpstr>
      <vt:lpstr>2_Sand option</vt:lpstr>
      <vt:lpstr>1_Divider option 02</vt:lpstr>
      <vt:lpstr>think-cell Slide</vt:lpstr>
      <vt:lpstr>IFRS9 Impairment  Technical Interpretations  Doha, May 2017</vt:lpstr>
      <vt:lpstr>Contents</vt:lpstr>
      <vt:lpstr>Executive Summary</vt:lpstr>
      <vt:lpstr>Scope, Approach and Limitations</vt:lpstr>
      <vt:lpstr>Interpretations – Decision Summaries</vt:lpstr>
      <vt:lpstr>Interpretations – Decision Summaries (continued)</vt:lpstr>
      <vt:lpstr>Interpretations – Decision Summaries (continued)</vt:lpstr>
      <vt:lpstr>Qatar National Bank Technical Interpretation Note  Default Definition    Doha, May 2017</vt:lpstr>
      <vt:lpstr>Introduction</vt:lpstr>
      <vt:lpstr>Key Decision Points from QNB’s perspective </vt:lpstr>
      <vt:lpstr>Technical Guidance</vt:lpstr>
      <vt:lpstr>Technical Guidance</vt:lpstr>
      <vt:lpstr>QNB’s view on Default Definition</vt:lpstr>
      <vt:lpstr>QNB’s view on Default Definition</vt:lpstr>
      <vt:lpstr>Analysis</vt:lpstr>
      <vt:lpstr>Qatar National Bank Technical Interpretation Note  Low Credit Risk Expedient    Doha, May 2017</vt:lpstr>
      <vt:lpstr>Introduction</vt:lpstr>
      <vt:lpstr>Key Decision Points from QNB’s perspective </vt:lpstr>
      <vt:lpstr>Technical Guidance</vt:lpstr>
      <vt:lpstr>Technical Guidance</vt:lpstr>
      <vt:lpstr>QNB’s view on Low Credit Risk Expedient</vt:lpstr>
      <vt:lpstr>Analysis</vt:lpstr>
      <vt:lpstr>Qatar National Bank Technical Interpretation Note  30 DPD Rebuttable Assumption    Doha, May 2017</vt:lpstr>
      <vt:lpstr>Introduction</vt:lpstr>
      <vt:lpstr>Key Decision Points from QNB’s perspective </vt:lpstr>
      <vt:lpstr>Technical Guidance</vt:lpstr>
      <vt:lpstr>Technical Guidance</vt:lpstr>
      <vt:lpstr>QNB’s view on 30 DPD rebuttable criteria</vt:lpstr>
      <vt:lpstr>Analysis</vt:lpstr>
      <vt:lpstr>Qatar National Bank Technical Interpretation Note  Modification of Assets    Doha, May 2017</vt:lpstr>
      <vt:lpstr>Introduction</vt:lpstr>
      <vt:lpstr>Key Decision Points from QNB’s perspective </vt:lpstr>
      <vt:lpstr>Technical Guidance</vt:lpstr>
      <vt:lpstr>Technical Guidance</vt:lpstr>
      <vt:lpstr>QNB’s view on Modification of Assets</vt:lpstr>
      <vt:lpstr>QNB’s view on Modification of Assets</vt:lpstr>
      <vt:lpstr>Analysis</vt:lpstr>
      <vt:lpstr>Qatar National Bank Technical Interpretation Note  Facility Level vs. Counterparty Level Assessment of SICR    Doha, May 2017</vt:lpstr>
      <vt:lpstr>Introduction</vt:lpstr>
      <vt:lpstr>Illustrative Example</vt:lpstr>
      <vt:lpstr>Key Decision Points from QNB’s perspective </vt:lpstr>
      <vt:lpstr>Technical Guidance</vt:lpstr>
      <vt:lpstr>Technical Guidance</vt:lpstr>
      <vt:lpstr>QNB’s view on Facility Level vs. Counterparty Level Assessment </vt:lpstr>
      <vt:lpstr>Analysis</vt:lpstr>
      <vt:lpstr>Qatar National Bank Technical Interpretation Note  Individual vs. Collective Assessment    Doha, May 2017</vt:lpstr>
      <vt:lpstr>Introduction</vt:lpstr>
      <vt:lpstr>Key Decision Points from QNB’s perspective </vt:lpstr>
      <vt:lpstr>Technical Guidance</vt:lpstr>
      <vt:lpstr>Technical Guidance</vt:lpstr>
      <vt:lpstr>QNB’s view on Individual vs. Collective Assessment</vt:lpstr>
      <vt:lpstr>Qatar National Bank Technical Interpretation Note  Backward Transition    Doha, May 2017</vt:lpstr>
      <vt:lpstr>Introduction</vt:lpstr>
      <vt:lpstr>Key Decision Points from QNB’s perspective </vt:lpstr>
      <vt:lpstr>Technical Guidance</vt:lpstr>
      <vt:lpstr>Technical Guidance</vt:lpstr>
      <vt:lpstr>QNB’s view on Backward Transitions</vt:lpstr>
      <vt:lpstr>Analysis</vt:lpstr>
      <vt:lpstr>Qatar National Bank Technical Interpretation Note  Use of 12 Month vs. Lifetime PD for measuring SICR    Doha, May 2017</vt:lpstr>
      <vt:lpstr>Introduction</vt:lpstr>
      <vt:lpstr>Key Decision Points from QNB’s perspective </vt:lpstr>
      <vt:lpstr>Technical Guidance</vt:lpstr>
      <vt:lpstr>Technical Guidance</vt:lpstr>
      <vt:lpstr>QNB’s view on use of 12-Month Default Risk Proxy</vt:lpstr>
      <vt:lpstr>  Doha, May 2017</vt:lpstr>
      <vt:lpstr>Introduction</vt:lpstr>
      <vt:lpstr>Key Decision Points from QNB’s perspective </vt:lpstr>
      <vt:lpstr>Technical Guidance</vt:lpstr>
      <vt:lpstr>Technical Guidance</vt:lpstr>
      <vt:lpstr>QNB’s view on SICR at transition</vt:lpstr>
      <vt:lpstr>Analysis</vt:lpstr>
      <vt:lpstr>Qatar National Bank Technical Interpretation Note  Staging (1 and 2)    Doha, May 2017</vt:lpstr>
      <vt:lpstr>Introduction</vt:lpstr>
      <vt:lpstr>Key Decision Points from QNB’s perspective </vt:lpstr>
      <vt:lpstr>Technical Guidance</vt:lpstr>
      <vt:lpstr>Technical Guidance</vt:lpstr>
      <vt:lpstr>QNB’s view on Staging Criteria</vt:lpstr>
      <vt:lpstr>Analysis</vt:lpstr>
      <vt:lpstr>Qatar National Bank Technical Interpretation Note  Eligible Collateral for IFRS9    Doha, May 2017</vt:lpstr>
      <vt:lpstr>Introduction</vt:lpstr>
      <vt:lpstr>Key Decision Points from QNB’s perspective </vt:lpstr>
      <vt:lpstr>Technical Guidance</vt:lpstr>
      <vt:lpstr>Technical Guidance</vt:lpstr>
      <vt:lpstr>QNB’s view on use of Eligible Collaterals</vt:lpstr>
      <vt:lpstr>QNB’s view on use of Eligible Collaterals</vt:lpstr>
      <vt:lpstr>Analysis</vt:lpstr>
      <vt:lpstr>Qatar National Bank Technical Interpretation Note  Contractual vs. Effective Interest Rate    Doha, May 2017</vt:lpstr>
      <vt:lpstr>Introduction</vt:lpstr>
      <vt:lpstr>Key Decision Points from QNB’s perspective </vt:lpstr>
      <vt:lpstr>Technical Guidance</vt:lpstr>
      <vt:lpstr>Technical Guidance</vt:lpstr>
      <vt:lpstr>QNB’s view on Contractual vs. Effective Interest Rate</vt:lpstr>
      <vt:lpstr>Qatar National Bank Technical Interpretation Note  Period of Exposure (Use of Contractual Maturity vs. Effective Time to Maturity)    Doha, May 2017</vt:lpstr>
      <vt:lpstr>Introduction</vt:lpstr>
      <vt:lpstr>Key Decision Points from QNB’s perspective </vt:lpstr>
      <vt:lpstr>Technical Guidance</vt:lpstr>
      <vt:lpstr>Technical Guidance</vt:lpstr>
      <vt:lpstr>Technical Guidance</vt:lpstr>
      <vt:lpstr>Technical Guidance</vt:lpstr>
      <vt:lpstr>QNB’s view on estimation of ‘period of exposure’ </vt:lpstr>
      <vt:lpstr>QNB’s view on estimation of ‘period of exposure’ </vt:lpstr>
      <vt:lpstr>QNB’s view on estimation of ‘period of exposure’ </vt:lpstr>
      <vt:lpstr>QNB’s view on estimation of ‘period of exposure’ </vt:lpstr>
      <vt:lpstr>Qatar National Bank Technical Interpretation Note  ECL Approach Options    Doha, May 2017</vt:lpstr>
      <vt:lpstr>Introduction</vt:lpstr>
      <vt:lpstr>Key Decision Points from QNB’s perspective </vt:lpstr>
      <vt:lpstr>Technical Guidance</vt:lpstr>
      <vt:lpstr>Technical Guidance</vt:lpstr>
      <vt:lpstr>QNB’s view on ECL Methodology Options</vt:lpstr>
      <vt:lpstr>Analysis - Sum of Marginal Losses Approach</vt:lpstr>
      <vt:lpstr>Analysis - Example of Sum of Marginal Losses Approach</vt:lpstr>
      <vt:lpstr>Qatar National Bank Technical Interpretation Note  Scenarios and Forward Looking Information    Doha, May 2017</vt:lpstr>
      <vt:lpstr>Introduction</vt:lpstr>
      <vt:lpstr>Key Decision Points from QNB’s perspective</vt:lpstr>
      <vt:lpstr>Technical Guidance</vt:lpstr>
      <vt:lpstr>Technical Guidance</vt:lpstr>
      <vt:lpstr>QNB’s view on Scenarios and Forward Looking Information</vt:lpstr>
      <vt:lpstr>QNB’s view on Scenarios and Forward Looking Information</vt:lpstr>
      <vt:lpstr>Next Steps</vt:lpstr>
      <vt:lpstr>Analysis – Probability Weighting</vt:lpstr>
      <vt:lpstr>PowerPoint Presentation</vt:lpstr>
      <vt:lpstr>End of Report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Strategy Committee</dc:title>
  <dc:subject>CTO set up</dc:subject>
  <dc:creator>Group Strategy</dc:creator>
  <cp:lastModifiedBy>Aby G Eapen</cp:lastModifiedBy>
  <cp:revision>1863</cp:revision>
  <cp:lastPrinted>2017-04-12T08:27:21Z</cp:lastPrinted>
  <dcterms:created xsi:type="dcterms:W3CDTF">2012-01-11T11:14:03Z</dcterms:created>
  <dcterms:modified xsi:type="dcterms:W3CDTF">2017-05-23T12:27:58Z</dcterms:modified>
</cp:coreProperties>
</file>