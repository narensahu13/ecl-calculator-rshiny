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666" r:id="rId2"/>
    <p:sldMasterId id="2147483765" r:id="rId3"/>
  </p:sldMasterIdLst>
  <p:notesMasterIdLst>
    <p:notesMasterId r:id="rId36"/>
  </p:notesMasterIdLst>
  <p:handoutMasterIdLst>
    <p:handoutMasterId r:id="rId37"/>
  </p:handoutMasterIdLst>
  <p:sldIdLst>
    <p:sldId id="275" r:id="rId4"/>
    <p:sldId id="299" r:id="rId5"/>
    <p:sldId id="300" r:id="rId6"/>
    <p:sldId id="303" r:id="rId7"/>
    <p:sldId id="304" r:id="rId8"/>
    <p:sldId id="327" r:id="rId9"/>
    <p:sldId id="323" r:id="rId10"/>
    <p:sldId id="301" r:id="rId11"/>
    <p:sldId id="308" r:id="rId12"/>
    <p:sldId id="331" r:id="rId13"/>
    <p:sldId id="332" r:id="rId14"/>
    <p:sldId id="333" r:id="rId15"/>
    <p:sldId id="325" r:id="rId16"/>
    <p:sldId id="309" r:id="rId17"/>
    <p:sldId id="311" r:id="rId18"/>
    <p:sldId id="339" r:id="rId19"/>
    <p:sldId id="340" r:id="rId20"/>
    <p:sldId id="310" r:id="rId21"/>
    <p:sldId id="337" r:id="rId22"/>
    <p:sldId id="312" r:id="rId23"/>
    <p:sldId id="338" r:id="rId24"/>
    <p:sldId id="313" r:id="rId25"/>
    <p:sldId id="314" r:id="rId26"/>
    <p:sldId id="334" r:id="rId27"/>
    <p:sldId id="315" r:id="rId28"/>
    <p:sldId id="317" r:id="rId29"/>
    <p:sldId id="319" r:id="rId30"/>
    <p:sldId id="328" r:id="rId31"/>
    <p:sldId id="298" r:id="rId32"/>
    <p:sldId id="326" r:id="rId33"/>
    <p:sldId id="284" r:id="rId34"/>
    <p:sldId id="27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664">
          <p15:clr>
            <a:srgbClr val="A4A3A4"/>
          </p15:clr>
        </p15:guide>
        <p15:guide id="3" orient="horz" pos="4117">
          <p15:clr>
            <a:srgbClr val="A4A3A4"/>
          </p15:clr>
        </p15:guide>
        <p15:guide id="4" orient="horz" pos="893">
          <p15:clr>
            <a:srgbClr val="A4A3A4"/>
          </p15:clr>
        </p15:guide>
        <p15:guide id="5" orient="horz" pos="3861">
          <p15:clr>
            <a:srgbClr val="A4A3A4"/>
          </p15:clr>
        </p15:guide>
        <p15:guide id="6" pos="2881">
          <p15:clr>
            <a:srgbClr val="A4A3A4"/>
          </p15:clr>
        </p15:guide>
        <p15:guide id="7" pos="292">
          <p15:clr>
            <a:srgbClr val="A4A3A4"/>
          </p15:clr>
        </p15:guide>
        <p15:guide id="8" pos="5489">
          <p15:clr>
            <a:srgbClr val="A4A3A4"/>
          </p15:clr>
        </p15:guide>
        <p15:guide id="9" pos="2937">
          <p15:clr>
            <a:srgbClr val="A4A3A4"/>
          </p15:clr>
        </p15:guide>
        <p15:guide id="10" pos="2823">
          <p15:clr>
            <a:srgbClr val="A4A3A4"/>
          </p15:clr>
        </p15:guide>
        <p15:guide id="11" pos="143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tus Cellar" initials="MC" lastIdx="2" clrIdx="0">
    <p:extLst>
      <p:ext uri="{19B8F6BF-5375-455C-9EA6-DF929625EA0E}">
        <p15:presenceInfo xmlns:p15="http://schemas.microsoft.com/office/powerpoint/2012/main" userId="S-1-5-21-1644491937-1343024091-1801674531-78298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503"/>
    <a:srgbClr val="FFD200"/>
    <a:srgbClr val="FFF27F"/>
    <a:srgbClr val="F04C3E"/>
    <a:srgbClr val="FFFFFF"/>
    <a:srgbClr val="2C973E"/>
    <a:srgbClr val="FFF7E7"/>
    <a:srgbClr val="C0C0C0"/>
    <a:srgbClr val="646464"/>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54" autoAdjust="0"/>
    <p:restoredTop sz="78858" autoAdjust="0"/>
  </p:normalViewPr>
  <p:slideViewPr>
    <p:cSldViewPr snapToGrid="0" snapToObjects="1" showGuides="1">
      <p:cViewPr varScale="1">
        <p:scale>
          <a:sx n="55" d="100"/>
          <a:sy n="55" d="100"/>
        </p:scale>
        <p:origin x="1051" y="48"/>
      </p:cViewPr>
      <p:guideLst>
        <p:guide orient="horz" pos="2160"/>
        <p:guide orient="horz" pos="664"/>
        <p:guide orient="horz" pos="4117"/>
        <p:guide orient="horz" pos="893"/>
        <p:guide orient="horz" pos="3861"/>
        <p:guide pos="2881"/>
        <p:guide pos="292"/>
        <p:guide pos="5489"/>
        <p:guide pos="2937"/>
        <p:guide pos="2823"/>
        <p:guide pos="143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5" d="100"/>
          <a:sy n="85" d="100"/>
        </p:scale>
        <p:origin x="-2976"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hu-HU" sz="1200" dirty="0">
                <a:latin typeface="EYInterstate Light" panose="02000506000000020004" pitchFamily="2" charset="0"/>
              </a:rPr>
              <a:t>EAD development</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v>Annuity</c:v>
          </c:tx>
          <c:spPr>
            <a:ln w="28575" cap="rnd">
              <a:solidFill>
                <a:schemeClr val="accent1"/>
              </a:solidFill>
              <a:round/>
            </a:ln>
            <a:effectLst/>
          </c:spPr>
          <c:marker>
            <c:symbol val="none"/>
          </c:marker>
          <c:cat>
            <c:numRef>
              <c:f>Sheet1!$A$10:$A$20</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Sheet1!$C$10:$C$20</c:f>
              <c:numCache>
                <c:formatCode>General</c:formatCode>
                <c:ptCount val="11"/>
                <c:pt idx="0">
                  <c:v>100</c:v>
                </c:pt>
                <c:pt idx="1">
                  <c:v>99</c:v>
                </c:pt>
                <c:pt idx="2">
                  <c:v>96</c:v>
                </c:pt>
                <c:pt idx="3">
                  <c:v>91</c:v>
                </c:pt>
                <c:pt idx="4">
                  <c:v>84</c:v>
                </c:pt>
                <c:pt idx="5">
                  <c:v>75</c:v>
                </c:pt>
                <c:pt idx="6">
                  <c:v>64</c:v>
                </c:pt>
                <c:pt idx="7">
                  <c:v>51</c:v>
                </c:pt>
                <c:pt idx="8">
                  <c:v>36</c:v>
                </c:pt>
                <c:pt idx="9">
                  <c:v>19</c:v>
                </c:pt>
                <c:pt idx="10">
                  <c:v>0</c:v>
                </c:pt>
              </c:numCache>
            </c:numRef>
          </c:val>
          <c:smooth val="0"/>
        </c:ser>
        <c:ser>
          <c:idx val="1"/>
          <c:order val="1"/>
          <c:tx>
            <c:v>Linear</c:v>
          </c:tx>
          <c:spPr>
            <a:ln w="28575" cap="rnd">
              <a:solidFill>
                <a:schemeClr val="accent2"/>
              </a:solidFill>
              <a:round/>
            </a:ln>
            <a:effectLst/>
          </c:spPr>
          <c:marker>
            <c:symbol val="none"/>
          </c:marker>
          <c:val>
            <c:numRef>
              <c:f>Sheet1!$B$10:$B$20</c:f>
              <c:numCache>
                <c:formatCode>General</c:formatCode>
                <c:ptCount val="11"/>
                <c:pt idx="0">
                  <c:v>100</c:v>
                </c:pt>
                <c:pt idx="1">
                  <c:v>90</c:v>
                </c:pt>
                <c:pt idx="2">
                  <c:v>80</c:v>
                </c:pt>
                <c:pt idx="3">
                  <c:v>70</c:v>
                </c:pt>
                <c:pt idx="4">
                  <c:v>60</c:v>
                </c:pt>
                <c:pt idx="5">
                  <c:v>50</c:v>
                </c:pt>
                <c:pt idx="6">
                  <c:v>40</c:v>
                </c:pt>
                <c:pt idx="7">
                  <c:v>30</c:v>
                </c:pt>
                <c:pt idx="8">
                  <c:v>20</c:v>
                </c:pt>
                <c:pt idx="9">
                  <c:v>10</c:v>
                </c:pt>
                <c:pt idx="10">
                  <c:v>0</c:v>
                </c:pt>
              </c:numCache>
            </c:numRef>
          </c:val>
          <c:smooth val="0"/>
        </c:ser>
        <c:dLbls>
          <c:showLegendKey val="0"/>
          <c:showVal val="0"/>
          <c:showCatName val="0"/>
          <c:showSerName val="0"/>
          <c:showPercent val="0"/>
          <c:showBubbleSize val="0"/>
        </c:dLbls>
        <c:smooth val="0"/>
        <c:axId val="286259360"/>
        <c:axId val="286260536"/>
      </c:lineChart>
      <c:catAx>
        <c:axId val="286259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86260536"/>
        <c:crosses val="autoZero"/>
        <c:auto val="1"/>
        <c:lblAlgn val="ctr"/>
        <c:lblOffset val="100"/>
        <c:noMultiLvlLbl val="0"/>
      </c:catAx>
      <c:valAx>
        <c:axId val="286260536"/>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hu-HU" sz="1000" dirty="0">
                    <a:latin typeface="EYInterstate Light" panose="02000506000000020004" pitchFamily="2" charset="0"/>
                  </a:rPr>
                  <a:t>EAD</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86259360"/>
        <c:crosses val="autoZero"/>
        <c:crossBetween val="between"/>
      </c:valAx>
      <c:spPr>
        <a:noFill/>
        <a:ln>
          <a:solidFill>
            <a:schemeClr val="bg1"/>
          </a:solid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5A85089-C692-4DEA-AC49-04CF34D4FE14}" type="datetimeFigureOut">
              <a:rPr lang="en-GB" smtClean="0"/>
              <a:pPr/>
              <a:t>28/08/2017</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A5C721-4BB5-4DB6-AD65-4BA2A62B05B6}" type="slidenum">
              <a:rPr lang="en-GB" smtClean="0"/>
              <a:pPr/>
              <a:t>‹#›</a:t>
            </a:fld>
            <a:endParaRPr lang="en-GB"/>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45EBA9-A28D-4849-BFEA-AA04F6A21B63}" type="datetimeFigureOut">
              <a:rPr lang="en-GB" smtClean="0"/>
              <a:pPr/>
              <a:t>28/08/2017</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43D19E-BFDB-4C92-8EDD-32EDDA8F41DF}" type="slidenum">
              <a:rPr lang="en-GB" smtClean="0"/>
              <a:pPr/>
              <a:t>‹#›</a:t>
            </a:fld>
            <a:endParaRPr lang="en-GB"/>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smtClean="0">
                <a:latin typeface="Arial" panose="020B0604020202020204" pitchFamily="34" charset="0"/>
                <a:cs typeface="Arial" panose="020B0604020202020204" pitchFamily="34" charset="0"/>
              </a:rPr>
              <a:t>Use this slide layout as a </a:t>
            </a:r>
            <a:r>
              <a:rPr lang="en-US" b="1" noProof="0" dirty="0" smtClean="0">
                <a:latin typeface="Arial" panose="020B0604020202020204" pitchFamily="34" charset="0"/>
                <a:cs typeface="Arial" panose="020B0604020202020204" pitchFamily="34" charset="0"/>
              </a:rPr>
              <a:t>title</a:t>
            </a:r>
            <a:r>
              <a:rPr lang="en-US" b="1" baseline="0" noProof="0" dirty="0" smtClean="0">
                <a:latin typeface="Arial" panose="020B0604020202020204" pitchFamily="34" charset="0"/>
                <a:cs typeface="Arial" panose="020B0604020202020204" pitchFamily="34" charset="0"/>
              </a:rPr>
              <a:t> slide only</a:t>
            </a:r>
            <a:r>
              <a:rPr lang="en-US" b="0" baseline="0" noProof="0" dirty="0" smtClean="0">
                <a:latin typeface="Arial" panose="020B0604020202020204" pitchFamily="34" charset="0"/>
                <a:cs typeface="Arial" panose="020B0604020202020204" pitchFamily="34" charset="0"/>
              </a:rPr>
              <a:t> (alternatively to EY Panel or EY Better Question Frame).</a:t>
            </a:r>
            <a:r>
              <a:rPr lang="cs-CZ" b="0" baseline="0" noProof="0" dirty="0" smtClean="0">
                <a:latin typeface="Arial" panose="020B0604020202020204" pitchFamily="34" charset="0"/>
                <a:cs typeface="Arial" panose="020B0604020202020204" pitchFamily="34" charset="0"/>
              </a:rPr>
              <a:t> </a:t>
            </a:r>
            <a:r>
              <a:rPr lang="en-US" b="0" baseline="0" noProof="0" dirty="0" smtClean="0">
                <a:latin typeface="Arial" panose="020B0604020202020204" pitchFamily="34" charset="0"/>
                <a:cs typeface="Arial" panose="020B0604020202020204" pitchFamily="34" charset="0"/>
              </a:rPr>
              <a:t>We use primarily EY Panel or EY Better Question Frame title layouts.</a:t>
            </a:r>
            <a:endParaRPr lang="en-US" noProof="0" dirty="0" smtClean="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cs-CZ"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may replace the photo</a:t>
            </a:r>
            <a:r>
              <a:rPr lang="en-US" baseline="0" dirty="0" smtClean="0"/>
              <a:t> in this divider slide. </a:t>
            </a:r>
            <a:r>
              <a:rPr lang="en-US" dirty="0" smtClean="0"/>
              <a:t>You can only use </a:t>
            </a:r>
            <a:r>
              <a:rPr lang="en-US" b="1" dirty="0" smtClean="0"/>
              <a:t>black and white photography</a:t>
            </a:r>
            <a:r>
              <a:rPr lang="en-US" dirty="0" smtClean="0"/>
              <a:t>, not color. </a:t>
            </a:r>
            <a:r>
              <a:rPr lang="en-GB" sz="1200" dirty="0" smtClean="0"/>
              <a:t>When choosing an image, follow the principles on </a:t>
            </a:r>
            <a:r>
              <a:rPr lang="en-GB" sz="1200" i="1" dirty="0" smtClean="0"/>
              <a:t>The Branding Zone</a:t>
            </a:r>
            <a:r>
              <a:rPr lang="en-GB" sz="1200" dirty="0" smtClean="0"/>
              <a:t>. </a:t>
            </a:r>
            <a:br>
              <a:rPr lang="en-GB" sz="1200" dirty="0" smtClean="0"/>
            </a:br>
            <a:endParaRPr lang="cs-CZ"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To change the image:</a:t>
            </a:r>
            <a:br>
              <a:rPr lang="en-US" baseline="0" dirty="0" smtClean="0"/>
            </a:br>
            <a:r>
              <a:rPr lang="en-US" sz="1200" dirty="0" smtClean="0"/>
              <a:t>Select the </a:t>
            </a:r>
            <a:r>
              <a:rPr lang="en-US" sz="1200" b="1" dirty="0" smtClean="0"/>
              <a:t>View</a:t>
            </a:r>
            <a:r>
              <a:rPr lang="en-US" sz="1200" dirty="0" smtClean="0"/>
              <a:t> tab then choose the </a:t>
            </a:r>
            <a:r>
              <a:rPr lang="en-US" sz="1200" b="1" dirty="0" smtClean="0"/>
              <a:t>Slide Master </a:t>
            </a:r>
            <a:r>
              <a:rPr lang="en-US" sz="1200" dirty="0" smtClean="0"/>
              <a:t>containing the layout you want to edit. Select the angled box and right-click on it to bring up the menu. Select </a:t>
            </a:r>
            <a:r>
              <a:rPr lang="en-US" sz="1200" b="1" dirty="0" smtClean="0"/>
              <a:t>Format Picture. </a:t>
            </a:r>
            <a:r>
              <a:rPr lang="en-US" sz="1200" dirty="0" smtClean="0"/>
              <a:t>Under Fill select </a:t>
            </a:r>
            <a:r>
              <a:rPr lang="en-US" sz="1200" b="1" dirty="0" smtClean="0"/>
              <a:t>Picture or texture fill.</a:t>
            </a:r>
            <a:r>
              <a:rPr lang="en-US" sz="1200" dirty="0" smtClean="0"/>
              <a:t> Click </a:t>
            </a:r>
            <a:r>
              <a:rPr lang="en-US" sz="1200" b="1" dirty="0" smtClean="0"/>
              <a:t>Insert from&gt;File</a:t>
            </a:r>
            <a:r>
              <a:rPr lang="en-US" sz="1200" dirty="0" smtClean="0"/>
              <a:t>. Navigate to where you have saved the image and insert it.</a:t>
            </a:r>
          </a:p>
          <a:p>
            <a:endParaRPr lang="cs-CZ" dirty="0"/>
          </a:p>
        </p:txBody>
      </p:sp>
      <p:sp>
        <p:nvSpPr>
          <p:cNvPr id="4" name="Slide Number Placeholder 3"/>
          <p:cNvSpPr>
            <a:spLocks noGrp="1"/>
          </p:cNvSpPr>
          <p:nvPr>
            <p:ph type="sldNum" sz="quarter" idx="10"/>
          </p:nvPr>
        </p:nvSpPr>
        <p:spPr/>
        <p:txBody>
          <a:bodyPr/>
          <a:lstStyle/>
          <a:p>
            <a:fld id="{5B43D19E-BFDB-4C92-8EDD-32EDDA8F41DF}" type="slidenum">
              <a:rPr lang="en-GB" smtClean="0"/>
              <a:pPr/>
              <a:t>1</a:t>
            </a:fld>
            <a:endParaRPr lang="en-GB"/>
          </a:p>
        </p:txBody>
      </p:sp>
    </p:spTree>
    <p:extLst>
      <p:ext uri="{BB962C8B-B14F-4D97-AF65-F5344CB8AC3E}">
        <p14:creationId xmlns:p14="http://schemas.microsoft.com/office/powerpoint/2010/main" val="1790424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wmf"/><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wmf"/><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wmf"/><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ront cover_1_Frame">
    <p:spTree>
      <p:nvGrpSpPr>
        <p:cNvPr id="1" name=""/>
        <p:cNvGrpSpPr/>
        <p:nvPr/>
      </p:nvGrpSpPr>
      <p:grpSpPr>
        <a:xfrm>
          <a:off x="0" y="0"/>
          <a:ext cx="0" cy="0"/>
          <a:chOff x="0" y="0"/>
          <a:chExt cx="0" cy="0"/>
        </a:xfrm>
      </p:grpSpPr>
      <p:sp>
        <p:nvSpPr>
          <p:cNvPr id="16" name="Rectangle 1"/>
          <p:cNvSpPr>
            <a:spLocks noChangeAspect="1"/>
          </p:cNvSpPr>
          <p:nvPr userDrawn="1"/>
        </p:nvSpPr>
        <p:spPr>
          <a:xfrm>
            <a:off x="1965600" y="777240"/>
            <a:ext cx="6755607" cy="3400425"/>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5607" h="3400425">
                <a:moveTo>
                  <a:pt x="0" y="1197768"/>
                </a:moveTo>
                <a:lnTo>
                  <a:pt x="6755607" y="0"/>
                </a:lnTo>
                <a:lnTo>
                  <a:pt x="6755607" y="3400425"/>
                </a:lnTo>
                <a:lnTo>
                  <a:pt x="2382" y="3400425"/>
                </a:lnTo>
                <a:lnTo>
                  <a:pt x="0" y="1197768"/>
                </a:ln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7" name="Title 1"/>
          <p:cNvSpPr>
            <a:spLocks noGrp="1"/>
          </p:cNvSpPr>
          <p:nvPr>
            <p:ph type="ctrTitle" hasCustomPrompt="1"/>
          </p:nvPr>
        </p:nvSpPr>
        <p:spPr>
          <a:xfrm>
            <a:off x="2212847" y="2240280"/>
            <a:ext cx="6217920" cy="860400"/>
          </a:xfrm>
        </p:spPr>
        <p:txBody>
          <a:bodyPr/>
          <a:lstStyle>
            <a:lvl1pPr>
              <a:defRPr baseline="0">
                <a:solidFill>
                  <a:srgbClr val="404040"/>
                </a:solidFill>
                <a:latin typeface="+mn-lt"/>
                <a:cs typeface="Arial" pitchFamily="34" charset="0"/>
              </a:defRPr>
            </a:lvl1pPr>
          </a:lstStyle>
          <a:p>
            <a:r>
              <a:rPr lang="en-US" noProof="0" dirty="0" smtClean="0"/>
              <a:t>Click to edit title</a:t>
            </a:r>
            <a:endParaRPr lang="en-US" noProof="0" dirty="0"/>
          </a:p>
        </p:txBody>
      </p:sp>
      <p:sp>
        <p:nvSpPr>
          <p:cNvPr id="18" name="Subtitle 2"/>
          <p:cNvSpPr>
            <a:spLocks noGrp="1"/>
          </p:cNvSpPr>
          <p:nvPr>
            <p:ph type="subTitle" idx="1" hasCustomPrompt="1"/>
          </p:nvPr>
        </p:nvSpPr>
        <p:spPr>
          <a:xfrm>
            <a:off x="2212848" y="3220754"/>
            <a:ext cx="621792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0" indent="0" algn="l">
              <a:buNone/>
              <a:defRPr sz="1600">
                <a:solidFill>
                  <a:srgbClr val="404040"/>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noProof="0" dirty="0" smtClean="0"/>
              <a:t>Click to edit subtitle</a:t>
            </a:r>
            <a:endParaRPr lang="en-US" noProof="0" dirty="0"/>
          </a:p>
        </p:txBody>
      </p:sp>
      <p:grpSp>
        <p:nvGrpSpPr>
          <p:cNvPr id="3" name="Group 2"/>
          <p:cNvGrpSpPr/>
          <p:nvPr userDrawn="1"/>
        </p:nvGrpSpPr>
        <p:grpSpPr>
          <a:xfrm>
            <a:off x="7712719" y="5303239"/>
            <a:ext cx="1044000" cy="1213056"/>
            <a:chOff x="7712719" y="5303239"/>
            <a:chExt cx="1044000" cy="1213056"/>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spTree>
    <p:extLst>
      <p:ext uri="{BB962C8B-B14F-4D97-AF65-F5344CB8AC3E}">
        <p14:creationId xmlns:p14="http://schemas.microsoft.com/office/powerpoint/2010/main" val="2212292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ront cover_2_Frame">
    <p:spTree>
      <p:nvGrpSpPr>
        <p:cNvPr id="1" name=""/>
        <p:cNvGrpSpPr/>
        <p:nvPr/>
      </p:nvGrpSpPr>
      <p:grpSpPr>
        <a:xfrm>
          <a:off x="0" y="0"/>
          <a:ext cx="0" cy="0"/>
          <a:chOff x="0" y="0"/>
          <a:chExt cx="0" cy="0"/>
        </a:xfrm>
      </p:grpSpPr>
      <p:sp>
        <p:nvSpPr>
          <p:cNvPr id="3" name="Freeform 5"/>
          <p:cNvSpPr>
            <a:spLocks noChangeAspect="1"/>
          </p:cNvSpPr>
          <p:nvPr userDrawn="1"/>
        </p:nvSpPr>
        <p:spPr bwMode="gray">
          <a:xfrm rot="10800000">
            <a:off x="3315145" y="457200"/>
            <a:ext cx="5413248"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 name="Title 1"/>
          <p:cNvSpPr>
            <a:spLocks noGrp="1"/>
          </p:cNvSpPr>
          <p:nvPr>
            <p:ph type="ctrTitle" hasCustomPrompt="1"/>
          </p:nvPr>
        </p:nvSpPr>
        <p:spPr>
          <a:xfrm>
            <a:off x="3557109" y="1677507"/>
            <a:ext cx="4901184" cy="860400"/>
          </a:xfrm>
        </p:spPr>
        <p:txBody>
          <a:bodyPr/>
          <a:lstStyle>
            <a:lvl1pPr>
              <a:defRPr>
                <a:solidFill>
                  <a:srgbClr val="404040"/>
                </a:solidFill>
                <a:latin typeface="+mn-lt"/>
                <a:cs typeface="Arial" pitchFamily="34" charset="0"/>
              </a:defRPr>
            </a:lvl1pPr>
          </a:lstStyle>
          <a:p>
            <a:r>
              <a:rPr lang="en-US" noProof="0" dirty="0" smtClean="0"/>
              <a:t>Click to edit title</a:t>
            </a:r>
            <a:endParaRPr lang="en-GB" dirty="0"/>
          </a:p>
        </p:txBody>
      </p:sp>
      <p:sp>
        <p:nvSpPr>
          <p:cNvPr id="5" name="Subtitle 2"/>
          <p:cNvSpPr>
            <a:spLocks noGrp="1"/>
          </p:cNvSpPr>
          <p:nvPr>
            <p:ph type="subTitle" idx="1" hasCustomPrompt="1"/>
          </p:nvPr>
        </p:nvSpPr>
        <p:spPr>
          <a:xfrm>
            <a:off x="3557109" y="2685128"/>
            <a:ext cx="4901184"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noProof="0" dirty="0" smtClean="0"/>
              <a:t>Click to edit subtitle</a:t>
            </a:r>
            <a:endParaRPr lang="en-US" noProof="0" dirty="0"/>
          </a:p>
        </p:txBody>
      </p:sp>
      <p:grpSp>
        <p:nvGrpSpPr>
          <p:cNvPr id="2" name="Group 1"/>
          <p:cNvGrpSpPr/>
          <p:nvPr userDrawn="1"/>
        </p:nvGrpSpPr>
        <p:grpSpPr>
          <a:xfrm>
            <a:off x="7712719" y="5303239"/>
            <a:ext cx="1044000" cy="1213056"/>
            <a:chOff x="7712719" y="5303239"/>
            <a:chExt cx="1044000" cy="1213056"/>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spTree>
    <p:extLst>
      <p:ext uri="{BB962C8B-B14F-4D97-AF65-F5344CB8AC3E}">
        <p14:creationId xmlns:p14="http://schemas.microsoft.com/office/powerpoint/2010/main" val="675503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ront cover_1_Better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779463"/>
            <a:ext cx="6753225" cy="3400425"/>
          </a:xfrm>
          <a:prstGeom prst="rect">
            <a:avLst/>
          </a:prstGeom>
        </p:spPr>
      </p:pic>
      <p:sp>
        <p:nvSpPr>
          <p:cNvPr id="7" name="Subtitle 2"/>
          <p:cNvSpPr>
            <a:spLocks noGrp="1"/>
          </p:cNvSpPr>
          <p:nvPr>
            <p:ph type="subTitle" idx="1" hasCustomPrompt="1"/>
          </p:nvPr>
        </p:nvSpPr>
        <p:spPr>
          <a:xfrm>
            <a:off x="886968" y="3258529"/>
            <a:ext cx="5943432"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noProof="0" dirty="0" smtClean="0"/>
              <a:t>Click to add answer to Better Question</a:t>
            </a:r>
            <a:endParaRPr lang="en-US" noProof="0" dirty="0"/>
          </a:p>
        </p:txBody>
      </p:sp>
      <p:sp>
        <p:nvSpPr>
          <p:cNvPr id="8" name="Title 1"/>
          <p:cNvSpPr>
            <a:spLocks noGrp="1"/>
          </p:cNvSpPr>
          <p:nvPr>
            <p:ph type="ctrTitle" hasCustomPrompt="1"/>
          </p:nvPr>
        </p:nvSpPr>
        <p:spPr>
          <a:xfrm>
            <a:off x="886968" y="2288083"/>
            <a:ext cx="5943432" cy="860400"/>
          </a:xfrm>
          <a:prstGeom prst="rect">
            <a:avLst/>
          </a:prstGeom>
        </p:spPr>
        <p:txBody>
          <a:bodyPr/>
          <a:lstStyle>
            <a:lvl1pPr>
              <a:defRPr baseline="0">
                <a:solidFill>
                  <a:srgbClr val="404040"/>
                </a:solidFill>
                <a:latin typeface="+mn-lt"/>
                <a:cs typeface="Arial" pitchFamily="34" charset="0"/>
              </a:defRPr>
            </a:lvl1pPr>
          </a:lstStyle>
          <a:p>
            <a:r>
              <a:rPr lang="en-US" noProof="0" dirty="0" smtClean="0"/>
              <a:t>Click to add Better question</a:t>
            </a:r>
            <a:endParaRPr lang="en-US" noProof="0" dirty="0"/>
          </a:p>
        </p:txBody>
      </p:sp>
      <p:grpSp>
        <p:nvGrpSpPr>
          <p:cNvPr id="2" name="Group 1"/>
          <p:cNvGrpSpPr/>
          <p:nvPr userDrawn="1"/>
        </p:nvGrpSpPr>
        <p:grpSpPr>
          <a:xfrm>
            <a:off x="7712719" y="5303239"/>
            <a:ext cx="1044000" cy="1213056"/>
            <a:chOff x="7712719" y="5303239"/>
            <a:chExt cx="1044000" cy="1213056"/>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pic>
        <p:nvPicPr>
          <p:cNvPr id="3" name="Picture 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8148" y="6103145"/>
            <a:ext cx="3826800" cy="373999"/>
          </a:xfrm>
          <a:prstGeom prst="rect">
            <a:avLst/>
          </a:prstGeom>
        </p:spPr>
      </p:pic>
      <p:pic>
        <p:nvPicPr>
          <p:cNvPr id="4" name="Picture 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8148" y="5889312"/>
            <a:ext cx="474350" cy="116916"/>
          </a:xfrm>
          <a:prstGeom prst="rect">
            <a:avLst/>
          </a:prstGeom>
        </p:spPr>
      </p:pic>
    </p:spTree>
    <p:extLst>
      <p:ext uri="{BB962C8B-B14F-4D97-AF65-F5344CB8AC3E}">
        <p14:creationId xmlns:p14="http://schemas.microsoft.com/office/powerpoint/2010/main" val="3648041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ront cover_2_Better Question">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57200"/>
            <a:ext cx="5413375" cy="4572000"/>
          </a:xfrm>
          <a:prstGeom prst="rect">
            <a:avLst/>
          </a:prstGeom>
        </p:spPr>
      </p:pic>
      <p:sp>
        <p:nvSpPr>
          <p:cNvPr id="7" name="Title 1"/>
          <p:cNvSpPr>
            <a:spLocks noGrp="1"/>
          </p:cNvSpPr>
          <p:nvPr>
            <p:ph type="ctrTitle" hasCustomPrompt="1"/>
          </p:nvPr>
        </p:nvSpPr>
        <p:spPr>
          <a:xfrm>
            <a:off x="886968" y="1799130"/>
            <a:ext cx="4643060" cy="860400"/>
          </a:xfrm>
          <a:prstGeom prst="rect">
            <a:avLst/>
          </a:prstGeom>
        </p:spPr>
        <p:txBody>
          <a:bodyPr/>
          <a:lstStyle>
            <a:lvl1pPr>
              <a:defRPr>
                <a:solidFill>
                  <a:srgbClr val="404040"/>
                </a:solidFill>
                <a:latin typeface="+mn-lt"/>
                <a:cs typeface="Arial" pitchFamily="34" charset="0"/>
              </a:defRPr>
            </a:lvl1pPr>
          </a:lstStyle>
          <a:p>
            <a:r>
              <a:rPr lang="en-US" dirty="0" smtClean="0"/>
              <a:t>Click to </a:t>
            </a:r>
            <a:r>
              <a:rPr lang="en-US" noProof="0" dirty="0" smtClean="0"/>
              <a:t>add Better question</a:t>
            </a:r>
            <a:endParaRPr lang="en-GB" dirty="0"/>
          </a:p>
        </p:txBody>
      </p:sp>
      <p:sp>
        <p:nvSpPr>
          <p:cNvPr id="8" name="Subtitle 2"/>
          <p:cNvSpPr>
            <a:spLocks noGrp="1"/>
          </p:cNvSpPr>
          <p:nvPr>
            <p:ph type="subTitle" idx="1" hasCustomPrompt="1"/>
          </p:nvPr>
        </p:nvSpPr>
        <p:spPr>
          <a:xfrm>
            <a:off x="886968" y="2769576"/>
            <a:ext cx="4643060"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a:t>
            </a:r>
            <a:r>
              <a:rPr lang="en-US" noProof="0" dirty="0" smtClean="0"/>
              <a:t>add answer to Better Question</a:t>
            </a:r>
            <a:endParaRPr lang="en-US" noProof="0" dirty="0"/>
          </a:p>
        </p:txBody>
      </p:sp>
      <p:grpSp>
        <p:nvGrpSpPr>
          <p:cNvPr id="2" name="Group 1"/>
          <p:cNvGrpSpPr/>
          <p:nvPr userDrawn="1"/>
        </p:nvGrpSpPr>
        <p:grpSpPr>
          <a:xfrm>
            <a:off x="7712719" y="5303239"/>
            <a:ext cx="1044000" cy="1213056"/>
            <a:chOff x="7712719" y="5303239"/>
            <a:chExt cx="1044000" cy="1213056"/>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8148" y="6103145"/>
            <a:ext cx="3826800" cy="373999"/>
          </a:xfrm>
          <a:prstGeom prst="rect">
            <a:avLst/>
          </a:prstGeom>
        </p:spPr>
      </p:pic>
      <p:pic>
        <p:nvPicPr>
          <p:cNvPr id="15" name="Picture 1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8148" y="5889312"/>
            <a:ext cx="474350" cy="116916"/>
          </a:xfrm>
          <a:prstGeom prst="rect">
            <a:avLst/>
          </a:prstGeom>
        </p:spPr>
      </p:pic>
    </p:spTree>
    <p:extLst>
      <p:ext uri="{BB962C8B-B14F-4D97-AF65-F5344CB8AC3E}">
        <p14:creationId xmlns:p14="http://schemas.microsoft.com/office/powerpoint/2010/main" val="2369547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Front cover_1_Beam (legacy)">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auto">
          <a:xfrm>
            <a:off x="2271259" y="5747990"/>
            <a:ext cx="983483" cy="745200"/>
          </a:xfrm>
          <a:prstGeom prst="rect">
            <a:avLst/>
          </a:prstGeom>
          <a:noFill/>
          <a:ln w="9525">
            <a:noFill/>
            <a:miter lim="800000"/>
            <a:headEnd/>
            <a:tailEnd/>
          </a:ln>
          <a:effectLst/>
        </p:spPr>
      </p:pic>
      <p:sp>
        <p:nvSpPr>
          <p:cNvPr id="2" name="Title 1"/>
          <p:cNvSpPr>
            <a:spLocks noGrp="1"/>
          </p:cNvSpPr>
          <p:nvPr>
            <p:ph type="ctrTitle"/>
          </p:nvPr>
        </p:nvSpPr>
        <p:spPr>
          <a:xfrm>
            <a:off x="2277384" y="777600"/>
            <a:ext cx="5490000" cy="860400"/>
          </a:xfrm>
        </p:spPr>
        <p:txBody>
          <a:bodyPr/>
          <a:lstStyle/>
          <a:p>
            <a:r>
              <a:rPr lang="en-US" noProof="0" smtClean="0"/>
              <a:t>Click to edit Master title style</a:t>
            </a:r>
            <a:endParaRPr lang="en-GB" dirty="0"/>
          </a:p>
        </p:txBody>
      </p:sp>
      <p:sp>
        <p:nvSpPr>
          <p:cNvPr id="3" name="Subtitle 2"/>
          <p:cNvSpPr>
            <a:spLocks noGrp="1"/>
          </p:cNvSpPr>
          <p:nvPr>
            <p:ph type="subTitle" idx="1"/>
          </p:nvPr>
        </p:nvSpPr>
        <p:spPr>
          <a:xfrm>
            <a:off x="2277384" y="1753200"/>
            <a:ext cx="5490000" cy="968400"/>
          </a:xfrm>
        </p:spPr>
        <p:txBody>
          <a:bodyPr/>
          <a:lstStyle>
            <a:lvl1pPr marL="0" indent="0" algn="l">
              <a:buNone/>
              <a:defRPr sz="2000">
                <a:solidFill>
                  <a:srgbClr val="646464"/>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grpSp>
        <p:nvGrpSpPr>
          <p:cNvPr id="12" name="Group 11"/>
          <p:cNvGrpSpPr/>
          <p:nvPr userDrawn="1"/>
        </p:nvGrpSpPr>
        <p:grpSpPr>
          <a:xfrm>
            <a:off x="-6532" y="2405084"/>
            <a:ext cx="9150532" cy="3349170"/>
            <a:chOff x="-6532" y="2405084"/>
            <a:chExt cx="9150532" cy="3349170"/>
          </a:xfrm>
        </p:grpSpPr>
        <p:sp>
          <p:nvSpPr>
            <p:cNvPr id="1032"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rgbClr val="FFD2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pic>
          <p:nvPicPr>
            <p:cNvPr id="8" name="Picture 3"/>
            <p:cNvPicPr>
              <a:picLocks noChangeAspect="1" noChangeArrowheads="1"/>
            </p:cNvPicPr>
            <p:nvPr userDrawn="1"/>
          </p:nvPicPr>
          <p:blipFill>
            <a:blip r:embed="rId3" cstate="print"/>
            <a:srcRect/>
            <a:stretch>
              <a:fillRect/>
            </a:stretch>
          </p:blipFill>
          <p:spPr bwMode="auto">
            <a:xfrm>
              <a:off x="-6532" y="4411503"/>
              <a:ext cx="2289891" cy="1342751"/>
            </a:xfrm>
            <a:prstGeom prst="rect">
              <a:avLst/>
            </a:prstGeom>
            <a:noFill/>
            <a:ln w="9525">
              <a:noFill/>
              <a:miter lim="800000"/>
              <a:headEnd/>
              <a:tailEnd/>
            </a:ln>
            <a:effectLst/>
          </p:spPr>
        </p:pic>
      </p:grpSp>
    </p:spTree>
    <p:extLst>
      <p:ext uri="{BB962C8B-B14F-4D97-AF65-F5344CB8AC3E}">
        <p14:creationId xmlns:p14="http://schemas.microsoft.com/office/powerpoint/2010/main" val="4059320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Front cover_2_Beam (legacy)">
    <p:spTree>
      <p:nvGrpSpPr>
        <p:cNvPr id="1" name=""/>
        <p:cNvGrpSpPr/>
        <p:nvPr/>
      </p:nvGrpSpPr>
      <p:grpSpPr>
        <a:xfrm>
          <a:off x="0" y="0"/>
          <a:ext cx="0" cy="0"/>
          <a:chOff x="0" y="0"/>
          <a:chExt cx="0" cy="0"/>
        </a:xfrm>
      </p:grpSpPr>
      <p:sp>
        <p:nvSpPr>
          <p:cNvPr id="2" name="Title 1"/>
          <p:cNvSpPr>
            <a:spLocks noGrp="1"/>
          </p:cNvSpPr>
          <p:nvPr>
            <p:ph type="ctrTitle"/>
          </p:nvPr>
        </p:nvSpPr>
        <p:spPr>
          <a:xfrm>
            <a:off x="2277384" y="777600"/>
            <a:ext cx="5490000" cy="860400"/>
          </a:xfrm>
        </p:spPr>
        <p:txBody>
          <a:bodyPr/>
          <a:lstStyle/>
          <a:p>
            <a:r>
              <a:rPr lang="en-US" smtClean="0"/>
              <a:t>Click to edit Master title style</a:t>
            </a:r>
            <a:endParaRPr lang="en-GB" dirty="0"/>
          </a:p>
        </p:txBody>
      </p:sp>
      <p:sp>
        <p:nvSpPr>
          <p:cNvPr id="3" name="Subtitle 2"/>
          <p:cNvSpPr>
            <a:spLocks noGrp="1"/>
          </p:cNvSpPr>
          <p:nvPr>
            <p:ph type="subTitle" idx="1"/>
          </p:nvPr>
        </p:nvSpPr>
        <p:spPr>
          <a:xfrm>
            <a:off x="2277384" y="1753200"/>
            <a:ext cx="549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2271942" y="5745156"/>
            <a:ext cx="983483" cy="745200"/>
          </a:xfrm>
          <a:prstGeom prst="rect">
            <a:avLst/>
          </a:prstGeom>
          <a:noFill/>
          <a:ln w="9525">
            <a:noFill/>
            <a:miter lim="800000"/>
            <a:headEnd/>
            <a:tailEnd/>
          </a:ln>
          <a:effectLst/>
        </p:spPr>
      </p:pic>
      <p:sp>
        <p:nvSpPr>
          <p:cNvPr id="16" name="Freeform 15"/>
          <p:cNvSpPr/>
          <p:nvPr userDrawn="1"/>
        </p:nvSpPr>
        <p:spPr>
          <a:xfrm>
            <a:off x="-9144" y="3000375"/>
            <a:ext cx="2286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1"/>
              </a:solidFill>
              <a:latin typeface="+mn-lt"/>
              <a:cs typeface="Arial" pitchFamily="34" charset="0"/>
            </a:endParaRPr>
          </a:p>
        </p:txBody>
      </p:sp>
      <p:sp>
        <p:nvSpPr>
          <p:cNvPr id="17"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mn-lt"/>
              <a:cs typeface="Arial" pitchFamily="34" charset="0"/>
            </a:endParaRPr>
          </a:p>
        </p:txBody>
      </p:sp>
    </p:spTree>
    <p:extLst>
      <p:ext uri="{BB962C8B-B14F-4D97-AF65-F5344CB8AC3E}">
        <p14:creationId xmlns:p14="http://schemas.microsoft.com/office/powerpoint/2010/main" val="29273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457200" y="1418400"/>
            <a:ext cx="8254800" cy="4705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Line 10"/>
          <p:cNvSpPr>
            <a:spLocks noChangeShapeType="1"/>
          </p:cNvSpPr>
          <p:nvPr userDrawn="1"/>
        </p:nvSpPr>
        <p:spPr bwMode="auto">
          <a:xfrm>
            <a:off x="457200" y="1044000"/>
            <a:ext cx="82296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Footer Placeholder 3"/>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568748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Footer Placeholder 2"/>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7693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0400"/>
          </a:xfrm>
        </p:spPr>
        <p:txBody>
          <a:bodyPr/>
          <a:lstStyle/>
          <a:p>
            <a:r>
              <a:rPr lang="en-US" smtClean="0"/>
              <a:t>Click to edit Master title style</a:t>
            </a:r>
            <a:endParaRPr lang="en-GB" dirty="0"/>
          </a:p>
        </p:txBody>
      </p:sp>
      <p:sp>
        <p:nvSpPr>
          <p:cNvPr id="3" name="Content Placeholder 2"/>
          <p:cNvSpPr>
            <a:spLocks noGrp="1"/>
          </p:cNvSpPr>
          <p:nvPr>
            <p:ph sz="half" idx="1"/>
          </p:nvPr>
        </p:nvSpPr>
        <p:spPr>
          <a:xfrm>
            <a:off x="463550" y="1417638"/>
            <a:ext cx="4006850" cy="4708525"/>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648200" y="1417638"/>
            <a:ext cx="4038600" cy="4708525"/>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1614642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0400"/>
          </a:xfrm>
        </p:spPr>
        <p:txBody>
          <a:bodyPr/>
          <a:lstStyle/>
          <a:p>
            <a:r>
              <a:rPr lang="en-US" smtClean="0"/>
              <a:t>Click to edit Master title style</a:t>
            </a:r>
            <a:endParaRPr lang="en-GB" dirty="0"/>
          </a:p>
        </p:txBody>
      </p:sp>
      <p:sp>
        <p:nvSpPr>
          <p:cNvPr id="3" name="Content Placeholder 2"/>
          <p:cNvSpPr>
            <a:spLocks noGrp="1"/>
          </p:cNvSpPr>
          <p:nvPr>
            <p:ph sz="half" idx="1"/>
          </p:nvPr>
        </p:nvSpPr>
        <p:spPr>
          <a:xfrm>
            <a:off x="457200" y="2210660"/>
            <a:ext cx="4013772" cy="39060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651200" y="2210660"/>
            <a:ext cx="4042800" cy="39060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0" name="Text Placeholder 9"/>
          <p:cNvSpPr>
            <a:spLocks noGrp="1"/>
          </p:cNvSpPr>
          <p:nvPr>
            <p:ph type="body" sz="quarter" idx="12"/>
          </p:nvPr>
        </p:nvSpPr>
        <p:spPr>
          <a:xfrm>
            <a:off x="463550" y="1417638"/>
            <a:ext cx="4007422" cy="655506"/>
          </a:xfrm>
        </p:spPr>
        <p:txBody>
          <a:bodyPr anchor="t" anchorCtr="0"/>
          <a:lstStyle>
            <a:lvl1pPr>
              <a:buNone/>
              <a:defRPr b="1"/>
            </a:lvl1pPr>
          </a:lstStyle>
          <a:p>
            <a:pPr lvl="0"/>
            <a:r>
              <a:rPr lang="en-US" smtClean="0"/>
              <a:t>Click to edit Master text styles</a:t>
            </a:r>
          </a:p>
        </p:txBody>
      </p:sp>
      <p:sp>
        <p:nvSpPr>
          <p:cNvPr id="11" name="Text Placeholder 9"/>
          <p:cNvSpPr>
            <a:spLocks noGrp="1"/>
          </p:cNvSpPr>
          <p:nvPr>
            <p:ph type="body" sz="quarter" idx="13"/>
          </p:nvPr>
        </p:nvSpPr>
        <p:spPr>
          <a:xfrm>
            <a:off x="4651200" y="1417638"/>
            <a:ext cx="4042800" cy="655506"/>
          </a:xfrm>
        </p:spPr>
        <p:txBody>
          <a:bodyPr anchor="t" anchorCtr="0"/>
          <a:lstStyle>
            <a:lvl1pPr>
              <a:buNone/>
              <a:defRPr b="1"/>
            </a:lvl1pPr>
          </a:lstStyle>
          <a:p>
            <a:pPr lvl="0"/>
            <a:r>
              <a:rPr lang="en-US" smtClean="0"/>
              <a:t>Click to edit Master text styles</a:t>
            </a:r>
          </a:p>
        </p:txBody>
      </p:sp>
      <p:sp>
        <p:nvSpPr>
          <p:cNvPr id="5" name="Footer Placeholder 4"/>
          <p:cNvSpPr>
            <a:spLocks noGrp="1"/>
          </p:cNvSpPr>
          <p:nvPr>
            <p:ph type="ftr" sz="quarter" idx="14"/>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1875879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etter question storytell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5" name="Footer Placeholder 4"/>
          <p:cNvSpPr>
            <a:spLocks noGrp="1"/>
          </p:cNvSpPr>
          <p:nvPr>
            <p:ph type="ftr" sz="quarter" idx="11"/>
          </p:nvPr>
        </p:nvSpPr>
        <p:spPr/>
        <p:txBody>
          <a:bodyPr/>
          <a:lstStyle/>
          <a:p>
            <a:r>
              <a:rPr lang="en-GB" smtClean="0"/>
              <a:t>Presentation title</a:t>
            </a:r>
            <a:endParaRPr lang="en-GB"/>
          </a:p>
        </p:txBody>
      </p:sp>
      <p:sp>
        <p:nvSpPr>
          <p:cNvPr id="8"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698004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55614" y="1025525"/>
            <a:ext cx="82296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smtClean="0"/>
              <a:t>Click to edit Master text styles</a:t>
            </a:r>
          </a:p>
        </p:txBody>
      </p:sp>
      <p:sp>
        <p:nvSpPr>
          <p:cNvPr id="5"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2" name="Footer Placeholder 1"/>
          <p:cNvSpPr>
            <a:spLocks noGrp="1"/>
          </p:cNvSpPr>
          <p:nvPr>
            <p:ph type="ftr" sz="quarter" idx="12"/>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261562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smtClean="0"/>
              <a:t>Click to edit Master title style</a:t>
            </a:r>
            <a:endParaRPr lang="en-US" dirty="0"/>
          </a:p>
        </p:txBody>
      </p:sp>
      <p:sp>
        <p:nvSpPr>
          <p:cNvPr id="6" name="Freeform 5"/>
          <p:cNvSpPr>
            <a:spLocks/>
          </p:cNvSpPr>
          <p:nvPr userDrawn="1"/>
        </p:nvSpPr>
        <p:spPr bwMode="gray">
          <a:xfrm>
            <a:off x="457200" y="1029600"/>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Footer Placeholder 1"/>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2044832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smtClean="0"/>
              <a:t>Click to edit Master title style</a:t>
            </a:r>
            <a:endParaRPr lang="en-US" dirty="0"/>
          </a:p>
        </p:txBody>
      </p:sp>
      <p:sp>
        <p:nvSpPr>
          <p:cNvPr id="6" name="Freeform 5"/>
          <p:cNvSpPr>
            <a:spLocks/>
          </p:cNvSpPr>
          <p:nvPr userDrawn="1"/>
        </p:nvSpPr>
        <p:spPr bwMode="gray">
          <a:xfrm>
            <a:off x="457200" y="1040400"/>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Footer Placeholder 1"/>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393080655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smtClean="0"/>
              <a:t>Click to edit Master title style</a:t>
            </a:r>
            <a:endParaRPr lang="en-US" dirty="0"/>
          </a:p>
        </p:txBody>
      </p:sp>
      <p:pic>
        <p:nvPicPr>
          <p:cNvPr id="7" name="Picture 2"/>
          <p:cNvPicPr>
            <a:picLocks noChangeAspect="1" noChangeArrowheads="1"/>
          </p:cNvPicPr>
          <p:nvPr userDrawn="1"/>
        </p:nvPicPr>
        <p:blipFill>
          <a:blip r:embed="rId2" cstate="print"/>
          <a:srcRect/>
          <a:stretch>
            <a:fillRect/>
          </a:stretch>
        </p:blipFill>
        <p:spPr bwMode="auto">
          <a:xfrm>
            <a:off x="457200" y="1044000"/>
            <a:ext cx="8225549" cy="5184000"/>
          </a:xfrm>
          <a:prstGeom prst="rect">
            <a:avLst/>
          </a:prstGeom>
          <a:noFill/>
          <a:ln w="9525">
            <a:noFill/>
            <a:miter lim="800000"/>
            <a:headEnd/>
            <a:tailEnd/>
          </a:ln>
          <a:effectLst/>
        </p:spPr>
      </p:pic>
      <p:sp>
        <p:nvSpPr>
          <p:cNvPr id="2" name="Footer Placeholder 1"/>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37669438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smtClean="0"/>
              <a:t>Click to edit Master title style</a:t>
            </a:r>
            <a:endParaRPr lang="en-US" dirty="0"/>
          </a:p>
        </p:txBody>
      </p:sp>
      <p:sp>
        <p:nvSpPr>
          <p:cNvPr id="5" name="Freeform 5"/>
          <p:cNvSpPr>
            <a:spLocks/>
          </p:cNvSpPr>
          <p:nvPr userDrawn="1"/>
        </p:nvSpPr>
        <p:spPr bwMode="gray">
          <a:xfrm>
            <a:off x="457200" y="1049278"/>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extLst>
                <a:ext uri="{BEBA8EAE-BF5A-486C-A8C5-ECC9F3942E4B}">
                  <a14:imgProps xmlns:a14="http://schemas.microsoft.com/office/drawing/2010/main">
                    <a14:imgLayer r:embed="rId3">
                      <a14:imgEffect>
                        <a14:saturation sat="0"/>
                      </a14:imgEffect>
                    </a14:imgLayer>
                  </a14:imgProps>
                </a:ext>
              </a:extLst>
            </a:blip>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mn-lt"/>
              <a:cs typeface="Arial" pitchFamily="34" charset="0"/>
            </a:endParaRPr>
          </a:p>
        </p:txBody>
      </p:sp>
      <p:sp>
        <p:nvSpPr>
          <p:cNvPr id="2" name="Footer Placeholder 1"/>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27341894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455613" y="6243638"/>
            <a:ext cx="8229600" cy="0"/>
          </a:xfrm>
          <a:prstGeom prst="line">
            <a:avLst/>
          </a:prstGeom>
          <a:noFill/>
          <a:ln w="3175">
            <a:solidFill>
              <a:schemeClr val="bg1"/>
            </a:solidFill>
            <a:round/>
            <a:headEnd/>
            <a:tailEnd/>
          </a:ln>
          <a:effectLst/>
        </p:spPr>
        <p:txBody>
          <a:bodyPr wrap="none" anchor="ctr"/>
          <a:lstStyle/>
          <a:p>
            <a:endParaRPr lang="en-US" noProof="0" dirty="0">
              <a:solidFill>
                <a:schemeClr val="bg1"/>
              </a:solidFill>
            </a:endParaRPr>
          </a:p>
        </p:txBody>
      </p:sp>
      <p:sp>
        <p:nvSpPr>
          <p:cNvPr id="2" name="Footer Placeholder 1"/>
          <p:cNvSpPr>
            <a:spLocks noGrp="1"/>
          </p:cNvSpPr>
          <p:nvPr>
            <p:ph type="ftr" sz="quarter" idx="10"/>
          </p:nvPr>
        </p:nvSpPr>
        <p:spPr/>
        <p:txBody>
          <a:bodyPr/>
          <a:lstStyle/>
          <a:p>
            <a:r>
              <a:rPr lang="en-US" noProof="0" smtClean="0"/>
              <a:t>Presentation title</a:t>
            </a:r>
            <a:endParaRPr lang="en-US" noProof="0"/>
          </a:p>
        </p:txBody>
      </p:sp>
    </p:spTree>
    <p:extLst>
      <p:ext uri="{BB962C8B-B14F-4D97-AF65-F5344CB8AC3E}">
        <p14:creationId xmlns:p14="http://schemas.microsoft.com/office/powerpoint/2010/main" val="166112614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ack cover_EN">
    <p:spTree>
      <p:nvGrpSpPr>
        <p:cNvPr id="1" name=""/>
        <p:cNvGrpSpPr/>
        <p:nvPr/>
      </p:nvGrpSpPr>
      <p:grpSpPr>
        <a:xfrm>
          <a:off x="0" y="0"/>
          <a:ext cx="0" cy="0"/>
          <a:chOff x="0" y="0"/>
          <a:chExt cx="0" cy="0"/>
        </a:xfrm>
      </p:grpSpPr>
      <p:sp>
        <p:nvSpPr>
          <p:cNvPr id="6" name="Text Box 2"/>
          <p:cNvSpPr txBox="1">
            <a:spLocks noChangeArrowheads="1"/>
          </p:cNvSpPr>
          <p:nvPr userDrawn="1"/>
        </p:nvSpPr>
        <p:spPr bwMode="auto">
          <a:xfrm>
            <a:off x="0" y="0"/>
            <a:ext cx="4662488" cy="4743450"/>
          </a:xfrm>
          <a:prstGeom prst="rect">
            <a:avLst/>
          </a:prstGeom>
          <a:noFill/>
          <a:ln w="9525">
            <a:noFill/>
            <a:miter lim="800000"/>
            <a:headEnd/>
            <a:tailEnd/>
          </a:ln>
        </p:spPr>
        <p:txBody>
          <a:bodyPr vert="horz" wrap="square" lIns="468000" tIns="468000" rIns="30960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GB" sz="900" b="0" i="0" u="none" strike="noStrike" kern="0" cap="none" spc="0" normalizeH="0" baseline="0" noProof="0" dirty="0" smtClean="0">
                <a:ln>
                  <a:noFill/>
                </a:ln>
                <a:solidFill>
                  <a:srgbClr val="000000"/>
                </a:solidFill>
                <a:effectLst/>
                <a:uLnTx/>
                <a:uFillTx/>
                <a:latin typeface="EYInterstate" pitchFamily="2" charset="0"/>
              </a:rPr>
              <a:t>EY</a:t>
            </a:r>
            <a:r>
              <a:rPr kumimoji="0" lang="en-GB" sz="900" b="0" i="0" u="none" strike="noStrike" kern="0" cap="none" spc="0" normalizeH="0" baseline="0" noProof="0" dirty="0" smtClean="0">
                <a:ln>
                  <a:noFill/>
                </a:ln>
                <a:solidFill>
                  <a:srgbClr val="000000"/>
                </a:solidFill>
                <a:effectLst/>
                <a:uLnTx/>
                <a:uFillTx/>
                <a:latin typeface="EYInterstate Regular" charset="0"/>
              </a:rPr>
              <a:t> </a:t>
            </a:r>
            <a:r>
              <a:rPr kumimoji="0" lang="en-GB" sz="900" b="0" i="0" u="none" strike="noStrike" kern="0" cap="none" spc="0" normalizeH="0" baseline="0" noProof="0" dirty="0" smtClean="0">
                <a:ln>
                  <a:noFill/>
                </a:ln>
                <a:solidFill>
                  <a:srgbClr val="000000"/>
                </a:solidFill>
                <a:effectLst/>
                <a:uLnTx/>
                <a:uFillTx/>
                <a:latin typeface="EYInterstate Light" pitchFamily="2" charset="0"/>
              </a:rPr>
              <a:t>| Assurance | Tax | Transactions | Advisory</a:t>
            </a:r>
            <a:endParaRPr kumimoji="0" lang="en-GB" sz="900" b="0" i="0" u="none" strike="noStrike" kern="0" cap="none" spc="0" normalizeH="0" baseline="0" noProof="0" dirty="0" smtClean="0">
              <a:ln>
                <a:noFill/>
              </a:ln>
              <a:solidFill>
                <a:srgbClr val="000000"/>
              </a:solidFill>
              <a:effectLst/>
              <a:uLnTx/>
              <a:uFillTx/>
              <a:latin typeface="EYInterstate-Light" charset="0"/>
            </a:endParaRPr>
          </a:p>
          <a:p>
            <a:pPr marL="0" marR="0" lvl="0" indent="0" algn="l" defTabSz="914400" rtl="0" eaLnBrk="1" fontAlgn="base" latinLnBrk="0" hangingPunct="1">
              <a:lnSpc>
                <a:spcPct val="100000"/>
              </a:lnSpc>
              <a:spcBef>
                <a:spcPct val="0"/>
              </a:spcBef>
              <a:spcAft>
                <a:spcPts val="1000"/>
              </a:spcAft>
              <a:buClrTx/>
              <a:buSzTx/>
              <a:buFontTx/>
              <a:buNone/>
              <a:tabLst/>
              <a:defRPr/>
            </a:pPr>
            <a:endParaRPr kumimoji="0" lang="cs-CZ" sz="900" b="0" i="0" u="none" strike="noStrike" kern="0" cap="none" spc="0" normalizeH="0" baseline="0" noProof="0" dirty="0" smtClean="0">
              <a:ln>
                <a:noFill/>
              </a:ln>
              <a:solidFill>
                <a:srgbClr val="7F7E82"/>
              </a:solidFill>
              <a:effectLst/>
              <a:uLnTx/>
              <a:uFillTx/>
              <a:latin typeface="Times New Roman" pitchFamily="18" charset="0"/>
            </a:endParaRPr>
          </a:p>
          <a:p>
            <a:pPr marL="0" marR="0" lvl="0" indent="0" algn="l" defTabSz="914400" rtl="0" eaLnBrk="1" fontAlgn="base" latinLnBrk="0" hangingPunct="1">
              <a:lnSpc>
                <a:spcPct val="100000"/>
              </a:lnSpc>
              <a:spcBef>
                <a:spcPct val="0"/>
              </a:spcBef>
              <a:spcAft>
                <a:spcPts val="100"/>
              </a:spcAft>
              <a:buClrTx/>
              <a:buSzTx/>
              <a:buFontTx/>
              <a:buNone/>
              <a:tabLst/>
              <a:defRPr/>
            </a:pPr>
            <a:r>
              <a:rPr kumimoji="0" lang="en-GB" sz="700" b="0" i="0" u="none" strike="noStrike" kern="0" cap="none" spc="0" normalizeH="0" baseline="0" noProof="0" dirty="0" smtClean="0">
                <a:ln>
                  <a:noFill/>
                </a:ln>
                <a:solidFill>
                  <a:srgbClr val="000000"/>
                </a:solidFill>
                <a:effectLst/>
                <a:uLnTx/>
                <a:uFillTx/>
                <a:latin typeface="EYInterstate" pitchFamily="2" charset="0"/>
              </a:rPr>
              <a:t>About EY</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EY is a global leader in assurance, tax, transaction and advisory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services. The insights and quality services we deliver help build trust and </a:t>
            </a: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confidence in the capital markets and in economies the world over. We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develop outstanding leaders who team to deliver on our promises to all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of our stakeholders. In so doing, we play a critical role in building a better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working world for our people, for our clients and for our communities.</a:t>
            </a:r>
          </a:p>
          <a:p>
            <a:pPr marL="0" marR="0" lvl="0" indent="0" algn="l" defTabSz="914400" rtl="0" eaLnBrk="1" fontAlgn="base" latinLnBrk="0" hangingPunct="1">
              <a:lnSpc>
                <a:spcPct val="100000"/>
              </a:lnSpc>
              <a:spcBef>
                <a:spcPct val="0"/>
              </a:spcBef>
              <a:spcAft>
                <a:spcPts val="525"/>
              </a:spcAft>
              <a:buClrTx/>
              <a:buSzTx/>
              <a:buFontTx/>
              <a:buNone/>
              <a:tabLst/>
              <a:defRPr/>
            </a:pPr>
            <a:endParaRPr kumimoji="0" lang="en-US"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EY refers to the global organization and may refer to one or more of the</a:t>
            </a:r>
            <a:b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member </a:t>
            </a:r>
            <a:r>
              <a:rPr kumimoji="0" lang="en-US" sz="700" b="0" i="0" u="none" strike="noStrike" kern="0" cap="none" spc="0" normalizeH="0" baseline="0" noProof="0" dirty="0" smtClean="0">
                <a:ln>
                  <a:noFill/>
                </a:ln>
                <a:solidFill>
                  <a:srgbClr val="000000"/>
                </a:solidFill>
                <a:effectLst/>
                <a:uLnTx/>
                <a:uFillTx/>
                <a:latin typeface="EYInterstate Light" pitchFamily="2" charset="0"/>
              </a:rPr>
              <a:t>firms of Ernst &amp; Young Global Limited, each of which is a separate legal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entity. Ernst &amp; Young Global Limited, a UK company limited by guarantee,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does not provide services to clients. For more information about our </a:t>
            </a: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organization, please visit ey.com.</a:t>
            </a: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201</a:t>
            </a: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6</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Ernst &amp; Young, s.r.o. | Ernst &amp; Young Audit, </a:t>
            </a:r>
            <a:r>
              <a:rPr kumimoji="0" lang="en-US" sz="700" b="0" i="0" u="none" strike="noStrike" kern="0" cap="none" spc="0" normalizeH="0" baseline="0" noProof="0" dirty="0" err="1" smtClean="0">
                <a:ln>
                  <a:noFill/>
                </a:ln>
                <a:solidFill>
                  <a:srgbClr val="000000"/>
                </a:solidFill>
                <a:effectLst/>
                <a:uLnTx/>
                <a:uFillTx/>
                <a:latin typeface="EYInterstate Light" pitchFamily="2" charset="0"/>
                <a:ea typeface="+mn-ea"/>
                <a:cs typeface="+mn-cs"/>
              </a:rPr>
              <a:t>s.r.o</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 E &amp; Y Valuations </a:t>
            </a:r>
            <a:r>
              <a:rPr kumimoji="0" lang="en-US" sz="700" b="0" i="0" u="none" strike="noStrike" kern="0" cap="none" spc="0" normalizeH="0" baseline="0" noProof="0" dirty="0" err="1" smtClean="0">
                <a:ln>
                  <a:noFill/>
                </a:ln>
                <a:solidFill>
                  <a:srgbClr val="000000"/>
                </a:solidFill>
                <a:effectLst/>
                <a:uLnTx/>
                <a:uFillTx/>
                <a:latin typeface="EYInterstate Light" pitchFamily="2" charset="0"/>
                <a:ea typeface="+mn-ea"/>
                <a:cs typeface="+mn-cs"/>
              </a:rPr>
              <a:t>s.r.o</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a:t>
            </a:r>
            <a:b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All Rights Reserved.</a:t>
            </a:r>
            <a:endPar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GB"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This material has been prepared for general informational purposes only and is not </a:t>
            </a:r>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r>
            <a:b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GB"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intended to be relied upon as accounting, tax, or other professional advice. Please refer </a:t>
            </a:r>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r>
            <a:b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GB"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to your advisors for specific advice</a:t>
            </a:r>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a:t>
            </a: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r>
            <a:b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endParaRPr kumimoji="0" lang="en-GB"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GB" sz="900" b="0" i="0" u="none" strike="noStrike" kern="0" cap="none" spc="0" normalizeH="0" baseline="0" noProof="0" dirty="0" smtClean="0">
                <a:ln>
                  <a:noFill/>
                </a:ln>
                <a:solidFill>
                  <a:srgbClr val="000000"/>
                </a:solidFill>
                <a:effectLst/>
                <a:uLnTx/>
                <a:uFillTx/>
                <a:latin typeface="EYInterstate" pitchFamily="2" charset="0"/>
              </a:rPr>
              <a:t>ey.com</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cs-CZ" sz="1600" b="0" i="0" u="none" strike="noStrike" kern="0" cap="none" spc="0" normalizeH="0" baseline="0" noProof="0" dirty="0" smtClean="0">
              <a:ln>
                <a:noFill/>
              </a:ln>
              <a:solidFill>
                <a:srgbClr val="7F7E82"/>
              </a:solidFill>
              <a:effectLst/>
              <a:uLnTx/>
              <a:uFillTx/>
              <a:latin typeface="Arial" pitchFamily="34" charset="0"/>
            </a:endParaRPr>
          </a:p>
        </p:txBody>
      </p:sp>
    </p:spTree>
    <p:extLst>
      <p:ext uri="{BB962C8B-B14F-4D97-AF65-F5344CB8AC3E}">
        <p14:creationId xmlns:p14="http://schemas.microsoft.com/office/powerpoint/2010/main" val="24193976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ack cover_CZ">
    <p:spTree>
      <p:nvGrpSpPr>
        <p:cNvPr id="1" name=""/>
        <p:cNvGrpSpPr/>
        <p:nvPr/>
      </p:nvGrpSpPr>
      <p:grpSpPr>
        <a:xfrm>
          <a:off x="0" y="0"/>
          <a:ext cx="0" cy="0"/>
          <a:chOff x="0" y="0"/>
          <a:chExt cx="0" cy="0"/>
        </a:xfrm>
      </p:grpSpPr>
      <p:sp>
        <p:nvSpPr>
          <p:cNvPr id="5" name="Text Box 2"/>
          <p:cNvSpPr txBox="1">
            <a:spLocks noChangeArrowheads="1"/>
          </p:cNvSpPr>
          <p:nvPr userDrawn="1"/>
        </p:nvSpPr>
        <p:spPr bwMode="auto">
          <a:xfrm>
            <a:off x="1" y="0"/>
            <a:ext cx="4143736" cy="4745037"/>
          </a:xfrm>
          <a:prstGeom prst="rect">
            <a:avLst/>
          </a:prstGeom>
          <a:noFill/>
          <a:ln w="9525">
            <a:noFill/>
            <a:miter lim="800000"/>
            <a:headEnd/>
            <a:tailEnd/>
          </a:ln>
        </p:spPr>
        <p:txBody>
          <a:bodyPr vert="horz" wrap="square" lIns="468000" tIns="468000" rIns="30960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900" b="0" i="0" u="none" strike="noStrike" kern="0" cap="none" spc="0" normalizeH="0" baseline="0" noProof="0" dirty="0" smtClean="0">
                <a:ln>
                  <a:noFill/>
                </a:ln>
                <a:solidFill>
                  <a:srgbClr val="000000"/>
                </a:solidFill>
                <a:effectLst/>
                <a:uLnTx/>
                <a:uFillTx/>
                <a:latin typeface="EYInterstate" pitchFamily="2" charset="0"/>
              </a:rPr>
              <a:t>EY</a:t>
            </a:r>
            <a:r>
              <a:rPr kumimoji="0" lang="cs-CZ" sz="900" b="0" i="0" u="none" strike="noStrike" kern="0" cap="none" spc="0" normalizeH="0" baseline="0" noProof="0" dirty="0" smtClean="0">
                <a:ln>
                  <a:noFill/>
                </a:ln>
                <a:solidFill>
                  <a:srgbClr val="000000"/>
                </a:solidFill>
                <a:effectLst/>
                <a:uLnTx/>
                <a:uFillTx/>
                <a:latin typeface="EYInterstate Regular" charset="0"/>
              </a:rPr>
              <a:t> </a:t>
            </a:r>
            <a:r>
              <a:rPr kumimoji="0" lang="cs-CZ" sz="900" b="0" i="0" u="none" strike="noStrike" kern="0" cap="none" spc="0" normalizeH="0" baseline="0" noProof="0" dirty="0" smtClean="0">
                <a:ln>
                  <a:noFill/>
                </a:ln>
                <a:solidFill>
                  <a:srgbClr val="000000"/>
                </a:solidFill>
                <a:effectLst/>
                <a:uLnTx/>
                <a:uFillTx/>
                <a:latin typeface="EYInterstate Light" pitchFamily="2" charset="0"/>
              </a:rPr>
              <a:t>| Assurance | Tax | Transactions | Advisory</a:t>
            </a:r>
            <a:endParaRPr kumimoji="0" lang="cs-CZ" sz="900" b="0" i="0" u="none" strike="noStrike" kern="0" cap="none" spc="0" normalizeH="0" baseline="0" noProof="0" dirty="0" smtClean="0">
              <a:ln>
                <a:noFill/>
              </a:ln>
              <a:solidFill>
                <a:srgbClr val="000000"/>
              </a:solidFill>
              <a:effectLst/>
              <a:uLnTx/>
              <a:uFillTx/>
              <a:latin typeface="EYInterstate-Light" charset="0"/>
            </a:endParaRPr>
          </a:p>
          <a:p>
            <a:pPr marL="0" marR="0" lvl="0" indent="0" algn="l" defTabSz="914400" rtl="0" eaLnBrk="1" fontAlgn="base" latinLnBrk="0" hangingPunct="1">
              <a:lnSpc>
                <a:spcPct val="100000"/>
              </a:lnSpc>
              <a:spcBef>
                <a:spcPct val="0"/>
              </a:spcBef>
              <a:spcAft>
                <a:spcPts val="1000"/>
              </a:spcAft>
              <a:buClrTx/>
              <a:buSzTx/>
              <a:buFontTx/>
              <a:buNone/>
              <a:tabLst/>
              <a:defRPr/>
            </a:pPr>
            <a:endParaRPr kumimoji="0" lang="cs-CZ" sz="900" b="0" i="0" u="none" strike="noStrike" kern="0" cap="none" spc="0" normalizeH="0" baseline="0" noProof="0" dirty="0" smtClean="0">
              <a:ln>
                <a:noFill/>
              </a:ln>
              <a:solidFill>
                <a:srgbClr val="7F7E82"/>
              </a:solidFill>
              <a:effectLst/>
              <a:uLnTx/>
              <a:uFillTx/>
              <a:latin typeface="Times New Roman" pitchFamily="18" charset="0"/>
            </a:endParaRPr>
          </a:p>
          <a:p>
            <a:pPr marL="0" marR="0" lvl="0" indent="0" algn="l" defTabSz="914400" rtl="0" eaLnBrk="1" fontAlgn="base" latinLnBrk="0" hangingPunct="1">
              <a:lnSpc>
                <a:spcPct val="100000"/>
              </a:lnSpc>
              <a:spcBef>
                <a:spcPct val="0"/>
              </a:spcBef>
              <a:spcAft>
                <a:spcPts val="100"/>
              </a:spcAft>
              <a:buClrTx/>
              <a:buSzTx/>
              <a:buFontTx/>
              <a:buNone/>
              <a:tabLst/>
              <a:defRPr/>
            </a:pPr>
            <a:r>
              <a:rPr kumimoji="0" lang="cs-CZ" sz="700" b="0" i="0" u="none" strike="noStrike" kern="0" cap="none" spc="0" normalizeH="0" baseline="0" noProof="0" dirty="0" smtClean="0">
                <a:ln>
                  <a:noFill/>
                </a:ln>
                <a:solidFill>
                  <a:srgbClr val="000000"/>
                </a:solidFill>
                <a:effectLst/>
                <a:uLnTx/>
                <a:uFillTx/>
                <a:latin typeface="EYInterstate" pitchFamily="2" charset="0"/>
              </a:rPr>
              <a:t>Informace o EY</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EY je předním celosvětovým poskytovatelem odborných poradenských služeb </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v oblasti auditu, daní, transakčního a podnikového poradenství. Znalost </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problematiky a kvalita služeb, které poskytujeme, přispívají k posilování důvěry </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v kapitálové trhy i v ekonomiky celého světa. Výjimečný lidský a odborný potenciál nám umožňuje hrát významnou roli při vytváření lepšího prostředí pro naše zaměstnance, klienty i pro širší společnost.</a:t>
            </a:r>
          </a:p>
          <a:p>
            <a:pPr marL="0" marR="0" lvl="0" indent="0" algn="l" defTabSz="914400" rtl="0" eaLnBrk="1" fontAlgn="base" latinLnBrk="0" hangingPunct="1">
              <a:lnSpc>
                <a:spcPct val="100000"/>
              </a:lnSpc>
              <a:spcBef>
                <a:spcPct val="0"/>
              </a:spcBef>
              <a:spcAft>
                <a:spcPts val="525"/>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700" b="0" i="0" u="none" strike="noStrike" kern="0" cap="none" spc="0" normalizeH="0" baseline="0" noProof="0" dirty="0" smtClean="0">
                <a:ln>
                  <a:noFill/>
                </a:ln>
                <a:solidFill>
                  <a:srgbClr val="000000"/>
                </a:solidFill>
                <a:effectLst/>
                <a:uLnTx/>
                <a:uFillTx/>
                <a:latin typeface="EYInterstate Light" pitchFamily="2" charset="0"/>
              </a:rPr>
              <a:t>Název EY zahrnuje celosvětovou organizaci a může zahrnovat jednu či více členských firem Ernst &amp; Young Global Limited, z nichž každá je samostatnou právnickou osobou. Ernst &amp; Young Global Limited, britská společnost s ručením omezeným garancí, služby klientům neposkytuje. Pro podrobnější informace o naší organizaci navštivte prosím naše webové stránky ey.com.</a:t>
            </a: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700" b="0" i="0" u="none" strike="noStrike" kern="0" cap="none" spc="0" normalizeH="0" baseline="0" noProof="0" dirty="0" smtClean="0">
                <a:ln>
                  <a:noFill/>
                </a:ln>
                <a:solidFill>
                  <a:srgbClr val="000000"/>
                </a:solidFill>
                <a:effectLst/>
                <a:uLnTx/>
                <a:uFillTx/>
                <a:latin typeface="EYInterstate Light" pitchFamily="2" charset="0"/>
              </a:rPr>
              <a:t>© 2016  Ernst &amp; Young, s.r.o. </a:t>
            </a:r>
            <a:r>
              <a:rPr kumimoji="0" lang="cs-CZ" sz="900" b="0" i="0" u="none" strike="noStrike" kern="0" cap="none" spc="0" normalizeH="0" baseline="0" noProof="0" dirty="0" smtClean="0">
                <a:ln>
                  <a:noFill/>
                </a:ln>
                <a:solidFill>
                  <a:srgbClr val="000000"/>
                </a:solidFill>
                <a:effectLst/>
                <a:uLnTx/>
                <a:uFillTx/>
                <a:latin typeface="EYInterstate Light" pitchFamily="2" charset="0"/>
              </a:rPr>
              <a:t>|</a:t>
            </a:r>
            <a:r>
              <a:rPr kumimoji="0" lang="cs-CZ" sz="700" b="0" i="0" u="none" strike="noStrike" kern="0" cap="none" spc="0" normalizeH="0" baseline="0" noProof="0" dirty="0" smtClean="0">
                <a:ln>
                  <a:noFill/>
                </a:ln>
                <a:solidFill>
                  <a:srgbClr val="000000"/>
                </a:solidFill>
                <a:effectLst/>
                <a:uLnTx/>
                <a:uFillTx/>
                <a:latin typeface="EYInterstate Light" pitchFamily="2" charset="0"/>
              </a:rPr>
              <a:t> Ernst &amp; Young Audit, s.r.o. </a:t>
            </a:r>
            <a:r>
              <a:rPr kumimoji="0" lang="cs-CZ" sz="900" b="0" i="0" u="none" strike="noStrike" kern="0" cap="none" spc="0" normalizeH="0" baseline="0" noProof="0" dirty="0" smtClean="0">
                <a:ln>
                  <a:noFill/>
                </a:ln>
                <a:solidFill>
                  <a:srgbClr val="000000"/>
                </a:solidFill>
                <a:effectLst/>
                <a:uLnTx/>
                <a:uFillTx/>
                <a:latin typeface="EYInterstate Light" pitchFamily="2" charset="0"/>
              </a:rPr>
              <a:t>|</a:t>
            </a:r>
            <a:r>
              <a:rPr kumimoji="0" lang="cs-CZ" sz="700" b="0" i="0" u="none" strike="noStrike" kern="0" cap="none" spc="0" normalizeH="0" baseline="0" noProof="0" dirty="0" smtClean="0">
                <a:ln>
                  <a:noFill/>
                </a:ln>
                <a:solidFill>
                  <a:srgbClr val="000000"/>
                </a:solidFill>
                <a:effectLst/>
                <a:uLnTx/>
                <a:uFillTx/>
                <a:latin typeface="EYInterstate Light" pitchFamily="2" charset="0"/>
              </a:rPr>
              <a:t> E &amp; Y Valuations s.r.o.</a:t>
            </a:r>
            <a:br>
              <a:rPr kumimoji="0" lang="cs-CZ" sz="700" b="0" i="0" u="none" strike="noStrike" kern="0" cap="none" spc="0" normalizeH="0" baseline="0" noProof="0" dirty="0" smtClean="0">
                <a:ln>
                  <a:noFill/>
                </a:ln>
                <a:solidFill>
                  <a:srgbClr val="000000"/>
                </a:solidFill>
                <a:effectLst/>
                <a:uLnTx/>
                <a:uFillTx/>
                <a:latin typeface="EYInterstate Light" pitchFamily="2" charset="0"/>
              </a:rPr>
            </a:br>
            <a:r>
              <a:rPr kumimoji="0" lang="cs-CZ" sz="700" b="0" i="0" u="none" strike="noStrike" kern="0" cap="none" spc="0" normalizeH="0" baseline="0" noProof="0" dirty="0" smtClean="0">
                <a:ln>
                  <a:noFill/>
                </a:ln>
                <a:solidFill>
                  <a:srgbClr val="000000"/>
                </a:solidFill>
                <a:effectLst/>
                <a:uLnTx/>
                <a:uFillTx/>
                <a:latin typeface="EYInterstate Light" pitchFamily="2" charset="0"/>
              </a:rPr>
              <a:t>Všechna práva vyhrazena.</a:t>
            </a: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Tento materiál má pouze všeobecný informační charakter, na který není možné spoléhat se jako na poskytnutí účetního, daňového ani jiného odborného poradenství. V případě potřeby se prosím obraťte na svého konkrétního poradce.</a:t>
            </a:r>
          </a:p>
          <a:p>
            <a:pPr>
              <a:spcAft>
                <a:spcPts val="525"/>
              </a:spcAft>
            </a:pPr>
            <a:endPar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900" b="0" i="0" u="none" strike="noStrike" kern="0" cap="none" spc="0" normalizeH="0" baseline="0" noProof="0" dirty="0" smtClean="0">
                <a:ln>
                  <a:noFill/>
                </a:ln>
                <a:solidFill>
                  <a:srgbClr val="000000"/>
                </a:solidFill>
                <a:effectLst/>
                <a:uLnTx/>
                <a:uFillTx/>
                <a:latin typeface="EYInterstate" pitchFamily="2" charset="0"/>
              </a:rPr>
              <a:t>ey.com</a:t>
            </a:r>
            <a:endParaRPr kumimoji="0" lang="cs-CZ" sz="700" b="0" i="0" u="none" strike="noStrike" kern="0" cap="none" spc="0" normalizeH="0" baseline="0" noProof="0" dirty="0" smtClean="0">
              <a:ln>
                <a:noFill/>
              </a:ln>
              <a:solidFill>
                <a:srgbClr val="000000"/>
              </a:solidFill>
              <a:effectLst/>
              <a:uLnTx/>
              <a:uFillTx/>
              <a:latin typeface="EYInterstate" pitchFamily="2"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cs-CZ" sz="1600" b="0" i="0" u="none" strike="noStrike" kern="0" cap="none" spc="0" normalizeH="0" baseline="0" noProof="0" dirty="0" smtClean="0">
              <a:ln>
                <a:noFill/>
              </a:ln>
              <a:solidFill>
                <a:srgbClr val="7F7E82"/>
              </a:solidFill>
              <a:effectLst/>
              <a:uLnTx/>
              <a:uFillTx/>
              <a:latin typeface="Arial" pitchFamily="34" charset="0"/>
            </a:endParaRPr>
          </a:p>
        </p:txBody>
      </p:sp>
    </p:spTree>
    <p:extLst>
      <p:ext uri="{BB962C8B-B14F-4D97-AF65-F5344CB8AC3E}">
        <p14:creationId xmlns:p14="http://schemas.microsoft.com/office/powerpoint/2010/main" val="1090007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037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ront cover_1_Frame">
    <p:spTree>
      <p:nvGrpSpPr>
        <p:cNvPr id="1" name=""/>
        <p:cNvGrpSpPr/>
        <p:nvPr/>
      </p:nvGrpSpPr>
      <p:grpSpPr>
        <a:xfrm>
          <a:off x="0" y="0"/>
          <a:ext cx="0" cy="0"/>
          <a:chOff x="0" y="0"/>
          <a:chExt cx="0" cy="0"/>
        </a:xfrm>
      </p:grpSpPr>
      <p:sp>
        <p:nvSpPr>
          <p:cNvPr id="16" name="Rectangle 1"/>
          <p:cNvSpPr>
            <a:spLocks noChangeAspect="1"/>
          </p:cNvSpPr>
          <p:nvPr userDrawn="1"/>
        </p:nvSpPr>
        <p:spPr>
          <a:xfrm>
            <a:off x="1980406" y="777240"/>
            <a:ext cx="6755607" cy="3400425"/>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5607" h="3400425">
                <a:moveTo>
                  <a:pt x="0" y="1197768"/>
                </a:moveTo>
                <a:lnTo>
                  <a:pt x="6755607" y="0"/>
                </a:lnTo>
                <a:lnTo>
                  <a:pt x="6755607" y="3400425"/>
                </a:lnTo>
                <a:lnTo>
                  <a:pt x="2382" y="3400425"/>
                </a:lnTo>
                <a:lnTo>
                  <a:pt x="0" y="1197768"/>
                </a:ln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7" name="Title 1"/>
          <p:cNvSpPr>
            <a:spLocks noGrp="1"/>
          </p:cNvSpPr>
          <p:nvPr>
            <p:ph type="ctrTitle"/>
          </p:nvPr>
        </p:nvSpPr>
        <p:spPr>
          <a:xfrm>
            <a:off x="2212847" y="2240280"/>
            <a:ext cx="6217920" cy="860400"/>
          </a:xfr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18" name="Subtitle 2"/>
          <p:cNvSpPr>
            <a:spLocks noGrp="1"/>
          </p:cNvSpPr>
          <p:nvPr>
            <p:ph type="subTitle" idx="1"/>
          </p:nvPr>
        </p:nvSpPr>
        <p:spPr>
          <a:xfrm>
            <a:off x="2212848" y="3220754"/>
            <a:ext cx="621792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0" indent="0" algn="l">
              <a:buNone/>
              <a:defRPr sz="1600">
                <a:solidFill>
                  <a:srgbClr val="404040"/>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spTree>
    <p:extLst>
      <p:ext uri="{BB962C8B-B14F-4D97-AF65-F5344CB8AC3E}">
        <p14:creationId xmlns:p14="http://schemas.microsoft.com/office/powerpoint/2010/main" val="2039559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ront cover_2_Frame">
    <p:spTree>
      <p:nvGrpSpPr>
        <p:cNvPr id="1" name=""/>
        <p:cNvGrpSpPr/>
        <p:nvPr/>
      </p:nvGrpSpPr>
      <p:grpSpPr>
        <a:xfrm>
          <a:off x="0" y="0"/>
          <a:ext cx="0" cy="0"/>
          <a:chOff x="0" y="0"/>
          <a:chExt cx="0" cy="0"/>
        </a:xfrm>
      </p:grpSpPr>
      <p:sp>
        <p:nvSpPr>
          <p:cNvPr id="3" name="Freeform 5"/>
          <p:cNvSpPr>
            <a:spLocks noChangeAspect="1"/>
          </p:cNvSpPr>
          <p:nvPr userDrawn="1"/>
        </p:nvSpPr>
        <p:spPr bwMode="gray">
          <a:xfrm rot="10800000">
            <a:off x="3324670" y="457200"/>
            <a:ext cx="5413248"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 name="Title 1"/>
          <p:cNvSpPr>
            <a:spLocks noGrp="1"/>
          </p:cNvSpPr>
          <p:nvPr>
            <p:ph type="ctrTitle"/>
          </p:nvPr>
        </p:nvSpPr>
        <p:spPr>
          <a:xfrm>
            <a:off x="3557109" y="1677507"/>
            <a:ext cx="4901184" cy="860400"/>
          </a:xfr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5" name="Subtitle 2"/>
          <p:cNvSpPr>
            <a:spLocks noGrp="1"/>
          </p:cNvSpPr>
          <p:nvPr>
            <p:ph type="subTitle" idx="1"/>
          </p:nvPr>
        </p:nvSpPr>
        <p:spPr>
          <a:xfrm>
            <a:off x="3557109" y="2685128"/>
            <a:ext cx="4901184"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spTree>
    <p:extLst>
      <p:ext uri="{BB962C8B-B14F-4D97-AF65-F5344CB8AC3E}">
        <p14:creationId xmlns:p14="http://schemas.microsoft.com/office/powerpoint/2010/main" val="7479359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ront cover_1_Better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779463"/>
            <a:ext cx="6753225" cy="3400425"/>
          </a:xfrm>
          <a:prstGeom prst="rect">
            <a:avLst/>
          </a:prstGeom>
        </p:spPr>
      </p:pic>
      <p:sp>
        <p:nvSpPr>
          <p:cNvPr id="7" name="Subtitle 2"/>
          <p:cNvSpPr>
            <a:spLocks noGrp="1"/>
          </p:cNvSpPr>
          <p:nvPr>
            <p:ph type="subTitle" idx="1"/>
          </p:nvPr>
        </p:nvSpPr>
        <p:spPr>
          <a:xfrm>
            <a:off x="886968" y="3258529"/>
            <a:ext cx="5943432"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sp>
        <p:nvSpPr>
          <p:cNvPr id="8" name="Title 1"/>
          <p:cNvSpPr>
            <a:spLocks noGrp="1"/>
          </p:cNvSpPr>
          <p:nvPr>
            <p:ph type="ctrTitle"/>
          </p:nvPr>
        </p:nvSpPr>
        <p:spPr>
          <a:xfrm>
            <a:off x="886968" y="2288083"/>
            <a:ext cx="5943432" cy="860400"/>
          </a:xfrm>
          <a:prstGeom prst="rect">
            <a:avLst/>
          </a:prstGeo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8148" y="6103145"/>
            <a:ext cx="3826800" cy="373999"/>
          </a:xfrm>
          <a:prstGeom prst="rect">
            <a:avLst/>
          </a:prstGeom>
        </p:spPr>
      </p:pic>
      <p:pic>
        <p:nvPicPr>
          <p:cNvPr id="15" name="Picture 1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8148" y="5889312"/>
            <a:ext cx="474350" cy="116916"/>
          </a:xfrm>
          <a:prstGeom prst="rect">
            <a:avLst/>
          </a:prstGeom>
        </p:spPr>
      </p:pic>
    </p:spTree>
    <p:extLst>
      <p:ext uri="{BB962C8B-B14F-4D97-AF65-F5344CB8AC3E}">
        <p14:creationId xmlns:p14="http://schemas.microsoft.com/office/powerpoint/2010/main" val="13117731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ront cover_2_Better Question">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57200"/>
            <a:ext cx="5413375" cy="4572000"/>
          </a:xfrm>
          <a:prstGeom prst="rect">
            <a:avLst/>
          </a:prstGeom>
        </p:spPr>
      </p:pic>
      <p:sp>
        <p:nvSpPr>
          <p:cNvPr id="7" name="Title 1"/>
          <p:cNvSpPr>
            <a:spLocks noGrp="1"/>
          </p:cNvSpPr>
          <p:nvPr>
            <p:ph type="ctrTitle"/>
          </p:nvPr>
        </p:nvSpPr>
        <p:spPr>
          <a:xfrm>
            <a:off x="886968" y="1799130"/>
            <a:ext cx="4643060" cy="860400"/>
          </a:xfrm>
          <a:prstGeom prst="rect">
            <a:avLst/>
          </a:prstGeo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8" name="Subtitle 2"/>
          <p:cNvSpPr>
            <a:spLocks noGrp="1"/>
          </p:cNvSpPr>
          <p:nvPr>
            <p:ph type="subTitle" idx="1"/>
          </p:nvPr>
        </p:nvSpPr>
        <p:spPr>
          <a:xfrm>
            <a:off x="886968" y="2769576"/>
            <a:ext cx="4643060"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8148" y="6103145"/>
            <a:ext cx="3826800" cy="373999"/>
          </a:xfrm>
          <a:prstGeom prst="rect">
            <a:avLst/>
          </a:prstGeom>
        </p:spPr>
      </p:pic>
      <p:pic>
        <p:nvPicPr>
          <p:cNvPr id="15" name="Picture 1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8148" y="5889312"/>
            <a:ext cx="474350" cy="116916"/>
          </a:xfrm>
          <a:prstGeom prst="rect">
            <a:avLst/>
          </a:prstGeom>
        </p:spPr>
      </p:pic>
    </p:spTree>
    <p:extLst>
      <p:ext uri="{BB962C8B-B14F-4D97-AF65-F5344CB8AC3E}">
        <p14:creationId xmlns:p14="http://schemas.microsoft.com/office/powerpoint/2010/main" val="9330141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Front cover_1_Beam (legacy)">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auto">
          <a:xfrm>
            <a:off x="2271259" y="5747990"/>
            <a:ext cx="983483" cy="745200"/>
          </a:xfrm>
          <a:prstGeom prst="rect">
            <a:avLst/>
          </a:prstGeom>
          <a:noFill/>
          <a:ln w="9525">
            <a:noFill/>
            <a:miter lim="800000"/>
            <a:headEnd/>
            <a:tailEnd/>
          </a:ln>
          <a:effectLst/>
        </p:spPr>
      </p:pic>
      <p:sp>
        <p:nvSpPr>
          <p:cNvPr id="2" name="Title 1"/>
          <p:cNvSpPr>
            <a:spLocks noGrp="1"/>
          </p:cNvSpPr>
          <p:nvPr>
            <p:ph type="ctrTitle"/>
          </p:nvPr>
        </p:nvSpPr>
        <p:spPr>
          <a:xfrm>
            <a:off x="2277384" y="777600"/>
            <a:ext cx="5490000" cy="860400"/>
          </a:xfrm>
        </p:spPr>
        <p:txBody>
          <a:bodyPr/>
          <a:lstStyle/>
          <a:p>
            <a:r>
              <a:rPr lang="en-US" noProof="0" dirty="0" smtClean="0"/>
              <a:t>Click to edit Master title style</a:t>
            </a:r>
            <a:endParaRPr lang="en-GB" dirty="0"/>
          </a:p>
        </p:txBody>
      </p:sp>
      <p:sp>
        <p:nvSpPr>
          <p:cNvPr id="3" name="Subtitle 2"/>
          <p:cNvSpPr>
            <a:spLocks noGrp="1"/>
          </p:cNvSpPr>
          <p:nvPr>
            <p:ph type="subTitle" idx="1"/>
          </p:nvPr>
        </p:nvSpPr>
        <p:spPr>
          <a:xfrm>
            <a:off x="2277384" y="1753200"/>
            <a:ext cx="5490000" cy="968400"/>
          </a:xfrm>
        </p:spPr>
        <p:txBody>
          <a:bodyPr/>
          <a:lstStyle>
            <a:lvl1pPr marL="0" indent="0" algn="l">
              <a:buNone/>
              <a:defRPr sz="2000">
                <a:solidFill>
                  <a:srgbClr val="646464"/>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GB" dirty="0"/>
          </a:p>
        </p:txBody>
      </p:sp>
      <p:grpSp>
        <p:nvGrpSpPr>
          <p:cNvPr id="12" name="Group 11"/>
          <p:cNvGrpSpPr/>
          <p:nvPr userDrawn="1"/>
        </p:nvGrpSpPr>
        <p:grpSpPr>
          <a:xfrm>
            <a:off x="-6532" y="2405084"/>
            <a:ext cx="9150532" cy="3349170"/>
            <a:chOff x="-6532" y="2405084"/>
            <a:chExt cx="9150532" cy="3349170"/>
          </a:xfrm>
        </p:grpSpPr>
        <p:sp>
          <p:nvSpPr>
            <p:cNvPr id="1032"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rgbClr val="FFD200"/>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pic>
          <p:nvPicPr>
            <p:cNvPr id="8" name="Picture 3"/>
            <p:cNvPicPr>
              <a:picLocks noChangeAspect="1" noChangeArrowheads="1"/>
            </p:cNvPicPr>
            <p:nvPr userDrawn="1"/>
          </p:nvPicPr>
          <p:blipFill>
            <a:blip r:embed="rId3" cstate="print"/>
            <a:srcRect/>
            <a:stretch>
              <a:fillRect/>
            </a:stretch>
          </p:blipFill>
          <p:spPr bwMode="auto">
            <a:xfrm>
              <a:off x="-6532" y="4411503"/>
              <a:ext cx="2289891" cy="1342751"/>
            </a:xfrm>
            <a:prstGeom prst="rect">
              <a:avLst/>
            </a:prstGeom>
            <a:noFill/>
            <a:ln w="9525">
              <a:noFill/>
              <a:miter lim="800000"/>
              <a:headEnd/>
              <a:tailEnd/>
            </a:ln>
            <a:effectLst/>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Front cover_2_Beam (legacy)">
    <p:spTree>
      <p:nvGrpSpPr>
        <p:cNvPr id="1" name=""/>
        <p:cNvGrpSpPr/>
        <p:nvPr/>
      </p:nvGrpSpPr>
      <p:grpSpPr>
        <a:xfrm>
          <a:off x="0" y="0"/>
          <a:ext cx="0" cy="0"/>
          <a:chOff x="0" y="0"/>
          <a:chExt cx="0" cy="0"/>
        </a:xfrm>
      </p:grpSpPr>
      <p:sp>
        <p:nvSpPr>
          <p:cNvPr id="2" name="Title 1"/>
          <p:cNvSpPr>
            <a:spLocks noGrp="1"/>
          </p:cNvSpPr>
          <p:nvPr>
            <p:ph type="ctrTitle"/>
          </p:nvPr>
        </p:nvSpPr>
        <p:spPr>
          <a:xfrm>
            <a:off x="2277384" y="777600"/>
            <a:ext cx="5490000" cy="860400"/>
          </a:xfrm>
        </p:spPr>
        <p:txBody>
          <a:bodyPr/>
          <a:lstStyle/>
          <a:p>
            <a:r>
              <a:rPr lang="en-US" dirty="0" smtClean="0"/>
              <a:t>Click to edit Master title style</a:t>
            </a:r>
            <a:endParaRPr lang="en-GB" dirty="0"/>
          </a:p>
        </p:txBody>
      </p:sp>
      <p:sp>
        <p:nvSpPr>
          <p:cNvPr id="3" name="Subtitle 2"/>
          <p:cNvSpPr>
            <a:spLocks noGrp="1"/>
          </p:cNvSpPr>
          <p:nvPr>
            <p:ph type="subTitle" idx="1"/>
          </p:nvPr>
        </p:nvSpPr>
        <p:spPr>
          <a:xfrm>
            <a:off x="2277384" y="1753200"/>
            <a:ext cx="549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2271942" y="5745156"/>
            <a:ext cx="983483" cy="745200"/>
          </a:xfrm>
          <a:prstGeom prst="rect">
            <a:avLst/>
          </a:prstGeom>
          <a:noFill/>
          <a:ln w="9525">
            <a:noFill/>
            <a:miter lim="800000"/>
            <a:headEnd/>
            <a:tailEnd/>
          </a:ln>
          <a:effectLst/>
        </p:spPr>
      </p:pic>
      <p:sp>
        <p:nvSpPr>
          <p:cNvPr id="16" name="Freeform 15"/>
          <p:cNvSpPr/>
          <p:nvPr userDrawn="1"/>
        </p:nvSpPr>
        <p:spPr>
          <a:xfrm>
            <a:off x="-9144" y="3000375"/>
            <a:ext cx="2286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1"/>
              </a:solidFill>
              <a:latin typeface="+mn-lt"/>
              <a:cs typeface="Arial" pitchFamily="34" charset="0"/>
            </a:endParaRPr>
          </a:p>
        </p:txBody>
      </p:sp>
      <p:sp>
        <p:nvSpPr>
          <p:cNvPr id="17"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mn-lt"/>
              <a:cs typeface="Arial" pitchFamily="34" charset="0"/>
            </a:endParaRPr>
          </a:p>
        </p:txBody>
      </p:sp>
    </p:spTree>
    <p:extLst>
      <p:ext uri="{BB962C8B-B14F-4D97-AF65-F5344CB8AC3E}">
        <p14:creationId xmlns:p14="http://schemas.microsoft.com/office/powerpoint/2010/main" val="20429790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2pPr>
              <a:defRPr/>
            </a:lvl2pPr>
            <a:lvl3pPr>
              <a:defRPr lang="en-US" noProof="0" dirty="0" err="1" smtClean="0"/>
            </a:lvl3pPr>
            <a:lvl4pPr>
              <a:defRPr/>
            </a:lvl4pPr>
            <a:lvl5pPr>
              <a:defRPr/>
            </a:lvl5pPr>
          </a:lstStyle>
          <a:p>
            <a:pPr lvl="0"/>
            <a:r>
              <a:rPr lang="en-US" noProof="0" smtClean="0"/>
              <a:t>Click to edit Master text styles</a:t>
            </a:r>
            <a:endParaRPr lang="en-US" smtClean="0"/>
          </a:p>
          <a:p>
            <a:pPr lvl="1"/>
            <a:r>
              <a:rPr lang="en-US" noProof="0" smtClean="0"/>
              <a:t>Second level</a:t>
            </a:r>
            <a:endParaRPr lang="en-US" smtClean="0"/>
          </a:p>
          <a:p>
            <a:pPr lvl="2"/>
            <a:r>
              <a:rPr lang="en-US" smtClean="0"/>
              <a:t>Third level</a:t>
            </a:r>
          </a:p>
          <a:p>
            <a:pPr lvl="3"/>
            <a:r>
              <a:rPr lang="en-US" noProof="0" smtClean="0"/>
              <a:t>Fourth </a:t>
            </a:r>
            <a:r>
              <a:rPr lang="en-US" smtClean="0"/>
              <a:t>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r>
              <a:rPr lang="en-US" smtClean="0"/>
              <a:t>Presentation title</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5" name="Footer Placeholder 4"/>
          <p:cNvSpPr>
            <a:spLocks noGrp="1"/>
          </p:cNvSpPr>
          <p:nvPr>
            <p:ph type="ftr" sz="quarter" idx="11"/>
          </p:nvPr>
        </p:nvSpPr>
        <p:spPr/>
        <p:txBody>
          <a:bodyPr/>
          <a:lstStyle/>
          <a:p>
            <a:r>
              <a:rPr lang="en-GB" smtClean="0"/>
              <a:t>Presentation title</a:t>
            </a:r>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63549" y="1417638"/>
            <a:ext cx="4010411" cy="47117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dirty="0" smtClean="0"/>
              <a:t>Click to edit Master text styles</a:t>
            </a:r>
            <a:endParaRPr lang="en-US" dirty="0" smtClean="0"/>
          </a:p>
          <a:p>
            <a:pPr lvl="1"/>
            <a:r>
              <a:rPr lang="en-US" noProof="0" dirty="0" smtClean="0"/>
              <a:t>Second </a:t>
            </a:r>
            <a:r>
              <a:rPr lang="en-US" dirty="0" smtClean="0"/>
              <a:t>level</a:t>
            </a:r>
          </a:p>
          <a:p>
            <a:pPr lvl="2"/>
            <a:r>
              <a:rPr lang="en-US" dirty="0" smtClean="0"/>
              <a:t>Third level</a:t>
            </a:r>
          </a:p>
          <a:p>
            <a:pPr lvl="3"/>
            <a:r>
              <a:rPr lang="en-US" noProof="0" dirty="0" smtClean="0"/>
              <a:t>Fourth </a:t>
            </a:r>
            <a:r>
              <a:rPr lang="en-US" dirty="0" smtClean="0"/>
              <a:t>level</a:t>
            </a:r>
          </a:p>
          <a:p>
            <a:pPr lvl="4"/>
            <a:r>
              <a:rPr lang="en-US" dirty="0" smtClean="0"/>
              <a:t>Fifth level</a:t>
            </a:r>
            <a:endParaRPr lang="en-US" dirty="0"/>
          </a:p>
        </p:txBody>
      </p:sp>
      <p:sp>
        <p:nvSpPr>
          <p:cNvPr id="4" name="Content Placeholder 3"/>
          <p:cNvSpPr>
            <a:spLocks noGrp="1"/>
          </p:cNvSpPr>
          <p:nvPr>
            <p:ph sz="half" idx="2"/>
          </p:nvPr>
        </p:nvSpPr>
        <p:spPr>
          <a:xfrm>
            <a:off x="4648200" y="1417636"/>
            <a:ext cx="4032000" cy="4711701"/>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Click to edit Master text styles</a:t>
            </a:r>
            <a:endParaRPr lang="en-US" smtClean="0"/>
          </a:p>
          <a:p>
            <a:pPr lvl="1"/>
            <a:r>
              <a:rPr lang="en-US" noProof="0" smtClean="0"/>
              <a:t>Second </a:t>
            </a:r>
            <a:r>
              <a:rPr lang="en-US" smtClean="0"/>
              <a:t>level</a:t>
            </a:r>
          </a:p>
          <a:p>
            <a:pPr lvl="2"/>
            <a:r>
              <a:rPr lang="en-US" smtClean="0"/>
              <a:t>Third level</a:t>
            </a:r>
          </a:p>
          <a:p>
            <a:pPr lvl="3"/>
            <a:r>
              <a:rPr lang="en-US" noProof="0" smtClean="0"/>
              <a:t>Fourth </a:t>
            </a:r>
            <a:r>
              <a:rPr lang="en-US" smtClean="0"/>
              <a:t>level</a:t>
            </a:r>
          </a:p>
          <a:p>
            <a:pPr lvl="4"/>
            <a:r>
              <a:rPr lang="en-US" smtClean="0"/>
              <a:t>Fifth level</a:t>
            </a:r>
            <a:endParaRPr lang="en-US" dirty="0"/>
          </a:p>
        </p:txBody>
      </p:sp>
      <p:sp>
        <p:nvSpPr>
          <p:cNvPr id="5" name="Footer Placeholder 4"/>
          <p:cNvSpPr>
            <a:spLocks noGrp="1"/>
          </p:cNvSpPr>
          <p:nvPr>
            <p:ph type="ftr" sz="quarter" idx="10"/>
          </p:nvPr>
        </p:nvSpPr>
        <p:spPr/>
        <p:txBody>
          <a:bodyPr/>
          <a:lstStyle/>
          <a:p>
            <a:r>
              <a:rPr lang="en-US" noProof="0" smtClean="0"/>
              <a:t>Presentation title</a:t>
            </a:r>
            <a:endParaRPr lang="en-US" noProof="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0400"/>
          </a:xfrm>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2146794"/>
            <a:ext cx="4017400" cy="39600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a:t>
            </a:r>
          </a:p>
          <a:p>
            <a:pPr lvl="1"/>
            <a:r>
              <a:rPr lang="en-US" noProof="0" dirty="0" smtClean="0"/>
              <a:t>Second </a:t>
            </a:r>
            <a:r>
              <a:rPr lang="en-US" dirty="0" smtClean="0"/>
              <a:t>level</a:t>
            </a:r>
          </a:p>
          <a:p>
            <a:pPr lvl="2"/>
            <a:r>
              <a:rPr lang="en-US" dirty="0" smtClean="0"/>
              <a:t>Third level</a:t>
            </a:r>
          </a:p>
          <a:p>
            <a:pPr lvl="3"/>
            <a:r>
              <a:rPr lang="en-US" noProof="0" dirty="0" smtClean="0"/>
              <a:t>Fourth </a:t>
            </a:r>
            <a:r>
              <a:rPr lang="en-US" dirty="0" smtClean="0"/>
              <a:t>level</a:t>
            </a:r>
          </a:p>
          <a:p>
            <a:pPr lvl="4"/>
            <a:r>
              <a:rPr lang="en-US" dirty="0" smtClean="0"/>
              <a:t>Fifth level</a:t>
            </a:r>
            <a:endParaRPr lang="en-US" dirty="0"/>
          </a:p>
        </p:txBody>
      </p:sp>
      <p:sp>
        <p:nvSpPr>
          <p:cNvPr id="4" name="Content Placeholder 3"/>
          <p:cNvSpPr>
            <a:spLocks noGrp="1"/>
          </p:cNvSpPr>
          <p:nvPr>
            <p:ph sz="half" idx="2"/>
          </p:nvPr>
        </p:nvSpPr>
        <p:spPr>
          <a:xfrm>
            <a:off x="4651200" y="2146794"/>
            <a:ext cx="4042800" cy="39600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a:t>
            </a:r>
          </a:p>
          <a:p>
            <a:pPr lvl="1"/>
            <a:r>
              <a:rPr lang="en-US" noProof="0" smtClean="0"/>
              <a:t>Second </a:t>
            </a:r>
            <a:r>
              <a:rPr lang="en-US" smtClean="0"/>
              <a:t>level</a:t>
            </a:r>
          </a:p>
          <a:p>
            <a:pPr lvl="2"/>
            <a:r>
              <a:rPr lang="en-US" smtClean="0"/>
              <a:t>Third level</a:t>
            </a:r>
          </a:p>
          <a:p>
            <a:pPr lvl="3"/>
            <a:r>
              <a:rPr lang="en-US" noProof="0" smtClean="0"/>
              <a:t>Fourth </a:t>
            </a:r>
            <a:r>
              <a:rPr lang="en-US" smtClean="0"/>
              <a:t>level</a:t>
            </a:r>
          </a:p>
          <a:p>
            <a:pPr lvl="4"/>
            <a:r>
              <a:rPr lang="en-US" smtClean="0"/>
              <a:t>Fifth level</a:t>
            </a:r>
            <a:endParaRPr lang="en-US" dirty="0"/>
          </a:p>
        </p:txBody>
      </p:sp>
      <p:sp>
        <p:nvSpPr>
          <p:cNvPr id="6" name="Footer Placeholder 5"/>
          <p:cNvSpPr>
            <a:spLocks noGrp="1"/>
          </p:cNvSpPr>
          <p:nvPr>
            <p:ph type="ftr" sz="quarter" idx="11"/>
          </p:nvPr>
        </p:nvSpPr>
        <p:spPr/>
        <p:txBody>
          <a:bodyPr/>
          <a:lstStyle/>
          <a:p>
            <a:r>
              <a:rPr lang="en-US" smtClean="0"/>
              <a:t>Presentation title</a:t>
            </a:r>
            <a:endParaRPr lang="en-US"/>
          </a:p>
        </p:txBody>
      </p:sp>
      <p:sp>
        <p:nvSpPr>
          <p:cNvPr id="10" name="Text Placeholder 9"/>
          <p:cNvSpPr>
            <a:spLocks noGrp="1"/>
          </p:cNvSpPr>
          <p:nvPr>
            <p:ph type="body" sz="quarter" idx="12"/>
          </p:nvPr>
        </p:nvSpPr>
        <p:spPr>
          <a:xfrm>
            <a:off x="463550" y="1413474"/>
            <a:ext cx="4011050" cy="640800"/>
          </a:xfrm>
        </p:spPr>
        <p:txBody>
          <a:bodyPr anchor="t" anchorCtr="0"/>
          <a:lstStyle>
            <a:lvl1pPr marL="0" indent="0">
              <a:buNone/>
              <a:tabLst/>
              <a:defRPr b="1"/>
            </a:lvl1pPr>
          </a:lstStyle>
          <a:p>
            <a:pPr lvl="0"/>
            <a:r>
              <a:rPr lang="en-US" dirty="0" smtClean="0"/>
              <a:t>Click to edit Master text style</a:t>
            </a:r>
          </a:p>
        </p:txBody>
      </p:sp>
      <p:sp>
        <p:nvSpPr>
          <p:cNvPr id="11" name="Text Placeholder 9"/>
          <p:cNvSpPr>
            <a:spLocks noGrp="1"/>
          </p:cNvSpPr>
          <p:nvPr>
            <p:ph type="body" sz="quarter" idx="13"/>
          </p:nvPr>
        </p:nvSpPr>
        <p:spPr>
          <a:xfrm>
            <a:off x="4651200" y="1413474"/>
            <a:ext cx="4042800" cy="640800"/>
          </a:xfrm>
        </p:spPr>
        <p:txBody>
          <a:bodyPr anchor="t" anchorCtr="0"/>
          <a:lstStyle>
            <a:lvl1pPr marL="0" indent="0">
              <a:buNone/>
              <a:defRPr b="1"/>
            </a:lvl1pPr>
          </a:lstStyle>
          <a:p>
            <a:pPr lvl="0"/>
            <a:r>
              <a:rPr lang="en-US" dirty="0" smtClean="0"/>
              <a:t>Click to edit Master text style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etter question storytell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5" name="Footer Placeholder 4"/>
          <p:cNvSpPr>
            <a:spLocks noGrp="1"/>
          </p:cNvSpPr>
          <p:nvPr>
            <p:ph type="ftr" sz="quarter" idx="11"/>
          </p:nvPr>
        </p:nvSpPr>
        <p:spPr/>
        <p:txBody>
          <a:bodyPr/>
          <a:lstStyle/>
          <a:p>
            <a:r>
              <a:rPr lang="en-GB" smtClean="0"/>
              <a:t>Presentation title</a:t>
            </a:r>
            <a:endParaRPr lang="en-GB"/>
          </a:p>
        </p:txBody>
      </p:sp>
      <p:sp>
        <p:nvSpPr>
          <p:cNvPr id="8"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1197198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smtClean="0"/>
              <a:t>Presentation title</a:t>
            </a:r>
            <a:endParaRPr lang="en-US" dirty="0"/>
          </a:p>
        </p:txBody>
      </p:sp>
      <p:sp>
        <p:nvSpPr>
          <p:cNvPr id="3" name="Text Placeholder 2"/>
          <p:cNvSpPr>
            <a:spLocks noGrp="1"/>
          </p:cNvSpPr>
          <p:nvPr>
            <p:ph type="body" sz="quarter" idx="11"/>
          </p:nvPr>
        </p:nvSpPr>
        <p:spPr>
          <a:xfrm>
            <a:off x="455614" y="1025525"/>
            <a:ext cx="82296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dirty="0" smtClean="0"/>
              <a:t>Click to edit Master text style</a:t>
            </a:r>
            <a:r>
              <a:rPr lang="cs-CZ" dirty="0" smtClean="0"/>
              <a:t>s</a:t>
            </a:r>
          </a:p>
        </p:txBody>
      </p:sp>
      <p:sp>
        <p:nvSpPr>
          <p:cNvPr id="5"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9130112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t>Presentation title</a:t>
            </a:r>
            <a:endParaRPr lang="en-US" dirty="0"/>
          </a:p>
        </p:txBody>
      </p:sp>
      <p:sp>
        <p:nvSpPr>
          <p:cNvPr id="3077" name="Freeform 5"/>
          <p:cNvSpPr>
            <a:spLocks/>
          </p:cNvSpPr>
          <p:nvPr userDrawn="1"/>
        </p:nvSpPr>
        <p:spPr bwMode="gray">
          <a:xfrm>
            <a:off x="457200" y="1039813"/>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999408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t>Presentation title</a:t>
            </a:r>
            <a:endParaRPr lang="en-US" dirty="0"/>
          </a:p>
        </p:txBody>
      </p:sp>
      <p:sp>
        <p:nvSpPr>
          <p:cNvPr id="4101" name="Freeform 5"/>
          <p:cNvSpPr>
            <a:spLocks/>
          </p:cNvSpPr>
          <p:nvPr userDrawn="1"/>
        </p:nvSpPr>
        <p:spPr bwMode="gray">
          <a:xfrm>
            <a:off x="457200" y="1040400"/>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52864780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t>Presentation title</a:t>
            </a:r>
            <a:endParaRPr lang="en-US" dirty="0"/>
          </a:p>
        </p:txBody>
      </p:sp>
      <p:pic>
        <p:nvPicPr>
          <p:cNvPr id="6" name="Picture 2"/>
          <p:cNvPicPr>
            <a:picLocks noChangeAspect="1" noChangeArrowheads="1"/>
          </p:cNvPicPr>
          <p:nvPr userDrawn="1"/>
        </p:nvPicPr>
        <p:blipFill>
          <a:blip r:embed="rId2" cstate="print"/>
          <a:srcRect/>
          <a:stretch>
            <a:fillRect/>
          </a:stretch>
        </p:blipFill>
        <p:spPr bwMode="auto">
          <a:xfrm>
            <a:off x="457200" y="1044000"/>
            <a:ext cx="8225549" cy="5184000"/>
          </a:xfrm>
          <a:prstGeom prst="rect">
            <a:avLst/>
          </a:prstGeom>
          <a:noFill/>
          <a:ln w="9525">
            <a:noFill/>
            <a:miter lim="800000"/>
            <a:headEnd/>
            <a:tailEnd/>
          </a:ln>
          <a:effectLst/>
        </p:spPr>
      </p:pic>
    </p:spTree>
    <p:extLst>
      <p:ext uri="{BB962C8B-B14F-4D97-AF65-F5344CB8AC3E}">
        <p14:creationId xmlns:p14="http://schemas.microsoft.com/office/powerpoint/2010/main" val="3195521078"/>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t>Presentation title</a:t>
            </a:r>
            <a:endParaRPr lang="en-US" dirty="0"/>
          </a:p>
        </p:txBody>
      </p:sp>
      <p:sp>
        <p:nvSpPr>
          <p:cNvPr id="5" name="Freeform 5"/>
          <p:cNvSpPr>
            <a:spLocks/>
          </p:cNvSpPr>
          <p:nvPr userDrawn="1"/>
        </p:nvSpPr>
        <p:spPr bwMode="gray">
          <a:xfrm>
            <a:off x="457200" y="1049278"/>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extLst>
                <a:ext uri="{BEBA8EAE-BF5A-486C-A8C5-ECC9F3942E4B}">
                  <a14:imgProps xmlns:a14="http://schemas.microsoft.com/office/drawing/2010/main">
                    <a14:imgLayer r:embed="rId3">
                      <a14:imgEffect>
                        <a14:saturation sat="0"/>
                      </a14:imgEffect>
                    </a14:imgLayer>
                  </a14:imgProps>
                </a:ext>
              </a:extLst>
            </a:blip>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mn-lt"/>
              <a:cs typeface="Arial" pitchFamily="34" charset="0"/>
            </a:endParaRPr>
          </a:p>
        </p:txBody>
      </p:sp>
    </p:spTree>
    <p:extLst>
      <p:ext uri="{BB962C8B-B14F-4D97-AF65-F5344CB8AC3E}">
        <p14:creationId xmlns:p14="http://schemas.microsoft.com/office/powerpoint/2010/main" val="363869181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smtClean="0"/>
              <a:t>Presentation title</a:t>
            </a:r>
            <a:endParaRPr lang="en-US" dirty="0"/>
          </a:p>
        </p:txBody>
      </p:sp>
      <p:sp>
        <p:nvSpPr>
          <p:cNvPr id="7" name="Line 11"/>
          <p:cNvSpPr>
            <a:spLocks noChangeShapeType="1"/>
          </p:cNvSpPr>
          <p:nvPr userDrawn="1"/>
        </p:nvSpPr>
        <p:spPr bwMode="auto">
          <a:xfrm>
            <a:off x="455613" y="6243638"/>
            <a:ext cx="8229600" cy="0"/>
          </a:xfrm>
          <a:prstGeom prst="line">
            <a:avLst/>
          </a:prstGeom>
          <a:noFill/>
          <a:ln w="3175">
            <a:solidFill>
              <a:schemeClr val="bg1"/>
            </a:solidFill>
            <a:round/>
            <a:headEnd/>
            <a:tailEnd/>
          </a:ln>
          <a:effectLst/>
        </p:spPr>
        <p:txBody>
          <a:bodyPr wrap="none" anchor="ctr"/>
          <a:lstStyle/>
          <a:p>
            <a:endParaRPr lang="en-US" noProof="0" dirty="0">
              <a:solidFill>
                <a:schemeClr val="bg1"/>
              </a:solidFill>
            </a:endParaRPr>
          </a:p>
        </p:txBody>
      </p:sp>
    </p:spTree>
    <p:extLst>
      <p:ext uri="{BB962C8B-B14F-4D97-AF65-F5344CB8AC3E}">
        <p14:creationId xmlns:p14="http://schemas.microsoft.com/office/powerpoint/2010/main" val="3350680830"/>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ack cover_EN">
    <p:spTree>
      <p:nvGrpSpPr>
        <p:cNvPr id="1" name=""/>
        <p:cNvGrpSpPr/>
        <p:nvPr/>
      </p:nvGrpSpPr>
      <p:grpSpPr>
        <a:xfrm>
          <a:off x="0" y="0"/>
          <a:ext cx="0" cy="0"/>
          <a:chOff x="0" y="0"/>
          <a:chExt cx="0" cy="0"/>
        </a:xfrm>
      </p:grpSpPr>
      <p:sp>
        <p:nvSpPr>
          <p:cNvPr id="5" name="Text Box 2"/>
          <p:cNvSpPr txBox="1">
            <a:spLocks noChangeArrowheads="1"/>
          </p:cNvSpPr>
          <p:nvPr userDrawn="1"/>
        </p:nvSpPr>
        <p:spPr bwMode="auto">
          <a:xfrm>
            <a:off x="0" y="0"/>
            <a:ext cx="4662488" cy="4743450"/>
          </a:xfrm>
          <a:prstGeom prst="rect">
            <a:avLst/>
          </a:prstGeom>
          <a:noFill/>
          <a:ln w="9525">
            <a:noFill/>
            <a:miter lim="800000"/>
            <a:headEnd/>
            <a:tailEnd/>
          </a:ln>
        </p:spPr>
        <p:txBody>
          <a:bodyPr vert="horz" wrap="square" lIns="468000" tIns="468000" rIns="30960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GB" sz="900" b="0" i="0" u="none" strike="noStrike" kern="0" cap="none" spc="0" normalizeH="0" baseline="0" noProof="0" dirty="0" smtClean="0">
                <a:ln>
                  <a:noFill/>
                </a:ln>
                <a:solidFill>
                  <a:srgbClr val="000000"/>
                </a:solidFill>
                <a:effectLst/>
                <a:uLnTx/>
                <a:uFillTx/>
                <a:latin typeface="EYInterstate" pitchFamily="2" charset="0"/>
              </a:rPr>
              <a:t>EY</a:t>
            </a:r>
            <a:r>
              <a:rPr kumimoji="0" lang="en-GB" sz="900" b="0" i="0" u="none" strike="noStrike" kern="0" cap="none" spc="0" normalizeH="0" baseline="0" noProof="0" dirty="0" smtClean="0">
                <a:ln>
                  <a:noFill/>
                </a:ln>
                <a:solidFill>
                  <a:srgbClr val="000000"/>
                </a:solidFill>
                <a:effectLst/>
                <a:uLnTx/>
                <a:uFillTx/>
                <a:latin typeface="EYInterstate Regular" charset="0"/>
              </a:rPr>
              <a:t> </a:t>
            </a:r>
            <a:r>
              <a:rPr kumimoji="0" lang="en-GB" sz="900" b="0" i="0" u="none" strike="noStrike" kern="0" cap="none" spc="0" normalizeH="0" baseline="0" noProof="0" dirty="0" smtClean="0">
                <a:ln>
                  <a:noFill/>
                </a:ln>
                <a:solidFill>
                  <a:srgbClr val="000000"/>
                </a:solidFill>
                <a:effectLst/>
                <a:uLnTx/>
                <a:uFillTx/>
                <a:latin typeface="EYInterstate Light" pitchFamily="2" charset="0"/>
              </a:rPr>
              <a:t>| Assurance | Tax | Transactions | Advisory</a:t>
            </a:r>
            <a:endParaRPr kumimoji="0" lang="en-GB" sz="900" b="0" i="0" u="none" strike="noStrike" kern="0" cap="none" spc="0" normalizeH="0" baseline="0" noProof="0" dirty="0" smtClean="0">
              <a:ln>
                <a:noFill/>
              </a:ln>
              <a:solidFill>
                <a:srgbClr val="000000"/>
              </a:solidFill>
              <a:effectLst/>
              <a:uLnTx/>
              <a:uFillTx/>
              <a:latin typeface="EYInterstate-Light" charset="0"/>
            </a:endParaRPr>
          </a:p>
          <a:p>
            <a:pPr marL="0" marR="0" lvl="0" indent="0" algn="l" defTabSz="914400" rtl="0" eaLnBrk="1" fontAlgn="base" latinLnBrk="0" hangingPunct="1">
              <a:lnSpc>
                <a:spcPct val="100000"/>
              </a:lnSpc>
              <a:spcBef>
                <a:spcPct val="0"/>
              </a:spcBef>
              <a:spcAft>
                <a:spcPts val="1000"/>
              </a:spcAft>
              <a:buClrTx/>
              <a:buSzTx/>
              <a:buFontTx/>
              <a:buNone/>
              <a:tabLst/>
              <a:defRPr/>
            </a:pPr>
            <a:endParaRPr kumimoji="0" lang="cs-CZ" sz="900" b="0" i="0" u="none" strike="noStrike" kern="0" cap="none" spc="0" normalizeH="0" baseline="0" noProof="0" dirty="0" smtClean="0">
              <a:ln>
                <a:noFill/>
              </a:ln>
              <a:solidFill>
                <a:srgbClr val="7F7E82"/>
              </a:solidFill>
              <a:effectLst/>
              <a:uLnTx/>
              <a:uFillTx/>
              <a:latin typeface="Times New Roman" pitchFamily="18" charset="0"/>
            </a:endParaRPr>
          </a:p>
          <a:p>
            <a:pPr marL="0" marR="0" lvl="0" indent="0" algn="l" defTabSz="914400" rtl="0" eaLnBrk="1" fontAlgn="base" latinLnBrk="0" hangingPunct="1">
              <a:lnSpc>
                <a:spcPct val="100000"/>
              </a:lnSpc>
              <a:spcBef>
                <a:spcPct val="0"/>
              </a:spcBef>
              <a:spcAft>
                <a:spcPts val="100"/>
              </a:spcAft>
              <a:buClrTx/>
              <a:buSzTx/>
              <a:buFontTx/>
              <a:buNone/>
              <a:tabLst/>
              <a:defRPr/>
            </a:pPr>
            <a:r>
              <a:rPr kumimoji="0" lang="en-GB" sz="700" b="0" i="0" u="none" strike="noStrike" kern="0" cap="none" spc="0" normalizeH="0" baseline="0" noProof="0" dirty="0" smtClean="0">
                <a:ln>
                  <a:noFill/>
                </a:ln>
                <a:solidFill>
                  <a:srgbClr val="000000"/>
                </a:solidFill>
                <a:effectLst/>
                <a:uLnTx/>
                <a:uFillTx/>
                <a:latin typeface="EYInterstate" pitchFamily="2" charset="0"/>
              </a:rPr>
              <a:t>About EY</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EY is a global leader in assurance, tax, transaction and advisory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services. The insights and quality services we deliver help build trust and </a:t>
            </a: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confidence in the capital markets and in economies the world over. We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develop outstanding leaders who team to deliver on our promises to all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of our stakeholders. In so doing, we play a critical role in building a better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working world for our people, for our clients and for our communities.</a:t>
            </a:r>
          </a:p>
          <a:p>
            <a:pPr marL="0" marR="0" lvl="0" indent="0" algn="l" defTabSz="914400" rtl="0" eaLnBrk="1" fontAlgn="base" latinLnBrk="0" hangingPunct="1">
              <a:lnSpc>
                <a:spcPct val="100000"/>
              </a:lnSpc>
              <a:spcBef>
                <a:spcPct val="0"/>
              </a:spcBef>
              <a:spcAft>
                <a:spcPts val="525"/>
              </a:spcAft>
              <a:buClrTx/>
              <a:buSzTx/>
              <a:buFontTx/>
              <a:buNone/>
              <a:tabLst/>
              <a:defRPr/>
            </a:pPr>
            <a:endParaRPr kumimoji="0" lang="en-US"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EY refers to the global organization</a:t>
            </a: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and may refer to one or more</a:t>
            </a: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of the</a:t>
            </a:r>
            <a:b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member </a:t>
            </a:r>
            <a:r>
              <a:rPr kumimoji="0" lang="en-US" sz="700" b="0" i="0" u="none" strike="noStrike" kern="0" cap="none" spc="0" normalizeH="0" baseline="0" noProof="0" dirty="0" smtClean="0">
                <a:ln>
                  <a:noFill/>
                </a:ln>
                <a:solidFill>
                  <a:srgbClr val="000000"/>
                </a:solidFill>
                <a:effectLst/>
                <a:uLnTx/>
                <a:uFillTx/>
                <a:latin typeface="EYInterstate Light" pitchFamily="2" charset="0"/>
              </a:rPr>
              <a:t>firms of Ernst &amp; Young Global Limited, each of which is a separate legal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entity. Ernst &amp; Young Global Limited, a UK company limited by guarantee,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does not provide services to clients. For more information about our </a:t>
            </a: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rPr>
              <a:t>organization, please visit ey.com.</a:t>
            </a: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201&amp;  Ernst &amp; Young, s.r.o. | Ernst &amp; Young Audit, </a:t>
            </a:r>
            <a:r>
              <a:rPr kumimoji="0" lang="en-US" sz="700" b="0" i="0" u="none" strike="noStrike" kern="0" cap="none" spc="0" normalizeH="0" baseline="0" noProof="0" dirty="0" err="1" smtClean="0">
                <a:ln>
                  <a:noFill/>
                </a:ln>
                <a:solidFill>
                  <a:srgbClr val="000000"/>
                </a:solidFill>
                <a:effectLst/>
                <a:uLnTx/>
                <a:uFillTx/>
                <a:latin typeface="EYInterstate Light" pitchFamily="2" charset="0"/>
                <a:ea typeface="+mn-ea"/>
                <a:cs typeface="+mn-cs"/>
              </a:rPr>
              <a:t>s.r.o</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 E &amp; Y Valuations </a:t>
            </a:r>
            <a:r>
              <a:rPr kumimoji="0" lang="en-US" sz="700" b="0" i="0" u="none" strike="noStrike" kern="0" cap="none" spc="0" normalizeH="0" baseline="0" noProof="0" dirty="0" err="1" smtClean="0">
                <a:ln>
                  <a:noFill/>
                </a:ln>
                <a:solidFill>
                  <a:srgbClr val="000000"/>
                </a:solidFill>
                <a:effectLst/>
                <a:uLnTx/>
                <a:uFillTx/>
                <a:latin typeface="EYInterstate Light" pitchFamily="2" charset="0"/>
                <a:ea typeface="+mn-ea"/>
                <a:cs typeface="+mn-cs"/>
              </a:rPr>
              <a:t>s.r.o</a:t>
            </a: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a:t>
            </a:r>
            <a:b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US"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All Rights Reserved.</a:t>
            </a:r>
            <a:endPar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GB"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This material has been prepared for general informational purposes only and is not </a:t>
            </a:r>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r>
            <a:b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GB"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intended to be relied upon as accounting, tax, or other professional advice. Please refer </a:t>
            </a:r>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r>
            <a:b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r>
              <a:rPr kumimoji="0" lang="en-GB"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to your advisors for specific advice</a:t>
            </a:r>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a:t>
            </a: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
            </a:r>
            <a:b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br>
            <a:endParaRPr kumimoji="0" lang="en-GB"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en-GB" sz="900" b="0" i="0" u="none" strike="noStrike" kern="0" cap="none" spc="0" normalizeH="0" baseline="0" noProof="0" dirty="0" smtClean="0">
                <a:ln>
                  <a:noFill/>
                </a:ln>
                <a:solidFill>
                  <a:srgbClr val="000000"/>
                </a:solidFill>
                <a:effectLst/>
                <a:uLnTx/>
                <a:uFillTx/>
                <a:latin typeface="EYInterstate" pitchFamily="2" charset="0"/>
              </a:rPr>
              <a:t>ey.com</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cs-CZ" sz="1600" b="0" i="0" u="none" strike="noStrike" kern="0" cap="none" spc="0" normalizeH="0" baseline="0" noProof="0" dirty="0" smtClean="0">
              <a:ln>
                <a:noFill/>
              </a:ln>
              <a:solidFill>
                <a:srgbClr val="7F7E82"/>
              </a:solidFill>
              <a:effectLst/>
              <a:uLnTx/>
              <a:uFillTx/>
              <a:latin typeface="Arial" pitchFamily="34" charset="0"/>
            </a:endParaRPr>
          </a:p>
        </p:txBody>
      </p:sp>
    </p:spTree>
    <p:extLst>
      <p:ext uri="{BB962C8B-B14F-4D97-AF65-F5344CB8AC3E}">
        <p14:creationId xmlns:p14="http://schemas.microsoft.com/office/powerpoint/2010/main" val="10900077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_CZ">
    <p:spTree>
      <p:nvGrpSpPr>
        <p:cNvPr id="1" name=""/>
        <p:cNvGrpSpPr/>
        <p:nvPr/>
      </p:nvGrpSpPr>
      <p:grpSpPr>
        <a:xfrm>
          <a:off x="0" y="0"/>
          <a:ext cx="0" cy="0"/>
          <a:chOff x="0" y="0"/>
          <a:chExt cx="0" cy="0"/>
        </a:xfrm>
      </p:grpSpPr>
      <p:sp>
        <p:nvSpPr>
          <p:cNvPr id="4" name="Text Box 2"/>
          <p:cNvSpPr txBox="1">
            <a:spLocks noChangeArrowheads="1"/>
          </p:cNvSpPr>
          <p:nvPr userDrawn="1"/>
        </p:nvSpPr>
        <p:spPr bwMode="auto">
          <a:xfrm>
            <a:off x="1" y="0"/>
            <a:ext cx="4143736" cy="4745037"/>
          </a:xfrm>
          <a:prstGeom prst="rect">
            <a:avLst/>
          </a:prstGeom>
          <a:noFill/>
          <a:ln w="9525">
            <a:noFill/>
            <a:miter lim="800000"/>
            <a:headEnd/>
            <a:tailEnd/>
          </a:ln>
        </p:spPr>
        <p:txBody>
          <a:bodyPr vert="horz" wrap="square" lIns="468000" tIns="468000" rIns="30960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900" b="0" i="0" u="none" strike="noStrike" kern="0" cap="none" spc="0" normalizeH="0" baseline="0" noProof="0" dirty="0" smtClean="0">
                <a:ln>
                  <a:noFill/>
                </a:ln>
                <a:solidFill>
                  <a:srgbClr val="000000"/>
                </a:solidFill>
                <a:effectLst/>
                <a:uLnTx/>
                <a:uFillTx/>
                <a:latin typeface="EYInterstate" pitchFamily="2" charset="0"/>
              </a:rPr>
              <a:t>EY</a:t>
            </a:r>
            <a:r>
              <a:rPr kumimoji="0" lang="cs-CZ" sz="900" b="0" i="0" u="none" strike="noStrike" kern="0" cap="none" spc="0" normalizeH="0" baseline="0" noProof="0" dirty="0" smtClean="0">
                <a:ln>
                  <a:noFill/>
                </a:ln>
                <a:solidFill>
                  <a:srgbClr val="000000"/>
                </a:solidFill>
                <a:effectLst/>
                <a:uLnTx/>
                <a:uFillTx/>
                <a:latin typeface="EYInterstate Regular" charset="0"/>
              </a:rPr>
              <a:t> </a:t>
            </a:r>
            <a:r>
              <a:rPr kumimoji="0" lang="cs-CZ" sz="900" b="0" i="0" u="none" strike="noStrike" kern="0" cap="none" spc="0" normalizeH="0" baseline="0" noProof="0" dirty="0" smtClean="0">
                <a:ln>
                  <a:noFill/>
                </a:ln>
                <a:solidFill>
                  <a:srgbClr val="000000"/>
                </a:solidFill>
                <a:effectLst/>
                <a:uLnTx/>
                <a:uFillTx/>
                <a:latin typeface="EYInterstate Light" pitchFamily="2" charset="0"/>
              </a:rPr>
              <a:t>| Assurance | Tax | Transactions | Advisory</a:t>
            </a:r>
            <a:endParaRPr kumimoji="0" lang="cs-CZ" sz="900" b="0" i="0" u="none" strike="noStrike" kern="0" cap="none" spc="0" normalizeH="0" baseline="0" noProof="0" dirty="0" smtClean="0">
              <a:ln>
                <a:noFill/>
              </a:ln>
              <a:solidFill>
                <a:srgbClr val="000000"/>
              </a:solidFill>
              <a:effectLst/>
              <a:uLnTx/>
              <a:uFillTx/>
              <a:latin typeface="EYInterstate-Light" charset="0"/>
            </a:endParaRPr>
          </a:p>
          <a:p>
            <a:pPr marL="0" marR="0" lvl="0" indent="0" algn="l" defTabSz="914400" rtl="0" eaLnBrk="1" fontAlgn="base" latinLnBrk="0" hangingPunct="1">
              <a:lnSpc>
                <a:spcPct val="100000"/>
              </a:lnSpc>
              <a:spcBef>
                <a:spcPct val="0"/>
              </a:spcBef>
              <a:spcAft>
                <a:spcPts val="1000"/>
              </a:spcAft>
              <a:buClrTx/>
              <a:buSzTx/>
              <a:buFontTx/>
              <a:buNone/>
              <a:tabLst/>
              <a:defRPr/>
            </a:pPr>
            <a:endParaRPr kumimoji="0" lang="cs-CZ" sz="900" b="0" i="0" u="none" strike="noStrike" kern="0" cap="none" spc="0" normalizeH="0" baseline="0" noProof="0" dirty="0" smtClean="0">
              <a:ln>
                <a:noFill/>
              </a:ln>
              <a:solidFill>
                <a:srgbClr val="7F7E82"/>
              </a:solidFill>
              <a:effectLst/>
              <a:uLnTx/>
              <a:uFillTx/>
              <a:latin typeface="Times New Roman" pitchFamily="18" charset="0"/>
            </a:endParaRPr>
          </a:p>
          <a:p>
            <a:pPr marL="0" marR="0" lvl="0" indent="0" algn="l" defTabSz="914400" rtl="0" eaLnBrk="1" fontAlgn="base" latinLnBrk="0" hangingPunct="1">
              <a:lnSpc>
                <a:spcPct val="100000"/>
              </a:lnSpc>
              <a:spcBef>
                <a:spcPct val="0"/>
              </a:spcBef>
              <a:spcAft>
                <a:spcPts val="100"/>
              </a:spcAft>
              <a:buClrTx/>
              <a:buSzTx/>
              <a:buFontTx/>
              <a:buNone/>
              <a:tabLst/>
              <a:defRPr/>
            </a:pPr>
            <a:r>
              <a:rPr kumimoji="0" lang="cs-CZ" sz="700" b="0" i="0" u="none" strike="noStrike" kern="0" cap="none" spc="0" normalizeH="0" baseline="0" noProof="0" dirty="0" smtClean="0">
                <a:ln>
                  <a:noFill/>
                </a:ln>
                <a:solidFill>
                  <a:srgbClr val="000000"/>
                </a:solidFill>
                <a:effectLst/>
                <a:uLnTx/>
                <a:uFillTx/>
                <a:latin typeface="EYInterstate" pitchFamily="2" charset="0"/>
              </a:rPr>
              <a:t>Informace o EY</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EY je předním celosvětovým poskytovatelem odborných poradenských služeb </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v oblasti auditu, daní, transakčního a podnikového poradenství. Znalost </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problematiky a kvalita služeb, které poskytujeme, přispívají k posilování důvěry </a:t>
            </a:r>
          </a:p>
          <a:p>
            <a:pPr marL="0" marR="0" lvl="0" indent="0" algn="l" defTabSz="914400" rtl="0" eaLnBrk="1" fontAlgn="base" latinLnBrk="0" hangingPunct="1">
              <a:lnSpc>
                <a:spcPct val="100000"/>
              </a:lnSpc>
              <a:spcBef>
                <a:spcPct val="0"/>
              </a:spcBef>
              <a:spcAft>
                <a:spcPts val="0"/>
              </a:spcAft>
              <a:buClrTx/>
              <a:buSzTx/>
              <a:buFontTx/>
              <a:buNone/>
              <a:tabLst/>
            </a:pPr>
            <a:r>
              <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rPr>
              <a:t>v kapitálové trhy i v ekonomiky celého světa. Výjimečný lidský a odborný potenciál nám umožňuje hrát významnou roli při vytváření lepšího prostředí pro naše zaměstnance, klienty i pro širší společnost.</a:t>
            </a:r>
          </a:p>
          <a:p>
            <a:pPr marL="0" marR="0" lvl="0" indent="0" algn="l" defTabSz="914400" rtl="0" eaLnBrk="1" fontAlgn="base" latinLnBrk="0" hangingPunct="1">
              <a:lnSpc>
                <a:spcPct val="100000"/>
              </a:lnSpc>
              <a:spcBef>
                <a:spcPct val="0"/>
              </a:spcBef>
              <a:spcAft>
                <a:spcPts val="525"/>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700" b="0" i="0" u="none" strike="noStrike" kern="0" cap="none" spc="0" normalizeH="0" baseline="0" noProof="0" dirty="0" smtClean="0">
                <a:ln>
                  <a:noFill/>
                </a:ln>
                <a:solidFill>
                  <a:srgbClr val="000000"/>
                </a:solidFill>
                <a:effectLst/>
                <a:uLnTx/>
                <a:uFillTx/>
                <a:latin typeface="EYInterstate Light" pitchFamily="2" charset="0"/>
              </a:rPr>
              <a:t>Název EY zahrnuje celosvětovou organizaci a může zahrnovat jednu či více členských firem Ernst &amp; Young Global Limited, z nichž každá je samostatnou právnickou osobou. Ernst &amp; Young Global Limited, britská společnost s ručením omezeným garancí, služby klientům neposkytuje. Pro podrobnější informace o naší organizaci navštivte prosím naše webové stránky ey.com.</a:t>
            </a: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700" b="0" i="0" u="none" strike="noStrike" kern="0" cap="none" spc="0" normalizeH="0" baseline="0" noProof="0" dirty="0" smtClean="0">
                <a:ln>
                  <a:noFill/>
                </a:ln>
                <a:solidFill>
                  <a:srgbClr val="000000"/>
                </a:solidFill>
                <a:effectLst/>
                <a:uLnTx/>
                <a:uFillTx/>
                <a:latin typeface="EYInterstate Light" pitchFamily="2" charset="0"/>
              </a:rPr>
              <a:t>© 2016  Ernst &amp; Young, s.r.o. </a:t>
            </a:r>
            <a:r>
              <a:rPr kumimoji="0" lang="cs-CZ" sz="900" b="0" i="0" u="none" strike="noStrike" kern="0" cap="none" spc="0" normalizeH="0" baseline="0" noProof="0" dirty="0" smtClean="0">
                <a:ln>
                  <a:noFill/>
                </a:ln>
                <a:solidFill>
                  <a:srgbClr val="000000"/>
                </a:solidFill>
                <a:effectLst/>
                <a:uLnTx/>
                <a:uFillTx/>
                <a:latin typeface="EYInterstate Light" pitchFamily="2" charset="0"/>
              </a:rPr>
              <a:t>|</a:t>
            </a:r>
            <a:r>
              <a:rPr kumimoji="0" lang="cs-CZ" sz="700" b="0" i="0" u="none" strike="noStrike" kern="0" cap="none" spc="0" normalizeH="0" baseline="0" noProof="0" dirty="0" smtClean="0">
                <a:ln>
                  <a:noFill/>
                </a:ln>
                <a:solidFill>
                  <a:srgbClr val="000000"/>
                </a:solidFill>
                <a:effectLst/>
                <a:uLnTx/>
                <a:uFillTx/>
                <a:latin typeface="EYInterstate Light" pitchFamily="2" charset="0"/>
              </a:rPr>
              <a:t> Ernst &amp; Young Audit, s.r.o. </a:t>
            </a:r>
            <a:r>
              <a:rPr kumimoji="0" lang="cs-CZ" sz="900" b="0" i="0" u="none" strike="noStrike" kern="0" cap="none" spc="0" normalizeH="0" baseline="0" noProof="0" dirty="0" smtClean="0">
                <a:ln>
                  <a:noFill/>
                </a:ln>
                <a:solidFill>
                  <a:srgbClr val="000000"/>
                </a:solidFill>
                <a:effectLst/>
                <a:uLnTx/>
                <a:uFillTx/>
                <a:latin typeface="EYInterstate Light" pitchFamily="2" charset="0"/>
              </a:rPr>
              <a:t>|</a:t>
            </a:r>
            <a:r>
              <a:rPr kumimoji="0" lang="cs-CZ" sz="700" b="0" i="0" u="none" strike="noStrike" kern="0" cap="none" spc="0" normalizeH="0" baseline="0" noProof="0" dirty="0" smtClean="0">
                <a:ln>
                  <a:noFill/>
                </a:ln>
                <a:solidFill>
                  <a:srgbClr val="000000"/>
                </a:solidFill>
                <a:effectLst/>
                <a:uLnTx/>
                <a:uFillTx/>
                <a:latin typeface="EYInterstate Light" pitchFamily="2" charset="0"/>
              </a:rPr>
              <a:t> E &amp; Y Valuations s.r.o.</a:t>
            </a:r>
            <a:br>
              <a:rPr kumimoji="0" lang="cs-CZ" sz="700" b="0" i="0" u="none" strike="noStrike" kern="0" cap="none" spc="0" normalizeH="0" baseline="0" noProof="0" dirty="0" smtClean="0">
                <a:ln>
                  <a:noFill/>
                </a:ln>
                <a:solidFill>
                  <a:srgbClr val="000000"/>
                </a:solidFill>
                <a:effectLst/>
                <a:uLnTx/>
                <a:uFillTx/>
                <a:latin typeface="EYInterstate Light" pitchFamily="2" charset="0"/>
              </a:rPr>
            </a:br>
            <a:r>
              <a:rPr kumimoji="0" lang="cs-CZ" sz="700" b="0" i="0" u="none" strike="noStrike" kern="0" cap="none" spc="0" normalizeH="0" baseline="0" noProof="0" dirty="0" smtClean="0">
                <a:ln>
                  <a:noFill/>
                </a:ln>
                <a:solidFill>
                  <a:srgbClr val="000000"/>
                </a:solidFill>
                <a:effectLst/>
                <a:uLnTx/>
                <a:uFillTx/>
                <a:latin typeface="EYInterstate Light" pitchFamily="2" charset="0"/>
              </a:rPr>
              <a:t>Všechna práva vyhrazena.</a:t>
            </a:r>
          </a:p>
          <a:p>
            <a:pPr marL="0" marR="0" lvl="0" indent="0" algn="l" defTabSz="914400" rtl="0" eaLnBrk="1" fontAlgn="base" latinLnBrk="0" hangingPunct="1">
              <a:lnSpc>
                <a:spcPct val="100000"/>
              </a:lnSpc>
              <a:spcBef>
                <a:spcPct val="0"/>
              </a:spcBef>
              <a:spcAft>
                <a:spcPts val="1013"/>
              </a:spcAft>
              <a:buClrTx/>
              <a:buSzTx/>
              <a:buFontTx/>
              <a:buNone/>
              <a:tabLst/>
              <a:defRPr/>
            </a:pPr>
            <a:endParaRPr kumimoji="0" lang="cs-CZ" sz="700" b="0" i="0" u="none" strike="noStrike" kern="0" cap="none" spc="0" normalizeH="0" baseline="0" noProof="0" dirty="0" smtClean="0">
              <a:ln>
                <a:noFill/>
              </a:ln>
              <a:solidFill>
                <a:srgbClr val="000000"/>
              </a:solidFill>
              <a:effectLst/>
              <a:uLnTx/>
              <a:uFillTx/>
              <a:latin typeface="EYInterstate Light" pitchFamily="2" charset="0"/>
            </a:endParaRPr>
          </a:p>
          <a:p>
            <a:r>
              <a:rPr kumimoji="0" lang="cs-CZ" sz="600" b="0" i="0" u="none" strike="noStrike" kern="0" cap="none" spc="0" normalizeH="0" baseline="0" noProof="0" dirty="0" smtClean="0">
                <a:ln>
                  <a:noFill/>
                </a:ln>
                <a:solidFill>
                  <a:srgbClr val="000000"/>
                </a:solidFill>
                <a:effectLst/>
                <a:uLnTx/>
                <a:uFillTx/>
                <a:latin typeface="EYInterstate Light" pitchFamily="2" charset="0"/>
                <a:ea typeface="+mn-ea"/>
                <a:cs typeface="+mn-cs"/>
              </a:rPr>
              <a:t>Tento materiál má pouze všeobecný informační charakter, na který není možné spoléhat se jako na poskytnutí účetního, daňového ani jiného odborného poradenství. V případě potřeby se prosím obraťte na svého konkrétního poradce.</a:t>
            </a:r>
          </a:p>
          <a:p>
            <a:pPr>
              <a:spcAft>
                <a:spcPts val="525"/>
              </a:spcAft>
            </a:pPr>
            <a:endParaRPr kumimoji="0" lang="cs-CZ" sz="700" b="0" i="0" u="none" strike="noStrike" kern="0" cap="none" spc="0" normalizeH="0" baseline="0" noProof="0" dirty="0" smtClean="0">
              <a:ln>
                <a:noFill/>
              </a:ln>
              <a:solidFill>
                <a:srgbClr val="000000"/>
              </a:solidFill>
              <a:effectLst/>
              <a:uLnTx/>
              <a:uFillTx/>
              <a:latin typeface="EYInterstate Light" pitchFamily="2" charset="0"/>
              <a:ea typeface="+mn-ea"/>
              <a:cs typeface="+mn-cs"/>
            </a:endParaRPr>
          </a:p>
          <a:p>
            <a:pPr marL="0" marR="0" lvl="0" indent="0" algn="l" defTabSz="914400" rtl="0" eaLnBrk="1" fontAlgn="base" latinLnBrk="0" hangingPunct="1">
              <a:lnSpc>
                <a:spcPct val="100000"/>
              </a:lnSpc>
              <a:spcBef>
                <a:spcPct val="0"/>
              </a:spcBef>
              <a:spcAft>
                <a:spcPts val="525"/>
              </a:spcAft>
              <a:buClrTx/>
              <a:buSzTx/>
              <a:buFontTx/>
              <a:buNone/>
              <a:tabLst/>
              <a:defRPr/>
            </a:pPr>
            <a:r>
              <a:rPr kumimoji="0" lang="cs-CZ" sz="900" b="0" i="0" u="none" strike="noStrike" kern="0" cap="none" spc="0" normalizeH="0" baseline="0" noProof="0" dirty="0" smtClean="0">
                <a:ln>
                  <a:noFill/>
                </a:ln>
                <a:solidFill>
                  <a:srgbClr val="000000"/>
                </a:solidFill>
                <a:effectLst/>
                <a:uLnTx/>
                <a:uFillTx/>
                <a:latin typeface="EYInterstate" pitchFamily="2" charset="0"/>
              </a:rPr>
              <a:t>ey.com</a:t>
            </a:r>
            <a:endParaRPr kumimoji="0" lang="cs-CZ" sz="700" b="0" i="0" u="none" strike="noStrike" kern="0" cap="none" spc="0" normalizeH="0" baseline="0" noProof="0" dirty="0" smtClean="0">
              <a:ln>
                <a:noFill/>
              </a:ln>
              <a:solidFill>
                <a:srgbClr val="000000"/>
              </a:solidFill>
              <a:effectLst/>
              <a:uLnTx/>
              <a:uFillTx/>
              <a:latin typeface="EYInterstate" pitchFamily="2"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cs-CZ" sz="1600" b="0" i="0" u="none" strike="noStrike" kern="0" cap="none" spc="0" normalizeH="0" baseline="0" noProof="0" dirty="0" smtClean="0">
              <a:ln>
                <a:noFill/>
              </a:ln>
              <a:solidFill>
                <a:srgbClr val="7F7E82"/>
              </a:solidFill>
              <a:effectLst/>
              <a:uLnTx/>
              <a:uFillTx/>
              <a:latin typeface="Arial" pitchFamily="34" charset="0"/>
            </a:endParaRPr>
          </a:p>
        </p:txBody>
      </p:sp>
    </p:spTree>
    <p:extLst>
      <p:ext uri="{BB962C8B-B14F-4D97-AF65-F5344CB8AC3E}">
        <p14:creationId xmlns:p14="http://schemas.microsoft.com/office/powerpoint/2010/main" val="10900077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Front cover_1_Frame">
    <p:spTree>
      <p:nvGrpSpPr>
        <p:cNvPr id="1" name=""/>
        <p:cNvGrpSpPr/>
        <p:nvPr/>
      </p:nvGrpSpPr>
      <p:grpSpPr>
        <a:xfrm>
          <a:off x="0" y="0"/>
          <a:ext cx="0" cy="0"/>
          <a:chOff x="0" y="0"/>
          <a:chExt cx="0" cy="0"/>
        </a:xfrm>
      </p:grpSpPr>
      <p:sp>
        <p:nvSpPr>
          <p:cNvPr id="16" name="Rectangle 1"/>
          <p:cNvSpPr>
            <a:spLocks noChangeAspect="1"/>
          </p:cNvSpPr>
          <p:nvPr userDrawn="1"/>
        </p:nvSpPr>
        <p:spPr>
          <a:xfrm>
            <a:off x="1980406" y="777240"/>
            <a:ext cx="6755607" cy="3400425"/>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5607" h="3400425">
                <a:moveTo>
                  <a:pt x="0" y="1197768"/>
                </a:moveTo>
                <a:lnTo>
                  <a:pt x="6755607" y="0"/>
                </a:lnTo>
                <a:lnTo>
                  <a:pt x="6755607" y="3400425"/>
                </a:lnTo>
                <a:lnTo>
                  <a:pt x="2382" y="3400425"/>
                </a:lnTo>
                <a:lnTo>
                  <a:pt x="0" y="1197768"/>
                </a:ln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17" name="Title 1"/>
          <p:cNvSpPr>
            <a:spLocks noGrp="1"/>
          </p:cNvSpPr>
          <p:nvPr>
            <p:ph type="ctrTitle"/>
          </p:nvPr>
        </p:nvSpPr>
        <p:spPr>
          <a:xfrm>
            <a:off x="2212847" y="2240280"/>
            <a:ext cx="6217920" cy="860400"/>
          </a:xfr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18" name="Subtitle 2"/>
          <p:cNvSpPr>
            <a:spLocks noGrp="1"/>
          </p:cNvSpPr>
          <p:nvPr>
            <p:ph type="subTitle" idx="1"/>
          </p:nvPr>
        </p:nvSpPr>
        <p:spPr>
          <a:xfrm>
            <a:off x="2212848" y="3220754"/>
            <a:ext cx="621792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0" indent="0" algn="l">
              <a:buNone/>
              <a:defRPr sz="1600">
                <a:solidFill>
                  <a:srgbClr val="404040"/>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spTree>
    <p:extLst>
      <p:ext uri="{BB962C8B-B14F-4D97-AF65-F5344CB8AC3E}">
        <p14:creationId xmlns:p14="http://schemas.microsoft.com/office/powerpoint/2010/main" val="8415658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Front cover_2_Frame">
    <p:spTree>
      <p:nvGrpSpPr>
        <p:cNvPr id="1" name=""/>
        <p:cNvGrpSpPr/>
        <p:nvPr/>
      </p:nvGrpSpPr>
      <p:grpSpPr>
        <a:xfrm>
          <a:off x="0" y="0"/>
          <a:ext cx="0" cy="0"/>
          <a:chOff x="0" y="0"/>
          <a:chExt cx="0" cy="0"/>
        </a:xfrm>
      </p:grpSpPr>
      <p:sp>
        <p:nvSpPr>
          <p:cNvPr id="3" name="Freeform 5"/>
          <p:cNvSpPr>
            <a:spLocks noChangeAspect="1"/>
          </p:cNvSpPr>
          <p:nvPr userDrawn="1"/>
        </p:nvSpPr>
        <p:spPr bwMode="gray">
          <a:xfrm rot="10800000">
            <a:off x="3324670" y="457200"/>
            <a:ext cx="5413248"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 name="Title 1"/>
          <p:cNvSpPr>
            <a:spLocks noGrp="1"/>
          </p:cNvSpPr>
          <p:nvPr>
            <p:ph type="ctrTitle"/>
          </p:nvPr>
        </p:nvSpPr>
        <p:spPr>
          <a:xfrm>
            <a:off x="3557109" y="1677507"/>
            <a:ext cx="4901184" cy="860400"/>
          </a:xfr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5" name="Subtitle 2"/>
          <p:cNvSpPr>
            <a:spLocks noGrp="1"/>
          </p:cNvSpPr>
          <p:nvPr>
            <p:ph type="subTitle" idx="1"/>
          </p:nvPr>
        </p:nvSpPr>
        <p:spPr>
          <a:xfrm>
            <a:off x="3557109" y="2685128"/>
            <a:ext cx="4901184"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spTree>
    <p:extLst>
      <p:ext uri="{BB962C8B-B14F-4D97-AF65-F5344CB8AC3E}">
        <p14:creationId xmlns:p14="http://schemas.microsoft.com/office/powerpoint/2010/main" val="15850930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ront cover_1_Better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779463"/>
            <a:ext cx="6753225" cy="3400425"/>
          </a:xfrm>
          <a:prstGeom prst="rect">
            <a:avLst/>
          </a:prstGeom>
        </p:spPr>
      </p:pic>
      <p:sp>
        <p:nvSpPr>
          <p:cNvPr id="7" name="Subtitle 2"/>
          <p:cNvSpPr>
            <a:spLocks noGrp="1"/>
          </p:cNvSpPr>
          <p:nvPr>
            <p:ph type="subTitle" idx="1"/>
          </p:nvPr>
        </p:nvSpPr>
        <p:spPr>
          <a:xfrm>
            <a:off x="886968" y="3258529"/>
            <a:ext cx="5943432"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sp>
        <p:nvSpPr>
          <p:cNvPr id="8" name="Title 1"/>
          <p:cNvSpPr>
            <a:spLocks noGrp="1"/>
          </p:cNvSpPr>
          <p:nvPr>
            <p:ph type="ctrTitle"/>
          </p:nvPr>
        </p:nvSpPr>
        <p:spPr>
          <a:xfrm>
            <a:off x="886968" y="2288083"/>
            <a:ext cx="5943432" cy="860400"/>
          </a:xfrm>
          <a:prstGeom prst="rect">
            <a:avLst/>
          </a:prstGeo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8148" y="6103145"/>
            <a:ext cx="3826800" cy="373999"/>
          </a:xfrm>
          <a:prstGeom prst="rect">
            <a:avLst/>
          </a:prstGeom>
        </p:spPr>
      </p:pic>
      <p:pic>
        <p:nvPicPr>
          <p:cNvPr id="15" name="Picture 1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8148" y="5889312"/>
            <a:ext cx="474350" cy="116916"/>
          </a:xfrm>
          <a:prstGeom prst="rect">
            <a:avLst/>
          </a:prstGeom>
        </p:spPr>
      </p:pic>
    </p:spTree>
    <p:extLst>
      <p:ext uri="{BB962C8B-B14F-4D97-AF65-F5344CB8AC3E}">
        <p14:creationId xmlns:p14="http://schemas.microsoft.com/office/powerpoint/2010/main" val="39515246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Front cover_2_Better Question">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57200"/>
            <a:ext cx="5413375" cy="4572000"/>
          </a:xfrm>
          <a:prstGeom prst="rect">
            <a:avLst/>
          </a:prstGeom>
        </p:spPr>
      </p:pic>
      <p:sp>
        <p:nvSpPr>
          <p:cNvPr id="7" name="Title 1"/>
          <p:cNvSpPr>
            <a:spLocks noGrp="1"/>
          </p:cNvSpPr>
          <p:nvPr>
            <p:ph type="ctrTitle"/>
          </p:nvPr>
        </p:nvSpPr>
        <p:spPr>
          <a:xfrm>
            <a:off x="886968" y="1799130"/>
            <a:ext cx="4643060" cy="860400"/>
          </a:xfrm>
          <a:prstGeom prst="rect">
            <a:avLst/>
          </a:prstGeo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8" name="Subtitle 2"/>
          <p:cNvSpPr>
            <a:spLocks noGrp="1"/>
          </p:cNvSpPr>
          <p:nvPr>
            <p:ph type="subTitle" idx="1"/>
          </p:nvPr>
        </p:nvSpPr>
        <p:spPr>
          <a:xfrm>
            <a:off x="886968" y="2769576"/>
            <a:ext cx="4643060"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grpSp>
        <p:nvGrpSpPr>
          <p:cNvPr id="2" name="Group 1"/>
          <p:cNvGrpSpPr/>
          <p:nvPr userDrawn="1"/>
        </p:nvGrpSpPr>
        <p:grpSpPr>
          <a:xfrm>
            <a:off x="7712719" y="5303239"/>
            <a:ext cx="1044000" cy="1213056"/>
            <a:chOff x="7712719" y="5303239"/>
            <a:chExt cx="1044000" cy="1213056"/>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40315" y="5303239"/>
              <a:ext cx="798843" cy="309932"/>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12719" y="5709048"/>
              <a:ext cx="1044000" cy="807247"/>
            </a:xfrm>
            <a:prstGeom prst="rect">
              <a:avLst/>
            </a:prstGeom>
          </p:spPr>
        </p:pic>
      </p:grpSp>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8148" y="6103145"/>
            <a:ext cx="3826800" cy="373999"/>
          </a:xfrm>
          <a:prstGeom prst="rect">
            <a:avLst/>
          </a:prstGeom>
        </p:spPr>
      </p:pic>
      <p:pic>
        <p:nvPicPr>
          <p:cNvPr id="15" name="Picture 1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8148" y="5889312"/>
            <a:ext cx="474350" cy="116916"/>
          </a:xfrm>
          <a:prstGeom prst="rect">
            <a:avLst/>
          </a:prstGeom>
        </p:spPr>
      </p:pic>
    </p:spTree>
    <p:extLst>
      <p:ext uri="{BB962C8B-B14F-4D97-AF65-F5344CB8AC3E}">
        <p14:creationId xmlns:p14="http://schemas.microsoft.com/office/powerpoint/2010/main" val="28837620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Front cover_1_Beam (legacy)">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auto">
          <a:xfrm>
            <a:off x="2271259" y="5747990"/>
            <a:ext cx="983483" cy="745200"/>
          </a:xfrm>
          <a:prstGeom prst="rect">
            <a:avLst/>
          </a:prstGeom>
          <a:noFill/>
          <a:ln w="9525">
            <a:noFill/>
            <a:miter lim="800000"/>
            <a:headEnd/>
            <a:tailEnd/>
          </a:ln>
          <a:effectLst/>
        </p:spPr>
      </p:pic>
      <p:sp>
        <p:nvSpPr>
          <p:cNvPr id="2" name="Title 1"/>
          <p:cNvSpPr>
            <a:spLocks noGrp="1"/>
          </p:cNvSpPr>
          <p:nvPr>
            <p:ph type="ctrTitle"/>
          </p:nvPr>
        </p:nvSpPr>
        <p:spPr>
          <a:xfrm>
            <a:off x="2277384" y="777600"/>
            <a:ext cx="5490000" cy="860400"/>
          </a:xfrm>
        </p:spPr>
        <p:txBody>
          <a:bodyPr/>
          <a:lstStyle/>
          <a:p>
            <a:r>
              <a:rPr lang="en-US" noProof="0" dirty="0" smtClean="0"/>
              <a:t>Click to edit Master title style</a:t>
            </a:r>
            <a:endParaRPr lang="en-GB" dirty="0"/>
          </a:p>
        </p:txBody>
      </p:sp>
      <p:sp>
        <p:nvSpPr>
          <p:cNvPr id="3" name="Subtitle 2"/>
          <p:cNvSpPr>
            <a:spLocks noGrp="1"/>
          </p:cNvSpPr>
          <p:nvPr>
            <p:ph type="subTitle" idx="1"/>
          </p:nvPr>
        </p:nvSpPr>
        <p:spPr>
          <a:xfrm>
            <a:off x="2277384" y="1753200"/>
            <a:ext cx="5490000" cy="968400"/>
          </a:xfrm>
        </p:spPr>
        <p:txBody>
          <a:bodyPr/>
          <a:lstStyle>
            <a:lvl1pPr marL="0" indent="0" algn="l">
              <a:buNone/>
              <a:defRPr sz="2000">
                <a:solidFill>
                  <a:srgbClr val="646464"/>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GB" dirty="0"/>
          </a:p>
        </p:txBody>
      </p:sp>
      <p:grpSp>
        <p:nvGrpSpPr>
          <p:cNvPr id="12" name="Group 11"/>
          <p:cNvGrpSpPr/>
          <p:nvPr userDrawn="1"/>
        </p:nvGrpSpPr>
        <p:grpSpPr>
          <a:xfrm>
            <a:off x="-6532" y="2405084"/>
            <a:ext cx="9150532" cy="3349170"/>
            <a:chOff x="-6532" y="2405084"/>
            <a:chExt cx="9150532" cy="3349170"/>
          </a:xfrm>
        </p:grpSpPr>
        <p:sp>
          <p:nvSpPr>
            <p:cNvPr id="1032"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rgbClr val="FFD200"/>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pic>
          <p:nvPicPr>
            <p:cNvPr id="8" name="Picture 3"/>
            <p:cNvPicPr>
              <a:picLocks noChangeAspect="1" noChangeArrowheads="1"/>
            </p:cNvPicPr>
            <p:nvPr userDrawn="1"/>
          </p:nvPicPr>
          <p:blipFill>
            <a:blip r:embed="rId3" cstate="print"/>
            <a:srcRect/>
            <a:stretch>
              <a:fillRect/>
            </a:stretch>
          </p:blipFill>
          <p:spPr bwMode="auto">
            <a:xfrm>
              <a:off x="-6532" y="4411503"/>
              <a:ext cx="2289891" cy="1342751"/>
            </a:xfrm>
            <a:prstGeom prst="rect">
              <a:avLst/>
            </a:prstGeom>
            <a:noFill/>
            <a:ln w="9525">
              <a:noFill/>
              <a:miter lim="800000"/>
              <a:headEnd/>
              <a:tailEnd/>
            </a:ln>
            <a:effectLst/>
          </p:spPr>
        </p:pic>
      </p:grpSp>
    </p:spTree>
    <p:extLst>
      <p:ext uri="{BB962C8B-B14F-4D97-AF65-F5344CB8AC3E}">
        <p14:creationId xmlns:p14="http://schemas.microsoft.com/office/powerpoint/2010/main" val="42642649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Front cover_2_Beam (legacy)">
    <p:spTree>
      <p:nvGrpSpPr>
        <p:cNvPr id="1" name=""/>
        <p:cNvGrpSpPr/>
        <p:nvPr/>
      </p:nvGrpSpPr>
      <p:grpSpPr>
        <a:xfrm>
          <a:off x="0" y="0"/>
          <a:ext cx="0" cy="0"/>
          <a:chOff x="0" y="0"/>
          <a:chExt cx="0" cy="0"/>
        </a:xfrm>
      </p:grpSpPr>
      <p:sp>
        <p:nvSpPr>
          <p:cNvPr id="2" name="Title 1"/>
          <p:cNvSpPr>
            <a:spLocks noGrp="1"/>
          </p:cNvSpPr>
          <p:nvPr>
            <p:ph type="ctrTitle"/>
          </p:nvPr>
        </p:nvSpPr>
        <p:spPr>
          <a:xfrm>
            <a:off x="2277384" y="777600"/>
            <a:ext cx="5490000" cy="860400"/>
          </a:xfrm>
        </p:spPr>
        <p:txBody>
          <a:bodyPr/>
          <a:lstStyle/>
          <a:p>
            <a:r>
              <a:rPr lang="en-US" dirty="0" smtClean="0"/>
              <a:t>Click to edit Master title style</a:t>
            </a:r>
            <a:endParaRPr lang="en-GB" dirty="0"/>
          </a:p>
        </p:txBody>
      </p:sp>
      <p:sp>
        <p:nvSpPr>
          <p:cNvPr id="3" name="Subtitle 2"/>
          <p:cNvSpPr>
            <a:spLocks noGrp="1"/>
          </p:cNvSpPr>
          <p:nvPr>
            <p:ph type="subTitle" idx="1"/>
          </p:nvPr>
        </p:nvSpPr>
        <p:spPr>
          <a:xfrm>
            <a:off x="2277384" y="1753200"/>
            <a:ext cx="549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2271942" y="5745156"/>
            <a:ext cx="983483" cy="745200"/>
          </a:xfrm>
          <a:prstGeom prst="rect">
            <a:avLst/>
          </a:prstGeom>
          <a:noFill/>
          <a:ln w="9525">
            <a:noFill/>
            <a:miter lim="800000"/>
            <a:headEnd/>
            <a:tailEnd/>
          </a:ln>
          <a:effectLst/>
        </p:spPr>
      </p:pic>
      <p:sp>
        <p:nvSpPr>
          <p:cNvPr id="16" name="Freeform 15"/>
          <p:cNvSpPr/>
          <p:nvPr userDrawn="1"/>
        </p:nvSpPr>
        <p:spPr>
          <a:xfrm>
            <a:off x="-9144" y="3000375"/>
            <a:ext cx="2286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646464"/>
              </a:solidFill>
              <a:cs typeface="Arial" pitchFamily="34" charset="0"/>
            </a:endParaRPr>
          </a:p>
        </p:txBody>
      </p:sp>
      <p:sp>
        <p:nvSpPr>
          <p:cNvPr id="17"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646464"/>
              </a:solidFill>
              <a:cs typeface="Arial" pitchFamily="34" charset="0"/>
            </a:endParaRPr>
          </a:p>
        </p:txBody>
      </p:sp>
    </p:spTree>
    <p:extLst>
      <p:ext uri="{BB962C8B-B14F-4D97-AF65-F5344CB8AC3E}">
        <p14:creationId xmlns:p14="http://schemas.microsoft.com/office/powerpoint/2010/main" val="11931148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2pPr>
              <a:defRPr/>
            </a:lvl2pPr>
            <a:lvl3pPr>
              <a:defRPr lang="en-US" noProof="0" dirty="0" err="1" smtClean="0"/>
            </a:lvl3pPr>
            <a:lvl4pPr>
              <a:defRPr/>
            </a:lvl4pPr>
            <a:lvl5pPr>
              <a:defRPr/>
            </a:lvl5pPr>
          </a:lstStyle>
          <a:p>
            <a:pPr lvl="0"/>
            <a:r>
              <a:rPr lang="en-US" noProof="0" smtClean="0"/>
              <a:t>Click to edit Master text styles</a:t>
            </a:r>
            <a:endParaRPr lang="en-US" smtClean="0"/>
          </a:p>
          <a:p>
            <a:pPr lvl="1"/>
            <a:r>
              <a:rPr lang="en-US" noProof="0" smtClean="0"/>
              <a:t>Second level</a:t>
            </a:r>
            <a:endParaRPr lang="en-US" smtClean="0"/>
          </a:p>
          <a:p>
            <a:pPr lvl="2"/>
            <a:r>
              <a:rPr lang="en-US" smtClean="0"/>
              <a:t>Third level</a:t>
            </a:r>
          </a:p>
          <a:p>
            <a:pPr lvl="3"/>
            <a:r>
              <a:rPr lang="en-US" noProof="0" smtClean="0"/>
              <a:t>Fourth </a:t>
            </a:r>
            <a:r>
              <a:rPr lang="en-US" smtClean="0"/>
              <a:t>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r>
              <a:rPr lang="en-US" smtClean="0">
                <a:solidFill>
                  <a:srgbClr val="646464"/>
                </a:solidFill>
              </a:rPr>
              <a:t>Presentation title</a:t>
            </a:r>
            <a:endParaRPr lang="en-US">
              <a:solidFill>
                <a:srgbClr val="646464"/>
              </a:solidFill>
            </a:endParaRPr>
          </a:p>
        </p:txBody>
      </p:sp>
    </p:spTree>
    <p:extLst>
      <p:ext uri="{BB962C8B-B14F-4D97-AF65-F5344CB8AC3E}">
        <p14:creationId xmlns:p14="http://schemas.microsoft.com/office/powerpoint/2010/main" val="20027599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5" name="Footer Placeholder 4"/>
          <p:cNvSpPr>
            <a:spLocks noGrp="1"/>
          </p:cNvSpPr>
          <p:nvPr>
            <p:ph type="ftr" sz="quarter" idx="11"/>
          </p:nvPr>
        </p:nvSpPr>
        <p:spPr/>
        <p:txBody>
          <a:bodyPr/>
          <a:lstStyle/>
          <a:p>
            <a:r>
              <a:rPr lang="en-GB" smtClean="0">
                <a:solidFill>
                  <a:srgbClr val="646464"/>
                </a:solidFill>
              </a:rPr>
              <a:t>Presentation title</a:t>
            </a:r>
            <a:endParaRPr lang="en-GB">
              <a:solidFill>
                <a:srgbClr val="646464"/>
              </a:solidFill>
            </a:endParaRPr>
          </a:p>
        </p:txBody>
      </p:sp>
    </p:spTree>
    <p:extLst>
      <p:ext uri="{BB962C8B-B14F-4D97-AF65-F5344CB8AC3E}">
        <p14:creationId xmlns:p14="http://schemas.microsoft.com/office/powerpoint/2010/main" val="11885818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63549" y="1417638"/>
            <a:ext cx="4010411" cy="47117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dirty="0" smtClean="0"/>
              <a:t>Click to edit Master text styles</a:t>
            </a:r>
            <a:endParaRPr lang="en-US" dirty="0" smtClean="0"/>
          </a:p>
          <a:p>
            <a:pPr lvl="1"/>
            <a:r>
              <a:rPr lang="en-US" noProof="0" dirty="0" smtClean="0"/>
              <a:t>Second </a:t>
            </a:r>
            <a:r>
              <a:rPr lang="en-US" dirty="0" smtClean="0"/>
              <a:t>level</a:t>
            </a:r>
          </a:p>
          <a:p>
            <a:pPr lvl="2"/>
            <a:r>
              <a:rPr lang="en-US" dirty="0" smtClean="0"/>
              <a:t>Third level</a:t>
            </a:r>
          </a:p>
          <a:p>
            <a:pPr lvl="3"/>
            <a:r>
              <a:rPr lang="en-US" noProof="0" dirty="0" smtClean="0"/>
              <a:t>Fourth </a:t>
            </a:r>
            <a:r>
              <a:rPr lang="en-US" dirty="0" smtClean="0"/>
              <a:t>level</a:t>
            </a:r>
          </a:p>
          <a:p>
            <a:pPr lvl="4"/>
            <a:r>
              <a:rPr lang="en-US" dirty="0" smtClean="0"/>
              <a:t>Fifth level</a:t>
            </a:r>
            <a:endParaRPr lang="en-US" dirty="0"/>
          </a:p>
        </p:txBody>
      </p:sp>
      <p:sp>
        <p:nvSpPr>
          <p:cNvPr id="4" name="Content Placeholder 3"/>
          <p:cNvSpPr>
            <a:spLocks noGrp="1"/>
          </p:cNvSpPr>
          <p:nvPr>
            <p:ph sz="half" idx="2"/>
          </p:nvPr>
        </p:nvSpPr>
        <p:spPr>
          <a:xfrm>
            <a:off x="4648200" y="1417636"/>
            <a:ext cx="4032000" cy="4711701"/>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Click to edit Master text styles</a:t>
            </a:r>
            <a:endParaRPr lang="en-US" smtClean="0"/>
          </a:p>
          <a:p>
            <a:pPr lvl="1"/>
            <a:r>
              <a:rPr lang="en-US" noProof="0" smtClean="0"/>
              <a:t>Second </a:t>
            </a:r>
            <a:r>
              <a:rPr lang="en-US" smtClean="0"/>
              <a:t>level</a:t>
            </a:r>
          </a:p>
          <a:p>
            <a:pPr lvl="2"/>
            <a:r>
              <a:rPr lang="en-US" smtClean="0"/>
              <a:t>Third level</a:t>
            </a:r>
          </a:p>
          <a:p>
            <a:pPr lvl="3"/>
            <a:r>
              <a:rPr lang="en-US" noProof="0" smtClean="0"/>
              <a:t>Fourth </a:t>
            </a:r>
            <a:r>
              <a:rPr lang="en-US" smtClean="0"/>
              <a:t>level</a:t>
            </a:r>
          </a:p>
          <a:p>
            <a:pPr lvl="4"/>
            <a:r>
              <a:rPr lang="en-US" smtClean="0"/>
              <a:t>Fifth level</a:t>
            </a:r>
            <a:endParaRPr lang="en-US" dirty="0"/>
          </a:p>
        </p:txBody>
      </p:sp>
      <p:sp>
        <p:nvSpPr>
          <p:cNvPr id="5" name="Footer Placeholder 4"/>
          <p:cNvSpPr>
            <a:spLocks noGrp="1"/>
          </p:cNvSpPr>
          <p:nvPr>
            <p:ph type="ftr" sz="quarter" idx="10"/>
          </p:nvPr>
        </p:nvSpPr>
        <p:spPr/>
        <p:txBody>
          <a:bodyPr/>
          <a:lstStyle/>
          <a:p>
            <a:r>
              <a:rPr lang="en-US" smtClean="0">
                <a:solidFill>
                  <a:srgbClr val="646464"/>
                </a:solidFill>
              </a:rPr>
              <a:t>Presentation title</a:t>
            </a:r>
            <a:endParaRPr lang="en-US">
              <a:solidFill>
                <a:srgbClr val="646464"/>
              </a:solidFill>
            </a:endParaRPr>
          </a:p>
        </p:txBody>
      </p:sp>
    </p:spTree>
    <p:extLst>
      <p:ext uri="{BB962C8B-B14F-4D97-AF65-F5344CB8AC3E}">
        <p14:creationId xmlns:p14="http://schemas.microsoft.com/office/powerpoint/2010/main" val="2963255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0400"/>
          </a:xfrm>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2146794"/>
            <a:ext cx="4017400" cy="39600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a:t>
            </a:r>
          </a:p>
          <a:p>
            <a:pPr lvl="1"/>
            <a:r>
              <a:rPr lang="en-US" noProof="0" dirty="0" smtClean="0"/>
              <a:t>Second </a:t>
            </a:r>
            <a:r>
              <a:rPr lang="en-US" dirty="0" smtClean="0"/>
              <a:t>level</a:t>
            </a:r>
          </a:p>
          <a:p>
            <a:pPr lvl="2"/>
            <a:r>
              <a:rPr lang="en-US" dirty="0" smtClean="0"/>
              <a:t>Third level</a:t>
            </a:r>
          </a:p>
          <a:p>
            <a:pPr lvl="3"/>
            <a:r>
              <a:rPr lang="en-US" noProof="0" dirty="0" smtClean="0"/>
              <a:t>Fourth </a:t>
            </a:r>
            <a:r>
              <a:rPr lang="en-US" dirty="0" smtClean="0"/>
              <a:t>level</a:t>
            </a:r>
          </a:p>
          <a:p>
            <a:pPr lvl="4"/>
            <a:r>
              <a:rPr lang="en-US" dirty="0" smtClean="0"/>
              <a:t>Fifth level</a:t>
            </a:r>
            <a:endParaRPr lang="en-US" dirty="0"/>
          </a:p>
        </p:txBody>
      </p:sp>
      <p:sp>
        <p:nvSpPr>
          <p:cNvPr id="4" name="Content Placeholder 3"/>
          <p:cNvSpPr>
            <a:spLocks noGrp="1"/>
          </p:cNvSpPr>
          <p:nvPr>
            <p:ph sz="half" idx="2"/>
          </p:nvPr>
        </p:nvSpPr>
        <p:spPr>
          <a:xfrm>
            <a:off x="4651200" y="2146794"/>
            <a:ext cx="4042800" cy="39600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a:t>
            </a:r>
          </a:p>
          <a:p>
            <a:pPr lvl="1"/>
            <a:r>
              <a:rPr lang="en-US" noProof="0" smtClean="0"/>
              <a:t>Second </a:t>
            </a:r>
            <a:r>
              <a:rPr lang="en-US" smtClean="0"/>
              <a:t>level</a:t>
            </a:r>
          </a:p>
          <a:p>
            <a:pPr lvl="2"/>
            <a:r>
              <a:rPr lang="en-US" smtClean="0"/>
              <a:t>Third level</a:t>
            </a:r>
          </a:p>
          <a:p>
            <a:pPr lvl="3"/>
            <a:r>
              <a:rPr lang="en-US" noProof="0" smtClean="0"/>
              <a:t>Fourth </a:t>
            </a:r>
            <a:r>
              <a:rPr lang="en-US" smtClean="0"/>
              <a:t>level</a:t>
            </a:r>
          </a:p>
          <a:p>
            <a:pPr lvl="4"/>
            <a:r>
              <a:rPr lang="en-US" smtClean="0"/>
              <a:t>Fifth level</a:t>
            </a:r>
            <a:endParaRPr lang="en-US" dirty="0"/>
          </a:p>
        </p:txBody>
      </p:sp>
      <p:sp>
        <p:nvSpPr>
          <p:cNvPr id="6" name="Footer Placeholder 5"/>
          <p:cNvSpPr>
            <a:spLocks noGrp="1"/>
          </p:cNvSpPr>
          <p:nvPr>
            <p:ph type="ftr" sz="quarter" idx="11"/>
          </p:nvPr>
        </p:nvSpPr>
        <p:spPr/>
        <p:txBody>
          <a:bodyPr/>
          <a:lstStyle/>
          <a:p>
            <a:r>
              <a:rPr lang="en-US" smtClean="0">
                <a:solidFill>
                  <a:srgbClr val="646464"/>
                </a:solidFill>
              </a:rPr>
              <a:t>Presentation title</a:t>
            </a:r>
            <a:endParaRPr lang="en-US">
              <a:solidFill>
                <a:srgbClr val="646464"/>
              </a:solidFill>
            </a:endParaRPr>
          </a:p>
        </p:txBody>
      </p:sp>
      <p:sp>
        <p:nvSpPr>
          <p:cNvPr id="10" name="Text Placeholder 9"/>
          <p:cNvSpPr>
            <a:spLocks noGrp="1"/>
          </p:cNvSpPr>
          <p:nvPr>
            <p:ph type="body" sz="quarter" idx="12"/>
          </p:nvPr>
        </p:nvSpPr>
        <p:spPr>
          <a:xfrm>
            <a:off x="463550" y="1413474"/>
            <a:ext cx="4011050" cy="640800"/>
          </a:xfrm>
        </p:spPr>
        <p:txBody>
          <a:bodyPr anchor="t" anchorCtr="0"/>
          <a:lstStyle>
            <a:lvl1pPr marL="0" indent="0">
              <a:buNone/>
              <a:tabLst/>
              <a:defRPr b="1"/>
            </a:lvl1pPr>
          </a:lstStyle>
          <a:p>
            <a:pPr lvl="0"/>
            <a:r>
              <a:rPr lang="en-US" dirty="0" smtClean="0"/>
              <a:t>Click to edit Master text style</a:t>
            </a:r>
          </a:p>
        </p:txBody>
      </p:sp>
      <p:sp>
        <p:nvSpPr>
          <p:cNvPr id="11" name="Text Placeholder 9"/>
          <p:cNvSpPr>
            <a:spLocks noGrp="1"/>
          </p:cNvSpPr>
          <p:nvPr>
            <p:ph type="body" sz="quarter" idx="13"/>
          </p:nvPr>
        </p:nvSpPr>
        <p:spPr>
          <a:xfrm>
            <a:off x="4651200" y="1413474"/>
            <a:ext cx="4042800" cy="640800"/>
          </a:xfrm>
        </p:spPr>
        <p:txBody>
          <a:bodyPr anchor="t" anchorCtr="0"/>
          <a:lstStyle>
            <a:lvl1pPr marL="0" indent="0">
              <a:buNone/>
              <a:defRPr b="1"/>
            </a:lvl1pPr>
          </a:lstStyle>
          <a:p>
            <a:pPr lvl="0"/>
            <a:r>
              <a:rPr lang="en-US" dirty="0" smtClean="0"/>
              <a:t>Click to edit Master text style</a:t>
            </a:r>
          </a:p>
        </p:txBody>
      </p:sp>
    </p:spTree>
    <p:extLst>
      <p:ext uri="{BB962C8B-B14F-4D97-AF65-F5344CB8AC3E}">
        <p14:creationId xmlns:p14="http://schemas.microsoft.com/office/powerpoint/2010/main" val="9637966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etter question storytell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5" name="Footer Placeholder 4"/>
          <p:cNvSpPr>
            <a:spLocks noGrp="1"/>
          </p:cNvSpPr>
          <p:nvPr>
            <p:ph type="ftr" sz="quarter" idx="11"/>
          </p:nvPr>
        </p:nvSpPr>
        <p:spPr/>
        <p:txBody>
          <a:bodyPr/>
          <a:lstStyle/>
          <a:p>
            <a:r>
              <a:rPr lang="en-GB" smtClean="0">
                <a:solidFill>
                  <a:srgbClr val="646464"/>
                </a:solidFill>
              </a:rPr>
              <a:t>Presentation title</a:t>
            </a:r>
            <a:endParaRPr lang="en-GB">
              <a:solidFill>
                <a:srgbClr val="646464"/>
              </a:solidFill>
            </a:endParaRPr>
          </a:p>
        </p:txBody>
      </p:sp>
      <p:sp>
        <p:nvSpPr>
          <p:cNvPr id="8"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646464"/>
              </a:solidFill>
            </a:endParaRPr>
          </a:p>
        </p:txBody>
      </p:sp>
    </p:spTree>
    <p:extLst>
      <p:ext uri="{BB962C8B-B14F-4D97-AF65-F5344CB8AC3E}">
        <p14:creationId xmlns:p14="http://schemas.microsoft.com/office/powerpoint/2010/main" val="33887068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smtClean="0">
                <a:solidFill>
                  <a:srgbClr val="646464"/>
                </a:solidFill>
              </a:rPr>
              <a:t>Presentation title</a:t>
            </a:r>
            <a:endParaRPr lang="en-US" dirty="0">
              <a:solidFill>
                <a:srgbClr val="646464"/>
              </a:solidFill>
            </a:endParaRPr>
          </a:p>
        </p:txBody>
      </p:sp>
      <p:sp>
        <p:nvSpPr>
          <p:cNvPr id="3" name="Text Placeholder 2"/>
          <p:cNvSpPr>
            <a:spLocks noGrp="1"/>
          </p:cNvSpPr>
          <p:nvPr>
            <p:ph type="body" sz="quarter" idx="11"/>
          </p:nvPr>
        </p:nvSpPr>
        <p:spPr>
          <a:xfrm>
            <a:off x="455614" y="1025525"/>
            <a:ext cx="82296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dirty="0" smtClean="0"/>
              <a:t>Click to edit Master text style</a:t>
            </a:r>
            <a:r>
              <a:rPr lang="cs-CZ" dirty="0" smtClean="0"/>
              <a:t>s</a:t>
            </a:r>
          </a:p>
        </p:txBody>
      </p:sp>
      <p:sp>
        <p:nvSpPr>
          <p:cNvPr id="5" name="Line 11"/>
          <p:cNvSpPr>
            <a:spLocks noChangeShapeType="1"/>
          </p:cNvSpPr>
          <p:nvPr userDrawn="1"/>
        </p:nvSpPr>
        <p:spPr bwMode="auto">
          <a:xfrm>
            <a:off x="457200" y="6242400"/>
            <a:ext cx="82296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646464"/>
              </a:solidFill>
            </a:endParaRPr>
          </a:p>
        </p:txBody>
      </p:sp>
    </p:spTree>
    <p:extLst>
      <p:ext uri="{BB962C8B-B14F-4D97-AF65-F5344CB8AC3E}">
        <p14:creationId xmlns:p14="http://schemas.microsoft.com/office/powerpoint/2010/main" val="27245960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solidFill>
                  <a:srgbClr val="646464"/>
                </a:solidFill>
              </a:rPr>
              <a:t>Presentation title</a:t>
            </a:r>
            <a:endParaRPr lang="en-US" dirty="0">
              <a:solidFill>
                <a:srgbClr val="646464"/>
              </a:solidFill>
            </a:endParaRPr>
          </a:p>
        </p:txBody>
      </p:sp>
      <p:sp>
        <p:nvSpPr>
          <p:cNvPr id="3077" name="Freeform 5"/>
          <p:cNvSpPr>
            <a:spLocks/>
          </p:cNvSpPr>
          <p:nvPr userDrawn="1"/>
        </p:nvSpPr>
        <p:spPr bwMode="gray">
          <a:xfrm>
            <a:off x="457200" y="1039813"/>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Tree>
    <p:extLst>
      <p:ext uri="{BB962C8B-B14F-4D97-AF65-F5344CB8AC3E}">
        <p14:creationId xmlns:p14="http://schemas.microsoft.com/office/powerpoint/2010/main" val="7355957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solidFill>
                  <a:srgbClr val="646464"/>
                </a:solidFill>
              </a:rPr>
              <a:t>Presentation title</a:t>
            </a:r>
            <a:endParaRPr lang="en-US" dirty="0">
              <a:solidFill>
                <a:srgbClr val="646464"/>
              </a:solidFill>
            </a:endParaRPr>
          </a:p>
        </p:txBody>
      </p:sp>
      <p:sp>
        <p:nvSpPr>
          <p:cNvPr id="4101" name="Freeform 5"/>
          <p:cNvSpPr>
            <a:spLocks/>
          </p:cNvSpPr>
          <p:nvPr userDrawn="1"/>
        </p:nvSpPr>
        <p:spPr bwMode="gray">
          <a:xfrm>
            <a:off x="457200" y="1040400"/>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Tree>
    <p:extLst>
      <p:ext uri="{BB962C8B-B14F-4D97-AF65-F5344CB8AC3E}">
        <p14:creationId xmlns:p14="http://schemas.microsoft.com/office/powerpoint/2010/main" val="3568131829"/>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solidFill>
                  <a:srgbClr val="646464"/>
                </a:solidFill>
              </a:rPr>
              <a:t>Presentation title</a:t>
            </a:r>
            <a:endParaRPr lang="en-US" dirty="0">
              <a:solidFill>
                <a:srgbClr val="646464"/>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457200" y="1044000"/>
            <a:ext cx="8225549" cy="5184000"/>
          </a:xfrm>
          <a:prstGeom prst="rect">
            <a:avLst/>
          </a:prstGeom>
          <a:noFill/>
          <a:ln w="9525">
            <a:noFill/>
            <a:miter lim="800000"/>
            <a:headEnd/>
            <a:tailEnd/>
          </a:ln>
          <a:effectLst/>
        </p:spPr>
      </p:pic>
    </p:spTree>
    <p:extLst>
      <p:ext uri="{BB962C8B-B14F-4D97-AF65-F5344CB8AC3E}">
        <p14:creationId xmlns:p14="http://schemas.microsoft.com/office/powerpoint/2010/main" val="2894807658"/>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201168"/>
            <a:ext cx="82296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fontAlgn="base">
              <a:lnSpc>
                <a:spcPct val="85000"/>
              </a:lnSpc>
              <a:spcAft>
                <a:spcPct val="0"/>
              </a:spcAft>
              <a:defRPr/>
            </a:lvl1pPr>
          </a:lstStyle>
          <a:p>
            <a:pPr lvl="0" algn="l" fontAlgn="base">
              <a:lnSpc>
                <a:spcPct val="85000"/>
              </a:lnSpc>
              <a:spcAft>
                <a:spcPct val="0"/>
              </a:spcAft>
            </a:pPr>
            <a:r>
              <a:rPr lang="en-US" dirty="0" smtClean="0"/>
              <a:t>Click to edit Master title style</a:t>
            </a:r>
            <a:endParaRPr lang="en-US" dirty="0"/>
          </a:p>
        </p:txBody>
      </p:sp>
      <p:sp>
        <p:nvSpPr>
          <p:cNvPr id="12" name="Footer Placeholder 11"/>
          <p:cNvSpPr>
            <a:spLocks noGrp="1"/>
          </p:cNvSpPr>
          <p:nvPr>
            <p:ph type="ftr" sz="quarter" idx="10"/>
          </p:nvPr>
        </p:nvSpPr>
        <p:spPr/>
        <p:txBody>
          <a:bodyPr/>
          <a:lstStyle/>
          <a:p>
            <a:r>
              <a:rPr lang="en-US" smtClean="0">
                <a:solidFill>
                  <a:srgbClr val="646464"/>
                </a:solidFill>
              </a:rPr>
              <a:t>Presentation title</a:t>
            </a:r>
            <a:endParaRPr lang="en-US" dirty="0">
              <a:solidFill>
                <a:srgbClr val="646464"/>
              </a:solidFill>
            </a:endParaRPr>
          </a:p>
        </p:txBody>
      </p:sp>
      <p:sp>
        <p:nvSpPr>
          <p:cNvPr id="5" name="Freeform 5"/>
          <p:cNvSpPr>
            <a:spLocks/>
          </p:cNvSpPr>
          <p:nvPr userDrawn="1"/>
        </p:nvSpPr>
        <p:spPr bwMode="gray">
          <a:xfrm>
            <a:off x="457200" y="1049278"/>
            <a:ext cx="82296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extLst>
                <a:ext uri="{BEBA8EAE-BF5A-486C-A8C5-ECC9F3942E4B}">
                  <a14:imgProps xmlns:a14="http://schemas.microsoft.com/office/drawing/2010/main">
                    <a14:imgLayer r:embed="rId3">
                      <a14:imgEffect>
                        <a14:saturation sat="0"/>
                      </a14:imgEffect>
                    </a14:imgLayer>
                  </a14:imgProps>
                </a:ext>
              </a:extLst>
            </a:blip>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646464"/>
              </a:solidFill>
              <a:cs typeface="Arial" pitchFamily="34" charset="0"/>
            </a:endParaRPr>
          </a:p>
        </p:txBody>
      </p:sp>
    </p:spTree>
    <p:extLst>
      <p:ext uri="{BB962C8B-B14F-4D97-AF65-F5344CB8AC3E}">
        <p14:creationId xmlns:p14="http://schemas.microsoft.com/office/powerpoint/2010/main" val="2191669363"/>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smtClean="0">
                <a:solidFill>
                  <a:srgbClr val="646464"/>
                </a:solidFill>
              </a:rPr>
              <a:t>Presentation title</a:t>
            </a:r>
            <a:endParaRPr lang="en-US" dirty="0">
              <a:solidFill>
                <a:srgbClr val="646464"/>
              </a:solidFill>
            </a:endParaRPr>
          </a:p>
        </p:txBody>
      </p:sp>
      <p:sp>
        <p:nvSpPr>
          <p:cNvPr id="7" name="Line 11"/>
          <p:cNvSpPr>
            <a:spLocks noChangeShapeType="1"/>
          </p:cNvSpPr>
          <p:nvPr userDrawn="1"/>
        </p:nvSpPr>
        <p:spPr bwMode="auto">
          <a:xfrm>
            <a:off x="455613" y="6243638"/>
            <a:ext cx="8229600" cy="0"/>
          </a:xfrm>
          <a:prstGeom prst="line">
            <a:avLst/>
          </a:prstGeom>
          <a:noFill/>
          <a:ln w="3175">
            <a:solidFill>
              <a:schemeClr val="bg1"/>
            </a:solidFill>
            <a:round/>
            <a:headEnd/>
            <a:tailEnd/>
          </a:ln>
          <a:effectLst/>
        </p:spPr>
        <p:txBody>
          <a:bodyPr wrap="none" anchor="ctr"/>
          <a:lstStyle/>
          <a:p>
            <a:endParaRPr lang="en-US" dirty="0">
              <a:solidFill>
                <a:srgbClr val="646464"/>
              </a:solidFill>
            </a:endParaRPr>
          </a:p>
        </p:txBody>
      </p:sp>
    </p:spTree>
    <p:extLst>
      <p:ext uri="{BB962C8B-B14F-4D97-AF65-F5344CB8AC3E}">
        <p14:creationId xmlns:p14="http://schemas.microsoft.com/office/powerpoint/2010/main" val="3865558690"/>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Back cover_EN">
    <p:spTree>
      <p:nvGrpSpPr>
        <p:cNvPr id="1" name=""/>
        <p:cNvGrpSpPr/>
        <p:nvPr/>
      </p:nvGrpSpPr>
      <p:grpSpPr>
        <a:xfrm>
          <a:off x="0" y="0"/>
          <a:ext cx="0" cy="0"/>
          <a:chOff x="0" y="0"/>
          <a:chExt cx="0" cy="0"/>
        </a:xfrm>
      </p:grpSpPr>
      <p:sp>
        <p:nvSpPr>
          <p:cNvPr id="5" name="Text Box 2"/>
          <p:cNvSpPr txBox="1">
            <a:spLocks noChangeArrowheads="1"/>
          </p:cNvSpPr>
          <p:nvPr userDrawn="1"/>
        </p:nvSpPr>
        <p:spPr bwMode="auto">
          <a:xfrm>
            <a:off x="0" y="0"/>
            <a:ext cx="4662488" cy="4743450"/>
          </a:xfrm>
          <a:prstGeom prst="rect">
            <a:avLst/>
          </a:prstGeom>
          <a:noFill/>
          <a:ln w="9525">
            <a:noFill/>
            <a:miter lim="800000"/>
            <a:headEnd/>
            <a:tailEnd/>
          </a:ln>
        </p:spPr>
        <p:txBody>
          <a:bodyPr vert="horz" wrap="square" lIns="468000" tIns="468000" rIns="309600" bIns="0" numCol="1" anchor="t" anchorCtr="0" compatLnSpc="1">
            <a:prstTxWarp prst="textNoShape">
              <a:avLst/>
            </a:prstTxWarp>
          </a:bodyPr>
          <a:lstStyle/>
          <a:p>
            <a:pPr fontAlgn="base">
              <a:spcBef>
                <a:spcPct val="0"/>
              </a:spcBef>
              <a:spcAft>
                <a:spcPts val="525"/>
              </a:spcAft>
              <a:defRPr/>
            </a:pPr>
            <a:r>
              <a:rPr lang="en-GB" sz="900" kern="0" dirty="0" smtClean="0">
                <a:solidFill>
                  <a:srgbClr val="000000"/>
                </a:solidFill>
                <a:latin typeface="EYInterstate" pitchFamily="2" charset="0"/>
              </a:rPr>
              <a:t>EY</a:t>
            </a:r>
            <a:r>
              <a:rPr lang="en-GB" sz="900" kern="0" dirty="0" smtClean="0">
                <a:solidFill>
                  <a:srgbClr val="000000"/>
                </a:solidFill>
                <a:latin typeface="EYInterstate Regular" charset="0"/>
              </a:rPr>
              <a:t> </a:t>
            </a:r>
            <a:r>
              <a:rPr lang="en-GB" sz="900" kern="0" dirty="0" smtClean="0">
                <a:solidFill>
                  <a:srgbClr val="000000"/>
                </a:solidFill>
                <a:latin typeface="EYInterstate Light" pitchFamily="2" charset="0"/>
              </a:rPr>
              <a:t>| Assurance | Tax | Transactions | Advisory</a:t>
            </a:r>
            <a:endParaRPr lang="en-GB" sz="900" kern="0" dirty="0" smtClean="0">
              <a:solidFill>
                <a:srgbClr val="000000"/>
              </a:solidFill>
              <a:latin typeface="EYInterstate-Light" charset="0"/>
            </a:endParaRPr>
          </a:p>
          <a:p>
            <a:pPr fontAlgn="base">
              <a:spcBef>
                <a:spcPct val="0"/>
              </a:spcBef>
              <a:spcAft>
                <a:spcPts val="1000"/>
              </a:spcAft>
              <a:defRPr/>
            </a:pPr>
            <a:endParaRPr lang="cs-CZ" sz="900" kern="0" dirty="0" smtClean="0">
              <a:solidFill>
                <a:srgbClr val="7F7E82"/>
              </a:solidFill>
              <a:latin typeface="Times New Roman" pitchFamily="18" charset="0"/>
            </a:endParaRPr>
          </a:p>
          <a:p>
            <a:pPr fontAlgn="base">
              <a:spcBef>
                <a:spcPct val="0"/>
              </a:spcBef>
              <a:spcAft>
                <a:spcPts val="100"/>
              </a:spcAft>
              <a:defRPr/>
            </a:pPr>
            <a:r>
              <a:rPr lang="en-GB" sz="700" kern="0" dirty="0" smtClean="0">
                <a:solidFill>
                  <a:srgbClr val="000000"/>
                </a:solidFill>
                <a:latin typeface="EYInterstate" pitchFamily="2" charset="0"/>
              </a:rPr>
              <a:t>About EY</a:t>
            </a:r>
          </a:p>
          <a:p>
            <a:pPr fontAlgn="base">
              <a:spcBef>
                <a:spcPct val="0"/>
              </a:spcBef>
              <a:defRPr/>
            </a:pPr>
            <a:r>
              <a:rPr lang="en-US" sz="700" kern="0" dirty="0" smtClean="0">
                <a:solidFill>
                  <a:srgbClr val="000000"/>
                </a:solidFill>
                <a:latin typeface="EYInterstate Light" pitchFamily="2" charset="0"/>
              </a:rPr>
              <a:t>EY is a global leader in assurance, tax, transaction and advisory </a:t>
            </a:r>
          </a:p>
          <a:p>
            <a:pPr fontAlgn="base">
              <a:spcBef>
                <a:spcPct val="0"/>
              </a:spcBef>
              <a:defRPr/>
            </a:pPr>
            <a:r>
              <a:rPr lang="en-US" sz="700" kern="0" dirty="0" smtClean="0">
                <a:solidFill>
                  <a:srgbClr val="000000"/>
                </a:solidFill>
                <a:latin typeface="EYInterstate Light" pitchFamily="2" charset="0"/>
              </a:rPr>
              <a:t>services. The insights and quality services we deliver help build trust and </a:t>
            </a:r>
            <a:endParaRPr lang="cs-CZ" sz="700" kern="0" dirty="0" smtClean="0">
              <a:solidFill>
                <a:srgbClr val="000000"/>
              </a:solidFill>
              <a:latin typeface="EYInterstate Light" pitchFamily="2" charset="0"/>
            </a:endParaRPr>
          </a:p>
          <a:p>
            <a:pPr fontAlgn="base">
              <a:spcBef>
                <a:spcPct val="0"/>
              </a:spcBef>
              <a:defRPr/>
            </a:pPr>
            <a:r>
              <a:rPr lang="en-US" sz="700" kern="0" dirty="0" smtClean="0">
                <a:solidFill>
                  <a:srgbClr val="000000"/>
                </a:solidFill>
                <a:latin typeface="EYInterstate Light" pitchFamily="2" charset="0"/>
              </a:rPr>
              <a:t>confidence in the capital markets and in economies the world over. We </a:t>
            </a:r>
          </a:p>
          <a:p>
            <a:pPr fontAlgn="base">
              <a:spcBef>
                <a:spcPct val="0"/>
              </a:spcBef>
              <a:defRPr/>
            </a:pPr>
            <a:r>
              <a:rPr lang="en-US" sz="700" kern="0" dirty="0" smtClean="0">
                <a:solidFill>
                  <a:srgbClr val="000000"/>
                </a:solidFill>
                <a:latin typeface="EYInterstate Light" pitchFamily="2" charset="0"/>
              </a:rPr>
              <a:t>develop outstanding leaders who team to deliver on our promises to all </a:t>
            </a:r>
          </a:p>
          <a:p>
            <a:pPr fontAlgn="base">
              <a:spcBef>
                <a:spcPct val="0"/>
              </a:spcBef>
              <a:defRPr/>
            </a:pPr>
            <a:r>
              <a:rPr lang="en-US" sz="700" kern="0" dirty="0" smtClean="0">
                <a:solidFill>
                  <a:srgbClr val="000000"/>
                </a:solidFill>
                <a:latin typeface="EYInterstate Light" pitchFamily="2" charset="0"/>
              </a:rPr>
              <a:t>of our stakeholders. In so doing, we play a critical role in building a better </a:t>
            </a:r>
          </a:p>
          <a:p>
            <a:pPr fontAlgn="base">
              <a:spcBef>
                <a:spcPct val="0"/>
              </a:spcBef>
              <a:defRPr/>
            </a:pPr>
            <a:r>
              <a:rPr lang="en-US" sz="700" kern="0" dirty="0" smtClean="0">
                <a:solidFill>
                  <a:srgbClr val="000000"/>
                </a:solidFill>
                <a:latin typeface="EYInterstate Light" pitchFamily="2" charset="0"/>
              </a:rPr>
              <a:t>working world for our people, for our clients and for our communities.</a:t>
            </a:r>
          </a:p>
          <a:p>
            <a:pPr fontAlgn="base">
              <a:spcBef>
                <a:spcPct val="0"/>
              </a:spcBef>
              <a:spcAft>
                <a:spcPts val="525"/>
              </a:spcAft>
              <a:defRPr/>
            </a:pPr>
            <a:endParaRPr lang="en-US" sz="700" kern="0" dirty="0" smtClean="0">
              <a:solidFill>
                <a:srgbClr val="000000"/>
              </a:solidFill>
              <a:latin typeface="EYInterstate Light" pitchFamily="2" charset="0"/>
            </a:endParaRPr>
          </a:p>
          <a:p>
            <a:pPr fontAlgn="base">
              <a:spcBef>
                <a:spcPct val="0"/>
              </a:spcBef>
              <a:defRPr/>
            </a:pPr>
            <a:r>
              <a:rPr lang="en-US" sz="700" kern="0" dirty="0" smtClean="0">
                <a:solidFill>
                  <a:srgbClr val="000000"/>
                </a:solidFill>
                <a:latin typeface="EYInterstate Light" pitchFamily="2" charset="0"/>
              </a:rPr>
              <a:t>EY refers to the global organization</a:t>
            </a:r>
            <a:r>
              <a:rPr lang="cs-CZ" sz="700" kern="0" dirty="0" smtClean="0">
                <a:solidFill>
                  <a:srgbClr val="000000"/>
                </a:solidFill>
                <a:latin typeface="EYInterstate Light" pitchFamily="2" charset="0"/>
              </a:rPr>
              <a:t>, </a:t>
            </a:r>
            <a:r>
              <a:rPr lang="en-US" sz="700" kern="0" dirty="0" smtClean="0">
                <a:solidFill>
                  <a:srgbClr val="000000"/>
                </a:solidFill>
                <a:latin typeface="EYInterstate Light" pitchFamily="2" charset="0"/>
              </a:rPr>
              <a:t>and may refer to one or more</a:t>
            </a:r>
            <a:r>
              <a:rPr lang="cs-CZ" sz="700" kern="0" dirty="0" smtClean="0">
                <a:solidFill>
                  <a:srgbClr val="000000"/>
                </a:solidFill>
                <a:latin typeface="EYInterstate Light" pitchFamily="2" charset="0"/>
              </a:rPr>
              <a:t>,</a:t>
            </a:r>
            <a:r>
              <a:rPr lang="en-US" sz="700" kern="0" dirty="0" smtClean="0">
                <a:solidFill>
                  <a:srgbClr val="000000"/>
                </a:solidFill>
                <a:latin typeface="EYInterstate Light" pitchFamily="2" charset="0"/>
              </a:rPr>
              <a:t> of the</a:t>
            </a:r>
            <a:br>
              <a:rPr lang="en-US" sz="700" kern="0" dirty="0" smtClean="0">
                <a:solidFill>
                  <a:srgbClr val="000000"/>
                </a:solidFill>
                <a:latin typeface="EYInterstate Light" pitchFamily="2" charset="0"/>
              </a:rPr>
            </a:br>
            <a:r>
              <a:rPr lang="en-US" sz="700" kern="0" dirty="0" smtClean="0">
                <a:solidFill>
                  <a:srgbClr val="000000"/>
                </a:solidFill>
                <a:latin typeface="EYInterstate Light" pitchFamily="2" charset="0"/>
              </a:rPr>
              <a:t>member firms of Ernst &amp; Young Global Limited, each of which is a separate legal </a:t>
            </a:r>
          </a:p>
          <a:p>
            <a:pPr fontAlgn="base">
              <a:spcBef>
                <a:spcPct val="0"/>
              </a:spcBef>
              <a:defRPr/>
            </a:pPr>
            <a:r>
              <a:rPr lang="en-US" sz="700" kern="0" dirty="0" smtClean="0">
                <a:solidFill>
                  <a:srgbClr val="000000"/>
                </a:solidFill>
                <a:latin typeface="EYInterstate Light" pitchFamily="2" charset="0"/>
              </a:rPr>
              <a:t>entity. Ernst &amp; Young Global Limited, a UK company limited by guarantee, </a:t>
            </a:r>
          </a:p>
          <a:p>
            <a:pPr fontAlgn="base">
              <a:spcBef>
                <a:spcPct val="0"/>
              </a:spcBef>
              <a:defRPr/>
            </a:pPr>
            <a:r>
              <a:rPr lang="en-US" sz="700" kern="0" dirty="0" smtClean="0">
                <a:solidFill>
                  <a:srgbClr val="000000"/>
                </a:solidFill>
                <a:latin typeface="EYInterstate Light" pitchFamily="2" charset="0"/>
              </a:rPr>
              <a:t>does not provide services to clients. For more information about our </a:t>
            </a:r>
          </a:p>
          <a:p>
            <a:pPr fontAlgn="base">
              <a:spcBef>
                <a:spcPct val="0"/>
              </a:spcBef>
              <a:spcAft>
                <a:spcPts val="525"/>
              </a:spcAft>
              <a:defRPr/>
            </a:pPr>
            <a:r>
              <a:rPr lang="en-US" sz="700" kern="0" dirty="0" smtClean="0">
                <a:solidFill>
                  <a:srgbClr val="000000"/>
                </a:solidFill>
                <a:latin typeface="EYInterstate Light" pitchFamily="2" charset="0"/>
              </a:rPr>
              <a:t>organization, please visit ey.com.</a:t>
            </a:r>
          </a:p>
          <a:p>
            <a:pPr fontAlgn="base">
              <a:spcBef>
                <a:spcPct val="0"/>
              </a:spcBef>
              <a:spcAft>
                <a:spcPts val="1013"/>
              </a:spcAft>
              <a:defRPr/>
            </a:pPr>
            <a:endParaRPr lang="en-US" sz="700" kern="0" dirty="0" smtClean="0">
              <a:solidFill>
                <a:srgbClr val="000000"/>
              </a:solidFill>
              <a:latin typeface="EYInterstate Light" pitchFamily="2" charset="0"/>
            </a:endParaRPr>
          </a:p>
          <a:p>
            <a:pPr fontAlgn="base">
              <a:spcBef>
                <a:spcPct val="0"/>
              </a:spcBef>
              <a:spcAft>
                <a:spcPts val="525"/>
              </a:spcAft>
              <a:defRPr/>
            </a:pPr>
            <a:r>
              <a:rPr lang="en-US" sz="700" kern="0" dirty="0" smtClean="0">
                <a:solidFill>
                  <a:srgbClr val="000000"/>
                </a:solidFill>
                <a:latin typeface="EYInterstate Light" pitchFamily="2" charset="0"/>
              </a:rPr>
              <a:t>© 201&amp;  Ernst &amp; Young, s.r.o. | Ernst &amp; Young Audit, </a:t>
            </a:r>
            <a:r>
              <a:rPr lang="en-US" sz="700" kern="0" dirty="0" err="1" smtClean="0">
                <a:solidFill>
                  <a:srgbClr val="000000"/>
                </a:solidFill>
                <a:latin typeface="EYInterstate Light" pitchFamily="2" charset="0"/>
              </a:rPr>
              <a:t>s.r.o</a:t>
            </a:r>
            <a:r>
              <a:rPr lang="en-US" sz="700" kern="0" dirty="0" smtClean="0">
                <a:solidFill>
                  <a:srgbClr val="000000"/>
                </a:solidFill>
                <a:latin typeface="EYInterstate Light" pitchFamily="2" charset="0"/>
              </a:rPr>
              <a:t>. | E &amp; Y Valuations </a:t>
            </a:r>
            <a:r>
              <a:rPr lang="en-US" sz="700" kern="0" dirty="0" err="1" smtClean="0">
                <a:solidFill>
                  <a:srgbClr val="000000"/>
                </a:solidFill>
                <a:latin typeface="EYInterstate Light" pitchFamily="2" charset="0"/>
              </a:rPr>
              <a:t>s.r.o</a:t>
            </a:r>
            <a:r>
              <a:rPr lang="en-US" sz="700" kern="0" dirty="0" smtClean="0">
                <a:solidFill>
                  <a:srgbClr val="000000"/>
                </a:solidFill>
                <a:latin typeface="EYInterstate Light" pitchFamily="2" charset="0"/>
              </a:rPr>
              <a:t>.</a:t>
            </a:r>
            <a:br>
              <a:rPr lang="en-US" sz="700" kern="0" dirty="0" smtClean="0">
                <a:solidFill>
                  <a:srgbClr val="000000"/>
                </a:solidFill>
                <a:latin typeface="EYInterstate Light" pitchFamily="2" charset="0"/>
              </a:rPr>
            </a:br>
            <a:r>
              <a:rPr lang="en-US" sz="700" kern="0" dirty="0" smtClean="0">
                <a:solidFill>
                  <a:srgbClr val="000000"/>
                </a:solidFill>
                <a:latin typeface="EYInterstate Light" pitchFamily="2" charset="0"/>
              </a:rPr>
              <a:t>All Rights Reserved.</a:t>
            </a:r>
            <a:endParaRPr lang="cs-CZ" sz="700" kern="0" dirty="0" smtClean="0">
              <a:solidFill>
                <a:srgbClr val="000000"/>
              </a:solidFill>
              <a:latin typeface="EYInterstate Light" pitchFamily="2" charset="0"/>
            </a:endParaRPr>
          </a:p>
          <a:p>
            <a:pPr fontAlgn="base">
              <a:spcBef>
                <a:spcPct val="0"/>
              </a:spcBef>
              <a:spcAft>
                <a:spcPts val="1013"/>
              </a:spcAft>
              <a:defRPr/>
            </a:pPr>
            <a:endParaRPr lang="cs-CZ" sz="700" kern="0" dirty="0" smtClean="0">
              <a:solidFill>
                <a:srgbClr val="000000"/>
              </a:solidFill>
              <a:latin typeface="EYInterstate Light" pitchFamily="2" charset="0"/>
            </a:endParaRPr>
          </a:p>
          <a:p>
            <a:pPr fontAlgn="base">
              <a:spcBef>
                <a:spcPct val="0"/>
              </a:spcBef>
              <a:spcAft>
                <a:spcPts val="525"/>
              </a:spcAft>
              <a:defRPr/>
            </a:pPr>
            <a:r>
              <a:rPr lang="en-GB" sz="600" kern="0" dirty="0" smtClean="0">
                <a:solidFill>
                  <a:srgbClr val="000000"/>
                </a:solidFill>
                <a:latin typeface="EYInterstate Light" pitchFamily="2" charset="0"/>
              </a:rPr>
              <a:t>This material has been prepared for general informational purposes only and is not </a:t>
            </a:r>
            <a:r>
              <a:rPr lang="cs-CZ" sz="600" kern="0" dirty="0" smtClean="0">
                <a:solidFill>
                  <a:srgbClr val="000000"/>
                </a:solidFill>
                <a:latin typeface="EYInterstate Light" pitchFamily="2" charset="0"/>
              </a:rPr>
              <a:t/>
            </a:r>
            <a:br>
              <a:rPr lang="cs-CZ" sz="600" kern="0" dirty="0" smtClean="0">
                <a:solidFill>
                  <a:srgbClr val="000000"/>
                </a:solidFill>
                <a:latin typeface="EYInterstate Light" pitchFamily="2" charset="0"/>
              </a:rPr>
            </a:br>
            <a:r>
              <a:rPr lang="en-GB" sz="600" kern="0" dirty="0" smtClean="0">
                <a:solidFill>
                  <a:srgbClr val="000000"/>
                </a:solidFill>
                <a:latin typeface="EYInterstate Light" pitchFamily="2" charset="0"/>
              </a:rPr>
              <a:t>intended to be relied upon as accounting, tax, or other professional advice. Please refer </a:t>
            </a:r>
            <a:r>
              <a:rPr lang="cs-CZ" sz="600" kern="0" dirty="0" smtClean="0">
                <a:solidFill>
                  <a:srgbClr val="000000"/>
                </a:solidFill>
                <a:latin typeface="EYInterstate Light" pitchFamily="2" charset="0"/>
              </a:rPr>
              <a:t/>
            </a:r>
            <a:br>
              <a:rPr lang="cs-CZ" sz="600" kern="0" dirty="0" smtClean="0">
                <a:solidFill>
                  <a:srgbClr val="000000"/>
                </a:solidFill>
                <a:latin typeface="EYInterstate Light" pitchFamily="2" charset="0"/>
              </a:rPr>
            </a:br>
            <a:r>
              <a:rPr lang="en-GB" sz="600" kern="0" dirty="0" smtClean="0">
                <a:solidFill>
                  <a:srgbClr val="000000"/>
                </a:solidFill>
                <a:latin typeface="EYInterstate Light" pitchFamily="2" charset="0"/>
              </a:rPr>
              <a:t>to your advisors for specific advice</a:t>
            </a:r>
            <a:r>
              <a:rPr lang="cs-CZ" sz="600" kern="0" dirty="0" smtClean="0">
                <a:solidFill>
                  <a:srgbClr val="000000"/>
                </a:solidFill>
                <a:latin typeface="EYInterstate Light" pitchFamily="2" charset="0"/>
              </a:rPr>
              <a:t>.</a:t>
            </a:r>
            <a:r>
              <a:rPr lang="cs-CZ" sz="700" kern="0" dirty="0" smtClean="0">
                <a:solidFill>
                  <a:srgbClr val="000000"/>
                </a:solidFill>
                <a:latin typeface="EYInterstate Light" pitchFamily="2" charset="0"/>
              </a:rPr>
              <a:t/>
            </a:r>
            <a:br>
              <a:rPr lang="cs-CZ" sz="700" kern="0" dirty="0" smtClean="0">
                <a:solidFill>
                  <a:srgbClr val="000000"/>
                </a:solidFill>
                <a:latin typeface="EYInterstate Light" pitchFamily="2" charset="0"/>
              </a:rPr>
            </a:br>
            <a:endParaRPr lang="en-GB" sz="700" kern="0" dirty="0" smtClean="0">
              <a:solidFill>
                <a:srgbClr val="000000"/>
              </a:solidFill>
              <a:latin typeface="EYInterstate Light" pitchFamily="2" charset="0"/>
            </a:endParaRPr>
          </a:p>
          <a:p>
            <a:pPr fontAlgn="base">
              <a:spcBef>
                <a:spcPct val="0"/>
              </a:spcBef>
              <a:spcAft>
                <a:spcPts val="525"/>
              </a:spcAft>
              <a:defRPr/>
            </a:pPr>
            <a:r>
              <a:rPr lang="en-GB" sz="900" kern="0" dirty="0" smtClean="0">
                <a:solidFill>
                  <a:srgbClr val="000000"/>
                </a:solidFill>
                <a:latin typeface="EYInterstate" pitchFamily="2" charset="0"/>
              </a:rPr>
              <a:t>ey.com</a:t>
            </a:r>
          </a:p>
          <a:p>
            <a:pPr fontAlgn="base">
              <a:spcBef>
                <a:spcPct val="0"/>
              </a:spcBef>
              <a:spcAft>
                <a:spcPct val="0"/>
              </a:spcAft>
              <a:defRPr/>
            </a:pPr>
            <a:endParaRPr lang="cs-CZ" sz="1600" kern="0" dirty="0" smtClean="0">
              <a:solidFill>
                <a:srgbClr val="7F7E82"/>
              </a:solidFill>
            </a:endParaRPr>
          </a:p>
        </p:txBody>
      </p:sp>
    </p:spTree>
    <p:extLst>
      <p:ext uri="{BB962C8B-B14F-4D97-AF65-F5344CB8AC3E}">
        <p14:creationId xmlns:p14="http://schemas.microsoft.com/office/powerpoint/2010/main" val="36779762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ack cover_CZ">
    <p:spTree>
      <p:nvGrpSpPr>
        <p:cNvPr id="1" name=""/>
        <p:cNvGrpSpPr/>
        <p:nvPr/>
      </p:nvGrpSpPr>
      <p:grpSpPr>
        <a:xfrm>
          <a:off x="0" y="0"/>
          <a:ext cx="0" cy="0"/>
          <a:chOff x="0" y="0"/>
          <a:chExt cx="0" cy="0"/>
        </a:xfrm>
      </p:grpSpPr>
      <p:sp>
        <p:nvSpPr>
          <p:cNvPr id="4" name="Text Box 2"/>
          <p:cNvSpPr txBox="1">
            <a:spLocks noChangeArrowheads="1"/>
          </p:cNvSpPr>
          <p:nvPr userDrawn="1"/>
        </p:nvSpPr>
        <p:spPr bwMode="auto">
          <a:xfrm>
            <a:off x="1" y="0"/>
            <a:ext cx="4143736" cy="4745037"/>
          </a:xfrm>
          <a:prstGeom prst="rect">
            <a:avLst/>
          </a:prstGeom>
          <a:noFill/>
          <a:ln w="9525">
            <a:noFill/>
            <a:miter lim="800000"/>
            <a:headEnd/>
            <a:tailEnd/>
          </a:ln>
        </p:spPr>
        <p:txBody>
          <a:bodyPr vert="horz" wrap="square" lIns="468000" tIns="468000" rIns="309600" bIns="0" numCol="1" anchor="t" anchorCtr="0" compatLnSpc="1">
            <a:prstTxWarp prst="textNoShape">
              <a:avLst/>
            </a:prstTxWarp>
          </a:bodyPr>
          <a:lstStyle/>
          <a:p>
            <a:pPr fontAlgn="base">
              <a:spcBef>
                <a:spcPct val="0"/>
              </a:spcBef>
              <a:spcAft>
                <a:spcPts val="525"/>
              </a:spcAft>
              <a:defRPr/>
            </a:pPr>
            <a:r>
              <a:rPr lang="cs-CZ" sz="900" kern="0" dirty="0" smtClean="0">
                <a:solidFill>
                  <a:srgbClr val="000000"/>
                </a:solidFill>
                <a:latin typeface="EYInterstate" pitchFamily="2" charset="0"/>
              </a:rPr>
              <a:t>EY</a:t>
            </a:r>
            <a:r>
              <a:rPr lang="cs-CZ" sz="900" kern="0" dirty="0" smtClean="0">
                <a:solidFill>
                  <a:srgbClr val="000000"/>
                </a:solidFill>
                <a:latin typeface="EYInterstate Regular" charset="0"/>
              </a:rPr>
              <a:t> </a:t>
            </a:r>
            <a:r>
              <a:rPr lang="cs-CZ" sz="900" kern="0" dirty="0" smtClean="0">
                <a:solidFill>
                  <a:srgbClr val="000000"/>
                </a:solidFill>
                <a:latin typeface="EYInterstate Light" pitchFamily="2" charset="0"/>
              </a:rPr>
              <a:t>| Assurance | Tax | Transactions | Advisory</a:t>
            </a:r>
            <a:endParaRPr lang="cs-CZ" sz="900" kern="0" dirty="0" smtClean="0">
              <a:solidFill>
                <a:srgbClr val="000000"/>
              </a:solidFill>
              <a:latin typeface="EYInterstate-Light" charset="0"/>
            </a:endParaRPr>
          </a:p>
          <a:p>
            <a:pPr fontAlgn="base">
              <a:spcBef>
                <a:spcPct val="0"/>
              </a:spcBef>
              <a:spcAft>
                <a:spcPts val="1000"/>
              </a:spcAft>
              <a:defRPr/>
            </a:pPr>
            <a:endParaRPr lang="cs-CZ" sz="900" kern="0" dirty="0" smtClean="0">
              <a:solidFill>
                <a:srgbClr val="7F7E82"/>
              </a:solidFill>
              <a:latin typeface="Times New Roman" pitchFamily="18" charset="0"/>
            </a:endParaRPr>
          </a:p>
          <a:p>
            <a:pPr fontAlgn="base">
              <a:spcBef>
                <a:spcPct val="0"/>
              </a:spcBef>
              <a:spcAft>
                <a:spcPts val="100"/>
              </a:spcAft>
              <a:defRPr/>
            </a:pPr>
            <a:r>
              <a:rPr lang="cs-CZ" sz="700" kern="0" dirty="0" smtClean="0">
                <a:solidFill>
                  <a:srgbClr val="000000"/>
                </a:solidFill>
                <a:latin typeface="EYInterstate" pitchFamily="2" charset="0"/>
              </a:rPr>
              <a:t>Informace o EY</a:t>
            </a:r>
          </a:p>
          <a:p>
            <a:pPr fontAlgn="base">
              <a:spcBef>
                <a:spcPct val="0"/>
              </a:spcBef>
            </a:pPr>
            <a:r>
              <a:rPr lang="cs-CZ" sz="700" kern="0" dirty="0" smtClean="0">
                <a:solidFill>
                  <a:srgbClr val="000000"/>
                </a:solidFill>
                <a:latin typeface="EYInterstate Light" pitchFamily="2" charset="0"/>
              </a:rPr>
              <a:t>EY je předním celosvětovým poskytovatelem odborných poradenských služeb </a:t>
            </a:r>
          </a:p>
          <a:p>
            <a:pPr fontAlgn="base">
              <a:spcBef>
                <a:spcPct val="0"/>
              </a:spcBef>
            </a:pPr>
            <a:r>
              <a:rPr lang="cs-CZ" sz="700" kern="0" dirty="0" smtClean="0">
                <a:solidFill>
                  <a:srgbClr val="000000"/>
                </a:solidFill>
                <a:latin typeface="EYInterstate Light" pitchFamily="2" charset="0"/>
              </a:rPr>
              <a:t>v oblasti auditu, daní, transakčního a podnikového poradenství. Znalost </a:t>
            </a:r>
          </a:p>
          <a:p>
            <a:pPr fontAlgn="base">
              <a:spcBef>
                <a:spcPct val="0"/>
              </a:spcBef>
            </a:pPr>
            <a:r>
              <a:rPr lang="cs-CZ" sz="700" kern="0" dirty="0" smtClean="0">
                <a:solidFill>
                  <a:srgbClr val="000000"/>
                </a:solidFill>
                <a:latin typeface="EYInterstate Light" pitchFamily="2" charset="0"/>
              </a:rPr>
              <a:t>problematiky a kvalita služeb, které poskytujeme, přispívají k posilování důvěry </a:t>
            </a:r>
          </a:p>
          <a:p>
            <a:pPr fontAlgn="base">
              <a:spcBef>
                <a:spcPct val="0"/>
              </a:spcBef>
            </a:pPr>
            <a:r>
              <a:rPr lang="cs-CZ" sz="700" kern="0" dirty="0" smtClean="0">
                <a:solidFill>
                  <a:srgbClr val="000000"/>
                </a:solidFill>
                <a:latin typeface="EYInterstate Light" pitchFamily="2" charset="0"/>
              </a:rPr>
              <a:t>v kapitálové trhy i v ekonomiky celého světa. Výjimečný lidský a odborný potenciál nám umožňuje hrát významnou roli při vytváření lepšího prostředí pro naše zaměstnance, klienty i pro širší společnost.</a:t>
            </a:r>
          </a:p>
          <a:p>
            <a:pPr fontAlgn="base">
              <a:spcBef>
                <a:spcPct val="0"/>
              </a:spcBef>
              <a:spcAft>
                <a:spcPts val="525"/>
              </a:spcAft>
              <a:defRPr/>
            </a:pPr>
            <a:endParaRPr lang="cs-CZ" sz="700" kern="0" dirty="0" smtClean="0">
              <a:solidFill>
                <a:srgbClr val="000000"/>
              </a:solidFill>
              <a:latin typeface="EYInterstate Light" pitchFamily="2" charset="0"/>
            </a:endParaRPr>
          </a:p>
          <a:p>
            <a:pPr fontAlgn="base">
              <a:spcBef>
                <a:spcPct val="0"/>
              </a:spcBef>
              <a:spcAft>
                <a:spcPts val="525"/>
              </a:spcAft>
              <a:defRPr/>
            </a:pPr>
            <a:r>
              <a:rPr lang="cs-CZ" sz="700" kern="0" dirty="0" smtClean="0">
                <a:solidFill>
                  <a:srgbClr val="000000"/>
                </a:solidFill>
                <a:latin typeface="EYInterstate Light" pitchFamily="2" charset="0"/>
              </a:rPr>
              <a:t>Název EY zahrnuje celosvětovou organizaci a může zahrnovat jednu či více členských firem Ernst &amp; Young Global Limited, z nichž každá je samostatnou právnickou osobou. Ernst &amp; Young Global Limited, britská společnost s ručením omezeným garancí, služby klientům neposkytuje. Pro podrobnější informace o naší organizaci navštivte prosím naše webové stránky ey.com.</a:t>
            </a:r>
          </a:p>
          <a:p>
            <a:pPr fontAlgn="base">
              <a:spcBef>
                <a:spcPct val="0"/>
              </a:spcBef>
              <a:spcAft>
                <a:spcPts val="1013"/>
              </a:spcAft>
              <a:defRPr/>
            </a:pPr>
            <a:endParaRPr lang="cs-CZ" sz="700" kern="0" dirty="0" smtClean="0">
              <a:solidFill>
                <a:srgbClr val="000000"/>
              </a:solidFill>
              <a:latin typeface="EYInterstate Light" pitchFamily="2" charset="0"/>
            </a:endParaRPr>
          </a:p>
          <a:p>
            <a:pPr fontAlgn="base">
              <a:spcBef>
                <a:spcPct val="0"/>
              </a:spcBef>
              <a:spcAft>
                <a:spcPts val="525"/>
              </a:spcAft>
              <a:defRPr/>
            </a:pPr>
            <a:r>
              <a:rPr lang="cs-CZ" sz="700" kern="0" dirty="0" smtClean="0">
                <a:solidFill>
                  <a:srgbClr val="000000"/>
                </a:solidFill>
                <a:latin typeface="EYInterstate Light" pitchFamily="2" charset="0"/>
              </a:rPr>
              <a:t>© 2016  Ernst &amp; Young, s.r.o. </a:t>
            </a:r>
            <a:r>
              <a:rPr lang="cs-CZ" sz="900" kern="0" dirty="0" smtClean="0">
                <a:solidFill>
                  <a:srgbClr val="000000"/>
                </a:solidFill>
                <a:latin typeface="EYInterstate Light" pitchFamily="2" charset="0"/>
              </a:rPr>
              <a:t>|</a:t>
            </a:r>
            <a:r>
              <a:rPr lang="cs-CZ" sz="700" kern="0" dirty="0" smtClean="0">
                <a:solidFill>
                  <a:srgbClr val="000000"/>
                </a:solidFill>
                <a:latin typeface="EYInterstate Light" pitchFamily="2" charset="0"/>
              </a:rPr>
              <a:t> Ernst &amp; Young Audit, s.r.o. </a:t>
            </a:r>
            <a:r>
              <a:rPr lang="cs-CZ" sz="900" kern="0" dirty="0" smtClean="0">
                <a:solidFill>
                  <a:srgbClr val="000000"/>
                </a:solidFill>
                <a:latin typeface="EYInterstate Light" pitchFamily="2" charset="0"/>
              </a:rPr>
              <a:t>|</a:t>
            </a:r>
            <a:r>
              <a:rPr lang="cs-CZ" sz="700" kern="0" dirty="0" smtClean="0">
                <a:solidFill>
                  <a:srgbClr val="000000"/>
                </a:solidFill>
                <a:latin typeface="EYInterstate Light" pitchFamily="2" charset="0"/>
              </a:rPr>
              <a:t> E &amp; Y Valuations s.r.o.</a:t>
            </a:r>
            <a:br>
              <a:rPr lang="cs-CZ" sz="700" kern="0" dirty="0" smtClean="0">
                <a:solidFill>
                  <a:srgbClr val="000000"/>
                </a:solidFill>
                <a:latin typeface="EYInterstate Light" pitchFamily="2" charset="0"/>
              </a:rPr>
            </a:br>
            <a:r>
              <a:rPr lang="cs-CZ" sz="700" kern="0" dirty="0" smtClean="0">
                <a:solidFill>
                  <a:srgbClr val="000000"/>
                </a:solidFill>
                <a:latin typeface="EYInterstate Light" pitchFamily="2" charset="0"/>
              </a:rPr>
              <a:t>Všechna práva vyhrazena.</a:t>
            </a:r>
          </a:p>
          <a:p>
            <a:pPr fontAlgn="base">
              <a:spcBef>
                <a:spcPct val="0"/>
              </a:spcBef>
              <a:spcAft>
                <a:spcPts val="1013"/>
              </a:spcAft>
              <a:defRPr/>
            </a:pPr>
            <a:endParaRPr lang="cs-CZ" sz="700" kern="0" dirty="0" smtClean="0">
              <a:solidFill>
                <a:srgbClr val="000000"/>
              </a:solidFill>
              <a:latin typeface="EYInterstate Light" pitchFamily="2" charset="0"/>
            </a:endParaRPr>
          </a:p>
          <a:p>
            <a:r>
              <a:rPr lang="cs-CZ" sz="600" kern="0" dirty="0" smtClean="0">
                <a:solidFill>
                  <a:srgbClr val="000000"/>
                </a:solidFill>
                <a:latin typeface="EYInterstate Light" pitchFamily="2" charset="0"/>
              </a:rPr>
              <a:t>Tento materiál má pouze všeobecný informační charakter, na který není možné spoléhat se jako na poskytnutí účetního, daňového ani jiného odborného poradenství. V případě potřeby se prosím obraťte na svého konkrétního poradce.</a:t>
            </a:r>
          </a:p>
          <a:p>
            <a:pPr>
              <a:spcAft>
                <a:spcPts val="525"/>
              </a:spcAft>
            </a:pPr>
            <a:endParaRPr lang="cs-CZ" sz="700" kern="0" dirty="0" smtClean="0">
              <a:solidFill>
                <a:srgbClr val="000000"/>
              </a:solidFill>
              <a:latin typeface="EYInterstate Light" pitchFamily="2" charset="0"/>
            </a:endParaRPr>
          </a:p>
          <a:p>
            <a:pPr fontAlgn="base">
              <a:spcBef>
                <a:spcPct val="0"/>
              </a:spcBef>
              <a:spcAft>
                <a:spcPts val="525"/>
              </a:spcAft>
              <a:defRPr/>
            </a:pPr>
            <a:r>
              <a:rPr lang="cs-CZ" sz="900" kern="0" dirty="0" smtClean="0">
                <a:solidFill>
                  <a:srgbClr val="000000"/>
                </a:solidFill>
                <a:latin typeface="EYInterstate" pitchFamily="2" charset="0"/>
              </a:rPr>
              <a:t>ey.com</a:t>
            </a:r>
            <a:endParaRPr lang="cs-CZ" sz="700" kern="0" dirty="0" smtClean="0">
              <a:solidFill>
                <a:srgbClr val="000000"/>
              </a:solidFill>
              <a:latin typeface="EYInterstate" pitchFamily="2" charset="0"/>
            </a:endParaRPr>
          </a:p>
          <a:p>
            <a:pPr fontAlgn="base">
              <a:spcBef>
                <a:spcPct val="0"/>
              </a:spcBef>
              <a:spcAft>
                <a:spcPct val="0"/>
              </a:spcAft>
              <a:defRPr/>
            </a:pPr>
            <a:endParaRPr lang="cs-CZ" sz="1600" kern="0" dirty="0" smtClean="0">
              <a:solidFill>
                <a:srgbClr val="7F7E82"/>
              </a:solidFill>
            </a:endParaRPr>
          </a:p>
        </p:txBody>
      </p:sp>
    </p:spTree>
    <p:extLst>
      <p:ext uri="{BB962C8B-B14F-4D97-AF65-F5344CB8AC3E}">
        <p14:creationId xmlns:p14="http://schemas.microsoft.com/office/powerpoint/2010/main" val="20316666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3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image" Target="../media/image2.png"/><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theme" Target="../theme/theme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image" Target="../media/image2.png"/><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60400"/>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57200" y="1417638"/>
            <a:ext cx="8229600" cy="4705962"/>
          </a:xfrm>
          <a:prstGeom prst="rect">
            <a:avLst/>
          </a:prstGeom>
        </p:spPr>
        <p:txBody>
          <a:bodyPr vert="horz" lIns="0" tIns="0" rIns="0" bIns="0" rtlCol="0" anchor="t" anchorCtr="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9" name="Footer Placeholder 4"/>
          <p:cNvSpPr>
            <a:spLocks noGrp="1"/>
          </p:cNvSpPr>
          <p:nvPr>
            <p:ph type="ftr" sz="quarter" idx="3"/>
          </p:nvPr>
        </p:nvSpPr>
        <p:spPr>
          <a:xfrm>
            <a:off x="2588400" y="6503980"/>
            <a:ext cx="3434400" cy="201600"/>
          </a:xfrm>
          <a:prstGeom prst="rect">
            <a:avLst/>
          </a:prstGeom>
        </p:spPr>
        <p:txBody>
          <a:bodyPr vert="horz" lIns="0" tIns="0" rIns="0" bIns="0" rtlCol="0" anchor="t" anchorCtr="0">
            <a:noAutofit/>
          </a:bodyPr>
          <a:lstStyle>
            <a:lvl1pPr algn="l">
              <a:defRPr sz="1100">
                <a:solidFill>
                  <a:schemeClr val="bg1"/>
                </a:solidFill>
              </a:defRPr>
            </a:lvl1pPr>
          </a:lstStyle>
          <a:p>
            <a:r>
              <a:rPr lang="en-US" noProof="0" dirty="0" smtClean="0"/>
              <a:t>Presentation title</a:t>
            </a:r>
            <a:endParaRPr lang="en-US" noProof="0" dirty="0"/>
          </a:p>
        </p:txBody>
      </p:sp>
      <p:sp>
        <p:nvSpPr>
          <p:cNvPr id="12" name="TextBox 11"/>
          <p:cNvSpPr txBox="1"/>
          <p:nvPr userDrawn="1"/>
        </p:nvSpPr>
        <p:spPr>
          <a:xfrm>
            <a:off x="457200" y="6503980"/>
            <a:ext cx="720000" cy="198000"/>
          </a:xfrm>
          <a:prstGeom prst="rect">
            <a:avLst/>
          </a:prstGeom>
          <a:noFill/>
        </p:spPr>
        <p:txBody>
          <a:bodyPr wrap="square" lIns="0" tIns="0" rIns="0" bIns="0" rtlCol="0">
            <a:noAutofit/>
          </a:bodyPr>
          <a:lstStyle/>
          <a:p>
            <a:r>
              <a:rPr lang="en-US" sz="1100" noProof="0" dirty="0" smtClean="0">
                <a:solidFill>
                  <a:schemeClr val="bg1"/>
                </a:solidFill>
              </a:rPr>
              <a:t>Page </a:t>
            </a:r>
            <a:fld id="{9AE4D82F-B047-469B-AC52-A46321747EAF}" type="slidenum">
              <a:rPr lang="en-US" sz="1100" noProof="0" smtClean="0">
                <a:solidFill>
                  <a:schemeClr val="bg1"/>
                </a:solidFill>
              </a:rPr>
              <a:pPr/>
              <a:t>‹#›</a:t>
            </a:fld>
            <a:endParaRPr lang="en-US" sz="1100" noProof="0" dirty="0">
              <a:solidFill>
                <a:schemeClr val="bg1"/>
              </a:solidFill>
            </a:endParaRPr>
          </a:p>
        </p:txBody>
      </p:sp>
      <p:grpSp>
        <p:nvGrpSpPr>
          <p:cNvPr id="4" name="Group 3"/>
          <p:cNvGrpSpPr/>
          <p:nvPr userDrawn="1"/>
        </p:nvGrpSpPr>
        <p:grpSpPr>
          <a:xfrm>
            <a:off x="8285124" y="6326426"/>
            <a:ext cx="401676" cy="409965"/>
            <a:chOff x="8285124" y="6326426"/>
            <a:chExt cx="401676" cy="409965"/>
          </a:xfrm>
        </p:grpSpPr>
        <p:pic>
          <p:nvPicPr>
            <p:cNvPr id="5" name="Picture 4"/>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8287200" y="6326426"/>
              <a:ext cx="399600" cy="155037"/>
            </a:xfrm>
            <a:prstGeom prst="rect">
              <a:avLst/>
            </a:prstGeom>
          </p:spPr>
        </p:pic>
        <p:pic>
          <p:nvPicPr>
            <p:cNvPr id="6" name="Picture 5"/>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8285124" y="6523251"/>
              <a:ext cx="346213" cy="213140"/>
            </a:xfrm>
            <a:prstGeom prst="rect">
              <a:avLst/>
            </a:prstGeom>
          </p:spPr>
        </p:pic>
      </p:grpSp>
    </p:spTree>
    <p:extLst>
      <p:ext uri="{BB962C8B-B14F-4D97-AF65-F5344CB8AC3E}">
        <p14:creationId xmlns:p14="http://schemas.microsoft.com/office/powerpoint/2010/main" val="207479155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10" r:id="rId7"/>
    <p:sldLayoutId id="2147483711" r:id="rId8"/>
    <p:sldLayoutId id="2147483712" r:id="rId9"/>
    <p:sldLayoutId id="2147483713" r:id="rId10"/>
    <p:sldLayoutId id="2147483764" r:id="rId11"/>
    <p:sldLayoutId id="2147483714" r:id="rId12"/>
    <p:sldLayoutId id="2147483715" r:id="rId13"/>
    <p:sldLayoutId id="2147483716" r:id="rId14"/>
    <p:sldLayoutId id="2147483718" r:id="rId15"/>
    <p:sldLayoutId id="2147483727" r:id="rId16"/>
    <p:sldLayoutId id="2147483719" r:id="rId17"/>
    <p:sldLayoutId id="2147483720" r:id="rId18"/>
    <p:sldLayoutId id="2147483723" r:id="rId19"/>
    <p:sldLayoutId id="2147483721" r:id="rId20"/>
  </p:sldLayoutIdLst>
  <p:hf sldNum="0" hdr="0" dt="0"/>
  <p:txStyles>
    <p:title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p:titleStyle>
    <p:bodyStyle>
      <a:lvl1pPr marL="0" indent="0" algn="l" defTabSz="914400" rtl="0" eaLnBrk="1" latinLnBrk="0" hangingPunct="1">
        <a:spcBef>
          <a:spcPct val="20000"/>
        </a:spcBef>
        <a:buClr>
          <a:schemeClr val="accent2"/>
        </a:buClr>
        <a:buSzPct val="70000"/>
        <a:buFont typeface="Arial" pitchFamily="34" charset="0"/>
        <a:buNone/>
        <a:defRPr sz="2400" kern="1200">
          <a:solidFill>
            <a:schemeClr val="bg1"/>
          </a:solidFill>
          <a:latin typeface="+mn-lt"/>
          <a:ea typeface="+mn-ea"/>
          <a:cs typeface="+mn-cs"/>
        </a:defRPr>
      </a:lvl1pPr>
      <a:lvl2pPr marL="360363" indent="-36036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720725" indent="-36036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081088" indent="-36036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431925" indent="-350838"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60400"/>
          </a:xfrm>
          <a:prstGeom prst="rect">
            <a:avLst/>
          </a:prstGeom>
        </p:spPr>
        <p:txBody>
          <a:bodyPr vert="horz" lIns="0" tIns="0" rIns="0" bIns="0" rtlCol="0" anchor="t" anchorCtr="0">
            <a:noAutofit/>
          </a:bodyPr>
          <a:lstStyle/>
          <a:p>
            <a:r>
              <a:rPr lang="en-US" noProof="0" dirty="0" smtClean="0"/>
              <a:t>Click to edit Master title style</a:t>
            </a:r>
            <a:endParaRPr lang="en-US" noProof="0" dirty="0"/>
          </a:p>
        </p:txBody>
      </p:sp>
      <p:sp>
        <p:nvSpPr>
          <p:cNvPr id="3" name="Text Placeholder 2"/>
          <p:cNvSpPr>
            <a:spLocks noGrp="1"/>
          </p:cNvSpPr>
          <p:nvPr>
            <p:ph type="body" idx="1"/>
          </p:nvPr>
        </p:nvSpPr>
        <p:spPr>
          <a:xfrm>
            <a:off x="457200" y="1417638"/>
            <a:ext cx="8229600" cy="4705962"/>
          </a:xfrm>
          <a:prstGeom prst="rect">
            <a:avLst/>
          </a:prstGeom>
        </p:spPr>
        <p:txBody>
          <a:bodyPr vert="horz" lIns="0" tIns="0" rIns="0" bIns="0" rtlCol="0" anchor="t" anchorCtr="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5" name="Footer Placeholder 4"/>
          <p:cNvSpPr>
            <a:spLocks noGrp="1"/>
          </p:cNvSpPr>
          <p:nvPr>
            <p:ph type="ftr" sz="quarter" idx="3"/>
          </p:nvPr>
        </p:nvSpPr>
        <p:spPr>
          <a:xfrm>
            <a:off x="2588400" y="6503980"/>
            <a:ext cx="3434400" cy="201600"/>
          </a:xfrm>
          <a:prstGeom prst="rect">
            <a:avLst/>
          </a:prstGeom>
        </p:spPr>
        <p:txBody>
          <a:bodyPr vert="horz" lIns="0" tIns="0" rIns="0" bIns="0" rtlCol="0" anchor="t" anchorCtr="0">
            <a:noAutofit/>
          </a:bodyPr>
          <a:lstStyle>
            <a:lvl1pPr algn="l">
              <a:defRPr sz="1100">
                <a:solidFill>
                  <a:schemeClr val="bg1"/>
                </a:solidFill>
              </a:defRPr>
            </a:lvl1pPr>
          </a:lstStyle>
          <a:p>
            <a:r>
              <a:rPr lang="en-US" noProof="0" smtClean="0"/>
              <a:t>Presentation title</a:t>
            </a:r>
            <a:endParaRPr lang="en-US" noProof="0"/>
          </a:p>
        </p:txBody>
      </p:sp>
      <p:sp>
        <p:nvSpPr>
          <p:cNvPr id="7" name="TextBox 6"/>
          <p:cNvSpPr txBox="1"/>
          <p:nvPr/>
        </p:nvSpPr>
        <p:spPr>
          <a:xfrm>
            <a:off x="457200" y="6503980"/>
            <a:ext cx="720000" cy="198000"/>
          </a:xfrm>
          <a:prstGeom prst="rect">
            <a:avLst/>
          </a:prstGeom>
          <a:noFill/>
        </p:spPr>
        <p:txBody>
          <a:bodyPr wrap="square" lIns="0" tIns="0" rIns="0" bIns="0" rtlCol="0">
            <a:noAutofit/>
          </a:bodyPr>
          <a:lstStyle/>
          <a:p>
            <a:r>
              <a:rPr lang="en-US" sz="1100" noProof="0" dirty="0" smtClean="0">
                <a:solidFill>
                  <a:schemeClr val="bg1"/>
                </a:solidFill>
              </a:rPr>
              <a:t>Page </a:t>
            </a:r>
            <a:fld id="{9AE4D82F-B047-469B-AC52-A46321747EAF}" type="slidenum">
              <a:rPr lang="en-US" sz="1100" noProof="0" smtClean="0">
                <a:solidFill>
                  <a:schemeClr val="bg1"/>
                </a:solidFill>
              </a:rPr>
              <a:pPr/>
              <a:t>‹#›</a:t>
            </a:fld>
            <a:endParaRPr lang="en-US" sz="1100" noProof="0" dirty="0">
              <a:solidFill>
                <a:schemeClr val="bg1"/>
              </a:solidFill>
            </a:endParaRPr>
          </a:p>
        </p:txBody>
      </p:sp>
      <p:grpSp>
        <p:nvGrpSpPr>
          <p:cNvPr id="4" name="Group 3"/>
          <p:cNvGrpSpPr/>
          <p:nvPr userDrawn="1"/>
        </p:nvGrpSpPr>
        <p:grpSpPr>
          <a:xfrm>
            <a:off x="8285124" y="6326426"/>
            <a:ext cx="401676" cy="409965"/>
            <a:chOff x="8285124" y="6326426"/>
            <a:chExt cx="401676" cy="409965"/>
          </a:xfrm>
        </p:grpSpPr>
        <p:pic>
          <p:nvPicPr>
            <p:cNvPr id="9" name="Picture 8"/>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8287200" y="6326426"/>
              <a:ext cx="399600" cy="155037"/>
            </a:xfrm>
            <a:prstGeom prst="rect">
              <a:avLst/>
            </a:prstGeom>
          </p:spPr>
        </p:pic>
        <p:pic>
          <p:nvPicPr>
            <p:cNvPr id="10" name="Picture 9"/>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8285124" y="6523251"/>
              <a:ext cx="346213" cy="213140"/>
            </a:xfrm>
            <a:prstGeom prst="rect">
              <a:avLst/>
            </a:prstGeom>
          </p:spPr>
        </p:pic>
      </p:gr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667" r:id="rId5"/>
    <p:sldLayoutId id="2147483726" r:id="rId6"/>
    <p:sldLayoutId id="2147483668" r:id="rId7"/>
    <p:sldLayoutId id="2147483669" r:id="rId8"/>
    <p:sldLayoutId id="2147483670" r:id="rId9"/>
    <p:sldLayoutId id="2147483671" r:id="rId10"/>
    <p:sldLayoutId id="2147483763" r:id="rId11"/>
    <p:sldLayoutId id="2147483672" r:id="rId12"/>
    <p:sldLayoutId id="2147483673" r:id="rId13"/>
    <p:sldLayoutId id="2147483674" r:id="rId14"/>
    <p:sldLayoutId id="2147483676" r:id="rId15"/>
    <p:sldLayoutId id="2147483724" r:id="rId16"/>
    <p:sldLayoutId id="2147483677" r:id="rId17"/>
    <p:sldLayoutId id="2147483678" r:id="rId18"/>
    <p:sldLayoutId id="2147483722" r:id="rId19"/>
    <p:sldLayoutId id="2147483679" r:id="rId20"/>
  </p:sldLayoutIdLst>
  <p:hf sldNum="0" hdr="0" dt="0"/>
  <p:txStyles>
    <p:title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60400"/>
          </a:xfrm>
          <a:prstGeom prst="rect">
            <a:avLst/>
          </a:prstGeom>
        </p:spPr>
        <p:txBody>
          <a:bodyPr vert="horz" lIns="0" tIns="0" rIns="0" bIns="0" rtlCol="0" anchor="t" anchorCtr="0">
            <a:noAutofit/>
          </a:bodyPr>
          <a:lstStyle/>
          <a:p>
            <a:r>
              <a:rPr lang="en-US" noProof="0" dirty="0" smtClean="0"/>
              <a:t>Click to edit Master title style</a:t>
            </a:r>
            <a:endParaRPr lang="en-US" noProof="0" dirty="0"/>
          </a:p>
        </p:txBody>
      </p:sp>
      <p:sp>
        <p:nvSpPr>
          <p:cNvPr id="3" name="Text Placeholder 2"/>
          <p:cNvSpPr>
            <a:spLocks noGrp="1"/>
          </p:cNvSpPr>
          <p:nvPr>
            <p:ph type="body" idx="1"/>
          </p:nvPr>
        </p:nvSpPr>
        <p:spPr>
          <a:xfrm>
            <a:off x="457200" y="1417638"/>
            <a:ext cx="8229600" cy="4705962"/>
          </a:xfrm>
          <a:prstGeom prst="rect">
            <a:avLst/>
          </a:prstGeom>
        </p:spPr>
        <p:txBody>
          <a:bodyPr vert="horz" lIns="0" tIns="0" rIns="0" bIns="0" rtlCol="0" anchor="t" anchorCtr="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5" name="Footer Placeholder 4"/>
          <p:cNvSpPr>
            <a:spLocks noGrp="1"/>
          </p:cNvSpPr>
          <p:nvPr>
            <p:ph type="ftr" sz="quarter" idx="3"/>
          </p:nvPr>
        </p:nvSpPr>
        <p:spPr>
          <a:xfrm>
            <a:off x="2588400" y="6503980"/>
            <a:ext cx="3434400" cy="201600"/>
          </a:xfrm>
          <a:prstGeom prst="rect">
            <a:avLst/>
          </a:prstGeom>
        </p:spPr>
        <p:txBody>
          <a:bodyPr vert="horz" lIns="0" tIns="0" rIns="0" bIns="0" rtlCol="0" anchor="t" anchorCtr="0">
            <a:noAutofit/>
          </a:bodyPr>
          <a:lstStyle>
            <a:lvl1pPr algn="l">
              <a:defRPr sz="1100">
                <a:solidFill>
                  <a:schemeClr val="bg1"/>
                </a:solidFill>
              </a:defRPr>
            </a:lvl1pPr>
          </a:lstStyle>
          <a:p>
            <a:r>
              <a:rPr lang="en-US" smtClean="0">
                <a:solidFill>
                  <a:srgbClr val="646464"/>
                </a:solidFill>
              </a:rPr>
              <a:t>Presentation title</a:t>
            </a:r>
            <a:endParaRPr lang="en-US">
              <a:solidFill>
                <a:srgbClr val="646464"/>
              </a:solidFill>
            </a:endParaRPr>
          </a:p>
        </p:txBody>
      </p:sp>
      <p:sp>
        <p:nvSpPr>
          <p:cNvPr id="7" name="TextBox 6"/>
          <p:cNvSpPr txBox="1"/>
          <p:nvPr/>
        </p:nvSpPr>
        <p:spPr>
          <a:xfrm>
            <a:off x="457200" y="6503980"/>
            <a:ext cx="720000" cy="198000"/>
          </a:xfrm>
          <a:prstGeom prst="rect">
            <a:avLst/>
          </a:prstGeom>
          <a:noFill/>
        </p:spPr>
        <p:txBody>
          <a:bodyPr wrap="square" lIns="0" tIns="0" rIns="0" bIns="0" rtlCol="0">
            <a:noAutofit/>
          </a:bodyPr>
          <a:lstStyle/>
          <a:p>
            <a:r>
              <a:rPr lang="en-US" sz="1100" dirty="0" smtClean="0">
                <a:solidFill>
                  <a:srgbClr val="646464"/>
                </a:solidFill>
              </a:rPr>
              <a:t>Page </a:t>
            </a:r>
            <a:fld id="{9AE4D82F-B047-469B-AC52-A46321747EAF}" type="slidenum">
              <a:rPr lang="en-US" sz="1100" smtClean="0">
                <a:solidFill>
                  <a:srgbClr val="646464"/>
                </a:solidFill>
              </a:rPr>
              <a:pPr/>
              <a:t>‹#›</a:t>
            </a:fld>
            <a:endParaRPr lang="en-US" sz="1100" dirty="0">
              <a:solidFill>
                <a:srgbClr val="646464"/>
              </a:solidFill>
            </a:endParaRPr>
          </a:p>
        </p:txBody>
      </p:sp>
      <p:grpSp>
        <p:nvGrpSpPr>
          <p:cNvPr id="4" name="Group 3"/>
          <p:cNvGrpSpPr/>
          <p:nvPr userDrawn="1"/>
        </p:nvGrpSpPr>
        <p:grpSpPr>
          <a:xfrm>
            <a:off x="8285124" y="6326426"/>
            <a:ext cx="401676" cy="409965"/>
            <a:chOff x="8285124" y="6326426"/>
            <a:chExt cx="401676" cy="409965"/>
          </a:xfrm>
        </p:grpSpPr>
        <p:pic>
          <p:nvPicPr>
            <p:cNvPr id="9" name="Picture 8"/>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8287200" y="6326426"/>
              <a:ext cx="399600" cy="155037"/>
            </a:xfrm>
            <a:prstGeom prst="rect">
              <a:avLst/>
            </a:prstGeom>
          </p:spPr>
        </p:pic>
        <p:pic>
          <p:nvPicPr>
            <p:cNvPr id="10" name="Picture 9"/>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8285124" y="6523251"/>
              <a:ext cx="346213" cy="213140"/>
            </a:xfrm>
            <a:prstGeom prst="rect">
              <a:avLst/>
            </a:prstGeom>
          </p:spPr>
        </p:pic>
      </p:grpSp>
    </p:spTree>
    <p:extLst>
      <p:ext uri="{BB962C8B-B14F-4D97-AF65-F5344CB8AC3E}">
        <p14:creationId xmlns:p14="http://schemas.microsoft.com/office/powerpoint/2010/main" val="4194427797"/>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Lst>
  <p:hf sldNum="0" hdr="0" dt="0"/>
  <p:txStyles>
    <p:title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7.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80.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6.png"/><Relationship Id="rId1" Type="http://schemas.openxmlformats.org/officeDocument/2006/relationships/slideLayout" Target="../slideLayouts/slideLayout27.xml"/><Relationship Id="rId5" Type="http://schemas.openxmlformats.org/officeDocument/2006/relationships/image" Target="../media/image330.png"/><Relationship Id="rId4" Type="http://schemas.openxmlformats.org/officeDocument/2006/relationships/image" Target="../media/image320.png"/></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340.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latin typeface="EYInterstate" panose="02000503020000020004" pitchFamily="2" charset="0"/>
              </a:rPr>
              <a:t>LIC </a:t>
            </a:r>
            <a:r>
              <a:rPr lang="cs-CZ" dirty="0" smtClean="0">
                <a:latin typeface="EYInterstate" panose="02000503020000020004" pitchFamily="2" charset="0"/>
              </a:rPr>
              <a:t>Solution®</a:t>
            </a:r>
            <a:endParaRPr lang="en-GB" dirty="0">
              <a:latin typeface="EYInterstate" panose="02000503020000020004" pitchFamily="2" charset="0"/>
            </a:endParaRPr>
          </a:p>
        </p:txBody>
      </p:sp>
      <p:sp>
        <p:nvSpPr>
          <p:cNvPr id="3" name="Subtitle 2"/>
          <p:cNvSpPr>
            <a:spLocks noGrp="1"/>
          </p:cNvSpPr>
          <p:nvPr>
            <p:ph type="subTitle" idx="1"/>
          </p:nvPr>
        </p:nvSpPr>
        <p:spPr/>
        <p:txBody>
          <a:bodyPr/>
          <a:lstStyle/>
          <a:p>
            <a:pPr lvl="1"/>
            <a:r>
              <a:rPr lang="cs-CZ" dirty="0" smtClean="0">
                <a:solidFill>
                  <a:schemeClr val="bg1"/>
                </a:solidFill>
                <a:latin typeface="EYInterstate" panose="02000503020000020004" pitchFamily="2" charset="0"/>
              </a:rPr>
              <a:t>May</a:t>
            </a:r>
            <a:r>
              <a:rPr lang="en-GB" dirty="0" smtClean="0">
                <a:solidFill>
                  <a:schemeClr val="bg1"/>
                </a:solidFill>
                <a:latin typeface="EYInterstate" panose="02000503020000020004" pitchFamily="2" charset="0"/>
              </a:rPr>
              <a:t> 201</a:t>
            </a:r>
            <a:r>
              <a:rPr lang="cs-CZ" dirty="0" smtClean="0">
                <a:solidFill>
                  <a:schemeClr val="bg1"/>
                </a:solidFill>
                <a:latin typeface="EYInterstate" panose="02000503020000020004" pitchFamily="2" charset="0"/>
              </a:rPr>
              <a:t>7</a:t>
            </a:r>
            <a:endParaRPr lang="en-GB" dirty="0">
              <a:solidFill>
                <a:schemeClr val="bg1"/>
              </a:solidFill>
              <a:latin typeface="EYInterstate" panose="02000503020000020004" pitchFamily="2" charset="0"/>
            </a:endParaRPr>
          </a:p>
        </p:txBody>
      </p:sp>
    </p:spTree>
    <p:extLst>
      <p:ext uri="{BB962C8B-B14F-4D97-AF65-F5344CB8AC3E}">
        <p14:creationId xmlns:p14="http://schemas.microsoft.com/office/powerpoint/2010/main" val="17030925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EYInterstate" panose="02000503020000020004" pitchFamily="2" charset="0"/>
              </a:rPr>
              <a:t>LIC </a:t>
            </a:r>
            <a:r>
              <a:rPr lang="cs-CZ" dirty="0" smtClean="0">
                <a:latin typeface="EYInterstate" panose="02000503020000020004" pitchFamily="2" charset="0"/>
              </a:rPr>
              <a:t>Solution®</a:t>
            </a:r>
            <a:endParaRPr lang="en-GB" baseline="30000" dirty="0">
              <a:latin typeface="EYInterstate" panose="02000503020000020004" pitchFamily="2" charset="0"/>
            </a:endParaRPr>
          </a:p>
        </p:txBody>
      </p:sp>
      <p:sp>
        <p:nvSpPr>
          <p:cNvPr id="3" name="Content Placeholder 2"/>
          <p:cNvSpPr>
            <a:spLocks noGrp="1"/>
          </p:cNvSpPr>
          <p:nvPr>
            <p:ph idx="1"/>
          </p:nvPr>
        </p:nvSpPr>
        <p:spPr>
          <a:xfrm>
            <a:off x="451076" y="1026000"/>
            <a:ext cx="8229600" cy="4705962"/>
          </a:xfrm>
        </p:spPr>
        <p:txBody>
          <a:bodyPr/>
          <a:lstStyle/>
          <a:p>
            <a:r>
              <a:rPr lang="en-US" sz="1200" dirty="0">
                <a:latin typeface="EYInterstate Light" panose="02000506000000020004" pitchFamily="2" charset="0"/>
              </a:rPr>
              <a:t>The </a:t>
            </a:r>
            <a:r>
              <a:rPr lang="en-GB" sz="1200" dirty="0" smtClean="0">
                <a:latin typeface="EYInterstate Light" panose="02000506000000020004" pitchFamily="2" charset="0"/>
              </a:rPr>
              <a:t>LIC Solution® </a:t>
            </a:r>
            <a:r>
              <a:rPr lang="en-US" sz="1200" dirty="0" smtClean="0">
                <a:latin typeface="EYInterstate Light" panose="02000506000000020004" pitchFamily="2" charset="0"/>
              </a:rPr>
              <a:t>is </a:t>
            </a:r>
            <a:r>
              <a:rPr lang="en-US" sz="1200" dirty="0">
                <a:latin typeface="EYInterstate Light" panose="02000506000000020004" pitchFamily="2" charset="0"/>
              </a:rPr>
              <a:t>an automated </a:t>
            </a:r>
            <a:r>
              <a:rPr lang="en-US" sz="1200" dirty="0" smtClean="0">
                <a:latin typeface="EYInterstate Light" panose="02000506000000020004" pitchFamily="2" charset="0"/>
              </a:rPr>
              <a:t>IT solution </a:t>
            </a:r>
            <a:r>
              <a:rPr lang="en-US" sz="1200" dirty="0">
                <a:latin typeface="EYInterstate Light" panose="02000506000000020004" pitchFamily="2" charset="0"/>
              </a:rPr>
              <a:t>for the calculation of impairment losses on a portfolio (collective) </a:t>
            </a:r>
            <a:r>
              <a:rPr lang="en-US" sz="1200" dirty="0" smtClean="0">
                <a:latin typeface="EYInterstate Light" panose="02000506000000020004" pitchFamily="2" charset="0"/>
              </a:rPr>
              <a:t>basis and </a:t>
            </a:r>
            <a:r>
              <a:rPr lang="en-US" sz="1200" dirty="0">
                <a:latin typeface="EYInterstate Light" panose="02000506000000020004" pitchFamily="2" charset="0"/>
              </a:rPr>
              <a:t>individual basis </a:t>
            </a:r>
            <a:r>
              <a:rPr lang="en-US" sz="1200" dirty="0" smtClean="0">
                <a:latin typeface="EYInterstate Light" panose="02000506000000020004" pitchFamily="2" charset="0"/>
              </a:rPr>
              <a:t>under IFRS 9 Financial instruments </a:t>
            </a:r>
            <a:r>
              <a:rPr lang="en-US" sz="1200" dirty="0">
                <a:latin typeface="EYInterstate Light" panose="02000506000000020004" pitchFamily="2" charset="0"/>
              </a:rPr>
              <a:t>standard </a:t>
            </a:r>
            <a:r>
              <a:rPr lang="en-US" sz="1200" dirty="0" smtClean="0">
                <a:latin typeface="EYInterstate Light" panose="02000506000000020004" pitchFamily="2" charset="0"/>
              </a:rPr>
              <a:t>(</a:t>
            </a:r>
            <a:r>
              <a:rPr lang="en-US" sz="1200" dirty="0">
                <a:latin typeface="EYInterstate Light" panose="02000506000000020004" pitchFamily="2" charset="0"/>
              </a:rPr>
              <a:t>'IFRS 9' or 'Standard</a:t>
            </a:r>
            <a:r>
              <a:rPr lang="en-US" sz="1200" dirty="0" smtClean="0">
                <a:latin typeface="EYInterstate Light" panose="02000506000000020004" pitchFamily="2" charset="0"/>
              </a:rPr>
              <a:t>')</a:t>
            </a:r>
          </a:p>
          <a:p>
            <a:r>
              <a:rPr lang="en-US" sz="1200" dirty="0" smtClean="0">
                <a:latin typeface="EYInterstate Light" panose="02000506000000020004" pitchFamily="2" charset="0"/>
              </a:rPr>
              <a:t>The IAS 39 version of </a:t>
            </a:r>
            <a:r>
              <a:rPr lang="en-GB" sz="1200" dirty="0" smtClean="0">
                <a:latin typeface="EYInterstate Light" panose="02000506000000020004" pitchFamily="2" charset="0"/>
              </a:rPr>
              <a:t>LIC Solution® </a:t>
            </a:r>
            <a:r>
              <a:rPr lang="en-US" sz="1200" dirty="0" smtClean="0">
                <a:latin typeface="EYInterstate Light" panose="02000506000000020004" pitchFamily="2" charset="0"/>
              </a:rPr>
              <a:t>has been implemented in 15 institutions in CEE. We have also helped a number of European institutions during projects focusing on loan impairment reviews, IFRS methodology and back-testing</a:t>
            </a:r>
          </a:p>
          <a:p>
            <a:endParaRPr lang="en-US" sz="1100" dirty="0" smtClean="0">
              <a:latin typeface="EYInterstate Light" panose="02000506000000020004" pitchFamily="2" charset="0"/>
            </a:endParaRPr>
          </a:p>
          <a:p>
            <a:endParaRPr lang="en-GB" sz="1100" dirty="0">
              <a:latin typeface="EYInterstate Light" panose="02000506000000020004" pitchFamily="2" charset="0"/>
            </a:endParaRPr>
          </a:p>
        </p:txBody>
      </p:sp>
      <p:grpSp>
        <p:nvGrpSpPr>
          <p:cNvPr id="203" name="Group 202"/>
          <p:cNvGrpSpPr>
            <a:grpSpLocks noChangeAspect="1"/>
          </p:cNvGrpSpPr>
          <p:nvPr/>
        </p:nvGrpSpPr>
        <p:grpSpPr>
          <a:xfrm>
            <a:off x="1475089" y="2680804"/>
            <a:ext cx="3195146" cy="2191552"/>
            <a:chOff x="702905" y="1768271"/>
            <a:chExt cx="5236846" cy="3809900"/>
          </a:xfrm>
        </p:grpSpPr>
        <p:grpSp>
          <p:nvGrpSpPr>
            <p:cNvPr id="204" name="Group 84"/>
            <p:cNvGrpSpPr>
              <a:grpSpLocks noChangeAspect="1"/>
            </p:cNvGrpSpPr>
            <p:nvPr/>
          </p:nvGrpSpPr>
          <p:grpSpPr>
            <a:xfrm>
              <a:off x="702905" y="1768271"/>
              <a:ext cx="5236846" cy="3809900"/>
              <a:chOff x="1868354" y="1536887"/>
              <a:chExt cx="4364038" cy="3174917"/>
            </a:xfrm>
          </p:grpSpPr>
          <p:grpSp>
            <p:nvGrpSpPr>
              <p:cNvPr id="206" name="Group 259"/>
              <p:cNvGrpSpPr/>
              <p:nvPr/>
            </p:nvGrpSpPr>
            <p:grpSpPr>
              <a:xfrm>
                <a:off x="1868354" y="1536887"/>
                <a:ext cx="4364038" cy="3065462"/>
                <a:chOff x="2922588" y="3511551"/>
                <a:chExt cx="4364038" cy="3065462"/>
              </a:xfrm>
            </p:grpSpPr>
            <p:sp>
              <p:nvSpPr>
                <p:cNvPr id="208" name="Freeform 4"/>
                <p:cNvSpPr>
                  <a:spLocks/>
                </p:cNvSpPr>
                <p:nvPr/>
              </p:nvSpPr>
              <p:spPr bwMode="gray">
                <a:xfrm>
                  <a:off x="6692901" y="6251576"/>
                  <a:ext cx="11113" cy="12700"/>
                </a:xfrm>
                <a:custGeom>
                  <a:avLst/>
                  <a:gdLst/>
                  <a:ahLst/>
                  <a:cxnLst>
                    <a:cxn ang="0">
                      <a:pos x="0" y="3"/>
                    </a:cxn>
                    <a:cxn ang="0">
                      <a:pos x="2" y="0"/>
                    </a:cxn>
                    <a:cxn ang="0">
                      <a:pos x="2" y="1"/>
                    </a:cxn>
                    <a:cxn ang="0">
                      <a:pos x="0" y="3"/>
                    </a:cxn>
                  </a:cxnLst>
                  <a:rect l="0" t="0" r="r" b="b"/>
                  <a:pathLst>
                    <a:path w="2" h="3">
                      <a:moveTo>
                        <a:pt x="0" y="3"/>
                      </a:moveTo>
                      <a:lnTo>
                        <a:pt x="2" y="0"/>
                      </a:lnTo>
                      <a:lnTo>
                        <a:pt x="2" y="1"/>
                      </a:lnTo>
                      <a:lnTo>
                        <a:pt x="0" y="3"/>
                      </a:lnTo>
                      <a:close/>
                    </a:path>
                  </a:pathLst>
                </a:custGeom>
                <a:solidFill>
                  <a:srgbClr val="FFFFFF">
                    <a:lumMod val="95000"/>
                  </a:srgbClr>
                </a:solidFill>
                <a:ln w="9525">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09" name="Freeform 7"/>
                <p:cNvSpPr>
                  <a:spLocks/>
                </p:cNvSpPr>
                <p:nvPr/>
              </p:nvSpPr>
              <p:spPr bwMode="gray">
                <a:xfrm>
                  <a:off x="5524501" y="4560888"/>
                  <a:ext cx="1408113" cy="979488"/>
                </a:xfrm>
                <a:custGeom>
                  <a:avLst/>
                  <a:gdLst/>
                  <a:ahLst/>
                  <a:cxnLst>
                    <a:cxn ang="0">
                      <a:pos x="0" y="61"/>
                    </a:cxn>
                    <a:cxn ang="0">
                      <a:pos x="6" y="48"/>
                    </a:cxn>
                    <a:cxn ang="0">
                      <a:pos x="19" y="30"/>
                    </a:cxn>
                    <a:cxn ang="0">
                      <a:pos x="27" y="6"/>
                    </a:cxn>
                    <a:cxn ang="0">
                      <a:pos x="40" y="8"/>
                    </a:cxn>
                    <a:cxn ang="0">
                      <a:pos x="51" y="10"/>
                    </a:cxn>
                    <a:cxn ang="0">
                      <a:pos x="70" y="14"/>
                    </a:cxn>
                    <a:cxn ang="0">
                      <a:pos x="77" y="6"/>
                    </a:cxn>
                    <a:cxn ang="0">
                      <a:pos x="93" y="0"/>
                    </a:cxn>
                    <a:cxn ang="0">
                      <a:pos x="109" y="18"/>
                    </a:cxn>
                    <a:cxn ang="0">
                      <a:pos x="116" y="25"/>
                    </a:cxn>
                    <a:cxn ang="0">
                      <a:pos x="135" y="30"/>
                    </a:cxn>
                    <a:cxn ang="0">
                      <a:pos x="148" y="37"/>
                    </a:cxn>
                    <a:cxn ang="0">
                      <a:pos x="156" y="57"/>
                    </a:cxn>
                    <a:cxn ang="0">
                      <a:pos x="151" y="68"/>
                    </a:cxn>
                    <a:cxn ang="0">
                      <a:pos x="139" y="86"/>
                    </a:cxn>
                    <a:cxn ang="0">
                      <a:pos x="129" y="90"/>
                    </a:cxn>
                    <a:cxn ang="0">
                      <a:pos x="117" y="94"/>
                    </a:cxn>
                    <a:cxn ang="0">
                      <a:pos x="105" y="98"/>
                    </a:cxn>
                    <a:cxn ang="0">
                      <a:pos x="113" y="103"/>
                    </a:cxn>
                    <a:cxn ang="0">
                      <a:pos x="123" y="108"/>
                    </a:cxn>
                    <a:cxn ang="0">
                      <a:pos x="127" y="112"/>
                    </a:cxn>
                    <a:cxn ang="0">
                      <a:pos x="115" y="115"/>
                    </a:cxn>
                    <a:cxn ang="0">
                      <a:pos x="102" y="120"/>
                    </a:cxn>
                    <a:cxn ang="0">
                      <a:pos x="101" y="110"/>
                    </a:cxn>
                    <a:cxn ang="0">
                      <a:pos x="95" y="105"/>
                    </a:cxn>
                    <a:cxn ang="0">
                      <a:pos x="102" y="101"/>
                    </a:cxn>
                    <a:cxn ang="0">
                      <a:pos x="98" y="96"/>
                    </a:cxn>
                    <a:cxn ang="0">
                      <a:pos x="88" y="95"/>
                    </a:cxn>
                    <a:cxn ang="0">
                      <a:pos x="82" y="90"/>
                    </a:cxn>
                    <a:cxn ang="0">
                      <a:pos x="74" y="94"/>
                    </a:cxn>
                    <a:cxn ang="0">
                      <a:pos x="67" y="106"/>
                    </a:cxn>
                    <a:cxn ang="0">
                      <a:pos x="62" y="98"/>
                    </a:cxn>
                    <a:cxn ang="0">
                      <a:pos x="70" y="92"/>
                    </a:cxn>
                    <a:cxn ang="0">
                      <a:pos x="67" y="84"/>
                    </a:cxn>
                    <a:cxn ang="0">
                      <a:pos x="59" y="64"/>
                    </a:cxn>
                    <a:cxn ang="0">
                      <a:pos x="39" y="68"/>
                    </a:cxn>
                    <a:cxn ang="0">
                      <a:pos x="24" y="74"/>
                    </a:cxn>
                    <a:cxn ang="0">
                      <a:pos x="8" y="68"/>
                    </a:cxn>
                  </a:cxnLst>
                  <a:rect l="0" t="0" r="r" b="b"/>
                  <a:pathLst>
                    <a:path w="162" h="120">
                      <a:moveTo>
                        <a:pt x="8" y="68"/>
                      </a:moveTo>
                      <a:lnTo>
                        <a:pt x="0" y="61"/>
                      </a:lnTo>
                      <a:lnTo>
                        <a:pt x="2" y="52"/>
                      </a:lnTo>
                      <a:lnTo>
                        <a:pt x="6" y="48"/>
                      </a:lnTo>
                      <a:lnTo>
                        <a:pt x="6" y="45"/>
                      </a:lnTo>
                      <a:lnTo>
                        <a:pt x="19" y="30"/>
                      </a:lnTo>
                      <a:lnTo>
                        <a:pt x="18" y="16"/>
                      </a:lnTo>
                      <a:lnTo>
                        <a:pt x="27" y="6"/>
                      </a:lnTo>
                      <a:lnTo>
                        <a:pt x="34" y="5"/>
                      </a:lnTo>
                      <a:lnTo>
                        <a:pt x="40" y="8"/>
                      </a:lnTo>
                      <a:lnTo>
                        <a:pt x="45" y="8"/>
                      </a:lnTo>
                      <a:lnTo>
                        <a:pt x="51" y="10"/>
                      </a:lnTo>
                      <a:lnTo>
                        <a:pt x="55" y="8"/>
                      </a:lnTo>
                      <a:lnTo>
                        <a:pt x="70" y="14"/>
                      </a:lnTo>
                      <a:lnTo>
                        <a:pt x="75" y="12"/>
                      </a:lnTo>
                      <a:lnTo>
                        <a:pt x="77" y="6"/>
                      </a:lnTo>
                      <a:lnTo>
                        <a:pt x="86" y="3"/>
                      </a:lnTo>
                      <a:lnTo>
                        <a:pt x="93" y="0"/>
                      </a:lnTo>
                      <a:lnTo>
                        <a:pt x="105" y="1"/>
                      </a:lnTo>
                      <a:lnTo>
                        <a:pt x="109" y="18"/>
                      </a:lnTo>
                      <a:lnTo>
                        <a:pt x="116" y="19"/>
                      </a:lnTo>
                      <a:lnTo>
                        <a:pt x="116" y="25"/>
                      </a:lnTo>
                      <a:lnTo>
                        <a:pt x="120" y="31"/>
                      </a:lnTo>
                      <a:lnTo>
                        <a:pt x="135" y="30"/>
                      </a:lnTo>
                      <a:lnTo>
                        <a:pt x="143" y="37"/>
                      </a:lnTo>
                      <a:lnTo>
                        <a:pt x="148" y="37"/>
                      </a:lnTo>
                      <a:lnTo>
                        <a:pt x="162" y="50"/>
                      </a:lnTo>
                      <a:lnTo>
                        <a:pt x="156" y="57"/>
                      </a:lnTo>
                      <a:lnTo>
                        <a:pt x="155" y="69"/>
                      </a:lnTo>
                      <a:lnTo>
                        <a:pt x="151" y="68"/>
                      </a:lnTo>
                      <a:lnTo>
                        <a:pt x="144" y="75"/>
                      </a:lnTo>
                      <a:lnTo>
                        <a:pt x="139" y="86"/>
                      </a:lnTo>
                      <a:lnTo>
                        <a:pt x="133" y="86"/>
                      </a:lnTo>
                      <a:lnTo>
                        <a:pt x="129" y="90"/>
                      </a:lnTo>
                      <a:lnTo>
                        <a:pt x="117" y="91"/>
                      </a:lnTo>
                      <a:lnTo>
                        <a:pt x="117" y="94"/>
                      </a:lnTo>
                      <a:lnTo>
                        <a:pt x="115" y="96"/>
                      </a:lnTo>
                      <a:lnTo>
                        <a:pt x="105" y="98"/>
                      </a:lnTo>
                      <a:lnTo>
                        <a:pt x="106" y="100"/>
                      </a:lnTo>
                      <a:lnTo>
                        <a:pt x="113" y="103"/>
                      </a:lnTo>
                      <a:lnTo>
                        <a:pt x="115" y="107"/>
                      </a:lnTo>
                      <a:lnTo>
                        <a:pt x="123" y="108"/>
                      </a:lnTo>
                      <a:lnTo>
                        <a:pt x="127" y="108"/>
                      </a:lnTo>
                      <a:lnTo>
                        <a:pt x="127" y="112"/>
                      </a:lnTo>
                      <a:lnTo>
                        <a:pt x="120" y="113"/>
                      </a:lnTo>
                      <a:lnTo>
                        <a:pt x="115" y="115"/>
                      </a:lnTo>
                      <a:lnTo>
                        <a:pt x="109" y="120"/>
                      </a:lnTo>
                      <a:lnTo>
                        <a:pt x="102" y="120"/>
                      </a:lnTo>
                      <a:lnTo>
                        <a:pt x="101" y="115"/>
                      </a:lnTo>
                      <a:lnTo>
                        <a:pt x="101" y="110"/>
                      </a:lnTo>
                      <a:lnTo>
                        <a:pt x="95" y="108"/>
                      </a:lnTo>
                      <a:lnTo>
                        <a:pt x="95" y="105"/>
                      </a:lnTo>
                      <a:lnTo>
                        <a:pt x="97" y="104"/>
                      </a:lnTo>
                      <a:lnTo>
                        <a:pt x="102" y="101"/>
                      </a:lnTo>
                      <a:lnTo>
                        <a:pt x="102" y="98"/>
                      </a:lnTo>
                      <a:lnTo>
                        <a:pt x="98" y="96"/>
                      </a:lnTo>
                      <a:lnTo>
                        <a:pt x="92" y="96"/>
                      </a:lnTo>
                      <a:lnTo>
                        <a:pt x="88" y="95"/>
                      </a:lnTo>
                      <a:lnTo>
                        <a:pt x="85" y="91"/>
                      </a:lnTo>
                      <a:lnTo>
                        <a:pt x="82" y="90"/>
                      </a:lnTo>
                      <a:lnTo>
                        <a:pt x="79" y="93"/>
                      </a:lnTo>
                      <a:lnTo>
                        <a:pt x="74" y="94"/>
                      </a:lnTo>
                      <a:lnTo>
                        <a:pt x="74" y="99"/>
                      </a:lnTo>
                      <a:lnTo>
                        <a:pt x="67" y="106"/>
                      </a:lnTo>
                      <a:lnTo>
                        <a:pt x="62" y="107"/>
                      </a:lnTo>
                      <a:lnTo>
                        <a:pt x="62" y="98"/>
                      </a:lnTo>
                      <a:lnTo>
                        <a:pt x="66" y="92"/>
                      </a:lnTo>
                      <a:lnTo>
                        <a:pt x="70" y="92"/>
                      </a:lnTo>
                      <a:lnTo>
                        <a:pt x="71" y="88"/>
                      </a:lnTo>
                      <a:lnTo>
                        <a:pt x="67" y="84"/>
                      </a:lnTo>
                      <a:lnTo>
                        <a:pt x="64" y="71"/>
                      </a:lnTo>
                      <a:lnTo>
                        <a:pt x="59" y="64"/>
                      </a:lnTo>
                      <a:lnTo>
                        <a:pt x="45" y="64"/>
                      </a:lnTo>
                      <a:lnTo>
                        <a:pt x="39" y="68"/>
                      </a:lnTo>
                      <a:lnTo>
                        <a:pt x="32" y="72"/>
                      </a:lnTo>
                      <a:lnTo>
                        <a:pt x="24" y="74"/>
                      </a:lnTo>
                      <a:lnTo>
                        <a:pt x="14" y="70"/>
                      </a:lnTo>
                      <a:lnTo>
                        <a:pt x="8" y="68"/>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0" name="Freeform 8"/>
                <p:cNvSpPr>
                  <a:spLocks/>
                </p:cNvSpPr>
                <p:nvPr/>
              </p:nvSpPr>
              <p:spPr bwMode="gray">
                <a:xfrm>
                  <a:off x="5551488" y="5578476"/>
                  <a:ext cx="466725" cy="325438"/>
                </a:xfrm>
                <a:custGeom>
                  <a:avLst/>
                  <a:gdLst/>
                  <a:ahLst/>
                  <a:cxnLst>
                    <a:cxn ang="0">
                      <a:pos x="5" y="40"/>
                    </a:cxn>
                    <a:cxn ang="0">
                      <a:pos x="5" y="31"/>
                    </a:cxn>
                    <a:cxn ang="0">
                      <a:pos x="1" y="21"/>
                    </a:cxn>
                    <a:cxn ang="0">
                      <a:pos x="5" y="13"/>
                    </a:cxn>
                    <a:cxn ang="0">
                      <a:pos x="0" y="7"/>
                    </a:cxn>
                    <a:cxn ang="0">
                      <a:pos x="3" y="0"/>
                    </a:cxn>
                    <a:cxn ang="0">
                      <a:pos x="9" y="4"/>
                    </a:cxn>
                    <a:cxn ang="0">
                      <a:pos x="20" y="7"/>
                    </a:cxn>
                    <a:cxn ang="0">
                      <a:pos x="30" y="5"/>
                    </a:cxn>
                    <a:cxn ang="0">
                      <a:pos x="37" y="0"/>
                    </a:cxn>
                    <a:cxn ang="0">
                      <a:pos x="42" y="0"/>
                    </a:cxn>
                    <a:cxn ang="0">
                      <a:pos x="54" y="5"/>
                    </a:cxn>
                    <a:cxn ang="0">
                      <a:pos x="54" y="11"/>
                    </a:cxn>
                    <a:cxn ang="0">
                      <a:pos x="50" y="14"/>
                    </a:cxn>
                    <a:cxn ang="0">
                      <a:pos x="49" y="25"/>
                    </a:cxn>
                    <a:cxn ang="0">
                      <a:pos x="47" y="31"/>
                    </a:cxn>
                    <a:cxn ang="0">
                      <a:pos x="41" y="29"/>
                    </a:cxn>
                    <a:cxn ang="0">
                      <a:pos x="35" y="31"/>
                    </a:cxn>
                    <a:cxn ang="0">
                      <a:pos x="33" y="39"/>
                    </a:cxn>
                    <a:cxn ang="0">
                      <a:pos x="28" y="40"/>
                    </a:cxn>
                    <a:cxn ang="0">
                      <a:pos x="23" y="37"/>
                    </a:cxn>
                    <a:cxn ang="0">
                      <a:pos x="17" y="36"/>
                    </a:cxn>
                    <a:cxn ang="0">
                      <a:pos x="11" y="38"/>
                    </a:cxn>
                    <a:cxn ang="0">
                      <a:pos x="5" y="40"/>
                    </a:cxn>
                  </a:cxnLst>
                  <a:rect l="0" t="0" r="r" b="b"/>
                  <a:pathLst>
                    <a:path w="54" h="40">
                      <a:moveTo>
                        <a:pt x="5" y="40"/>
                      </a:moveTo>
                      <a:lnTo>
                        <a:pt x="5" y="31"/>
                      </a:lnTo>
                      <a:lnTo>
                        <a:pt x="1" y="21"/>
                      </a:lnTo>
                      <a:lnTo>
                        <a:pt x="5" y="13"/>
                      </a:lnTo>
                      <a:lnTo>
                        <a:pt x="0" y="7"/>
                      </a:lnTo>
                      <a:lnTo>
                        <a:pt x="3" y="0"/>
                      </a:lnTo>
                      <a:lnTo>
                        <a:pt x="9" y="4"/>
                      </a:lnTo>
                      <a:lnTo>
                        <a:pt x="20" y="7"/>
                      </a:lnTo>
                      <a:lnTo>
                        <a:pt x="30" y="5"/>
                      </a:lnTo>
                      <a:lnTo>
                        <a:pt x="37" y="0"/>
                      </a:lnTo>
                      <a:lnTo>
                        <a:pt x="42" y="0"/>
                      </a:lnTo>
                      <a:lnTo>
                        <a:pt x="54" y="5"/>
                      </a:lnTo>
                      <a:lnTo>
                        <a:pt x="54" y="11"/>
                      </a:lnTo>
                      <a:lnTo>
                        <a:pt x="50" y="14"/>
                      </a:lnTo>
                      <a:lnTo>
                        <a:pt x="49" y="25"/>
                      </a:lnTo>
                      <a:lnTo>
                        <a:pt x="47" y="31"/>
                      </a:lnTo>
                      <a:lnTo>
                        <a:pt x="41" y="29"/>
                      </a:lnTo>
                      <a:lnTo>
                        <a:pt x="35" y="31"/>
                      </a:lnTo>
                      <a:lnTo>
                        <a:pt x="33" y="39"/>
                      </a:lnTo>
                      <a:lnTo>
                        <a:pt x="28" y="40"/>
                      </a:lnTo>
                      <a:lnTo>
                        <a:pt x="23" y="37"/>
                      </a:lnTo>
                      <a:lnTo>
                        <a:pt x="17" y="36"/>
                      </a:lnTo>
                      <a:lnTo>
                        <a:pt x="11" y="38"/>
                      </a:lnTo>
                      <a:lnTo>
                        <a:pt x="5" y="4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1" name="Freeform 9"/>
                <p:cNvSpPr>
                  <a:spLocks/>
                </p:cNvSpPr>
                <p:nvPr/>
              </p:nvSpPr>
              <p:spPr bwMode="gray">
                <a:xfrm>
                  <a:off x="5380038" y="5116513"/>
                  <a:ext cx="735013" cy="517525"/>
                </a:xfrm>
                <a:custGeom>
                  <a:avLst/>
                  <a:gdLst/>
                  <a:ahLst/>
                  <a:cxnLst>
                    <a:cxn ang="0">
                      <a:pos x="23" y="57"/>
                    </a:cxn>
                    <a:cxn ang="0">
                      <a:pos x="18" y="50"/>
                    </a:cxn>
                    <a:cxn ang="0">
                      <a:pos x="6" y="48"/>
                    </a:cxn>
                    <a:cxn ang="0">
                      <a:pos x="5" y="37"/>
                    </a:cxn>
                    <a:cxn ang="0">
                      <a:pos x="0" y="28"/>
                    </a:cxn>
                    <a:cxn ang="0">
                      <a:pos x="8" y="26"/>
                    </a:cxn>
                    <a:cxn ang="0">
                      <a:pos x="10" y="14"/>
                    </a:cxn>
                    <a:cxn ang="0">
                      <a:pos x="17" y="5"/>
                    </a:cxn>
                    <a:cxn ang="0">
                      <a:pos x="25" y="0"/>
                    </a:cxn>
                    <a:cxn ang="0">
                      <a:pos x="31" y="2"/>
                    </a:cxn>
                    <a:cxn ang="0">
                      <a:pos x="41" y="6"/>
                    </a:cxn>
                    <a:cxn ang="0">
                      <a:pos x="49" y="4"/>
                    </a:cxn>
                    <a:cxn ang="0">
                      <a:pos x="56" y="0"/>
                    </a:cxn>
                    <a:cxn ang="0">
                      <a:pos x="62" y="2"/>
                    </a:cxn>
                    <a:cxn ang="0">
                      <a:pos x="67" y="10"/>
                    </a:cxn>
                    <a:cxn ang="0">
                      <a:pos x="71" y="27"/>
                    </a:cxn>
                    <a:cxn ang="0">
                      <a:pos x="74" y="31"/>
                    </a:cxn>
                    <a:cxn ang="0">
                      <a:pos x="74" y="37"/>
                    </a:cxn>
                    <a:cxn ang="0">
                      <a:pos x="79" y="39"/>
                    </a:cxn>
                    <a:cxn ang="0">
                      <a:pos x="84" y="38"/>
                    </a:cxn>
                    <a:cxn ang="0">
                      <a:pos x="85" y="43"/>
                    </a:cxn>
                    <a:cxn ang="0">
                      <a:pos x="76" y="53"/>
                    </a:cxn>
                    <a:cxn ang="0">
                      <a:pos x="74" y="62"/>
                    </a:cxn>
                    <a:cxn ang="0">
                      <a:pos x="62" y="57"/>
                    </a:cxn>
                    <a:cxn ang="0">
                      <a:pos x="57" y="57"/>
                    </a:cxn>
                    <a:cxn ang="0">
                      <a:pos x="50" y="62"/>
                    </a:cxn>
                    <a:cxn ang="0">
                      <a:pos x="40" y="64"/>
                    </a:cxn>
                    <a:cxn ang="0">
                      <a:pos x="29" y="61"/>
                    </a:cxn>
                    <a:cxn ang="0">
                      <a:pos x="23" y="57"/>
                    </a:cxn>
                  </a:cxnLst>
                  <a:rect l="0" t="0" r="r" b="b"/>
                  <a:pathLst>
                    <a:path w="85" h="64">
                      <a:moveTo>
                        <a:pt x="23" y="57"/>
                      </a:moveTo>
                      <a:lnTo>
                        <a:pt x="18" y="50"/>
                      </a:lnTo>
                      <a:lnTo>
                        <a:pt x="6" y="48"/>
                      </a:lnTo>
                      <a:lnTo>
                        <a:pt x="5" y="37"/>
                      </a:lnTo>
                      <a:lnTo>
                        <a:pt x="0" y="28"/>
                      </a:lnTo>
                      <a:lnTo>
                        <a:pt x="8" y="26"/>
                      </a:lnTo>
                      <a:lnTo>
                        <a:pt x="10" y="14"/>
                      </a:lnTo>
                      <a:lnTo>
                        <a:pt x="17" y="5"/>
                      </a:lnTo>
                      <a:lnTo>
                        <a:pt x="25" y="0"/>
                      </a:lnTo>
                      <a:lnTo>
                        <a:pt x="31" y="2"/>
                      </a:lnTo>
                      <a:lnTo>
                        <a:pt x="41" y="6"/>
                      </a:lnTo>
                      <a:lnTo>
                        <a:pt x="49" y="4"/>
                      </a:lnTo>
                      <a:lnTo>
                        <a:pt x="56" y="0"/>
                      </a:lnTo>
                      <a:lnTo>
                        <a:pt x="62" y="2"/>
                      </a:lnTo>
                      <a:lnTo>
                        <a:pt x="67" y="10"/>
                      </a:lnTo>
                      <a:lnTo>
                        <a:pt x="71" y="27"/>
                      </a:lnTo>
                      <a:lnTo>
                        <a:pt x="74" y="31"/>
                      </a:lnTo>
                      <a:lnTo>
                        <a:pt x="74" y="37"/>
                      </a:lnTo>
                      <a:lnTo>
                        <a:pt x="79" y="39"/>
                      </a:lnTo>
                      <a:lnTo>
                        <a:pt x="84" y="38"/>
                      </a:lnTo>
                      <a:lnTo>
                        <a:pt x="85" y="43"/>
                      </a:lnTo>
                      <a:lnTo>
                        <a:pt x="76" y="53"/>
                      </a:lnTo>
                      <a:lnTo>
                        <a:pt x="74" y="62"/>
                      </a:lnTo>
                      <a:lnTo>
                        <a:pt x="62" y="57"/>
                      </a:lnTo>
                      <a:lnTo>
                        <a:pt x="57" y="57"/>
                      </a:lnTo>
                      <a:lnTo>
                        <a:pt x="50" y="62"/>
                      </a:lnTo>
                      <a:lnTo>
                        <a:pt x="40" y="64"/>
                      </a:lnTo>
                      <a:lnTo>
                        <a:pt x="29" y="61"/>
                      </a:lnTo>
                      <a:lnTo>
                        <a:pt x="23" y="57"/>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2" name="Freeform 10"/>
                <p:cNvSpPr>
                  <a:spLocks/>
                </p:cNvSpPr>
                <p:nvPr/>
              </p:nvSpPr>
              <p:spPr bwMode="gray">
                <a:xfrm>
                  <a:off x="4737101" y="6242051"/>
                  <a:ext cx="233363" cy="147638"/>
                </a:xfrm>
                <a:custGeom>
                  <a:avLst/>
                  <a:gdLst/>
                  <a:ahLst/>
                  <a:cxnLst>
                    <a:cxn ang="0">
                      <a:pos x="27" y="0"/>
                    </a:cxn>
                    <a:cxn ang="0">
                      <a:pos x="24" y="7"/>
                    </a:cxn>
                    <a:cxn ang="0">
                      <a:pos x="24" y="18"/>
                    </a:cxn>
                    <a:cxn ang="0">
                      <a:pos x="12" y="12"/>
                    </a:cxn>
                    <a:cxn ang="0">
                      <a:pos x="7" y="8"/>
                    </a:cxn>
                    <a:cxn ang="0">
                      <a:pos x="0" y="6"/>
                    </a:cxn>
                    <a:cxn ang="0">
                      <a:pos x="0" y="4"/>
                    </a:cxn>
                    <a:cxn ang="0">
                      <a:pos x="3" y="1"/>
                    </a:cxn>
                    <a:cxn ang="0">
                      <a:pos x="7" y="1"/>
                    </a:cxn>
                    <a:cxn ang="0">
                      <a:pos x="11" y="2"/>
                    </a:cxn>
                    <a:cxn ang="0">
                      <a:pos x="21" y="2"/>
                    </a:cxn>
                    <a:cxn ang="0">
                      <a:pos x="27" y="0"/>
                    </a:cxn>
                  </a:cxnLst>
                  <a:rect l="0" t="0" r="r" b="b"/>
                  <a:pathLst>
                    <a:path w="27" h="18">
                      <a:moveTo>
                        <a:pt x="27" y="0"/>
                      </a:moveTo>
                      <a:lnTo>
                        <a:pt x="24" y="7"/>
                      </a:lnTo>
                      <a:lnTo>
                        <a:pt x="24" y="18"/>
                      </a:lnTo>
                      <a:lnTo>
                        <a:pt x="12" y="12"/>
                      </a:lnTo>
                      <a:lnTo>
                        <a:pt x="7" y="8"/>
                      </a:lnTo>
                      <a:lnTo>
                        <a:pt x="0" y="6"/>
                      </a:lnTo>
                      <a:lnTo>
                        <a:pt x="0" y="4"/>
                      </a:lnTo>
                      <a:lnTo>
                        <a:pt x="3" y="1"/>
                      </a:lnTo>
                      <a:lnTo>
                        <a:pt x="7" y="1"/>
                      </a:lnTo>
                      <a:lnTo>
                        <a:pt x="11" y="2"/>
                      </a:lnTo>
                      <a:lnTo>
                        <a:pt x="21" y="2"/>
                      </a:lnTo>
                      <a:lnTo>
                        <a:pt x="27"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3" name="Freeform 11"/>
                <p:cNvSpPr>
                  <a:spLocks/>
                </p:cNvSpPr>
                <p:nvPr/>
              </p:nvSpPr>
              <p:spPr bwMode="gray">
                <a:xfrm>
                  <a:off x="4879976" y="6421438"/>
                  <a:ext cx="47625" cy="30163"/>
                </a:xfrm>
                <a:custGeom>
                  <a:avLst/>
                  <a:gdLst/>
                  <a:ahLst/>
                  <a:cxnLst>
                    <a:cxn ang="0">
                      <a:pos x="3" y="0"/>
                    </a:cxn>
                    <a:cxn ang="0">
                      <a:pos x="5" y="1"/>
                    </a:cxn>
                    <a:cxn ang="0">
                      <a:pos x="5" y="4"/>
                    </a:cxn>
                    <a:cxn ang="0">
                      <a:pos x="0" y="4"/>
                    </a:cxn>
                    <a:cxn ang="0">
                      <a:pos x="0" y="2"/>
                    </a:cxn>
                    <a:cxn ang="0">
                      <a:pos x="3" y="0"/>
                    </a:cxn>
                  </a:cxnLst>
                  <a:rect l="0" t="0" r="r" b="b"/>
                  <a:pathLst>
                    <a:path w="5" h="4">
                      <a:moveTo>
                        <a:pt x="3" y="0"/>
                      </a:moveTo>
                      <a:lnTo>
                        <a:pt x="5" y="1"/>
                      </a:lnTo>
                      <a:lnTo>
                        <a:pt x="5" y="4"/>
                      </a:lnTo>
                      <a:lnTo>
                        <a:pt x="0" y="4"/>
                      </a:lnTo>
                      <a:lnTo>
                        <a:pt x="0" y="2"/>
                      </a:lnTo>
                      <a:lnTo>
                        <a:pt x="3"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4" name="Freeform 12"/>
                <p:cNvSpPr>
                  <a:spLocks/>
                </p:cNvSpPr>
                <p:nvPr/>
              </p:nvSpPr>
              <p:spPr bwMode="gray">
                <a:xfrm>
                  <a:off x="5838826" y="5818188"/>
                  <a:ext cx="211138" cy="201613"/>
                </a:xfrm>
                <a:custGeom>
                  <a:avLst/>
                  <a:gdLst/>
                  <a:ahLst/>
                  <a:cxnLst>
                    <a:cxn ang="0">
                      <a:pos x="2" y="2"/>
                    </a:cxn>
                    <a:cxn ang="0">
                      <a:pos x="8" y="0"/>
                    </a:cxn>
                    <a:cxn ang="0">
                      <a:pos x="14" y="2"/>
                    </a:cxn>
                    <a:cxn ang="0">
                      <a:pos x="25" y="12"/>
                    </a:cxn>
                    <a:cxn ang="0">
                      <a:pos x="24" y="16"/>
                    </a:cxn>
                    <a:cxn ang="0">
                      <a:pos x="19" y="16"/>
                    </a:cxn>
                    <a:cxn ang="0">
                      <a:pos x="13" y="15"/>
                    </a:cxn>
                    <a:cxn ang="0">
                      <a:pos x="12" y="19"/>
                    </a:cxn>
                    <a:cxn ang="0">
                      <a:pos x="5" y="20"/>
                    </a:cxn>
                    <a:cxn ang="0">
                      <a:pos x="0" y="25"/>
                    </a:cxn>
                    <a:cxn ang="0">
                      <a:pos x="0" y="23"/>
                    </a:cxn>
                    <a:cxn ang="0">
                      <a:pos x="2" y="20"/>
                    </a:cxn>
                    <a:cxn ang="0">
                      <a:pos x="0" y="19"/>
                    </a:cxn>
                    <a:cxn ang="0">
                      <a:pos x="4" y="13"/>
                    </a:cxn>
                    <a:cxn ang="0">
                      <a:pos x="5" y="7"/>
                    </a:cxn>
                    <a:cxn ang="0">
                      <a:pos x="2" y="2"/>
                    </a:cxn>
                  </a:cxnLst>
                  <a:rect l="0" t="0" r="r" b="b"/>
                  <a:pathLst>
                    <a:path w="25" h="25">
                      <a:moveTo>
                        <a:pt x="2" y="2"/>
                      </a:moveTo>
                      <a:lnTo>
                        <a:pt x="8" y="0"/>
                      </a:lnTo>
                      <a:lnTo>
                        <a:pt x="14" y="2"/>
                      </a:lnTo>
                      <a:lnTo>
                        <a:pt x="25" y="12"/>
                      </a:lnTo>
                      <a:lnTo>
                        <a:pt x="24" y="16"/>
                      </a:lnTo>
                      <a:lnTo>
                        <a:pt x="19" y="16"/>
                      </a:lnTo>
                      <a:lnTo>
                        <a:pt x="13" y="15"/>
                      </a:lnTo>
                      <a:lnTo>
                        <a:pt x="12" y="19"/>
                      </a:lnTo>
                      <a:lnTo>
                        <a:pt x="5" y="20"/>
                      </a:lnTo>
                      <a:lnTo>
                        <a:pt x="0" y="25"/>
                      </a:lnTo>
                      <a:lnTo>
                        <a:pt x="0" y="23"/>
                      </a:lnTo>
                      <a:lnTo>
                        <a:pt x="2" y="20"/>
                      </a:lnTo>
                      <a:lnTo>
                        <a:pt x="0" y="19"/>
                      </a:lnTo>
                      <a:lnTo>
                        <a:pt x="4" y="13"/>
                      </a:lnTo>
                      <a:lnTo>
                        <a:pt x="5" y="7"/>
                      </a:lnTo>
                      <a:lnTo>
                        <a:pt x="2" y="2"/>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5" name="Freeform 13"/>
                <p:cNvSpPr>
                  <a:spLocks/>
                </p:cNvSpPr>
                <p:nvPr/>
              </p:nvSpPr>
              <p:spPr bwMode="gray">
                <a:xfrm>
                  <a:off x="5630863" y="6507163"/>
                  <a:ext cx="207963" cy="69850"/>
                </a:xfrm>
                <a:custGeom>
                  <a:avLst/>
                  <a:gdLst/>
                  <a:ahLst/>
                  <a:cxnLst>
                    <a:cxn ang="0">
                      <a:pos x="0" y="2"/>
                    </a:cxn>
                    <a:cxn ang="0">
                      <a:pos x="1" y="0"/>
                    </a:cxn>
                    <a:cxn ang="0">
                      <a:pos x="7" y="0"/>
                    </a:cxn>
                    <a:cxn ang="0">
                      <a:pos x="9" y="2"/>
                    </a:cxn>
                    <a:cxn ang="0">
                      <a:pos x="13" y="2"/>
                    </a:cxn>
                    <a:cxn ang="0">
                      <a:pos x="15" y="3"/>
                    </a:cxn>
                    <a:cxn ang="0">
                      <a:pos x="17" y="2"/>
                    </a:cxn>
                    <a:cxn ang="0">
                      <a:pos x="20" y="2"/>
                    </a:cxn>
                    <a:cxn ang="0">
                      <a:pos x="23" y="4"/>
                    </a:cxn>
                    <a:cxn ang="0">
                      <a:pos x="23" y="6"/>
                    </a:cxn>
                    <a:cxn ang="0">
                      <a:pos x="21" y="7"/>
                    </a:cxn>
                    <a:cxn ang="0">
                      <a:pos x="19" y="8"/>
                    </a:cxn>
                    <a:cxn ang="0">
                      <a:pos x="12" y="8"/>
                    </a:cxn>
                    <a:cxn ang="0">
                      <a:pos x="7" y="5"/>
                    </a:cxn>
                    <a:cxn ang="0">
                      <a:pos x="1" y="5"/>
                    </a:cxn>
                    <a:cxn ang="0">
                      <a:pos x="0" y="2"/>
                    </a:cxn>
                  </a:cxnLst>
                  <a:rect l="0" t="0" r="r" b="b"/>
                  <a:pathLst>
                    <a:path w="23" h="8">
                      <a:moveTo>
                        <a:pt x="0" y="2"/>
                      </a:moveTo>
                      <a:lnTo>
                        <a:pt x="1" y="0"/>
                      </a:lnTo>
                      <a:lnTo>
                        <a:pt x="7" y="0"/>
                      </a:lnTo>
                      <a:lnTo>
                        <a:pt x="9" y="2"/>
                      </a:lnTo>
                      <a:lnTo>
                        <a:pt x="13" y="2"/>
                      </a:lnTo>
                      <a:lnTo>
                        <a:pt x="15" y="3"/>
                      </a:lnTo>
                      <a:lnTo>
                        <a:pt x="17" y="2"/>
                      </a:lnTo>
                      <a:lnTo>
                        <a:pt x="20" y="2"/>
                      </a:lnTo>
                      <a:lnTo>
                        <a:pt x="23" y="4"/>
                      </a:lnTo>
                      <a:lnTo>
                        <a:pt x="23" y="6"/>
                      </a:lnTo>
                      <a:lnTo>
                        <a:pt x="21" y="7"/>
                      </a:lnTo>
                      <a:lnTo>
                        <a:pt x="19" y="8"/>
                      </a:lnTo>
                      <a:lnTo>
                        <a:pt x="12" y="8"/>
                      </a:lnTo>
                      <a:lnTo>
                        <a:pt x="7" y="5"/>
                      </a:lnTo>
                      <a:lnTo>
                        <a:pt x="1" y="5"/>
                      </a:lnTo>
                      <a:lnTo>
                        <a:pt x="0" y="2"/>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6" name="Freeform 14"/>
                <p:cNvSpPr>
                  <a:spLocks/>
                </p:cNvSpPr>
                <p:nvPr/>
              </p:nvSpPr>
              <p:spPr bwMode="gray">
                <a:xfrm>
                  <a:off x="5770563" y="6345238"/>
                  <a:ext cx="33338" cy="28575"/>
                </a:xfrm>
                <a:custGeom>
                  <a:avLst/>
                  <a:gdLst/>
                  <a:ahLst/>
                  <a:cxnLst>
                    <a:cxn ang="0">
                      <a:pos x="0" y="1"/>
                    </a:cxn>
                    <a:cxn ang="0">
                      <a:pos x="2" y="0"/>
                    </a:cxn>
                    <a:cxn ang="0">
                      <a:pos x="4" y="0"/>
                    </a:cxn>
                    <a:cxn ang="0">
                      <a:pos x="5" y="2"/>
                    </a:cxn>
                    <a:cxn ang="0">
                      <a:pos x="2" y="3"/>
                    </a:cxn>
                    <a:cxn ang="0">
                      <a:pos x="0" y="1"/>
                    </a:cxn>
                  </a:cxnLst>
                  <a:rect l="0" t="0" r="r" b="b"/>
                  <a:pathLst>
                    <a:path w="5" h="3">
                      <a:moveTo>
                        <a:pt x="0" y="1"/>
                      </a:moveTo>
                      <a:lnTo>
                        <a:pt x="2" y="0"/>
                      </a:lnTo>
                      <a:lnTo>
                        <a:pt x="4" y="0"/>
                      </a:lnTo>
                      <a:lnTo>
                        <a:pt x="5" y="2"/>
                      </a:lnTo>
                      <a:lnTo>
                        <a:pt x="2" y="3"/>
                      </a:lnTo>
                      <a:lnTo>
                        <a:pt x="0" y="1"/>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7" name="Freeform 15"/>
                <p:cNvSpPr>
                  <a:spLocks/>
                </p:cNvSpPr>
                <p:nvPr/>
              </p:nvSpPr>
              <p:spPr bwMode="gray">
                <a:xfrm>
                  <a:off x="5910263" y="6483351"/>
                  <a:ext cx="33338" cy="38100"/>
                </a:xfrm>
                <a:custGeom>
                  <a:avLst/>
                  <a:gdLst/>
                  <a:ahLst/>
                  <a:cxnLst>
                    <a:cxn ang="0">
                      <a:pos x="0" y="1"/>
                    </a:cxn>
                    <a:cxn ang="0">
                      <a:pos x="2" y="0"/>
                    </a:cxn>
                    <a:cxn ang="0">
                      <a:pos x="3" y="1"/>
                    </a:cxn>
                    <a:cxn ang="0">
                      <a:pos x="4" y="3"/>
                    </a:cxn>
                    <a:cxn ang="0">
                      <a:pos x="1" y="4"/>
                    </a:cxn>
                    <a:cxn ang="0">
                      <a:pos x="0" y="1"/>
                    </a:cxn>
                  </a:cxnLst>
                  <a:rect l="0" t="0" r="r" b="b"/>
                  <a:pathLst>
                    <a:path w="4" h="4">
                      <a:moveTo>
                        <a:pt x="0" y="1"/>
                      </a:moveTo>
                      <a:lnTo>
                        <a:pt x="2" y="0"/>
                      </a:lnTo>
                      <a:lnTo>
                        <a:pt x="3" y="1"/>
                      </a:lnTo>
                      <a:lnTo>
                        <a:pt x="4" y="3"/>
                      </a:lnTo>
                      <a:lnTo>
                        <a:pt x="1" y="4"/>
                      </a:lnTo>
                      <a:lnTo>
                        <a:pt x="0" y="1"/>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8" name="Freeform 16"/>
                <p:cNvSpPr>
                  <a:spLocks/>
                </p:cNvSpPr>
                <p:nvPr/>
              </p:nvSpPr>
              <p:spPr bwMode="gray">
                <a:xfrm>
                  <a:off x="3854451" y="5727701"/>
                  <a:ext cx="31750" cy="26988"/>
                </a:xfrm>
                <a:custGeom>
                  <a:avLst/>
                  <a:gdLst/>
                  <a:ahLst/>
                  <a:cxnLst>
                    <a:cxn ang="0">
                      <a:pos x="0" y="2"/>
                    </a:cxn>
                    <a:cxn ang="0">
                      <a:pos x="1" y="1"/>
                    </a:cxn>
                    <a:cxn ang="0">
                      <a:pos x="3" y="0"/>
                    </a:cxn>
                    <a:cxn ang="0">
                      <a:pos x="4" y="1"/>
                    </a:cxn>
                    <a:cxn ang="0">
                      <a:pos x="3" y="3"/>
                    </a:cxn>
                    <a:cxn ang="0">
                      <a:pos x="0" y="2"/>
                    </a:cxn>
                  </a:cxnLst>
                  <a:rect l="0" t="0" r="r" b="b"/>
                  <a:pathLst>
                    <a:path w="4" h="3">
                      <a:moveTo>
                        <a:pt x="0" y="2"/>
                      </a:moveTo>
                      <a:lnTo>
                        <a:pt x="1" y="1"/>
                      </a:lnTo>
                      <a:lnTo>
                        <a:pt x="3" y="0"/>
                      </a:lnTo>
                      <a:lnTo>
                        <a:pt x="4" y="1"/>
                      </a:lnTo>
                      <a:lnTo>
                        <a:pt x="3" y="3"/>
                      </a:lnTo>
                      <a:lnTo>
                        <a:pt x="0" y="2"/>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19" name="Freeform 17"/>
                <p:cNvSpPr>
                  <a:spLocks/>
                </p:cNvSpPr>
                <p:nvPr/>
              </p:nvSpPr>
              <p:spPr bwMode="gray">
                <a:xfrm>
                  <a:off x="4843463" y="5300663"/>
                  <a:ext cx="438150" cy="477838"/>
                </a:xfrm>
                <a:custGeom>
                  <a:avLst/>
                  <a:gdLst/>
                  <a:ahLst/>
                  <a:cxnLst>
                    <a:cxn ang="0">
                      <a:pos x="43" y="59"/>
                    </a:cxn>
                    <a:cxn ang="0">
                      <a:pos x="37" y="57"/>
                    </a:cxn>
                    <a:cxn ang="0">
                      <a:pos x="35" y="52"/>
                    </a:cxn>
                    <a:cxn ang="0">
                      <a:pos x="27" y="47"/>
                    </a:cxn>
                    <a:cxn ang="0">
                      <a:pos x="20" y="42"/>
                    </a:cxn>
                    <a:cxn ang="0">
                      <a:pos x="15" y="36"/>
                    </a:cxn>
                    <a:cxn ang="0">
                      <a:pos x="14" y="31"/>
                    </a:cxn>
                    <a:cxn ang="0">
                      <a:pos x="11" y="28"/>
                    </a:cxn>
                    <a:cxn ang="0">
                      <a:pos x="8" y="22"/>
                    </a:cxn>
                    <a:cxn ang="0">
                      <a:pos x="5" y="24"/>
                    </a:cxn>
                    <a:cxn ang="0">
                      <a:pos x="3" y="28"/>
                    </a:cxn>
                    <a:cxn ang="0">
                      <a:pos x="0" y="21"/>
                    </a:cxn>
                    <a:cxn ang="0">
                      <a:pos x="2" y="17"/>
                    </a:cxn>
                    <a:cxn ang="0">
                      <a:pos x="3" y="14"/>
                    </a:cxn>
                    <a:cxn ang="0">
                      <a:pos x="18" y="13"/>
                    </a:cxn>
                    <a:cxn ang="0">
                      <a:pos x="22" y="6"/>
                    </a:cxn>
                    <a:cxn ang="0">
                      <a:pos x="22" y="2"/>
                    </a:cxn>
                    <a:cxn ang="0">
                      <a:pos x="26" y="0"/>
                    </a:cxn>
                    <a:cxn ang="0">
                      <a:pos x="31" y="1"/>
                    </a:cxn>
                    <a:cxn ang="0">
                      <a:pos x="35" y="10"/>
                    </a:cxn>
                    <a:cxn ang="0">
                      <a:pos x="48" y="12"/>
                    </a:cxn>
                    <a:cxn ang="0">
                      <a:pos x="51" y="22"/>
                    </a:cxn>
                    <a:cxn ang="0">
                      <a:pos x="39" y="23"/>
                    </a:cxn>
                    <a:cxn ang="0">
                      <a:pos x="32" y="18"/>
                    </a:cxn>
                    <a:cxn ang="0">
                      <a:pos x="28" y="20"/>
                    </a:cxn>
                    <a:cxn ang="0">
                      <a:pos x="27" y="25"/>
                    </a:cxn>
                    <a:cxn ang="0">
                      <a:pos x="24" y="24"/>
                    </a:cxn>
                    <a:cxn ang="0">
                      <a:pos x="21" y="26"/>
                    </a:cxn>
                    <a:cxn ang="0">
                      <a:pos x="23" y="35"/>
                    </a:cxn>
                    <a:cxn ang="0">
                      <a:pos x="30" y="42"/>
                    </a:cxn>
                    <a:cxn ang="0">
                      <a:pos x="38" y="50"/>
                    </a:cxn>
                    <a:cxn ang="0">
                      <a:pos x="39" y="55"/>
                    </a:cxn>
                    <a:cxn ang="0">
                      <a:pos x="43" y="57"/>
                    </a:cxn>
                    <a:cxn ang="0">
                      <a:pos x="43" y="59"/>
                    </a:cxn>
                  </a:cxnLst>
                  <a:rect l="0" t="0" r="r" b="b"/>
                  <a:pathLst>
                    <a:path w="51" h="59">
                      <a:moveTo>
                        <a:pt x="43" y="59"/>
                      </a:moveTo>
                      <a:lnTo>
                        <a:pt x="37" y="57"/>
                      </a:lnTo>
                      <a:lnTo>
                        <a:pt x="35" y="52"/>
                      </a:lnTo>
                      <a:lnTo>
                        <a:pt x="27" y="47"/>
                      </a:lnTo>
                      <a:lnTo>
                        <a:pt x="20" y="42"/>
                      </a:lnTo>
                      <a:lnTo>
                        <a:pt x="15" y="36"/>
                      </a:lnTo>
                      <a:lnTo>
                        <a:pt x="14" y="31"/>
                      </a:lnTo>
                      <a:lnTo>
                        <a:pt x="11" y="28"/>
                      </a:lnTo>
                      <a:lnTo>
                        <a:pt x="8" y="22"/>
                      </a:lnTo>
                      <a:lnTo>
                        <a:pt x="5" y="24"/>
                      </a:lnTo>
                      <a:lnTo>
                        <a:pt x="3" y="28"/>
                      </a:lnTo>
                      <a:lnTo>
                        <a:pt x="0" y="21"/>
                      </a:lnTo>
                      <a:lnTo>
                        <a:pt x="2" y="17"/>
                      </a:lnTo>
                      <a:lnTo>
                        <a:pt x="3" y="14"/>
                      </a:lnTo>
                      <a:lnTo>
                        <a:pt x="18" y="13"/>
                      </a:lnTo>
                      <a:lnTo>
                        <a:pt x="22" y="6"/>
                      </a:lnTo>
                      <a:lnTo>
                        <a:pt x="22" y="2"/>
                      </a:lnTo>
                      <a:lnTo>
                        <a:pt x="26" y="0"/>
                      </a:lnTo>
                      <a:lnTo>
                        <a:pt x="31" y="1"/>
                      </a:lnTo>
                      <a:lnTo>
                        <a:pt x="35" y="10"/>
                      </a:lnTo>
                      <a:lnTo>
                        <a:pt x="48" y="12"/>
                      </a:lnTo>
                      <a:lnTo>
                        <a:pt x="51" y="22"/>
                      </a:lnTo>
                      <a:lnTo>
                        <a:pt x="39" y="23"/>
                      </a:lnTo>
                      <a:lnTo>
                        <a:pt x="32" y="18"/>
                      </a:lnTo>
                      <a:lnTo>
                        <a:pt x="28" y="20"/>
                      </a:lnTo>
                      <a:lnTo>
                        <a:pt x="27" y="25"/>
                      </a:lnTo>
                      <a:lnTo>
                        <a:pt x="24" y="24"/>
                      </a:lnTo>
                      <a:lnTo>
                        <a:pt x="21" y="26"/>
                      </a:lnTo>
                      <a:lnTo>
                        <a:pt x="23" y="35"/>
                      </a:lnTo>
                      <a:lnTo>
                        <a:pt x="30" y="42"/>
                      </a:lnTo>
                      <a:lnTo>
                        <a:pt x="38" y="50"/>
                      </a:lnTo>
                      <a:lnTo>
                        <a:pt x="39" y="55"/>
                      </a:lnTo>
                      <a:lnTo>
                        <a:pt x="43" y="57"/>
                      </a:lnTo>
                      <a:lnTo>
                        <a:pt x="43" y="59"/>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0" name="Freeform 18"/>
                <p:cNvSpPr>
                  <a:spLocks/>
                </p:cNvSpPr>
                <p:nvPr/>
              </p:nvSpPr>
              <p:spPr bwMode="gray">
                <a:xfrm>
                  <a:off x="5024438" y="5440363"/>
                  <a:ext cx="279400" cy="319088"/>
                </a:xfrm>
                <a:custGeom>
                  <a:avLst/>
                  <a:gdLst/>
                  <a:ahLst/>
                  <a:cxnLst>
                    <a:cxn ang="0">
                      <a:pos x="22" y="39"/>
                    </a:cxn>
                    <a:cxn ang="0">
                      <a:pos x="18" y="37"/>
                    </a:cxn>
                    <a:cxn ang="0">
                      <a:pos x="17" y="32"/>
                    </a:cxn>
                    <a:cxn ang="0">
                      <a:pos x="9" y="24"/>
                    </a:cxn>
                    <a:cxn ang="0">
                      <a:pos x="2" y="17"/>
                    </a:cxn>
                    <a:cxn ang="0">
                      <a:pos x="0" y="8"/>
                    </a:cxn>
                    <a:cxn ang="0">
                      <a:pos x="3" y="6"/>
                    </a:cxn>
                    <a:cxn ang="0">
                      <a:pos x="6" y="7"/>
                    </a:cxn>
                    <a:cxn ang="0">
                      <a:pos x="7" y="2"/>
                    </a:cxn>
                    <a:cxn ang="0">
                      <a:pos x="11" y="0"/>
                    </a:cxn>
                    <a:cxn ang="0">
                      <a:pos x="18" y="5"/>
                    </a:cxn>
                    <a:cxn ang="0">
                      <a:pos x="30" y="4"/>
                    </a:cxn>
                    <a:cxn ang="0">
                      <a:pos x="32" y="12"/>
                    </a:cxn>
                    <a:cxn ang="0">
                      <a:pos x="32" y="25"/>
                    </a:cxn>
                    <a:cxn ang="0">
                      <a:pos x="25" y="35"/>
                    </a:cxn>
                    <a:cxn ang="0">
                      <a:pos x="22" y="39"/>
                    </a:cxn>
                  </a:cxnLst>
                  <a:rect l="0" t="0" r="r" b="b"/>
                  <a:pathLst>
                    <a:path w="32" h="39">
                      <a:moveTo>
                        <a:pt x="22" y="39"/>
                      </a:moveTo>
                      <a:lnTo>
                        <a:pt x="18" y="37"/>
                      </a:lnTo>
                      <a:lnTo>
                        <a:pt x="17" y="32"/>
                      </a:lnTo>
                      <a:lnTo>
                        <a:pt x="9" y="24"/>
                      </a:lnTo>
                      <a:lnTo>
                        <a:pt x="2" y="17"/>
                      </a:lnTo>
                      <a:lnTo>
                        <a:pt x="0" y="8"/>
                      </a:lnTo>
                      <a:lnTo>
                        <a:pt x="3" y="6"/>
                      </a:lnTo>
                      <a:lnTo>
                        <a:pt x="6" y="7"/>
                      </a:lnTo>
                      <a:lnTo>
                        <a:pt x="7" y="2"/>
                      </a:lnTo>
                      <a:lnTo>
                        <a:pt x="11" y="0"/>
                      </a:lnTo>
                      <a:lnTo>
                        <a:pt x="18" y="5"/>
                      </a:lnTo>
                      <a:lnTo>
                        <a:pt x="30" y="4"/>
                      </a:lnTo>
                      <a:lnTo>
                        <a:pt x="32" y="12"/>
                      </a:lnTo>
                      <a:lnTo>
                        <a:pt x="32" y="25"/>
                      </a:lnTo>
                      <a:lnTo>
                        <a:pt x="25" y="35"/>
                      </a:lnTo>
                      <a:lnTo>
                        <a:pt x="22" y="39"/>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1" name="Freeform 19"/>
                <p:cNvSpPr>
                  <a:spLocks/>
                </p:cNvSpPr>
                <p:nvPr/>
              </p:nvSpPr>
              <p:spPr bwMode="gray">
                <a:xfrm>
                  <a:off x="5216526" y="5340351"/>
                  <a:ext cx="376238" cy="495300"/>
                </a:xfrm>
                <a:custGeom>
                  <a:avLst/>
                  <a:gdLst/>
                  <a:ahLst/>
                  <a:cxnLst>
                    <a:cxn ang="0">
                      <a:pos x="19" y="1"/>
                    </a:cxn>
                    <a:cxn ang="0">
                      <a:pos x="24" y="10"/>
                    </a:cxn>
                    <a:cxn ang="0">
                      <a:pos x="25" y="21"/>
                    </a:cxn>
                    <a:cxn ang="0">
                      <a:pos x="37" y="23"/>
                    </a:cxn>
                    <a:cxn ang="0">
                      <a:pos x="42" y="30"/>
                    </a:cxn>
                    <a:cxn ang="0">
                      <a:pos x="39" y="37"/>
                    </a:cxn>
                    <a:cxn ang="0">
                      <a:pos x="44" y="43"/>
                    </a:cxn>
                    <a:cxn ang="0">
                      <a:pos x="40" y="51"/>
                    </a:cxn>
                    <a:cxn ang="0">
                      <a:pos x="31" y="55"/>
                    </a:cxn>
                    <a:cxn ang="0">
                      <a:pos x="23" y="61"/>
                    </a:cxn>
                    <a:cxn ang="0">
                      <a:pos x="20" y="53"/>
                    </a:cxn>
                    <a:cxn ang="0">
                      <a:pos x="14" y="51"/>
                    </a:cxn>
                    <a:cxn ang="0">
                      <a:pos x="10" y="54"/>
                    </a:cxn>
                    <a:cxn ang="0">
                      <a:pos x="8" y="60"/>
                    </a:cxn>
                    <a:cxn ang="0">
                      <a:pos x="0" y="54"/>
                    </a:cxn>
                    <a:cxn ang="0">
                      <a:pos x="0" y="52"/>
                    </a:cxn>
                    <a:cxn ang="0">
                      <a:pos x="3" y="48"/>
                    </a:cxn>
                    <a:cxn ang="0">
                      <a:pos x="10" y="38"/>
                    </a:cxn>
                    <a:cxn ang="0">
                      <a:pos x="10" y="25"/>
                    </a:cxn>
                    <a:cxn ang="0">
                      <a:pos x="8" y="17"/>
                    </a:cxn>
                    <a:cxn ang="0">
                      <a:pos x="5" y="7"/>
                    </a:cxn>
                    <a:cxn ang="0">
                      <a:pos x="6" y="4"/>
                    </a:cxn>
                    <a:cxn ang="0">
                      <a:pos x="17" y="0"/>
                    </a:cxn>
                    <a:cxn ang="0">
                      <a:pos x="19" y="1"/>
                    </a:cxn>
                  </a:cxnLst>
                  <a:rect l="0" t="0" r="r" b="b"/>
                  <a:pathLst>
                    <a:path w="44" h="61">
                      <a:moveTo>
                        <a:pt x="19" y="1"/>
                      </a:moveTo>
                      <a:lnTo>
                        <a:pt x="24" y="10"/>
                      </a:lnTo>
                      <a:lnTo>
                        <a:pt x="25" y="21"/>
                      </a:lnTo>
                      <a:lnTo>
                        <a:pt x="37" y="23"/>
                      </a:lnTo>
                      <a:lnTo>
                        <a:pt x="42" y="30"/>
                      </a:lnTo>
                      <a:lnTo>
                        <a:pt x="39" y="37"/>
                      </a:lnTo>
                      <a:lnTo>
                        <a:pt x="44" y="43"/>
                      </a:lnTo>
                      <a:lnTo>
                        <a:pt x="40" y="51"/>
                      </a:lnTo>
                      <a:lnTo>
                        <a:pt x="31" y="55"/>
                      </a:lnTo>
                      <a:lnTo>
                        <a:pt x="23" y="61"/>
                      </a:lnTo>
                      <a:lnTo>
                        <a:pt x="20" y="53"/>
                      </a:lnTo>
                      <a:lnTo>
                        <a:pt x="14" y="51"/>
                      </a:lnTo>
                      <a:lnTo>
                        <a:pt x="10" y="54"/>
                      </a:lnTo>
                      <a:lnTo>
                        <a:pt x="8" y="60"/>
                      </a:lnTo>
                      <a:lnTo>
                        <a:pt x="0" y="54"/>
                      </a:lnTo>
                      <a:lnTo>
                        <a:pt x="0" y="52"/>
                      </a:lnTo>
                      <a:lnTo>
                        <a:pt x="3" y="48"/>
                      </a:lnTo>
                      <a:lnTo>
                        <a:pt x="10" y="38"/>
                      </a:lnTo>
                      <a:lnTo>
                        <a:pt x="10" y="25"/>
                      </a:lnTo>
                      <a:lnTo>
                        <a:pt x="8" y="17"/>
                      </a:lnTo>
                      <a:lnTo>
                        <a:pt x="5" y="7"/>
                      </a:lnTo>
                      <a:lnTo>
                        <a:pt x="6" y="4"/>
                      </a:lnTo>
                      <a:lnTo>
                        <a:pt x="17" y="0"/>
                      </a:lnTo>
                      <a:lnTo>
                        <a:pt x="19" y="1"/>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2" name="Freeform 20"/>
                <p:cNvSpPr>
                  <a:spLocks/>
                </p:cNvSpPr>
                <p:nvPr/>
              </p:nvSpPr>
              <p:spPr bwMode="gray">
                <a:xfrm>
                  <a:off x="5395913" y="5754688"/>
                  <a:ext cx="196850" cy="193675"/>
                </a:xfrm>
                <a:custGeom>
                  <a:avLst/>
                  <a:gdLst/>
                  <a:ahLst/>
                  <a:cxnLst>
                    <a:cxn ang="0">
                      <a:pos x="2" y="10"/>
                    </a:cxn>
                    <a:cxn ang="0">
                      <a:pos x="10" y="4"/>
                    </a:cxn>
                    <a:cxn ang="0">
                      <a:pos x="19" y="0"/>
                    </a:cxn>
                    <a:cxn ang="0">
                      <a:pos x="23" y="10"/>
                    </a:cxn>
                    <a:cxn ang="0">
                      <a:pos x="23" y="19"/>
                    </a:cxn>
                    <a:cxn ang="0">
                      <a:pos x="19" y="19"/>
                    </a:cxn>
                    <a:cxn ang="0">
                      <a:pos x="15" y="24"/>
                    </a:cxn>
                    <a:cxn ang="0">
                      <a:pos x="4" y="24"/>
                    </a:cxn>
                    <a:cxn ang="0">
                      <a:pos x="0" y="17"/>
                    </a:cxn>
                    <a:cxn ang="0">
                      <a:pos x="2" y="10"/>
                    </a:cxn>
                  </a:cxnLst>
                  <a:rect l="0" t="0" r="r" b="b"/>
                  <a:pathLst>
                    <a:path w="23" h="24">
                      <a:moveTo>
                        <a:pt x="2" y="10"/>
                      </a:moveTo>
                      <a:lnTo>
                        <a:pt x="10" y="4"/>
                      </a:lnTo>
                      <a:lnTo>
                        <a:pt x="19" y="0"/>
                      </a:lnTo>
                      <a:lnTo>
                        <a:pt x="23" y="10"/>
                      </a:lnTo>
                      <a:lnTo>
                        <a:pt x="23" y="19"/>
                      </a:lnTo>
                      <a:lnTo>
                        <a:pt x="19" y="19"/>
                      </a:lnTo>
                      <a:lnTo>
                        <a:pt x="15" y="24"/>
                      </a:lnTo>
                      <a:lnTo>
                        <a:pt x="4" y="24"/>
                      </a:lnTo>
                      <a:lnTo>
                        <a:pt x="0" y="17"/>
                      </a:lnTo>
                      <a:lnTo>
                        <a:pt x="2" y="1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3" name="Freeform 21"/>
                <p:cNvSpPr>
                  <a:spLocks/>
                </p:cNvSpPr>
                <p:nvPr/>
              </p:nvSpPr>
              <p:spPr bwMode="gray">
                <a:xfrm>
                  <a:off x="4445001" y="5703888"/>
                  <a:ext cx="63500" cy="182563"/>
                </a:xfrm>
                <a:custGeom>
                  <a:avLst/>
                  <a:gdLst/>
                  <a:ahLst/>
                  <a:cxnLst>
                    <a:cxn ang="0">
                      <a:pos x="6" y="0"/>
                    </a:cxn>
                    <a:cxn ang="0">
                      <a:pos x="6" y="4"/>
                    </a:cxn>
                    <a:cxn ang="0">
                      <a:pos x="7" y="8"/>
                    </a:cxn>
                    <a:cxn ang="0">
                      <a:pos x="5" y="20"/>
                    </a:cxn>
                    <a:cxn ang="0">
                      <a:pos x="2" y="22"/>
                    </a:cxn>
                    <a:cxn ang="0">
                      <a:pos x="0" y="19"/>
                    </a:cxn>
                    <a:cxn ang="0">
                      <a:pos x="0" y="10"/>
                    </a:cxn>
                    <a:cxn ang="0">
                      <a:pos x="1" y="7"/>
                    </a:cxn>
                    <a:cxn ang="0">
                      <a:pos x="5" y="4"/>
                    </a:cxn>
                    <a:cxn ang="0">
                      <a:pos x="5" y="0"/>
                    </a:cxn>
                    <a:cxn ang="0">
                      <a:pos x="6" y="0"/>
                    </a:cxn>
                  </a:cxnLst>
                  <a:rect l="0" t="0" r="r" b="b"/>
                  <a:pathLst>
                    <a:path w="7" h="22">
                      <a:moveTo>
                        <a:pt x="6" y="0"/>
                      </a:moveTo>
                      <a:lnTo>
                        <a:pt x="6" y="4"/>
                      </a:lnTo>
                      <a:lnTo>
                        <a:pt x="7" y="8"/>
                      </a:lnTo>
                      <a:lnTo>
                        <a:pt x="5" y="20"/>
                      </a:lnTo>
                      <a:lnTo>
                        <a:pt x="2" y="22"/>
                      </a:lnTo>
                      <a:lnTo>
                        <a:pt x="0" y="19"/>
                      </a:lnTo>
                      <a:lnTo>
                        <a:pt x="0" y="10"/>
                      </a:lnTo>
                      <a:lnTo>
                        <a:pt x="1" y="7"/>
                      </a:lnTo>
                      <a:lnTo>
                        <a:pt x="5" y="4"/>
                      </a:lnTo>
                      <a:lnTo>
                        <a:pt x="5" y="0"/>
                      </a:lnTo>
                      <a:lnTo>
                        <a:pt x="6"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4" name="Freeform 22"/>
                <p:cNvSpPr>
                  <a:spLocks/>
                </p:cNvSpPr>
                <p:nvPr/>
              </p:nvSpPr>
              <p:spPr bwMode="gray">
                <a:xfrm>
                  <a:off x="3870326" y="6151563"/>
                  <a:ext cx="42863" cy="30163"/>
                </a:xfrm>
                <a:custGeom>
                  <a:avLst/>
                  <a:gdLst/>
                  <a:ahLst/>
                  <a:cxnLst>
                    <a:cxn ang="0">
                      <a:pos x="0" y="4"/>
                    </a:cxn>
                    <a:cxn ang="0">
                      <a:pos x="0" y="3"/>
                    </a:cxn>
                    <a:cxn ang="0">
                      <a:pos x="3" y="0"/>
                    </a:cxn>
                    <a:cxn ang="0">
                      <a:pos x="5" y="0"/>
                    </a:cxn>
                    <a:cxn ang="0">
                      <a:pos x="3" y="3"/>
                    </a:cxn>
                    <a:cxn ang="0">
                      <a:pos x="0" y="4"/>
                    </a:cxn>
                  </a:cxnLst>
                  <a:rect l="0" t="0" r="r" b="b"/>
                  <a:pathLst>
                    <a:path w="5" h="4">
                      <a:moveTo>
                        <a:pt x="0" y="4"/>
                      </a:moveTo>
                      <a:lnTo>
                        <a:pt x="0" y="3"/>
                      </a:lnTo>
                      <a:lnTo>
                        <a:pt x="3" y="0"/>
                      </a:lnTo>
                      <a:lnTo>
                        <a:pt x="5" y="0"/>
                      </a:lnTo>
                      <a:lnTo>
                        <a:pt x="3" y="3"/>
                      </a:lnTo>
                      <a:lnTo>
                        <a:pt x="0" y="4"/>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5" name="Freeform 23"/>
                <p:cNvSpPr>
                  <a:spLocks/>
                </p:cNvSpPr>
                <p:nvPr/>
              </p:nvSpPr>
              <p:spPr bwMode="gray">
                <a:xfrm>
                  <a:off x="3952876" y="6097588"/>
                  <a:ext cx="69850" cy="53975"/>
                </a:xfrm>
                <a:custGeom>
                  <a:avLst/>
                  <a:gdLst/>
                  <a:ahLst/>
                  <a:cxnLst>
                    <a:cxn ang="0">
                      <a:pos x="0" y="5"/>
                    </a:cxn>
                    <a:cxn ang="0">
                      <a:pos x="0" y="0"/>
                    </a:cxn>
                    <a:cxn ang="0">
                      <a:pos x="6" y="0"/>
                    </a:cxn>
                    <a:cxn ang="0">
                      <a:pos x="8" y="2"/>
                    </a:cxn>
                    <a:cxn ang="0">
                      <a:pos x="7" y="5"/>
                    </a:cxn>
                    <a:cxn ang="0">
                      <a:pos x="2" y="7"/>
                    </a:cxn>
                    <a:cxn ang="0">
                      <a:pos x="0" y="5"/>
                    </a:cxn>
                  </a:cxnLst>
                  <a:rect l="0" t="0" r="r" b="b"/>
                  <a:pathLst>
                    <a:path w="8" h="7">
                      <a:moveTo>
                        <a:pt x="0" y="5"/>
                      </a:moveTo>
                      <a:lnTo>
                        <a:pt x="0" y="0"/>
                      </a:lnTo>
                      <a:lnTo>
                        <a:pt x="6" y="0"/>
                      </a:lnTo>
                      <a:lnTo>
                        <a:pt x="8" y="2"/>
                      </a:lnTo>
                      <a:lnTo>
                        <a:pt x="7" y="5"/>
                      </a:lnTo>
                      <a:lnTo>
                        <a:pt x="2" y="7"/>
                      </a:lnTo>
                      <a:lnTo>
                        <a:pt x="0" y="5"/>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6" name="Freeform 24"/>
                <p:cNvSpPr>
                  <a:spLocks/>
                </p:cNvSpPr>
                <p:nvPr/>
              </p:nvSpPr>
              <p:spPr bwMode="gray">
                <a:xfrm>
                  <a:off x="4049713" y="6048376"/>
                  <a:ext cx="41275" cy="31750"/>
                </a:xfrm>
                <a:custGeom>
                  <a:avLst/>
                  <a:gdLst/>
                  <a:ahLst/>
                  <a:cxnLst>
                    <a:cxn ang="0">
                      <a:pos x="0" y="4"/>
                    </a:cxn>
                    <a:cxn ang="0">
                      <a:pos x="0" y="2"/>
                    </a:cxn>
                    <a:cxn ang="0">
                      <a:pos x="3" y="0"/>
                    </a:cxn>
                    <a:cxn ang="0">
                      <a:pos x="5" y="1"/>
                    </a:cxn>
                    <a:cxn ang="0">
                      <a:pos x="5" y="4"/>
                    </a:cxn>
                    <a:cxn ang="0">
                      <a:pos x="0" y="4"/>
                    </a:cxn>
                  </a:cxnLst>
                  <a:rect l="0" t="0" r="r" b="b"/>
                  <a:pathLst>
                    <a:path w="5" h="4">
                      <a:moveTo>
                        <a:pt x="0" y="4"/>
                      </a:moveTo>
                      <a:lnTo>
                        <a:pt x="0" y="2"/>
                      </a:lnTo>
                      <a:lnTo>
                        <a:pt x="3" y="0"/>
                      </a:lnTo>
                      <a:lnTo>
                        <a:pt x="5" y="1"/>
                      </a:lnTo>
                      <a:lnTo>
                        <a:pt x="5" y="4"/>
                      </a:lnTo>
                      <a:lnTo>
                        <a:pt x="0" y="4"/>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7" name="Freeform 25"/>
                <p:cNvSpPr>
                  <a:spLocks/>
                </p:cNvSpPr>
                <p:nvPr/>
              </p:nvSpPr>
              <p:spPr bwMode="gray">
                <a:xfrm>
                  <a:off x="3387726" y="4749801"/>
                  <a:ext cx="1031875" cy="1016000"/>
                </a:xfrm>
                <a:custGeom>
                  <a:avLst/>
                  <a:gdLst/>
                  <a:ahLst/>
                  <a:cxnLst>
                    <a:cxn ang="0">
                      <a:pos x="60" y="125"/>
                    </a:cxn>
                    <a:cxn ang="0">
                      <a:pos x="57" y="121"/>
                    </a:cxn>
                    <a:cxn ang="0">
                      <a:pos x="54" y="121"/>
                    </a:cxn>
                    <a:cxn ang="0">
                      <a:pos x="41" y="123"/>
                    </a:cxn>
                    <a:cxn ang="0">
                      <a:pos x="35" y="120"/>
                    </a:cxn>
                    <a:cxn ang="0">
                      <a:pos x="31" y="107"/>
                    </a:cxn>
                    <a:cxn ang="0">
                      <a:pos x="33" y="92"/>
                    </a:cxn>
                    <a:cxn ang="0">
                      <a:pos x="35" y="91"/>
                    </a:cxn>
                    <a:cxn ang="0">
                      <a:pos x="31" y="85"/>
                    </a:cxn>
                    <a:cxn ang="0">
                      <a:pos x="32" y="77"/>
                    </a:cxn>
                    <a:cxn ang="0">
                      <a:pos x="23" y="66"/>
                    </a:cxn>
                    <a:cxn ang="0">
                      <a:pos x="21" y="57"/>
                    </a:cxn>
                    <a:cxn ang="0">
                      <a:pos x="16" y="54"/>
                    </a:cxn>
                    <a:cxn ang="0">
                      <a:pos x="6" y="52"/>
                    </a:cxn>
                    <a:cxn ang="0">
                      <a:pos x="2" y="46"/>
                    </a:cxn>
                    <a:cxn ang="0">
                      <a:pos x="2" y="39"/>
                    </a:cxn>
                    <a:cxn ang="0">
                      <a:pos x="11" y="36"/>
                    </a:cxn>
                    <a:cxn ang="0">
                      <a:pos x="20" y="40"/>
                    </a:cxn>
                    <a:cxn ang="0">
                      <a:pos x="27" y="40"/>
                    </a:cxn>
                    <a:cxn ang="0">
                      <a:pos x="28" y="32"/>
                    </a:cxn>
                    <a:cxn ang="0">
                      <a:pos x="24" y="23"/>
                    </a:cxn>
                    <a:cxn ang="0">
                      <a:pos x="33" y="27"/>
                    </a:cxn>
                    <a:cxn ang="0">
                      <a:pos x="41" y="24"/>
                    </a:cxn>
                    <a:cxn ang="0">
                      <a:pos x="55" y="15"/>
                    </a:cxn>
                    <a:cxn ang="0">
                      <a:pos x="65" y="0"/>
                    </a:cxn>
                    <a:cxn ang="0">
                      <a:pos x="80" y="15"/>
                    </a:cxn>
                    <a:cxn ang="0">
                      <a:pos x="90" y="19"/>
                    </a:cxn>
                    <a:cxn ang="0">
                      <a:pos x="103" y="27"/>
                    </a:cxn>
                    <a:cxn ang="0">
                      <a:pos x="119" y="29"/>
                    </a:cxn>
                    <a:cxn ang="0">
                      <a:pos x="111" y="55"/>
                    </a:cxn>
                    <a:cxn ang="0">
                      <a:pos x="104" y="59"/>
                    </a:cxn>
                    <a:cxn ang="0">
                      <a:pos x="101" y="64"/>
                    </a:cxn>
                    <a:cxn ang="0">
                      <a:pos x="95" y="74"/>
                    </a:cxn>
                    <a:cxn ang="0">
                      <a:pos x="101" y="74"/>
                    </a:cxn>
                    <a:cxn ang="0">
                      <a:pos x="103" y="80"/>
                    </a:cxn>
                    <a:cxn ang="0">
                      <a:pos x="106" y="101"/>
                    </a:cxn>
                    <a:cxn ang="0">
                      <a:pos x="115" y="107"/>
                    </a:cxn>
                    <a:cxn ang="0">
                      <a:pos x="105" y="112"/>
                    </a:cxn>
                    <a:cxn ang="0">
                      <a:pos x="96" y="117"/>
                    </a:cxn>
                    <a:cxn ang="0">
                      <a:pos x="86" y="116"/>
                    </a:cxn>
                    <a:cxn ang="0">
                      <a:pos x="72" y="117"/>
                    </a:cxn>
                  </a:cxnLst>
                  <a:rect l="0" t="0" r="r" b="b"/>
                  <a:pathLst>
                    <a:path w="119" h="125">
                      <a:moveTo>
                        <a:pt x="70" y="125"/>
                      </a:moveTo>
                      <a:lnTo>
                        <a:pt x="60" y="125"/>
                      </a:lnTo>
                      <a:lnTo>
                        <a:pt x="56" y="123"/>
                      </a:lnTo>
                      <a:lnTo>
                        <a:pt x="57" y="121"/>
                      </a:lnTo>
                      <a:lnTo>
                        <a:pt x="56" y="120"/>
                      </a:lnTo>
                      <a:lnTo>
                        <a:pt x="54" y="121"/>
                      </a:lnTo>
                      <a:lnTo>
                        <a:pt x="53" y="122"/>
                      </a:lnTo>
                      <a:lnTo>
                        <a:pt x="41" y="123"/>
                      </a:lnTo>
                      <a:lnTo>
                        <a:pt x="38" y="120"/>
                      </a:lnTo>
                      <a:lnTo>
                        <a:pt x="35" y="120"/>
                      </a:lnTo>
                      <a:lnTo>
                        <a:pt x="28" y="115"/>
                      </a:lnTo>
                      <a:lnTo>
                        <a:pt x="31" y="107"/>
                      </a:lnTo>
                      <a:lnTo>
                        <a:pt x="33" y="99"/>
                      </a:lnTo>
                      <a:lnTo>
                        <a:pt x="33" y="92"/>
                      </a:lnTo>
                      <a:lnTo>
                        <a:pt x="36" y="95"/>
                      </a:lnTo>
                      <a:lnTo>
                        <a:pt x="35" y="91"/>
                      </a:lnTo>
                      <a:lnTo>
                        <a:pt x="32" y="90"/>
                      </a:lnTo>
                      <a:lnTo>
                        <a:pt x="31" y="85"/>
                      </a:lnTo>
                      <a:lnTo>
                        <a:pt x="30" y="78"/>
                      </a:lnTo>
                      <a:lnTo>
                        <a:pt x="32" y="77"/>
                      </a:lnTo>
                      <a:lnTo>
                        <a:pt x="32" y="73"/>
                      </a:lnTo>
                      <a:lnTo>
                        <a:pt x="23" y="66"/>
                      </a:lnTo>
                      <a:lnTo>
                        <a:pt x="25" y="61"/>
                      </a:lnTo>
                      <a:lnTo>
                        <a:pt x="21" y="57"/>
                      </a:lnTo>
                      <a:lnTo>
                        <a:pt x="17" y="57"/>
                      </a:lnTo>
                      <a:lnTo>
                        <a:pt x="16" y="54"/>
                      </a:lnTo>
                      <a:lnTo>
                        <a:pt x="11" y="53"/>
                      </a:lnTo>
                      <a:lnTo>
                        <a:pt x="6" y="52"/>
                      </a:lnTo>
                      <a:lnTo>
                        <a:pt x="2" y="49"/>
                      </a:lnTo>
                      <a:lnTo>
                        <a:pt x="2" y="46"/>
                      </a:lnTo>
                      <a:lnTo>
                        <a:pt x="0" y="43"/>
                      </a:lnTo>
                      <a:lnTo>
                        <a:pt x="2" y="39"/>
                      </a:lnTo>
                      <a:lnTo>
                        <a:pt x="7" y="40"/>
                      </a:lnTo>
                      <a:lnTo>
                        <a:pt x="11" y="36"/>
                      </a:lnTo>
                      <a:lnTo>
                        <a:pt x="14" y="37"/>
                      </a:lnTo>
                      <a:lnTo>
                        <a:pt x="20" y="40"/>
                      </a:lnTo>
                      <a:lnTo>
                        <a:pt x="23" y="38"/>
                      </a:lnTo>
                      <a:lnTo>
                        <a:pt x="27" y="40"/>
                      </a:lnTo>
                      <a:lnTo>
                        <a:pt x="30" y="36"/>
                      </a:lnTo>
                      <a:lnTo>
                        <a:pt x="28" y="32"/>
                      </a:lnTo>
                      <a:lnTo>
                        <a:pt x="24" y="26"/>
                      </a:lnTo>
                      <a:lnTo>
                        <a:pt x="24" y="23"/>
                      </a:lnTo>
                      <a:lnTo>
                        <a:pt x="30" y="23"/>
                      </a:lnTo>
                      <a:lnTo>
                        <a:pt x="33" y="27"/>
                      </a:lnTo>
                      <a:lnTo>
                        <a:pt x="41" y="27"/>
                      </a:lnTo>
                      <a:lnTo>
                        <a:pt x="41" y="24"/>
                      </a:lnTo>
                      <a:lnTo>
                        <a:pt x="47" y="21"/>
                      </a:lnTo>
                      <a:lnTo>
                        <a:pt x="55" y="15"/>
                      </a:lnTo>
                      <a:lnTo>
                        <a:pt x="58" y="2"/>
                      </a:lnTo>
                      <a:lnTo>
                        <a:pt x="65" y="0"/>
                      </a:lnTo>
                      <a:lnTo>
                        <a:pt x="72" y="9"/>
                      </a:lnTo>
                      <a:lnTo>
                        <a:pt x="80" y="15"/>
                      </a:lnTo>
                      <a:lnTo>
                        <a:pt x="84" y="17"/>
                      </a:lnTo>
                      <a:lnTo>
                        <a:pt x="90" y="19"/>
                      </a:lnTo>
                      <a:lnTo>
                        <a:pt x="97" y="25"/>
                      </a:lnTo>
                      <a:lnTo>
                        <a:pt x="103" y="27"/>
                      </a:lnTo>
                      <a:lnTo>
                        <a:pt x="112" y="27"/>
                      </a:lnTo>
                      <a:lnTo>
                        <a:pt x="119" y="29"/>
                      </a:lnTo>
                      <a:lnTo>
                        <a:pt x="114" y="42"/>
                      </a:lnTo>
                      <a:lnTo>
                        <a:pt x="111" y="55"/>
                      </a:lnTo>
                      <a:lnTo>
                        <a:pt x="106" y="54"/>
                      </a:lnTo>
                      <a:lnTo>
                        <a:pt x="104" y="59"/>
                      </a:lnTo>
                      <a:lnTo>
                        <a:pt x="104" y="63"/>
                      </a:lnTo>
                      <a:lnTo>
                        <a:pt x="101" y="64"/>
                      </a:lnTo>
                      <a:lnTo>
                        <a:pt x="99" y="69"/>
                      </a:lnTo>
                      <a:lnTo>
                        <a:pt x="95" y="74"/>
                      </a:lnTo>
                      <a:lnTo>
                        <a:pt x="97" y="77"/>
                      </a:lnTo>
                      <a:lnTo>
                        <a:pt x="101" y="74"/>
                      </a:lnTo>
                      <a:lnTo>
                        <a:pt x="104" y="75"/>
                      </a:lnTo>
                      <a:lnTo>
                        <a:pt x="103" y="80"/>
                      </a:lnTo>
                      <a:lnTo>
                        <a:pt x="104" y="91"/>
                      </a:lnTo>
                      <a:lnTo>
                        <a:pt x="106" y="101"/>
                      </a:lnTo>
                      <a:lnTo>
                        <a:pt x="111" y="102"/>
                      </a:lnTo>
                      <a:lnTo>
                        <a:pt x="115" y="107"/>
                      </a:lnTo>
                      <a:lnTo>
                        <a:pt x="110" y="111"/>
                      </a:lnTo>
                      <a:lnTo>
                        <a:pt x="105" y="112"/>
                      </a:lnTo>
                      <a:lnTo>
                        <a:pt x="101" y="115"/>
                      </a:lnTo>
                      <a:lnTo>
                        <a:pt x="96" y="117"/>
                      </a:lnTo>
                      <a:lnTo>
                        <a:pt x="91" y="115"/>
                      </a:lnTo>
                      <a:lnTo>
                        <a:pt x="86" y="116"/>
                      </a:lnTo>
                      <a:lnTo>
                        <a:pt x="79" y="112"/>
                      </a:lnTo>
                      <a:lnTo>
                        <a:pt x="72" y="117"/>
                      </a:lnTo>
                      <a:lnTo>
                        <a:pt x="70" y="125"/>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8" name="Freeform 26"/>
                <p:cNvSpPr>
                  <a:spLocks/>
                </p:cNvSpPr>
                <p:nvPr/>
              </p:nvSpPr>
              <p:spPr bwMode="gray">
                <a:xfrm>
                  <a:off x="5502276" y="3663951"/>
                  <a:ext cx="96838" cy="84138"/>
                </a:xfrm>
                <a:custGeom>
                  <a:avLst/>
                  <a:gdLst/>
                  <a:ahLst/>
                  <a:cxnLst>
                    <a:cxn ang="0">
                      <a:pos x="12" y="4"/>
                    </a:cxn>
                    <a:cxn ang="0">
                      <a:pos x="11" y="2"/>
                    </a:cxn>
                    <a:cxn ang="0">
                      <a:pos x="6" y="0"/>
                    </a:cxn>
                    <a:cxn ang="0">
                      <a:pos x="0" y="4"/>
                    </a:cxn>
                    <a:cxn ang="0">
                      <a:pos x="1" y="11"/>
                    </a:cxn>
                    <a:cxn ang="0">
                      <a:pos x="4" y="11"/>
                    </a:cxn>
                    <a:cxn ang="0">
                      <a:pos x="6" y="8"/>
                    </a:cxn>
                    <a:cxn ang="0">
                      <a:pos x="12" y="4"/>
                    </a:cxn>
                  </a:cxnLst>
                  <a:rect l="0" t="0" r="r" b="b"/>
                  <a:pathLst>
                    <a:path w="12" h="11">
                      <a:moveTo>
                        <a:pt x="12" y="4"/>
                      </a:moveTo>
                      <a:lnTo>
                        <a:pt x="11" y="2"/>
                      </a:lnTo>
                      <a:lnTo>
                        <a:pt x="6" y="0"/>
                      </a:lnTo>
                      <a:lnTo>
                        <a:pt x="0" y="4"/>
                      </a:lnTo>
                      <a:lnTo>
                        <a:pt x="1" y="11"/>
                      </a:lnTo>
                      <a:lnTo>
                        <a:pt x="4" y="11"/>
                      </a:lnTo>
                      <a:lnTo>
                        <a:pt x="6" y="8"/>
                      </a:lnTo>
                      <a:lnTo>
                        <a:pt x="12" y="4"/>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29" name="Freeform 27"/>
                <p:cNvSpPr>
                  <a:spLocks noEditPoints="1"/>
                </p:cNvSpPr>
                <p:nvPr/>
              </p:nvSpPr>
              <p:spPr bwMode="gray">
                <a:xfrm>
                  <a:off x="5502276" y="3587751"/>
                  <a:ext cx="96838" cy="160338"/>
                </a:xfrm>
                <a:custGeom>
                  <a:avLst/>
                  <a:gdLst/>
                  <a:ahLst/>
                  <a:cxnLst>
                    <a:cxn ang="0">
                      <a:pos x="1" y="20"/>
                    </a:cxn>
                    <a:cxn ang="0">
                      <a:pos x="4" y="20"/>
                    </a:cxn>
                    <a:cxn ang="0">
                      <a:pos x="6" y="17"/>
                    </a:cxn>
                    <a:cxn ang="0">
                      <a:pos x="12" y="13"/>
                    </a:cxn>
                    <a:cxn ang="0">
                      <a:pos x="11" y="11"/>
                    </a:cxn>
                    <a:cxn ang="0">
                      <a:pos x="6" y="9"/>
                    </a:cxn>
                    <a:cxn ang="0">
                      <a:pos x="0" y="13"/>
                    </a:cxn>
                    <a:cxn ang="0">
                      <a:pos x="1" y="20"/>
                    </a:cxn>
                    <a:cxn ang="0">
                      <a:pos x="8" y="0"/>
                    </a:cxn>
                    <a:cxn ang="0">
                      <a:pos x="5" y="0"/>
                    </a:cxn>
                    <a:cxn ang="0">
                      <a:pos x="2" y="2"/>
                    </a:cxn>
                    <a:cxn ang="0">
                      <a:pos x="4" y="5"/>
                    </a:cxn>
                    <a:cxn ang="0">
                      <a:pos x="8" y="3"/>
                    </a:cxn>
                    <a:cxn ang="0">
                      <a:pos x="8" y="0"/>
                    </a:cxn>
                  </a:cxnLst>
                  <a:rect l="0" t="0" r="r" b="b"/>
                  <a:pathLst>
                    <a:path w="12" h="20">
                      <a:moveTo>
                        <a:pt x="1" y="20"/>
                      </a:moveTo>
                      <a:lnTo>
                        <a:pt x="4" y="20"/>
                      </a:lnTo>
                      <a:lnTo>
                        <a:pt x="6" y="17"/>
                      </a:lnTo>
                      <a:lnTo>
                        <a:pt x="12" y="13"/>
                      </a:lnTo>
                      <a:lnTo>
                        <a:pt x="11" y="11"/>
                      </a:lnTo>
                      <a:lnTo>
                        <a:pt x="6" y="9"/>
                      </a:lnTo>
                      <a:lnTo>
                        <a:pt x="0" y="13"/>
                      </a:lnTo>
                      <a:lnTo>
                        <a:pt x="1" y="20"/>
                      </a:lnTo>
                      <a:close/>
                      <a:moveTo>
                        <a:pt x="8" y="0"/>
                      </a:moveTo>
                      <a:lnTo>
                        <a:pt x="5" y="0"/>
                      </a:lnTo>
                      <a:lnTo>
                        <a:pt x="2" y="2"/>
                      </a:lnTo>
                      <a:lnTo>
                        <a:pt x="4" y="5"/>
                      </a:lnTo>
                      <a:lnTo>
                        <a:pt x="8" y="3"/>
                      </a:lnTo>
                      <a:lnTo>
                        <a:pt x="8"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0" name="Freeform 28"/>
                <p:cNvSpPr>
                  <a:spLocks noEditPoints="1"/>
                </p:cNvSpPr>
                <p:nvPr/>
              </p:nvSpPr>
              <p:spPr bwMode="gray">
                <a:xfrm>
                  <a:off x="3263901" y="3687763"/>
                  <a:ext cx="1663700" cy="1219200"/>
                </a:xfrm>
                <a:custGeom>
                  <a:avLst/>
                  <a:gdLst/>
                  <a:ahLst/>
                  <a:cxnLst>
                    <a:cxn ang="0">
                      <a:pos x="149" y="62"/>
                    </a:cxn>
                    <a:cxn ang="0">
                      <a:pos x="157" y="59"/>
                    </a:cxn>
                    <a:cxn ang="0">
                      <a:pos x="151" y="55"/>
                    </a:cxn>
                    <a:cxn ang="0">
                      <a:pos x="189" y="81"/>
                    </a:cxn>
                    <a:cxn ang="0">
                      <a:pos x="190" y="78"/>
                    </a:cxn>
                    <a:cxn ang="0">
                      <a:pos x="6" y="30"/>
                    </a:cxn>
                    <a:cxn ang="0">
                      <a:pos x="0" y="39"/>
                    </a:cxn>
                    <a:cxn ang="0">
                      <a:pos x="2" y="46"/>
                    </a:cxn>
                    <a:cxn ang="0">
                      <a:pos x="5" y="40"/>
                    </a:cxn>
                    <a:cxn ang="0">
                      <a:pos x="9" y="38"/>
                    </a:cxn>
                    <a:cxn ang="0">
                      <a:pos x="6" y="46"/>
                    </a:cxn>
                    <a:cxn ang="0">
                      <a:pos x="5" y="57"/>
                    </a:cxn>
                    <a:cxn ang="0">
                      <a:pos x="8" y="58"/>
                    </a:cxn>
                    <a:cxn ang="0">
                      <a:pos x="12" y="51"/>
                    </a:cxn>
                    <a:cxn ang="0">
                      <a:pos x="13" y="57"/>
                    </a:cxn>
                    <a:cxn ang="0">
                      <a:pos x="14" y="63"/>
                    </a:cxn>
                    <a:cxn ang="0">
                      <a:pos x="11" y="71"/>
                    </a:cxn>
                    <a:cxn ang="0">
                      <a:pos x="22" y="72"/>
                    </a:cxn>
                    <a:cxn ang="0">
                      <a:pos x="26" y="76"/>
                    </a:cxn>
                    <a:cxn ang="0">
                      <a:pos x="29" y="85"/>
                    </a:cxn>
                    <a:cxn ang="0">
                      <a:pos x="31" y="91"/>
                    </a:cxn>
                    <a:cxn ang="0">
                      <a:pos x="24" y="97"/>
                    </a:cxn>
                    <a:cxn ang="0">
                      <a:pos x="17" y="103"/>
                    </a:cxn>
                    <a:cxn ang="0">
                      <a:pos x="18" y="116"/>
                    </a:cxn>
                    <a:cxn ang="0">
                      <a:pos x="11" y="118"/>
                    </a:cxn>
                    <a:cxn ang="0">
                      <a:pos x="11" y="123"/>
                    </a:cxn>
                    <a:cxn ang="0">
                      <a:pos x="24" y="126"/>
                    </a:cxn>
                    <a:cxn ang="0">
                      <a:pos x="29" y="126"/>
                    </a:cxn>
                    <a:cxn ang="0">
                      <a:pos x="30" y="129"/>
                    </a:cxn>
                    <a:cxn ang="0">
                      <a:pos x="20" y="132"/>
                    </a:cxn>
                    <a:cxn ang="0">
                      <a:pos x="16" y="138"/>
                    </a:cxn>
                    <a:cxn ang="0">
                      <a:pos x="9" y="148"/>
                    </a:cxn>
                    <a:cxn ang="0">
                      <a:pos x="13" y="149"/>
                    </a:cxn>
                    <a:cxn ang="0">
                      <a:pos x="26" y="145"/>
                    </a:cxn>
                    <a:cxn ang="0">
                      <a:pos x="34" y="139"/>
                    </a:cxn>
                    <a:cxn ang="0">
                      <a:pos x="48" y="137"/>
                    </a:cxn>
                    <a:cxn ang="0">
                      <a:pos x="61" y="138"/>
                    </a:cxn>
                    <a:cxn ang="0">
                      <a:pos x="69" y="128"/>
                    </a:cxn>
                    <a:cxn ang="0">
                      <a:pos x="59" y="127"/>
                    </a:cxn>
                    <a:cxn ang="0">
                      <a:pos x="65" y="125"/>
                    </a:cxn>
                    <a:cxn ang="0">
                      <a:pos x="72" y="114"/>
                    </a:cxn>
                    <a:cxn ang="0">
                      <a:pos x="63" y="105"/>
                    </a:cxn>
                    <a:cxn ang="0">
                      <a:pos x="57" y="86"/>
                    </a:cxn>
                    <a:cxn ang="0">
                      <a:pos x="49" y="74"/>
                    </a:cxn>
                    <a:cxn ang="0">
                      <a:pos x="44" y="60"/>
                    </a:cxn>
                    <a:cxn ang="0">
                      <a:pos x="35" y="49"/>
                    </a:cxn>
                    <a:cxn ang="0">
                      <a:pos x="29" y="49"/>
                    </a:cxn>
                    <a:cxn ang="0">
                      <a:pos x="33" y="37"/>
                    </a:cxn>
                    <a:cxn ang="0">
                      <a:pos x="39" y="18"/>
                    </a:cxn>
                    <a:cxn ang="0">
                      <a:pos x="21" y="18"/>
                    </a:cxn>
                    <a:cxn ang="0">
                      <a:pos x="29" y="4"/>
                    </a:cxn>
                    <a:cxn ang="0">
                      <a:pos x="25" y="1"/>
                    </a:cxn>
                    <a:cxn ang="0">
                      <a:pos x="10" y="5"/>
                    </a:cxn>
                    <a:cxn ang="0">
                      <a:pos x="4" y="18"/>
                    </a:cxn>
                    <a:cxn ang="0">
                      <a:pos x="6" y="25"/>
                    </a:cxn>
                  </a:cxnLst>
                  <a:rect l="0" t="0" r="r" b="b"/>
                  <a:pathLst>
                    <a:path w="192" h="150">
                      <a:moveTo>
                        <a:pt x="147" y="57"/>
                      </a:moveTo>
                      <a:lnTo>
                        <a:pt x="149" y="62"/>
                      </a:lnTo>
                      <a:lnTo>
                        <a:pt x="154" y="63"/>
                      </a:lnTo>
                      <a:lnTo>
                        <a:pt x="157" y="59"/>
                      </a:lnTo>
                      <a:lnTo>
                        <a:pt x="156" y="56"/>
                      </a:lnTo>
                      <a:lnTo>
                        <a:pt x="151" y="55"/>
                      </a:lnTo>
                      <a:lnTo>
                        <a:pt x="147" y="57"/>
                      </a:lnTo>
                      <a:close/>
                      <a:moveTo>
                        <a:pt x="189" y="81"/>
                      </a:moveTo>
                      <a:lnTo>
                        <a:pt x="192" y="79"/>
                      </a:lnTo>
                      <a:lnTo>
                        <a:pt x="190" y="78"/>
                      </a:lnTo>
                      <a:lnTo>
                        <a:pt x="189" y="81"/>
                      </a:lnTo>
                      <a:close/>
                      <a:moveTo>
                        <a:pt x="6" y="30"/>
                      </a:moveTo>
                      <a:lnTo>
                        <a:pt x="2" y="35"/>
                      </a:lnTo>
                      <a:lnTo>
                        <a:pt x="0" y="39"/>
                      </a:lnTo>
                      <a:lnTo>
                        <a:pt x="1" y="44"/>
                      </a:lnTo>
                      <a:lnTo>
                        <a:pt x="2" y="46"/>
                      </a:lnTo>
                      <a:lnTo>
                        <a:pt x="4" y="43"/>
                      </a:lnTo>
                      <a:lnTo>
                        <a:pt x="5" y="40"/>
                      </a:lnTo>
                      <a:lnTo>
                        <a:pt x="8" y="37"/>
                      </a:lnTo>
                      <a:lnTo>
                        <a:pt x="9" y="38"/>
                      </a:lnTo>
                      <a:lnTo>
                        <a:pt x="8" y="41"/>
                      </a:lnTo>
                      <a:lnTo>
                        <a:pt x="6" y="46"/>
                      </a:lnTo>
                      <a:lnTo>
                        <a:pt x="5" y="51"/>
                      </a:lnTo>
                      <a:lnTo>
                        <a:pt x="5" y="57"/>
                      </a:lnTo>
                      <a:lnTo>
                        <a:pt x="6" y="61"/>
                      </a:lnTo>
                      <a:lnTo>
                        <a:pt x="8" y="58"/>
                      </a:lnTo>
                      <a:lnTo>
                        <a:pt x="8" y="53"/>
                      </a:lnTo>
                      <a:lnTo>
                        <a:pt x="12" y="51"/>
                      </a:lnTo>
                      <a:lnTo>
                        <a:pt x="13" y="53"/>
                      </a:lnTo>
                      <a:lnTo>
                        <a:pt x="13" y="57"/>
                      </a:lnTo>
                      <a:lnTo>
                        <a:pt x="14" y="60"/>
                      </a:lnTo>
                      <a:lnTo>
                        <a:pt x="14" y="63"/>
                      </a:lnTo>
                      <a:lnTo>
                        <a:pt x="11" y="66"/>
                      </a:lnTo>
                      <a:lnTo>
                        <a:pt x="11" y="71"/>
                      </a:lnTo>
                      <a:lnTo>
                        <a:pt x="12" y="72"/>
                      </a:lnTo>
                      <a:lnTo>
                        <a:pt x="22" y="72"/>
                      </a:lnTo>
                      <a:lnTo>
                        <a:pt x="26" y="70"/>
                      </a:lnTo>
                      <a:lnTo>
                        <a:pt x="26" y="76"/>
                      </a:lnTo>
                      <a:lnTo>
                        <a:pt x="27" y="81"/>
                      </a:lnTo>
                      <a:lnTo>
                        <a:pt x="29" y="85"/>
                      </a:lnTo>
                      <a:lnTo>
                        <a:pt x="31" y="86"/>
                      </a:lnTo>
                      <a:lnTo>
                        <a:pt x="31" y="91"/>
                      </a:lnTo>
                      <a:lnTo>
                        <a:pt x="29" y="94"/>
                      </a:lnTo>
                      <a:lnTo>
                        <a:pt x="24" y="97"/>
                      </a:lnTo>
                      <a:lnTo>
                        <a:pt x="18" y="98"/>
                      </a:lnTo>
                      <a:lnTo>
                        <a:pt x="17" y="103"/>
                      </a:lnTo>
                      <a:lnTo>
                        <a:pt x="19" y="104"/>
                      </a:lnTo>
                      <a:lnTo>
                        <a:pt x="18" y="116"/>
                      </a:lnTo>
                      <a:lnTo>
                        <a:pt x="14" y="116"/>
                      </a:lnTo>
                      <a:lnTo>
                        <a:pt x="11" y="118"/>
                      </a:lnTo>
                      <a:lnTo>
                        <a:pt x="10" y="121"/>
                      </a:lnTo>
                      <a:lnTo>
                        <a:pt x="11" y="123"/>
                      </a:lnTo>
                      <a:lnTo>
                        <a:pt x="21" y="124"/>
                      </a:lnTo>
                      <a:lnTo>
                        <a:pt x="24" y="126"/>
                      </a:lnTo>
                      <a:lnTo>
                        <a:pt x="28" y="127"/>
                      </a:lnTo>
                      <a:lnTo>
                        <a:pt x="29" y="126"/>
                      </a:lnTo>
                      <a:lnTo>
                        <a:pt x="32" y="126"/>
                      </a:lnTo>
                      <a:lnTo>
                        <a:pt x="30" y="129"/>
                      </a:lnTo>
                      <a:lnTo>
                        <a:pt x="26" y="130"/>
                      </a:lnTo>
                      <a:lnTo>
                        <a:pt x="20" y="132"/>
                      </a:lnTo>
                      <a:lnTo>
                        <a:pt x="19" y="136"/>
                      </a:lnTo>
                      <a:lnTo>
                        <a:pt x="16" y="138"/>
                      </a:lnTo>
                      <a:lnTo>
                        <a:pt x="14" y="143"/>
                      </a:lnTo>
                      <a:lnTo>
                        <a:pt x="9" y="148"/>
                      </a:lnTo>
                      <a:lnTo>
                        <a:pt x="10" y="150"/>
                      </a:lnTo>
                      <a:lnTo>
                        <a:pt x="13" y="149"/>
                      </a:lnTo>
                      <a:lnTo>
                        <a:pt x="16" y="145"/>
                      </a:lnTo>
                      <a:lnTo>
                        <a:pt x="26" y="145"/>
                      </a:lnTo>
                      <a:lnTo>
                        <a:pt x="27" y="142"/>
                      </a:lnTo>
                      <a:lnTo>
                        <a:pt x="34" y="139"/>
                      </a:lnTo>
                      <a:lnTo>
                        <a:pt x="35" y="141"/>
                      </a:lnTo>
                      <a:lnTo>
                        <a:pt x="48" y="137"/>
                      </a:lnTo>
                      <a:lnTo>
                        <a:pt x="53" y="138"/>
                      </a:lnTo>
                      <a:lnTo>
                        <a:pt x="61" y="138"/>
                      </a:lnTo>
                      <a:lnTo>
                        <a:pt x="69" y="131"/>
                      </a:lnTo>
                      <a:lnTo>
                        <a:pt x="69" y="128"/>
                      </a:lnTo>
                      <a:lnTo>
                        <a:pt x="64" y="128"/>
                      </a:lnTo>
                      <a:lnTo>
                        <a:pt x="59" y="127"/>
                      </a:lnTo>
                      <a:lnTo>
                        <a:pt x="61" y="125"/>
                      </a:lnTo>
                      <a:lnTo>
                        <a:pt x="65" y="125"/>
                      </a:lnTo>
                      <a:lnTo>
                        <a:pt x="70" y="119"/>
                      </a:lnTo>
                      <a:lnTo>
                        <a:pt x="72" y="114"/>
                      </a:lnTo>
                      <a:lnTo>
                        <a:pt x="71" y="104"/>
                      </a:lnTo>
                      <a:lnTo>
                        <a:pt x="63" y="105"/>
                      </a:lnTo>
                      <a:lnTo>
                        <a:pt x="58" y="103"/>
                      </a:lnTo>
                      <a:lnTo>
                        <a:pt x="57" y="86"/>
                      </a:lnTo>
                      <a:lnTo>
                        <a:pt x="55" y="82"/>
                      </a:lnTo>
                      <a:lnTo>
                        <a:pt x="49" y="74"/>
                      </a:lnTo>
                      <a:lnTo>
                        <a:pt x="46" y="72"/>
                      </a:lnTo>
                      <a:lnTo>
                        <a:pt x="44" y="60"/>
                      </a:lnTo>
                      <a:lnTo>
                        <a:pt x="40" y="51"/>
                      </a:lnTo>
                      <a:lnTo>
                        <a:pt x="35" y="49"/>
                      </a:lnTo>
                      <a:lnTo>
                        <a:pt x="30" y="51"/>
                      </a:lnTo>
                      <a:lnTo>
                        <a:pt x="29" y="49"/>
                      </a:lnTo>
                      <a:lnTo>
                        <a:pt x="33" y="45"/>
                      </a:lnTo>
                      <a:lnTo>
                        <a:pt x="33" y="37"/>
                      </a:lnTo>
                      <a:lnTo>
                        <a:pt x="40" y="23"/>
                      </a:lnTo>
                      <a:lnTo>
                        <a:pt x="39" y="18"/>
                      </a:lnTo>
                      <a:lnTo>
                        <a:pt x="30" y="17"/>
                      </a:lnTo>
                      <a:lnTo>
                        <a:pt x="21" y="18"/>
                      </a:lnTo>
                      <a:lnTo>
                        <a:pt x="23" y="10"/>
                      </a:lnTo>
                      <a:lnTo>
                        <a:pt x="29" y="4"/>
                      </a:lnTo>
                      <a:lnTo>
                        <a:pt x="30" y="0"/>
                      </a:lnTo>
                      <a:lnTo>
                        <a:pt x="25" y="1"/>
                      </a:lnTo>
                      <a:lnTo>
                        <a:pt x="13" y="1"/>
                      </a:lnTo>
                      <a:lnTo>
                        <a:pt x="10" y="5"/>
                      </a:lnTo>
                      <a:lnTo>
                        <a:pt x="9" y="14"/>
                      </a:lnTo>
                      <a:lnTo>
                        <a:pt x="4" y="18"/>
                      </a:lnTo>
                      <a:lnTo>
                        <a:pt x="4" y="23"/>
                      </a:lnTo>
                      <a:lnTo>
                        <a:pt x="6" y="25"/>
                      </a:lnTo>
                      <a:lnTo>
                        <a:pt x="6" y="3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1" name="Freeform 29"/>
                <p:cNvSpPr>
                  <a:spLocks/>
                </p:cNvSpPr>
                <p:nvPr/>
              </p:nvSpPr>
              <p:spPr bwMode="gray">
                <a:xfrm>
                  <a:off x="3263901" y="3687763"/>
                  <a:ext cx="622300" cy="1219200"/>
                </a:xfrm>
                <a:custGeom>
                  <a:avLst/>
                  <a:gdLst/>
                  <a:ahLst/>
                  <a:cxnLst>
                    <a:cxn ang="0">
                      <a:pos x="29" y="4"/>
                    </a:cxn>
                    <a:cxn ang="0">
                      <a:pos x="21" y="18"/>
                    </a:cxn>
                    <a:cxn ang="0">
                      <a:pos x="39" y="18"/>
                    </a:cxn>
                    <a:cxn ang="0">
                      <a:pos x="33" y="37"/>
                    </a:cxn>
                    <a:cxn ang="0">
                      <a:pos x="29" y="49"/>
                    </a:cxn>
                    <a:cxn ang="0">
                      <a:pos x="35" y="49"/>
                    </a:cxn>
                    <a:cxn ang="0">
                      <a:pos x="44" y="60"/>
                    </a:cxn>
                    <a:cxn ang="0">
                      <a:pos x="49" y="74"/>
                    </a:cxn>
                    <a:cxn ang="0">
                      <a:pos x="57" y="86"/>
                    </a:cxn>
                    <a:cxn ang="0">
                      <a:pos x="63" y="105"/>
                    </a:cxn>
                    <a:cxn ang="0">
                      <a:pos x="72" y="114"/>
                    </a:cxn>
                    <a:cxn ang="0">
                      <a:pos x="65" y="125"/>
                    </a:cxn>
                    <a:cxn ang="0">
                      <a:pos x="59" y="127"/>
                    </a:cxn>
                    <a:cxn ang="0">
                      <a:pos x="69" y="128"/>
                    </a:cxn>
                    <a:cxn ang="0">
                      <a:pos x="61" y="138"/>
                    </a:cxn>
                    <a:cxn ang="0">
                      <a:pos x="48" y="137"/>
                    </a:cxn>
                    <a:cxn ang="0">
                      <a:pos x="34" y="139"/>
                    </a:cxn>
                    <a:cxn ang="0">
                      <a:pos x="26" y="145"/>
                    </a:cxn>
                    <a:cxn ang="0">
                      <a:pos x="13" y="149"/>
                    </a:cxn>
                    <a:cxn ang="0">
                      <a:pos x="9" y="148"/>
                    </a:cxn>
                    <a:cxn ang="0">
                      <a:pos x="16" y="138"/>
                    </a:cxn>
                    <a:cxn ang="0">
                      <a:pos x="20" y="132"/>
                    </a:cxn>
                    <a:cxn ang="0">
                      <a:pos x="30" y="129"/>
                    </a:cxn>
                    <a:cxn ang="0">
                      <a:pos x="29" y="126"/>
                    </a:cxn>
                    <a:cxn ang="0">
                      <a:pos x="24" y="126"/>
                    </a:cxn>
                    <a:cxn ang="0">
                      <a:pos x="11" y="123"/>
                    </a:cxn>
                    <a:cxn ang="0">
                      <a:pos x="11" y="118"/>
                    </a:cxn>
                    <a:cxn ang="0">
                      <a:pos x="18" y="116"/>
                    </a:cxn>
                    <a:cxn ang="0">
                      <a:pos x="17" y="103"/>
                    </a:cxn>
                    <a:cxn ang="0">
                      <a:pos x="24" y="97"/>
                    </a:cxn>
                    <a:cxn ang="0">
                      <a:pos x="31" y="91"/>
                    </a:cxn>
                    <a:cxn ang="0">
                      <a:pos x="29" y="85"/>
                    </a:cxn>
                    <a:cxn ang="0">
                      <a:pos x="26" y="76"/>
                    </a:cxn>
                    <a:cxn ang="0">
                      <a:pos x="22" y="72"/>
                    </a:cxn>
                    <a:cxn ang="0">
                      <a:pos x="11" y="71"/>
                    </a:cxn>
                    <a:cxn ang="0">
                      <a:pos x="14" y="63"/>
                    </a:cxn>
                    <a:cxn ang="0">
                      <a:pos x="13" y="57"/>
                    </a:cxn>
                    <a:cxn ang="0">
                      <a:pos x="12" y="51"/>
                    </a:cxn>
                    <a:cxn ang="0">
                      <a:pos x="8" y="58"/>
                    </a:cxn>
                    <a:cxn ang="0">
                      <a:pos x="5" y="57"/>
                    </a:cxn>
                    <a:cxn ang="0">
                      <a:pos x="6" y="46"/>
                    </a:cxn>
                    <a:cxn ang="0">
                      <a:pos x="9" y="38"/>
                    </a:cxn>
                    <a:cxn ang="0">
                      <a:pos x="5" y="40"/>
                    </a:cxn>
                    <a:cxn ang="0">
                      <a:pos x="2" y="46"/>
                    </a:cxn>
                    <a:cxn ang="0">
                      <a:pos x="0" y="39"/>
                    </a:cxn>
                    <a:cxn ang="0">
                      <a:pos x="6" y="30"/>
                    </a:cxn>
                    <a:cxn ang="0">
                      <a:pos x="4" y="23"/>
                    </a:cxn>
                    <a:cxn ang="0">
                      <a:pos x="9" y="14"/>
                    </a:cxn>
                    <a:cxn ang="0">
                      <a:pos x="13" y="1"/>
                    </a:cxn>
                    <a:cxn ang="0">
                      <a:pos x="30" y="0"/>
                    </a:cxn>
                  </a:cxnLst>
                  <a:rect l="0" t="0" r="r" b="b"/>
                  <a:pathLst>
                    <a:path w="72" h="150">
                      <a:moveTo>
                        <a:pt x="30" y="0"/>
                      </a:moveTo>
                      <a:lnTo>
                        <a:pt x="29" y="4"/>
                      </a:lnTo>
                      <a:lnTo>
                        <a:pt x="23" y="10"/>
                      </a:lnTo>
                      <a:lnTo>
                        <a:pt x="21" y="18"/>
                      </a:lnTo>
                      <a:lnTo>
                        <a:pt x="30" y="17"/>
                      </a:lnTo>
                      <a:lnTo>
                        <a:pt x="39" y="18"/>
                      </a:lnTo>
                      <a:lnTo>
                        <a:pt x="40" y="23"/>
                      </a:lnTo>
                      <a:lnTo>
                        <a:pt x="33" y="37"/>
                      </a:lnTo>
                      <a:lnTo>
                        <a:pt x="33" y="45"/>
                      </a:lnTo>
                      <a:lnTo>
                        <a:pt x="29" y="49"/>
                      </a:lnTo>
                      <a:lnTo>
                        <a:pt x="30" y="51"/>
                      </a:lnTo>
                      <a:lnTo>
                        <a:pt x="35" y="49"/>
                      </a:lnTo>
                      <a:lnTo>
                        <a:pt x="40" y="51"/>
                      </a:lnTo>
                      <a:lnTo>
                        <a:pt x="44" y="60"/>
                      </a:lnTo>
                      <a:lnTo>
                        <a:pt x="46" y="72"/>
                      </a:lnTo>
                      <a:lnTo>
                        <a:pt x="49" y="74"/>
                      </a:lnTo>
                      <a:lnTo>
                        <a:pt x="55" y="82"/>
                      </a:lnTo>
                      <a:lnTo>
                        <a:pt x="57" y="86"/>
                      </a:lnTo>
                      <a:lnTo>
                        <a:pt x="58" y="103"/>
                      </a:lnTo>
                      <a:lnTo>
                        <a:pt x="63" y="105"/>
                      </a:lnTo>
                      <a:lnTo>
                        <a:pt x="71" y="104"/>
                      </a:lnTo>
                      <a:lnTo>
                        <a:pt x="72" y="114"/>
                      </a:lnTo>
                      <a:lnTo>
                        <a:pt x="70" y="119"/>
                      </a:lnTo>
                      <a:lnTo>
                        <a:pt x="65" y="125"/>
                      </a:lnTo>
                      <a:lnTo>
                        <a:pt x="61" y="125"/>
                      </a:lnTo>
                      <a:lnTo>
                        <a:pt x="59" y="127"/>
                      </a:lnTo>
                      <a:lnTo>
                        <a:pt x="64" y="128"/>
                      </a:lnTo>
                      <a:lnTo>
                        <a:pt x="69" y="128"/>
                      </a:lnTo>
                      <a:lnTo>
                        <a:pt x="69" y="131"/>
                      </a:lnTo>
                      <a:lnTo>
                        <a:pt x="61" y="138"/>
                      </a:lnTo>
                      <a:lnTo>
                        <a:pt x="53" y="138"/>
                      </a:lnTo>
                      <a:lnTo>
                        <a:pt x="48" y="137"/>
                      </a:lnTo>
                      <a:lnTo>
                        <a:pt x="35" y="141"/>
                      </a:lnTo>
                      <a:lnTo>
                        <a:pt x="34" y="139"/>
                      </a:lnTo>
                      <a:lnTo>
                        <a:pt x="27" y="142"/>
                      </a:lnTo>
                      <a:lnTo>
                        <a:pt x="26" y="145"/>
                      </a:lnTo>
                      <a:lnTo>
                        <a:pt x="16" y="145"/>
                      </a:lnTo>
                      <a:lnTo>
                        <a:pt x="13" y="149"/>
                      </a:lnTo>
                      <a:lnTo>
                        <a:pt x="10" y="150"/>
                      </a:lnTo>
                      <a:lnTo>
                        <a:pt x="9" y="148"/>
                      </a:lnTo>
                      <a:lnTo>
                        <a:pt x="14" y="143"/>
                      </a:lnTo>
                      <a:lnTo>
                        <a:pt x="16" y="138"/>
                      </a:lnTo>
                      <a:lnTo>
                        <a:pt x="19" y="136"/>
                      </a:lnTo>
                      <a:lnTo>
                        <a:pt x="20" y="132"/>
                      </a:lnTo>
                      <a:lnTo>
                        <a:pt x="26" y="130"/>
                      </a:lnTo>
                      <a:lnTo>
                        <a:pt x="30" y="129"/>
                      </a:lnTo>
                      <a:lnTo>
                        <a:pt x="32" y="126"/>
                      </a:lnTo>
                      <a:lnTo>
                        <a:pt x="29" y="126"/>
                      </a:lnTo>
                      <a:lnTo>
                        <a:pt x="28" y="127"/>
                      </a:lnTo>
                      <a:lnTo>
                        <a:pt x="24" y="126"/>
                      </a:lnTo>
                      <a:lnTo>
                        <a:pt x="21" y="124"/>
                      </a:lnTo>
                      <a:lnTo>
                        <a:pt x="11" y="123"/>
                      </a:lnTo>
                      <a:lnTo>
                        <a:pt x="10" y="121"/>
                      </a:lnTo>
                      <a:lnTo>
                        <a:pt x="11" y="118"/>
                      </a:lnTo>
                      <a:lnTo>
                        <a:pt x="14" y="116"/>
                      </a:lnTo>
                      <a:lnTo>
                        <a:pt x="18" y="116"/>
                      </a:lnTo>
                      <a:lnTo>
                        <a:pt x="19" y="104"/>
                      </a:lnTo>
                      <a:lnTo>
                        <a:pt x="17" y="103"/>
                      </a:lnTo>
                      <a:lnTo>
                        <a:pt x="18" y="98"/>
                      </a:lnTo>
                      <a:lnTo>
                        <a:pt x="24" y="97"/>
                      </a:lnTo>
                      <a:lnTo>
                        <a:pt x="29" y="94"/>
                      </a:lnTo>
                      <a:lnTo>
                        <a:pt x="31" y="91"/>
                      </a:lnTo>
                      <a:lnTo>
                        <a:pt x="31" y="86"/>
                      </a:lnTo>
                      <a:lnTo>
                        <a:pt x="29" y="85"/>
                      </a:lnTo>
                      <a:lnTo>
                        <a:pt x="27" y="81"/>
                      </a:lnTo>
                      <a:lnTo>
                        <a:pt x="26" y="76"/>
                      </a:lnTo>
                      <a:lnTo>
                        <a:pt x="26" y="70"/>
                      </a:lnTo>
                      <a:lnTo>
                        <a:pt x="22" y="72"/>
                      </a:lnTo>
                      <a:lnTo>
                        <a:pt x="12" y="72"/>
                      </a:lnTo>
                      <a:lnTo>
                        <a:pt x="11" y="71"/>
                      </a:lnTo>
                      <a:lnTo>
                        <a:pt x="11" y="66"/>
                      </a:lnTo>
                      <a:lnTo>
                        <a:pt x="14" y="63"/>
                      </a:lnTo>
                      <a:lnTo>
                        <a:pt x="14" y="60"/>
                      </a:lnTo>
                      <a:lnTo>
                        <a:pt x="13" y="57"/>
                      </a:lnTo>
                      <a:lnTo>
                        <a:pt x="13" y="53"/>
                      </a:lnTo>
                      <a:lnTo>
                        <a:pt x="12" y="51"/>
                      </a:lnTo>
                      <a:lnTo>
                        <a:pt x="8" y="53"/>
                      </a:lnTo>
                      <a:lnTo>
                        <a:pt x="8" y="58"/>
                      </a:lnTo>
                      <a:lnTo>
                        <a:pt x="6" y="61"/>
                      </a:lnTo>
                      <a:lnTo>
                        <a:pt x="5" y="57"/>
                      </a:lnTo>
                      <a:lnTo>
                        <a:pt x="5" y="51"/>
                      </a:lnTo>
                      <a:lnTo>
                        <a:pt x="6" y="46"/>
                      </a:lnTo>
                      <a:lnTo>
                        <a:pt x="8" y="41"/>
                      </a:lnTo>
                      <a:lnTo>
                        <a:pt x="9" y="38"/>
                      </a:lnTo>
                      <a:lnTo>
                        <a:pt x="8" y="37"/>
                      </a:lnTo>
                      <a:lnTo>
                        <a:pt x="5" y="40"/>
                      </a:lnTo>
                      <a:lnTo>
                        <a:pt x="4" y="43"/>
                      </a:lnTo>
                      <a:lnTo>
                        <a:pt x="2" y="46"/>
                      </a:lnTo>
                      <a:lnTo>
                        <a:pt x="1" y="44"/>
                      </a:lnTo>
                      <a:lnTo>
                        <a:pt x="0" y="39"/>
                      </a:lnTo>
                      <a:lnTo>
                        <a:pt x="2" y="35"/>
                      </a:lnTo>
                      <a:lnTo>
                        <a:pt x="6" y="30"/>
                      </a:lnTo>
                      <a:lnTo>
                        <a:pt x="6" y="25"/>
                      </a:lnTo>
                      <a:lnTo>
                        <a:pt x="4" y="23"/>
                      </a:lnTo>
                      <a:lnTo>
                        <a:pt x="4" y="18"/>
                      </a:lnTo>
                      <a:lnTo>
                        <a:pt x="9" y="14"/>
                      </a:lnTo>
                      <a:lnTo>
                        <a:pt x="10" y="5"/>
                      </a:lnTo>
                      <a:lnTo>
                        <a:pt x="13" y="1"/>
                      </a:lnTo>
                      <a:lnTo>
                        <a:pt x="25" y="1"/>
                      </a:lnTo>
                      <a:lnTo>
                        <a:pt x="30"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2" name="Freeform 30"/>
                <p:cNvSpPr>
                  <a:spLocks/>
                </p:cNvSpPr>
                <p:nvPr/>
              </p:nvSpPr>
              <p:spPr bwMode="gray">
                <a:xfrm>
                  <a:off x="3119438" y="4195763"/>
                  <a:ext cx="217488" cy="173038"/>
                </a:xfrm>
                <a:custGeom>
                  <a:avLst/>
                  <a:gdLst/>
                  <a:ahLst/>
                  <a:cxnLst>
                    <a:cxn ang="0">
                      <a:pos x="6" y="1"/>
                    </a:cxn>
                    <a:cxn ang="0">
                      <a:pos x="11" y="0"/>
                    </a:cxn>
                    <a:cxn ang="0">
                      <a:pos x="12" y="2"/>
                    </a:cxn>
                    <a:cxn ang="0">
                      <a:pos x="18" y="3"/>
                    </a:cxn>
                    <a:cxn ang="0">
                      <a:pos x="22" y="11"/>
                    </a:cxn>
                    <a:cxn ang="0">
                      <a:pos x="25" y="12"/>
                    </a:cxn>
                    <a:cxn ang="0">
                      <a:pos x="23" y="19"/>
                    </a:cxn>
                    <a:cxn ang="0">
                      <a:pos x="17" y="22"/>
                    </a:cxn>
                    <a:cxn ang="0">
                      <a:pos x="14" y="20"/>
                    </a:cxn>
                    <a:cxn ang="0">
                      <a:pos x="9" y="18"/>
                    </a:cxn>
                    <a:cxn ang="0">
                      <a:pos x="5" y="21"/>
                    </a:cxn>
                    <a:cxn ang="0">
                      <a:pos x="0" y="17"/>
                    </a:cxn>
                    <a:cxn ang="0">
                      <a:pos x="0" y="14"/>
                    </a:cxn>
                    <a:cxn ang="0">
                      <a:pos x="6" y="8"/>
                    </a:cxn>
                    <a:cxn ang="0">
                      <a:pos x="6" y="1"/>
                    </a:cxn>
                  </a:cxnLst>
                  <a:rect l="0" t="0" r="r" b="b"/>
                  <a:pathLst>
                    <a:path w="25" h="22">
                      <a:moveTo>
                        <a:pt x="6" y="1"/>
                      </a:moveTo>
                      <a:lnTo>
                        <a:pt x="11" y="0"/>
                      </a:lnTo>
                      <a:lnTo>
                        <a:pt x="12" y="2"/>
                      </a:lnTo>
                      <a:lnTo>
                        <a:pt x="18" y="3"/>
                      </a:lnTo>
                      <a:lnTo>
                        <a:pt x="22" y="11"/>
                      </a:lnTo>
                      <a:lnTo>
                        <a:pt x="25" y="12"/>
                      </a:lnTo>
                      <a:lnTo>
                        <a:pt x="23" y="19"/>
                      </a:lnTo>
                      <a:lnTo>
                        <a:pt x="17" y="22"/>
                      </a:lnTo>
                      <a:lnTo>
                        <a:pt x="14" y="20"/>
                      </a:lnTo>
                      <a:lnTo>
                        <a:pt x="9" y="18"/>
                      </a:lnTo>
                      <a:lnTo>
                        <a:pt x="5" y="21"/>
                      </a:lnTo>
                      <a:lnTo>
                        <a:pt x="0" y="17"/>
                      </a:lnTo>
                      <a:lnTo>
                        <a:pt x="0" y="14"/>
                      </a:lnTo>
                      <a:lnTo>
                        <a:pt x="6" y="8"/>
                      </a:lnTo>
                      <a:lnTo>
                        <a:pt x="6" y="1"/>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3" name="Freeform 31"/>
                <p:cNvSpPr>
                  <a:spLocks/>
                </p:cNvSpPr>
                <p:nvPr/>
              </p:nvSpPr>
              <p:spPr bwMode="gray">
                <a:xfrm>
                  <a:off x="4010026" y="4430713"/>
                  <a:ext cx="317500" cy="355600"/>
                </a:xfrm>
                <a:custGeom>
                  <a:avLst/>
                  <a:gdLst/>
                  <a:ahLst/>
                  <a:cxnLst>
                    <a:cxn ang="0">
                      <a:pos x="26" y="28"/>
                    </a:cxn>
                    <a:cxn ang="0">
                      <a:pos x="28" y="31"/>
                    </a:cxn>
                    <a:cxn ang="0">
                      <a:pos x="25" y="37"/>
                    </a:cxn>
                    <a:cxn ang="0">
                      <a:pos x="25" y="40"/>
                    </a:cxn>
                    <a:cxn ang="0">
                      <a:pos x="24" y="43"/>
                    </a:cxn>
                    <a:cxn ang="0">
                      <a:pos x="22" y="39"/>
                    </a:cxn>
                    <a:cxn ang="0">
                      <a:pos x="21" y="33"/>
                    </a:cxn>
                    <a:cxn ang="0">
                      <a:pos x="16" y="33"/>
                    </a:cxn>
                    <a:cxn ang="0">
                      <a:pos x="13" y="32"/>
                    </a:cxn>
                    <a:cxn ang="0">
                      <a:pos x="9" y="34"/>
                    </a:cxn>
                    <a:cxn ang="0">
                      <a:pos x="4" y="36"/>
                    </a:cxn>
                    <a:cxn ang="0">
                      <a:pos x="0" y="34"/>
                    </a:cxn>
                    <a:cxn ang="0">
                      <a:pos x="4" y="33"/>
                    </a:cxn>
                    <a:cxn ang="0">
                      <a:pos x="6" y="33"/>
                    </a:cxn>
                    <a:cxn ang="0">
                      <a:pos x="8" y="31"/>
                    </a:cxn>
                    <a:cxn ang="0">
                      <a:pos x="7" y="29"/>
                    </a:cxn>
                    <a:cxn ang="0">
                      <a:pos x="8" y="24"/>
                    </a:cxn>
                    <a:cxn ang="0">
                      <a:pos x="12" y="19"/>
                    </a:cxn>
                    <a:cxn ang="0">
                      <a:pos x="15" y="10"/>
                    </a:cxn>
                    <a:cxn ang="0">
                      <a:pos x="19" y="9"/>
                    </a:cxn>
                    <a:cxn ang="0">
                      <a:pos x="20" y="11"/>
                    </a:cxn>
                    <a:cxn ang="0">
                      <a:pos x="18" y="14"/>
                    </a:cxn>
                    <a:cxn ang="0">
                      <a:pos x="19" y="18"/>
                    </a:cxn>
                    <a:cxn ang="0">
                      <a:pos x="23" y="14"/>
                    </a:cxn>
                    <a:cxn ang="0">
                      <a:pos x="24" y="11"/>
                    </a:cxn>
                    <a:cxn ang="0">
                      <a:pos x="20" y="8"/>
                    </a:cxn>
                    <a:cxn ang="0">
                      <a:pos x="21" y="4"/>
                    </a:cxn>
                    <a:cxn ang="0">
                      <a:pos x="26" y="1"/>
                    </a:cxn>
                    <a:cxn ang="0">
                      <a:pos x="35" y="0"/>
                    </a:cxn>
                    <a:cxn ang="0">
                      <a:pos x="37" y="3"/>
                    </a:cxn>
                    <a:cxn ang="0">
                      <a:pos x="34" y="9"/>
                    </a:cxn>
                    <a:cxn ang="0">
                      <a:pos x="36" y="13"/>
                    </a:cxn>
                    <a:cxn ang="0">
                      <a:pos x="35" y="19"/>
                    </a:cxn>
                    <a:cxn ang="0">
                      <a:pos x="28" y="25"/>
                    </a:cxn>
                    <a:cxn ang="0">
                      <a:pos x="26" y="28"/>
                    </a:cxn>
                  </a:cxnLst>
                  <a:rect l="0" t="0" r="r" b="b"/>
                  <a:pathLst>
                    <a:path w="37" h="43">
                      <a:moveTo>
                        <a:pt x="26" y="28"/>
                      </a:moveTo>
                      <a:lnTo>
                        <a:pt x="28" y="31"/>
                      </a:lnTo>
                      <a:lnTo>
                        <a:pt x="25" y="37"/>
                      </a:lnTo>
                      <a:lnTo>
                        <a:pt x="25" y="40"/>
                      </a:lnTo>
                      <a:lnTo>
                        <a:pt x="24" y="43"/>
                      </a:lnTo>
                      <a:lnTo>
                        <a:pt x="22" y="39"/>
                      </a:lnTo>
                      <a:lnTo>
                        <a:pt x="21" y="33"/>
                      </a:lnTo>
                      <a:lnTo>
                        <a:pt x="16" y="33"/>
                      </a:lnTo>
                      <a:lnTo>
                        <a:pt x="13" y="32"/>
                      </a:lnTo>
                      <a:lnTo>
                        <a:pt x="9" y="34"/>
                      </a:lnTo>
                      <a:lnTo>
                        <a:pt x="4" y="36"/>
                      </a:lnTo>
                      <a:lnTo>
                        <a:pt x="0" y="34"/>
                      </a:lnTo>
                      <a:lnTo>
                        <a:pt x="4" y="33"/>
                      </a:lnTo>
                      <a:lnTo>
                        <a:pt x="6" y="33"/>
                      </a:lnTo>
                      <a:lnTo>
                        <a:pt x="8" y="31"/>
                      </a:lnTo>
                      <a:lnTo>
                        <a:pt x="7" y="29"/>
                      </a:lnTo>
                      <a:lnTo>
                        <a:pt x="8" y="24"/>
                      </a:lnTo>
                      <a:lnTo>
                        <a:pt x="12" y="19"/>
                      </a:lnTo>
                      <a:lnTo>
                        <a:pt x="15" y="10"/>
                      </a:lnTo>
                      <a:lnTo>
                        <a:pt x="19" y="9"/>
                      </a:lnTo>
                      <a:lnTo>
                        <a:pt x="20" y="11"/>
                      </a:lnTo>
                      <a:lnTo>
                        <a:pt x="18" y="14"/>
                      </a:lnTo>
                      <a:lnTo>
                        <a:pt x="19" y="18"/>
                      </a:lnTo>
                      <a:lnTo>
                        <a:pt x="23" y="14"/>
                      </a:lnTo>
                      <a:lnTo>
                        <a:pt x="24" y="11"/>
                      </a:lnTo>
                      <a:lnTo>
                        <a:pt x="20" y="8"/>
                      </a:lnTo>
                      <a:lnTo>
                        <a:pt x="21" y="4"/>
                      </a:lnTo>
                      <a:lnTo>
                        <a:pt x="26" y="1"/>
                      </a:lnTo>
                      <a:lnTo>
                        <a:pt x="35" y="0"/>
                      </a:lnTo>
                      <a:lnTo>
                        <a:pt x="37" y="3"/>
                      </a:lnTo>
                      <a:lnTo>
                        <a:pt x="34" y="9"/>
                      </a:lnTo>
                      <a:lnTo>
                        <a:pt x="36" y="13"/>
                      </a:lnTo>
                      <a:lnTo>
                        <a:pt x="35" y="19"/>
                      </a:lnTo>
                      <a:lnTo>
                        <a:pt x="28" y="25"/>
                      </a:lnTo>
                      <a:lnTo>
                        <a:pt x="26" y="28"/>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4" name="Freeform 32"/>
                <p:cNvSpPr>
                  <a:spLocks/>
                </p:cNvSpPr>
                <p:nvPr/>
              </p:nvSpPr>
              <p:spPr bwMode="gray">
                <a:xfrm>
                  <a:off x="4230688" y="4846638"/>
                  <a:ext cx="49213" cy="128588"/>
                </a:xfrm>
                <a:custGeom>
                  <a:avLst/>
                  <a:gdLst/>
                  <a:ahLst/>
                  <a:cxnLst>
                    <a:cxn ang="0">
                      <a:pos x="6" y="15"/>
                    </a:cxn>
                    <a:cxn ang="0">
                      <a:pos x="0" y="13"/>
                    </a:cxn>
                    <a:cxn ang="0">
                      <a:pos x="0" y="7"/>
                    </a:cxn>
                    <a:cxn ang="0">
                      <a:pos x="0" y="3"/>
                    </a:cxn>
                    <a:cxn ang="0">
                      <a:pos x="2" y="0"/>
                    </a:cxn>
                    <a:cxn ang="0">
                      <a:pos x="5" y="5"/>
                    </a:cxn>
                    <a:cxn ang="0">
                      <a:pos x="6" y="15"/>
                    </a:cxn>
                  </a:cxnLst>
                  <a:rect l="0" t="0" r="r" b="b"/>
                  <a:pathLst>
                    <a:path w="6" h="15">
                      <a:moveTo>
                        <a:pt x="6" y="15"/>
                      </a:moveTo>
                      <a:lnTo>
                        <a:pt x="0" y="13"/>
                      </a:lnTo>
                      <a:lnTo>
                        <a:pt x="0" y="7"/>
                      </a:lnTo>
                      <a:lnTo>
                        <a:pt x="0" y="3"/>
                      </a:lnTo>
                      <a:lnTo>
                        <a:pt x="2" y="0"/>
                      </a:lnTo>
                      <a:lnTo>
                        <a:pt x="5" y="5"/>
                      </a:lnTo>
                      <a:lnTo>
                        <a:pt x="6" y="15"/>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5" name="Freeform 33"/>
                <p:cNvSpPr>
                  <a:spLocks/>
                </p:cNvSpPr>
                <p:nvPr/>
              </p:nvSpPr>
              <p:spPr bwMode="gray">
                <a:xfrm>
                  <a:off x="3952876" y="4692651"/>
                  <a:ext cx="295275" cy="263525"/>
                </a:xfrm>
                <a:custGeom>
                  <a:avLst/>
                  <a:gdLst/>
                  <a:ahLst/>
                  <a:cxnLst>
                    <a:cxn ang="0">
                      <a:pos x="34" y="19"/>
                    </a:cxn>
                    <a:cxn ang="0">
                      <a:pos x="32" y="22"/>
                    </a:cxn>
                    <a:cxn ang="0">
                      <a:pos x="32" y="26"/>
                    </a:cxn>
                    <a:cxn ang="0">
                      <a:pos x="32" y="32"/>
                    </a:cxn>
                    <a:cxn ang="0">
                      <a:pos x="25" y="26"/>
                    </a:cxn>
                    <a:cxn ang="0">
                      <a:pos x="19" y="24"/>
                    </a:cxn>
                    <a:cxn ang="0">
                      <a:pos x="15" y="22"/>
                    </a:cxn>
                    <a:cxn ang="0">
                      <a:pos x="7" y="16"/>
                    </a:cxn>
                    <a:cxn ang="0">
                      <a:pos x="0" y="7"/>
                    </a:cxn>
                    <a:cxn ang="0">
                      <a:pos x="4" y="4"/>
                    </a:cxn>
                    <a:cxn ang="0">
                      <a:pos x="6" y="2"/>
                    </a:cxn>
                    <a:cxn ang="0">
                      <a:pos x="10" y="4"/>
                    </a:cxn>
                    <a:cxn ang="0">
                      <a:pos x="15" y="2"/>
                    </a:cxn>
                    <a:cxn ang="0">
                      <a:pos x="19" y="0"/>
                    </a:cxn>
                    <a:cxn ang="0">
                      <a:pos x="22" y="1"/>
                    </a:cxn>
                    <a:cxn ang="0">
                      <a:pos x="27" y="1"/>
                    </a:cxn>
                    <a:cxn ang="0">
                      <a:pos x="28" y="7"/>
                    </a:cxn>
                    <a:cxn ang="0">
                      <a:pos x="30" y="11"/>
                    </a:cxn>
                    <a:cxn ang="0">
                      <a:pos x="31" y="8"/>
                    </a:cxn>
                    <a:cxn ang="0">
                      <a:pos x="33" y="12"/>
                    </a:cxn>
                    <a:cxn ang="0">
                      <a:pos x="34" y="19"/>
                    </a:cxn>
                  </a:cxnLst>
                  <a:rect l="0" t="0" r="r" b="b"/>
                  <a:pathLst>
                    <a:path w="34" h="32">
                      <a:moveTo>
                        <a:pt x="34" y="19"/>
                      </a:moveTo>
                      <a:lnTo>
                        <a:pt x="32" y="22"/>
                      </a:lnTo>
                      <a:lnTo>
                        <a:pt x="32" y="26"/>
                      </a:lnTo>
                      <a:lnTo>
                        <a:pt x="32" y="32"/>
                      </a:lnTo>
                      <a:lnTo>
                        <a:pt x="25" y="26"/>
                      </a:lnTo>
                      <a:lnTo>
                        <a:pt x="19" y="24"/>
                      </a:lnTo>
                      <a:lnTo>
                        <a:pt x="15" y="22"/>
                      </a:lnTo>
                      <a:lnTo>
                        <a:pt x="7" y="16"/>
                      </a:lnTo>
                      <a:lnTo>
                        <a:pt x="0" y="7"/>
                      </a:lnTo>
                      <a:lnTo>
                        <a:pt x="4" y="4"/>
                      </a:lnTo>
                      <a:lnTo>
                        <a:pt x="6" y="2"/>
                      </a:lnTo>
                      <a:lnTo>
                        <a:pt x="10" y="4"/>
                      </a:lnTo>
                      <a:lnTo>
                        <a:pt x="15" y="2"/>
                      </a:lnTo>
                      <a:lnTo>
                        <a:pt x="19" y="0"/>
                      </a:lnTo>
                      <a:lnTo>
                        <a:pt x="22" y="1"/>
                      </a:lnTo>
                      <a:lnTo>
                        <a:pt x="27" y="1"/>
                      </a:lnTo>
                      <a:lnTo>
                        <a:pt x="28" y="7"/>
                      </a:lnTo>
                      <a:lnTo>
                        <a:pt x="30" y="11"/>
                      </a:lnTo>
                      <a:lnTo>
                        <a:pt x="31" y="8"/>
                      </a:lnTo>
                      <a:lnTo>
                        <a:pt x="33" y="12"/>
                      </a:lnTo>
                      <a:lnTo>
                        <a:pt x="34" y="19"/>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6" name="Freeform 34"/>
                <p:cNvSpPr>
                  <a:spLocks/>
                </p:cNvSpPr>
                <p:nvPr/>
              </p:nvSpPr>
              <p:spPr bwMode="gray">
                <a:xfrm>
                  <a:off x="3400426" y="4335463"/>
                  <a:ext cx="26988" cy="52388"/>
                </a:xfrm>
                <a:custGeom>
                  <a:avLst/>
                  <a:gdLst/>
                  <a:ahLst/>
                  <a:cxnLst>
                    <a:cxn ang="0">
                      <a:pos x="1" y="6"/>
                    </a:cxn>
                    <a:cxn ang="0">
                      <a:pos x="0" y="4"/>
                    </a:cxn>
                    <a:cxn ang="0">
                      <a:pos x="0" y="2"/>
                    </a:cxn>
                    <a:cxn ang="0">
                      <a:pos x="3" y="0"/>
                    </a:cxn>
                    <a:cxn ang="0">
                      <a:pos x="3" y="2"/>
                    </a:cxn>
                    <a:cxn ang="0">
                      <a:pos x="1" y="6"/>
                    </a:cxn>
                  </a:cxnLst>
                  <a:rect l="0" t="0" r="r" b="b"/>
                  <a:pathLst>
                    <a:path w="3" h="6">
                      <a:moveTo>
                        <a:pt x="1" y="6"/>
                      </a:moveTo>
                      <a:lnTo>
                        <a:pt x="0" y="4"/>
                      </a:lnTo>
                      <a:lnTo>
                        <a:pt x="0" y="2"/>
                      </a:lnTo>
                      <a:lnTo>
                        <a:pt x="3" y="0"/>
                      </a:lnTo>
                      <a:lnTo>
                        <a:pt x="3" y="2"/>
                      </a:lnTo>
                      <a:lnTo>
                        <a:pt x="1" y="6"/>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7" name="Freeform 35"/>
                <p:cNvSpPr>
                  <a:spLocks/>
                </p:cNvSpPr>
                <p:nvPr/>
              </p:nvSpPr>
              <p:spPr bwMode="gray">
                <a:xfrm>
                  <a:off x="3255963" y="4105276"/>
                  <a:ext cx="25400" cy="44450"/>
                </a:xfrm>
                <a:custGeom>
                  <a:avLst/>
                  <a:gdLst/>
                  <a:ahLst/>
                  <a:cxnLst>
                    <a:cxn ang="0">
                      <a:pos x="3" y="0"/>
                    </a:cxn>
                    <a:cxn ang="0">
                      <a:pos x="3" y="4"/>
                    </a:cxn>
                    <a:cxn ang="0">
                      <a:pos x="0" y="5"/>
                    </a:cxn>
                    <a:cxn ang="0">
                      <a:pos x="1" y="0"/>
                    </a:cxn>
                    <a:cxn ang="0">
                      <a:pos x="3" y="0"/>
                    </a:cxn>
                  </a:cxnLst>
                  <a:rect l="0" t="0" r="r" b="b"/>
                  <a:pathLst>
                    <a:path w="3" h="5">
                      <a:moveTo>
                        <a:pt x="3" y="0"/>
                      </a:moveTo>
                      <a:lnTo>
                        <a:pt x="3" y="4"/>
                      </a:lnTo>
                      <a:lnTo>
                        <a:pt x="0" y="5"/>
                      </a:lnTo>
                      <a:lnTo>
                        <a:pt x="1" y="0"/>
                      </a:lnTo>
                      <a:lnTo>
                        <a:pt x="3"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8" name="Freeform 36"/>
                <p:cNvSpPr>
                  <a:spLocks/>
                </p:cNvSpPr>
                <p:nvPr/>
              </p:nvSpPr>
              <p:spPr bwMode="gray">
                <a:xfrm>
                  <a:off x="3243263" y="3840163"/>
                  <a:ext cx="38100" cy="42863"/>
                </a:xfrm>
                <a:custGeom>
                  <a:avLst/>
                  <a:gdLst/>
                  <a:ahLst/>
                  <a:cxnLst>
                    <a:cxn ang="0">
                      <a:pos x="5" y="0"/>
                    </a:cxn>
                    <a:cxn ang="0">
                      <a:pos x="4" y="5"/>
                    </a:cxn>
                    <a:cxn ang="0">
                      <a:pos x="0" y="5"/>
                    </a:cxn>
                    <a:cxn ang="0">
                      <a:pos x="1" y="1"/>
                    </a:cxn>
                    <a:cxn ang="0">
                      <a:pos x="3" y="0"/>
                    </a:cxn>
                    <a:cxn ang="0">
                      <a:pos x="5" y="0"/>
                    </a:cxn>
                  </a:cxnLst>
                  <a:rect l="0" t="0" r="r" b="b"/>
                  <a:pathLst>
                    <a:path w="5" h="5">
                      <a:moveTo>
                        <a:pt x="5" y="0"/>
                      </a:moveTo>
                      <a:lnTo>
                        <a:pt x="4" y="5"/>
                      </a:lnTo>
                      <a:lnTo>
                        <a:pt x="0" y="5"/>
                      </a:lnTo>
                      <a:lnTo>
                        <a:pt x="1" y="1"/>
                      </a:lnTo>
                      <a:lnTo>
                        <a:pt x="3" y="0"/>
                      </a:lnTo>
                      <a:lnTo>
                        <a:pt x="5"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39" name="Freeform 37"/>
                <p:cNvSpPr>
                  <a:spLocks/>
                </p:cNvSpPr>
                <p:nvPr/>
              </p:nvSpPr>
              <p:spPr bwMode="gray">
                <a:xfrm>
                  <a:off x="3200401" y="3709988"/>
                  <a:ext cx="63500" cy="92075"/>
                </a:xfrm>
                <a:custGeom>
                  <a:avLst/>
                  <a:gdLst/>
                  <a:ahLst/>
                  <a:cxnLst>
                    <a:cxn ang="0">
                      <a:pos x="7" y="0"/>
                    </a:cxn>
                    <a:cxn ang="0">
                      <a:pos x="7" y="5"/>
                    </a:cxn>
                    <a:cxn ang="0">
                      <a:pos x="4" y="9"/>
                    </a:cxn>
                    <a:cxn ang="0">
                      <a:pos x="0" y="11"/>
                    </a:cxn>
                    <a:cxn ang="0">
                      <a:pos x="0" y="8"/>
                    </a:cxn>
                    <a:cxn ang="0">
                      <a:pos x="4" y="2"/>
                    </a:cxn>
                    <a:cxn ang="0">
                      <a:pos x="7" y="0"/>
                    </a:cxn>
                  </a:cxnLst>
                  <a:rect l="0" t="0" r="r" b="b"/>
                  <a:pathLst>
                    <a:path w="7" h="11">
                      <a:moveTo>
                        <a:pt x="7" y="0"/>
                      </a:moveTo>
                      <a:lnTo>
                        <a:pt x="7" y="5"/>
                      </a:lnTo>
                      <a:lnTo>
                        <a:pt x="4" y="9"/>
                      </a:lnTo>
                      <a:lnTo>
                        <a:pt x="0" y="11"/>
                      </a:lnTo>
                      <a:lnTo>
                        <a:pt x="0" y="8"/>
                      </a:lnTo>
                      <a:lnTo>
                        <a:pt x="4" y="2"/>
                      </a:lnTo>
                      <a:lnTo>
                        <a:pt x="7"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0" name="Freeform 38"/>
                <p:cNvSpPr>
                  <a:spLocks/>
                </p:cNvSpPr>
                <p:nvPr/>
              </p:nvSpPr>
              <p:spPr bwMode="gray">
                <a:xfrm>
                  <a:off x="3657601" y="4813301"/>
                  <a:ext cx="41275" cy="7938"/>
                </a:xfrm>
                <a:custGeom>
                  <a:avLst/>
                  <a:gdLst/>
                  <a:ahLst/>
                  <a:cxnLst>
                    <a:cxn ang="0">
                      <a:pos x="0" y="1"/>
                    </a:cxn>
                    <a:cxn ang="0">
                      <a:pos x="3" y="0"/>
                    </a:cxn>
                    <a:cxn ang="0">
                      <a:pos x="4" y="2"/>
                    </a:cxn>
                    <a:cxn ang="0">
                      <a:pos x="2" y="2"/>
                    </a:cxn>
                    <a:cxn ang="0">
                      <a:pos x="0" y="1"/>
                    </a:cxn>
                  </a:cxnLst>
                  <a:rect l="0" t="0" r="r" b="b"/>
                  <a:pathLst>
                    <a:path w="4" h="2">
                      <a:moveTo>
                        <a:pt x="0" y="1"/>
                      </a:moveTo>
                      <a:lnTo>
                        <a:pt x="3" y="0"/>
                      </a:lnTo>
                      <a:lnTo>
                        <a:pt x="4" y="2"/>
                      </a:lnTo>
                      <a:lnTo>
                        <a:pt x="2" y="2"/>
                      </a:lnTo>
                      <a:lnTo>
                        <a:pt x="0" y="1"/>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1" name="Freeform 39"/>
                <p:cNvSpPr>
                  <a:spLocks/>
                </p:cNvSpPr>
                <p:nvPr/>
              </p:nvSpPr>
              <p:spPr bwMode="gray">
                <a:xfrm>
                  <a:off x="2922588" y="4195763"/>
                  <a:ext cx="352425" cy="523875"/>
                </a:xfrm>
                <a:custGeom>
                  <a:avLst/>
                  <a:gdLst/>
                  <a:ahLst/>
                  <a:cxnLst>
                    <a:cxn ang="0">
                      <a:pos x="39" y="21"/>
                    </a:cxn>
                    <a:cxn ang="0">
                      <a:pos x="39" y="30"/>
                    </a:cxn>
                    <a:cxn ang="0">
                      <a:pos x="40" y="34"/>
                    </a:cxn>
                    <a:cxn ang="0">
                      <a:pos x="39" y="40"/>
                    </a:cxn>
                    <a:cxn ang="0">
                      <a:pos x="36" y="52"/>
                    </a:cxn>
                    <a:cxn ang="0">
                      <a:pos x="31" y="53"/>
                    </a:cxn>
                    <a:cxn ang="0">
                      <a:pos x="22" y="57"/>
                    </a:cxn>
                    <a:cxn ang="0">
                      <a:pos x="14" y="61"/>
                    </a:cxn>
                    <a:cxn ang="0">
                      <a:pos x="9" y="64"/>
                    </a:cxn>
                    <a:cxn ang="0">
                      <a:pos x="5" y="63"/>
                    </a:cxn>
                    <a:cxn ang="0">
                      <a:pos x="4" y="60"/>
                    </a:cxn>
                    <a:cxn ang="0">
                      <a:pos x="1" y="58"/>
                    </a:cxn>
                    <a:cxn ang="0">
                      <a:pos x="0" y="52"/>
                    </a:cxn>
                    <a:cxn ang="0">
                      <a:pos x="3" y="50"/>
                    </a:cxn>
                    <a:cxn ang="0">
                      <a:pos x="12" y="46"/>
                    </a:cxn>
                    <a:cxn ang="0">
                      <a:pos x="11" y="45"/>
                    </a:cxn>
                    <a:cxn ang="0">
                      <a:pos x="9" y="44"/>
                    </a:cxn>
                    <a:cxn ang="0">
                      <a:pos x="9" y="39"/>
                    </a:cxn>
                    <a:cxn ang="0">
                      <a:pos x="12" y="33"/>
                    </a:cxn>
                    <a:cxn ang="0">
                      <a:pos x="9" y="32"/>
                    </a:cxn>
                    <a:cxn ang="0">
                      <a:pos x="5" y="34"/>
                    </a:cxn>
                    <a:cxn ang="0">
                      <a:pos x="3" y="32"/>
                    </a:cxn>
                    <a:cxn ang="0">
                      <a:pos x="6" y="30"/>
                    </a:cxn>
                    <a:cxn ang="0">
                      <a:pos x="6" y="27"/>
                    </a:cxn>
                    <a:cxn ang="0">
                      <a:pos x="3" y="22"/>
                    </a:cxn>
                    <a:cxn ang="0">
                      <a:pos x="5" y="17"/>
                    </a:cxn>
                    <a:cxn ang="0">
                      <a:pos x="9" y="16"/>
                    </a:cxn>
                    <a:cxn ang="0">
                      <a:pos x="13" y="18"/>
                    </a:cxn>
                    <a:cxn ang="0">
                      <a:pos x="18" y="15"/>
                    </a:cxn>
                    <a:cxn ang="0">
                      <a:pos x="16" y="11"/>
                    </a:cxn>
                    <a:cxn ang="0">
                      <a:pos x="18" y="4"/>
                    </a:cxn>
                    <a:cxn ang="0">
                      <a:pos x="20" y="1"/>
                    </a:cxn>
                    <a:cxn ang="0">
                      <a:pos x="28" y="0"/>
                    </a:cxn>
                    <a:cxn ang="0">
                      <a:pos x="28" y="7"/>
                    </a:cxn>
                    <a:cxn ang="0">
                      <a:pos x="22" y="13"/>
                    </a:cxn>
                    <a:cxn ang="0">
                      <a:pos x="22" y="16"/>
                    </a:cxn>
                    <a:cxn ang="0">
                      <a:pos x="27" y="20"/>
                    </a:cxn>
                    <a:cxn ang="0">
                      <a:pos x="31" y="17"/>
                    </a:cxn>
                    <a:cxn ang="0">
                      <a:pos x="36" y="19"/>
                    </a:cxn>
                    <a:cxn ang="0">
                      <a:pos x="39" y="21"/>
                    </a:cxn>
                  </a:cxnLst>
                  <a:rect l="0" t="0" r="r" b="b"/>
                  <a:pathLst>
                    <a:path w="40" h="64">
                      <a:moveTo>
                        <a:pt x="39" y="21"/>
                      </a:moveTo>
                      <a:lnTo>
                        <a:pt x="39" y="30"/>
                      </a:lnTo>
                      <a:lnTo>
                        <a:pt x="40" y="34"/>
                      </a:lnTo>
                      <a:lnTo>
                        <a:pt x="39" y="40"/>
                      </a:lnTo>
                      <a:lnTo>
                        <a:pt x="36" y="52"/>
                      </a:lnTo>
                      <a:lnTo>
                        <a:pt x="31" y="53"/>
                      </a:lnTo>
                      <a:lnTo>
                        <a:pt x="22" y="57"/>
                      </a:lnTo>
                      <a:lnTo>
                        <a:pt x="14" y="61"/>
                      </a:lnTo>
                      <a:lnTo>
                        <a:pt x="9" y="64"/>
                      </a:lnTo>
                      <a:lnTo>
                        <a:pt x="5" y="63"/>
                      </a:lnTo>
                      <a:lnTo>
                        <a:pt x="4" y="60"/>
                      </a:lnTo>
                      <a:lnTo>
                        <a:pt x="1" y="58"/>
                      </a:lnTo>
                      <a:lnTo>
                        <a:pt x="0" y="52"/>
                      </a:lnTo>
                      <a:lnTo>
                        <a:pt x="3" y="50"/>
                      </a:lnTo>
                      <a:lnTo>
                        <a:pt x="12" y="46"/>
                      </a:lnTo>
                      <a:lnTo>
                        <a:pt x="11" y="45"/>
                      </a:lnTo>
                      <a:lnTo>
                        <a:pt x="9" y="44"/>
                      </a:lnTo>
                      <a:lnTo>
                        <a:pt x="9" y="39"/>
                      </a:lnTo>
                      <a:lnTo>
                        <a:pt x="12" y="33"/>
                      </a:lnTo>
                      <a:lnTo>
                        <a:pt x="9" y="32"/>
                      </a:lnTo>
                      <a:lnTo>
                        <a:pt x="5" y="34"/>
                      </a:lnTo>
                      <a:lnTo>
                        <a:pt x="3" y="32"/>
                      </a:lnTo>
                      <a:lnTo>
                        <a:pt x="6" y="30"/>
                      </a:lnTo>
                      <a:lnTo>
                        <a:pt x="6" y="27"/>
                      </a:lnTo>
                      <a:lnTo>
                        <a:pt x="3" y="22"/>
                      </a:lnTo>
                      <a:lnTo>
                        <a:pt x="5" y="17"/>
                      </a:lnTo>
                      <a:lnTo>
                        <a:pt x="9" y="16"/>
                      </a:lnTo>
                      <a:lnTo>
                        <a:pt x="13" y="18"/>
                      </a:lnTo>
                      <a:lnTo>
                        <a:pt x="18" y="15"/>
                      </a:lnTo>
                      <a:lnTo>
                        <a:pt x="16" y="11"/>
                      </a:lnTo>
                      <a:lnTo>
                        <a:pt x="18" y="4"/>
                      </a:lnTo>
                      <a:lnTo>
                        <a:pt x="20" y="1"/>
                      </a:lnTo>
                      <a:lnTo>
                        <a:pt x="28" y="0"/>
                      </a:lnTo>
                      <a:lnTo>
                        <a:pt x="28" y="7"/>
                      </a:lnTo>
                      <a:lnTo>
                        <a:pt x="22" y="13"/>
                      </a:lnTo>
                      <a:lnTo>
                        <a:pt x="22" y="16"/>
                      </a:lnTo>
                      <a:lnTo>
                        <a:pt x="27" y="20"/>
                      </a:lnTo>
                      <a:lnTo>
                        <a:pt x="31" y="17"/>
                      </a:lnTo>
                      <a:lnTo>
                        <a:pt x="36" y="19"/>
                      </a:lnTo>
                      <a:lnTo>
                        <a:pt x="39" y="21"/>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2" name="Freeform 40"/>
                <p:cNvSpPr>
                  <a:spLocks/>
                </p:cNvSpPr>
                <p:nvPr/>
              </p:nvSpPr>
              <p:spPr bwMode="gray">
                <a:xfrm>
                  <a:off x="5519738" y="3587751"/>
                  <a:ext cx="46038" cy="44450"/>
                </a:xfrm>
                <a:custGeom>
                  <a:avLst/>
                  <a:gdLst/>
                  <a:ahLst/>
                  <a:cxnLst>
                    <a:cxn ang="0">
                      <a:pos x="3" y="0"/>
                    </a:cxn>
                    <a:cxn ang="0">
                      <a:pos x="6" y="0"/>
                    </a:cxn>
                    <a:cxn ang="0">
                      <a:pos x="6" y="3"/>
                    </a:cxn>
                    <a:cxn ang="0">
                      <a:pos x="2" y="5"/>
                    </a:cxn>
                    <a:cxn ang="0">
                      <a:pos x="0" y="2"/>
                    </a:cxn>
                    <a:cxn ang="0">
                      <a:pos x="3" y="0"/>
                    </a:cxn>
                  </a:cxnLst>
                  <a:rect l="0" t="0" r="r" b="b"/>
                  <a:pathLst>
                    <a:path w="6" h="5">
                      <a:moveTo>
                        <a:pt x="3" y="0"/>
                      </a:moveTo>
                      <a:lnTo>
                        <a:pt x="6" y="0"/>
                      </a:lnTo>
                      <a:lnTo>
                        <a:pt x="6" y="3"/>
                      </a:lnTo>
                      <a:lnTo>
                        <a:pt x="2" y="5"/>
                      </a:lnTo>
                      <a:lnTo>
                        <a:pt x="0" y="2"/>
                      </a:lnTo>
                      <a:lnTo>
                        <a:pt x="3"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3" name="Freeform 58"/>
                <p:cNvSpPr>
                  <a:spLocks/>
                </p:cNvSpPr>
                <p:nvPr/>
              </p:nvSpPr>
              <p:spPr bwMode="gray">
                <a:xfrm>
                  <a:off x="4535488" y="4133851"/>
                  <a:ext cx="85725" cy="61913"/>
                </a:xfrm>
                <a:custGeom>
                  <a:avLst/>
                  <a:gdLst/>
                  <a:ahLst/>
                  <a:cxnLst>
                    <a:cxn ang="0">
                      <a:pos x="0" y="2"/>
                    </a:cxn>
                    <a:cxn ang="0">
                      <a:pos x="4" y="0"/>
                    </a:cxn>
                    <a:cxn ang="0">
                      <a:pos x="9" y="1"/>
                    </a:cxn>
                    <a:cxn ang="0">
                      <a:pos x="10" y="4"/>
                    </a:cxn>
                    <a:cxn ang="0">
                      <a:pos x="7" y="8"/>
                    </a:cxn>
                    <a:cxn ang="0">
                      <a:pos x="2" y="7"/>
                    </a:cxn>
                    <a:cxn ang="0">
                      <a:pos x="0" y="2"/>
                    </a:cxn>
                  </a:cxnLst>
                  <a:rect l="0" t="0" r="r" b="b"/>
                  <a:pathLst>
                    <a:path w="10" h="8">
                      <a:moveTo>
                        <a:pt x="0" y="2"/>
                      </a:moveTo>
                      <a:lnTo>
                        <a:pt x="4" y="0"/>
                      </a:lnTo>
                      <a:lnTo>
                        <a:pt x="9" y="1"/>
                      </a:lnTo>
                      <a:lnTo>
                        <a:pt x="10" y="4"/>
                      </a:lnTo>
                      <a:lnTo>
                        <a:pt x="7" y="8"/>
                      </a:lnTo>
                      <a:lnTo>
                        <a:pt x="2" y="7"/>
                      </a:lnTo>
                      <a:lnTo>
                        <a:pt x="0" y="2"/>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4" name="Freeform 60"/>
                <p:cNvSpPr>
                  <a:spLocks/>
                </p:cNvSpPr>
                <p:nvPr/>
              </p:nvSpPr>
              <p:spPr bwMode="gray">
                <a:xfrm>
                  <a:off x="5348288" y="4183063"/>
                  <a:ext cx="233363" cy="115888"/>
                </a:xfrm>
                <a:custGeom>
                  <a:avLst/>
                  <a:gdLst/>
                  <a:ahLst/>
                  <a:cxnLst>
                    <a:cxn ang="0">
                      <a:pos x="27" y="14"/>
                    </a:cxn>
                    <a:cxn ang="0">
                      <a:pos x="13" y="15"/>
                    </a:cxn>
                    <a:cxn ang="0">
                      <a:pos x="5" y="13"/>
                    </a:cxn>
                    <a:cxn ang="0">
                      <a:pos x="0" y="12"/>
                    </a:cxn>
                    <a:cxn ang="0">
                      <a:pos x="1" y="9"/>
                    </a:cxn>
                    <a:cxn ang="0">
                      <a:pos x="0" y="6"/>
                    </a:cxn>
                    <a:cxn ang="0">
                      <a:pos x="0" y="3"/>
                    </a:cxn>
                    <a:cxn ang="0">
                      <a:pos x="11" y="3"/>
                    </a:cxn>
                    <a:cxn ang="0">
                      <a:pos x="12" y="0"/>
                    </a:cxn>
                    <a:cxn ang="0">
                      <a:pos x="19" y="3"/>
                    </a:cxn>
                    <a:cxn ang="0">
                      <a:pos x="23" y="5"/>
                    </a:cxn>
                    <a:cxn ang="0">
                      <a:pos x="27" y="14"/>
                    </a:cxn>
                  </a:cxnLst>
                  <a:rect l="0" t="0" r="r" b="b"/>
                  <a:pathLst>
                    <a:path w="27" h="15">
                      <a:moveTo>
                        <a:pt x="27" y="14"/>
                      </a:moveTo>
                      <a:lnTo>
                        <a:pt x="13" y="15"/>
                      </a:lnTo>
                      <a:lnTo>
                        <a:pt x="5" y="13"/>
                      </a:lnTo>
                      <a:lnTo>
                        <a:pt x="0" y="12"/>
                      </a:lnTo>
                      <a:lnTo>
                        <a:pt x="1" y="9"/>
                      </a:lnTo>
                      <a:lnTo>
                        <a:pt x="0" y="6"/>
                      </a:lnTo>
                      <a:lnTo>
                        <a:pt x="0" y="3"/>
                      </a:lnTo>
                      <a:lnTo>
                        <a:pt x="11" y="3"/>
                      </a:lnTo>
                      <a:lnTo>
                        <a:pt x="12" y="0"/>
                      </a:lnTo>
                      <a:lnTo>
                        <a:pt x="19" y="3"/>
                      </a:lnTo>
                      <a:lnTo>
                        <a:pt x="23" y="5"/>
                      </a:lnTo>
                      <a:lnTo>
                        <a:pt x="27" y="14"/>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5" name="Freeform 61"/>
                <p:cNvSpPr>
                  <a:spLocks/>
                </p:cNvSpPr>
                <p:nvPr/>
              </p:nvSpPr>
              <p:spPr bwMode="gray">
                <a:xfrm>
                  <a:off x="4892676" y="4227513"/>
                  <a:ext cx="796925" cy="760413"/>
                </a:xfrm>
                <a:custGeom>
                  <a:avLst/>
                  <a:gdLst/>
                  <a:ahLst/>
                  <a:cxnLst>
                    <a:cxn ang="0">
                      <a:pos x="0" y="17"/>
                    </a:cxn>
                    <a:cxn ang="0">
                      <a:pos x="6" y="14"/>
                    </a:cxn>
                    <a:cxn ang="0">
                      <a:pos x="12" y="13"/>
                    </a:cxn>
                    <a:cxn ang="0">
                      <a:pos x="20" y="7"/>
                    </a:cxn>
                    <a:cxn ang="0">
                      <a:pos x="26" y="4"/>
                    </a:cxn>
                    <a:cxn ang="0">
                      <a:pos x="30" y="0"/>
                    </a:cxn>
                    <a:cxn ang="0">
                      <a:pos x="39" y="2"/>
                    </a:cxn>
                    <a:cxn ang="0">
                      <a:pos x="40" y="9"/>
                    </a:cxn>
                    <a:cxn ang="0">
                      <a:pos x="46" y="10"/>
                    </a:cxn>
                    <a:cxn ang="0">
                      <a:pos x="51" y="7"/>
                    </a:cxn>
                    <a:cxn ang="0">
                      <a:pos x="53" y="7"/>
                    </a:cxn>
                    <a:cxn ang="0">
                      <a:pos x="58" y="8"/>
                    </a:cxn>
                    <a:cxn ang="0">
                      <a:pos x="66" y="10"/>
                    </a:cxn>
                    <a:cxn ang="0">
                      <a:pos x="80" y="9"/>
                    </a:cxn>
                    <a:cxn ang="0">
                      <a:pos x="83" y="8"/>
                    </a:cxn>
                    <a:cxn ang="0">
                      <a:pos x="85" y="12"/>
                    </a:cxn>
                    <a:cxn ang="0">
                      <a:pos x="85" y="23"/>
                    </a:cxn>
                    <a:cxn ang="0">
                      <a:pos x="91" y="33"/>
                    </a:cxn>
                    <a:cxn ang="0">
                      <a:pos x="83" y="41"/>
                    </a:cxn>
                    <a:cxn ang="0">
                      <a:pos x="91" y="49"/>
                    </a:cxn>
                    <a:cxn ang="0">
                      <a:pos x="92" y="58"/>
                    </a:cxn>
                    <a:cxn ang="0">
                      <a:pos x="93" y="72"/>
                    </a:cxn>
                    <a:cxn ang="0">
                      <a:pos x="80" y="87"/>
                    </a:cxn>
                    <a:cxn ang="0">
                      <a:pos x="80" y="90"/>
                    </a:cxn>
                    <a:cxn ang="0">
                      <a:pos x="76" y="94"/>
                    </a:cxn>
                    <a:cxn ang="0">
                      <a:pos x="70" y="89"/>
                    </a:cxn>
                    <a:cxn ang="0">
                      <a:pos x="52" y="92"/>
                    </a:cxn>
                    <a:cxn ang="0">
                      <a:pos x="45" y="88"/>
                    </a:cxn>
                    <a:cxn ang="0">
                      <a:pos x="40" y="88"/>
                    </a:cxn>
                    <a:cxn ang="0">
                      <a:pos x="26" y="74"/>
                    </a:cxn>
                    <a:cxn ang="0">
                      <a:pos x="19" y="76"/>
                    </a:cxn>
                    <a:cxn ang="0">
                      <a:pos x="13" y="65"/>
                    </a:cxn>
                    <a:cxn ang="0">
                      <a:pos x="8" y="63"/>
                    </a:cxn>
                    <a:cxn ang="0">
                      <a:pos x="0" y="37"/>
                    </a:cxn>
                    <a:cxn ang="0">
                      <a:pos x="2" y="25"/>
                    </a:cxn>
                    <a:cxn ang="0">
                      <a:pos x="0" y="17"/>
                    </a:cxn>
                  </a:cxnLst>
                  <a:rect l="0" t="0" r="r" b="b"/>
                  <a:pathLst>
                    <a:path w="93" h="94">
                      <a:moveTo>
                        <a:pt x="0" y="17"/>
                      </a:moveTo>
                      <a:lnTo>
                        <a:pt x="6" y="14"/>
                      </a:lnTo>
                      <a:lnTo>
                        <a:pt x="12" y="13"/>
                      </a:lnTo>
                      <a:lnTo>
                        <a:pt x="20" y="7"/>
                      </a:lnTo>
                      <a:lnTo>
                        <a:pt x="26" y="4"/>
                      </a:lnTo>
                      <a:lnTo>
                        <a:pt x="30" y="0"/>
                      </a:lnTo>
                      <a:lnTo>
                        <a:pt x="39" y="2"/>
                      </a:lnTo>
                      <a:lnTo>
                        <a:pt x="40" y="9"/>
                      </a:lnTo>
                      <a:lnTo>
                        <a:pt x="46" y="10"/>
                      </a:lnTo>
                      <a:lnTo>
                        <a:pt x="51" y="7"/>
                      </a:lnTo>
                      <a:lnTo>
                        <a:pt x="53" y="7"/>
                      </a:lnTo>
                      <a:lnTo>
                        <a:pt x="58" y="8"/>
                      </a:lnTo>
                      <a:lnTo>
                        <a:pt x="66" y="10"/>
                      </a:lnTo>
                      <a:lnTo>
                        <a:pt x="80" y="9"/>
                      </a:lnTo>
                      <a:lnTo>
                        <a:pt x="83" y="8"/>
                      </a:lnTo>
                      <a:lnTo>
                        <a:pt x="85" y="12"/>
                      </a:lnTo>
                      <a:lnTo>
                        <a:pt x="85" y="23"/>
                      </a:lnTo>
                      <a:lnTo>
                        <a:pt x="91" y="33"/>
                      </a:lnTo>
                      <a:lnTo>
                        <a:pt x="83" y="41"/>
                      </a:lnTo>
                      <a:lnTo>
                        <a:pt x="91" y="49"/>
                      </a:lnTo>
                      <a:lnTo>
                        <a:pt x="92" y="58"/>
                      </a:lnTo>
                      <a:lnTo>
                        <a:pt x="93" y="72"/>
                      </a:lnTo>
                      <a:lnTo>
                        <a:pt x="80" y="87"/>
                      </a:lnTo>
                      <a:lnTo>
                        <a:pt x="80" y="90"/>
                      </a:lnTo>
                      <a:lnTo>
                        <a:pt x="76" y="94"/>
                      </a:lnTo>
                      <a:lnTo>
                        <a:pt x="70" y="89"/>
                      </a:lnTo>
                      <a:lnTo>
                        <a:pt x="52" y="92"/>
                      </a:lnTo>
                      <a:lnTo>
                        <a:pt x="45" y="88"/>
                      </a:lnTo>
                      <a:lnTo>
                        <a:pt x="40" y="88"/>
                      </a:lnTo>
                      <a:lnTo>
                        <a:pt x="26" y="74"/>
                      </a:lnTo>
                      <a:lnTo>
                        <a:pt x="19" y="76"/>
                      </a:lnTo>
                      <a:lnTo>
                        <a:pt x="13" y="65"/>
                      </a:lnTo>
                      <a:lnTo>
                        <a:pt x="8" y="63"/>
                      </a:lnTo>
                      <a:lnTo>
                        <a:pt x="0" y="37"/>
                      </a:lnTo>
                      <a:lnTo>
                        <a:pt x="2" y="25"/>
                      </a:lnTo>
                      <a:lnTo>
                        <a:pt x="0" y="17"/>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6" name="Freeform 62"/>
                <p:cNvSpPr>
                  <a:spLocks/>
                </p:cNvSpPr>
                <p:nvPr/>
              </p:nvSpPr>
              <p:spPr bwMode="gray">
                <a:xfrm>
                  <a:off x="5130801" y="4937126"/>
                  <a:ext cx="419100" cy="185738"/>
                </a:xfrm>
                <a:custGeom>
                  <a:avLst/>
                  <a:gdLst/>
                  <a:ahLst/>
                  <a:cxnLst>
                    <a:cxn ang="0">
                      <a:pos x="48" y="6"/>
                    </a:cxn>
                    <a:cxn ang="0">
                      <a:pos x="46" y="15"/>
                    </a:cxn>
                    <a:cxn ang="0">
                      <a:pos x="43" y="16"/>
                    </a:cxn>
                    <a:cxn ang="0">
                      <a:pos x="38" y="13"/>
                    </a:cxn>
                    <a:cxn ang="0">
                      <a:pos x="27" y="14"/>
                    </a:cxn>
                    <a:cxn ang="0">
                      <a:pos x="23" y="21"/>
                    </a:cxn>
                    <a:cxn ang="0">
                      <a:pos x="16" y="23"/>
                    </a:cxn>
                    <a:cxn ang="0">
                      <a:pos x="7" y="23"/>
                    </a:cxn>
                    <a:cxn ang="0">
                      <a:pos x="4" y="21"/>
                    </a:cxn>
                    <a:cxn ang="0">
                      <a:pos x="0" y="21"/>
                    </a:cxn>
                    <a:cxn ang="0">
                      <a:pos x="1" y="16"/>
                    </a:cxn>
                    <a:cxn ang="0">
                      <a:pos x="6" y="11"/>
                    </a:cxn>
                    <a:cxn ang="0">
                      <a:pos x="9" y="6"/>
                    </a:cxn>
                    <a:cxn ang="0">
                      <a:pos x="15" y="6"/>
                    </a:cxn>
                    <a:cxn ang="0">
                      <a:pos x="17" y="0"/>
                    </a:cxn>
                    <a:cxn ang="0">
                      <a:pos x="24" y="4"/>
                    </a:cxn>
                    <a:cxn ang="0">
                      <a:pos x="42" y="1"/>
                    </a:cxn>
                    <a:cxn ang="0">
                      <a:pos x="48" y="6"/>
                    </a:cxn>
                  </a:cxnLst>
                  <a:rect l="0" t="0" r="r" b="b"/>
                  <a:pathLst>
                    <a:path w="48" h="23">
                      <a:moveTo>
                        <a:pt x="48" y="6"/>
                      </a:moveTo>
                      <a:lnTo>
                        <a:pt x="46" y="15"/>
                      </a:lnTo>
                      <a:lnTo>
                        <a:pt x="43" y="16"/>
                      </a:lnTo>
                      <a:lnTo>
                        <a:pt x="38" y="13"/>
                      </a:lnTo>
                      <a:lnTo>
                        <a:pt x="27" y="14"/>
                      </a:lnTo>
                      <a:lnTo>
                        <a:pt x="23" y="21"/>
                      </a:lnTo>
                      <a:lnTo>
                        <a:pt x="16" y="23"/>
                      </a:lnTo>
                      <a:lnTo>
                        <a:pt x="7" y="23"/>
                      </a:lnTo>
                      <a:lnTo>
                        <a:pt x="4" y="21"/>
                      </a:lnTo>
                      <a:lnTo>
                        <a:pt x="0" y="21"/>
                      </a:lnTo>
                      <a:lnTo>
                        <a:pt x="1" y="16"/>
                      </a:lnTo>
                      <a:lnTo>
                        <a:pt x="6" y="11"/>
                      </a:lnTo>
                      <a:lnTo>
                        <a:pt x="9" y="6"/>
                      </a:lnTo>
                      <a:lnTo>
                        <a:pt x="15" y="6"/>
                      </a:lnTo>
                      <a:lnTo>
                        <a:pt x="17" y="0"/>
                      </a:lnTo>
                      <a:lnTo>
                        <a:pt x="24" y="4"/>
                      </a:lnTo>
                      <a:lnTo>
                        <a:pt x="42" y="1"/>
                      </a:lnTo>
                      <a:lnTo>
                        <a:pt x="48" y="6"/>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7" name="Freeform 63"/>
                <p:cNvSpPr>
                  <a:spLocks/>
                </p:cNvSpPr>
                <p:nvPr/>
              </p:nvSpPr>
              <p:spPr bwMode="gray">
                <a:xfrm>
                  <a:off x="5051426" y="5046663"/>
                  <a:ext cx="541338" cy="346075"/>
                </a:xfrm>
                <a:custGeom>
                  <a:avLst/>
                  <a:gdLst/>
                  <a:ahLst/>
                  <a:cxnLst>
                    <a:cxn ang="0">
                      <a:pos x="55" y="2"/>
                    </a:cxn>
                    <a:cxn ang="0">
                      <a:pos x="63" y="9"/>
                    </a:cxn>
                    <a:cxn ang="0">
                      <a:pos x="55" y="14"/>
                    </a:cxn>
                    <a:cxn ang="0">
                      <a:pos x="48" y="23"/>
                    </a:cxn>
                    <a:cxn ang="0">
                      <a:pos x="46" y="35"/>
                    </a:cxn>
                    <a:cxn ang="0">
                      <a:pos x="38" y="37"/>
                    </a:cxn>
                    <a:cxn ang="0">
                      <a:pos x="36" y="36"/>
                    </a:cxn>
                    <a:cxn ang="0">
                      <a:pos x="25" y="40"/>
                    </a:cxn>
                    <a:cxn ang="0">
                      <a:pos x="24" y="43"/>
                    </a:cxn>
                    <a:cxn ang="0">
                      <a:pos x="11" y="41"/>
                    </a:cxn>
                    <a:cxn ang="0">
                      <a:pos x="7" y="32"/>
                    </a:cxn>
                    <a:cxn ang="0">
                      <a:pos x="2" y="31"/>
                    </a:cxn>
                    <a:cxn ang="0">
                      <a:pos x="0" y="27"/>
                    </a:cxn>
                    <a:cxn ang="0">
                      <a:pos x="2" y="23"/>
                    </a:cxn>
                    <a:cxn ang="0">
                      <a:pos x="2" y="17"/>
                    </a:cxn>
                    <a:cxn ang="0">
                      <a:pos x="6" y="14"/>
                    </a:cxn>
                    <a:cxn ang="0">
                      <a:pos x="5" y="7"/>
                    </a:cxn>
                    <a:cxn ang="0">
                      <a:pos x="9" y="8"/>
                    </a:cxn>
                    <a:cxn ang="0">
                      <a:pos x="13" y="8"/>
                    </a:cxn>
                    <a:cxn ang="0">
                      <a:pos x="16" y="10"/>
                    </a:cxn>
                    <a:cxn ang="0">
                      <a:pos x="25" y="10"/>
                    </a:cxn>
                    <a:cxn ang="0">
                      <a:pos x="32" y="8"/>
                    </a:cxn>
                    <a:cxn ang="0">
                      <a:pos x="36" y="1"/>
                    </a:cxn>
                    <a:cxn ang="0">
                      <a:pos x="47" y="0"/>
                    </a:cxn>
                    <a:cxn ang="0">
                      <a:pos x="52" y="3"/>
                    </a:cxn>
                    <a:cxn ang="0">
                      <a:pos x="55" y="2"/>
                    </a:cxn>
                  </a:cxnLst>
                  <a:rect l="0" t="0" r="r" b="b"/>
                  <a:pathLst>
                    <a:path w="63" h="43">
                      <a:moveTo>
                        <a:pt x="55" y="2"/>
                      </a:moveTo>
                      <a:lnTo>
                        <a:pt x="63" y="9"/>
                      </a:lnTo>
                      <a:lnTo>
                        <a:pt x="55" y="14"/>
                      </a:lnTo>
                      <a:lnTo>
                        <a:pt x="48" y="23"/>
                      </a:lnTo>
                      <a:lnTo>
                        <a:pt x="46" y="35"/>
                      </a:lnTo>
                      <a:lnTo>
                        <a:pt x="38" y="37"/>
                      </a:lnTo>
                      <a:lnTo>
                        <a:pt x="36" y="36"/>
                      </a:lnTo>
                      <a:lnTo>
                        <a:pt x="25" y="40"/>
                      </a:lnTo>
                      <a:lnTo>
                        <a:pt x="24" y="43"/>
                      </a:lnTo>
                      <a:lnTo>
                        <a:pt x="11" y="41"/>
                      </a:lnTo>
                      <a:lnTo>
                        <a:pt x="7" y="32"/>
                      </a:lnTo>
                      <a:lnTo>
                        <a:pt x="2" y="31"/>
                      </a:lnTo>
                      <a:lnTo>
                        <a:pt x="0" y="27"/>
                      </a:lnTo>
                      <a:lnTo>
                        <a:pt x="2" y="23"/>
                      </a:lnTo>
                      <a:lnTo>
                        <a:pt x="2" y="17"/>
                      </a:lnTo>
                      <a:lnTo>
                        <a:pt x="6" y="14"/>
                      </a:lnTo>
                      <a:lnTo>
                        <a:pt x="5" y="7"/>
                      </a:lnTo>
                      <a:lnTo>
                        <a:pt x="9" y="8"/>
                      </a:lnTo>
                      <a:lnTo>
                        <a:pt x="13" y="8"/>
                      </a:lnTo>
                      <a:lnTo>
                        <a:pt x="16" y="10"/>
                      </a:lnTo>
                      <a:lnTo>
                        <a:pt x="25" y="10"/>
                      </a:lnTo>
                      <a:lnTo>
                        <a:pt x="32" y="8"/>
                      </a:lnTo>
                      <a:lnTo>
                        <a:pt x="36" y="1"/>
                      </a:lnTo>
                      <a:lnTo>
                        <a:pt x="47" y="0"/>
                      </a:lnTo>
                      <a:lnTo>
                        <a:pt x="52" y="3"/>
                      </a:lnTo>
                      <a:lnTo>
                        <a:pt x="55" y="2"/>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8" name="Freeform 64"/>
                <p:cNvSpPr>
                  <a:spLocks/>
                </p:cNvSpPr>
                <p:nvPr/>
              </p:nvSpPr>
              <p:spPr bwMode="gray">
                <a:xfrm>
                  <a:off x="4730751" y="4737101"/>
                  <a:ext cx="546100" cy="371475"/>
                </a:xfrm>
                <a:custGeom>
                  <a:avLst/>
                  <a:gdLst/>
                  <a:ahLst/>
                  <a:cxnLst>
                    <a:cxn ang="0">
                      <a:pos x="46" y="46"/>
                    </a:cxn>
                    <a:cxn ang="0">
                      <a:pos x="42" y="45"/>
                    </a:cxn>
                    <a:cxn ang="0">
                      <a:pos x="39" y="45"/>
                    </a:cxn>
                    <a:cxn ang="0">
                      <a:pos x="37" y="39"/>
                    </a:cxn>
                    <a:cxn ang="0">
                      <a:pos x="28" y="35"/>
                    </a:cxn>
                    <a:cxn ang="0">
                      <a:pos x="15" y="37"/>
                    </a:cxn>
                    <a:cxn ang="0">
                      <a:pos x="2" y="26"/>
                    </a:cxn>
                    <a:cxn ang="0">
                      <a:pos x="0" y="15"/>
                    </a:cxn>
                    <a:cxn ang="0">
                      <a:pos x="14" y="6"/>
                    </a:cxn>
                    <a:cxn ang="0">
                      <a:pos x="17" y="1"/>
                    </a:cxn>
                    <a:cxn ang="0">
                      <a:pos x="26" y="0"/>
                    </a:cxn>
                    <a:cxn ang="0">
                      <a:pos x="31" y="2"/>
                    </a:cxn>
                    <a:cxn ang="0">
                      <a:pos x="37" y="13"/>
                    </a:cxn>
                    <a:cxn ang="0">
                      <a:pos x="44" y="11"/>
                    </a:cxn>
                    <a:cxn ang="0">
                      <a:pos x="58" y="25"/>
                    </a:cxn>
                    <a:cxn ang="0">
                      <a:pos x="63" y="25"/>
                    </a:cxn>
                    <a:cxn ang="0">
                      <a:pos x="61" y="31"/>
                    </a:cxn>
                    <a:cxn ang="0">
                      <a:pos x="55" y="31"/>
                    </a:cxn>
                    <a:cxn ang="0">
                      <a:pos x="52" y="36"/>
                    </a:cxn>
                    <a:cxn ang="0">
                      <a:pos x="47" y="41"/>
                    </a:cxn>
                    <a:cxn ang="0">
                      <a:pos x="46" y="46"/>
                    </a:cxn>
                  </a:cxnLst>
                  <a:rect l="0" t="0" r="r" b="b"/>
                  <a:pathLst>
                    <a:path w="63" h="46">
                      <a:moveTo>
                        <a:pt x="46" y="46"/>
                      </a:moveTo>
                      <a:lnTo>
                        <a:pt x="42" y="45"/>
                      </a:lnTo>
                      <a:lnTo>
                        <a:pt x="39" y="45"/>
                      </a:lnTo>
                      <a:lnTo>
                        <a:pt x="37" y="39"/>
                      </a:lnTo>
                      <a:lnTo>
                        <a:pt x="28" y="35"/>
                      </a:lnTo>
                      <a:lnTo>
                        <a:pt x="15" y="37"/>
                      </a:lnTo>
                      <a:lnTo>
                        <a:pt x="2" y="26"/>
                      </a:lnTo>
                      <a:lnTo>
                        <a:pt x="0" y="15"/>
                      </a:lnTo>
                      <a:lnTo>
                        <a:pt x="14" y="6"/>
                      </a:lnTo>
                      <a:lnTo>
                        <a:pt x="17" y="1"/>
                      </a:lnTo>
                      <a:lnTo>
                        <a:pt x="26" y="0"/>
                      </a:lnTo>
                      <a:lnTo>
                        <a:pt x="31" y="2"/>
                      </a:lnTo>
                      <a:lnTo>
                        <a:pt x="37" y="13"/>
                      </a:lnTo>
                      <a:lnTo>
                        <a:pt x="44" y="11"/>
                      </a:lnTo>
                      <a:lnTo>
                        <a:pt x="58" y="25"/>
                      </a:lnTo>
                      <a:lnTo>
                        <a:pt x="63" y="25"/>
                      </a:lnTo>
                      <a:lnTo>
                        <a:pt x="61" y="31"/>
                      </a:lnTo>
                      <a:lnTo>
                        <a:pt x="55" y="31"/>
                      </a:lnTo>
                      <a:lnTo>
                        <a:pt x="52" y="36"/>
                      </a:lnTo>
                      <a:lnTo>
                        <a:pt x="47" y="41"/>
                      </a:lnTo>
                      <a:lnTo>
                        <a:pt x="46" y="46"/>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49" name="Freeform 65"/>
                <p:cNvSpPr>
                  <a:spLocks/>
                </p:cNvSpPr>
                <p:nvPr/>
              </p:nvSpPr>
              <p:spPr bwMode="gray">
                <a:xfrm>
                  <a:off x="4843463" y="5260976"/>
                  <a:ext cx="223838" cy="142875"/>
                </a:xfrm>
                <a:custGeom>
                  <a:avLst/>
                  <a:gdLst/>
                  <a:ahLst/>
                  <a:cxnLst>
                    <a:cxn ang="0">
                      <a:pos x="24" y="0"/>
                    </a:cxn>
                    <a:cxn ang="0">
                      <a:pos x="26" y="4"/>
                    </a:cxn>
                    <a:cxn ang="0">
                      <a:pos x="22" y="6"/>
                    </a:cxn>
                    <a:cxn ang="0">
                      <a:pos x="22" y="10"/>
                    </a:cxn>
                    <a:cxn ang="0">
                      <a:pos x="18" y="17"/>
                    </a:cxn>
                    <a:cxn ang="0">
                      <a:pos x="3" y="18"/>
                    </a:cxn>
                    <a:cxn ang="0">
                      <a:pos x="3" y="15"/>
                    </a:cxn>
                    <a:cxn ang="0">
                      <a:pos x="0" y="12"/>
                    </a:cxn>
                    <a:cxn ang="0">
                      <a:pos x="0" y="6"/>
                    </a:cxn>
                    <a:cxn ang="0">
                      <a:pos x="7" y="9"/>
                    </a:cxn>
                    <a:cxn ang="0">
                      <a:pos x="16" y="2"/>
                    </a:cxn>
                    <a:cxn ang="0">
                      <a:pos x="24" y="0"/>
                    </a:cxn>
                  </a:cxnLst>
                  <a:rect l="0" t="0" r="r" b="b"/>
                  <a:pathLst>
                    <a:path w="26" h="18">
                      <a:moveTo>
                        <a:pt x="24" y="0"/>
                      </a:moveTo>
                      <a:lnTo>
                        <a:pt x="26" y="4"/>
                      </a:lnTo>
                      <a:lnTo>
                        <a:pt x="22" y="6"/>
                      </a:lnTo>
                      <a:lnTo>
                        <a:pt x="22" y="10"/>
                      </a:lnTo>
                      <a:lnTo>
                        <a:pt x="18" y="17"/>
                      </a:lnTo>
                      <a:lnTo>
                        <a:pt x="3" y="18"/>
                      </a:lnTo>
                      <a:lnTo>
                        <a:pt x="3" y="15"/>
                      </a:lnTo>
                      <a:lnTo>
                        <a:pt x="0" y="12"/>
                      </a:lnTo>
                      <a:lnTo>
                        <a:pt x="0" y="6"/>
                      </a:lnTo>
                      <a:lnTo>
                        <a:pt x="7" y="9"/>
                      </a:lnTo>
                      <a:lnTo>
                        <a:pt x="16" y="2"/>
                      </a:lnTo>
                      <a:lnTo>
                        <a:pt x="24" y="0"/>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0" name="Freeform 69"/>
                <p:cNvSpPr>
                  <a:spLocks/>
                </p:cNvSpPr>
                <p:nvPr/>
              </p:nvSpPr>
              <p:spPr bwMode="gray">
                <a:xfrm>
                  <a:off x="4624388" y="4073526"/>
                  <a:ext cx="127000" cy="131763"/>
                </a:xfrm>
                <a:custGeom>
                  <a:avLst/>
                  <a:gdLst/>
                  <a:ahLst/>
                  <a:cxnLst>
                    <a:cxn ang="0">
                      <a:pos x="5" y="3"/>
                    </a:cxn>
                    <a:cxn ang="0">
                      <a:pos x="0" y="4"/>
                    </a:cxn>
                    <a:cxn ang="0">
                      <a:pos x="0" y="6"/>
                    </a:cxn>
                    <a:cxn ang="0">
                      <a:pos x="3" y="11"/>
                    </a:cxn>
                    <a:cxn ang="0">
                      <a:pos x="5" y="13"/>
                    </a:cxn>
                    <a:cxn ang="0">
                      <a:pos x="8" y="13"/>
                    </a:cxn>
                    <a:cxn ang="0">
                      <a:pos x="9" y="16"/>
                    </a:cxn>
                    <a:cxn ang="0">
                      <a:pos x="13" y="13"/>
                    </a:cxn>
                    <a:cxn ang="0">
                      <a:pos x="14" y="10"/>
                    </a:cxn>
                    <a:cxn ang="0">
                      <a:pos x="12" y="6"/>
                    </a:cxn>
                    <a:cxn ang="0">
                      <a:pos x="13" y="2"/>
                    </a:cxn>
                    <a:cxn ang="0">
                      <a:pos x="9" y="0"/>
                    </a:cxn>
                    <a:cxn ang="0">
                      <a:pos x="5" y="3"/>
                    </a:cxn>
                  </a:cxnLst>
                  <a:rect l="0" t="0" r="r" b="b"/>
                  <a:pathLst>
                    <a:path w="14" h="16">
                      <a:moveTo>
                        <a:pt x="5" y="3"/>
                      </a:moveTo>
                      <a:lnTo>
                        <a:pt x="0" y="4"/>
                      </a:lnTo>
                      <a:lnTo>
                        <a:pt x="0" y="6"/>
                      </a:lnTo>
                      <a:lnTo>
                        <a:pt x="3" y="11"/>
                      </a:lnTo>
                      <a:lnTo>
                        <a:pt x="5" y="13"/>
                      </a:lnTo>
                      <a:lnTo>
                        <a:pt x="8" y="13"/>
                      </a:lnTo>
                      <a:lnTo>
                        <a:pt x="9" y="16"/>
                      </a:lnTo>
                      <a:lnTo>
                        <a:pt x="13" y="13"/>
                      </a:lnTo>
                      <a:lnTo>
                        <a:pt x="14" y="10"/>
                      </a:lnTo>
                      <a:lnTo>
                        <a:pt x="12" y="6"/>
                      </a:lnTo>
                      <a:lnTo>
                        <a:pt x="13" y="2"/>
                      </a:lnTo>
                      <a:lnTo>
                        <a:pt x="9" y="0"/>
                      </a:lnTo>
                      <a:lnTo>
                        <a:pt x="5" y="3"/>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1" name="Freeform 70"/>
                <p:cNvSpPr>
                  <a:spLocks/>
                </p:cNvSpPr>
                <p:nvPr/>
              </p:nvSpPr>
              <p:spPr bwMode="gray">
                <a:xfrm>
                  <a:off x="4719638" y="4205288"/>
                  <a:ext cx="46038" cy="30163"/>
                </a:xfrm>
                <a:custGeom>
                  <a:avLst/>
                  <a:gdLst/>
                  <a:ahLst/>
                  <a:cxnLst>
                    <a:cxn ang="0">
                      <a:pos x="0" y="3"/>
                    </a:cxn>
                    <a:cxn ang="0">
                      <a:pos x="4" y="0"/>
                    </a:cxn>
                    <a:cxn ang="0">
                      <a:pos x="6" y="0"/>
                    </a:cxn>
                    <a:cxn ang="0">
                      <a:pos x="5" y="1"/>
                    </a:cxn>
                    <a:cxn ang="0">
                      <a:pos x="1" y="4"/>
                    </a:cxn>
                    <a:cxn ang="0">
                      <a:pos x="0" y="3"/>
                    </a:cxn>
                  </a:cxnLst>
                  <a:rect l="0" t="0" r="r" b="b"/>
                  <a:pathLst>
                    <a:path w="6" h="4">
                      <a:moveTo>
                        <a:pt x="0" y="3"/>
                      </a:moveTo>
                      <a:lnTo>
                        <a:pt x="4" y="0"/>
                      </a:lnTo>
                      <a:lnTo>
                        <a:pt x="6" y="0"/>
                      </a:lnTo>
                      <a:lnTo>
                        <a:pt x="5" y="1"/>
                      </a:lnTo>
                      <a:lnTo>
                        <a:pt x="1" y="4"/>
                      </a:lnTo>
                      <a:lnTo>
                        <a:pt x="0" y="3"/>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2" name="Freeform 71"/>
                <p:cNvSpPr>
                  <a:spLocks/>
                </p:cNvSpPr>
                <p:nvPr/>
              </p:nvSpPr>
              <p:spPr bwMode="gray">
                <a:xfrm>
                  <a:off x="4640263" y="4214813"/>
                  <a:ext cx="47625" cy="44450"/>
                </a:xfrm>
                <a:custGeom>
                  <a:avLst/>
                  <a:gdLst/>
                  <a:ahLst/>
                  <a:cxnLst>
                    <a:cxn ang="0">
                      <a:pos x="0" y="2"/>
                    </a:cxn>
                    <a:cxn ang="0">
                      <a:pos x="1" y="0"/>
                    </a:cxn>
                    <a:cxn ang="0">
                      <a:pos x="5" y="2"/>
                    </a:cxn>
                    <a:cxn ang="0">
                      <a:pos x="6" y="5"/>
                    </a:cxn>
                    <a:cxn ang="0">
                      <a:pos x="1" y="4"/>
                    </a:cxn>
                    <a:cxn ang="0">
                      <a:pos x="0" y="2"/>
                    </a:cxn>
                  </a:cxnLst>
                  <a:rect l="0" t="0" r="r" b="b"/>
                  <a:pathLst>
                    <a:path w="6" h="5">
                      <a:moveTo>
                        <a:pt x="0" y="2"/>
                      </a:moveTo>
                      <a:lnTo>
                        <a:pt x="1" y="0"/>
                      </a:lnTo>
                      <a:lnTo>
                        <a:pt x="5" y="2"/>
                      </a:lnTo>
                      <a:lnTo>
                        <a:pt x="6" y="5"/>
                      </a:lnTo>
                      <a:lnTo>
                        <a:pt x="1" y="4"/>
                      </a:lnTo>
                      <a:lnTo>
                        <a:pt x="0" y="2"/>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3" name="Freeform 72"/>
                <p:cNvSpPr>
                  <a:spLocks/>
                </p:cNvSpPr>
                <p:nvPr/>
              </p:nvSpPr>
              <p:spPr bwMode="gray">
                <a:xfrm>
                  <a:off x="4508501" y="5018088"/>
                  <a:ext cx="592138" cy="317500"/>
                </a:xfrm>
                <a:custGeom>
                  <a:avLst/>
                  <a:gdLst/>
                  <a:ahLst/>
                  <a:cxnLst>
                    <a:cxn ang="0">
                      <a:pos x="63" y="30"/>
                    </a:cxn>
                    <a:cxn ang="0">
                      <a:pos x="55" y="32"/>
                    </a:cxn>
                    <a:cxn ang="0">
                      <a:pos x="46" y="39"/>
                    </a:cxn>
                    <a:cxn ang="0">
                      <a:pos x="39" y="36"/>
                    </a:cxn>
                    <a:cxn ang="0">
                      <a:pos x="31" y="33"/>
                    </a:cxn>
                    <a:cxn ang="0">
                      <a:pos x="27" y="33"/>
                    </a:cxn>
                    <a:cxn ang="0">
                      <a:pos x="25" y="31"/>
                    </a:cxn>
                    <a:cxn ang="0">
                      <a:pos x="20" y="31"/>
                    </a:cxn>
                    <a:cxn ang="0">
                      <a:pos x="17" y="34"/>
                    </a:cxn>
                    <a:cxn ang="0">
                      <a:pos x="8" y="34"/>
                    </a:cxn>
                    <a:cxn ang="0">
                      <a:pos x="2" y="31"/>
                    </a:cxn>
                    <a:cxn ang="0">
                      <a:pos x="0" y="28"/>
                    </a:cxn>
                    <a:cxn ang="0">
                      <a:pos x="2" y="26"/>
                    </a:cxn>
                    <a:cxn ang="0">
                      <a:pos x="3" y="24"/>
                    </a:cxn>
                    <a:cxn ang="0">
                      <a:pos x="11" y="25"/>
                    </a:cxn>
                    <a:cxn ang="0">
                      <a:pos x="21" y="23"/>
                    </a:cxn>
                    <a:cxn ang="0">
                      <a:pos x="27" y="19"/>
                    </a:cxn>
                    <a:cxn ang="0">
                      <a:pos x="33" y="21"/>
                    </a:cxn>
                    <a:cxn ang="0">
                      <a:pos x="36" y="17"/>
                    </a:cxn>
                    <a:cxn ang="0">
                      <a:pos x="35" y="11"/>
                    </a:cxn>
                    <a:cxn ang="0">
                      <a:pos x="40" y="6"/>
                    </a:cxn>
                    <a:cxn ang="0">
                      <a:pos x="41" y="2"/>
                    </a:cxn>
                    <a:cxn ang="0">
                      <a:pos x="54" y="0"/>
                    </a:cxn>
                    <a:cxn ang="0">
                      <a:pos x="63" y="4"/>
                    </a:cxn>
                    <a:cxn ang="0">
                      <a:pos x="65" y="10"/>
                    </a:cxn>
                    <a:cxn ang="0">
                      <a:pos x="68" y="10"/>
                    </a:cxn>
                    <a:cxn ang="0">
                      <a:pos x="69" y="17"/>
                    </a:cxn>
                    <a:cxn ang="0">
                      <a:pos x="65" y="20"/>
                    </a:cxn>
                    <a:cxn ang="0">
                      <a:pos x="65" y="26"/>
                    </a:cxn>
                    <a:cxn ang="0">
                      <a:pos x="63" y="30"/>
                    </a:cxn>
                  </a:cxnLst>
                  <a:rect l="0" t="0" r="r" b="b"/>
                  <a:pathLst>
                    <a:path w="69" h="39">
                      <a:moveTo>
                        <a:pt x="63" y="30"/>
                      </a:moveTo>
                      <a:lnTo>
                        <a:pt x="55" y="32"/>
                      </a:lnTo>
                      <a:lnTo>
                        <a:pt x="46" y="39"/>
                      </a:lnTo>
                      <a:lnTo>
                        <a:pt x="39" y="36"/>
                      </a:lnTo>
                      <a:lnTo>
                        <a:pt x="31" y="33"/>
                      </a:lnTo>
                      <a:lnTo>
                        <a:pt x="27" y="33"/>
                      </a:lnTo>
                      <a:lnTo>
                        <a:pt x="25" y="31"/>
                      </a:lnTo>
                      <a:lnTo>
                        <a:pt x="20" y="31"/>
                      </a:lnTo>
                      <a:lnTo>
                        <a:pt x="17" y="34"/>
                      </a:lnTo>
                      <a:lnTo>
                        <a:pt x="8" y="34"/>
                      </a:lnTo>
                      <a:lnTo>
                        <a:pt x="2" y="31"/>
                      </a:lnTo>
                      <a:lnTo>
                        <a:pt x="0" y="28"/>
                      </a:lnTo>
                      <a:lnTo>
                        <a:pt x="2" y="26"/>
                      </a:lnTo>
                      <a:lnTo>
                        <a:pt x="3" y="24"/>
                      </a:lnTo>
                      <a:lnTo>
                        <a:pt x="11" y="25"/>
                      </a:lnTo>
                      <a:lnTo>
                        <a:pt x="21" y="23"/>
                      </a:lnTo>
                      <a:lnTo>
                        <a:pt x="27" y="19"/>
                      </a:lnTo>
                      <a:lnTo>
                        <a:pt x="33" y="21"/>
                      </a:lnTo>
                      <a:lnTo>
                        <a:pt x="36" y="17"/>
                      </a:lnTo>
                      <a:lnTo>
                        <a:pt x="35" y="11"/>
                      </a:lnTo>
                      <a:lnTo>
                        <a:pt x="40" y="6"/>
                      </a:lnTo>
                      <a:lnTo>
                        <a:pt x="41" y="2"/>
                      </a:lnTo>
                      <a:lnTo>
                        <a:pt x="54" y="0"/>
                      </a:lnTo>
                      <a:lnTo>
                        <a:pt x="63" y="4"/>
                      </a:lnTo>
                      <a:lnTo>
                        <a:pt x="65" y="10"/>
                      </a:lnTo>
                      <a:lnTo>
                        <a:pt x="68" y="10"/>
                      </a:lnTo>
                      <a:lnTo>
                        <a:pt x="69" y="17"/>
                      </a:lnTo>
                      <a:lnTo>
                        <a:pt x="65" y="20"/>
                      </a:lnTo>
                      <a:lnTo>
                        <a:pt x="65" y="26"/>
                      </a:lnTo>
                      <a:lnTo>
                        <a:pt x="63" y="30"/>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4" name="Freeform 73"/>
                <p:cNvSpPr>
                  <a:spLocks/>
                </p:cNvSpPr>
                <p:nvPr/>
              </p:nvSpPr>
              <p:spPr bwMode="gray">
                <a:xfrm>
                  <a:off x="4214813" y="5168901"/>
                  <a:ext cx="360363" cy="234950"/>
                </a:xfrm>
                <a:custGeom>
                  <a:avLst/>
                  <a:gdLst/>
                  <a:ahLst/>
                  <a:cxnLst>
                    <a:cxn ang="0">
                      <a:pos x="8" y="29"/>
                    </a:cxn>
                    <a:cxn ang="0">
                      <a:pos x="9" y="24"/>
                    </a:cxn>
                    <a:cxn ang="0">
                      <a:pos x="6" y="23"/>
                    </a:cxn>
                    <a:cxn ang="0">
                      <a:pos x="2" y="26"/>
                    </a:cxn>
                    <a:cxn ang="0">
                      <a:pos x="0" y="23"/>
                    </a:cxn>
                    <a:cxn ang="0">
                      <a:pos x="4" y="18"/>
                    </a:cxn>
                    <a:cxn ang="0">
                      <a:pos x="6" y="13"/>
                    </a:cxn>
                    <a:cxn ang="0">
                      <a:pos x="9" y="12"/>
                    </a:cxn>
                    <a:cxn ang="0">
                      <a:pos x="9" y="8"/>
                    </a:cxn>
                    <a:cxn ang="0">
                      <a:pos x="11" y="3"/>
                    </a:cxn>
                    <a:cxn ang="0">
                      <a:pos x="16" y="4"/>
                    </a:cxn>
                    <a:cxn ang="0">
                      <a:pos x="20" y="1"/>
                    </a:cxn>
                    <a:cxn ang="0">
                      <a:pos x="26" y="0"/>
                    </a:cxn>
                    <a:cxn ang="0">
                      <a:pos x="32" y="5"/>
                    </a:cxn>
                    <a:cxn ang="0">
                      <a:pos x="37" y="6"/>
                    </a:cxn>
                    <a:cxn ang="0">
                      <a:pos x="34" y="10"/>
                    </a:cxn>
                    <a:cxn ang="0">
                      <a:pos x="36" y="13"/>
                    </a:cxn>
                    <a:cxn ang="0">
                      <a:pos x="42" y="16"/>
                    </a:cxn>
                    <a:cxn ang="0">
                      <a:pos x="39" y="21"/>
                    </a:cxn>
                    <a:cxn ang="0">
                      <a:pos x="28" y="20"/>
                    </a:cxn>
                    <a:cxn ang="0">
                      <a:pos x="25" y="17"/>
                    </a:cxn>
                    <a:cxn ang="0">
                      <a:pos x="21" y="18"/>
                    </a:cxn>
                    <a:cxn ang="0">
                      <a:pos x="20" y="27"/>
                    </a:cxn>
                    <a:cxn ang="0">
                      <a:pos x="17" y="29"/>
                    </a:cxn>
                    <a:cxn ang="0">
                      <a:pos x="13" y="28"/>
                    </a:cxn>
                    <a:cxn ang="0">
                      <a:pos x="8" y="29"/>
                    </a:cxn>
                  </a:cxnLst>
                  <a:rect l="0" t="0" r="r" b="b"/>
                  <a:pathLst>
                    <a:path w="42" h="29">
                      <a:moveTo>
                        <a:pt x="8" y="29"/>
                      </a:moveTo>
                      <a:lnTo>
                        <a:pt x="9" y="24"/>
                      </a:lnTo>
                      <a:lnTo>
                        <a:pt x="6" y="23"/>
                      </a:lnTo>
                      <a:lnTo>
                        <a:pt x="2" y="26"/>
                      </a:lnTo>
                      <a:lnTo>
                        <a:pt x="0" y="23"/>
                      </a:lnTo>
                      <a:lnTo>
                        <a:pt x="4" y="18"/>
                      </a:lnTo>
                      <a:lnTo>
                        <a:pt x="6" y="13"/>
                      </a:lnTo>
                      <a:lnTo>
                        <a:pt x="9" y="12"/>
                      </a:lnTo>
                      <a:lnTo>
                        <a:pt x="9" y="8"/>
                      </a:lnTo>
                      <a:lnTo>
                        <a:pt x="11" y="3"/>
                      </a:lnTo>
                      <a:lnTo>
                        <a:pt x="16" y="4"/>
                      </a:lnTo>
                      <a:lnTo>
                        <a:pt x="20" y="1"/>
                      </a:lnTo>
                      <a:lnTo>
                        <a:pt x="26" y="0"/>
                      </a:lnTo>
                      <a:lnTo>
                        <a:pt x="32" y="5"/>
                      </a:lnTo>
                      <a:lnTo>
                        <a:pt x="37" y="6"/>
                      </a:lnTo>
                      <a:lnTo>
                        <a:pt x="34" y="10"/>
                      </a:lnTo>
                      <a:lnTo>
                        <a:pt x="36" y="13"/>
                      </a:lnTo>
                      <a:lnTo>
                        <a:pt x="42" y="16"/>
                      </a:lnTo>
                      <a:lnTo>
                        <a:pt x="39" y="21"/>
                      </a:lnTo>
                      <a:lnTo>
                        <a:pt x="28" y="20"/>
                      </a:lnTo>
                      <a:lnTo>
                        <a:pt x="25" y="17"/>
                      </a:lnTo>
                      <a:lnTo>
                        <a:pt x="21" y="18"/>
                      </a:lnTo>
                      <a:lnTo>
                        <a:pt x="20" y="27"/>
                      </a:lnTo>
                      <a:lnTo>
                        <a:pt x="17" y="29"/>
                      </a:lnTo>
                      <a:lnTo>
                        <a:pt x="13" y="28"/>
                      </a:lnTo>
                      <a:lnTo>
                        <a:pt x="8" y="29"/>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5" name="Freeform 74"/>
                <p:cNvSpPr>
                  <a:spLocks/>
                </p:cNvSpPr>
                <p:nvPr/>
              </p:nvSpPr>
              <p:spPr bwMode="gray">
                <a:xfrm>
                  <a:off x="4221163" y="4235451"/>
                  <a:ext cx="738188" cy="987425"/>
                </a:xfrm>
                <a:custGeom>
                  <a:avLst/>
                  <a:gdLst/>
                  <a:ahLst/>
                  <a:cxnLst>
                    <a:cxn ang="0">
                      <a:pos x="7" y="90"/>
                    </a:cxn>
                    <a:cxn ang="0">
                      <a:pos x="6" y="80"/>
                    </a:cxn>
                    <a:cxn ang="0">
                      <a:pos x="3" y="75"/>
                    </a:cxn>
                    <a:cxn ang="0">
                      <a:pos x="2" y="68"/>
                    </a:cxn>
                    <a:cxn ang="0">
                      <a:pos x="0" y="64"/>
                    </a:cxn>
                    <a:cxn ang="0">
                      <a:pos x="0" y="61"/>
                    </a:cxn>
                    <a:cxn ang="0">
                      <a:pos x="3" y="55"/>
                    </a:cxn>
                    <a:cxn ang="0">
                      <a:pos x="1" y="52"/>
                    </a:cxn>
                    <a:cxn ang="0">
                      <a:pos x="3" y="49"/>
                    </a:cxn>
                    <a:cxn ang="0">
                      <a:pos x="10" y="43"/>
                    </a:cxn>
                    <a:cxn ang="0">
                      <a:pos x="11" y="37"/>
                    </a:cxn>
                    <a:cxn ang="0">
                      <a:pos x="9" y="33"/>
                    </a:cxn>
                    <a:cxn ang="0">
                      <a:pos x="12" y="27"/>
                    </a:cxn>
                    <a:cxn ang="0">
                      <a:pos x="10" y="24"/>
                    </a:cxn>
                    <a:cxn ang="0">
                      <a:pos x="13" y="19"/>
                    </a:cxn>
                    <a:cxn ang="0">
                      <a:pos x="18" y="19"/>
                    </a:cxn>
                    <a:cxn ang="0">
                      <a:pos x="21" y="21"/>
                    </a:cxn>
                    <a:cxn ang="0">
                      <a:pos x="24" y="19"/>
                    </a:cxn>
                    <a:cxn ang="0">
                      <a:pos x="27" y="16"/>
                    </a:cxn>
                    <a:cxn ang="0">
                      <a:pos x="28" y="9"/>
                    </a:cxn>
                    <a:cxn ang="0">
                      <a:pos x="26" y="2"/>
                    </a:cxn>
                    <a:cxn ang="0">
                      <a:pos x="26" y="1"/>
                    </a:cxn>
                    <a:cxn ang="0">
                      <a:pos x="29" y="0"/>
                    </a:cxn>
                    <a:cxn ang="0">
                      <a:pos x="36" y="1"/>
                    </a:cxn>
                    <a:cxn ang="0">
                      <a:pos x="40" y="7"/>
                    </a:cxn>
                    <a:cxn ang="0">
                      <a:pos x="46" y="8"/>
                    </a:cxn>
                    <a:cxn ang="0">
                      <a:pos x="48" y="10"/>
                    </a:cxn>
                    <a:cxn ang="0">
                      <a:pos x="55" y="11"/>
                    </a:cxn>
                    <a:cxn ang="0">
                      <a:pos x="60" y="6"/>
                    </a:cxn>
                    <a:cxn ang="0">
                      <a:pos x="70" y="3"/>
                    </a:cxn>
                    <a:cxn ang="0">
                      <a:pos x="71" y="9"/>
                    </a:cxn>
                    <a:cxn ang="0">
                      <a:pos x="73" y="10"/>
                    </a:cxn>
                    <a:cxn ang="0">
                      <a:pos x="77" y="15"/>
                    </a:cxn>
                    <a:cxn ang="0">
                      <a:pos x="79" y="23"/>
                    </a:cxn>
                    <a:cxn ang="0">
                      <a:pos x="77" y="35"/>
                    </a:cxn>
                    <a:cxn ang="0">
                      <a:pos x="85" y="61"/>
                    </a:cxn>
                    <a:cxn ang="0">
                      <a:pos x="76" y="62"/>
                    </a:cxn>
                    <a:cxn ang="0">
                      <a:pos x="73" y="67"/>
                    </a:cxn>
                    <a:cxn ang="0">
                      <a:pos x="59" y="76"/>
                    </a:cxn>
                    <a:cxn ang="0">
                      <a:pos x="61" y="87"/>
                    </a:cxn>
                    <a:cxn ang="0">
                      <a:pos x="74" y="98"/>
                    </a:cxn>
                    <a:cxn ang="0">
                      <a:pos x="73" y="102"/>
                    </a:cxn>
                    <a:cxn ang="0">
                      <a:pos x="68" y="107"/>
                    </a:cxn>
                    <a:cxn ang="0">
                      <a:pos x="69" y="113"/>
                    </a:cxn>
                    <a:cxn ang="0">
                      <a:pos x="66" y="117"/>
                    </a:cxn>
                    <a:cxn ang="0">
                      <a:pos x="60" y="115"/>
                    </a:cxn>
                    <a:cxn ang="0">
                      <a:pos x="54" y="119"/>
                    </a:cxn>
                    <a:cxn ang="0">
                      <a:pos x="44" y="121"/>
                    </a:cxn>
                    <a:cxn ang="0">
                      <a:pos x="36" y="120"/>
                    </a:cxn>
                    <a:cxn ang="0">
                      <a:pos x="31" y="119"/>
                    </a:cxn>
                    <a:cxn ang="0">
                      <a:pos x="25" y="114"/>
                    </a:cxn>
                    <a:cxn ang="0">
                      <a:pos x="19" y="115"/>
                    </a:cxn>
                    <a:cxn ang="0">
                      <a:pos x="15" y="118"/>
                    </a:cxn>
                    <a:cxn ang="0">
                      <a:pos x="18" y="105"/>
                    </a:cxn>
                    <a:cxn ang="0">
                      <a:pos x="23" y="92"/>
                    </a:cxn>
                    <a:cxn ang="0">
                      <a:pos x="16" y="90"/>
                    </a:cxn>
                    <a:cxn ang="0">
                      <a:pos x="7" y="90"/>
                    </a:cxn>
                  </a:cxnLst>
                  <a:rect l="0" t="0" r="r" b="b"/>
                  <a:pathLst>
                    <a:path w="85" h="121">
                      <a:moveTo>
                        <a:pt x="7" y="90"/>
                      </a:moveTo>
                      <a:lnTo>
                        <a:pt x="6" y="80"/>
                      </a:lnTo>
                      <a:lnTo>
                        <a:pt x="3" y="75"/>
                      </a:lnTo>
                      <a:lnTo>
                        <a:pt x="2" y="68"/>
                      </a:lnTo>
                      <a:lnTo>
                        <a:pt x="0" y="64"/>
                      </a:lnTo>
                      <a:lnTo>
                        <a:pt x="0" y="61"/>
                      </a:lnTo>
                      <a:lnTo>
                        <a:pt x="3" y="55"/>
                      </a:lnTo>
                      <a:lnTo>
                        <a:pt x="1" y="52"/>
                      </a:lnTo>
                      <a:lnTo>
                        <a:pt x="3" y="49"/>
                      </a:lnTo>
                      <a:lnTo>
                        <a:pt x="10" y="43"/>
                      </a:lnTo>
                      <a:lnTo>
                        <a:pt x="11" y="37"/>
                      </a:lnTo>
                      <a:lnTo>
                        <a:pt x="9" y="33"/>
                      </a:lnTo>
                      <a:lnTo>
                        <a:pt x="12" y="27"/>
                      </a:lnTo>
                      <a:lnTo>
                        <a:pt x="10" y="24"/>
                      </a:lnTo>
                      <a:lnTo>
                        <a:pt x="13" y="19"/>
                      </a:lnTo>
                      <a:lnTo>
                        <a:pt x="18" y="19"/>
                      </a:lnTo>
                      <a:lnTo>
                        <a:pt x="21" y="21"/>
                      </a:lnTo>
                      <a:lnTo>
                        <a:pt x="24" y="19"/>
                      </a:lnTo>
                      <a:lnTo>
                        <a:pt x="27" y="16"/>
                      </a:lnTo>
                      <a:lnTo>
                        <a:pt x="28" y="9"/>
                      </a:lnTo>
                      <a:lnTo>
                        <a:pt x="26" y="2"/>
                      </a:lnTo>
                      <a:lnTo>
                        <a:pt x="26" y="1"/>
                      </a:lnTo>
                      <a:lnTo>
                        <a:pt x="29" y="0"/>
                      </a:lnTo>
                      <a:lnTo>
                        <a:pt x="36" y="1"/>
                      </a:lnTo>
                      <a:lnTo>
                        <a:pt x="40" y="7"/>
                      </a:lnTo>
                      <a:lnTo>
                        <a:pt x="46" y="8"/>
                      </a:lnTo>
                      <a:lnTo>
                        <a:pt x="48" y="10"/>
                      </a:lnTo>
                      <a:lnTo>
                        <a:pt x="55" y="11"/>
                      </a:lnTo>
                      <a:lnTo>
                        <a:pt x="60" y="6"/>
                      </a:lnTo>
                      <a:lnTo>
                        <a:pt x="70" y="3"/>
                      </a:lnTo>
                      <a:lnTo>
                        <a:pt x="71" y="9"/>
                      </a:lnTo>
                      <a:lnTo>
                        <a:pt x="73" y="10"/>
                      </a:lnTo>
                      <a:lnTo>
                        <a:pt x="77" y="15"/>
                      </a:lnTo>
                      <a:lnTo>
                        <a:pt x="79" y="23"/>
                      </a:lnTo>
                      <a:lnTo>
                        <a:pt x="77" y="35"/>
                      </a:lnTo>
                      <a:lnTo>
                        <a:pt x="85" y="61"/>
                      </a:lnTo>
                      <a:lnTo>
                        <a:pt x="76" y="62"/>
                      </a:lnTo>
                      <a:lnTo>
                        <a:pt x="73" y="67"/>
                      </a:lnTo>
                      <a:lnTo>
                        <a:pt x="59" y="76"/>
                      </a:lnTo>
                      <a:lnTo>
                        <a:pt x="61" y="87"/>
                      </a:lnTo>
                      <a:lnTo>
                        <a:pt x="74" y="98"/>
                      </a:lnTo>
                      <a:lnTo>
                        <a:pt x="73" y="102"/>
                      </a:lnTo>
                      <a:lnTo>
                        <a:pt x="68" y="107"/>
                      </a:lnTo>
                      <a:lnTo>
                        <a:pt x="69" y="113"/>
                      </a:lnTo>
                      <a:lnTo>
                        <a:pt x="66" y="117"/>
                      </a:lnTo>
                      <a:lnTo>
                        <a:pt x="60" y="115"/>
                      </a:lnTo>
                      <a:lnTo>
                        <a:pt x="54" y="119"/>
                      </a:lnTo>
                      <a:lnTo>
                        <a:pt x="44" y="121"/>
                      </a:lnTo>
                      <a:lnTo>
                        <a:pt x="36" y="120"/>
                      </a:lnTo>
                      <a:lnTo>
                        <a:pt x="31" y="119"/>
                      </a:lnTo>
                      <a:lnTo>
                        <a:pt x="25" y="114"/>
                      </a:lnTo>
                      <a:lnTo>
                        <a:pt x="19" y="115"/>
                      </a:lnTo>
                      <a:lnTo>
                        <a:pt x="15" y="118"/>
                      </a:lnTo>
                      <a:lnTo>
                        <a:pt x="18" y="105"/>
                      </a:lnTo>
                      <a:lnTo>
                        <a:pt x="23" y="92"/>
                      </a:lnTo>
                      <a:lnTo>
                        <a:pt x="16" y="90"/>
                      </a:lnTo>
                      <a:lnTo>
                        <a:pt x="7" y="9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6" name="Freeform 75"/>
                <p:cNvSpPr>
                  <a:spLocks/>
                </p:cNvSpPr>
                <p:nvPr/>
              </p:nvSpPr>
              <p:spPr bwMode="gray">
                <a:xfrm>
                  <a:off x="4386263" y="3933826"/>
                  <a:ext cx="254000" cy="325438"/>
                </a:xfrm>
                <a:custGeom>
                  <a:avLst/>
                  <a:gdLst/>
                  <a:ahLst/>
                  <a:cxnLst>
                    <a:cxn ang="0">
                      <a:pos x="17" y="39"/>
                    </a:cxn>
                    <a:cxn ang="0">
                      <a:pos x="10" y="38"/>
                    </a:cxn>
                    <a:cxn ang="0">
                      <a:pos x="7" y="39"/>
                    </a:cxn>
                    <a:cxn ang="0">
                      <a:pos x="7" y="40"/>
                    </a:cxn>
                    <a:cxn ang="0">
                      <a:pos x="6" y="38"/>
                    </a:cxn>
                    <a:cxn ang="0">
                      <a:pos x="6" y="31"/>
                    </a:cxn>
                    <a:cxn ang="0">
                      <a:pos x="2" y="26"/>
                    </a:cxn>
                    <a:cxn ang="0">
                      <a:pos x="0" y="18"/>
                    </a:cxn>
                    <a:cxn ang="0">
                      <a:pos x="1" y="10"/>
                    </a:cxn>
                    <a:cxn ang="0">
                      <a:pos x="8" y="5"/>
                    </a:cxn>
                    <a:cxn ang="0">
                      <a:pos x="11" y="6"/>
                    </a:cxn>
                    <a:cxn ang="0">
                      <a:pos x="15" y="1"/>
                    </a:cxn>
                    <a:cxn ang="0">
                      <a:pos x="19" y="0"/>
                    </a:cxn>
                    <a:cxn ang="0">
                      <a:pos x="23" y="8"/>
                    </a:cxn>
                    <a:cxn ang="0">
                      <a:pos x="27" y="8"/>
                    </a:cxn>
                    <a:cxn ang="0">
                      <a:pos x="29" y="10"/>
                    </a:cxn>
                    <a:cxn ang="0">
                      <a:pos x="28" y="13"/>
                    </a:cxn>
                    <a:cxn ang="0">
                      <a:pos x="21" y="15"/>
                    </a:cxn>
                    <a:cxn ang="0">
                      <a:pos x="21" y="19"/>
                    </a:cxn>
                    <a:cxn ang="0">
                      <a:pos x="14" y="24"/>
                    </a:cxn>
                    <a:cxn ang="0">
                      <a:pos x="14" y="31"/>
                    </a:cxn>
                    <a:cxn ang="0">
                      <a:pos x="17" y="38"/>
                    </a:cxn>
                    <a:cxn ang="0">
                      <a:pos x="17" y="39"/>
                    </a:cxn>
                  </a:cxnLst>
                  <a:rect l="0" t="0" r="r" b="b"/>
                  <a:pathLst>
                    <a:path w="29" h="40">
                      <a:moveTo>
                        <a:pt x="17" y="39"/>
                      </a:moveTo>
                      <a:lnTo>
                        <a:pt x="10" y="38"/>
                      </a:lnTo>
                      <a:lnTo>
                        <a:pt x="7" y="39"/>
                      </a:lnTo>
                      <a:lnTo>
                        <a:pt x="7" y="40"/>
                      </a:lnTo>
                      <a:lnTo>
                        <a:pt x="6" y="38"/>
                      </a:lnTo>
                      <a:lnTo>
                        <a:pt x="6" y="31"/>
                      </a:lnTo>
                      <a:lnTo>
                        <a:pt x="2" y="26"/>
                      </a:lnTo>
                      <a:lnTo>
                        <a:pt x="0" y="18"/>
                      </a:lnTo>
                      <a:lnTo>
                        <a:pt x="1" y="10"/>
                      </a:lnTo>
                      <a:lnTo>
                        <a:pt x="8" y="5"/>
                      </a:lnTo>
                      <a:lnTo>
                        <a:pt x="11" y="6"/>
                      </a:lnTo>
                      <a:lnTo>
                        <a:pt x="15" y="1"/>
                      </a:lnTo>
                      <a:lnTo>
                        <a:pt x="19" y="0"/>
                      </a:lnTo>
                      <a:lnTo>
                        <a:pt x="23" y="8"/>
                      </a:lnTo>
                      <a:lnTo>
                        <a:pt x="27" y="8"/>
                      </a:lnTo>
                      <a:lnTo>
                        <a:pt x="29" y="10"/>
                      </a:lnTo>
                      <a:lnTo>
                        <a:pt x="28" y="13"/>
                      </a:lnTo>
                      <a:lnTo>
                        <a:pt x="21" y="15"/>
                      </a:lnTo>
                      <a:lnTo>
                        <a:pt x="21" y="19"/>
                      </a:lnTo>
                      <a:lnTo>
                        <a:pt x="14" y="24"/>
                      </a:lnTo>
                      <a:lnTo>
                        <a:pt x="14" y="31"/>
                      </a:lnTo>
                      <a:lnTo>
                        <a:pt x="17" y="38"/>
                      </a:lnTo>
                      <a:lnTo>
                        <a:pt x="17" y="39"/>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7" name="Freeform 76"/>
                <p:cNvSpPr>
                  <a:spLocks/>
                </p:cNvSpPr>
                <p:nvPr/>
              </p:nvSpPr>
              <p:spPr bwMode="gray">
                <a:xfrm>
                  <a:off x="4402138" y="3813176"/>
                  <a:ext cx="192088" cy="176213"/>
                </a:xfrm>
                <a:custGeom>
                  <a:avLst/>
                  <a:gdLst/>
                  <a:ahLst/>
                  <a:cxnLst>
                    <a:cxn ang="0">
                      <a:pos x="0" y="21"/>
                    </a:cxn>
                    <a:cxn ang="0">
                      <a:pos x="1" y="16"/>
                    </a:cxn>
                    <a:cxn ang="0">
                      <a:pos x="5" y="11"/>
                    </a:cxn>
                    <a:cxn ang="0">
                      <a:pos x="9" y="9"/>
                    </a:cxn>
                    <a:cxn ang="0">
                      <a:pos x="13" y="6"/>
                    </a:cxn>
                    <a:cxn ang="0">
                      <a:pos x="16" y="2"/>
                    </a:cxn>
                    <a:cxn ang="0">
                      <a:pos x="22" y="0"/>
                    </a:cxn>
                    <a:cxn ang="0">
                      <a:pos x="22" y="7"/>
                    </a:cxn>
                    <a:cxn ang="0">
                      <a:pos x="20" y="12"/>
                    </a:cxn>
                    <a:cxn ang="0">
                      <a:pos x="12" y="12"/>
                    </a:cxn>
                    <a:cxn ang="0">
                      <a:pos x="9" y="16"/>
                    </a:cxn>
                    <a:cxn ang="0">
                      <a:pos x="5" y="17"/>
                    </a:cxn>
                    <a:cxn ang="0">
                      <a:pos x="0" y="21"/>
                    </a:cxn>
                  </a:cxnLst>
                  <a:rect l="0" t="0" r="r" b="b"/>
                  <a:pathLst>
                    <a:path w="22" h="21">
                      <a:moveTo>
                        <a:pt x="0" y="21"/>
                      </a:moveTo>
                      <a:lnTo>
                        <a:pt x="1" y="16"/>
                      </a:lnTo>
                      <a:lnTo>
                        <a:pt x="5" y="11"/>
                      </a:lnTo>
                      <a:lnTo>
                        <a:pt x="9" y="9"/>
                      </a:lnTo>
                      <a:lnTo>
                        <a:pt x="13" y="6"/>
                      </a:lnTo>
                      <a:lnTo>
                        <a:pt x="16" y="2"/>
                      </a:lnTo>
                      <a:lnTo>
                        <a:pt x="22" y="0"/>
                      </a:lnTo>
                      <a:lnTo>
                        <a:pt x="22" y="7"/>
                      </a:lnTo>
                      <a:lnTo>
                        <a:pt x="20" y="12"/>
                      </a:lnTo>
                      <a:lnTo>
                        <a:pt x="12" y="12"/>
                      </a:lnTo>
                      <a:lnTo>
                        <a:pt x="9" y="16"/>
                      </a:lnTo>
                      <a:lnTo>
                        <a:pt x="5" y="17"/>
                      </a:lnTo>
                      <a:lnTo>
                        <a:pt x="0" y="21"/>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8" name="Freeform 78"/>
                <p:cNvSpPr>
                  <a:spLocks/>
                </p:cNvSpPr>
                <p:nvPr/>
              </p:nvSpPr>
              <p:spPr bwMode="gray">
                <a:xfrm>
                  <a:off x="5865813" y="5078413"/>
                  <a:ext cx="273050" cy="355600"/>
                </a:xfrm>
                <a:custGeom>
                  <a:avLst/>
                  <a:gdLst/>
                  <a:ahLst/>
                  <a:cxnLst>
                    <a:cxn ang="0">
                      <a:pos x="0" y="4"/>
                    </a:cxn>
                    <a:cxn ang="0">
                      <a:pos x="6" y="0"/>
                    </a:cxn>
                    <a:cxn ang="0">
                      <a:pos x="20" y="0"/>
                    </a:cxn>
                    <a:cxn ang="0">
                      <a:pos x="25" y="7"/>
                    </a:cxn>
                    <a:cxn ang="0">
                      <a:pos x="28" y="20"/>
                    </a:cxn>
                    <a:cxn ang="0">
                      <a:pos x="32" y="24"/>
                    </a:cxn>
                    <a:cxn ang="0">
                      <a:pos x="31" y="28"/>
                    </a:cxn>
                    <a:cxn ang="0">
                      <a:pos x="27" y="28"/>
                    </a:cxn>
                    <a:cxn ang="0">
                      <a:pos x="23" y="34"/>
                    </a:cxn>
                    <a:cxn ang="0">
                      <a:pos x="23" y="43"/>
                    </a:cxn>
                    <a:cxn ang="0">
                      <a:pos x="18" y="41"/>
                    </a:cxn>
                    <a:cxn ang="0">
                      <a:pos x="18" y="35"/>
                    </a:cxn>
                    <a:cxn ang="0">
                      <a:pos x="15" y="31"/>
                    </a:cxn>
                    <a:cxn ang="0">
                      <a:pos x="11" y="14"/>
                    </a:cxn>
                    <a:cxn ang="0">
                      <a:pos x="6" y="6"/>
                    </a:cxn>
                    <a:cxn ang="0">
                      <a:pos x="0" y="4"/>
                    </a:cxn>
                  </a:cxnLst>
                  <a:rect l="0" t="0" r="r" b="b"/>
                  <a:pathLst>
                    <a:path w="32" h="43">
                      <a:moveTo>
                        <a:pt x="0" y="4"/>
                      </a:moveTo>
                      <a:lnTo>
                        <a:pt x="6" y="0"/>
                      </a:lnTo>
                      <a:lnTo>
                        <a:pt x="20" y="0"/>
                      </a:lnTo>
                      <a:lnTo>
                        <a:pt x="25" y="7"/>
                      </a:lnTo>
                      <a:lnTo>
                        <a:pt x="28" y="20"/>
                      </a:lnTo>
                      <a:lnTo>
                        <a:pt x="32" y="24"/>
                      </a:lnTo>
                      <a:lnTo>
                        <a:pt x="31" y="28"/>
                      </a:lnTo>
                      <a:lnTo>
                        <a:pt x="27" y="28"/>
                      </a:lnTo>
                      <a:lnTo>
                        <a:pt x="23" y="34"/>
                      </a:lnTo>
                      <a:lnTo>
                        <a:pt x="23" y="43"/>
                      </a:lnTo>
                      <a:lnTo>
                        <a:pt x="18" y="41"/>
                      </a:lnTo>
                      <a:lnTo>
                        <a:pt x="18" y="35"/>
                      </a:lnTo>
                      <a:lnTo>
                        <a:pt x="15" y="31"/>
                      </a:lnTo>
                      <a:lnTo>
                        <a:pt x="11" y="14"/>
                      </a:lnTo>
                      <a:lnTo>
                        <a:pt x="6" y="6"/>
                      </a:lnTo>
                      <a:lnTo>
                        <a:pt x="0" y="4"/>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59" name="Freeform 81"/>
                <p:cNvSpPr>
                  <a:spLocks/>
                </p:cNvSpPr>
                <p:nvPr/>
              </p:nvSpPr>
              <p:spPr bwMode="gray">
                <a:xfrm>
                  <a:off x="5599113" y="3511551"/>
                  <a:ext cx="344488" cy="296863"/>
                </a:xfrm>
                <a:custGeom>
                  <a:avLst/>
                  <a:gdLst/>
                  <a:ahLst/>
                  <a:cxnLst>
                    <a:cxn ang="0">
                      <a:pos x="40" y="36"/>
                    </a:cxn>
                    <a:cxn ang="0">
                      <a:pos x="30" y="37"/>
                    </a:cxn>
                    <a:cxn ang="0">
                      <a:pos x="25" y="35"/>
                    </a:cxn>
                    <a:cxn ang="0">
                      <a:pos x="22" y="29"/>
                    </a:cxn>
                    <a:cxn ang="0">
                      <a:pos x="17" y="29"/>
                    </a:cxn>
                    <a:cxn ang="0">
                      <a:pos x="11" y="30"/>
                    </a:cxn>
                    <a:cxn ang="0">
                      <a:pos x="9" y="26"/>
                    </a:cxn>
                    <a:cxn ang="0">
                      <a:pos x="4" y="24"/>
                    </a:cxn>
                    <a:cxn ang="0">
                      <a:pos x="4" y="16"/>
                    </a:cxn>
                    <a:cxn ang="0">
                      <a:pos x="0" y="13"/>
                    </a:cxn>
                    <a:cxn ang="0">
                      <a:pos x="1" y="11"/>
                    </a:cxn>
                    <a:cxn ang="0">
                      <a:pos x="12" y="2"/>
                    </a:cxn>
                    <a:cxn ang="0">
                      <a:pos x="19" y="2"/>
                    </a:cxn>
                    <a:cxn ang="0">
                      <a:pos x="24" y="0"/>
                    </a:cxn>
                    <a:cxn ang="0">
                      <a:pos x="28" y="1"/>
                    </a:cxn>
                    <a:cxn ang="0">
                      <a:pos x="40" y="2"/>
                    </a:cxn>
                    <a:cxn ang="0">
                      <a:pos x="37" y="19"/>
                    </a:cxn>
                    <a:cxn ang="0">
                      <a:pos x="40" y="27"/>
                    </a:cxn>
                    <a:cxn ang="0">
                      <a:pos x="40" y="36"/>
                    </a:cxn>
                  </a:cxnLst>
                  <a:rect l="0" t="0" r="r" b="b"/>
                  <a:pathLst>
                    <a:path w="40" h="37">
                      <a:moveTo>
                        <a:pt x="40" y="36"/>
                      </a:moveTo>
                      <a:lnTo>
                        <a:pt x="30" y="37"/>
                      </a:lnTo>
                      <a:lnTo>
                        <a:pt x="25" y="35"/>
                      </a:lnTo>
                      <a:lnTo>
                        <a:pt x="22" y="29"/>
                      </a:lnTo>
                      <a:lnTo>
                        <a:pt x="17" y="29"/>
                      </a:lnTo>
                      <a:lnTo>
                        <a:pt x="11" y="30"/>
                      </a:lnTo>
                      <a:lnTo>
                        <a:pt x="9" y="26"/>
                      </a:lnTo>
                      <a:lnTo>
                        <a:pt x="4" y="24"/>
                      </a:lnTo>
                      <a:lnTo>
                        <a:pt x="4" y="16"/>
                      </a:lnTo>
                      <a:lnTo>
                        <a:pt x="0" y="13"/>
                      </a:lnTo>
                      <a:lnTo>
                        <a:pt x="1" y="11"/>
                      </a:lnTo>
                      <a:lnTo>
                        <a:pt x="12" y="2"/>
                      </a:lnTo>
                      <a:lnTo>
                        <a:pt x="19" y="2"/>
                      </a:lnTo>
                      <a:lnTo>
                        <a:pt x="24" y="0"/>
                      </a:lnTo>
                      <a:lnTo>
                        <a:pt x="28" y="1"/>
                      </a:lnTo>
                      <a:lnTo>
                        <a:pt x="40" y="2"/>
                      </a:lnTo>
                      <a:lnTo>
                        <a:pt x="37" y="19"/>
                      </a:lnTo>
                      <a:lnTo>
                        <a:pt x="40" y="27"/>
                      </a:lnTo>
                      <a:lnTo>
                        <a:pt x="40" y="36"/>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0" name="Freeform 84"/>
                <p:cNvSpPr>
                  <a:spLocks/>
                </p:cNvSpPr>
                <p:nvPr/>
              </p:nvSpPr>
              <p:spPr bwMode="gray">
                <a:xfrm>
                  <a:off x="5427663" y="4002088"/>
                  <a:ext cx="442913" cy="341313"/>
                </a:xfrm>
                <a:custGeom>
                  <a:avLst/>
                  <a:gdLst/>
                  <a:ahLst/>
                  <a:cxnLst>
                    <a:cxn ang="0">
                      <a:pos x="2" y="23"/>
                    </a:cxn>
                    <a:cxn ang="0">
                      <a:pos x="0" y="6"/>
                    </a:cxn>
                    <a:cxn ang="0">
                      <a:pos x="4" y="0"/>
                    </a:cxn>
                    <a:cxn ang="0">
                      <a:pos x="25" y="0"/>
                    </a:cxn>
                    <a:cxn ang="0">
                      <a:pos x="42" y="4"/>
                    </a:cxn>
                    <a:cxn ang="0">
                      <a:pos x="51" y="16"/>
                    </a:cxn>
                    <a:cxn ang="0">
                      <a:pos x="45" y="25"/>
                    </a:cxn>
                    <a:cxn ang="0">
                      <a:pos x="41" y="33"/>
                    </a:cxn>
                    <a:cxn ang="0">
                      <a:pos x="33" y="36"/>
                    </a:cxn>
                    <a:cxn ang="0">
                      <a:pos x="33" y="40"/>
                    </a:cxn>
                    <a:cxn ang="0">
                      <a:pos x="30" y="43"/>
                    </a:cxn>
                    <a:cxn ang="0">
                      <a:pos x="22" y="40"/>
                    </a:cxn>
                    <a:cxn ang="0">
                      <a:pos x="20" y="36"/>
                    </a:cxn>
                    <a:cxn ang="0">
                      <a:pos x="17" y="37"/>
                    </a:cxn>
                    <a:cxn ang="0">
                      <a:pos x="13" y="28"/>
                    </a:cxn>
                    <a:cxn ang="0">
                      <a:pos x="9" y="26"/>
                    </a:cxn>
                    <a:cxn ang="0">
                      <a:pos x="2" y="23"/>
                    </a:cxn>
                  </a:cxnLst>
                  <a:rect l="0" t="0" r="r" b="b"/>
                  <a:pathLst>
                    <a:path w="51" h="43">
                      <a:moveTo>
                        <a:pt x="2" y="23"/>
                      </a:moveTo>
                      <a:lnTo>
                        <a:pt x="0" y="6"/>
                      </a:lnTo>
                      <a:lnTo>
                        <a:pt x="4" y="0"/>
                      </a:lnTo>
                      <a:lnTo>
                        <a:pt x="25" y="0"/>
                      </a:lnTo>
                      <a:lnTo>
                        <a:pt x="42" y="4"/>
                      </a:lnTo>
                      <a:lnTo>
                        <a:pt x="51" y="16"/>
                      </a:lnTo>
                      <a:lnTo>
                        <a:pt x="45" y="25"/>
                      </a:lnTo>
                      <a:lnTo>
                        <a:pt x="41" y="33"/>
                      </a:lnTo>
                      <a:lnTo>
                        <a:pt x="33" y="36"/>
                      </a:lnTo>
                      <a:lnTo>
                        <a:pt x="33" y="40"/>
                      </a:lnTo>
                      <a:lnTo>
                        <a:pt x="30" y="43"/>
                      </a:lnTo>
                      <a:lnTo>
                        <a:pt x="22" y="40"/>
                      </a:lnTo>
                      <a:lnTo>
                        <a:pt x="20" y="36"/>
                      </a:lnTo>
                      <a:lnTo>
                        <a:pt x="17" y="37"/>
                      </a:lnTo>
                      <a:lnTo>
                        <a:pt x="13" y="28"/>
                      </a:lnTo>
                      <a:lnTo>
                        <a:pt x="9" y="26"/>
                      </a:lnTo>
                      <a:lnTo>
                        <a:pt x="2" y="23"/>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1" name="Freeform 85"/>
                <p:cNvSpPr>
                  <a:spLocks/>
                </p:cNvSpPr>
                <p:nvPr/>
              </p:nvSpPr>
              <p:spPr bwMode="gray">
                <a:xfrm>
                  <a:off x="5599113" y="4044951"/>
                  <a:ext cx="728663" cy="647700"/>
                </a:xfrm>
                <a:custGeom>
                  <a:avLst/>
                  <a:gdLst/>
                  <a:ahLst/>
                  <a:cxnLst>
                    <a:cxn ang="0">
                      <a:pos x="77" y="67"/>
                    </a:cxn>
                    <a:cxn ang="0">
                      <a:pos x="68" y="70"/>
                    </a:cxn>
                    <a:cxn ang="0">
                      <a:pos x="66" y="76"/>
                    </a:cxn>
                    <a:cxn ang="0">
                      <a:pos x="61" y="78"/>
                    </a:cxn>
                    <a:cxn ang="0">
                      <a:pos x="46" y="72"/>
                    </a:cxn>
                    <a:cxn ang="0">
                      <a:pos x="42" y="74"/>
                    </a:cxn>
                    <a:cxn ang="0">
                      <a:pos x="36" y="72"/>
                    </a:cxn>
                    <a:cxn ang="0">
                      <a:pos x="31" y="72"/>
                    </a:cxn>
                    <a:cxn ang="0">
                      <a:pos x="25" y="69"/>
                    </a:cxn>
                    <a:cxn ang="0">
                      <a:pos x="18" y="70"/>
                    </a:cxn>
                    <a:cxn ang="0">
                      <a:pos x="9" y="80"/>
                    </a:cxn>
                    <a:cxn ang="0">
                      <a:pos x="8" y="71"/>
                    </a:cxn>
                    <a:cxn ang="0">
                      <a:pos x="0" y="63"/>
                    </a:cxn>
                    <a:cxn ang="0">
                      <a:pos x="8" y="55"/>
                    </a:cxn>
                    <a:cxn ang="0">
                      <a:pos x="2" y="45"/>
                    </a:cxn>
                    <a:cxn ang="0">
                      <a:pos x="2" y="34"/>
                    </a:cxn>
                    <a:cxn ang="0">
                      <a:pos x="10" y="37"/>
                    </a:cxn>
                    <a:cxn ang="0">
                      <a:pos x="13" y="34"/>
                    </a:cxn>
                    <a:cxn ang="0">
                      <a:pos x="13" y="30"/>
                    </a:cxn>
                    <a:cxn ang="0">
                      <a:pos x="21" y="27"/>
                    </a:cxn>
                    <a:cxn ang="0">
                      <a:pos x="25" y="19"/>
                    </a:cxn>
                    <a:cxn ang="0">
                      <a:pos x="31" y="10"/>
                    </a:cxn>
                    <a:cxn ang="0">
                      <a:pos x="35" y="10"/>
                    </a:cxn>
                    <a:cxn ang="0">
                      <a:pos x="43" y="0"/>
                    </a:cxn>
                    <a:cxn ang="0">
                      <a:pos x="49" y="0"/>
                    </a:cxn>
                    <a:cxn ang="0">
                      <a:pos x="54" y="5"/>
                    </a:cxn>
                    <a:cxn ang="0">
                      <a:pos x="59" y="4"/>
                    </a:cxn>
                    <a:cxn ang="0">
                      <a:pos x="65" y="5"/>
                    </a:cxn>
                    <a:cxn ang="0">
                      <a:pos x="69" y="10"/>
                    </a:cxn>
                    <a:cxn ang="0">
                      <a:pos x="70" y="26"/>
                    </a:cxn>
                    <a:cxn ang="0">
                      <a:pos x="74" y="35"/>
                    </a:cxn>
                    <a:cxn ang="0">
                      <a:pos x="84" y="45"/>
                    </a:cxn>
                    <a:cxn ang="0">
                      <a:pos x="82" y="52"/>
                    </a:cxn>
                    <a:cxn ang="0">
                      <a:pos x="78" y="52"/>
                    </a:cxn>
                    <a:cxn ang="0">
                      <a:pos x="74" y="50"/>
                    </a:cxn>
                    <a:cxn ang="0">
                      <a:pos x="70" y="50"/>
                    </a:cxn>
                    <a:cxn ang="0">
                      <a:pos x="71" y="56"/>
                    </a:cxn>
                    <a:cxn ang="0">
                      <a:pos x="75" y="60"/>
                    </a:cxn>
                    <a:cxn ang="0">
                      <a:pos x="77" y="67"/>
                    </a:cxn>
                  </a:cxnLst>
                  <a:rect l="0" t="0" r="r" b="b"/>
                  <a:pathLst>
                    <a:path w="84" h="80">
                      <a:moveTo>
                        <a:pt x="77" y="67"/>
                      </a:moveTo>
                      <a:lnTo>
                        <a:pt x="68" y="70"/>
                      </a:lnTo>
                      <a:lnTo>
                        <a:pt x="66" y="76"/>
                      </a:lnTo>
                      <a:lnTo>
                        <a:pt x="61" y="78"/>
                      </a:lnTo>
                      <a:lnTo>
                        <a:pt x="46" y="72"/>
                      </a:lnTo>
                      <a:lnTo>
                        <a:pt x="42" y="74"/>
                      </a:lnTo>
                      <a:lnTo>
                        <a:pt x="36" y="72"/>
                      </a:lnTo>
                      <a:lnTo>
                        <a:pt x="31" y="72"/>
                      </a:lnTo>
                      <a:lnTo>
                        <a:pt x="25" y="69"/>
                      </a:lnTo>
                      <a:lnTo>
                        <a:pt x="18" y="70"/>
                      </a:lnTo>
                      <a:lnTo>
                        <a:pt x="9" y="80"/>
                      </a:lnTo>
                      <a:lnTo>
                        <a:pt x="8" y="71"/>
                      </a:lnTo>
                      <a:lnTo>
                        <a:pt x="0" y="63"/>
                      </a:lnTo>
                      <a:lnTo>
                        <a:pt x="8" y="55"/>
                      </a:lnTo>
                      <a:lnTo>
                        <a:pt x="2" y="45"/>
                      </a:lnTo>
                      <a:lnTo>
                        <a:pt x="2" y="34"/>
                      </a:lnTo>
                      <a:lnTo>
                        <a:pt x="10" y="37"/>
                      </a:lnTo>
                      <a:lnTo>
                        <a:pt x="13" y="34"/>
                      </a:lnTo>
                      <a:lnTo>
                        <a:pt x="13" y="30"/>
                      </a:lnTo>
                      <a:lnTo>
                        <a:pt x="21" y="27"/>
                      </a:lnTo>
                      <a:lnTo>
                        <a:pt x="25" y="19"/>
                      </a:lnTo>
                      <a:lnTo>
                        <a:pt x="31" y="10"/>
                      </a:lnTo>
                      <a:lnTo>
                        <a:pt x="35" y="10"/>
                      </a:lnTo>
                      <a:lnTo>
                        <a:pt x="43" y="0"/>
                      </a:lnTo>
                      <a:lnTo>
                        <a:pt x="49" y="0"/>
                      </a:lnTo>
                      <a:lnTo>
                        <a:pt x="54" y="5"/>
                      </a:lnTo>
                      <a:lnTo>
                        <a:pt x="59" y="4"/>
                      </a:lnTo>
                      <a:lnTo>
                        <a:pt x="65" y="5"/>
                      </a:lnTo>
                      <a:lnTo>
                        <a:pt x="69" y="10"/>
                      </a:lnTo>
                      <a:lnTo>
                        <a:pt x="70" y="26"/>
                      </a:lnTo>
                      <a:lnTo>
                        <a:pt x="74" y="35"/>
                      </a:lnTo>
                      <a:lnTo>
                        <a:pt x="84" y="45"/>
                      </a:lnTo>
                      <a:lnTo>
                        <a:pt x="82" y="52"/>
                      </a:lnTo>
                      <a:lnTo>
                        <a:pt x="78" y="52"/>
                      </a:lnTo>
                      <a:lnTo>
                        <a:pt x="74" y="50"/>
                      </a:lnTo>
                      <a:lnTo>
                        <a:pt x="70" y="50"/>
                      </a:lnTo>
                      <a:lnTo>
                        <a:pt x="71" y="56"/>
                      </a:lnTo>
                      <a:lnTo>
                        <a:pt x="75" y="60"/>
                      </a:lnTo>
                      <a:lnTo>
                        <a:pt x="77" y="67"/>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2" name="Freeform 86"/>
                <p:cNvSpPr>
                  <a:spLocks/>
                </p:cNvSpPr>
                <p:nvPr/>
              </p:nvSpPr>
              <p:spPr bwMode="gray">
                <a:xfrm>
                  <a:off x="5410201" y="3744913"/>
                  <a:ext cx="573088" cy="382588"/>
                </a:xfrm>
                <a:custGeom>
                  <a:avLst/>
                  <a:gdLst/>
                  <a:ahLst/>
                  <a:cxnLst>
                    <a:cxn ang="0">
                      <a:pos x="66" y="37"/>
                    </a:cxn>
                    <a:cxn ang="0">
                      <a:pos x="58" y="47"/>
                    </a:cxn>
                    <a:cxn ang="0">
                      <a:pos x="54" y="47"/>
                    </a:cxn>
                    <a:cxn ang="0">
                      <a:pos x="45" y="35"/>
                    </a:cxn>
                    <a:cxn ang="0">
                      <a:pos x="28" y="31"/>
                    </a:cxn>
                    <a:cxn ang="0">
                      <a:pos x="7" y="31"/>
                    </a:cxn>
                    <a:cxn ang="0">
                      <a:pos x="3" y="37"/>
                    </a:cxn>
                    <a:cxn ang="0">
                      <a:pos x="0" y="32"/>
                    </a:cxn>
                    <a:cxn ang="0">
                      <a:pos x="1" y="27"/>
                    </a:cxn>
                    <a:cxn ang="0">
                      <a:pos x="6" y="22"/>
                    </a:cxn>
                    <a:cxn ang="0">
                      <a:pos x="5" y="12"/>
                    </a:cxn>
                    <a:cxn ang="0">
                      <a:pos x="11" y="10"/>
                    </a:cxn>
                    <a:cxn ang="0">
                      <a:pos x="18" y="7"/>
                    </a:cxn>
                    <a:cxn ang="0">
                      <a:pos x="20" y="13"/>
                    </a:cxn>
                    <a:cxn ang="0">
                      <a:pos x="26" y="21"/>
                    </a:cxn>
                    <a:cxn ang="0">
                      <a:pos x="33" y="20"/>
                    </a:cxn>
                    <a:cxn ang="0">
                      <a:pos x="35" y="8"/>
                    </a:cxn>
                    <a:cxn ang="0">
                      <a:pos x="34" y="3"/>
                    </a:cxn>
                    <a:cxn ang="0">
                      <a:pos x="34" y="1"/>
                    </a:cxn>
                    <a:cxn ang="0">
                      <a:pos x="40" y="0"/>
                    </a:cxn>
                    <a:cxn ang="0">
                      <a:pos x="45" y="0"/>
                    </a:cxn>
                    <a:cxn ang="0">
                      <a:pos x="48" y="6"/>
                    </a:cxn>
                    <a:cxn ang="0">
                      <a:pos x="53" y="8"/>
                    </a:cxn>
                    <a:cxn ang="0">
                      <a:pos x="63" y="7"/>
                    </a:cxn>
                    <a:cxn ang="0">
                      <a:pos x="63" y="18"/>
                    </a:cxn>
                    <a:cxn ang="0">
                      <a:pos x="67" y="24"/>
                    </a:cxn>
                    <a:cxn ang="0">
                      <a:pos x="66" y="37"/>
                    </a:cxn>
                  </a:cxnLst>
                  <a:rect l="0" t="0" r="r" b="b"/>
                  <a:pathLst>
                    <a:path w="67" h="47">
                      <a:moveTo>
                        <a:pt x="66" y="37"/>
                      </a:moveTo>
                      <a:lnTo>
                        <a:pt x="58" y="47"/>
                      </a:lnTo>
                      <a:lnTo>
                        <a:pt x="54" y="47"/>
                      </a:lnTo>
                      <a:lnTo>
                        <a:pt x="45" y="35"/>
                      </a:lnTo>
                      <a:lnTo>
                        <a:pt x="28" y="31"/>
                      </a:lnTo>
                      <a:lnTo>
                        <a:pt x="7" y="31"/>
                      </a:lnTo>
                      <a:lnTo>
                        <a:pt x="3" y="37"/>
                      </a:lnTo>
                      <a:lnTo>
                        <a:pt x="0" y="32"/>
                      </a:lnTo>
                      <a:lnTo>
                        <a:pt x="1" y="27"/>
                      </a:lnTo>
                      <a:lnTo>
                        <a:pt x="6" y="22"/>
                      </a:lnTo>
                      <a:lnTo>
                        <a:pt x="5" y="12"/>
                      </a:lnTo>
                      <a:lnTo>
                        <a:pt x="11" y="10"/>
                      </a:lnTo>
                      <a:lnTo>
                        <a:pt x="18" y="7"/>
                      </a:lnTo>
                      <a:lnTo>
                        <a:pt x="20" y="13"/>
                      </a:lnTo>
                      <a:lnTo>
                        <a:pt x="26" y="21"/>
                      </a:lnTo>
                      <a:lnTo>
                        <a:pt x="33" y="20"/>
                      </a:lnTo>
                      <a:lnTo>
                        <a:pt x="35" y="8"/>
                      </a:lnTo>
                      <a:lnTo>
                        <a:pt x="34" y="3"/>
                      </a:lnTo>
                      <a:lnTo>
                        <a:pt x="34" y="1"/>
                      </a:lnTo>
                      <a:lnTo>
                        <a:pt x="40" y="0"/>
                      </a:lnTo>
                      <a:lnTo>
                        <a:pt x="45" y="0"/>
                      </a:lnTo>
                      <a:lnTo>
                        <a:pt x="48" y="6"/>
                      </a:lnTo>
                      <a:lnTo>
                        <a:pt x="53" y="8"/>
                      </a:lnTo>
                      <a:lnTo>
                        <a:pt x="63" y="7"/>
                      </a:lnTo>
                      <a:lnTo>
                        <a:pt x="63" y="18"/>
                      </a:lnTo>
                      <a:lnTo>
                        <a:pt x="67" y="24"/>
                      </a:lnTo>
                      <a:lnTo>
                        <a:pt x="66" y="37"/>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3" name="Freeform 87"/>
                <p:cNvSpPr>
                  <a:spLocks/>
                </p:cNvSpPr>
                <p:nvPr/>
              </p:nvSpPr>
              <p:spPr bwMode="gray">
                <a:xfrm>
                  <a:off x="3025776" y="5840413"/>
                  <a:ext cx="230188" cy="549275"/>
                </a:xfrm>
                <a:custGeom>
                  <a:avLst/>
                  <a:gdLst/>
                  <a:ahLst/>
                  <a:cxnLst>
                    <a:cxn ang="0">
                      <a:pos x="6" y="1"/>
                    </a:cxn>
                    <a:cxn ang="0">
                      <a:pos x="10" y="3"/>
                    </a:cxn>
                    <a:cxn ang="0">
                      <a:pos x="19" y="2"/>
                    </a:cxn>
                    <a:cxn ang="0">
                      <a:pos x="23" y="0"/>
                    </a:cxn>
                    <a:cxn ang="0">
                      <a:pos x="27" y="5"/>
                    </a:cxn>
                    <a:cxn ang="0">
                      <a:pos x="25" y="14"/>
                    </a:cxn>
                    <a:cxn ang="0">
                      <a:pos x="23" y="18"/>
                    </a:cxn>
                    <a:cxn ang="0">
                      <a:pos x="22" y="29"/>
                    </a:cxn>
                    <a:cxn ang="0">
                      <a:pos x="20" y="32"/>
                    </a:cxn>
                    <a:cxn ang="0">
                      <a:pos x="22" y="42"/>
                    </a:cxn>
                    <a:cxn ang="0">
                      <a:pos x="21" y="53"/>
                    </a:cxn>
                    <a:cxn ang="0">
                      <a:pos x="17" y="59"/>
                    </a:cxn>
                    <a:cxn ang="0">
                      <a:pos x="17" y="64"/>
                    </a:cxn>
                    <a:cxn ang="0">
                      <a:pos x="13" y="67"/>
                    </a:cxn>
                    <a:cxn ang="0">
                      <a:pos x="8" y="66"/>
                    </a:cxn>
                    <a:cxn ang="0">
                      <a:pos x="3" y="66"/>
                    </a:cxn>
                    <a:cxn ang="0">
                      <a:pos x="4" y="60"/>
                    </a:cxn>
                    <a:cxn ang="0">
                      <a:pos x="4" y="51"/>
                    </a:cxn>
                    <a:cxn ang="0">
                      <a:pos x="3" y="47"/>
                    </a:cxn>
                    <a:cxn ang="0">
                      <a:pos x="0" y="47"/>
                    </a:cxn>
                    <a:cxn ang="0">
                      <a:pos x="0" y="37"/>
                    </a:cxn>
                    <a:cxn ang="0">
                      <a:pos x="3" y="33"/>
                    </a:cxn>
                    <a:cxn ang="0">
                      <a:pos x="3" y="28"/>
                    </a:cxn>
                    <a:cxn ang="0">
                      <a:pos x="6" y="26"/>
                    </a:cxn>
                    <a:cxn ang="0">
                      <a:pos x="7" y="17"/>
                    </a:cxn>
                    <a:cxn ang="0">
                      <a:pos x="5" y="10"/>
                    </a:cxn>
                    <a:cxn ang="0">
                      <a:pos x="4" y="5"/>
                    </a:cxn>
                    <a:cxn ang="0">
                      <a:pos x="6" y="1"/>
                    </a:cxn>
                  </a:cxnLst>
                  <a:rect l="0" t="0" r="r" b="b"/>
                  <a:pathLst>
                    <a:path w="27" h="67">
                      <a:moveTo>
                        <a:pt x="6" y="1"/>
                      </a:moveTo>
                      <a:lnTo>
                        <a:pt x="10" y="3"/>
                      </a:lnTo>
                      <a:lnTo>
                        <a:pt x="19" y="2"/>
                      </a:lnTo>
                      <a:lnTo>
                        <a:pt x="23" y="0"/>
                      </a:lnTo>
                      <a:lnTo>
                        <a:pt x="27" y="5"/>
                      </a:lnTo>
                      <a:lnTo>
                        <a:pt x="25" y="14"/>
                      </a:lnTo>
                      <a:lnTo>
                        <a:pt x="23" y="18"/>
                      </a:lnTo>
                      <a:lnTo>
                        <a:pt x="22" y="29"/>
                      </a:lnTo>
                      <a:lnTo>
                        <a:pt x="20" y="32"/>
                      </a:lnTo>
                      <a:lnTo>
                        <a:pt x="22" y="42"/>
                      </a:lnTo>
                      <a:lnTo>
                        <a:pt x="21" y="53"/>
                      </a:lnTo>
                      <a:lnTo>
                        <a:pt x="17" y="59"/>
                      </a:lnTo>
                      <a:lnTo>
                        <a:pt x="17" y="64"/>
                      </a:lnTo>
                      <a:lnTo>
                        <a:pt x="13" y="67"/>
                      </a:lnTo>
                      <a:lnTo>
                        <a:pt x="8" y="66"/>
                      </a:lnTo>
                      <a:lnTo>
                        <a:pt x="3" y="66"/>
                      </a:lnTo>
                      <a:lnTo>
                        <a:pt x="4" y="60"/>
                      </a:lnTo>
                      <a:lnTo>
                        <a:pt x="4" y="51"/>
                      </a:lnTo>
                      <a:lnTo>
                        <a:pt x="3" y="47"/>
                      </a:lnTo>
                      <a:lnTo>
                        <a:pt x="0" y="47"/>
                      </a:lnTo>
                      <a:lnTo>
                        <a:pt x="0" y="37"/>
                      </a:lnTo>
                      <a:lnTo>
                        <a:pt x="3" y="33"/>
                      </a:lnTo>
                      <a:lnTo>
                        <a:pt x="3" y="28"/>
                      </a:lnTo>
                      <a:lnTo>
                        <a:pt x="6" y="26"/>
                      </a:lnTo>
                      <a:lnTo>
                        <a:pt x="7" y="17"/>
                      </a:lnTo>
                      <a:lnTo>
                        <a:pt x="5" y="10"/>
                      </a:lnTo>
                      <a:lnTo>
                        <a:pt x="4" y="5"/>
                      </a:lnTo>
                      <a:lnTo>
                        <a:pt x="6" y="1"/>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4" name="Freeform 88"/>
                <p:cNvSpPr>
                  <a:spLocks/>
                </p:cNvSpPr>
                <p:nvPr/>
              </p:nvSpPr>
              <p:spPr bwMode="gray">
                <a:xfrm>
                  <a:off x="3025776" y="5634038"/>
                  <a:ext cx="976313" cy="842963"/>
                </a:xfrm>
                <a:custGeom>
                  <a:avLst/>
                  <a:gdLst/>
                  <a:ahLst/>
                  <a:cxnLst>
                    <a:cxn ang="0">
                      <a:pos x="113" y="16"/>
                    </a:cxn>
                    <a:cxn ang="0">
                      <a:pos x="114" y="23"/>
                    </a:cxn>
                    <a:cxn ang="0">
                      <a:pos x="111" y="31"/>
                    </a:cxn>
                    <a:cxn ang="0">
                      <a:pos x="102" y="35"/>
                    </a:cxn>
                    <a:cxn ang="0">
                      <a:pos x="97" y="35"/>
                    </a:cxn>
                    <a:cxn ang="0">
                      <a:pos x="92" y="41"/>
                    </a:cxn>
                    <a:cxn ang="0">
                      <a:pos x="91" y="44"/>
                    </a:cxn>
                    <a:cxn ang="0">
                      <a:pos x="86" y="49"/>
                    </a:cxn>
                    <a:cxn ang="0">
                      <a:pos x="85" y="59"/>
                    </a:cxn>
                    <a:cxn ang="0">
                      <a:pos x="86" y="69"/>
                    </a:cxn>
                    <a:cxn ang="0">
                      <a:pos x="81" y="76"/>
                    </a:cxn>
                    <a:cxn ang="0">
                      <a:pos x="80" y="82"/>
                    </a:cxn>
                    <a:cxn ang="0">
                      <a:pos x="74" y="85"/>
                    </a:cxn>
                    <a:cxn ang="0">
                      <a:pos x="71" y="88"/>
                    </a:cxn>
                    <a:cxn ang="0">
                      <a:pos x="67" y="90"/>
                    </a:cxn>
                    <a:cxn ang="0">
                      <a:pos x="66" y="94"/>
                    </a:cxn>
                    <a:cxn ang="0">
                      <a:pos x="60" y="98"/>
                    </a:cxn>
                    <a:cxn ang="0">
                      <a:pos x="55" y="96"/>
                    </a:cxn>
                    <a:cxn ang="0">
                      <a:pos x="50" y="95"/>
                    </a:cxn>
                    <a:cxn ang="0">
                      <a:pos x="42" y="97"/>
                    </a:cxn>
                    <a:cxn ang="0">
                      <a:pos x="36" y="103"/>
                    </a:cxn>
                    <a:cxn ang="0">
                      <a:pos x="32" y="102"/>
                    </a:cxn>
                    <a:cxn ang="0">
                      <a:pos x="30" y="100"/>
                    </a:cxn>
                    <a:cxn ang="0">
                      <a:pos x="26" y="98"/>
                    </a:cxn>
                    <a:cxn ang="0">
                      <a:pos x="23" y="90"/>
                    </a:cxn>
                    <a:cxn ang="0">
                      <a:pos x="19" y="89"/>
                    </a:cxn>
                    <a:cxn ang="0">
                      <a:pos x="17" y="89"/>
                    </a:cxn>
                    <a:cxn ang="0">
                      <a:pos x="17" y="84"/>
                    </a:cxn>
                    <a:cxn ang="0">
                      <a:pos x="21" y="78"/>
                    </a:cxn>
                    <a:cxn ang="0">
                      <a:pos x="22" y="67"/>
                    </a:cxn>
                    <a:cxn ang="0">
                      <a:pos x="20" y="57"/>
                    </a:cxn>
                    <a:cxn ang="0">
                      <a:pos x="22" y="54"/>
                    </a:cxn>
                    <a:cxn ang="0">
                      <a:pos x="23" y="43"/>
                    </a:cxn>
                    <a:cxn ang="0">
                      <a:pos x="25" y="39"/>
                    </a:cxn>
                    <a:cxn ang="0">
                      <a:pos x="27" y="30"/>
                    </a:cxn>
                    <a:cxn ang="0">
                      <a:pos x="23" y="25"/>
                    </a:cxn>
                    <a:cxn ang="0">
                      <a:pos x="19" y="27"/>
                    </a:cxn>
                    <a:cxn ang="0">
                      <a:pos x="10" y="28"/>
                    </a:cxn>
                    <a:cxn ang="0">
                      <a:pos x="6" y="26"/>
                    </a:cxn>
                    <a:cxn ang="0">
                      <a:pos x="5" y="21"/>
                    </a:cxn>
                    <a:cxn ang="0">
                      <a:pos x="0" y="12"/>
                    </a:cxn>
                    <a:cxn ang="0">
                      <a:pos x="3" y="7"/>
                    </a:cxn>
                    <a:cxn ang="0">
                      <a:pos x="9" y="4"/>
                    </a:cxn>
                    <a:cxn ang="0">
                      <a:pos x="11" y="0"/>
                    </a:cxn>
                    <a:cxn ang="0">
                      <a:pos x="15" y="0"/>
                    </a:cxn>
                    <a:cxn ang="0">
                      <a:pos x="17" y="2"/>
                    </a:cxn>
                    <a:cxn ang="0">
                      <a:pos x="28" y="3"/>
                    </a:cxn>
                    <a:cxn ang="0">
                      <a:pos x="31" y="2"/>
                    </a:cxn>
                    <a:cxn ang="0">
                      <a:pos x="36" y="1"/>
                    </a:cxn>
                    <a:cxn ang="0">
                      <a:pos x="45" y="4"/>
                    </a:cxn>
                    <a:cxn ang="0">
                      <a:pos x="52" y="3"/>
                    </a:cxn>
                    <a:cxn ang="0">
                      <a:pos x="61" y="5"/>
                    </a:cxn>
                    <a:cxn ang="0">
                      <a:pos x="71" y="6"/>
                    </a:cxn>
                    <a:cxn ang="0">
                      <a:pos x="78" y="11"/>
                    </a:cxn>
                    <a:cxn ang="0">
                      <a:pos x="81" y="11"/>
                    </a:cxn>
                    <a:cxn ang="0">
                      <a:pos x="84" y="14"/>
                    </a:cxn>
                    <a:cxn ang="0">
                      <a:pos x="96" y="13"/>
                    </a:cxn>
                    <a:cxn ang="0">
                      <a:pos x="99" y="14"/>
                    </a:cxn>
                    <a:cxn ang="0">
                      <a:pos x="101" y="15"/>
                    </a:cxn>
                    <a:cxn ang="0">
                      <a:pos x="103" y="16"/>
                    </a:cxn>
                    <a:cxn ang="0">
                      <a:pos x="113" y="16"/>
                    </a:cxn>
                  </a:cxnLst>
                  <a:rect l="0" t="0" r="r" b="b"/>
                  <a:pathLst>
                    <a:path w="114" h="103">
                      <a:moveTo>
                        <a:pt x="113" y="16"/>
                      </a:moveTo>
                      <a:lnTo>
                        <a:pt x="114" y="23"/>
                      </a:lnTo>
                      <a:lnTo>
                        <a:pt x="111" y="31"/>
                      </a:lnTo>
                      <a:lnTo>
                        <a:pt x="102" y="35"/>
                      </a:lnTo>
                      <a:lnTo>
                        <a:pt x="97" y="35"/>
                      </a:lnTo>
                      <a:lnTo>
                        <a:pt x="92" y="41"/>
                      </a:lnTo>
                      <a:lnTo>
                        <a:pt x="91" y="44"/>
                      </a:lnTo>
                      <a:lnTo>
                        <a:pt x="86" y="49"/>
                      </a:lnTo>
                      <a:lnTo>
                        <a:pt x="85" y="59"/>
                      </a:lnTo>
                      <a:lnTo>
                        <a:pt x="86" y="69"/>
                      </a:lnTo>
                      <a:lnTo>
                        <a:pt x="81" y="76"/>
                      </a:lnTo>
                      <a:lnTo>
                        <a:pt x="80" y="82"/>
                      </a:lnTo>
                      <a:lnTo>
                        <a:pt x="74" y="85"/>
                      </a:lnTo>
                      <a:lnTo>
                        <a:pt x="71" y="88"/>
                      </a:lnTo>
                      <a:lnTo>
                        <a:pt x="67" y="90"/>
                      </a:lnTo>
                      <a:lnTo>
                        <a:pt x="66" y="94"/>
                      </a:lnTo>
                      <a:lnTo>
                        <a:pt x="60" y="98"/>
                      </a:lnTo>
                      <a:lnTo>
                        <a:pt x="55" y="96"/>
                      </a:lnTo>
                      <a:lnTo>
                        <a:pt x="50" y="95"/>
                      </a:lnTo>
                      <a:lnTo>
                        <a:pt x="42" y="97"/>
                      </a:lnTo>
                      <a:lnTo>
                        <a:pt x="36" y="103"/>
                      </a:lnTo>
                      <a:lnTo>
                        <a:pt x="32" y="102"/>
                      </a:lnTo>
                      <a:lnTo>
                        <a:pt x="30" y="100"/>
                      </a:lnTo>
                      <a:lnTo>
                        <a:pt x="26" y="98"/>
                      </a:lnTo>
                      <a:lnTo>
                        <a:pt x="23" y="90"/>
                      </a:lnTo>
                      <a:lnTo>
                        <a:pt x="19" y="89"/>
                      </a:lnTo>
                      <a:lnTo>
                        <a:pt x="17" y="89"/>
                      </a:lnTo>
                      <a:lnTo>
                        <a:pt x="17" y="84"/>
                      </a:lnTo>
                      <a:lnTo>
                        <a:pt x="21" y="78"/>
                      </a:lnTo>
                      <a:lnTo>
                        <a:pt x="22" y="67"/>
                      </a:lnTo>
                      <a:lnTo>
                        <a:pt x="20" y="57"/>
                      </a:lnTo>
                      <a:lnTo>
                        <a:pt x="22" y="54"/>
                      </a:lnTo>
                      <a:lnTo>
                        <a:pt x="23" y="43"/>
                      </a:lnTo>
                      <a:lnTo>
                        <a:pt x="25" y="39"/>
                      </a:lnTo>
                      <a:lnTo>
                        <a:pt x="27" y="30"/>
                      </a:lnTo>
                      <a:lnTo>
                        <a:pt x="23" y="25"/>
                      </a:lnTo>
                      <a:lnTo>
                        <a:pt x="19" y="27"/>
                      </a:lnTo>
                      <a:lnTo>
                        <a:pt x="10" y="28"/>
                      </a:lnTo>
                      <a:lnTo>
                        <a:pt x="6" y="26"/>
                      </a:lnTo>
                      <a:lnTo>
                        <a:pt x="5" y="21"/>
                      </a:lnTo>
                      <a:lnTo>
                        <a:pt x="0" y="12"/>
                      </a:lnTo>
                      <a:lnTo>
                        <a:pt x="3" y="7"/>
                      </a:lnTo>
                      <a:lnTo>
                        <a:pt x="9" y="4"/>
                      </a:lnTo>
                      <a:lnTo>
                        <a:pt x="11" y="0"/>
                      </a:lnTo>
                      <a:lnTo>
                        <a:pt x="15" y="0"/>
                      </a:lnTo>
                      <a:lnTo>
                        <a:pt x="17" y="2"/>
                      </a:lnTo>
                      <a:lnTo>
                        <a:pt x="28" y="3"/>
                      </a:lnTo>
                      <a:lnTo>
                        <a:pt x="31" y="2"/>
                      </a:lnTo>
                      <a:lnTo>
                        <a:pt x="36" y="1"/>
                      </a:lnTo>
                      <a:lnTo>
                        <a:pt x="45" y="4"/>
                      </a:lnTo>
                      <a:lnTo>
                        <a:pt x="52" y="3"/>
                      </a:lnTo>
                      <a:lnTo>
                        <a:pt x="61" y="5"/>
                      </a:lnTo>
                      <a:lnTo>
                        <a:pt x="71" y="6"/>
                      </a:lnTo>
                      <a:lnTo>
                        <a:pt x="78" y="11"/>
                      </a:lnTo>
                      <a:lnTo>
                        <a:pt x="81" y="11"/>
                      </a:lnTo>
                      <a:lnTo>
                        <a:pt x="84" y="14"/>
                      </a:lnTo>
                      <a:lnTo>
                        <a:pt x="96" y="13"/>
                      </a:lnTo>
                      <a:lnTo>
                        <a:pt x="99" y="14"/>
                      </a:lnTo>
                      <a:lnTo>
                        <a:pt x="101" y="15"/>
                      </a:lnTo>
                      <a:lnTo>
                        <a:pt x="103" y="16"/>
                      </a:lnTo>
                      <a:lnTo>
                        <a:pt x="113" y="16"/>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5" name="Freeform 89"/>
                <p:cNvSpPr>
                  <a:spLocks/>
                </p:cNvSpPr>
                <p:nvPr/>
              </p:nvSpPr>
              <p:spPr bwMode="gray">
                <a:xfrm>
                  <a:off x="5281613" y="5754688"/>
                  <a:ext cx="161925" cy="333375"/>
                </a:xfrm>
                <a:custGeom>
                  <a:avLst/>
                  <a:gdLst/>
                  <a:ahLst/>
                  <a:cxnLst>
                    <a:cxn ang="0">
                      <a:pos x="15" y="10"/>
                    </a:cxn>
                    <a:cxn ang="0">
                      <a:pos x="13" y="17"/>
                    </a:cxn>
                    <a:cxn ang="0">
                      <a:pos x="17" y="24"/>
                    </a:cxn>
                    <a:cxn ang="0">
                      <a:pos x="18" y="30"/>
                    </a:cxn>
                    <a:cxn ang="0">
                      <a:pos x="14" y="37"/>
                    </a:cxn>
                    <a:cxn ang="0">
                      <a:pos x="9" y="41"/>
                    </a:cxn>
                    <a:cxn ang="0">
                      <a:pos x="4" y="33"/>
                    </a:cxn>
                    <a:cxn ang="0">
                      <a:pos x="2" y="25"/>
                    </a:cxn>
                    <a:cxn ang="0">
                      <a:pos x="4" y="19"/>
                    </a:cxn>
                    <a:cxn ang="0">
                      <a:pos x="3" y="14"/>
                    </a:cxn>
                    <a:cxn ang="0">
                      <a:pos x="0" y="9"/>
                    </a:cxn>
                    <a:cxn ang="0">
                      <a:pos x="2" y="3"/>
                    </a:cxn>
                    <a:cxn ang="0">
                      <a:pos x="6" y="0"/>
                    </a:cxn>
                    <a:cxn ang="0">
                      <a:pos x="12" y="2"/>
                    </a:cxn>
                    <a:cxn ang="0">
                      <a:pos x="15" y="10"/>
                    </a:cxn>
                  </a:cxnLst>
                  <a:rect l="0" t="0" r="r" b="b"/>
                  <a:pathLst>
                    <a:path w="18" h="41">
                      <a:moveTo>
                        <a:pt x="15" y="10"/>
                      </a:moveTo>
                      <a:lnTo>
                        <a:pt x="13" y="17"/>
                      </a:lnTo>
                      <a:lnTo>
                        <a:pt x="17" y="24"/>
                      </a:lnTo>
                      <a:lnTo>
                        <a:pt x="18" y="30"/>
                      </a:lnTo>
                      <a:lnTo>
                        <a:pt x="14" y="37"/>
                      </a:lnTo>
                      <a:lnTo>
                        <a:pt x="9" y="41"/>
                      </a:lnTo>
                      <a:lnTo>
                        <a:pt x="4" y="33"/>
                      </a:lnTo>
                      <a:lnTo>
                        <a:pt x="2" y="25"/>
                      </a:lnTo>
                      <a:lnTo>
                        <a:pt x="4" y="19"/>
                      </a:lnTo>
                      <a:lnTo>
                        <a:pt x="3" y="14"/>
                      </a:lnTo>
                      <a:lnTo>
                        <a:pt x="0" y="9"/>
                      </a:lnTo>
                      <a:lnTo>
                        <a:pt x="2" y="3"/>
                      </a:lnTo>
                      <a:lnTo>
                        <a:pt x="6" y="0"/>
                      </a:lnTo>
                      <a:lnTo>
                        <a:pt x="12" y="2"/>
                      </a:lnTo>
                      <a:lnTo>
                        <a:pt x="15" y="1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6" name="Freeform 90"/>
                <p:cNvSpPr>
                  <a:spLocks/>
                </p:cNvSpPr>
                <p:nvPr/>
              </p:nvSpPr>
              <p:spPr bwMode="gray">
                <a:xfrm>
                  <a:off x="5410201" y="6208713"/>
                  <a:ext cx="7938" cy="17463"/>
                </a:xfrm>
                <a:custGeom>
                  <a:avLst/>
                  <a:gdLst/>
                  <a:ahLst/>
                  <a:cxnLst>
                    <a:cxn ang="0">
                      <a:pos x="2" y="0"/>
                    </a:cxn>
                    <a:cxn ang="0">
                      <a:pos x="2" y="3"/>
                    </a:cxn>
                    <a:cxn ang="0">
                      <a:pos x="0" y="2"/>
                    </a:cxn>
                    <a:cxn ang="0">
                      <a:pos x="2" y="0"/>
                    </a:cxn>
                  </a:cxnLst>
                  <a:rect l="0" t="0" r="r" b="b"/>
                  <a:pathLst>
                    <a:path w="2" h="3">
                      <a:moveTo>
                        <a:pt x="2" y="0"/>
                      </a:moveTo>
                      <a:lnTo>
                        <a:pt x="2" y="3"/>
                      </a:lnTo>
                      <a:lnTo>
                        <a:pt x="0" y="2"/>
                      </a:lnTo>
                      <a:lnTo>
                        <a:pt x="2" y="0"/>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7" name="Freeform 91"/>
                <p:cNvSpPr>
                  <a:spLocks/>
                </p:cNvSpPr>
                <p:nvPr/>
              </p:nvSpPr>
              <p:spPr bwMode="gray">
                <a:xfrm>
                  <a:off x="4279901" y="5272088"/>
                  <a:ext cx="963613" cy="1009650"/>
                </a:xfrm>
                <a:custGeom>
                  <a:avLst/>
                  <a:gdLst/>
                  <a:ahLst/>
                  <a:cxnLst>
                    <a:cxn ang="0">
                      <a:pos x="8" y="38"/>
                    </a:cxn>
                    <a:cxn ang="0">
                      <a:pos x="1" y="27"/>
                    </a:cxn>
                    <a:cxn ang="0">
                      <a:pos x="5" y="15"/>
                    </a:cxn>
                    <a:cxn ang="0">
                      <a:pos x="12" y="14"/>
                    </a:cxn>
                    <a:cxn ang="0">
                      <a:pos x="17" y="4"/>
                    </a:cxn>
                    <a:cxn ang="0">
                      <a:pos x="31" y="8"/>
                    </a:cxn>
                    <a:cxn ang="0">
                      <a:pos x="43" y="3"/>
                    </a:cxn>
                    <a:cxn ang="0">
                      <a:pos x="51" y="0"/>
                    </a:cxn>
                    <a:cxn ang="0">
                      <a:pos x="57" y="2"/>
                    </a:cxn>
                    <a:cxn ang="0">
                      <a:pos x="65" y="11"/>
                    </a:cxn>
                    <a:cxn ang="0">
                      <a:pos x="68" y="17"/>
                    </a:cxn>
                    <a:cxn ang="0">
                      <a:pos x="65" y="24"/>
                    </a:cxn>
                    <a:cxn ang="0">
                      <a:pos x="55" y="21"/>
                    </a:cxn>
                    <a:cxn ang="0">
                      <a:pos x="52" y="27"/>
                    </a:cxn>
                    <a:cxn ang="0">
                      <a:pos x="61" y="45"/>
                    </a:cxn>
                    <a:cxn ang="0">
                      <a:pos x="69" y="63"/>
                    </a:cxn>
                    <a:cxn ang="0">
                      <a:pos x="86" y="71"/>
                    </a:cxn>
                    <a:cxn ang="0">
                      <a:pos x="91" y="79"/>
                    </a:cxn>
                    <a:cxn ang="0">
                      <a:pos x="99" y="84"/>
                    </a:cxn>
                    <a:cxn ang="0">
                      <a:pos x="110" y="92"/>
                    </a:cxn>
                    <a:cxn ang="0">
                      <a:pos x="109" y="98"/>
                    </a:cxn>
                    <a:cxn ang="0">
                      <a:pos x="100" y="91"/>
                    </a:cxn>
                    <a:cxn ang="0">
                      <a:pos x="93" y="100"/>
                    </a:cxn>
                    <a:cxn ang="0">
                      <a:pos x="98" y="110"/>
                    </a:cxn>
                    <a:cxn ang="0">
                      <a:pos x="92" y="119"/>
                    </a:cxn>
                    <a:cxn ang="0">
                      <a:pos x="84" y="121"/>
                    </a:cxn>
                    <a:cxn ang="0">
                      <a:pos x="89" y="111"/>
                    </a:cxn>
                    <a:cxn ang="0">
                      <a:pos x="87" y="100"/>
                    </a:cxn>
                    <a:cxn ang="0">
                      <a:pos x="81" y="96"/>
                    </a:cxn>
                    <a:cxn ang="0">
                      <a:pos x="77" y="90"/>
                    </a:cxn>
                    <a:cxn ang="0">
                      <a:pos x="71" y="86"/>
                    </a:cxn>
                    <a:cxn ang="0">
                      <a:pos x="65" y="81"/>
                    </a:cxn>
                    <a:cxn ang="0">
                      <a:pos x="54" y="76"/>
                    </a:cxn>
                    <a:cxn ang="0">
                      <a:pos x="49" y="71"/>
                    </a:cxn>
                    <a:cxn ang="0">
                      <a:pos x="43" y="60"/>
                    </a:cxn>
                    <a:cxn ang="0">
                      <a:pos x="36" y="47"/>
                    </a:cxn>
                    <a:cxn ang="0">
                      <a:pos x="27" y="35"/>
                    </a:cxn>
                    <a:cxn ang="0">
                      <a:pos x="12" y="43"/>
                    </a:cxn>
                  </a:cxnLst>
                  <a:rect l="0" t="0" r="r" b="b"/>
                  <a:pathLst>
                    <a:path w="111" h="124">
                      <a:moveTo>
                        <a:pt x="12" y="43"/>
                      </a:moveTo>
                      <a:lnTo>
                        <a:pt x="8" y="38"/>
                      </a:lnTo>
                      <a:lnTo>
                        <a:pt x="3" y="37"/>
                      </a:lnTo>
                      <a:lnTo>
                        <a:pt x="1" y="27"/>
                      </a:lnTo>
                      <a:lnTo>
                        <a:pt x="0" y="16"/>
                      </a:lnTo>
                      <a:lnTo>
                        <a:pt x="5" y="15"/>
                      </a:lnTo>
                      <a:lnTo>
                        <a:pt x="9" y="16"/>
                      </a:lnTo>
                      <a:lnTo>
                        <a:pt x="12" y="14"/>
                      </a:lnTo>
                      <a:lnTo>
                        <a:pt x="13" y="5"/>
                      </a:lnTo>
                      <a:lnTo>
                        <a:pt x="17" y="4"/>
                      </a:lnTo>
                      <a:lnTo>
                        <a:pt x="20" y="7"/>
                      </a:lnTo>
                      <a:lnTo>
                        <a:pt x="31" y="8"/>
                      </a:lnTo>
                      <a:lnTo>
                        <a:pt x="34" y="3"/>
                      </a:lnTo>
                      <a:lnTo>
                        <a:pt x="43" y="3"/>
                      </a:lnTo>
                      <a:lnTo>
                        <a:pt x="46" y="0"/>
                      </a:lnTo>
                      <a:lnTo>
                        <a:pt x="51" y="0"/>
                      </a:lnTo>
                      <a:lnTo>
                        <a:pt x="53" y="2"/>
                      </a:lnTo>
                      <a:lnTo>
                        <a:pt x="57" y="2"/>
                      </a:lnTo>
                      <a:lnTo>
                        <a:pt x="65" y="5"/>
                      </a:lnTo>
                      <a:lnTo>
                        <a:pt x="65" y="11"/>
                      </a:lnTo>
                      <a:lnTo>
                        <a:pt x="68" y="14"/>
                      </a:lnTo>
                      <a:lnTo>
                        <a:pt x="68" y="17"/>
                      </a:lnTo>
                      <a:lnTo>
                        <a:pt x="67" y="20"/>
                      </a:lnTo>
                      <a:lnTo>
                        <a:pt x="65" y="24"/>
                      </a:lnTo>
                      <a:lnTo>
                        <a:pt x="65" y="19"/>
                      </a:lnTo>
                      <a:lnTo>
                        <a:pt x="55" y="21"/>
                      </a:lnTo>
                      <a:lnTo>
                        <a:pt x="52" y="25"/>
                      </a:lnTo>
                      <a:lnTo>
                        <a:pt x="52" y="27"/>
                      </a:lnTo>
                      <a:lnTo>
                        <a:pt x="52" y="37"/>
                      </a:lnTo>
                      <a:lnTo>
                        <a:pt x="61" y="45"/>
                      </a:lnTo>
                      <a:lnTo>
                        <a:pt x="65" y="51"/>
                      </a:lnTo>
                      <a:lnTo>
                        <a:pt x="69" y="63"/>
                      </a:lnTo>
                      <a:lnTo>
                        <a:pt x="78" y="69"/>
                      </a:lnTo>
                      <a:lnTo>
                        <a:pt x="86" y="71"/>
                      </a:lnTo>
                      <a:lnTo>
                        <a:pt x="88" y="77"/>
                      </a:lnTo>
                      <a:lnTo>
                        <a:pt x="91" y="79"/>
                      </a:lnTo>
                      <a:lnTo>
                        <a:pt x="98" y="80"/>
                      </a:lnTo>
                      <a:lnTo>
                        <a:pt x="99" y="84"/>
                      </a:lnTo>
                      <a:lnTo>
                        <a:pt x="104" y="86"/>
                      </a:lnTo>
                      <a:lnTo>
                        <a:pt x="110" y="92"/>
                      </a:lnTo>
                      <a:lnTo>
                        <a:pt x="111" y="96"/>
                      </a:lnTo>
                      <a:lnTo>
                        <a:pt x="109" y="98"/>
                      </a:lnTo>
                      <a:lnTo>
                        <a:pt x="103" y="93"/>
                      </a:lnTo>
                      <a:lnTo>
                        <a:pt x="100" y="91"/>
                      </a:lnTo>
                      <a:lnTo>
                        <a:pt x="95" y="92"/>
                      </a:lnTo>
                      <a:lnTo>
                        <a:pt x="93" y="100"/>
                      </a:lnTo>
                      <a:lnTo>
                        <a:pt x="98" y="106"/>
                      </a:lnTo>
                      <a:lnTo>
                        <a:pt x="98" y="110"/>
                      </a:lnTo>
                      <a:lnTo>
                        <a:pt x="94" y="113"/>
                      </a:lnTo>
                      <a:lnTo>
                        <a:pt x="92" y="119"/>
                      </a:lnTo>
                      <a:lnTo>
                        <a:pt x="86" y="124"/>
                      </a:lnTo>
                      <a:lnTo>
                        <a:pt x="84" y="121"/>
                      </a:lnTo>
                      <a:lnTo>
                        <a:pt x="85" y="117"/>
                      </a:lnTo>
                      <a:lnTo>
                        <a:pt x="89" y="111"/>
                      </a:lnTo>
                      <a:lnTo>
                        <a:pt x="87" y="105"/>
                      </a:lnTo>
                      <a:lnTo>
                        <a:pt x="87" y="100"/>
                      </a:lnTo>
                      <a:lnTo>
                        <a:pt x="84" y="96"/>
                      </a:lnTo>
                      <a:lnTo>
                        <a:pt x="81" y="96"/>
                      </a:lnTo>
                      <a:lnTo>
                        <a:pt x="78" y="94"/>
                      </a:lnTo>
                      <a:lnTo>
                        <a:pt x="77" y="90"/>
                      </a:lnTo>
                      <a:lnTo>
                        <a:pt x="73" y="88"/>
                      </a:lnTo>
                      <a:lnTo>
                        <a:pt x="71" y="86"/>
                      </a:lnTo>
                      <a:lnTo>
                        <a:pt x="69" y="86"/>
                      </a:lnTo>
                      <a:lnTo>
                        <a:pt x="65" y="81"/>
                      </a:lnTo>
                      <a:lnTo>
                        <a:pt x="63" y="81"/>
                      </a:lnTo>
                      <a:lnTo>
                        <a:pt x="54" y="76"/>
                      </a:lnTo>
                      <a:lnTo>
                        <a:pt x="53" y="71"/>
                      </a:lnTo>
                      <a:lnTo>
                        <a:pt x="49" y="71"/>
                      </a:lnTo>
                      <a:lnTo>
                        <a:pt x="44" y="67"/>
                      </a:lnTo>
                      <a:lnTo>
                        <a:pt x="43" y="60"/>
                      </a:lnTo>
                      <a:lnTo>
                        <a:pt x="37" y="56"/>
                      </a:lnTo>
                      <a:lnTo>
                        <a:pt x="36" y="47"/>
                      </a:lnTo>
                      <a:lnTo>
                        <a:pt x="30" y="37"/>
                      </a:lnTo>
                      <a:lnTo>
                        <a:pt x="27" y="35"/>
                      </a:lnTo>
                      <a:lnTo>
                        <a:pt x="18" y="37"/>
                      </a:lnTo>
                      <a:lnTo>
                        <a:pt x="12" y="43"/>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8" name="Freeform 92"/>
                <p:cNvSpPr>
                  <a:spLocks/>
                </p:cNvSpPr>
                <p:nvPr/>
              </p:nvSpPr>
              <p:spPr bwMode="gray">
                <a:xfrm>
                  <a:off x="4419601" y="5903913"/>
                  <a:ext cx="100013" cy="247650"/>
                </a:xfrm>
                <a:custGeom>
                  <a:avLst/>
                  <a:gdLst/>
                  <a:ahLst/>
                  <a:cxnLst>
                    <a:cxn ang="0">
                      <a:pos x="0" y="7"/>
                    </a:cxn>
                    <a:cxn ang="0">
                      <a:pos x="6" y="3"/>
                    </a:cxn>
                    <a:cxn ang="0">
                      <a:pos x="8" y="0"/>
                    </a:cxn>
                    <a:cxn ang="0">
                      <a:pos x="10" y="1"/>
                    </a:cxn>
                    <a:cxn ang="0">
                      <a:pos x="10" y="6"/>
                    </a:cxn>
                    <a:cxn ang="0">
                      <a:pos x="12" y="8"/>
                    </a:cxn>
                    <a:cxn ang="0">
                      <a:pos x="12" y="22"/>
                    </a:cxn>
                    <a:cxn ang="0">
                      <a:pos x="10" y="24"/>
                    </a:cxn>
                    <a:cxn ang="0">
                      <a:pos x="9" y="27"/>
                    </a:cxn>
                    <a:cxn ang="0">
                      <a:pos x="5" y="28"/>
                    </a:cxn>
                    <a:cxn ang="0">
                      <a:pos x="4" y="30"/>
                    </a:cxn>
                    <a:cxn ang="0">
                      <a:pos x="1" y="29"/>
                    </a:cxn>
                    <a:cxn ang="0">
                      <a:pos x="0" y="21"/>
                    </a:cxn>
                    <a:cxn ang="0">
                      <a:pos x="1" y="10"/>
                    </a:cxn>
                    <a:cxn ang="0">
                      <a:pos x="0" y="7"/>
                    </a:cxn>
                  </a:cxnLst>
                  <a:rect l="0" t="0" r="r" b="b"/>
                  <a:pathLst>
                    <a:path w="12" h="30">
                      <a:moveTo>
                        <a:pt x="0" y="7"/>
                      </a:moveTo>
                      <a:lnTo>
                        <a:pt x="6" y="3"/>
                      </a:lnTo>
                      <a:lnTo>
                        <a:pt x="8" y="0"/>
                      </a:lnTo>
                      <a:lnTo>
                        <a:pt x="10" y="1"/>
                      </a:lnTo>
                      <a:lnTo>
                        <a:pt x="10" y="6"/>
                      </a:lnTo>
                      <a:lnTo>
                        <a:pt x="12" y="8"/>
                      </a:lnTo>
                      <a:lnTo>
                        <a:pt x="12" y="22"/>
                      </a:lnTo>
                      <a:lnTo>
                        <a:pt x="10" y="24"/>
                      </a:lnTo>
                      <a:lnTo>
                        <a:pt x="9" y="27"/>
                      </a:lnTo>
                      <a:lnTo>
                        <a:pt x="5" y="28"/>
                      </a:lnTo>
                      <a:lnTo>
                        <a:pt x="4" y="30"/>
                      </a:lnTo>
                      <a:lnTo>
                        <a:pt x="1" y="29"/>
                      </a:lnTo>
                      <a:lnTo>
                        <a:pt x="0" y="21"/>
                      </a:lnTo>
                      <a:lnTo>
                        <a:pt x="1" y="10"/>
                      </a:lnTo>
                      <a:lnTo>
                        <a:pt x="0" y="7"/>
                      </a:lnTo>
                      <a:close/>
                    </a:path>
                  </a:pathLst>
                </a:custGeom>
                <a:solidFill>
                  <a:srgbClr val="FFFFFF">
                    <a:lumMod val="95000"/>
                  </a:srgbClr>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69" name="Freeform 93"/>
                <p:cNvSpPr>
                  <a:spLocks/>
                </p:cNvSpPr>
                <p:nvPr/>
              </p:nvSpPr>
              <p:spPr bwMode="gray">
                <a:xfrm>
                  <a:off x="5732463" y="5980113"/>
                  <a:ext cx="28575" cy="17463"/>
                </a:xfrm>
                <a:custGeom>
                  <a:avLst/>
                  <a:gdLst/>
                  <a:ahLst/>
                  <a:cxnLst>
                    <a:cxn ang="0">
                      <a:pos x="0" y="0"/>
                    </a:cxn>
                    <a:cxn ang="0">
                      <a:pos x="2" y="0"/>
                    </a:cxn>
                    <a:cxn ang="0">
                      <a:pos x="3" y="1"/>
                    </a:cxn>
                    <a:cxn ang="0">
                      <a:pos x="0" y="2"/>
                    </a:cxn>
                    <a:cxn ang="0">
                      <a:pos x="0" y="0"/>
                    </a:cxn>
                  </a:cxnLst>
                  <a:rect l="0" t="0" r="r" b="b"/>
                  <a:pathLst>
                    <a:path w="3" h="2">
                      <a:moveTo>
                        <a:pt x="0" y="0"/>
                      </a:moveTo>
                      <a:lnTo>
                        <a:pt x="2" y="0"/>
                      </a:lnTo>
                      <a:lnTo>
                        <a:pt x="3" y="1"/>
                      </a:lnTo>
                      <a:lnTo>
                        <a:pt x="0" y="2"/>
                      </a:lnTo>
                      <a:lnTo>
                        <a:pt x="0" y="0"/>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0" name="Freeform 94"/>
                <p:cNvSpPr>
                  <a:spLocks/>
                </p:cNvSpPr>
                <p:nvPr/>
              </p:nvSpPr>
              <p:spPr bwMode="gray">
                <a:xfrm>
                  <a:off x="5621338" y="6151563"/>
                  <a:ext cx="93663" cy="112713"/>
                </a:xfrm>
                <a:custGeom>
                  <a:avLst/>
                  <a:gdLst/>
                  <a:ahLst/>
                  <a:cxnLst>
                    <a:cxn ang="0">
                      <a:pos x="0" y="3"/>
                    </a:cxn>
                    <a:cxn ang="0">
                      <a:pos x="1" y="0"/>
                    </a:cxn>
                    <a:cxn ang="0">
                      <a:pos x="6" y="0"/>
                    </a:cxn>
                    <a:cxn ang="0">
                      <a:pos x="11" y="8"/>
                    </a:cxn>
                    <a:cxn ang="0">
                      <a:pos x="11" y="14"/>
                    </a:cxn>
                    <a:cxn ang="0">
                      <a:pos x="9" y="13"/>
                    </a:cxn>
                    <a:cxn ang="0">
                      <a:pos x="9" y="10"/>
                    </a:cxn>
                    <a:cxn ang="0">
                      <a:pos x="5" y="6"/>
                    </a:cxn>
                    <a:cxn ang="0">
                      <a:pos x="0" y="3"/>
                    </a:cxn>
                  </a:cxnLst>
                  <a:rect l="0" t="0" r="r" b="b"/>
                  <a:pathLst>
                    <a:path w="11" h="14">
                      <a:moveTo>
                        <a:pt x="0" y="3"/>
                      </a:moveTo>
                      <a:lnTo>
                        <a:pt x="1" y="0"/>
                      </a:lnTo>
                      <a:lnTo>
                        <a:pt x="6" y="0"/>
                      </a:lnTo>
                      <a:lnTo>
                        <a:pt x="11" y="8"/>
                      </a:lnTo>
                      <a:lnTo>
                        <a:pt x="11" y="14"/>
                      </a:lnTo>
                      <a:lnTo>
                        <a:pt x="9" y="13"/>
                      </a:lnTo>
                      <a:lnTo>
                        <a:pt x="9" y="10"/>
                      </a:lnTo>
                      <a:lnTo>
                        <a:pt x="5" y="6"/>
                      </a:lnTo>
                      <a:lnTo>
                        <a:pt x="0" y="3"/>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1" name="Freeform 95"/>
                <p:cNvSpPr>
                  <a:spLocks/>
                </p:cNvSpPr>
                <p:nvPr/>
              </p:nvSpPr>
              <p:spPr bwMode="gray">
                <a:xfrm>
                  <a:off x="5819776" y="6142038"/>
                  <a:ext cx="22225" cy="53975"/>
                </a:xfrm>
                <a:custGeom>
                  <a:avLst/>
                  <a:gdLst/>
                  <a:ahLst/>
                  <a:cxnLst>
                    <a:cxn ang="0">
                      <a:pos x="2" y="7"/>
                    </a:cxn>
                    <a:cxn ang="0">
                      <a:pos x="0" y="4"/>
                    </a:cxn>
                    <a:cxn ang="0">
                      <a:pos x="0" y="1"/>
                    </a:cxn>
                    <a:cxn ang="0">
                      <a:pos x="2" y="0"/>
                    </a:cxn>
                    <a:cxn ang="0">
                      <a:pos x="2" y="2"/>
                    </a:cxn>
                    <a:cxn ang="0">
                      <a:pos x="3" y="6"/>
                    </a:cxn>
                    <a:cxn ang="0">
                      <a:pos x="2" y="7"/>
                    </a:cxn>
                  </a:cxnLst>
                  <a:rect l="0" t="0" r="r" b="b"/>
                  <a:pathLst>
                    <a:path w="3" h="7">
                      <a:moveTo>
                        <a:pt x="2" y="7"/>
                      </a:moveTo>
                      <a:lnTo>
                        <a:pt x="0" y="4"/>
                      </a:lnTo>
                      <a:lnTo>
                        <a:pt x="0" y="1"/>
                      </a:lnTo>
                      <a:lnTo>
                        <a:pt x="2" y="0"/>
                      </a:lnTo>
                      <a:lnTo>
                        <a:pt x="2" y="2"/>
                      </a:lnTo>
                      <a:lnTo>
                        <a:pt x="3" y="6"/>
                      </a:lnTo>
                      <a:lnTo>
                        <a:pt x="2" y="7"/>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2" name="Freeform 96"/>
                <p:cNvSpPr>
                  <a:spLocks/>
                </p:cNvSpPr>
                <p:nvPr/>
              </p:nvSpPr>
              <p:spPr bwMode="gray">
                <a:xfrm>
                  <a:off x="5838826" y="6110288"/>
                  <a:ext cx="26988" cy="25400"/>
                </a:xfrm>
                <a:custGeom>
                  <a:avLst/>
                  <a:gdLst/>
                  <a:ahLst/>
                  <a:cxnLst>
                    <a:cxn ang="0">
                      <a:pos x="0" y="0"/>
                    </a:cxn>
                    <a:cxn ang="0">
                      <a:pos x="2" y="0"/>
                    </a:cxn>
                    <a:cxn ang="0">
                      <a:pos x="3" y="2"/>
                    </a:cxn>
                    <a:cxn ang="0">
                      <a:pos x="2" y="3"/>
                    </a:cxn>
                    <a:cxn ang="0">
                      <a:pos x="0" y="0"/>
                    </a:cxn>
                  </a:cxnLst>
                  <a:rect l="0" t="0" r="r" b="b"/>
                  <a:pathLst>
                    <a:path w="3" h="3">
                      <a:moveTo>
                        <a:pt x="0" y="0"/>
                      </a:moveTo>
                      <a:lnTo>
                        <a:pt x="2" y="0"/>
                      </a:lnTo>
                      <a:lnTo>
                        <a:pt x="3" y="2"/>
                      </a:lnTo>
                      <a:lnTo>
                        <a:pt x="2" y="3"/>
                      </a:lnTo>
                      <a:lnTo>
                        <a:pt x="0" y="0"/>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3" name="Freeform 97"/>
                <p:cNvSpPr>
                  <a:spLocks/>
                </p:cNvSpPr>
                <p:nvPr/>
              </p:nvSpPr>
              <p:spPr bwMode="gray">
                <a:xfrm>
                  <a:off x="5870576" y="6264276"/>
                  <a:ext cx="28575" cy="31750"/>
                </a:xfrm>
                <a:custGeom>
                  <a:avLst/>
                  <a:gdLst/>
                  <a:ahLst/>
                  <a:cxnLst>
                    <a:cxn ang="0">
                      <a:pos x="0" y="2"/>
                    </a:cxn>
                    <a:cxn ang="0">
                      <a:pos x="1" y="0"/>
                    </a:cxn>
                    <a:cxn ang="0">
                      <a:pos x="3" y="1"/>
                    </a:cxn>
                    <a:cxn ang="0">
                      <a:pos x="3" y="3"/>
                    </a:cxn>
                    <a:cxn ang="0">
                      <a:pos x="1" y="4"/>
                    </a:cxn>
                    <a:cxn ang="0">
                      <a:pos x="0" y="2"/>
                    </a:cxn>
                  </a:cxnLst>
                  <a:rect l="0" t="0" r="r" b="b"/>
                  <a:pathLst>
                    <a:path w="3" h="4">
                      <a:moveTo>
                        <a:pt x="0" y="2"/>
                      </a:moveTo>
                      <a:lnTo>
                        <a:pt x="1" y="0"/>
                      </a:lnTo>
                      <a:lnTo>
                        <a:pt x="3" y="1"/>
                      </a:lnTo>
                      <a:lnTo>
                        <a:pt x="3" y="3"/>
                      </a:lnTo>
                      <a:lnTo>
                        <a:pt x="1" y="4"/>
                      </a:lnTo>
                      <a:lnTo>
                        <a:pt x="0" y="2"/>
                      </a:lnTo>
                      <a:close/>
                    </a:path>
                  </a:pathLst>
                </a:custGeom>
                <a:solidFill>
                  <a:srgbClr val="FFC0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4" name="Freeform 98"/>
                <p:cNvSpPr>
                  <a:spLocks/>
                </p:cNvSpPr>
                <p:nvPr/>
              </p:nvSpPr>
              <p:spPr bwMode="gray">
                <a:xfrm>
                  <a:off x="5838826" y="6289676"/>
                  <a:ext cx="31750" cy="31750"/>
                </a:xfrm>
                <a:custGeom>
                  <a:avLst/>
                  <a:gdLst/>
                  <a:ahLst/>
                  <a:cxnLst>
                    <a:cxn ang="0">
                      <a:pos x="0" y="1"/>
                    </a:cxn>
                    <a:cxn ang="0">
                      <a:pos x="1" y="0"/>
                    </a:cxn>
                    <a:cxn ang="0">
                      <a:pos x="4" y="1"/>
                    </a:cxn>
                    <a:cxn ang="0">
                      <a:pos x="3" y="3"/>
                    </a:cxn>
                    <a:cxn ang="0">
                      <a:pos x="1" y="4"/>
                    </a:cxn>
                    <a:cxn ang="0">
                      <a:pos x="0" y="1"/>
                    </a:cxn>
                  </a:cxnLst>
                  <a:rect l="0" t="0" r="r" b="b"/>
                  <a:pathLst>
                    <a:path w="4" h="4">
                      <a:moveTo>
                        <a:pt x="0" y="1"/>
                      </a:moveTo>
                      <a:lnTo>
                        <a:pt x="1" y="0"/>
                      </a:lnTo>
                      <a:lnTo>
                        <a:pt x="4" y="1"/>
                      </a:lnTo>
                      <a:lnTo>
                        <a:pt x="3" y="3"/>
                      </a:lnTo>
                      <a:lnTo>
                        <a:pt x="1" y="4"/>
                      </a:lnTo>
                      <a:lnTo>
                        <a:pt x="0" y="1"/>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5" name="Freeform 99"/>
                <p:cNvSpPr>
                  <a:spLocks/>
                </p:cNvSpPr>
                <p:nvPr/>
              </p:nvSpPr>
              <p:spPr bwMode="gray">
                <a:xfrm>
                  <a:off x="5360988" y="5835651"/>
                  <a:ext cx="515938" cy="585788"/>
                </a:xfrm>
                <a:custGeom>
                  <a:avLst/>
                  <a:gdLst/>
                  <a:ahLst/>
                  <a:cxnLst>
                    <a:cxn ang="0">
                      <a:pos x="50" y="15"/>
                    </a:cxn>
                    <a:cxn ang="0">
                      <a:pos x="43" y="15"/>
                    </a:cxn>
                    <a:cxn ang="0">
                      <a:pos x="33" y="17"/>
                    </a:cxn>
                    <a:cxn ang="0">
                      <a:pos x="38" y="24"/>
                    </a:cxn>
                    <a:cxn ang="0">
                      <a:pos x="35" y="25"/>
                    </a:cxn>
                    <a:cxn ang="0">
                      <a:pos x="33" y="28"/>
                    </a:cxn>
                    <a:cxn ang="0">
                      <a:pos x="30" y="24"/>
                    </a:cxn>
                    <a:cxn ang="0">
                      <a:pos x="30" y="28"/>
                    </a:cxn>
                    <a:cxn ang="0">
                      <a:pos x="26" y="21"/>
                    </a:cxn>
                    <a:cxn ang="0">
                      <a:pos x="21" y="21"/>
                    </a:cxn>
                    <a:cxn ang="0">
                      <a:pos x="26" y="34"/>
                    </a:cxn>
                    <a:cxn ang="0">
                      <a:pos x="31" y="46"/>
                    </a:cxn>
                    <a:cxn ang="0">
                      <a:pos x="37" y="55"/>
                    </a:cxn>
                    <a:cxn ang="0">
                      <a:pos x="30" y="61"/>
                    </a:cxn>
                    <a:cxn ang="0">
                      <a:pos x="25" y="62"/>
                    </a:cxn>
                    <a:cxn ang="0">
                      <a:pos x="28" y="72"/>
                    </a:cxn>
                    <a:cxn ang="0">
                      <a:pos x="21" y="71"/>
                    </a:cxn>
                    <a:cxn ang="0">
                      <a:pos x="15" y="67"/>
                    </a:cxn>
                    <a:cxn ang="0">
                      <a:pos x="15" y="60"/>
                    </a:cxn>
                    <a:cxn ang="0">
                      <a:pos x="11" y="52"/>
                    </a:cxn>
                    <a:cxn ang="0">
                      <a:pos x="26" y="52"/>
                    </a:cxn>
                    <a:cxn ang="0">
                      <a:pos x="16" y="48"/>
                    </a:cxn>
                    <a:cxn ang="0">
                      <a:pos x="7" y="45"/>
                    </a:cxn>
                    <a:cxn ang="0">
                      <a:pos x="2" y="35"/>
                    </a:cxn>
                    <a:cxn ang="0">
                      <a:pos x="5" y="27"/>
                    </a:cxn>
                    <a:cxn ang="0">
                      <a:pos x="8" y="14"/>
                    </a:cxn>
                    <a:cxn ang="0">
                      <a:pos x="23" y="9"/>
                    </a:cxn>
                    <a:cxn ang="0">
                      <a:pos x="33" y="7"/>
                    </a:cxn>
                    <a:cxn ang="0">
                      <a:pos x="45" y="6"/>
                    </a:cxn>
                    <a:cxn ang="0">
                      <a:pos x="55" y="8"/>
                    </a:cxn>
                    <a:cxn ang="0">
                      <a:pos x="60" y="5"/>
                    </a:cxn>
                    <a:cxn ang="0">
                      <a:pos x="55" y="17"/>
                    </a:cxn>
                  </a:cxnLst>
                  <a:rect l="0" t="0" r="r" b="b"/>
                  <a:pathLst>
                    <a:path w="60" h="72">
                      <a:moveTo>
                        <a:pt x="55" y="17"/>
                      </a:moveTo>
                      <a:lnTo>
                        <a:pt x="50" y="15"/>
                      </a:lnTo>
                      <a:lnTo>
                        <a:pt x="45" y="16"/>
                      </a:lnTo>
                      <a:lnTo>
                        <a:pt x="43" y="15"/>
                      </a:lnTo>
                      <a:lnTo>
                        <a:pt x="39" y="16"/>
                      </a:lnTo>
                      <a:lnTo>
                        <a:pt x="33" y="17"/>
                      </a:lnTo>
                      <a:lnTo>
                        <a:pt x="33" y="21"/>
                      </a:lnTo>
                      <a:lnTo>
                        <a:pt x="38" y="24"/>
                      </a:lnTo>
                      <a:lnTo>
                        <a:pt x="38" y="26"/>
                      </a:lnTo>
                      <a:lnTo>
                        <a:pt x="35" y="25"/>
                      </a:lnTo>
                      <a:lnTo>
                        <a:pt x="35" y="28"/>
                      </a:lnTo>
                      <a:lnTo>
                        <a:pt x="33" y="28"/>
                      </a:lnTo>
                      <a:lnTo>
                        <a:pt x="32" y="24"/>
                      </a:lnTo>
                      <a:lnTo>
                        <a:pt x="30" y="24"/>
                      </a:lnTo>
                      <a:lnTo>
                        <a:pt x="31" y="28"/>
                      </a:lnTo>
                      <a:lnTo>
                        <a:pt x="30" y="28"/>
                      </a:lnTo>
                      <a:lnTo>
                        <a:pt x="27" y="24"/>
                      </a:lnTo>
                      <a:lnTo>
                        <a:pt x="26" y="21"/>
                      </a:lnTo>
                      <a:lnTo>
                        <a:pt x="24" y="20"/>
                      </a:lnTo>
                      <a:lnTo>
                        <a:pt x="21" y="21"/>
                      </a:lnTo>
                      <a:lnTo>
                        <a:pt x="21" y="26"/>
                      </a:lnTo>
                      <a:lnTo>
                        <a:pt x="26" y="34"/>
                      </a:lnTo>
                      <a:lnTo>
                        <a:pt x="25" y="43"/>
                      </a:lnTo>
                      <a:lnTo>
                        <a:pt x="31" y="46"/>
                      </a:lnTo>
                      <a:lnTo>
                        <a:pt x="37" y="51"/>
                      </a:lnTo>
                      <a:lnTo>
                        <a:pt x="37" y="55"/>
                      </a:lnTo>
                      <a:lnTo>
                        <a:pt x="30" y="55"/>
                      </a:lnTo>
                      <a:lnTo>
                        <a:pt x="30" y="61"/>
                      </a:lnTo>
                      <a:lnTo>
                        <a:pt x="26" y="60"/>
                      </a:lnTo>
                      <a:lnTo>
                        <a:pt x="25" y="62"/>
                      </a:lnTo>
                      <a:lnTo>
                        <a:pt x="27" y="64"/>
                      </a:lnTo>
                      <a:lnTo>
                        <a:pt x="28" y="72"/>
                      </a:lnTo>
                      <a:lnTo>
                        <a:pt x="24" y="71"/>
                      </a:lnTo>
                      <a:lnTo>
                        <a:pt x="21" y="71"/>
                      </a:lnTo>
                      <a:lnTo>
                        <a:pt x="19" y="68"/>
                      </a:lnTo>
                      <a:lnTo>
                        <a:pt x="15" y="67"/>
                      </a:lnTo>
                      <a:lnTo>
                        <a:pt x="13" y="65"/>
                      </a:lnTo>
                      <a:lnTo>
                        <a:pt x="15" y="60"/>
                      </a:lnTo>
                      <a:lnTo>
                        <a:pt x="11" y="56"/>
                      </a:lnTo>
                      <a:lnTo>
                        <a:pt x="11" y="52"/>
                      </a:lnTo>
                      <a:lnTo>
                        <a:pt x="17" y="51"/>
                      </a:lnTo>
                      <a:lnTo>
                        <a:pt x="26" y="52"/>
                      </a:lnTo>
                      <a:lnTo>
                        <a:pt x="24" y="48"/>
                      </a:lnTo>
                      <a:lnTo>
                        <a:pt x="16" y="48"/>
                      </a:lnTo>
                      <a:lnTo>
                        <a:pt x="11" y="49"/>
                      </a:lnTo>
                      <a:lnTo>
                        <a:pt x="7" y="45"/>
                      </a:lnTo>
                      <a:lnTo>
                        <a:pt x="5" y="39"/>
                      </a:lnTo>
                      <a:lnTo>
                        <a:pt x="2" y="35"/>
                      </a:lnTo>
                      <a:lnTo>
                        <a:pt x="0" y="31"/>
                      </a:lnTo>
                      <a:lnTo>
                        <a:pt x="5" y="27"/>
                      </a:lnTo>
                      <a:lnTo>
                        <a:pt x="9" y="20"/>
                      </a:lnTo>
                      <a:lnTo>
                        <a:pt x="8" y="14"/>
                      </a:lnTo>
                      <a:lnTo>
                        <a:pt x="19" y="14"/>
                      </a:lnTo>
                      <a:lnTo>
                        <a:pt x="23" y="9"/>
                      </a:lnTo>
                      <a:lnTo>
                        <a:pt x="27" y="9"/>
                      </a:lnTo>
                      <a:lnTo>
                        <a:pt x="33" y="7"/>
                      </a:lnTo>
                      <a:lnTo>
                        <a:pt x="39" y="5"/>
                      </a:lnTo>
                      <a:lnTo>
                        <a:pt x="45" y="6"/>
                      </a:lnTo>
                      <a:lnTo>
                        <a:pt x="50" y="9"/>
                      </a:lnTo>
                      <a:lnTo>
                        <a:pt x="55" y="8"/>
                      </a:lnTo>
                      <a:lnTo>
                        <a:pt x="57" y="0"/>
                      </a:lnTo>
                      <a:lnTo>
                        <a:pt x="60" y="5"/>
                      </a:lnTo>
                      <a:lnTo>
                        <a:pt x="59" y="11"/>
                      </a:lnTo>
                      <a:lnTo>
                        <a:pt x="55" y="17"/>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6" name="Freeform 100"/>
                <p:cNvSpPr>
                  <a:spLocks/>
                </p:cNvSpPr>
                <p:nvPr/>
              </p:nvSpPr>
              <p:spPr bwMode="gray">
                <a:xfrm>
                  <a:off x="5770563" y="6048376"/>
                  <a:ext cx="22225" cy="15875"/>
                </a:xfrm>
                <a:custGeom>
                  <a:avLst/>
                  <a:gdLst/>
                  <a:ahLst/>
                  <a:cxnLst>
                    <a:cxn ang="0">
                      <a:pos x="1" y="3"/>
                    </a:cxn>
                    <a:cxn ang="0">
                      <a:pos x="0" y="2"/>
                    </a:cxn>
                    <a:cxn ang="0">
                      <a:pos x="1" y="0"/>
                    </a:cxn>
                    <a:cxn ang="0">
                      <a:pos x="3" y="1"/>
                    </a:cxn>
                    <a:cxn ang="0">
                      <a:pos x="3" y="2"/>
                    </a:cxn>
                    <a:cxn ang="0">
                      <a:pos x="1" y="3"/>
                    </a:cxn>
                  </a:cxnLst>
                  <a:rect l="0" t="0" r="r" b="b"/>
                  <a:pathLst>
                    <a:path w="3" h="3">
                      <a:moveTo>
                        <a:pt x="1" y="3"/>
                      </a:moveTo>
                      <a:lnTo>
                        <a:pt x="0" y="2"/>
                      </a:lnTo>
                      <a:lnTo>
                        <a:pt x="1" y="0"/>
                      </a:lnTo>
                      <a:lnTo>
                        <a:pt x="3" y="1"/>
                      </a:lnTo>
                      <a:lnTo>
                        <a:pt x="3" y="2"/>
                      </a:lnTo>
                      <a:lnTo>
                        <a:pt x="1" y="3"/>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sp>
              <p:nvSpPr>
                <p:cNvPr id="277" name="Freeform 106"/>
                <p:cNvSpPr>
                  <a:spLocks/>
                </p:cNvSpPr>
                <p:nvPr/>
              </p:nvSpPr>
              <p:spPr bwMode="gray">
                <a:xfrm>
                  <a:off x="5838826" y="5827713"/>
                  <a:ext cx="1447800" cy="668338"/>
                </a:xfrm>
                <a:custGeom>
                  <a:avLst/>
                  <a:gdLst/>
                  <a:ahLst/>
                  <a:cxnLst>
                    <a:cxn ang="0">
                      <a:pos x="163" y="35"/>
                    </a:cxn>
                    <a:cxn ang="0">
                      <a:pos x="167" y="63"/>
                    </a:cxn>
                    <a:cxn ang="0">
                      <a:pos x="158" y="60"/>
                    </a:cxn>
                    <a:cxn ang="0">
                      <a:pos x="144" y="63"/>
                    </a:cxn>
                    <a:cxn ang="0">
                      <a:pos x="134" y="62"/>
                    </a:cxn>
                    <a:cxn ang="0">
                      <a:pos x="111" y="68"/>
                    </a:cxn>
                    <a:cxn ang="0">
                      <a:pos x="93" y="70"/>
                    </a:cxn>
                    <a:cxn ang="0">
                      <a:pos x="86" y="82"/>
                    </a:cxn>
                    <a:cxn ang="0">
                      <a:pos x="87" y="69"/>
                    </a:cxn>
                    <a:cxn ang="0">
                      <a:pos x="75" y="71"/>
                    </a:cxn>
                    <a:cxn ang="0">
                      <a:pos x="68" y="74"/>
                    </a:cxn>
                    <a:cxn ang="0">
                      <a:pos x="55" y="76"/>
                    </a:cxn>
                    <a:cxn ang="0">
                      <a:pos x="42" y="66"/>
                    </a:cxn>
                    <a:cxn ang="0">
                      <a:pos x="38" y="72"/>
                    </a:cxn>
                    <a:cxn ang="0">
                      <a:pos x="27" y="75"/>
                    </a:cxn>
                    <a:cxn ang="0">
                      <a:pos x="21" y="70"/>
                    </a:cxn>
                    <a:cxn ang="0">
                      <a:pos x="17" y="76"/>
                    </a:cxn>
                    <a:cxn ang="0">
                      <a:pos x="12" y="76"/>
                    </a:cxn>
                    <a:cxn ang="0">
                      <a:pos x="15" y="68"/>
                    </a:cxn>
                    <a:cxn ang="0">
                      <a:pos x="10" y="68"/>
                    </a:cxn>
                    <a:cxn ang="0">
                      <a:pos x="7" y="66"/>
                    </a:cxn>
                    <a:cxn ang="0">
                      <a:pos x="12" y="63"/>
                    </a:cxn>
                    <a:cxn ang="0">
                      <a:pos x="8" y="55"/>
                    </a:cxn>
                    <a:cxn ang="0">
                      <a:pos x="3" y="52"/>
                    </a:cxn>
                    <a:cxn ang="0">
                      <a:pos x="0" y="47"/>
                    </a:cxn>
                    <a:cxn ang="0">
                      <a:pos x="6" y="45"/>
                    </a:cxn>
                    <a:cxn ang="0">
                      <a:pos x="4" y="37"/>
                    </a:cxn>
                    <a:cxn ang="0">
                      <a:pos x="1" y="34"/>
                    </a:cxn>
                    <a:cxn ang="0">
                      <a:pos x="4" y="25"/>
                    </a:cxn>
                    <a:cxn ang="0">
                      <a:pos x="13" y="22"/>
                    </a:cxn>
                    <a:cxn ang="0">
                      <a:pos x="24" y="22"/>
                    </a:cxn>
                    <a:cxn ang="0">
                      <a:pos x="31" y="17"/>
                    </a:cxn>
                    <a:cxn ang="0">
                      <a:pos x="26" y="11"/>
                    </a:cxn>
                    <a:cxn ang="0">
                      <a:pos x="38" y="10"/>
                    </a:cxn>
                    <a:cxn ang="0">
                      <a:pos x="51" y="5"/>
                    </a:cxn>
                    <a:cxn ang="0">
                      <a:pos x="72" y="1"/>
                    </a:cxn>
                    <a:cxn ang="0">
                      <a:pos x="81" y="6"/>
                    </a:cxn>
                    <a:cxn ang="0">
                      <a:pos x="96" y="12"/>
                    </a:cxn>
                    <a:cxn ang="0">
                      <a:pos x="108" y="15"/>
                    </a:cxn>
                    <a:cxn ang="0">
                      <a:pos x="121" y="14"/>
                    </a:cxn>
                    <a:cxn ang="0">
                      <a:pos x="138" y="8"/>
                    </a:cxn>
                    <a:cxn ang="0">
                      <a:pos x="146" y="6"/>
                    </a:cxn>
                    <a:cxn ang="0">
                      <a:pos x="159" y="16"/>
                    </a:cxn>
                    <a:cxn ang="0">
                      <a:pos x="165" y="27"/>
                    </a:cxn>
                  </a:cxnLst>
                  <a:rect l="0" t="0" r="r" b="b"/>
                  <a:pathLst>
                    <a:path w="168" h="82">
                      <a:moveTo>
                        <a:pt x="167" y="31"/>
                      </a:moveTo>
                      <a:lnTo>
                        <a:pt x="163" y="35"/>
                      </a:lnTo>
                      <a:lnTo>
                        <a:pt x="168" y="55"/>
                      </a:lnTo>
                      <a:lnTo>
                        <a:pt x="167" y="63"/>
                      </a:lnTo>
                      <a:lnTo>
                        <a:pt x="161" y="64"/>
                      </a:lnTo>
                      <a:lnTo>
                        <a:pt x="158" y="60"/>
                      </a:lnTo>
                      <a:lnTo>
                        <a:pt x="151" y="58"/>
                      </a:lnTo>
                      <a:lnTo>
                        <a:pt x="144" y="63"/>
                      </a:lnTo>
                      <a:lnTo>
                        <a:pt x="142" y="60"/>
                      </a:lnTo>
                      <a:lnTo>
                        <a:pt x="134" y="62"/>
                      </a:lnTo>
                      <a:lnTo>
                        <a:pt x="122" y="66"/>
                      </a:lnTo>
                      <a:lnTo>
                        <a:pt x="111" y="68"/>
                      </a:lnTo>
                      <a:lnTo>
                        <a:pt x="107" y="66"/>
                      </a:lnTo>
                      <a:lnTo>
                        <a:pt x="93" y="70"/>
                      </a:lnTo>
                      <a:lnTo>
                        <a:pt x="93" y="76"/>
                      </a:lnTo>
                      <a:lnTo>
                        <a:pt x="86" y="82"/>
                      </a:lnTo>
                      <a:lnTo>
                        <a:pt x="87" y="78"/>
                      </a:lnTo>
                      <a:lnTo>
                        <a:pt x="87" y="69"/>
                      </a:lnTo>
                      <a:lnTo>
                        <a:pt x="77" y="69"/>
                      </a:lnTo>
                      <a:lnTo>
                        <a:pt x="75" y="71"/>
                      </a:lnTo>
                      <a:lnTo>
                        <a:pt x="71" y="73"/>
                      </a:lnTo>
                      <a:lnTo>
                        <a:pt x="68" y="74"/>
                      </a:lnTo>
                      <a:lnTo>
                        <a:pt x="60" y="76"/>
                      </a:lnTo>
                      <a:lnTo>
                        <a:pt x="55" y="76"/>
                      </a:lnTo>
                      <a:lnTo>
                        <a:pt x="45" y="68"/>
                      </a:lnTo>
                      <a:lnTo>
                        <a:pt x="42" y="66"/>
                      </a:lnTo>
                      <a:lnTo>
                        <a:pt x="38" y="69"/>
                      </a:lnTo>
                      <a:lnTo>
                        <a:pt x="38" y="72"/>
                      </a:lnTo>
                      <a:lnTo>
                        <a:pt x="34" y="73"/>
                      </a:lnTo>
                      <a:lnTo>
                        <a:pt x="27" y="75"/>
                      </a:lnTo>
                      <a:lnTo>
                        <a:pt x="24" y="71"/>
                      </a:lnTo>
                      <a:lnTo>
                        <a:pt x="21" y="70"/>
                      </a:lnTo>
                      <a:lnTo>
                        <a:pt x="18" y="73"/>
                      </a:lnTo>
                      <a:lnTo>
                        <a:pt x="17" y="76"/>
                      </a:lnTo>
                      <a:lnTo>
                        <a:pt x="12" y="78"/>
                      </a:lnTo>
                      <a:lnTo>
                        <a:pt x="12" y="76"/>
                      </a:lnTo>
                      <a:lnTo>
                        <a:pt x="15" y="72"/>
                      </a:lnTo>
                      <a:lnTo>
                        <a:pt x="15" y="68"/>
                      </a:lnTo>
                      <a:lnTo>
                        <a:pt x="13" y="66"/>
                      </a:lnTo>
                      <a:lnTo>
                        <a:pt x="10" y="68"/>
                      </a:lnTo>
                      <a:lnTo>
                        <a:pt x="7" y="69"/>
                      </a:lnTo>
                      <a:lnTo>
                        <a:pt x="7" y="66"/>
                      </a:lnTo>
                      <a:lnTo>
                        <a:pt x="10" y="64"/>
                      </a:lnTo>
                      <a:lnTo>
                        <a:pt x="12" y="63"/>
                      </a:lnTo>
                      <a:lnTo>
                        <a:pt x="8" y="61"/>
                      </a:lnTo>
                      <a:lnTo>
                        <a:pt x="8" y="55"/>
                      </a:lnTo>
                      <a:lnTo>
                        <a:pt x="6" y="52"/>
                      </a:lnTo>
                      <a:lnTo>
                        <a:pt x="3" y="52"/>
                      </a:lnTo>
                      <a:lnTo>
                        <a:pt x="0" y="49"/>
                      </a:lnTo>
                      <a:lnTo>
                        <a:pt x="0" y="47"/>
                      </a:lnTo>
                      <a:lnTo>
                        <a:pt x="5" y="47"/>
                      </a:lnTo>
                      <a:lnTo>
                        <a:pt x="6" y="45"/>
                      </a:lnTo>
                      <a:lnTo>
                        <a:pt x="5" y="42"/>
                      </a:lnTo>
                      <a:lnTo>
                        <a:pt x="4" y="37"/>
                      </a:lnTo>
                      <a:lnTo>
                        <a:pt x="6" y="34"/>
                      </a:lnTo>
                      <a:lnTo>
                        <a:pt x="1" y="34"/>
                      </a:lnTo>
                      <a:lnTo>
                        <a:pt x="0" y="32"/>
                      </a:lnTo>
                      <a:lnTo>
                        <a:pt x="4" y="25"/>
                      </a:lnTo>
                      <a:lnTo>
                        <a:pt x="8" y="22"/>
                      </a:lnTo>
                      <a:lnTo>
                        <a:pt x="13" y="22"/>
                      </a:lnTo>
                      <a:lnTo>
                        <a:pt x="19" y="20"/>
                      </a:lnTo>
                      <a:lnTo>
                        <a:pt x="24" y="22"/>
                      </a:lnTo>
                      <a:lnTo>
                        <a:pt x="30" y="19"/>
                      </a:lnTo>
                      <a:lnTo>
                        <a:pt x="31" y="17"/>
                      </a:lnTo>
                      <a:lnTo>
                        <a:pt x="26" y="15"/>
                      </a:lnTo>
                      <a:lnTo>
                        <a:pt x="26" y="11"/>
                      </a:lnTo>
                      <a:lnTo>
                        <a:pt x="30" y="10"/>
                      </a:lnTo>
                      <a:lnTo>
                        <a:pt x="38" y="10"/>
                      </a:lnTo>
                      <a:lnTo>
                        <a:pt x="42" y="11"/>
                      </a:lnTo>
                      <a:lnTo>
                        <a:pt x="51" y="5"/>
                      </a:lnTo>
                      <a:lnTo>
                        <a:pt x="62" y="1"/>
                      </a:lnTo>
                      <a:lnTo>
                        <a:pt x="72" y="1"/>
                      </a:lnTo>
                      <a:lnTo>
                        <a:pt x="77" y="0"/>
                      </a:lnTo>
                      <a:lnTo>
                        <a:pt x="81" y="6"/>
                      </a:lnTo>
                      <a:lnTo>
                        <a:pt x="88" y="5"/>
                      </a:lnTo>
                      <a:lnTo>
                        <a:pt x="96" y="12"/>
                      </a:lnTo>
                      <a:lnTo>
                        <a:pt x="100" y="11"/>
                      </a:lnTo>
                      <a:lnTo>
                        <a:pt x="108" y="15"/>
                      </a:lnTo>
                      <a:lnTo>
                        <a:pt x="114" y="12"/>
                      </a:lnTo>
                      <a:lnTo>
                        <a:pt x="121" y="14"/>
                      </a:lnTo>
                      <a:lnTo>
                        <a:pt x="127" y="14"/>
                      </a:lnTo>
                      <a:lnTo>
                        <a:pt x="138" y="8"/>
                      </a:lnTo>
                      <a:lnTo>
                        <a:pt x="139" y="4"/>
                      </a:lnTo>
                      <a:lnTo>
                        <a:pt x="146" y="6"/>
                      </a:lnTo>
                      <a:lnTo>
                        <a:pt x="152" y="6"/>
                      </a:lnTo>
                      <a:lnTo>
                        <a:pt x="159" y="16"/>
                      </a:lnTo>
                      <a:lnTo>
                        <a:pt x="160" y="24"/>
                      </a:lnTo>
                      <a:lnTo>
                        <a:pt x="165" y="27"/>
                      </a:lnTo>
                      <a:lnTo>
                        <a:pt x="167" y="31"/>
                      </a:lnTo>
                      <a:close/>
                    </a:path>
                  </a:pathLst>
                </a:custGeom>
                <a:solidFill>
                  <a:srgbClr val="FFE600"/>
                </a:solidFill>
                <a:ln w="3175" cmpd="sng">
                  <a:solidFill>
                    <a:srgbClr val="646464"/>
                  </a:solidFill>
                  <a:round/>
                  <a:headEnd/>
                  <a:tailEnd/>
                </a:ln>
              </p:spPr>
              <p:txBody>
                <a:bodyPr/>
                <a:lstStyle/>
                <a:p>
                  <a:pPr marL="0" marR="0" lvl="0" indent="0" algn="ctr" defTabSz="962845" eaLnBrk="1" fontAlgn="auto" latinLnBrk="0" hangingPunct="1">
                    <a:lnSpc>
                      <a:spcPts val="1187"/>
                    </a:lnSpc>
                    <a:spcBef>
                      <a:spcPts val="0"/>
                    </a:spcBef>
                    <a:spcAft>
                      <a:spcPts val="0"/>
                    </a:spcAft>
                    <a:buClrTx/>
                    <a:buSzTx/>
                    <a:buFontTx/>
                    <a:buNone/>
                    <a:tabLst/>
                    <a:defRPr/>
                  </a:pPr>
                  <a:endParaRPr kumimoji="0" lang="en-US" sz="1939" b="0" i="0" u="none" strike="noStrike" kern="0" cap="none" spc="0" normalizeH="0" baseline="0" noProof="0" dirty="0">
                    <a:ln>
                      <a:noFill/>
                    </a:ln>
                    <a:solidFill>
                      <a:sysClr val="windowText" lastClr="000000"/>
                    </a:solidFill>
                    <a:effectLst/>
                    <a:uLnTx/>
                    <a:uFillTx/>
                    <a:latin typeface="EYInterstate Regular" pitchFamily="1" charset="0"/>
                  </a:endParaRPr>
                </a:p>
              </p:txBody>
            </p:sp>
          </p:grpSp>
          <p:sp>
            <p:nvSpPr>
              <p:cNvPr id="207" name="Freeform 757"/>
              <p:cNvSpPr>
                <a:spLocks/>
              </p:cNvSpPr>
              <p:nvPr/>
            </p:nvSpPr>
            <p:spPr bwMode="gray">
              <a:xfrm>
                <a:off x="5773785" y="4546787"/>
                <a:ext cx="209190" cy="165017"/>
              </a:xfrm>
              <a:custGeom>
                <a:avLst/>
                <a:gdLst/>
                <a:ahLst/>
                <a:cxnLst>
                  <a:cxn ang="0">
                    <a:pos x="0" y="8"/>
                  </a:cxn>
                  <a:cxn ang="0">
                    <a:pos x="4" y="5"/>
                  </a:cxn>
                  <a:cxn ang="0">
                    <a:pos x="13" y="3"/>
                  </a:cxn>
                  <a:cxn ang="0">
                    <a:pos x="15" y="0"/>
                  </a:cxn>
                  <a:cxn ang="0">
                    <a:pos x="17" y="0"/>
                  </a:cxn>
                  <a:cxn ang="0">
                    <a:pos x="15" y="4"/>
                  </a:cxn>
                  <a:cxn ang="0">
                    <a:pos x="13" y="9"/>
                  </a:cxn>
                  <a:cxn ang="0">
                    <a:pos x="7" y="11"/>
                  </a:cxn>
                  <a:cxn ang="0">
                    <a:pos x="0" y="11"/>
                  </a:cxn>
                  <a:cxn ang="0">
                    <a:pos x="0" y="8"/>
                  </a:cxn>
                </a:cxnLst>
                <a:rect l="0" t="0" r="r" b="b"/>
                <a:pathLst>
                  <a:path w="17" h="11">
                    <a:moveTo>
                      <a:pt x="0" y="8"/>
                    </a:moveTo>
                    <a:lnTo>
                      <a:pt x="4" y="5"/>
                    </a:lnTo>
                    <a:lnTo>
                      <a:pt x="13" y="3"/>
                    </a:lnTo>
                    <a:lnTo>
                      <a:pt x="15" y="0"/>
                    </a:lnTo>
                    <a:lnTo>
                      <a:pt x="17" y="0"/>
                    </a:lnTo>
                    <a:lnTo>
                      <a:pt x="15" y="4"/>
                    </a:lnTo>
                    <a:lnTo>
                      <a:pt x="13" y="9"/>
                    </a:lnTo>
                    <a:lnTo>
                      <a:pt x="7" y="11"/>
                    </a:lnTo>
                    <a:lnTo>
                      <a:pt x="0" y="11"/>
                    </a:lnTo>
                    <a:lnTo>
                      <a:pt x="0" y="8"/>
                    </a:lnTo>
                    <a:close/>
                  </a:path>
                </a:pathLst>
              </a:custGeom>
              <a:solidFill>
                <a:srgbClr val="FFE600"/>
              </a:solidFill>
              <a:ln w="3175" cmpd="sng">
                <a:solidFill>
                  <a:srgbClr val="646464"/>
                </a:solidFill>
                <a:round/>
                <a:headEnd/>
                <a:tailEnd/>
              </a:ln>
            </p:spPr>
            <p:txBody>
              <a:bodyPr/>
              <a:lstStyle/>
              <a:p>
                <a:pPr marL="0" marR="0" lvl="0" indent="0" algn="ctr" defTabSz="914400" eaLnBrk="1" fontAlgn="auto" latinLnBrk="0" hangingPunct="1">
                  <a:lnSpc>
                    <a:spcPts val="1187"/>
                  </a:lnSpc>
                  <a:spcBef>
                    <a:spcPts val="0"/>
                  </a:spcBef>
                  <a:spcAft>
                    <a:spcPts val="0"/>
                  </a:spcAft>
                  <a:buClrTx/>
                  <a:buSzTx/>
                  <a:buFontTx/>
                  <a:buNone/>
                  <a:tabLst/>
                  <a:defRPr/>
                </a:pPr>
                <a:endParaRPr kumimoji="0" lang="en-US" sz="923" b="0" i="0" u="none" strike="noStrike" kern="0" cap="none" spc="0" normalizeH="0" baseline="0" noProof="0" dirty="0">
                  <a:ln>
                    <a:noFill/>
                  </a:ln>
                  <a:solidFill>
                    <a:sysClr val="windowText" lastClr="000000"/>
                  </a:solidFill>
                  <a:effectLst/>
                  <a:uLnTx/>
                  <a:uFillTx/>
                  <a:latin typeface="EYInterstate Regular" pitchFamily="1" charset="0"/>
                </a:endParaRPr>
              </a:p>
            </p:txBody>
          </p:sp>
        </p:grpSp>
        <p:cxnSp>
          <p:nvCxnSpPr>
            <p:cNvPr id="205" name="Straight Connector 204"/>
            <p:cNvCxnSpPr/>
            <p:nvPr/>
          </p:nvCxnSpPr>
          <p:spPr bwMode="auto">
            <a:xfrm flipH="1" flipV="1">
              <a:off x="3535027" y="4365104"/>
              <a:ext cx="36004" cy="72008"/>
            </a:xfrm>
            <a:prstGeom prst="line">
              <a:avLst/>
            </a:prstGeom>
            <a:solidFill>
              <a:srgbClr val="A5A4A7"/>
            </a:solidFill>
            <a:ln w="3175" cap="flat" cmpd="sng" algn="ctr">
              <a:solidFill>
                <a:srgbClr val="A5A4A7"/>
              </a:solidFill>
              <a:prstDash val="solid"/>
              <a:round/>
              <a:headEnd type="none" w="med" len="med"/>
              <a:tailEnd type="none" w="med" len="med"/>
            </a:ln>
            <a:effectLst/>
          </p:spPr>
        </p:cxnSp>
      </p:grpSp>
      <p:graphicFrame>
        <p:nvGraphicFramePr>
          <p:cNvPr id="278" name="Table 277"/>
          <p:cNvGraphicFramePr>
            <a:graphicFrameLocks noGrp="1"/>
          </p:cNvGraphicFramePr>
          <p:nvPr>
            <p:extLst/>
          </p:nvPr>
        </p:nvGraphicFramePr>
        <p:xfrm>
          <a:off x="2288353" y="5674381"/>
          <a:ext cx="824646" cy="263409"/>
        </p:xfrm>
        <a:graphic>
          <a:graphicData uri="http://schemas.openxmlformats.org/drawingml/2006/table">
            <a:tbl>
              <a:tblPr/>
              <a:tblGrid>
                <a:gridCol w="824646"/>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Greek subsidiary of a large Cyprus bank</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79" name="Straight Connector 278"/>
          <p:cNvCxnSpPr/>
          <p:nvPr/>
        </p:nvCxnSpPr>
        <p:spPr>
          <a:xfrm flipH="1">
            <a:off x="2943066" y="4510249"/>
            <a:ext cx="393438" cy="1295837"/>
          </a:xfrm>
          <a:prstGeom prst="line">
            <a:avLst/>
          </a:prstGeom>
          <a:noFill/>
          <a:ln w="9525" cap="flat" cmpd="sng" algn="ctr">
            <a:solidFill>
              <a:srgbClr val="A5A4A7">
                <a:shade val="95000"/>
                <a:satMod val="105000"/>
              </a:srgbClr>
            </a:solidFill>
            <a:prstDash val="solid"/>
          </a:ln>
          <a:effectLst/>
        </p:spPr>
      </p:cxnSp>
      <p:graphicFrame>
        <p:nvGraphicFramePr>
          <p:cNvPr id="280" name="Table 279"/>
          <p:cNvGraphicFramePr>
            <a:graphicFrameLocks noGrp="1"/>
          </p:cNvGraphicFramePr>
          <p:nvPr>
            <p:extLst/>
          </p:nvPr>
        </p:nvGraphicFramePr>
        <p:xfrm>
          <a:off x="4235537" y="2998836"/>
          <a:ext cx="544312" cy="263409"/>
        </p:xfrm>
        <a:graphic>
          <a:graphicData uri="http://schemas.openxmlformats.org/drawingml/2006/table">
            <a:tbl>
              <a:tblPr/>
              <a:tblGrid>
                <a:gridCol w="544312"/>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TOP 5 Slovak bank</a:t>
                      </a:r>
                    </a:p>
                  </a:txBody>
                  <a:tcPr marL="33231" marR="33231" marT="33231" marB="33231" anchor="ctr">
                    <a:lnL w="6350" cap="flat" cmpd="sng" algn="ctr">
                      <a:solidFill>
                        <a:srgbClr val="7F7E82"/>
                      </a:solidFill>
                      <a:prstDash val="solid"/>
                      <a:round/>
                      <a:headEnd type="none" w="med" len="med"/>
                      <a:tailEnd type="none" w="med" len="med"/>
                    </a:lnL>
                    <a:lnR w="6350" cap="flat" cmpd="sng" algn="ctr">
                      <a:no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81" name="Straight Connector 280"/>
          <p:cNvCxnSpPr>
            <a:endCxn id="280" idx="1"/>
          </p:cNvCxnSpPr>
          <p:nvPr/>
        </p:nvCxnSpPr>
        <p:spPr>
          <a:xfrm flipV="1">
            <a:off x="3225013" y="3130541"/>
            <a:ext cx="1010524" cy="612646"/>
          </a:xfrm>
          <a:prstGeom prst="line">
            <a:avLst/>
          </a:prstGeom>
          <a:noFill/>
          <a:ln w="9525" cap="flat" cmpd="sng" algn="ctr">
            <a:solidFill>
              <a:srgbClr val="A5A4A7">
                <a:shade val="95000"/>
                <a:satMod val="105000"/>
              </a:srgbClr>
            </a:solidFill>
            <a:prstDash val="solid"/>
          </a:ln>
          <a:effectLst/>
        </p:spPr>
      </p:cxnSp>
      <p:graphicFrame>
        <p:nvGraphicFramePr>
          <p:cNvPr id="282" name="Table 281"/>
          <p:cNvGraphicFramePr>
            <a:graphicFrameLocks noGrp="1"/>
          </p:cNvGraphicFramePr>
          <p:nvPr>
            <p:extLst/>
          </p:nvPr>
        </p:nvGraphicFramePr>
        <p:xfrm>
          <a:off x="1301117" y="2368295"/>
          <a:ext cx="722023" cy="263409"/>
        </p:xfrm>
        <a:graphic>
          <a:graphicData uri="http://schemas.openxmlformats.org/drawingml/2006/table">
            <a:tbl>
              <a:tblPr/>
              <a:tblGrid>
                <a:gridCol w="722023"/>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Medium-size retail Czech bank</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83" name="Straight Connector 282"/>
          <p:cNvCxnSpPr>
            <a:endCxn id="282" idx="3"/>
          </p:cNvCxnSpPr>
          <p:nvPr/>
        </p:nvCxnSpPr>
        <p:spPr>
          <a:xfrm flipH="1" flipV="1">
            <a:off x="2023141" y="2500000"/>
            <a:ext cx="919926" cy="1154974"/>
          </a:xfrm>
          <a:prstGeom prst="line">
            <a:avLst/>
          </a:prstGeom>
          <a:noFill/>
          <a:ln w="9525" cap="flat" cmpd="sng" algn="ctr">
            <a:solidFill>
              <a:srgbClr val="A5A4A7">
                <a:shade val="95000"/>
                <a:satMod val="105000"/>
              </a:srgbClr>
            </a:solidFill>
            <a:prstDash val="solid"/>
          </a:ln>
          <a:effectLst/>
        </p:spPr>
      </p:cxnSp>
      <p:graphicFrame>
        <p:nvGraphicFramePr>
          <p:cNvPr id="284" name="Table 283"/>
          <p:cNvGraphicFramePr>
            <a:graphicFrameLocks noGrp="1"/>
          </p:cNvGraphicFramePr>
          <p:nvPr>
            <p:extLst/>
          </p:nvPr>
        </p:nvGraphicFramePr>
        <p:xfrm>
          <a:off x="512072" y="4285949"/>
          <a:ext cx="645129" cy="263409"/>
        </p:xfrm>
        <a:graphic>
          <a:graphicData uri="http://schemas.openxmlformats.org/drawingml/2006/table">
            <a:tbl>
              <a:tblPr/>
              <a:tblGrid>
                <a:gridCol w="645129"/>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Regional Romanian bank</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85" name="Straight Connector 284"/>
          <p:cNvCxnSpPr>
            <a:endCxn id="284" idx="3"/>
          </p:cNvCxnSpPr>
          <p:nvPr/>
        </p:nvCxnSpPr>
        <p:spPr>
          <a:xfrm flipH="1">
            <a:off x="1157200" y="4012206"/>
            <a:ext cx="2328076" cy="405448"/>
          </a:xfrm>
          <a:prstGeom prst="line">
            <a:avLst/>
          </a:prstGeom>
          <a:noFill/>
          <a:ln w="9525" cap="flat" cmpd="sng" algn="ctr">
            <a:solidFill>
              <a:srgbClr val="A5A4A7">
                <a:shade val="95000"/>
                <a:satMod val="105000"/>
              </a:srgbClr>
            </a:solidFill>
            <a:prstDash val="solid"/>
          </a:ln>
          <a:effectLst/>
        </p:spPr>
      </p:cxnSp>
      <p:graphicFrame>
        <p:nvGraphicFramePr>
          <p:cNvPr id="286" name="Table 285"/>
          <p:cNvGraphicFramePr>
            <a:graphicFrameLocks noGrp="1"/>
          </p:cNvGraphicFramePr>
          <p:nvPr>
            <p:extLst/>
          </p:nvPr>
        </p:nvGraphicFramePr>
        <p:xfrm>
          <a:off x="4614196" y="5360159"/>
          <a:ext cx="530006" cy="263409"/>
        </p:xfrm>
        <a:graphic>
          <a:graphicData uri="http://schemas.openxmlformats.org/drawingml/2006/table">
            <a:tbl>
              <a:tblPr/>
              <a:tblGrid>
                <a:gridCol w="530006"/>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Leading Cyprus bank</a:t>
                      </a:r>
                    </a:p>
                  </a:txBody>
                  <a:tcPr marL="33231" marR="33231" marT="33231" marB="33231" anchor="ctr">
                    <a:lnL w="6350" cap="flat" cmpd="sng" algn="ctr">
                      <a:solidFill>
                        <a:srgbClr val="7F7E82"/>
                      </a:solidFill>
                      <a:prstDash val="solid"/>
                      <a:round/>
                      <a:headEnd type="none" w="med" len="med"/>
                      <a:tailEnd type="none" w="med" len="med"/>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bl>
          </a:graphicData>
        </a:graphic>
      </p:graphicFrame>
      <p:cxnSp>
        <p:nvCxnSpPr>
          <p:cNvPr id="287" name="Straight Connector 286"/>
          <p:cNvCxnSpPr>
            <a:endCxn id="286" idx="1"/>
          </p:cNvCxnSpPr>
          <p:nvPr/>
        </p:nvCxnSpPr>
        <p:spPr>
          <a:xfrm>
            <a:off x="4411043" y="4843945"/>
            <a:ext cx="203153" cy="647919"/>
          </a:xfrm>
          <a:prstGeom prst="line">
            <a:avLst/>
          </a:prstGeom>
          <a:noFill/>
          <a:ln w="9525" cap="flat" cmpd="sng" algn="ctr">
            <a:solidFill>
              <a:srgbClr val="A5A4A7">
                <a:shade val="95000"/>
                <a:satMod val="105000"/>
              </a:srgbClr>
            </a:solidFill>
            <a:prstDash val="solid"/>
          </a:ln>
          <a:effectLst/>
        </p:spPr>
      </p:cxnSp>
      <p:graphicFrame>
        <p:nvGraphicFramePr>
          <p:cNvPr id="288" name="Table 287"/>
          <p:cNvGraphicFramePr>
            <a:graphicFrameLocks noGrp="1"/>
          </p:cNvGraphicFramePr>
          <p:nvPr>
            <p:extLst/>
          </p:nvPr>
        </p:nvGraphicFramePr>
        <p:xfrm>
          <a:off x="4000294" y="2485334"/>
          <a:ext cx="1024650" cy="263409"/>
        </p:xfrm>
        <a:graphic>
          <a:graphicData uri="http://schemas.openxmlformats.org/drawingml/2006/table">
            <a:tbl>
              <a:tblPr/>
              <a:tblGrid>
                <a:gridCol w="1024650"/>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Slovak subsidiary of a large international bank</a:t>
                      </a:r>
                    </a:p>
                  </a:txBody>
                  <a:tcPr marL="33231" marR="33231" marT="33231" marB="33231" anchor="ctr">
                    <a:lnL w="6350" cap="flat" cmpd="sng" algn="ctr">
                      <a:solidFill>
                        <a:srgbClr val="7F7E82"/>
                      </a:solidFill>
                      <a:prstDash val="solid"/>
                      <a:round/>
                      <a:headEnd type="none" w="med" len="med"/>
                      <a:tailEnd type="none" w="med" len="med"/>
                    </a:lnL>
                    <a:lnR w="6350" cap="flat" cmpd="sng" algn="ctr">
                      <a:no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89" name="Straight Connector 288"/>
          <p:cNvCxnSpPr>
            <a:endCxn id="288" idx="1"/>
          </p:cNvCxnSpPr>
          <p:nvPr/>
        </p:nvCxnSpPr>
        <p:spPr>
          <a:xfrm flipV="1">
            <a:off x="3231897" y="2617039"/>
            <a:ext cx="768398" cy="1126148"/>
          </a:xfrm>
          <a:prstGeom prst="line">
            <a:avLst/>
          </a:prstGeom>
          <a:noFill/>
          <a:ln w="9525" cap="flat" cmpd="sng" algn="ctr">
            <a:solidFill>
              <a:srgbClr val="A5A4A7">
                <a:shade val="95000"/>
                <a:satMod val="105000"/>
              </a:srgbClr>
            </a:solidFill>
            <a:prstDash val="solid"/>
          </a:ln>
          <a:effectLst/>
        </p:spPr>
      </p:cxnSp>
      <p:graphicFrame>
        <p:nvGraphicFramePr>
          <p:cNvPr id="290" name="Table 289"/>
          <p:cNvGraphicFramePr>
            <a:graphicFrameLocks noGrp="1"/>
          </p:cNvGraphicFramePr>
          <p:nvPr>
            <p:extLst/>
          </p:nvPr>
        </p:nvGraphicFramePr>
        <p:xfrm>
          <a:off x="4487622" y="3646755"/>
          <a:ext cx="698821" cy="263409"/>
        </p:xfrm>
        <a:graphic>
          <a:graphicData uri="http://schemas.openxmlformats.org/drawingml/2006/table">
            <a:tbl>
              <a:tblPr/>
              <a:tblGrid>
                <a:gridCol w="698821"/>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Leading</a:t>
                      </a:r>
                      <a:r>
                        <a:rPr lang="en-US" sz="600" baseline="0" dirty="0" smtClean="0">
                          <a:solidFill>
                            <a:schemeClr val="bg1"/>
                          </a:solidFill>
                          <a:latin typeface="EYInterstate Light" panose="02000506000000020004" pitchFamily="2" charset="0"/>
                        </a:rPr>
                        <a:t> </a:t>
                      </a:r>
                      <a:r>
                        <a:rPr lang="en-US" sz="600" dirty="0" smtClean="0">
                          <a:solidFill>
                            <a:schemeClr val="bg1"/>
                          </a:solidFill>
                          <a:latin typeface="EYInterstate Light" panose="02000506000000020004" pitchFamily="2" charset="0"/>
                        </a:rPr>
                        <a:t>Moldavian bank</a:t>
                      </a:r>
                    </a:p>
                  </a:txBody>
                  <a:tcPr marL="33231" marR="33231" marT="33231" marB="33231" anchor="ctr">
                    <a:lnL w="6350" cap="flat" cmpd="sng" algn="ctr">
                      <a:solidFill>
                        <a:srgbClr val="7F7E82"/>
                      </a:solidFill>
                      <a:prstDash val="solid"/>
                      <a:round/>
                      <a:headEnd type="none" w="med" len="med"/>
                      <a:tailEnd type="none" w="med" len="med"/>
                    </a:lnL>
                    <a:lnR w="6350" cap="flat" cmpd="sng" algn="ctr">
                      <a:no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91" name="Straight Connector 290"/>
          <p:cNvCxnSpPr>
            <a:endCxn id="290" idx="1"/>
          </p:cNvCxnSpPr>
          <p:nvPr/>
        </p:nvCxnSpPr>
        <p:spPr>
          <a:xfrm flipV="1">
            <a:off x="3741562" y="3778459"/>
            <a:ext cx="746060" cy="106632"/>
          </a:xfrm>
          <a:prstGeom prst="line">
            <a:avLst/>
          </a:prstGeom>
          <a:noFill/>
          <a:ln w="9525" cap="flat" cmpd="sng" algn="ctr">
            <a:solidFill>
              <a:srgbClr val="A5A4A7">
                <a:shade val="95000"/>
                <a:satMod val="105000"/>
              </a:srgbClr>
            </a:solidFill>
            <a:prstDash val="solid"/>
          </a:ln>
          <a:effectLst/>
        </p:spPr>
      </p:cxnSp>
      <p:graphicFrame>
        <p:nvGraphicFramePr>
          <p:cNvPr id="292" name="Table 291"/>
          <p:cNvGraphicFramePr>
            <a:graphicFrameLocks noGrp="1"/>
          </p:cNvGraphicFramePr>
          <p:nvPr>
            <p:extLst/>
          </p:nvPr>
        </p:nvGraphicFramePr>
        <p:xfrm>
          <a:off x="4735486" y="3975836"/>
          <a:ext cx="674248" cy="263409"/>
        </p:xfrm>
        <a:graphic>
          <a:graphicData uri="http://schemas.openxmlformats.org/drawingml/2006/table">
            <a:tbl>
              <a:tblPr/>
              <a:tblGrid>
                <a:gridCol w="674248"/>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TOP 3 Romanian bank</a:t>
                      </a:r>
                    </a:p>
                  </a:txBody>
                  <a:tcPr marL="33231" marR="33231" marT="33231" marB="33231" anchor="ctr">
                    <a:lnL w="6350" cap="flat" cmpd="sng" algn="ctr">
                      <a:solidFill>
                        <a:srgbClr val="7F7E82"/>
                      </a:solidFill>
                      <a:prstDash val="solid"/>
                      <a:round/>
                      <a:headEnd type="none" w="med" len="med"/>
                      <a:tailEnd type="none" w="med" len="med"/>
                    </a:lnL>
                    <a:lnR w="6350" cap="flat" cmpd="sng" algn="ctr">
                      <a:no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93" name="Straight Connector 292"/>
          <p:cNvCxnSpPr>
            <a:endCxn id="292" idx="1"/>
          </p:cNvCxnSpPr>
          <p:nvPr/>
        </p:nvCxnSpPr>
        <p:spPr>
          <a:xfrm>
            <a:off x="3343089" y="4004082"/>
            <a:ext cx="1392397" cy="103458"/>
          </a:xfrm>
          <a:prstGeom prst="line">
            <a:avLst/>
          </a:prstGeom>
          <a:noFill/>
          <a:ln w="9525" cap="flat" cmpd="sng" algn="ctr">
            <a:solidFill>
              <a:srgbClr val="A5A4A7">
                <a:shade val="95000"/>
                <a:satMod val="105000"/>
              </a:srgbClr>
            </a:solidFill>
            <a:prstDash val="solid"/>
          </a:ln>
          <a:effectLst/>
        </p:spPr>
      </p:cxnSp>
      <p:graphicFrame>
        <p:nvGraphicFramePr>
          <p:cNvPr id="294" name="Table 293"/>
          <p:cNvGraphicFramePr>
            <a:graphicFrameLocks noGrp="1"/>
          </p:cNvGraphicFramePr>
          <p:nvPr>
            <p:extLst/>
          </p:nvPr>
        </p:nvGraphicFramePr>
        <p:xfrm>
          <a:off x="1674545" y="5261602"/>
          <a:ext cx="766908" cy="263409"/>
        </p:xfrm>
        <a:graphic>
          <a:graphicData uri="http://schemas.openxmlformats.org/drawingml/2006/table">
            <a:tbl>
              <a:tblPr/>
              <a:tblGrid>
                <a:gridCol w="766908"/>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Large Romanian retail bank</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95" name="Straight Connector 294"/>
          <p:cNvCxnSpPr>
            <a:endCxn id="294" idx="3"/>
          </p:cNvCxnSpPr>
          <p:nvPr/>
        </p:nvCxnSpPr>
        <p:spPr>
          <a:xfrm flipH="1">
            <a:off x="2441453" y="4012206"/>
            <a:ext cx="1029876" cy="1381101"/>
          </a:xfrm>
          <a:prstGeom prst="line">
            <a:avLst/>
          </a:prstGeom>
          <a:noFill/>
          <a:ln w="9525" cap="flat" cmpd="sng" algn="ctr">
            <a:solidFill>
              <a:srgbClr val="A5A4A7">
                <a:shade val="95000"/>
                <a:satMod val="105000"/>
              </a:srgbClr>
            </a:solidFill>
            <a:prstDash val="solid"/>
          </a:ln>
          <a:effectLst/>
        </p:spPr>
      </p:cxnSp>
      <p:graphicFrame>
        <p:nvGraphicFramePr>
          <p:cNvPr id="296" name="Table 295"/>
          <p:cNvGraphicFramePr>
            <a:graphicFrameLocks noGrp="1"/>
          </p:cNvGraphicFramePr>
          <p:nvPr>
            <p:extLst/>
          </p:nvPr>
        </p:nvGraphicFramePr>
        <p:xfrm>
          <a:off x="512111" y="5036200"/>
          <a:ext cx="966880" cy="263409"/>
        </p:xfrm>
        <a:graphic>
          <a:graphicData uri="http://schemas.openxmlformats.org/drawingml/2006/table">
            <a:tbl>
              <a:tblPr/>
              <a:tblGrid>
                <a:gridCol w="966880"/>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Romanian subsidiary of a large Greek bank (2)</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97" name="Straight Connector 296"/>
          <p:cNvCxnSpPr>
            <a:endCxn id="296" idx="3"/>
          </p:cNvCxnSpPr>
          <p:nvPr/>
        </p:nvCxnSpPr>
        <p:spPr>
          <a:xfrm flipH="1">
            <a:off x="1478991" y="4007822"/>
            <a:ext cx="2062146" cy="1160082"/>
          </a:xfrm>
          <a:prstGeom prst="line">
            <a:avLst/>
          </a:prstGeom>
          <a:noFill/>
          <a:ln w="9525" cap="flat" cmpd="sng" algn="ctr">
            <a:solidFill>
              <a:srgbClr val="A5A4A7">
                <a:shade val="95000"/>
                <a:satMod val="105000"/>
              </a:srgbClr>
            </a:solidFill>
            <a:prstDash val="solid"/>
          </a:ln>
          <a:effectLst/>
        </p:spPr>
      </p:cxnSp>
      <p:graphicFrame>
        <p:nvGraphicFramePr>
          <p:cNvPr id="298" name="Table 297"/>
          <p:cNvGraphicFramePr>
            <a:graphicFrameLocks noGrp="1"/>
          </p:cNvGraphicFramePr>
          <p:nvPr>
            <p:extLst/>
          </p:nvPr>
        </p:nvGraphicFramePr>
        <p:xfrm>
          <a:off x="440483" y="2924759"/>
          <a:ext cx="1034672" cy="263409"/>
        </p:xfrm>
        <a:graphic>
          <a:graphicData uri="http://schemas.openxmlformats.org/drawingml/2006/table">
            <a:tbl>
              <a:tblPr/>
              <a:tblGrid>
                <a:gridCol w="1034672"/>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Czech subsidiary of a large international bank</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299" name="Straight Connector 298"/>
          <p:cNvCxnSpPr>
            <a:endCxn id="298" idx="3"/>
          </p:cNvCxnSpPr>
          <p:nvPr/>
        </p:nvCxnSpPr>
        <p:spPr>
          <a:xfrm flipH="1" flipV="1">
            <a:off x="1475155" y="3056463"/>
            <a:ext cx="1467913" cy="598511"/>
          </a:xfrm>
          <a:prstGeom prst="line">
            <a:avLst/>
          </a:prstGeom>
          <a:noFill/>
          <a:ln w="9525" cap="flat" cmpd="sng" algn="ctr">
            <a:solidFill>
              <a:srgbClr val="A5A4A7">
                <a:shade val="95000"/>
                <a:satMod val="105000"/>
              </a:srgbClr>
            </a:solidFill>
            <a:prstDash val="solid"/>
          </a:ln>
          <a:effectLst/>
        </p:spPr>
      </p:cxnSp>
      <p:graphicFrame>
        <p:nvGraphicFramePr>
          <p:cNvPr id="300" name="Table 299"/>
          <p:cNvGraphicFramePr>
            <a:graphicFrameLocks noGrp="1"/>
          </p:cNvGraphicFramePr>
          <p:nvPr>
            <p:extLst/>
          </p:nvPr>
        </p:nvGraphicFramePr>
        <p:xfrm>
          <a:off x="2524018" y="2205020"/>
          <a:ext cx="534934" cy="263409"/>
        </p:xfrm>
        <a:graphic>
          <a:graphicData uri="http://schemas.openxmlformats.org/drawingml/2006/table">
            <a:tbl>
              <a:tblPr/>
              <a:tblGrid>
                <a:gridCol w="534934"/>
              </a:tblGrid>
              <a:tr h="26340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600" dirty="0" smtClean="0">
                          <a:solidFill>
                            <a:schemeClr val="bg1"/>
                          </a:solidFill>
                          <a:latin typeface="EYInterstate Light" panose="02000506000000020004" pitchFamily="2" charset="0"/>
                        </a:rPr>
                        <a:t>Mid-size Slovak bank</a:t>
                      </a:r>
                    </a:p>
                  </a:txBody>
                  <a:tcPr marL="33231" marR="33231" marT="33231" marB="33231" anchor="ctr">
                    <a:lnL w="12700" cmpd="sng">
                      <a:solidFill>
                        <a:srgbClr val="FFFFFF"/>
                      </a:solidFill>
                    </a:lnL>
                    <a:lnR w="6350" cap="flat" cmpd="sng" algn="ctr">
                      <a:solidFill>
                        <a:srgbClr val="7F7E82"/>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r>
            </a:tbl>
          </a:graphicData>
        </a:graphic>
      </p:graphicFrame>
      <p:cxnSp>
        <p:nvCxnSpPr>
          <p:cNvPr id="301" name="Straight Connector 300"/>
          <p:cNvCxnSpPr/>
          <p:nvPr/>
        </p:nvCxnSpPr>
        <p:spPr>
          <a:xfrm flipH="1" flipV="1">
            <a:off x="2889021" y="2336725"/>
            <a:ext cx="356242" cy="1406462"/>
          </a:xfrm>
          <a:prstGeom prst="line">
            <a:avLst/>
          </a:prstGeom>
          <a:noFill/>
          <a:ln w="9525" cap="flat" cmpd="sng" algn="ctr">
            <a:solidFill>
              <a:srgbClr val="A5A4A7">
                <a:shade val="95000"/>
                <a:satMod val="105000"/>
              </a:srgbClr>
            </a:solidFill>
            <a:prstDash val="solid"/>
          </a:ln>
          <a:effectLst/>
        </p:spPr>
      </p:cxnSp>
      <p:graphicFrame>
        <p:nvGraphicFramePr>
          <p:cNvPr id="307" name="Group 54"/>
          <p:cNvGraphicFramePr>
            <a:graphicFrameLocks/>
          </p:cNvGraphicFramePr>
          <p:nvPr>
            <p:extLst>
              <p:ext uri="{D42A27DB-BD31-4B8C-83A1-F6EECF244321}">
                <p14:modId xmlns:p14="http://schemas.microsoft.com/office/powerpoint/2010/main" val="880644565"/>
              </p:ext>
            </p:extLst>
          </p:nvPr>
        </p:nvGraphicFramePr>
        <p:xfrm>
          <a:off x="5513118" y="2205021"/>
          <a:ext cx="3176118" cy="4030728"/>
        </p:xfrm>
        <a:graphic>
          <a:graphicData uri="http://schemas.openxmlformats.org/drawingml/2006/table">
            <a:tbl>
              <a:tblPr/>
              <a:tblGrid>
                <a:gridCol w="3176118"/>
              </a:tblGrid>
              <a:tr h="710645">
                <a:tc>
                  <a:txBody>
                    <a:bodyPr/>
                    <a:lstStyle>
                      <a:lvl1pPr marL="0" algn="l" defTabSz="839535" rtl="0" eaLnBrk="1" latinLnBrk="0" hangingPunct="1">
                        <a:defRPr sz="1700" kern="1200">
                          <a:solidFill>
                            <a:schemeClr val="tx1"/>
                          </a:solidFill>
                          <a:latin typeface="Arial"/>
                          <a:ea typeface=""/>
                          <a:cs typeface=""/>
                        </a:defRPr>
                      </a:lvl1pPr>
                      <a:lvl2pPr marL="419767" algn="l" defTabSz="839535" rtl="0" eaLnBrk="1" latinLnBrk="0" hangingPunct="1">
                        <a:defRPr sz="1700" kern="1200">
                          <a:solidFill>
                            <a:schemeClr val="tx1"/>
                          </a:solidFill>
                          <a:latin typeface="Arial"/>
                          <a:ea typeface=""/>
                          <a:cs typeface=""/>
                        </a:defRPr>
                      </a:lvl2pPr>
                      <a:lvl3pPr marL="839535" algn="l" defTabSz="839535" rtl="0" eaLnBrk="1" latinLnBrk="0" hangingPunct="1">
                        <a:defRPr sz="1700" kern="1200">
                          <a:solidFill>
                            <a:schemeClr val="tx1"/>
                          </a:solidFill>
                          <a:latin typeface="Arial"/>
                          <a:ea typeface=""/>
                          <a:cs typeface=""/>
                        </a:defRPr>
                      </a:lvl3pPr>
                      <a:lvl4pPr marL="1259301" algn="l" defTabSz="839535" rtl="0" eaLnBrk="1" latinLnBrk="0" hangingPunct="1">
                        <a:defRPr sz="1700" kern="1200">
                          <a:solidFill>
                            <a:schemeClr val="tx1"/>
                          </a:solidFill>
                          <a:latin typeface="Arial"/>
                          <a:ea typeface=""/>
                          <a:cs typeface=""/>
                        </a:defRPr>
                      </a:lvl4pPr>
                      <a:lvl5pPr marL="1679069" algn="l" defTabSz="839535" rtl="0" eaLnBrk="1" latinLnBrk="0" hangingPunct="1">
                        <a:defRPr sz="1700" kern="1200">
                          <a:solidFill>
                            <a:schemeClr val="tx1"/>
                          </a:solidFill>
                          <a:latin typeface="Arial"/>
                          <a:ea typeface=""/>
                          <a:cs typeface=""/>
                        </a:defRPr>
                      </a:lvl5pPr>
                      <a:lvl6pPr marL="2098836" algn="l" defTabSz="839535" rtl="0" eaLnBrk="1" latinLnBrk="0" hangingPunct="1">
                        <a:defRPr sz="1700" kern="1200">
                          <a:solidFill>
                            <a:schemeClr val="tx1"/>
                          </a:solidFill>
                          <a:latin typeface="Arial"/>
                          <a:ea typeface=""/>
                          <a:cs typeface=""/>
                        </a:defRPr>
                      </a:lvl6pPr>
                      <a:lvl7pPr marL="2518604" algn="l" defTabSz="839535" rtl="0" eaLnBrk="1" latinLnBrk="0" hangingPunct="1">
                        <a:defRPr sz="1700" kern="1200">
                          <a:solidFill>
                            <a:schemeClr val="tx1"/>
                          </a:solidFill>
                          <a:latin typeface="Arial"/>
                          <a:ea typeface=""/>
                          <a:cs typeface=""/>
                        </a:defRPr>
                      </a:lvl7pPr>
                      <a:lvl8pPr marL="2938371" algn="l" defTabSz="839535" rtl="0" eaLnBrk="1" latinLnBrk="0" hangingPunct="1">
                        <a:defRPr sz="1700" kern="1200">
                          <a:solidFill>
                            <a:schemeClr val="tx1"/>
                          </a:solidFill>
                          <a:latin typeface="Arial"/>
                          <a:ea typeface=""/>
                          <a:cs typeface=""/>
                        </a:defRPr>
                      </a:lvl8pPr>
                      <a:lvl9pPr marL="3358138" algn="l" defTabSz="839535" rtl="0" eaLnBrk="1" latinLnBrk="0" hangingPunct="1">
                        <a:defRPr sz="1700" kern="1200">
                          <a:solidFill>
                            <a:schemeClr val="tx1"/>
                          </a:solidFill>
                          <a:latin typeface="Arial"/>
                          <a:ea typeface=""/>
                          <a:cs typeface=""/>
                        </a:defRPr>
                      </a:lvl9pPr>
                    </a:lstStyle>
                    <a:p>
                      <a:pPr marL="0" marR="0" lvl="0" indent="0" algn="l" defTabSz="994661" rtl="0" eaLnBrk="1" fontAlgn="auto" latinLnBrk="0" hangingPunct="1">
                        <a:lnSpc>
                          <a:spcPct val="100000"/>
                        </a:lnSpc>
                        <a:spcBef>
                          <a:spcPts val="0"/>
                        </a:spcBef>
                        <a:spcAft>
                          <a:spcPts val="200"/>
                        </a:spcAft>
                        <a:buClr>
                          <a:srgbClr val="FFE600"/>
                        </a:buClr>
                        <a:buSzTx/>
                        <a:buFont typeface="Arial" pitchFamily="34" charset="0"/>
                        <a:buNone/>
                        <a:tabLst>
                          <a:tab pos="2828201" algn="l"/>
                          <a:tab pos="4086569" algn="r"/>
                        </a:tabLst>
                        <a:defRPr/>
                      </a:pPr>
                      <a:r>
                        <a:rPr lang="en-US" sz="1100" b="0" dirty="0" smtClean="0">
                          <a:solidFill>
                            <a:schemeClr val="bg1"/>
                          </a:solidFill>
                          <a:latin typeface="EYInterstate Light" panose="02000506000000020004" pitchFamily="2" charset="0"/>
                          <a:ea typeface=""/>
                          <a:cs typeface="Arial" charset="0"/>
                        </a:rPr>
                        <a:t>Deployment of LIC Solution® </a:t>
                      </a:r>
                      <a:endParaRPr lang="en-US" sz="1100" b="0" noProof="0" dirty="0" smtClean="0">
                        <a:solidFill>
                          <a:schemeClr val="bg1"/>
                        </a:solidFill>
                        <a:latin typeface="EYInterstate Light" panose="02000506000000020004" pitchFamily="2" charset="0"/>
                        <a:ea typeface=""/>
                        <a:cs typeface="Arial" charset="0"/>
                      </a:endParaRP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noProof="0" dirty="0" smtClean="0">
                          <a:solidFill>
                            <a:schemeClr val="bg1"/>
                          </a:solidFill>
                          <a:latin typeface="EYInterstate Light" panose="02000506000000020004" pitchFamily="2" charset="0"/>
                          <a:ea typeface=""/>
                          <a:cs typeface="Arial" charset="0"/>
                        </a:rPr>
                        <a:t>Successful implementation of LIC Solution® in 15 banks in Central and Southeast Europe </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
                          <a:cs typeface="Arial" charset="0"/>
                        </a:rPr>
                        <a:t>Ongoing post-implementation support services</a:t>
                      </a:r>
                      <a:endParaRPr kumimoji="0" lang="en-GB" sz="900" b="0" i="0" u="none" strike="noStrike" cap="none" normalizeH="0" baseline="0" noProof="0" dirty="0">
                        <a:ln>
                          <a:noFill/>
                        </a:ln>
                        <a:solidFill>
                          <a:schemeClr val="bg1"/>
                        </a:solidFill>
                        <a:effectLst/>
                        <a:latin typeface="EYInterstate Light" panose="02000506000000020004" pitchFamily="2" charset="0"/>
                        <a:cs typeface="Arial" charset="0"/>
                      </a:endParaRPr>
                    </a:p>
                  </a:txBody>
                  <a:tcPr marL="0" marR="36000" marT="36000" marB="36000" horzOverflow="overflow">
                    <a:lnL cap="flat">
                      <a:noFill/>
                    </a:lnL>
                    <a:lnR>
                      <a:noFill/>
                    </a:lnR>
                    <a:lnT w="12700" cap="flat" cmpd="sng" algn="ctr">
                      <a:solidFill>
                        <a:srgbClr val="CCCBCD"/>
                      </a:solidFill>
                      <a:prstDash val="solid"/>
                      <a:round/>
                      <a:headEnd type="none" w="med" len="med"/>
                      <a:tailEnd type="none" w="med" len="med"/>
                    </a:lnT>
                    <a:lnB w="12700" cap="flat" cmpd="sng" algn="ctr">
                      <a:solidFill>
                        <a:srgbClr val="CCCBCD"/>
                      </a:solidFill>
                      <a:prstDash val="solid"/>
                      <a:round/>
                      <a:headEnd type="none" w="med" len="med"/>
                      <a:tailEnd type="none" w="med" len="med"/>
                    </a:lnB>
                    <a:lnTlToBr>
                      <a:noFill/>
                    </a:lnTlToBr>
                    <a:lnBlToTr>
                      <a:noFill/>
                    </a:lnBlToTr>
                    <a:noFill/>
                  </a:tcPr>
                </a:tc>
              </a:tr>
              <a:tr h="130471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lvl="0" indent="0" algn="l" defTabSz="994661" fontAlgn="auto">
                        <a:lnSpc>
                          <a:spcPct val="100000"/>
                        </a:lnSpc>
                        <a:spcBef>
                          <a:spcPts val="0"/>
                        </a:spcBef>
                        <a:spcAft>
                          <a:spcPts val="200"/>
                        </a:spcAft>
                        <a:buClr>
                          <a:srgbClr val="FFE600"/>
                        </a:buClr>
                        <a:buFont typeface="Arial" pitchFamily="34" charset="0"/>
                        <a:buNone/>
                        <a:tabLst>
                          <a:tab pos="2828201" algn="l"/>
                          <a:tab pos="4086569" algn="r"/>
                        </a:tabLst>
                      </a:pPr>
                      <a:r>
                        <a:rPr lang="en-US" sz="1100" b="0" dirty="0" smtClean="0">
                          <a:solidFill>
                            <a:schemeClr val="bg1"/>
                          </a:solidFill>
                          <a:latin typeface="EYInterstate Light" panose="02000506000000020004" pitchFamily="2" charset="0"/>
                          <a:ea typeface="+mn-ea"/>
                          <a:cs typeface="Arial" charset="0"/>
                        </a:rPr>
                        <a:t>Loan impairment review</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Loan impairment methodology and calculation review for a major European banking group in 8 countries across the region</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Review and methodology setup in major banks in 14 countries across Central and Southeast Europe</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Regular loan impairment review for statutory audit purposes at major banks operating in Central Europe</a:t>
                      </a:r>
                      <a:endParaRPr kumimoji="0" lang="en-GB" sz="900" b="0" i="0" u="none" strike="noStrike" cap="none" normalizeH="0" baseline="0" noProof="0" dirty="0">
                        <a:ln>
                          <a:noFill/>
                        </a:ln>
                        <a:solidFill>
                          <a:schemeClr val="bg1"/>
                        </a:solidFill>
                        <a:effectLst/>
                        <a:latin typeface="EYInterstate Light" panose="02000506000000020004" pitchFamily="2" charset="0"/>
                        <a:cs typeface="Arial" charset="0"/>
                      </a:endParaRPr>
                    </a:p>
                  </a:txBody>
                  <a:tcPr marL="0" marR="36000" marT="36000" marB="36000" horzOverflow="overflow">
                    <a:lnL cap="flat">
                      <a:noFill/>
                    </a:lnL>
                    <a:lnR>
                      <a:noFill/>
                    </a:lnR>
                    <a:lnT w="12700" cap="flat" cmpd="sng" algn="ctr">
                      <a:solidFill>
                        <a:srgbClr val="CCCBCD"/>
                      </a:solidFill>
                      <a:prstDash val="solid"/>
                      <a:round/>
                      <a:headEnd type="none" w="med" len="med"/>
                      <a:tailEnd type="none" w="med" len="med"/>
                    </a:lnT>
                    <a:lnB w="12700" cap="flat" cmpd="sng" algn="ctr">
                      <a:solidFill>
                        <a:srgbClr val="CCCBCD"/>
                      </a:solidFill>
                      <a:prstDash val="solid"/>
                      <a:round/>
                      <a:headEnd type="none" w="med" len="med"/>
                      <a:tailEnd type="none" w="med" len="med"/>
                    </a:lnB>
                    <a:lnTlToBr>
                      <a:noFill/>
                    </a:lnTlToBr>
                    <a:lnBlToTr>
                      <a:noFill/>
                    </a:lnBlToTr>
                    <a:noFill/>
                  </a:tcPr>
                </a:tc>
              </a:tr>
              <a:tr h="10208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94661" rtl="0" eaLnBrk="1" fontAlgn="auto" latinLnBrk="0" hangingPunct="1">
                        <a:lnSpc>
                          <a:spcPct val="100000"/>
                        </a:lnSpc>
                        <a:spcBef>
                          <a:spcPts val="0"/>
                        </a:spcBef>
                        <a:spcAft>
                          <a:spcPts val="200"/>
                        </a:spcAft>
                        <a:buClr>
                          <a:srgbClr val="FFE600"/>
                        </a:buClr>
                        <a:buSzTx/>
                        <a:buFont typeface="Arial" pitchFamily="34" charset="0"/>
                        <a:buNone/>
                        <a:tabLst>
                          <a:tab pos="2828201" algn="l"/>
                          <a:tab pos="4086569" algn="r"/>
                        </a:tabLst>
                        <a:defRPr/>
                      </a:pPr>
                      <a:r>
                        <a:rPr lang="en-US" sz="1100" b="0" dirty="0" smtClean="0">
                          <a:solidFill>
                            <a:schemeClr val="bg1"/>
                          </a:solidFill>
                          <a:latin typeface="EYInterstate Light" panose="02000506000000020004" pitchFamily="2" charset="0"/>
                          <a:ea typeface="+mn-ea"/>
                          <a:cs typeface="Arial" charset="0"/>
                        </a:rPr>
                        <a:t>Fair value and other IFRS topics</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Delivery of fair value methodology in Central European banks</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Delivery of a fair value module in a major Romanian bank</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Unwinding of interest methodology and calculation engine deployed in several financial institutions</a:t>
                      </a:r>
                      <a:endParaRPr kumimoji="0" lang="en-GB" sz="900" b="0" i="0" u="none" strike="noStrike" cap="none" normalizeH="0" baseline="0" noProof="0" dirty="0" smtClean="0">
                        <a:ln>
                          <a:noFill/>
                        </a:ln>
                        <a:solidFill>
                          <a:schemeClr val="bg1"/>
                        </a:solidFill>
                        <a:effectLst/>
                        <a:latin typeface="EYInterstate Light" panose="02000506000000020004" pitchFamily="2" charset="0"/>
                        <a:cs typeface="Arial" charset="0"/>
                      </a:endParaRPr>
                    </a:p>
                  </a:txBody>
                  <a:tcPr marL="0" marR="36000" marT="36000" marB="36000" horzOverflow="overflow">
                    <a:lnL cap="flat">
                      <a:noFill/>
                    </a:lnL>
                    <a:lnR>
                      <a:noFill/>
                    </a:lnR>
                    <a:lnT w="12700" cap="flat" cmpd="sng" algn="ctr">
                      <a:solidFill>
                        <a:srgbClr val="CCCBCD"/>
                      </a:solidFill>
                      <a:prstDash val="solid"/>
                      <a:round/>
                      <a:headEnd type="none" w="med" len="med"/>
                      <a:tailEnd type="none" w="med" len="med"/>
                    </a:lnT>
                    <a:lnB w="12700" cap="flat" cmpd="sng" algn="ctr">
                      <a:solidFill>
                        <a:srgbClr val="CCCBCD"/>
                      </a:solidFill>
                      <a:prstDash val="solid"/>
                      <a:round/>
                      <a:headEnd type="none" w="med" len="med"/>
                      <a:tailEnd type="none" w="med" len="med"/>
                    </a:lnB>
                    <a:lnTlToBr>
                      <a:noFill/>
                    </a:lnTlToBr>
                    <a:lnBlToTr>
                      <a:noFill/>
                    </a:lnBlToTr>
                    <a:noFill/>
                  </a:tcPr>
                </a:tc>
              </a:tr>
              <a:tr h="99453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94661" rtl="0" eaLnBrk="1" fontAlgn="auto" latinLnBrk="0" hangingPunct="1">
                        <a:lnSpc>
                          <a:spcPct val="100000"/>
                        </a:lnSpc>
                        <a:spcBef>
                          <a:spcPts val="0"/>
                        </a:spcBef>
                        <a:spcAft>
                          <a:spcPts val="200"/>
                        </a:spcAft>
                        <a:buClr>
                          <a:srgbClr val="FFE600"/>
                        </a:buClr>
                        <a:buSzTx/>
                        <a:buFont typeface="Arial" pitchFamily="34" charset="0"/>
                        <a:buNone/>
                        <a:tabLst>
                          <a:tab pos="2828201" algn="l"/>
                          <a:tab pos="4086569" algn="r"/>
                        </a:tabLst>
                        <a:defRPr/>
                      </a:pPr>
                      <a:r>
                        <a:rPr lang="en-US" sz="1100" b="0" dirty="0" smtClean="0">
                          <a:solidFill>
                            <a:schemeClr val="bg1"/>
                          </a:solidFill>
                          <a:latin typeface="EYInterstate Light" panose="02000506000000020004" pitchFamily="2" charset="0"/>
                          <a:ea typeface="+mn-ea"/>
                          <a:cs typeface="Arial" charset="0"/>
                        </a:rPr>
                        <a:t>Back-testing of loan provisions</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Delivery of a back-testing methodology and a back-testing module in several Central and South European banks</a:t>
                      </a:r>
                    </a:p>
                    <a:p>
                      <a:pPr marL="161131" lvl="0" indent="-161131" algn="l" defTabSz="994661" fontAlgn="auto">
                        <a:lnSpc>
                          <a:spcPct val="100000"/>
                        </a:lnSpc>
                        <a:spcBef>
                          <a:spcPts val="0"/>
                        </a:spcBef>
                        <a:spcAft>
                          <a:spcPts val="200"/>
                        </a:spcAft>
                        <a:buClr>
                          <a:srgbClr val="FFE600"/>
                        </a:buClr>
                        <a:buFont typeface="Arial" pitchFamily="34" charset="0"/>
                        <a:buChar char="►"/>
                        <a:tabLst>
                          <a:tab pos="2828201" algn="l"/>
                          <a:tab pos="4086569" algn="r"/>
                        </a:tabLst>
                      </a:pPr>
                      <a:r>
                        <a:rPr lang="en-US" sz="900" dirty="0" smtClean="0">
                          <a:solidFill>
                            <a:schemeClr val="bg1"/>
                          </a:solidFill>
                          <a:latin typeface="EYInterstate Light" panose="02000506000000020004" pitchFamily="2" charset="0"/>
                          <a:ea typeface="+mn-ea"/>
                          <a:cs typeface="Arial" charset="0"/>
                        </a:rPr>
                        <a:t>Performing back-testing analysis in major Slovak, Romanian and Moldavian</a:t>
                      </a:r>
                      <a:r>
                        <a:rPr lang="en-US" sz="900" baseline="0" dirty="0" smtClean="0">
                          <a:solidFill>
                            <a:schemeClr val="bg1"/>
                          </a:solidFill>
                          <a:latin typeface="EYInterstate Light" panose="02000506000000020004" pitchFamily="2" charset="0"/>
                          <a:ea typeface="+mn-ea"/>
                          <a:cs typeface="Arial" charset="0"/>
                        </a:rPr>
                        <a:t> </a:t>
                      </a:r>
                      <a:r>
                        <a:rPr lang="en-US" sz="900" dirty="0" smtClean="0">
                          <a:solidFill>
                            <a:schemeClr val="bg1"/>
                          </a:solidFill>
                          <a:latin typeface="EYInterstate Light" panose="02000506000000020004" pitchFamily="2" charset="0"/>
                          <a:ea typeface="+mn-ea"/>
                          <a:cs typeface="Arial" charset="0"/>
                        </a:rPr>
                        <a:t>banks</a:t>
                      </a:r>
                      <a:endParaRPr kumimoji="0" lang="en-GB" sz="900" b="0" i="0" u="none" strike="noStrike" cap="none" normalizeH="0" baseline="0" noProof="0" dirty="0" smtClean="0">
                        <a:ln>
                          <a:noFill/>
                        </a:ln>
                        <a:solidFill>
                          <a:schemeClr val="bg1"/>
                        </a:solidFill>
                        <a:effectLst/>
                        <a:latin typeface="EYInterstate Light" panose="02000506000000020004" pitchFamily="2" charset="0"/>
                        <a:cs typeface="Arial" charset="0"/>
                      </a:endParaRPr>
                    </a:p>
                  </a:txBody>
                  <a:tcPr marL="0" marR="36000" marT="36000" marB="36000" horzOverflow="overflow">
                    <a:lnL cap="flat">
                      <a:noFill/>
                    </a:lnL>
                    <a:lnR>
                      <a:noFill/>
                    </a:lnR>
                    <a:lnT w="12700" cap="flat" cmpd="sng" algn="ctr">
                      <a:solidFill>
                        <a:srgbClr val="CCCBCD"/>
                      </a:solidFill>
                      <a:prstDash val="solid"/>
                      <a:round/>
                      <a:headEnd type="none" w="med" len="med"/>
                      <a:tailEnd type="none" w="med" len="med"/>
                    </a:lnT>
                    <a:lnB w="12700" cap="flat" cmpd="sng" algn="ctr">
                      <a:solidFill>
                        <a:srgbClr val="CCCBCD"/>
                      </a:solidFill>
                      <a:prstDash val="solid"/>
                      <a:round/>
                      <a:headEnd type="none" w="med" len="med"/>
                      <a:tailEnd type="none" w="med" len="med"/>
                    </a:lnB>
                    <a:lnTlToBr>
                      <a:noFill/>
                    </a:lnTlToBr>
                    <a:lnBlToTr>
                      <a:noFill/>
                    </a:lnBlToTr>
                    <a:noFill/>
                  </a:tcPr>
                </a:tc>
              </a:tr>
            </a:tbl>
          </a:graphicData>
        </a:graphic>
      </p:graphicFrame>
      <p:sp>
        <p:nvSpPr>
          <p:cNvPr id="308" name="Rectangle 17"/>
          <p:cNvSpPr>
            <a:spLocks noChangeArrowheads="1"/>
          </p:cNvSpPr>
          <p:nvPr/>
        </p:nvSpPr>
        <p:spPr bwMode="gray">
          <a:xfrm>
            <a:off x="5504558" y="1969427"/>
            <a:ext cx="1285267" cy="169277"/>
          </a:xfrm>
          <a:prstGeom prst="rect">
            <a:avLst/>
          </a:prstGeom>
          <a:noFill/>
          <a:ln w="9525" algn="ctr">
            <a:noFill/>
            <a:miter lim="800000"/>
            <a:headEnd/>
            <a:tailEnd/>
          </a:ln>
          <a:effectLst/>
        </p:spPr>
        <p:txBody>
          <a:bodyPr wrap="square" lIns="0" tIns="0" rIns="0" bIns="0">
            <a:spAutoFit/>
          </a:bodyPr>
          <a:lstStyle/>
          <a:p>
            <a:pPr>
              <a:defRPr/>
            </a:pPr>
            <a:r>
              <a:rPr lang="en-US" sz="1100" b="1" kern="0" dirty="0">
                <a:solidFill>
                  <a:schemeClr val="bg1"/>
                </a:solidFill>
                <a:latin typeface="EYInterstate Light" panose="02000506000000020004" pitchFamily="2" charset="0"/>
              </a:rPr>
              <a:t>Highlights</a:t>
            </a:r>
          </a:p>
        </p:txBody>
      </p:sp>
      <p:sp>
        <p:nvSpPr>
          <p:cNvPr id="105" name="Footer Placeholder 3"/>
          <p:cNvSpPr>
            <a:spLocks noGrp="1"/>
          </p:cNvSpPr>
          <p:nvPr>
            <p:ph type="ftr" sz="quarter" idx="4294967295"/>
          </p:nvPr>
        </p:nvSpPr>
        <p:spPr>
          <a:xfrm>
            <a:off x="2588400" y="6503980"/>
            <a:ext cx="3434400" cy="201600"/>
          </a:xfrm>
          <a:prstGeom prst="rect">
            <a:avLst/>
          </a:prstGeom>
        </p:spPr>
        <p:txBody>
          <a:bodyPr lIns="0" tIns="0" rIns="0" bIns="0"/>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26892294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EYInterstate" panose="02000503020000020004" pitchFamily="2" charset="0"/>
              </a:rPr>
              <a:t>LIC Solution® key </a:t>
            </a:r>
            <a:r>
              <a:rPr lang="en-GB" dirty="0">
                <a:latin typeface="EYInterstate" panose="02000503020000020004" pitchFamily="2" charset="0"/>
              </a:rPr>
              <a:t>concepts</a:t>
            </a:r>
          </a:p>
        </p:txBody>
      </p:sp>
      <p:sp>
        <p:nvSpPr>
          <p:cNvPr id="16" name="Abgerundetes Rechteck 24"/>
          <p:cNvSpPr/>
          <p:nvPr/>
        </p:nvSpPr>
        <p:spPr bwMode="gray">
          <a:xfrm>
            <a:off x="1191491" y="1024584"/>
            <a:ext cx="7361382" cy="1045172"/>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792000" tIns="72000" rIns="108000" bIns="72000" anchor="ctr"/>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IFRS 9 compliant</a:t>
            </a:r>
            <a:endParaRPr lang="en-US" b="1" dirty="0">
              <a:solidFill>
                <a:srgbClr val="646464"/>
              </a:solidFill>
              <a:latin typeface="EYInterstate" panose="02000503020000020004" pitchFamily="2" charset="0"/>
              <a:cs typeface="Arial" charset="0"/>
            </a:endParaRPr>
          </a:p>
          <a:p>
            <a:pPr defTabSz="801688" eaLnBrk="0" hangingPunct="0">
              <a:lnSpc>
                <a:spcPct val="95000"/>
              </a:lnSpc>
              <a:spcAft>
                <a:spcPts val="800"/>
              </a:spcAft>
              <a:buClr>
                <a:srgbClr val="969696"/>
              </a:buClr>
              <a:defRPr/>
            </a:pPr>
            <a:r>
              <a:rPr lang="en-US" sz="1200" dirty="0" smtClean="0">
                <a:solidFill>
                  <a:srgbClr val="646464"/>
                </a:solidFill>
                <a:latin typeface="EYInterstate" panose="02000503020000020004" pitchFamily="2" charset="0"/>
                <a:cs typeface="Arial" charset="0"/>
              </a:rPr>
              <a:t>It is an easy to use solution that is capable of handling all of the upcoming challenges of IFRS 9 standard including:</a:t>
            </a:r>
          </a:p>
        </p:txBody>
      </p:sp>
      <p:sp>
        <p:nvSpPr>
          <p:cNvPr id="18" name="Abgerundetes Rechteck 24"/>
          <p:cNvSpPr/>
          <p:nvPr/>
        </p:nvSpPr>
        <p:spPr bwMode="gray">
          <a:xfrm>
            <a:off x="1191491" y="1900498"/>
            <a:ext cx="7361382" cy="613371"/>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792000" tIns="72000" rIns="108000" bIns="72000" numCol="2" anchor="ctr"/>
          <a:lstStyle/>
          <a:p>
            <a:pPr marL="272489" indent="-272489" defTabSz="912524">
              <a:buClr>
                <a:srgbClr val="FFD200"/>
              </a:buClr>
              <a:buSzPct val="70000"/>
              <a:buFont typeface="Arial" panose="020B0604020202020204" pitchFamily="34" charset="0"/>
              <a:buChar char="►"/>
            </a:pPr>
            <a:r>
              <a:rPr lang="en-US" sz="1200" dirty="0">
                <a:solidFill>
                  <a:srgbClr val="646464"/>
                </a:solidFill>
                <a:latin typeface="EYInterstate Light" pitchFamily="2" charset="0"/>
              </a:rPr>
              <a:t>Portfolio staging</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Lifetime PD, LGD, EAD modelling</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Lifetime and 12 month ECL calculation</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Scenario modelling</a:t>
            </a:r>
          </a:p>
        </p:txBody>
      </p:sp>
      <p:sp>
        <p:nvSpPr>
          <p:cNvPr id="28" name="Abgerundetes Rechteck 24"/>
          <p:cNvSpPr/>
          <p:nvPr/>
        </p:nvSpPr>
        <p:spPr bwMode="gray">
          <a:xfrm>
            <a:off x="1191491" y="4538892"/>
            <a:ext cx="7361382" cy="1044000"/>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792000" tIns="72000" rIns="108000" bIns="72000" anchor="ctr"/>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User-friendly</a:t>
            </a:r>
            <a:endParaRPr lang="en-US" b="1" dirty="0">
              <a:solidFill>
                <a:srgbClr val="646464"/>
              </a:solidFill>
              <a:latin typeface="EYInterstate" panose="02000503020000020004" pitchFamily="2" charset="0"/>
              <a:cs typeface="Arial" charset="0"/>
            </a:endParaRPr>
          </a:p>
          <a:p>
            <a:pPr defTabSz="801688" eaLnBrk="0" hangingPunct="0">
              <a:lnSpc>
                <a:spcPct val="95000"/>
              </a:lnSpc>
              <a:spcAft>
                <a:spcPts val="800"/>
              </a:spcAft>
              <a:buClr>
                <a:srgbClr val="969696"/>
              </a:buClr>
              <a:defRPr/>
            </a:pPr>
            <a:r>
              <a:rPr lang="en-US" sz="1200" dirty="0" smtClean="0">
                <a:solidFill>
                  <a:srgbClr val="646464"/>
                </a:solidFill>
                <a:latin typeface="EYInterstate" panose="02000503020000020004" pitchFamily="2" charset="0"/>
                <a:cs typeface="Arial" charset="0"/>
              </a:rPr>
              <a:t>LIC Solution® provides a user-friendly environment with the ability to control and track changes made by authorized users: </a:t>
            </a:r>
            <a:endParaRPr lang="en-US" sz="1200" dirty="0">
              <a:solidFill>
                <a:srgbClr val="646464"/>
              </a:solidFill>
              <a:latin typeface="EYInterstate" panose="02000503020000020004" pitchFamily="2" charset="0"/>
              <a:cs typeface="Arial" charset="0"/>
            </a:endParaRPr>
          </a:p>
        </p:txBody>
      </p:sp>
      <p:sp>
        <p:nvSpPr>
          <p:cNvPr id="29" name="Abgerundetes Rechteck 24"/>
          <p:cNvSpPr/>
          <p:nvPr/>
        </p:nvSpPr>
        <p:spPr bwMode="gray">
          <a:xfrm>
            <a:off x="1191490" y="5423298"/>
            <a:ext cx="7361382" cy="613371"/>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792000" tIns="72000" rIns="108000" bIns="72000" numCol="2" anchor="ctr"/>
          <a:lstStyle/>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Easy to use web-based interface</a:t>
            </a:r>
            <a:endParaRPr lang="en-US" sz="1200" dirty="0">
              <a:solidFill>
                <a:srgbClr val="646464"/>
              </a:solidFill>
              <a:latin typeface="EYInterstate Light" pitchFamily="2"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User role definition and audit trail </a:t>
            </a:r>
            <a:endParaRPr lang="en-US" sz="1200" dirty="0">
              <a:solidFill>
                <a:srgbClr val="646464"/>
              </a:solidFill>
              <a:latin typeface="EYInterstate Light" pitchFamily="2"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Functional accessibility based on user rights</a:t>
            </a:r>
          </a:p>
        </p:txBody>
      </p:sp>
      <p:sp>
        <p:nvSpPr>
          <p:cNvPr id="30" name="Abgerundetes Rechteck 24"/>
          <p:cNvSpPr/>
          <p:nvPr/>
        </p:nvSpPr>
        <p:spPr bwMode="gray">
          <a:xfrm>
            <a:off x="1191491" y="2785277"/>
            <a:ext cx="7361382" cy="1045172"/>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792000" tIns="72000" rIns="108000" bIns="72000" anchor="ctr"/>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Flexible</a:t>
            </a:r>
            <a:endParaRPr lang="en-US" b="1" dirty="0">
              <a:solidFill>
                <a:srgbClr val="646464"/>
              </a:solidFill>
              <a:latin typeface="EYInterstate" panose="02000503020000020004" pitchFamily="2" charset="0"/>
              <a:cs typeface="Arial" charset="0"/>
            </a:endParaRPr>
          </a:p>
          <a:p>
            <a:pPr defTabSz="801688" eaLnBrk="0" hangingPunct="0">
              <a:lnSpc>
                <a:spcPct val="95000"/>
              </a:lnSpc>
              <a:spcAft>
                <a:spcPts val="800"/>
              </a:spcAft>
              <a:buClr>
                <a:srgbClr val="969696"/>
              </a:buClr>
              <a:defRPr/>
            </a:pPr>
            <a:r>
              <a:rPr lang="en-US" sz="1200" dirty="0" smtClean="0">
                <a:solidFill>
                  <a:srgbClr val="646464"/>
                </a:solidFill>
                <a:latin typeface="EYInterstate" panose="02000503020000020004" pitchFamily="2" charset="0"/>
                <a:cs typeface="Arial" charset="0"/>
              </a:rPr>
              <a:t>LIC Solution® is flexible both in </a:t>
            </a:r>
            <a:r>
              <a:rPr lang="cs-CZ" sz="1200" dirty="0" err="1">
                <a:solidFill>
                  <a:srgbClr val="646464"/>
                </a:solidFill>
                <a:latin typeface="EYInterstate" panose="02000503020000020004" pitchFamily="2" charset="0"/>
                <a:cs typeface="Arial" charset="0"/>
              </a:rPr>
              <a:t>I</a:t>
            </a:r>
            <a:r>
              <a:rPr lang="cs-CZ" sz="1200" dirty="0" err="1" smtClean="0">
                <a:solidFill>
                  <a:srgbClr val="646464"/>
                </a:solidFill>
                <a:latin typeface="EYInterstate" panose="02000503020000020004" pitchFamily="2" charset="0"/>
                <a:cs typeface="Arial" charset="0"/>
              </a:rPr>
              <a:t>nstitution</a:t>
            </a:r>
            <a:r>
              <a:rPr lang="en-US" sz="1200" dirty="0" smtClean="0">
                <a:solidFill>
                  <a:srgbClr val="646464"/>
                </a:solidFill>
                <a:latin typeface="EYInterstate" panose="02000503020000020004" pitchFamily="2" charset="0"/>
                <a:cs typeface="Arial" charset="0"/>
              </a:rPr>
              <a:t>’s possible inputs and during calculation phase:</a:t>
            </a:r>
          </a:p>
        </p:txBody>
      </p:sp>
      <p:sp>
        <p:nvSpPr>
          <p:cNvPr id="32" name="Ellipse 22"/>
          <p:cNvSpPr/>
          <p:nvPr/>
        </p:nvSpPr>
        <p:spPr bwMode="gray">
          <a:xfrm>
            <a:off x="617808" y="1170628"/>
            <a:ext cx="1149129" cy="1149129"/>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33" name="Rad 23"/>
          <p:cNvSpPr/>
          <p:nvPr/>
        </p:nvSpPr>
        <p:spPr bwMode="gray">
          <a:xfrm>
            <a:off x="424978" y="1023536"/>
            <a:ext cx="1490334" cy="1490333"/>
          </a:xfrm>
          <a:prstGeom prst="donut">
            <a:avLst>
              <a:gd name="adj" fmla="val 15297"/>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a:solidFill>
                <a:srgbClr val="000000"/>
              </a:solidFill>
            </a:endParaRPr>
          </a:p>
        </p:txBody>
      </p:sp>
      <p:sp>
        <p:nvSpPr>
          <p:cNvPr id="24" name="Freeform 133"/>
          <p:cNvSpPr>
            <a:spLocks noEditPoints="1"/>
          </p:cNvSpPr>
          <p:nvPr/>
        </p:nvSpPr>
        <p:spPr bwMode="auto">
          <a:xfrm>
            <a:off x="835877" y="1363104"/>
            <a:ext cx="652936" cy="691131"/>
          </a:xfrm>
          <a:custGeom>
            <a:avLst/>
            <a:gdLst>
              <a:gd name="T0" fmla="*/ 72 w 176"/>
              <a:gd name="T1" fmla="*/ 112 h 160"/>
              <a:gd name="T2" fmla="*/ 72 w 176"/>
              <a:gd name="T3" fmla="*/ 96 h 160"/>
              <a:gd name="T4" fmla="*/ 76 w 176"/>
              <a:gd name="T5" fmla="*/ 92 h 160"/>
              <a:gd name="T6" fmla="*/ 100 w 176"/>
              <a:gd name="T7" fmla="*/ 92 h 160"/>
              <a:gd name="T8" fmla="*/ 104 w 176"/>
              <a:gd name="T9" fmla="*/ 96 h 160"/>
              <a:gd name="T10" fmla="*/ 104 w 176"/>
              <a:gd name="T11" fmla="*/ 112 h 160"/>
              <a:gd name="T12" fmla="*/ 100 w 176"/>
              <a:gd name="T13" fmla="*/ 116 h 160"/>
              <a:gd name="T14" fmla="*/ 76 w 176"/>
              <a:gd name="T15" fmla="*/ 116 h 160"/>
              <a:gd name="T16" fmla="*/ 72 w 176"/>
              <a:gd name="T17" fmla="*/ 112 h 160"/>
              <a:gd name="T18" fmla="*/ 112 w 176"/>
              <a:gd name="T19" fmla="*/ 110 h 160"/>
              <a:gd name="T20" fmla="*/ 112 w 176"/>
              <a:gd name="T21" fmla="*/ 112 h 160"/>
              <a:gd name="T22" fmla="*/ 100 w 176"/>
              <a:gd name="T23" fmla="*/ 124 h 160"/>
              <a:gd name="T24" fmla="*/ 76 w 176"/>
              <a:gd name="T25" fmla="*/ 124 h 160"/>
              <a:gd name="T26" fmla="*/ 64 w 176"/>
              <a:gd name="T27" fmla="*/ 112 h 160"/>
              <a:gd name="T28" fmla="*/ 64 w 176"/>
              <a:gd name="T29" fmla="*/ 110 h 160"/>
              <a:gd name="T30" fmla="*/ 8 w 176"/>
              <a:gd name="T31" fmla="*/ 103 h 160"/>
              <a:gd name="T32" fmla="*/ 0 w 176"/>
              <a:gd name="T33" fmla="*/ 100 h 160"/>
              <a:gd name="T34" fmla="*/ 0 w 176"/>
              <a:gd name="T35" fmla="*/ 152 h 160"/>
              <a:gd name="T36" fmla="*/ 8 w 176"/>
              <a:gd name="T37" fmla="*/ 160 h 160"/>
              <a:gd name="T38" fmla="*/ 168 w 176"/>
              <a:gd name="T39" fmla="*/ 160 h 160"/>
              <a:gd name="T40" fmla="*/ 176 w 176"/>
              <a:gd name="T41" fmla="*/ 152 h 160"/>
              <a:gd name="T42" fmla="*/ 176 w 176"/>
              <a:gd name="T43" fmla="*/ 100 h 160"/>
              <a:gd name="T44" fmla="*/ 168 w 176"/>
              <a:gd name="T45" fmla="*/ 103 h 160"/>
              <a:gd name="T46" fmla="*/ 112 w 176"/>
              <a:gd name="T47" fmla="*/ 110 h 160"/>
              <a:gd name="T48" fmla="*/ 168 w 176"/>
              <a:gd name="T49" fmla="*/ 40 h 160"/>
              <a:gd name="T50" fmla="*/ 8 w 176"/>
              <a:gd name="T51" fmla="*/ 40 h 160"/>
              <a:gd name="T52" fmla="*/ 0 w 176"/>
              <a:gd name="T53" fmla="*/ 48 h 160"/>
              <a:gd name="T54" fmla="*/ 0 w 176"/>
              <a:gd name="T55" fmla="*/ 84 h 160"/>
              <a:gd name="T56" fmla="*/ 9 w 176"/>
              <a:gd name="T57" fmla="*/ 94 h 160"/>
              <a:gd name="T58" fmla="*/ 64 w 176"/>
              <a:gd name="T59" fmla="*/ 101 h 160"/>
              <a:gd name="T60" fmla="*/ 64 w 176"/>
              <a:gd name="T61" fmla="*/ 96 h 160"/>
              <a:gd name="T62" fmla="*/ 76 w 176"/>
              <a:gd name="T63" fmla="*/ 84 h 160"/>
              <a:gd name="T64" fmla="*/ 100 w 176"/>
              <a:gd name="T65" fmla="*/ 84 h 160"/>
              <a:gd name="T66" fmla="*/ 112 w 176"/>
              <a:gd name="T67" fmla="*/ 96 h 160"/>
              <a:gd name="T68" fmla="*/ 112 w 176"/>
              <a:gd name="T69" fmla="*/ 101 h 160"/>
              <a:gd name="T70" fmla="*/ 167 w 176"/>
              <a:gd name="T71" fmla="*/ 94 h 160"/>
              <a:gd name="T72" fmla="*/ 176 w 176"/>
              <a:gd name="T73" fmla="*/ 84 h 160"/>
              <a:gd name="T74" fmla="*/ 176 w 176"/>
              <a:gd name="T75" fmla="*/ 48 h 160"/>
              <a:gd name="T76" fmla="*/ 168 w 176"/>
              <a:gd name="T77" fmla="*/ 40 h 160"/>
              <a:gd name="T78" fmla="*/ 64 w 176"/>
              <a:gd name="T79" fmla="*/ 32 h 160"/>
              <a:gd name="T80" fmla="*/ 64 w 176"/>
              <a:gd name="T81" fmla="*/ 18 h 160"/>
              <a:gd name="T82" fmla="*/ 68 w 176"/>
              <a:gd name="T83" fmla="*/ 14 h 160"/>
              <a:gd name="T84" fmla="*/ 108 w 176"/>
              <a:gd name="T85" fmla="*/ 14 h 160"/>
              <a:gd name="T86" fmla="*/ 112 w 176"/>
              <a:gd name="T87" fmla="*/ 18 h 160"/>
              <a:gd name="T88" fmla="*/ 112 w 176"/>
              <a:gd name="T89" fmla="*/ 32 h 160"/>
              <a:gd name="T90" fmla="*/ 128 w 176"/>
              <a:gd name="T91" fmla="*/ 32 h 160"/>
              <a:gd name="T92" fmla="*/ 128 w 176"/>
              <a:gd name="T93" fmla="*/ 16 h 160"/>
              <a:gd name="T94" fmla="*/ 112 w 176"/>
              <a:gd name="T95" fmla="*/ 0 h 160"/>
              <a:gd name="T96" fmla="*/ 64 w 176"/>
              <a:gd name="T97" fmla="*/ 0 h 160"/>
              <a:gd name="T98" fmla="*/ 48 w 176"/>
              <a:gd name="T99" fmla="*/ 16 h 160"/>
              <a:gd name="T100" fmla="*/ 48 w 176"/>
              <a:gd name="T101" fmla="*/ 32 h 160"/>
              <a:gd name="T102" fmla="*/ 64 w 176"/>
              <a:gd name="T103" fmla="*/ 3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 h="160">
                <a:moveTo>
                  <a:pt x="72" y="112"/>
                </a:moveTo>
                <a:cubicBezTo>
                  <a:pt x="72" y="96"/>
                  <a:pt x="72" y="96"/>
                  <a:pt x="72" y="96"/>
                </a:cubicBezTo>
                <a:cubicBezTo>
                  <a:pt x="72" y="94"/>
                  <a:pt x="74" y="92"/>
                  <a:pt x="76" y="92"/>
                </a:cubicBezTo>
                <a:cubicBezTo>
                  <a:pt x="100" y="92"/>
                  <a:pt x="100" y="92"/>
                  <a:pt x="100" y="92"/>
                </a:cubicBezTo>
                <a:cubicBezTo>
                  <a:pt x="102" y="92"/>
                  <a:pt x="104" y="94"/>
                  <a:pt x="104" y="96"/>
                </a:cubicBezTo>
                <a:cubicBezTo>
                  <a:pt x="104" y="112"/>
                  <a:pt x="104" y="112"/>
                  <a:pt x="104" y="112"/>
                </a:cubicBezTo>
                <a:cubicBezTo>
                  <a:pt x="104" y="114"/>
                  <a:pt x="102" y="116"/>
                  <a:pt x="100" y="116"/>
                </a:cubicBezTo>
                <a:cubicBezTo>
                  <a:pt x="76" y="116"/>
                  <a:pt x="76" y="116"/>
                  <a:pt x="76" y="116"/>
                </a:cubicBezTo>
                <a:cubicBezTo>
                  <a:pt x="74" y="116"/>
                  <a:pt x="72" y="114"/>
                  <a:pt x="72" y="112"/>
                </a:cubicBezTo>
                <a:close/>
                <a:moveTo>
                  <a:pt x="112" y="110"/>
                </a:moveTo>
                <a:cubicBezTo>
                  <a:pt x="112" y="112"/>
                  <a:pt x="112" y="112"/>
                  <a:pt x="112" y="112"/>
                </a:cubicBezTo>
                <a:cubicBezTo>
                  <a:pt x="112" y="118"/>
                  <a:pt x="107" y="124"/>
                  <a:pt x="100" y="124"/>
                </a:cubicBezTo>
                <a:cubicBezTo>
                  <a:pt x="76" y="124"/>
                  <a:pt x="76" y="124"/>
                  <a:pt x="76" y="124"/>
                </a:cubicBezTo>
                <a:cubicBezTo>
                  <a:pt x="69" y="124"/>
                  <a:pt x="64" y="118"/>
                  <a:pt x="64" y="112"/>
                </a:cubicBezTo>
                <a:cubicBezTo>
                  <a:pt x="64" y="110"/>
                  <a:pt x="64" y="110"/>
                  <a:pt x="64" y="110"/>
                </a:cubicBezTo>
                <a:cubicBezTo>
                  <a:pt x="8" y="103"/>
                  <a:pt x="8" y="103"/>
                  <a:pt x="8" y="103"/>
                </a:cubicBezTo>
                <a:cubicBezTo>
                  <a:pt x="5" y="103"/>
                  <a:pt x="2" y="101"/>
                  <a:pt x="0" y="100"/>
                </a:cubicBezTo>
                <a:cubicBezTo>
                  <a:pt x="0" y="152"/>
                  <a:pt x="0" y="152"/>
                  <a:pt x="0" y="152"/>
                </a:cubicBezTo>
                <a:cubicBezTo>
                  <a:pt x="0" y="156"/>
                  <a:pt x="4" y="160"/>
                  <a:pt x="8" y="160"/>
                </a:cubicBezTo>
                <a:cubicBezTo>
                  <a:pt x="168" y="160"/>
                  <a:pt x="168" y="160"/>
                  <a:pt x="168" y="160"/>
                </a:cubicBezTo>
                <a:cubicBezTo>
                  <a:pt x="172" y="160"/>
                  <a:pt x="176" y="156"/>
                  <a:pt x="176" y="152"/>
                </a:cubicBezTo>
                <a:cubicBezTo>
                  <a:pt x="176" y="100"/>
                  <a:pt x="176" y="100"/>
                  <a:pt x="176" y="100"/>
                </a:cubicBezTo>
                <a:cubicBezTo>
                  <a:pt x="174" y="101"/>
                  <a:pt x="171" y="103"/>
                  <a:pt x="168" y="103"/>
                </a:cubicBezTo>
                <a:lnTo>
                  <a:pt x="112" y="110"/>
                </a:lnTo>
                <a:close/>
                <a:moveTo>
                  <a:pt x="168" y="40"/>
                </a:moveTo>
                <a:cubicBezTo>
                  <a:pt x="8" y="40"/>
                  <a:pt x="8" y="40"/>
                  <a:pt x="8" y="40"/>
                </a:cubicBezTo>
                <a:cubicBezTo>
                  <a:pt x="4" y="40"/>
                  <a:pt x="0" y="43"/>
                  <a:pt x="0" y="48"/>
                </a:cubicBezTo>
                <a:cubicBezTo>
                  <a:pt x="0" y="84"/>
                  <a:pt x="0" y="84"/>
                  <a:pt x="0" y="84"/>
                </a:cubicBezTo>
                <a:cubicBezTo>
                  <a:pt x="0" y="88"/>
                  <a:pt x="4" y="93"/>
                  <a:pt x="9" y="94"/>
                </a:cubicBezTo>
                <a:cubicBezTo>
                  <a:pt x="64" y="101"/>
                  <a:pt x="64" y="101"/>
                  <a:pt x="64" y="101"/>
                </a:cubicBezTo>
                <a:cubicBezTo>
                  <a:pt x="64" y="96"/>
                  <a:pt x="64" y="96"/>
                  <a:pt x="64" y="96"/>
                </a:cubicBezTo>
                <a:cubicBezTo>
                  <a:pt x="64" y="89"/>
                  <a:pt x="69" y="84"/>
                  <a:pt x="76" y="84"/>
                </a:cubicBezTo>
                <a:cubicBezTo>
                  <a:pt x="100" y="84"/>
                  <a:pt x="100" y="84"/>
                  <a:pt x="100" y="84"/>
                </a:cubicBezTo>
                <a:cubicBezTo>
                  <a:pt x="107" y="84"/>
                  <a:pt x="112" y="89"/>
                  <a:pt x="112" y="96"/>
                </a:cubicBezTo>
                <a:cubicBezTo>
                  <a:pt x="112" y="101"/>
                  <a:pt x="112" y="101"/>
                  <a:pt x="112" y="101"/>
                </a:cubicBezTo>
                <a:cubicBezTo>
                  <a:pt x="167" y="94"/>
                  <a:pt x="167" y="94"/>
                  <a:pt x="167" y="94"/>
                </a:cubicBezTo>
                <a:cubicBezTo>
                  <a:pt x="172" y="93"/>
                  <a:pt x="176" y="88"/>
                  <a:pt x="176" y="84"/>
                </a:cubicBezTo>
                <a:cubicBezTo>
                  <a:pt x="176" y="48"/>
                  <a:pt x="176" y="48"/>
                  <a:pt x="176" y="48"/>
                </a:cubicBezTo>
                <a:cubicBezTo>
                  <a:pt x="176" y="43"/>
                  <a:pt x="172" y="40"/>
                  <a:pt x="168" y="40"/>
                </a:cubicBezTo>
                <a:close/>
                <a:moveTo>
                  <a:pt x="64" y="32"/>
                </a:moveTo>
                <a:cubicBezTo>
                  <a:pt x="64" y="18"/>
                  <a:pt x="64" y="18"/>
                  <a:pt x="64" y="18"/>
                </a:cubicBezTo>
                <a:cubicBezTo>
                  <a:pt x="64" y="16"/>
                  <a:pt x="66" y="14"/>
                  <a:pt x="68" y="14"/>
                </a:cubicBezTo>
                <a:cubicBezTo>
                  <a:pt x="108" y="14"/>
                  <a:pt x="108" y="14"/>
                  <a:pt x="108" y="14"/>
                </a:cubicBezTo>
                <a:cubicBezTo>
                  <a:pt x="110" y="14"/>
                  <a:pt x="112" y="16"/>
                  <a:pt x="112" y="18"/>
                </a:cubicBezTo>
                <a:cubicBezTo>
                  <a:pt x="112" y="32"/>
                  <a:pt x="112" y="32"/>
                  <a:pt x="112" y="32"/>
                </a:cubicBezTo>
                <a:cubicBezTo>
                  <a:pt x="128" y="32"/>
                  <a:pt x="128" y="32"/>
                  <a:pt x="128" y="32"/>
                </a:cubicBezTo>
                <a:cubicBezTo>
                  <a:pt x="128" y="16"/>
                  <a:pt x="128" y="16"/>
                  <a:pt x="128" y="16"/>
                </a:cubicBezTo>
                <a:cubicBezTo>
                  <a:pt x="128" y="7"/>
                  <a:pt x="121" y="0"/>
                  <a:pt x="112" y="0"/>
                </a:cubicBezTo>
                <a:cubicBezTo>
                  <a:pt x="64" y="0"/>
                  <a:pt x="64" y="0"/>
                  <a:pt x="64" y="0"/>
                </a:cubicBezTo>
                <a:cubicBezTo>
                  <a:pt x="55" y="0"/>
                  <a:pt x="48" y="7"/>
                  <a:pt x="48" y="16"/>
                </a:cubicBezTo>
                <a:cubicBezTo>
                  <a:pt x="48" y="32"/>
                  <a:pt x="48" y="32"/>
                  <a:pt x="48" y="32"/>
                </a:cubicBezTo>
                <a:lnTo>
                  <a:pt x="64" y="3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endParaRPr lang="en-US" sz="1600">
              <a:solidFill>
                <a:srgbClr val="000000"/>
              </a:solidFill>
            </a:endParaRPr>
          </a:p>
        </p:txBody>
      </p:sp>
      <p:sp>
        <p:nvSpPr>
          <p:cNvPr id="27" name="Abgerundetes Rechteck 24"/>
          <p:cNvSpPr/>
          <p:nvPr/>
        </p:nvSpPr>
        <p:spPr bwMode="gray">
          <a:xfrm>
            <a:off x="1191491" y="3659233"/>
            <a:ext cx="7361382" cy="613371"/>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792000" tIns="72000" rIns="108000" bIns="72000" numCol="2" anchor="ctr"/>
          <a:lstStyle/>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Alternative structure of inputs</a:t>
            </a:r>
          </a:p>
          <a:p>
            <a:pPr marL="272489" indent="-272489" defTabSz="912524">
              <a:buClr>
                <a:srgbClr val="FFD200"/>
              </a:buClr>
              <a:buSzPct val="70000"/>
              <a:buFont typeface="Arial" panose="020B0604020202020204" pitchFamily="34" charset="0"/>
              <a:buChar char="►"/>
            </a:pPr>
            <a:r>
              <a:rPr lang="en-US" sz="1200" dirty="0">
                <a:solidFill>
                  <a:srgbClr val="646464"/>
                </a:solidFill>
                <a:latin typeface="EYInterstate Light" pitchFamily="2" charset="0"/>
              </a:rPr>
              <a:t>Calculation run </a:t>
            </a:r>
            <a:r>
              <a:rPr lang="en-US" sz="1200" dirty="0" smtClean="0">
                <a:solidFill>
                  <a:srgbClr val="646464"/>
                </a:solidFill>
                <a:latin typeface="EYInterstate Light" pitchFamily="2" charset="0"/>
              </a:rPr>
              <a:t>configuration</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Variety of operational simplifications</a:t>
            </a:r>
            <a:endParaRPr lang="en-US" sz="1200" dirty="0">
              <a:solidFill>
                <a:srgbClr val="646464"/>
              </a:solidFill>
              <a:latin typeface="EYInterstate Light" pitchFamily="2" charset="0"/>
            </a:endParaRPr>
          </a:p>
        </p:txBody>
      </p:sp>
      <p:sp>
        <p:nvSpPr>
          <p:cNvPr id="34" name="Ellipse 22"/>
          <p:cNvSpPr/>
          <p:nvPr/>
        </p:nvSpPr>
        <p:spPr bwMode="gray">
          <a:xfrm>
            <a:off x="617808" y="2932369"/>
            <a:ext cx="1146812" cy="1146812"/>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35" name="Rad 23"/>
          <p:cNvSpPr/>
          <p:nvPr/>
        </p:nvSpPr>
        <p:spPr bwMode="gray">
          <a:xfrm>
            <a:off x="424978" y="2785277"/>
            <a:ext cx="1487328" cy="1487327"/>
          </a:xfrm>
          <a:prstGeom prst="donut">
            <a:avLst>
              <a:gd name="adj" fmla="val 15297"/>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a:solidFill>
                <a:srgbClr val="000000"/>
              </a:solidFill>
            </a:endParaRPr>
          </a:p>
        </p:txBody>
      </p:sp>
      <p:sp>
        <p:nvSpPr>
          <p:cNvPr id="26" name="Freeform 114"/>
          <p:cNvSpPr>
            <a:spLocks noEditPoints="1"/>
          </p:cNvSpPr>
          <p:nvPr/>
        </p:nvSpPr>
        <p:spPr bwMode="auto">
          <a:xfrm>
            <a:off x="867442" y="3217022"/>
            <a:ext cx="605405" cy="635004"/>
          </a:xfrm>
          <a:custGeom>
            <a:avLst/>
            <a:gdLst>
              <a:gd name="T0" fmla="*/ 52 w 176"/>
              <a:gd name="T1" fmla="*/ 100 h 152"/>
              <a:gd name="T2" fmla="*/ 24 w 176"/>
              <a:gd name="T3" fmla="*/ 88 h 152"/>
              <a:gd name="T4" fmla="*/ 56 w 176"/>
              <a:gd name="T5" fmla="*/ 88 h 152"/>
              <a:gd name="T6" fmla="*/ 72 w 176"/>
              <a:gd name="T7" fmla="*/ 56 h 152"/>
              <a:gd name="T8" fmla="*/ 100 w 176"/>
              <a:gd name="T9" fmla="*/ 68 h 152"/>
              <a:gd name="T10" fmla="*/ 100 w 176"/>
              <a:gd name="T11" fmla="*/ 52 h 152"/>
              <a:gd name="T12" fmla="*/ 120 w 176"/>
              <a:gd name="T13" fmla="*/ 76 h 152"/>
              <a:gd name="T14" fmla="*/ 148 w 176"/>
              <a:gd name="T15" fmla="*/ 88 h 152"/>
              <a:gd name="T16" fmla="*/ 148 w 176"/>
              <a:gd name="T17" fmla="*/ 72 h 152"/>
              <a:gd name="T18" fmla="*/ 136 w 176"/>
              <a:gd name="T19" fmla="*/ 24 h 152"/>
              <a:gd name="T20" fmla="*/ 140 w 176"/>
              <a:gd name="T21" fmla="*/ 68 h 152"/>
              <a:gd name="T22" fmla="*/ 40 w 176"/>
              <a:gd name="T23" fmla="*/ 24 h 152"/>
              <a:gd name="T24" fmla="*/ 44 w 176"/>
              <a:gd name="T25" fmla="*/ 80 h 152"/>
              <a:gd name="T26" fmla="*/ 88 w 176"/>
              <a:gd name="T27" fmla="*/ 24 h 152"/>
              <a:gd name="T28" fmla="*/ 92 w 176"/>
              <a:gd name="T29" fmla="*/ 48 h 152"/>
              <a:gd name="T30" fmla="*/ 136 w 176"/>
              <a:gd name="T31" fmla="*/ 128 h 152"/>
              <a:gd name="T32" fmla="*/ 132 w 176"/>
              <a:gd name="T33" fmla="*/ 92 h 152"/>
              <a:gd name="T34" fmla="*/ 40 w 176"/>
              <a:gd name="T35" fmla="*/ 128 h 152"/>
              <a:gd name="T36" fmla="*/ 36 w 176"/>
              <a:gd name="T37" fmla="*/ 104 h 152"/>
              <a:gd name="T38" fmla="*/ 88 w 176"/>
              <a:gd name="T39" fmla="*/ 128 h 152"/>
              <a:gd name="T40" fmla="*/ 84 w 176"/>
              <a:gd name="T41" fmla="*/ 72 h 152"/>
              <a:gd name="T42" fmla="*/ 160 w 176"/>
              <a:gd name="T43" fmla="*/ 152 h 152"/>
              <a:gd name="T44" fmla="*/ 0 w 176"/>
              <a:gd name="T45" fmla="*/ 16 h 152"/>
              <a:gd name="T46" fmla="*/ 176 w 176"/>
              <a:gd name="T47" fmla="*/ 16 h 152"/>
              <a:gd name="T48" fmla="*/ 48 w 176"/>
              <a:gd name="T49" fmla="*/ 80 h 152"/>
              <a:gd name="T50" fmla="*/ 32 w 176"/>
              <a:gd name="T51" fmla="*/ 28 h 152"/>
              <a:gd name="T52" fmla="*/ 20 w 176"/>
              <a:gd name="T53" fmla="*/ 88 h 152"/>
              <a:gd name="T54" fmla="*/ 32 w 176"/>
              <a:gd name="T55" fmla="*/ 104 h 152"/>
              <a:gd name="T56" fmla="*/ 48 w 176"/>
              <a:gd name="T57" fmla="*/ 124 h 152"/>
              <a:gd name="T58" fmla="*/ 60 w 176"/>
              <a:gd name="T59" fmla="*/ 96 h 152"/>
              <a:gd name="T60" fmla="*/ 100 w 176"/>
              <a:gd name="T61" fmla="*/ 48 h 152"/>
              <a:gd name="T62" fmla="*/ 88 w 176"/>
              <a:gd name="T63" fmla="*/ 20 h 152"/>
              <a:gd name="T64" fmla="*/ 76 w 176"/>
              <a:gd name="T65" fmla="*/ 48 h 152"/>
              <a:gd name="T66" fmla="*/ 76 w 176"/>
              <a:gd name="T67" fmla="*/ 72 h 152"/>
              <a:gd name="T68" fmla="*/ 88 w 176"/>
              <a:gd name="T69" fmla="*/ 132 h 152"/>
              <a:gd name="T70" fmla="*/ 100 w 176"/>
              <a:gd name="T71" fmla="*/ 72 h 152"/>
              <a:gd name="T72" fmla="*/ 156 w 176"/>
              <a:gd name="T73" fmla="*/ 76 h 152"/>
              <a:gd name="T74" fmla="*/ 144 w 176"/>
              <a:gd name="T75" fmla="*/ 28 h 152"/>
              <a:gd name="T76" fmla="*/ 128 w 176"/>
              <a:gd name="T77" fmla="*/ 68 h 152"/>
              <a:gd name="T78" fmla="*/ 116 w 176"/>
              <a:gd name="T79" fmla="*/ 84 h 152"/>
              <a:gd name="T80" fmla="*/ 128 w 176"/>
              <a:gd name="T81" fmla="*/ 124 h 152"/>
              <a:gd name="T82" fmla="*/ 144 w 176"/>
              <a:gd name="T83" fmla="*/ 92 h 152"/>
              <a:gd name="T84" fmla="*/ 156 w 176"/>
              <a:gd name="T85" fmla="*/ 7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6" h="152">
                <a:moveTo>
                  <a:pt x="56" y="88"/>
                </a:moveTo>
                <a:cubicBezTo>
                  <a:pt x="56" y="96"/>
                  <a:pt x="56" y="96"/>
                  <a:pt x="56" y="96"/>
                </a:cubicBezTo>
                <a:cubicBezTo>
                  <a:pt x="56" y="98"/>
                  <a:pt x="55" y="100"/>
                  <a:pt x="52" y="100"/>
                </a:cubicBezTo>
                <a:cubicBezTo>
                  <a:pt x="28" y="100"/>
                  <a:pt x="28" y="100"/>
                  <a:pt x="28" y="100"/>
                </a:cubicBezTo>
                <a:cubicBezTo>
                  <a:pt x="26" y="100"/>
                  <a:pt x="24" y="98"/>
                  <a:pt x="24" y="96"/>
                </a:cubicBezTo>
                <a:cubicBezTo>
                  <a:pt x="24" y="88"/>
                  <a:pt x="24" y="88"/>
                  <a:pt x="24" y="88"/>
                </a:cubicBezTo>
                <a:cubicBezTo>
                  <a:pt x="24" y="86"/>
                  <a:pt x="26" y="84"/>
                  <a:pt x="28" y="84"/>
                </a:cubicBezTo>
                <a:cubicBezTo>
                  <a:pt x="52" y="84"/>
                  <a:pt x="52" y="84"/>
                  <a:pt x="52" y="84"/>
                </a:cubicBezTo>
                <a:cubicBezTo>
                  <a:pt x="55" y="84"/>
                  <a:pt x="56" y="86"/>
                  <a:pt x="56" y="88"/>
                </a:cubicBezTo>
                <a:close/>
                <a:moveTo>
                  <a:pt x="100" y="52"/>
                </a:moveTo>
                <a:cubicBezTo>
                  <a:pt x="76" y="52"/>
                  <a:pt x="76" y="52"/>
                  <a:pt x="76" y="52"/>
                </a:cubicBezTo>
                <a:cubicBezTo>
                  <a:pt x="74" y="52"/>
                  <a:pt x="72" y="54"/>
                  <a:pt x="72" y="56"/>
                </a:cubicBezTo>
                <a:cubicBezTo>
                  <a:pt x="72" y="64"/>
                  <a:pt x="72" y="64"/>
                  <a:pt x="72" y="64"/>
                </a:cubicBezTo>
                <a:cubicBezTo>
                  <a:pt x="72" y="66"/>
                  <a:pt x="74" y="68"/>
                  <a:pt x="76" y="68"/>
                </a:cubicBezTo>
                <a:cubicBezTo>
                  <a:pt x="100" y="68"/>
                  <a:pt x="100" y="68"/>
                  <a:pt x="100" y="68"/>
                </a:cubicBezTo>
                <a:cubicBezTo>
                  <a:pt x="103" y="68"/>
                  <a:pt x="104" y="66"/>
                  <a:pt x="104" y="64"/>
                </a:cubicBezTo>
                <a:cubicBezTo>
                  <a:pt x="104" y="56"/>
                  <a:pt x="104" y="56"/>
                  <a:pt x="104" y="56"/>
                </a:cubicBezTo>
                <a:cubicBezTo>
                  <a:pt x="104" y="54"/>
                  <a:pt x="103" y="52"/>
                  <a:pt x="100" y="52"/>
                </a:cubicBezTo>
                <a:close/>
                <a:moveTo>
                  <a:pt x="148" y="72"/>
                </a:moveTo>
                <a:cubicBezTo>
                  <a:pt x="124" y="72"/>
                  <a:pt x="124" y="72"/>
                  <a:pt x="124" y="72"/>
                </a:cubicBezTo>
                <a:cubicBezTo>
                  <a:pt x="122" y="72"/>
                  <a:pt x="120" y="74"/>
                  <a:pt x="120" y="76"/>
                </a:cubicBezTo>
                <a:cubicBezTo>
                  <a:pt x="120" y="84"/>
                  <a:pt x="120" y="84"/>
                  <a:pt x="120" y="84"/>
                </a:cubicBezTo>
                <a:cubicBezTo>
                  <a:pt x="120" y="86"/>
                  <a:pt x="122" y="88"/>
                  <a:pt x="124" y="88"/>
                </a:cubicBezTo>
                <a:cubicBezTo>
                  <a:pt x="148" y="88"/>
                  <a:pt x="148" y="88"/>
                  <a:pt x="148" y="88"/>
                </a:cubicBezTo>
                <a:cubicBezTo>
                  <a:pt x="151" y="88"/>
                  <a:pt x="152" y="86"/>
                  <a:pt x="152" y="84"/>
                </a:cubicBezTo>
                <a:cubicBezTo>
                  <a:pt x="152" y="76"/>
                  <a:pt x="152" y="76"/>
                  <a:pt x="152" y="76"/>
                </a:cubicBezTo>
                <a:cubicBezTo>
                  <a:pt x="152" y="74"/>
                  <a:pt x="151" y="72"/>
                  <a:pt x="148" y="72"/>
                </a:cubicBezTo>
                <a:close/>
                <a:moveTo>
                  <a:pt x="140" y="68"/>
                </a:moveTo>
                <a:cubicBezTo>
                  <a:pt x="140" y="28"/>
                  <a:pt x="140" y="28"/>
                  <a:pt x="140" y="28"/>
                </a:cubicBezTo>
                <a:cubicBezTo>
                  <a:pt x="140" y="26"/>
                  <a:pt x="139" y="24"/>
                  <a:pt x="136" y="24"/>
                </a:cubicBezTo>
                <a:cubicBezTo>
                  <a:pt x="134" y="24"/>
                  <a:pt x="132" y="26"/>
                  <a:pt x="132" y="28"/>
                </a:cubicBezTo>
                <a:cubicBezTo>
                  <a:pt x="132" y="68"/>
                  <a:pt x="132" y="68"/>
                  <a:pt x="132" y="68"/>
                </a:cubicBezTo>
                <a:lnTo>
                  <a:pt x="140" y="68"/>
                </a:lnTo>
                <a:close/>
                <a:moveTo>
                  <a:pt x="44" y="80"/>
                </a:moveTo>
                <a:cubicBezTo>
                  <a:pt x="44" y="28"/>
                  <a:pt x="44" y="28"/>
                  <a:pt x="44" y="28"/>
                </a:cubicBezTo>
                <a:cubicBezTo>
                  <a:pt x="44" y="26"/>
                  <a:pt x="43" y="24"/>
                  <a:pt x="40" y="24"/>
                </a:cubicBezTo>
                <a:cubicBezTo>
                  <a:pt x="38" y="24"/>
                  <a:pt x="36" y="26"/>
                  <a:pt x="36" y="28"/>
                </a:cubicBezTo>
                <a:cubicBezTo>
                  <a:pt x="36" y="80"/>
                  <a:pt x="36" y="80"/>
                  <a:pt x="36" y="80"/>
                </a:cubicBezTo>
                <a:lnTo>
                  <a:pt x="44" y="80"/>
                </a:lnTo>
                <a:close/>
                <a:moveTo>
                  <a:pt x="92" y="48"/>
                </a:moveTo>
                <a:cubicBezTo>
                  <a:pt x="92" y="28"/>
                  <a:pt x="92" y="28"/>
                  <a:pt x="92" y="28"/>
                </a:cubicBezTo>
                <a:cubicBezTo>
                  <a:pt x="92" y="26"/>
                  <a:pt x="91" y="24"/>
                  <a:pt x="88" y="24"/>
                </a:cubicBezTo>
                <a:cubicBezTo>
                  <a:pt x="86" y="24"/>
                  <a:pt x="84" y="26"/>
                  <a:pt x="84" y="28"/>
                </a:cubicBezTo>
                <a:cubicBezTo>
                  <a:pt x="84" y="48"/>
                  <a:pt x="84" y="48"/>
                  <a:pt x="84" y="48"/>
                </a:cubicBezTo>
                <a:lnTo>
                  <a:pt x="92" y="48"/>
                </a:lnTo>
                <a:close/>
                <a:moveTo>
                  <a:pt x="132" y="92"/>
                </a:moveTo>
                <a:cubicBezTo>
                  <a:pt x="132" y="124"/>
                  <a:pt x="132" y="124"/>
                  <a:pt x="132" y="124"/>
                </a:cubicBezTo>
                <a:cubicBezTo>
                  <a:pt x="132" y="126"/>
                  <a:pt x="134" y="128"/>
                  <a:pt x="136" y="128"/>
                </a:cubicBezTo>
                <a:cubicBezTo>
                  <a:pt x="139" y="128"/>
                  <a:pt x="140" y="126"/>
                  <a:pt x="140" y="124"/>
                </a:cubicBezTo>
                <a:cubicBezTo>
                  <a:pt x="140" y="92"/>
                  <a:pt x="140" y="92"/>
                  <a:pt x="140" y="92"/>
                </a:cubicBezTo>
                <a:lnTo>
                  <a:pt x="132" y="92"/>
                </a:lnTo>
                <a:close/>
                <a:moveTo>
                  <a:pt x="36" y="104"/>
                </a:moveTo>
                <a:cubicBezTo>
                  <a:pt x="36" y="124"/>
                  <a:pt x="36" y="124"/>
                  <a:pt x="36" y="124"/>
                </a:cubicBezTo>
                <a:cubicBezTo>
                  <a:pt x="36" y="126"/>
                  <a:pt x="38" y="128"/>
                  <a:pt x="40" y="128"/>
                </a:cubicBezTo>
                <a:cubicBezTo>
                  <a:pt x="43" y="128"/>
                  <a:pt x="44" y="126"/>
                  <a:pt x="44" y="124"/>
                </a:cubicBezTo>
                <a:cubicBezTo>
                  <a:pt x="44" y="104"/>
                  <a:pt x="44" y="104"/>
                  <a:pt x="44" y="104"/>
                </a:cubicBezTo>
                <a:lnTo>
                  <a:pt x="36" y="104"/>
                </a:lnTo>
                <a:close/>
                <a:moveTo>
                  <a:pt x="84" y="72"/>
                </a:moveTo>
                <a:cubicBezTo>
                  <a:pt x="84" y="124"/>
                  <a:pt x="84" y="124"/>
                  <a:pt x="84" y="124"/>
                </a:cubicBezTo>
                <a:cubicBezTo>
                  <a:pt x="84" y="126"/>
                  <a:pt x="86" y="128"/>
                  <a:pt x="88" y="128"/>
                </a:cubicBezTo>
                <a:cubicBezTo>
                  <a:pt x="91" y="128"/>
                  <a:pt x="92" y="126"/>
                  <a:pt x="92" y="124"/>
                </a:cubicBezTo>
                <a:cubicBezTo>
                  <a:pt x="92" y="72"/>
                  <a:pt x="92" y="72"/>
                  <a:pt x="92" y="72"/>
                </a:cubicBezTo>
                <a:lnTo>
                  <a:pt x="84" y="72"/>
                </a:lnTo>
                <a:close/>
                <a:moveTo>
                  <a:pt x="176" y="16"/>
                </a:moveTo>
                <a:cubicBezTo>
                  <a:pt x="176" y="136"/>
                  <a:pt x="176" y="136"/>
                  <a:pt x="176" y="136"/>
                </a:cubicBezTo>
                <a:cubicBezTo>
                  <a:pt x="176" y="145"/>
                  <a:pt x="169" y="152"/>
                  <a:pt x="160" y="152"/>
                </a:cubicBezTo>
                <a:cubicBezTo>
                  <a:pt x="16" y="152"/>
                  <a:pt x="16" y="152"/>
                  <a:pt x="16" y="152"/>
                </a:cubicBezTo>
                <a:cubicBezTo>
                  <a:pt x="8" y="152"/>
                  <a:pt x="0" y="145"/>
                  <a:pt x="0" y="136"/>
                </a:cubicBezTo>
                <a:cubicBezTo>
                  <a:pt x="0" y="16"/>
                  <a:pt x="0" y="16"/>
                  <a:pt x="0" y="16"/>
                </a:cubicBezTo>
                <a:cubicBezTo>
                  <a:pt x="0" y="7"/>
                  <a:pt x="8" y="0"/>
                  <a:pt x="16" y="0"/>
                </a:cubicBezTo>
                <a:cubicBezTo>
                  <a:pt x="160" y="0"/>
                  <a:pt x="160" y="0"/>
                  <a:pt x="160" y="0"/>
                </a:cubicBezTo>
                <a:cubicBezTo>
                  <a:pt x="169" y="0"/>
                  <a:pt x="176" y="7"/>
                  <a:pt x="176" y="16"/>
                </a:cubicBezTo>
                <a:close/>
                <a:moveTo>
                  <a:pt x="60" y="88"/>
                </a:moveTo>
                <a:cubicBezTo>
                  <a:pt x="60" y="83"/>
                  <a:pt x="57" y="80"/>
                  <a:pt x="52" y="80"/>
                </a:cubicBezTo>
                <a:cubicBezTo>
                  <a:pt x="48" y="80"/>
                  <a:pt x="48" y="80"/>
                  <a:pt x="48" y="80"/>
                </a:cubicBezTo>
                <a:cubicBezTo>
                  <a:pt x="48" y="28"/>
                  <a:pt x="48" y="28"/>
                  <a:pt x="48" y="28"/>
                </a:cubicBezTo>
                <a:cubicBezTo>
                  <a:pt x="48" y="23"/>
                  <a:pt x="45" y="20"/>
                  <a:pt x="40" y="20"/>
                </a:cubicBezTo>
                <a:cubicBezTo>
                  <a:pt x="36" y="20"/>
                  <a:pt x="32" y="23"/>
                  <a:pt x="32" y="28"/>
                </a:cubicBezTo>
                <a:cubicBezTo>
                  <a:pt x="32" y="80"/>
                  <a:pt x="32" y="80"/>
                  <a:pt x="32" y="80"/>
                </a:cubicBezTo>
                <a:cubicBezTo>
                  <a:pt x="28" y="80"/>
                  <a:pt x="28" y="80"/>
                  <a:pt x="28" y="80"/>
                </a:cubicBezTo>
                <a:cubicBezTo>
                  <a:pt x="24" y="80"/>
                  <a:pt x="20" y="83"/>
                  <a:pt x="20" y="88"/>
                </a:cubicBezTo>
                <a:cubicBezTo>
                  <a:pt x="20" y="96"/>
                  <a:pt x="20" y="96"/>
                  <a:pt x="20" y="96"/>
                </a:cubicBezTo>
                <a:cubicBezTo>
                  <a:pt x="20" y="100"/>
                  <a:pt x="24" y="104"/>
                  <a:pt x="28" y="104"/>
                </a:cubicBezTo>
                <a:cubicBezTo>
                  <a:pt x="32" y="104"/>
                  <a:pt x="32" y="104"/>
                  <a:pt x="32" y="104"/>
                </a:cubicBezTo>
                <a:cubicBezTo>
                  <a:pt x="32" y="124"/>
                  <a:pt x="32" y="124"/>
                  <a:pt x="32" y="124"/>
                </a:cubicBezTo>
                <a:cubicBezTo>
                  <a:pt x="32" y="128"/>
                  <a:pt x="36" y="132"/>
                  <a:pt x="40" y="132"/>
                </a:cubicBezTo>
                <a:cubicBezTo>
                  <a:pt x="45" y="132"/>
                  <a:pt x="48" y="128"/>
                  <a:pt x="48" y="124"/>
                </a:cubicBezTo>
                <a:cubicBezTo>
                  <a:pt x="48" y="104"/>
                  <a:pt x="48" y="104"/>
                  <a:pt x="48" y="104"/>
                </a:cubicBezTo>
                <a:cubicBezTo>
                  <a:pt x="52" y="104"/>
                  <a:pt x="52" y="104"/>
                  <a:pt x="52" y="104"/>
                </a:cubicBezTo>
                <a:cubicBezTo>
                  <a:pt x="57" y="104"/>
                  <a:pt x="60" y="100"/>
                  <a:pt x="60" y="96"/>
                </a:cubicBezTo>
                <a:lnTo>
                  <a:pt x="60" y="88"/>
                </a:lnTo>
                <a:close/>
                <a:moveTo>
                  <a:pt x="108" y="56"/>
                </a:moveTo>
                <a:cubicBezTo>
                  <a:pt x="108" y="51"/>
                  <a:pt x="105" y="48"/>
                  <a:pt x="100" y="48"/>
                </a:cubicBezTo>
                <a:cubicBezTo>
                  <a:pt x="96" y="48"/>
                  <a:pt x="96" y="48"/>
                  <a:pt x="96" y="48"/>
                </a:cubicBezTo>
                <a:cubicBezTo>
                  <a:pt x="96" y="28"/>
                  <a:pt x="96" y="28"/>
                  <a:pt x="96" y="28"/>
                </a:cubicBezTo>
                <a:cubicBezTo>
                  <a:pt x="96" y="23"/>
                  <a:pt x="93" y="20"/>
                  <a:pt x="88" y="20"/>
                </a:cubicBezTo>
                <a:cubicBezTo>
                  <a:pt x="84" y="20"/>
                  <a:pt x="80" y="23"/>
                  <a:pt x="80" y="28"/>
                </a:cubicBezTo>
                <a:cubicBezTo>
                  <a:pt x="80" y="48"/>
                  <a:pt x="80" y="48"/>
                  <a:pt x="80" y="48"/>
                </a:cubicBezTo>
                <a:cubicBezTo>
                  <a:pt x="76" y="48"/>
                  <a:pt x="76" y="48"/>
                  <a:pt x="76" y="48"/>
                </a:cubicBezTo>
                <a:cubicBezTo>
                  <a:pt x="72" y="48"/>
                  <a:pt x="68" y="51"/>
                  <a:pt x="68" y="56"/>
                </a:cubicBezTo>
                <a:cubicBezTo>
                  <a:pt x="68" y="64"/>
                  <a:pt x="68" y="64"/>
                  <a:pt x="68" y="64"/>
                </a:cubicBezTo>
                <a:cubicBezTo>
                  <a:pt x="68" y="68"/>
                  <a:pt x="72" y="72"/>
                  <a:pt x="76" y="72"/>
                </a:cubicBezTo>
                <a:cubicBezTo>
                  <a:pt x="80" y="72"/>
                  <a:pt x="80" y="72"/>
                  <a:pt x="80" y="72"/>
                </a:cubicBezTo>
                <a:cubicBezTo>
                  <a:pt x="80" y="124"/>
                  <a:pt x="80" y="124"/>
                  <a:pt x="80" y="124"/>
                </a:cubicBezTo>
                <a:cubicBezTo>
                  <a:pt x="80" y="128"/>
                  <a:pt x="84" y="132"/>
                  <a:pt x="88" y="132"/>
                </a:cubicBezTo>
                <a:cubicBezTo>
                  <a:pt x="93" y="132"/>
                  <a:pt x="96" y="128"/>
                  <a:pt x="96" y="124"/>
                </a:cubicBezTo>
                <a:cubicBezTo>
                  <a:pt x="96" y="72"/>
                  <a:pt x="96" y="72"/>
                  <a:pt x="96" y="72"/>
                </a:cubicBezTo>
                <a:cubicBezTo>
                  <a:pt x="100" y="72"/>
                  <a:pt x="100" y="72"/>
                  <a:pt x="100" y="72"/>
                </a:cubicBezTo>
                <a:cubicBezTo>
                  <a:pt x="105" y="72"/>
                  <a:pt x="108" y="68"/>
                  <a:pt x="108" y="64"/>
                </a:cubicBezTo>
                <a:lnTo>
                  <a:pt x="108" y="56"/>
                </a:lnTo>
                <a:close/>
                <a:moveTo>
                  <a:pt x="156" y="76"/>
                </a:moveTo>
                <a:cubicBezTo>
                  <a:pt x="156" y="71"/>
                  <a:pt x="153" y="68"/>
                  <a:pt x="148" y="68"/>
                </a:cubicBezTo>
                <a:cubicBezTo>
                  <a:pt x="144" y="68"/>
                  <a:pt x="144" y="68"/>
                  <a:pt x="144" y="68"/>
                </a:cubicBezTo>
                <a:cubicBezTo>
                  <a:pt x="144" y="28"/>
                  <a:pt x="144" y="28"/>
                  <a:pt x="144" y="28"/>
                </a:cubicBezTo>
                <a:cubicBezTo>
                  <a:pt x="144" y="23"/>
                  <a:pt x="141" y="20"/>
                  <a:pt x="136" y="20"/>
                </a:cubicBezTo>
                <a:cubicBezTo>
                  <a:pt x="132" y="20"/>
                  <a:pt x="128" y="23"/>
                  <a:pt x="128" y="28"/>
                </a:cubicBezTo>
                <a:cubicBezTo>
                  <a:pt x="128" y="68"/>
                  <a:pt x="128" y="68"/>
                  <a:pt x="128" y="68"/>
                </a:cubicBezTo>
                <a:cubicBezTo>
                  <a:pt x="124" y="68"/>
                  <a:pt x="124" y="68"/>
                  <a:pt x="124" y="68"/>
                </a:cubicBezTo>
                <a:cubicBezTo>
                  <a:pt x="120" y="68"/>
                  <a:pt x="116" y="71"/>
                  <a:pt x="116" y="76"/>
                </a:cubicBezTo>
                <a:cubicBezTo>
                  <a:pt x="116" y="84"/>
                  <a:pt x="116" y="84"/>
                  <a:pt x="116" y="84"/>
                </a:cubicBezTo>
                <a:cubicBezTo>
                  <a:pt x="116" y="88"/>
                  <a:pt x="120" y="92"/>
                  <a:pt x="124" y="92"/>
                </a:cubicBezTo>
                <a:cubicBezTo>
                  <a:pt x="128" y="92"/>
                  <a:pt x="128" y="92"/>
                  <a:pt x="128" y="92"/>
                </a:cubicBezTo>
                <a:cubicBezTo>
                  <a:pt x="128" y="124"/>
                  <a:pt x="128" y="124"/>
                  <a:pt x="128" y="124"/>
                </a:cubicBezTo>
                <a:cubicBezTo>
                  <a:pt x="128" y="128"/>
                  <a:pt x="132" y="132"/>
                  <a:pt x="136" y="132"/>
                </a:cubicBezTo>
                <a:cubicBezTo>
                  <a:pt x="141" y="132"/>
                  <a:pt x="144" y="128"/>
                  <a:pt x="144" y="124"/>
                </a:cubicBezTo>
                <a:cubicBezTo>
                  <a:pt x="144" y="92"/>
                  <a:pt x="144" y="92"/>
                  <a:pt x="144" y="92"/>
                </a:cubicBezTo>
                <a:cubicBezTo>
                  <a:pt x="148" y="92"/>
                  <a:pt x="148" y="92"/>
                  <a:pt x="148" y="92"/>
                </a:cubicBezTo>
                <a:cubicBezTo>
                  <a:pt x="153" y="92"/>
                  <a:pt x="156" y="88"/>
                  <a:pt x="156" y="84"/>
                </a:cubicBezTo>
                <a:lnTo>
                  <a:pt x="156" y="76"/>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endParaRPr lang="en-US" sz="1600">
              <a:solidFill>
                <a:srgbClr val="000000"/>
              </a:solidFill>
            </a:endParaRPr>
          </a:p>
        </p:txBody>
      </p:sp>
      <p:sp>
        <p:nvSpPr>
          <p:cNvPr id="36" name="Ellipse 22"/>
          <p:cNvSpPr/>
          <p:nvPr/>
        </p:nvSpPr>
        <p:spPr bwMode="gray">
          <a:xfrm>
            <a:off x="617808" y="4691120"/>
            <a:ext cx="1146812" cy="1146812"/>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37" name="Rad 23"/>
          <p:cNvSpPr/>
          <p:nvPr/>
        </p:nvSpPr>
        <p:spPr bwMode="gray">
          <a:xfrm>
            <a:off x="424978" y="4544028"/>
            <a:ext cx="1487328" cy="1487327"/>
          </a:xfrm>
          <a:prstGeom prst="donut">
            <a:avLst>
              <a:gd name="adj" fmla="val 15297"/>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a:solidFill>
                <a:srgbClr val="000000"/>
              </a:solidFill>
            </a:endParaRPr>
          </a:p>
        </p:txBody>
      </p:sp>
      <p:sp>
        <p:nvSpPr>
          <p:cNvPr id="25" name="Freeform 70"/>
          <p:cNvSpPr>
            <a:spLocks noEditPoints="1"/>
          </p:cNvSpPr>
          <p:nvPr/>
        </p:nvSpPr>
        <p:spPr bwMode="auto">
          <a:xfrm>
            <a:off x="903887" y="4890043"/>
            <a:ext cx="584926" cy="717658"/>
          </a:xfrm>
          <a:custGeom>
            <a:avLst/>
            <a:gdLst>
              <a:gd name="T0" fmla="*/ 137 w 177"/>
              <a:gd name="T1" fmla="*/ 108 h 160"/>
              <a:gd name="T2" fmla="*/ 97 w 177"/>
              <a:gd name="T3" fmla="*/ 160 h 160"/>
              <a:gd name="T4" fmla="*/ 41 w 177"/>
              <a:gd name="T5" fmla="*/ 160 h 160"/>
              <a:gd name="T6" fmla="*/ 0 w 177"/>
              <a:gd name="T7" fmla="*/ 108 h 160"/>
              <a:gd name="T8" fmla="*/ 0 w 177"/>
              <a:gd name="T9" fmla="*/ 72 h 160"/>
              <a:gd name="T10" fmla="*/ 9 w 177"/>
              <a:gd name="T11" fmla="*/ 64 h 160"/>
              <a:gd name="T12" fmla="*/ 129 w 177"/>
              <a:gd name="T13" fmla="*/ 64 h 160"/>
              <a:gd name="T14" fmla="*/ 137 w 177"/>
              <a:gd name="T15" fmla="*/ 72 h 160"/>
              <a:gd name="T16" fmla="*/ 137 w 177"/>
              <a:gd name="T17" fmla="*/ 108 h 160"/>
              <a:gd name="T18" fmla="*/ 151 w 177"/>
              <a:gd name="T19" fmla="*/ 80 h 160"/>
              <a:gd name="T20" fmla="*/ 145 w 177"/>
              <a:gd name="T21" fmla="*/ 81 h 160"/>
              <a:gd name="T22" fmla="*/ 145 w 177"/>
              <a:gd name="T23" fmla="*/ 96 h 160"/>
              <a:gd name="T24" fmla="*/ 161 w 177"/>
              <a:gd name="T25" fmla="*/ 108 h 160"/>
              <a:gd name="T26" fmla="*/ 145 w 177"/>
              <a:gd name="T27" fmla="*/ 120 h 160"/>
              <a:gd name="T28" fmla="*/ 143 w 177"/>
              <a:gd name="T29" fmla="*/ 120 h 160"/>
              <a:gd name="T30" fmla="*/ 140 w 177"/>
              <a:gd name="T31" fmla="*/ 133 h 160"/>
              <a:gd name="T32" fmla="*/ 151 w 177"/>
              <a:gd name="T33" fmla="*/ 136 h 160"/>
              <a:gd name="T34" fmla="*/ 177 w 177"/>
              <a:gd name="T35" fmla="*/ 108 h 160"/>
              <a:gd name="T36" fmla="*/ 151 w 177"/>
              <a:gd name="T37" fmla="*/ 80 h 160"/>
              <a:gd name="T38" fmla="*/ 137 w 177"/>
              <a:gd name="T39" fmla="*/ 28 h 160"/>
              <a:gd name="T40" fmla="*/ 149 w 177"/>
              <a:gd name="T41" fmla="*/ 0 h 160"/>
              <a:gd name="T42" fmla="*/ 129 w 177"/>
              <a:gd name="T43" fmla="*/ 20 h 160"/>
              <a:gd name="T44" fmla="*/ 113 w 177"/>
              <a:gd name="T45" fmla="*/ 48 h 160"/>
              <a:gd name="T46" fmla="*/ 137 w 177"/>
              <a:gd name="T47" fmla="*/ 28 h 160"/>
              <a:gd name="T48" fmla="*/ 89 w 177"/>
              <a:gd name="T49" fmla="*/ 28 h 160"/>
              <a:gd name="T50" fmla="*/ 101 w 177"/>
              <a:gd name="T51" fmla="*/ 0 h 160"/>
              <a:gd name="T52" fmla="*/ 81 w 177"/>
              <a:gd name="T53" fmla="*/ 20 h 160"/>
              <a:gd name="T54" fmla="*/ 65 w 177"/>
              <a:gd name="T55" fmla="*/ 48 h 160"/>
              <a:gd name="T56" fmla="*/ 89 w 177"/>
              <a:gd name="T57" fmla="*/ 28 h 160"/>
              <a:gd name="T58" fmla="*/ 41 w 177"/>
              <a:gd name="T59" fmla="*/ 28 h 160"/>
              <a:gd name="T60" fmla="*/ 53 w 177"/>
              <a:gd name="T61" fmla="*/ 0 h 160"/>
              <a:gd name="T62" fmla="*/ 33 w 177"/>
              <a:gd name="T63" fmla="*/ 20 h 160"/>
              <a:gd name="T64" fmla="*/ 17 w 177"/>
              <a:gd name="T65" fmla="*/ 48 h 160"/>
              <a:gd name="T66" fmla="*/ 41 w 177"/>
              <a:gd name="T67" fmla="*/ 2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7" h="160">
                <a:moveTo>
                  <a:pt x="137" y="108"/>
                </a:moveTo>
                <a:cubicBezTo>
                  <a:pt x="137" y="129"/>
                  <a:pt x="122" y="160"/>
                  <a:pt x="97" y="160"/>
                </a:cubicBezTo>
                <a:cubicBezTo>
                  <a:pt x="41" y="160"/>
                  <a:pt x="41" y="160"/>
                  <a:pt x="41" y="160"/>
                </a:cubicBezTo>
                <a:cubicBezTo>
                  <a:pt x="15" y="160"/>
                  <a:pt x="0" y="129"/>
                  <a:pt x="0" y="108"/>
                </a:cubicBezTo>
                <a:cubicBezTo>
                  <a:pt x="0" y="72"/>
                  <a:pt x="0" y="72"/>
                  <a:pt x="0" y="72"/>
                </a:cubicBezTo>
                <a:cubicBezTo>
                  <a:pt x="0" y="68"/>
                  <a:pt x="4" y="64"/>
                  <a:pt x="9" y="64"/>
                </a:cubicBezTo>
                <a:cubicBezTo>
                  <a:pt x="129" y="64"/>
                  <a:pt x="129" y="64"/>
                  <a:pt x="129" y="64"/>
                </a:cubicBezTo>
                <a:cubicBezTo>
                  <a:pt x="133" y="64"/>
                  <a:pt x="137" y="68"/>
                  <a:pt x="137" y="72"/>
                </a:cubicBezTo>
                <a:lnTo>
                  <a:pt x="137" y="108"/>
                </a:lnTo>
                <a:close/>
                <a:moveTo>
                  <a:pt x="151" y="80"/>
                </a:moveTo>
                <a:cubicBezTo>
                  <a:pt x="148" y="80"/>
                  <a:pt x="146" y="80"/>
                  <a:pt x="145" y="81"/>
                </a:cubicBezTo>
                <a:cubicBezTo>
                  <a:pt x="145" y="85"/>
                  <a:pt x="145" y="90"/>
                  <a:pt x="145" y="96"/>
                </a:cubicBezTo>
                <a:cubicBezTo>
                  <a:pt x="153" y="96"/>
                  <a:pt x="161" y="101"/>
                  <a:pt x="161" y="108"/>
                </a:cubicBezTo>
                <a:cubicBezTo>
                  <a:pt x="161" y="115"/>
                  <a:pt x="153" y="120"/>
                  <a:pt x="145" y="120"/>
                </a:cubicBezTo>
                <a:cubicBezTo>
                  <a:pt x="144" y="120"/>
                  <a:pt x="144" y="120"/>
                  <a:pt x="143" y="120"/>
                </a:cubicBezTo>
                <a:cubicBezTo>
                  <a:pt x="142" y="124"/>
                  <a:pt x="141" y="129"/>
                  <a:pt x="140" y="133"/>
                </a:cubicBezTo>
                <a:cubicBezTo>
                  <a:pt x="143" y="135"/>
                  <a:pt x="147" y="136"/>
                  <a:pt x="151" y="136"/>
                </a:cubicBezTo>
                <a:cubicBezTo>
                  <a:pt x="165" y="136"/>
                  <a:pt x="177" y="123"/>
                  <a:pt x="177" y="108"/>
                </a:cubicBezTo>
                <a:cubicBezTo>
                  <a:pt x="177" y="92"/>
                  <a:pt x="165" y="80"/>
                  <a:pt x="151" y="80"/>
                </a:cubicBezTo>
                <a:close/>
                <a:moveTo>
                  <a:pt x="137" y="28"/>
                </a:moveTo>
                <a:cubicBezTo>
                  <a:pt x="149" y="28"/>
                  <a:pt x="149" y="0"/>
                  <a:pt x="149" y="0"/>
                </a:cubicBezTo>
                <a:cubicBezTo>
                  <a:pt x="149" y="0"/>
                  <a:pt x="145" y="20"/>
                  <a:pt x="129" y="20"/>
                </a:cubicBezTo>
                <a:cubicBezTo>
                  <a:pt x="113" y="20"/>
                  <a:pt x="113" y="48"/>
                  <a:pt x="113" y="48"/>
                </a:cubicBezTo>
                <a:cubicBezTo>
                  <a:pt x="113" y="48"/>
                  <a:pt x="125" y="28"/>
                  <a:pt x="137" y="28"/>
                </a:cubicBezTo>
                <a:close/>
                <a:moveTo>
                  <a:pt x="89" y="28"/>
                </a:moveTo>
                <a:cubicBezTo>
                  <a:pt x="101" y="28"/>
                  <a:pt x="101" y="0"/>
                  <a:pt x="101" y="0"/>
                </a:cubicBezTo>
                <a:cubicBezTo>
                  <a:pt x="101" y="0"/>
                  <a:pt x="97" y="20"/>
                  <a:pt x="81" y="20"/>
                </a:cubicBezTo>
                <a:cubicBezTo>
                  <a:pt x="65" y="20"/>
                  <a:pt x="65" y="48"/>
                  <a:pt x="65" y="48"/>
                </a:cubicBezTo>
                <a:cubicBezTo>
                  <a:pt x="65" y="48"/>
                  <a:pt x="77" y="28"/>
                  <a:pt x="89" y="28"/>
                </a:cubicBezTo>
                <a:close/>
                <a:moveTo>
                  <a:pt x="41" y="28"/>
                </a:moveTo>
                <a:cubicBezTo>
                  <a:pt x="53" y="28"/>
                  <a:pt x="53" y="0"/>
                  <a:pt x="53" y="0"/>
                </a:cubicBezTo>
                <a:cubicBezTo>
                  <a:pt x="53" y="0"/>
                  <a:pt x="49" y="20"/>
                  <a:pt x="33" y="20"/>
                </a:cubicBezTo>
                <a:cubicBezTo>
                  <a:pt x="17" y="20"/>
                  <a:pt x="17" y="48"/>
                  <a:pt x="17" y="48"/>
                </a:cubicBezTo>
                <a:cubicBezTo>
                  <a:pt x="17" y="48"/>
                  <a:pt x="29" y="28"/>
                  <a:pt x="41" y="28"/>
                </a:cubicBezTo>
                <a:close/>
              </a:path>
            </a:pathLst>
          </a:custGeom>
          <a:solidFill>
            <a:srgbClr val="646464"/>
          </a:solidFill>
          <a:ln w="9525">
            <a:noFill/>
            <a:round/>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endParaRPr lang="en-US" sz="1600">
              <a:solidFill>
                <a:srgbClr val="000000"/>
              </a:solidFill>
            </a:endParaRPr>
          </a:p>
        </p:txBody>
      </p:sp>
      <p:sp>
        <p:nvSpPr>
          <p:cNvPr id="19" name="Footer Placeholder 3"/>
          <p:cNvSpPr>
            <a:spLocks noGrp="1"/>
          </p:cNvSpPr>
          <p:nvPr>
            <p:ph type="ftr" sz="quarter" idx="4294967295"/>
          </p:nvPr>
        </p:nvSpPr>
        <p:spPr>
          <a:xfrm>
            <a:off x="2588400" y="6503980"/>
            <a:ext cx="3434400" cy="201600"/>
          </a:xfrm>
          <a:prstGeom prst="rect">
            <a:avLst/>
          </a:prstGeom>
        </p:spPr>
        <p:txBody>
          <a:bodyPr lIns="0" tIns="0" rIns="0" bIns="0"/>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4308134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EYInterstate" panose="02000503020000020004" pitchFamily="2" charset="0"/>
              </a:rPr>
              <a:t>Integration to </a:t>
            </a:r>
            <a:r>
              <a:rPr lang="en-US" dirty="0" smtClean="0">
                <a:latin typeface="EYInterstate" panose="02000503020000020004" pitchFamily="2" charset="0"/>
              </a:rPr>
              <a:t>the Institution’s </a:t>
            </a:r>
            <a:r>
              <a:rPr lang="en-US" dirty="0">
                <a:latin typeface="EYInterstate" panose="02000503020000020004" pitchFamily="2" charset="0"/>
              </a:rPr>
              <a:t>environment – illustrative logical scheme</a:t>
            </a:r>
            <a:endParaRPr lang="en-GB" dirty="0">
              <a:latin typeface="EYInterstate" panose="02000503020000020004" pitchFamily="2" charset="0"/>
            </a:endParaRPr>
          </a:p>
        </p:txBody>
      </p:sp>
      <p:sp>
        <p:nvSpPr>
          <p:cNvPr id="3" name="Content Placeholder 2"/>
          <p:cNvSpPr>
            <a:spLocks noGrp="1"/>
          </p:cNvSpPr>
          <p:nvPr>
            <p:ph idx="1"/>
          </p:nvPr>
        </p:nvSpPr>
        <p:spPr>
          <a:xfrm>
            <a:off x="457200" y="1244833"/>
            <a:ext cx="8306474" cy="2183318"/>
          </a:xfrm>
        </p:spPr>
        <p:txBody>
          <a:bodyPr/>
          <a:lstStyle/>
          <a:p>
            <a:pPr marL="0" indent="0">
              <a:buNone/>
            </a:pPr>
            <a:r>
              <a:rPr lang="en-US" sz="1200" dirty="0">
                <a:latin typeface="EYInterstate Light" panose="02000506000000020004" pitchFamily="2" charset="0"/>
              </a:rPr>
              <a:t>Data flow from source systems to </a:t>
            </a:r>
            <a:r>
              <a:rPr lang="en-US" sz="1200" dirty="0" smtClean="0">
                <a:latin typeface="EYInterstate Light" panose="02000506000000020004" pitchFamily="2" charset="0"/>
              </a:rPr>
              <a:t>LIC Solution® and back from the solution to Institution’s systems is described in the scheme below. Input data are extracted by the Institution from source systems, transformed to a standardized input form and stored in an input data area. Data export, transformation and storage in target systems is carried out by the Institution. </a:t>
            </a:r>
          </a:p>
          <a:p>
            <a:endParaRPr lang="en-US" sz="1400" dirty="0" smtClean="0"/>
          </a:p>
          <a:p>
            <a:endParaRPr lang="en-US" sz="1400" dirty="0" smtClean="0"/>
          </a:p>
          <a:p>
            <a:endParaRPr lang="en-GB" sz="1400" dirty="0"/>
          </a:p>
        </p:txBody>
      </p:sp>
      <p:sp>
        <p:nvSpPr>
          <p:cNvPr id="69" name="Rectangle 68"/>
          <p:cNvSpPr/>
          <p:nvPr/>
        </p:nvSpPr>
        <p:spPr>
          <a:xfrm>
            <a:off x="2141543" y="2322414"/>
            <a:ext cx="975498" cy="247938"/>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23" b="1"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Input data integration layer</a:t>
            </a:r>
          </a:p>
        </p:txBody>
      </p:sp>
      <p:pic>
        <p:nvPicPr>
          <p:cNvPr id="70" name="Picture 69"/>
          <p:cNvPicPr>
            <a:picLocks noChangeArrowheads="1"/>
          </p:cNvPicPr>
          <p:nvPr/>
        </p:nvPicPr>
        <p:blipFill>
          <a:blip r:embed="rId2" cstate="print"/>
          <a:srcRect/>
          <a:stretch>
            <a:fillRect/>
          </a:stretch>
        </p:blipFill>
        <p:spPr bwMode="auto">
          <a:xfrm>
            <a:off x="581463" y="3035022"/>
            <a:ext cx="640570" cy="915232"/>
          </a:xfrm>
          <a:prstGeom prst="rect">
            <a:avLst/>
          </a:prstGeom>
          <a:blipFill dpi="0" rotWithShape="1">
            <a:blip r:embed="rId3" cstate="print">
              <a:alphaModFix amt="45000"/>
            </a:blip>
            <a:srcRect/>
            <a:tile tx="0" ty="0" sx="100000" sy="100000" flip="none" algn="tl"/>
          </a:blipFill>
          <a:ln w="9525">
            <a:noFill/>
            <a:miter lim="800000"/>
            <a:headEnd/>
            <a:tailEnd/>
          </a:ln>
        </p:spPr>
      </p:pic>
      <p:sp>
        <p:nvSpPr>
          <p:cNvPr id="71" name="TextBox 70"/>
          <p:cNvSpPr txBox="1"/>
          <p:nvPr/>
        </p:nvSpPr>
        <p:spPr>
          <a:xfrm>
            <a:off x="137004" y="2813339"/>
            <a:ext cx="1529487" cy="246221"/>
          </a:xfrm>
          <a:prstGeom prst="rect">
            <a:avLst/>
          </a:prstGeom>
          <a:noFill/>
        </p:spPr>
        <p:txBody>
          <a:bodyPr wrap="square" rtlCol="0">
            <a:spAutoFit/>
          </a:bodyPr>
          <a:lstStyle/>
          <a:p>
            <a:pPr algn="ctr" fontAlgn="base">
              <a:lnSpc>
                <a:spcPts val="1187"/>
              </a:lnSpc>
              <a:spcBef>
                <a:spcPct val="0"/>
              </a:spcBef>
              <a:spcAft>
                <a:spcPct val="0"/>
              </a:spcAft>
            </a:pPr>
            <a:r>
              <a:rPr lang="en-US" sz="1108" b="1" dirty="0">
                <a:solidFill>
                  <a:schemeClr val="bg1"/>
                </a:solidFill>
                <a:latin typeface="EYInterstate Light" pitchFamily="2" charset="0"/>
              </a:rPr>
              <a:t>CBS, DWH</a:t>
            </a:r>
            <a:endParaRPr lang="cs-CZ" sz="1108" b="1" dirty="0">
              <a:solidFill>
                <a:schemeClr val="bg1"/>
              </a:solidFill>
              <a:latin typeface="EYInterstate Light" pitchFamily="2" charset="0"/>
            </a:endParaRPr>
          </a:p>
        </p:txBody>
      </p:sp>
      <p:sp>
        <p:nvSpPr>
          <p:cNvPr id="72" name="Right Arrow 71"/>
          <p:cNvSpPr/>
          <p:nvPr/>
        </p:nvSpPr>
        <p:spPr>
          <a:xfrm>
            <a:off x="1421016" y="3122795"/>
            <a:ext cx="694986" cy="469054"/>
          </a:xfrm>
          <a:prstGeom prst="rightArrow">
            <a:avLst/>
          </a:prstGeom>
          <a:solidFill>
            <a:srgbClr val="FFFFFF">
              <a:lumMod val="50000"/>
            </a:srgbClr>
          </a:solidFill>
          <a:ln w="254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738" b="0" i="0" u="none" strike="noStrike" kern="0" cap="none" spc="0" normalizeH="0" baseline="0" noProof="0" dirty="0" smtClean="0">
              <a:ln>
                <a:noFill/>
              </a:ln>
              <a:solidFill>
                <a:srgbClr val="000000"/>
              </a:solidFill>
              <a:effectLst/>
              <a:uLnTx/>
              <a:uFillTx/>
              <a:latin typeface="EYInterstate Light" panose="02000506000000020004" pitchFamily="2" charset="0"/>
              <a:ea typeface="+mn-ea"/>
              <a:cs typeface="+mn-cs"/>
            </a:endParaRPr>
          </a:p>
        </p:txBody>
      </p:sp>
      <p:pic>
        <p:nvPicPr>
          <p:cNvPr id="73" name="Picture 7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5473" y="4185728"/>
            <a:ext cx="1835664" cy="1835664"/>
          </a:xfrm>
          <a:prstGeom prst="rect">
            <a:avLst/>
          </a:prstGeom>
          <a:ln>
            <a:solidFill>
              <a:srgbClr val="808080">
                <a:lumMod val="50000"/>
              </a:srgbClr>
            </a:solidFill>
          </a:ln>
        </p:spPr>
      </p:pic>
      <p:sp>
        <p:nvSpPr>
          <p:cNvPr id="74" name="Rectangle 73"/>
          <p:cNvSpPr/>
          <p:nvPr/>
        </p:nvSpPr>
        <p:spPr>
          <a:xfrm>
            <a:off x="408429" y="2327709"/>
            <a:ext cx="975498" cy="247938"/>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23" b="1"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Interfacing systems</a:t>
            </a:r>
          </a:p>
        </p:txBody>
      </p:sp>
      <p:sp>
        <p:nvSpPr>
          <p:cNvPr id="75" name="Rectangle 74"/>
          <p:cNvSpPr/>
          <p:nvPr/>
        </p:nvSpPr>
        <p:spPr>
          <a:xfrm>
            <a:off x="3933767" y="3870718"/>
            <a:ext cx="1376337" cy="291712"/>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23" b="1"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Calculation engine</a:t>
            </a:r>
          </a:p>
        </p:txBody>
      </p:sp>
      <p:sp>
        <p:nvSpPr>
          <p:cNvPr id="76" name="Rectangle 75"/>
          <p:cNvSpPr/>
          <p:nvPr/>
        </p:nvSpPr>
        <p:spPr>
          <a:xfrm>
            <a:off x="6068024" y="2327733"/>
            <a:ext cx="975498" cy="247938"/>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23" b="1"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Output data integration layer</a:t>
            </a:r>
          </a:p>
        </p:txBody>
      </p:sp>
      <p:pic>
        <p:nvPicPr>
          <p:cNvPr id="77" name="Picture 76"/>
          <p:cNvPicPr>
            <a:picLocks noChangeArrowheads="1"/>
          </p:cNvPicPr>
          <p:nvPr/>
        </p:nvPicPr>
        <p:blipFill>
          <a:blip r:embed="rId2" cstate="print"/>
          <a:srcRect/>
          <a:stretch>
            <a:fillRect/>
          </a:stretch>
        </p:blipFill>
        <p:spPr bwMode="auto">
          <a:xfrm>
            <a:off x="7869372" y="2952740"/>
            <a:ext cx="640570" cy="915232"/>
          </a:xfrm>
          <a:prstGeom prst="rect">
            <a:avLst/>
          </a:prstGeom>
          <a:blipFill dpi="0" rotWithShape="1">
            <a:blip r:embed="rId3" cstate="print">
              <a:alphaModFix amt="45000"/>
            </a:blip>
            <a:srcRect/>
            <a:tile tx="0" ty="0" sx="100000" sy="100000" flip="none" algn="tl"/>
          </a:blipFill>
          <a:ln w="9525">
            <a:noFill/>
            <a:miter lim="800000"/>
            <a:headEnd/>
            <a:tailEnd/>
          </a:ln>
        </p:spPr>
      </p:pic>
      <p:sp>
        <p:nvSpPr>
          <p:cNvPr id="78" name="TextBox 77"/>
          <p:cNvSpPr txBox="1"/>
          <p:nvPr/>
        </p:nvSpPr>
        <p:spPr>
          <a:xfrm>
            <a:off x="7424912" y="2706780"/>
            <a:ext cx="1529487" cy="246221"/>
          </a:xfrm>
          <a:prstGeom prst="rect">
            <a:avLst/>
          </a:prstGeom>
          <a:noFill/>
        </p:spPr>
        <p:txBody>
          <a:bodyPr wrap="square" rtlCol="0">
            <a:spAutoFit/>
          </a:bodyPr>
          <a:lstStyle/>
          <a:p>
            <a:pPr algn="ctr" fontAlgn="base">
              <a:lnSpc>
                <a:spcPts val="1187"/>
              </a:lnSpc>
              <a:spcBef>
                <a:spcPct val="0"/>
              </a:spcBef>
              <a:spcAft>
                <a:spcPct val="0"/>
              </a:spcAft>
            </a:pPr>
            <a:r>
              <a:rPr lang="en-US" sz="1108" b="1" dirty="0">
                <a:solidFill>
                  <a:schemeClr val="bg1"/>
                </a:solidFill>
                <a:latin typeface="EYInterstate Light" pitchFamily="2" charset="0"/>
              </a:rPr>
              <a:t>GL, DWH</a:t>
            </a:r>
            <a:endParaRPr lang="cs-CZ" sz="1108" b="1" dirty="0">
              <a:solidFill>
                <a:schemeClr val="bg1"/>
              </a:solidFill>
              <a:latin typeface="EYInterstate Light" pitchFamily="2" charset="0"/>
            </a:endParaRPr>
          </a:p>
        </p:txBody>
      </p:sp>
      <p:sp>
        <p:nvSpPr>
          <p:cNvPr id="79" name="Rectangle 78"/>
          <p:cNvSpPr/>
          <p:nvPr/>
        </p:nvSpPr>
        <p:spPr>
          <a:xfrm>
            <a:off x="1149114" y="5765389"/>
            <a:ext cx="1138890" cy="225399"/>
          </a:xfrm>
          <a:prstGeom prst="rect">
            <a:avLst/>
          </a:prstGeom>
          <a:noFill/>
          <a:ln w="12700" cap="flat" cmpd="sng" algn="ctr">
            <a:noFill/>
            <a:prstDash val="solid"/>
          </a:ln>
          <a:effectLst/>
        </p:spPr>
        <p:txBody>
          <a:bodyPr lIns="33231" tIns="33231" rIns="33231" bIns="33231"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31" b="0"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EY responsibility</a:t>
            </a:r>
          </a:p>
        </p:txBody>
      </p:sp>
      <p:sp>
        <p:nvSpPr>
          <p:cNvPr id="80" name="Right Arrow 79"/>
          <p:cNvSpPr/>
          <p:nvPr/>
        </p:nvSpPr>
        <p:spPr>
          <a:xfrm>
            <a:off x="650282" y="5735265"/>
            <a:ext cx="480443" cy="297315"/>
          </a:xfrm>
          <a:prstGeom prst="rightArrow">
            <a:avLst/>
          </a:prstGeom>
          <a:solidFill>
            <a:srgbClr val="FFD200"/>
          </a:solidFill>
          <a:ln w="25400" cap="flat" cmpd="sng" algn="ctr">
            <a:noFill/>
            <a:prstDash val="solid"/>
          </a:ln>
          <a:effectLst/>
        </p:spPr>
        <p:txBody>
          <a:bodyPr lIns="0" tIns="33231" rIns="0"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738" b="0" i="0" u="none" strike="noStrike" kern="0" cap="none" spc="0" normalizeH="0" baseline="0" noProof="0" dirty="0" smtClean="0">
              <a:ln>
                <a:noFill/>
              </a:ln>
              <a:solidFill>
                <a:srgbClr val="000000"/>
              </a:solidFill>
              <a:effectLst/>
              <a:uLnTx/>
              <a:uFillTx/>
              <a:latin typeface="EYInterstate Light" panose="02000506000000020004" pitchFamily="2" charset="0"/>
              <a:ea typeface="+mn-ea"/>
              <a:cs typeface="+mn-cs"/>
            </a:endParaRPr>
          </a:p>
        </p:txBody>
      </p:sp>
      <p:sp>
        <p:nvSpPr>
          <p:cNvPr id="81" name="Rectangle 80"/>
          <p:cNvSpPr/>
          <p:nvPr/>
        </p:nvSpPr>
        <p:spPr>
          <a:xfrm>
            <a:off x="1154429" y="5404431"/>
            <a:ext cx="1138890" cy="225399"/>
          </a:xfrm>
          <a:prstGeom prst="rect">
            <a:avLst/>
          </a:prstGeom>
          <a:noFill/>
          <a:ln w="12700" cap="flat" cmpd="sng" algn="ctr">
            <a:noFill/>
            <a:prstDash val="solid"/>
          </a:ln>
          <a:effectLst/>
        </p:spPr>
        <p:txBody>
          <a:bodyPr lIns="33231" tIns="33231" rIns="33231" bIns="33231" rtlCol="0" anchor="ctr"/>
          <a:lstStyle/>
          <a:p>
            <a:pPr marL="0" marR="0" lvl="0" indent="0" defTabSz="914400" eaLnBrk="1" fontAlgn="base" latinLnBrk="0" hangingPunct="1">
              <a:lnSpc>
                <a:spcPct val="100000"/>
              </a:lnSpc>
              <a:spcBef>
                <a:spcPct val="0"/>
              </a:spcBef>
              <a:spcAft>
                <a:spcPct val="0"/>
              </a:spcAft>
              <a:buClrTx/>
              <a:buSzTx/>
              <a:buFontTx/>
              <a:buNone/>
              <a:tabLst/>
              <a:defRPr/>
            </a:pPr>
            <a:r>
              <a:rPr lang="en-US" sz="831" kern="0" dirty="0" smtClean="0">
                <a:solidFill>
                  <a:schemeClr val="bg1"/>
                </a:solidFill>
                <a:latin typeface="EYInterstate Light" panose="02000506000000020004" pitchFamily="2" charset="0"/>
              </a:rPr>
              <a:t>Institution</a:t>
            </a:r>
            <a:r>
              <a:rPr kumimoji="0" lang="en-US" sz="831" b="0"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’s responsibility</a:t>
            </a:r>
          </a:p>
        </p:txBody>
      </p:sp>
      <p:sp>
        <p:nvSpPr>
          <p:cNvPr id="82" name="Right Arrow 81"/>
          <p:cNvSpPr/>
          <p:nvPr/>
        </p:nvSpPr>
        <p:spPr>
          <a:xfrm>
            <a:off x="655597" y="5374307"/>
            <a:ext cx="480443" cy="297315"/>
          </a:xfrm>
          <a:prstGeom prst="rightArrow">
            <a:avLst/>
          </a:prstGeom>
          <a:solidFill>
            <a:srgbClr val="FFFFFF">
              <a:lumMod val="50000"/>
            </a:srgbClr>
          </a:solidFill>
          <a:ln w="25400" cap="flat" cmpd="sng" algn="ctr">
            <a:noFill/>
            <a:prstDash val="solid"/>
          </a:ln>
          <a:effectLst/>
        </p:spPr>
        <p:txBody>
          <a:bodyPr lIns="0" tIns="33231" rIns="0"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738" b="0" i="0" u="none" strike="noStrike" kern="0" cap="none" spc="0" normalizeH="0" baseline="0" noProof="0" dirty="0" smtClean="0">
              <a:ln>
                <a:noFill/>
              </a:ln>
              <a:solidFill>
                <a:srgbClr val="000000"/>
              </a:solidFill>
              <a:effectLst/>
              <a:uLnTx/>
              <a:uFillTx/>
              <a:latin typeface="EYInterstate Light" panose="02000506000000020004" pitchFamily="2" charset="0"/>
              <a:ea typeface="+mn-ea"/>
              <a:cs typeface="+mn-cs"/>
            </a:endParaRPr>
          </a:p>
        </p:txBody>
      </p:sp>
      <p:sp>
        <p:nvSpPr>
          <p:cNvPr id="83" name="Rectangle 82"/>
          <p:cNvSpPr/>
          <p:nvPr/>
        </p:nvSpPr>
        <p:spPr>
          <a:xfrm>
            <a:off x="7660413" y="2317093"/>
            <a:ext cx="975498" cy="247938"/>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23" b="1" i="0" u="none" strike="noStrike" kern="0" cap="none" spc="0" normalizeH="0" baseline="0" noProof="0" dirty="0" smtClean="0">
                <a:ln>
                  <a:noFill/>
                </a:ln>
                <a:solidFill>
                  <a:schemeClr val="bg1"/>
                </a:solidFill>
                <a:effectLst/>
                <a:uLnTx/>
                <a:uFillTx/>
                <a:latin typeface="EYInterstate Light" panose="02000506000000020004" pitchFamily="2" charset="0"/>
                <a:ea typeface="+mn-ea"/>
                <a:cs typeface="+mn-cs"/>
              </a:rPr>
              <a:t>Institution’s target systems</a:t>
            </a:r>
          </a:p>
        </p:txBody>
      </p:sp>
      <p:pic>
        <p:nvPicPr>
          <p:cNvPr id="8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9257" y="2948420"/>
            <a:ext cx="707646" cy="983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5" name="Flowchart: Magnetic Disk 84"/>
          <p:cNvSpPr/>
          <p:nvPr/>
        </p:nvSpPr>
        <p:spPr>
          <a:xfrm>
            <a:off x="2564242" y="3443329"/>
            <a:ext cx="309846" cy="470110"/>
          </a:xfrm>
          <a:prstGeom prst="flowChartMagneticDisk">
            <a:avLst/>
          </a:prstGeom>
          <a:gradFill flip="none" rotWithShape="1">
            <a:gsLst>
              <a:gs pos="0">
                <a:srgbClr val="A5A4A7">
                  <a:tint val="66000"/>
                  <a:satMod val="160000"/>
                </a:srgbClr>
              </a:gs>
              <a:gs pos="50000">
                <a:srgbClr val="A5A4A7">
                  <a:tint val="44500"/>
                  <a:satMod val="160000"/>
                </a:srgbClr>
              </a:gs>
              <a:gs pos="100000">
                <a:srgbClr val="A5A4A7">
                  <a:tint val="23500"/>
                  <a:satMod val="160000"/>
                </a:srgbClr>
              </a:gs>
            </a:gsLst>
            <a:lin ang="5400000" scaled="1"/>
            <a:tileRect/>
          </a:gradFill>
          <a:ln w="25400" cap="flat" cmpd="sng" algn="ctr">
            <a:solidFill>
              <a:srgbClr val="A5A4A7">
                <a:shade val="50000"/>
              </a:srgbClr>
            </a:solid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923" b="0" i="0" u="none" strike="noStrike" kern="0" cap="none" spc="0" normalizeH="0" baseline="0" noProof="0" dirty="0" err="1" smtClean="0">
              <a:ln>
                <a:noFill/>
              </a:ln>
              <a:solidFill>
                <a:srgbClr val="FFFFFF"/>
              </a:solidFill>
              <a:effectLst/>
              <a:uLnTx/>
              <a:uFillTx/>
              <a:latin typeface="EYInterstate Light" panose="02000506000000020004" pitchFamily="2" charset="0"/>
              <a:ea typeface="+mn-ea"/>
              <a:cs typeface="+mn-cs"/>
            </a:endParaRPr>
          </a:p>
        </p:txBody>
      </p:sp>
      <p:pic>
        <p:nvPicPr>
          <p:cNvPr id="8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3544" y="2918146"/>
            <a:ext cx="707646" cy="983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7" name="Flowchart: Magnetic Disk 86"/>
          <p:cNvSpPr/>
          <p:nvPr/>
        </p:nvSpPr>
        <p:spPr>
          <a:xfrm>
            <a:off x="6508529" y="3413055"/>
            <a:ext cx="309846" cy="470110"/>
          </a:xfrm>
          <a:prstGeom prst="flowChartMagneticDisk">
            <a:avLst/>
          </a:prstGeom>
          <a:gradFill flip="none" rotWithShape="1">
            <a:gsLst>
              <a:gs pos="0">
                <a:srgbClr val="A5A4A7">
                  <a:tint val="66000"/>
                  <a:satMod val="160000"/>
                </a:srgbClr>
              </a:gs>
              <a:gs pos="50000">
                <a:srgbClr val="A5A4A7">
                  <a:tint val="44500"/>
                  <a:satMod val="160000"/>
                </a:srgbClr>
              </a:gs>
              <a:gs pos="100000">
                <a:srgbClr val="A5A4A7">
                  <a:tint val="23500"/>
                  <a:satMod val="160000"/>
                </a:srgbClr>
              </a:gs>
            </a:gsLst>
            <a:lin ang="5400000" scaled="1"/>
            <a:tileRect/>
          </a:gradFill>
          <a:ln w="25400" cap="flat" cmpd="sng" algn="ctr">
            <a:solidFill>
              <a:srgbClr val="A5A4A7">
                <a:shade val="50000"/>
              </a:srgbClr>
            </a:solid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923" b="0" i="0" u="none" strike="noStrike" kern="0" cap="none" spc="0" normalizeH="0" baseline="0" noProof="0" dirty="0" err="1" smtClean="0">
              <a:ln>
                <a:noFill/>
              </a:ln>
              <a:solidFill>
                <a:srgbClr val="FFFFFF"/>
              </a:solidFill>
              <a:effectLst/>
              <a:uLnTx/>
              <a:uFillTx/>
              <a:latin typeface="EYInterstate Light" panose="02000506000000020004" pitchFamily="2" charset="0"/>
              <a:ea typeface="+mn-ea"/>
              <a:cs typeface="+mn-cs"/>
            </a:endParaRPr>
          </a:p>
        </p:txBody>
      </p:sp>
      <p:sp>
        <p:nvSpPr>
          <p:cNvPr id="88" name="Rectangle 87"/>
          <p:cNvSpPr/>
          <p:nvPr/>
        </p:nvSpPr>
        <p:spPr>
          <a:xfrm>
            <a:off x="1239384" y="3571556"/>
            <a:ext cx="1015009" cy="859466"/>
          </a:xfrm>
          <a:prstGeom prst="rect">
            <a:avLst/>
          </a:prstGeom>
        </p:spPr>
        <p:txBody>
          <a:bodyPr wrap="square">
            <a:spAutoFit/>
          </a:bodyPr>
          <a:lstStyle/>
          <a:p>
            <a:pPr algn="ctr" fontAlgn="base">
              <a:spcBef>
                <a:spcPct val="0"/>
              </a:spcBef>
              <a:spcAft>
                <a:spcPct val="0"/>
              </a:spcAft>
            </a:pPr>
            <a:r>
              <a:rPr lang="en-US" sz="831" dirty="0">
                <a:solidFill>
                  <a:schemeClr val="bg1"/>
                </a:solidFill>
                <a:latin typeface="EYInterstate Light" panose="02000506000000020004" pitchFamily="2" charset="0"/>
              </a:rPr>
              <a:t>data migration from source </a:t>
            </a:r>
            <a:r>
              <a:rPr lang="en-US" sz="831" dirty="0" smtClean="0">
                <a:solidFill>
                  <a:schemeClr val="bg1"/>
                </a:solidFill>
                <a:latin typeface="EYInterstate Light" panose="02000506000000020004" pitchFamily="2" charset="0"/>
              </a:rPr>
              <a:t>systems and transformation to pre-defined format</a:t>
            </a:r>
            <a:endParaRPr lang="en-US" sz="831" dirty="0">
              <a:solidFill>
                <a:schemeClr val="bg1"/>
              </a:solidFill>
              <a:latin typeface="EYInterstate Light" panose="02000506000000020004" pitchFamily="2" charset="0"/>
            </a:endParaRPr>
          </a:p>
        </p:txBody>
      </p:sp>
      <p:sp>
        <p:nvSpPr>
          <p:cNvPr id="90" name="Rectangle 89"/>
          <p:cNvSpPr/>
          <p:nvPr/>
        </p:nvSpPr>
        <p:spPr>
          <a:xfrm>
            <a:off x="5710314" y="4176426"/>
            <a:ext cx="678392" cy="348044"/>
          </a:xfrm>
          <a:prstGeom prst="rect">
            <a:avLst/>
          </a:prstGeom>
        </p:spPr>
        <p:txBody>
          <a:bodyPr wrap="none">
            <a:spAutoFit/>
          </a:bodyPr>
          <a:lstStyle/>
          <a:p>
            <a:pPr algn="r" fontAlgn="base">
              <a:spcBef>
                <a:spcPct val="0"/>
              </a:spcBef>
              <a:spcAft>
                <a:spcPct val="0"/>
              </a:spcAft>
            </a:pPr>
            <a:r>
              <a:rPr lang="en-US" sz="831" dirty="0">
                <a:solidFill>
                  <a:schemeClr val="bg1"/>
                </a:solidFill>
                <a:latin typeface="EYInterstate Light" panose="02000506000000020004" pitchFamily="2" charset="0"/>
              </a:rPr>
              <a:t>data </a:t>
            </a:r>
            <a:br>
              <a:rPr lang="en-US" sz="831" dirty="0">
                <a:solidFill>
                  <a:schemeClr val="bg1"/>
                </a:solidFill>
                <a:latin typeface="EYInterstate Light" panose="02000506000000020004" pitchFamily="2" charset="0"/>
              </a:rPr>
            </a:br>
            <a:r>
              <a:rPr lang="en-US" sz="831" dirty="0">
                <a:solidFill>
                  <a:schemeClr val="bg1"/>
                </a:solidFill>
                <a:latin typeface="EYInterstate Light" panose="02000506000000020004" pitchFamily="2" charset="0"/>
              </a:rPr>
              <a:t>extraction</a:t>
            </a:r>
          </a:p>
        </p:txBody>
      </p:sp>
      <p:sp>
        <p:nvSpPr>
          <p:cNvPr id="91" name="Right Arrow 90"/>
          <p:cNvSpPr/>
          <p:nvPr/>
        </p:nvSpPr>
        <p:spPr>
          <a:xfrm>
            <a:off x="7042751" y="3113891"/>
            <a:ext cx="694986" cy="469054"/>
          </a:xfrm>
          <a:prstGeom prst="rightArrow">
            <a:avLst/>
          </a:prstGeom>
          <a:solidFill>
            <a:srgbClr val="FFFFFF">
              <a:lumMod val="50000"/>
            </a:srgbClr>
          </a:solidFill>
          <a:ln w="254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738" b="0" i="0" u="none" strike="noStrike" kern="0" cap="none" spc="0" normalizeH="0" baseline="0" noProof="0" dirty="0" smtClean="0">
              <a:ln>
                <a:noFill/>
              </a:ln>
              <a:solidFill>
                <a:srgbClr val="000000"/>
              </a:solidFill>
              <a:effectLst/>
              <a:uLnTx/>
              <a:uFillTx/>
              <a:latin typeface="EYInterstate Light" panose="02000506000000020004" pitchFamily="2" charset="0"/>
              <a:ea typeface="+mn-ea"/>
              <a:cs typeface="+mn-cs"/>
            </a:endParaRPr>
          </a:p>
        </p:txBody>
      </p:sp>
      <p:sp>
        <p:nvSpPr>
          <p:cNvPr id="92" name="Rectangle 91"/>
          <p:cNvSpPr/>
          <p:nvPr/>
        </p:nvSpPr>
        <p:spPr>
          <a:xfrm>
            <a:off x="6861120" y="3562652"/>
            <a:ext cx="1015009" cy="348044"/>
          </a:xfrm>
          <a:prstGeom prst="rect">
            <a:avLst/>
          </a:prstGeom>
        </p:spPr>
        <p:txBody>
          <a:bodyPr wrap="square">
            <a:spAutoFit/>
          </a:bodyPr>
          <a:lstStyle/>
          <a:p>
            <a:pPr algn="ctr" fontAlgn="base">
              <a:spcBef>
                <a:spcPct val="0"/>
              </a:spcBef>
              <a:spcAft>
                <a:spcPct val="0"/>
              </a:spcAft>
            </a:pPr>
            <a:r>
              <a:rPr lang="en-US" sz="831" dirty="0">
                <a:solidFill>
                  <a:schemeClr val="bg1"/>
                </a:solidFill>
                <a:latin typeface="EYInterstate Light" panose="02000506000000020004" pitchFamily="2" charset="0"/>
              </a:rPr>
              <a:t>data export to target systems</a:t>
            </a:r>
          </a:p>
        </p:txBody>
      </p:sp>
      <p:sp>
        <p:nvSpPr>
          <p:cNvPr id="93" name="Bent-Up Arrow 92"/>
          <p:cNvSpPr/>
          <p:nvPr/>
        </p:nvSpPr>
        <p:spPr>
          <a:xfrm rot="5400000">
            <a:off x="2606975" y="3924138"/>
            <a:ext cx="849404" cy="1052406"/>
          </a:xfrm>
          <a:prstGeom prst="bentUpArrow">
            <a:avLst>
              <a:gd name="adj1" fmla="val 21666"/>
              <a:gd name="adj2" fmla="val 25000"/>
              <a:gd name="adj3" fmla="val 25000"/>
            </a:avLst>
          </a:prstGeom>
          <a:solidFill>
            <a:srgbClr val="FFD200"/>
          </a:solidFill>
          <a:ln w="254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923" b="0" i="0" u="none" strike="noStrike" kern="0" cap="none" spc="0" normalizeH="0" baseline="0" noProof="0" dirty="0" err="1" smtClean="0">
              <a:ln>
                <a:noFill/>
              </a:ln>
              <a:solidFill>
                <a:srgbClr val="FFFFFF"/>
              </a:solidFill>
              <a:effectLst/>
              <a:uLnTx/>
              <a:uFillTx/>
              <a:latin typeface="EYInterstate Light" panose="02000506000000020004" pitchFamily="2" charset="0"/>
              <a:ea typeface="+mn-ea"/>
              <a:cs typeface="+mn-cs"/>
            </a:endParaRPr>
          </a:p>
        </p:txBody>
      </p:sp>
      <p:sp>
        <p:nvSpPr>
          <p:cNvPr id="94" name="Bent-Up Arrow 93"/>
          <p:cNvSpPr/>
          <p:nvPr/>
        </p:nvSpPr>
        <p:spPr>
          <a:xfrm>
            <a:off x="5684061" y="3892081"/>
            <a:ext cx="979398" cy="851189"/>
          </a:xfrm>
          <a:prstGeom prst="bentUpArrow">
            <a:avLst>
              <a:gd name="adj1" fmla="val 21666"/>
              <a:gd name="adj2" fmla="val 25000"/>
              <a:gd name="adj3" fmla="val 25000"/>
            </a:avLst>
          </a:prstGeom>
          <a:solidFill>
            <a:srgbClr val="FFD200"/>
          </a:solidFill>
          <a:ln w="254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923" b="0" i="0" u="none" strike="noStrike" kern="0" cap="none" spc="0" normalizeH="0" baseline="0" noProof="0" dirty="0" err="1" smtClean="0">
              <a:ln>
                <a:noFill/>
              </a:ln>
              <a:solidFill>
                <a:srgbClr val="FFFFFF"/>
              </a:solidFill>
              <a:effectLst/>
              <a:uLnTx/>
              <a:uFillTx/>
              <a:latin typeface="EYInterstate Light" panose="02000506000000020004" pitchFamily="2" charset="0"/>
              <a:ea typeface="+mn-ea"/>
              <a:cs typeface="+mn-cs"/>
            </a:endParaRPr>
          </a:p>
        </p:txBody>
      </p:sp>
      <p:sp>
        <p:nvSpPr>
          <p:cNvPr id="31" name="Rectangle 30"/>
          <p:cNvSpPr/>
          <p:nvPr/>
        </p:nvSpPr>
        <p:spPr>
          <a:xfrm>
            <a:off x="2827819" y="4239015"/>
            <a:ext cx="510076" cy="348044"/>
          </a:xfrm>
          <a:prstGeom prst="rect">
            <a:avLst/>
          </a:prstGeom>
        </p:spPr>
        <p:txBody>
          <a:bodyPr wrap="none">
            <a:spAutoFit/>
          </a:bodyPr>
          <a:lstStyle/>
          <a:p>
            <a:pPr algn="r" fontAlgn="base">
              <a:spcBef>
                <a:spcPct val="0"/>
              </a:spcBef>
              <a:spcAft>
                <a:spcPct val="0"/>
              </a:spcAft>
            </a:pPr>
            <a:r>
              <a:rPr lang="en-US" sz="831" dirty="0">
                <a:solidFill>
                  <a:schemeClr val="bg1"/>
                </a:solidFill>
                <a:latin typeface="EYInterstate Light" panose="02000506000000020004" pitchFamily="2" charset="0"/>
              </a:rPr>
              <a:t>data </a:t>
            </a:r>
            <a:br>
              <a:rPr lang="en-US" sz="831" dirty="0">
                <a:solidFill>
                  <a:schemeClr val="bg1"/>
                </a:solidFill>
                <a:latin typeface="EYInterstate Light" panose="02000506000000020004" pitchFamily="2" charset="0"/>
              </a:rPr>
            </a:br>
            <a:r>
              <a:rPr lang="en-US" sz="831" dirty="0" smtClean="0">
                <a:solidFill>
                  <a:schemeClr val="bg1"/>
                </a:solidFill>
                <a:latin typeface="EYInterstate Light" panose="02000506000000020004" pitchFamily="2" charset="0"/>
              </a:rPr>
              <a:t>upload</a:t>
            </a:r>
            <a:endParaRPr lang="en-US" sz="831" dirty="0">
              <a:solidFill>
                <a:schemeClr val="bg1"/>
              </a:solidFill>
              <a:latin typeface="EYInterstate Light" panose="02000506000000020004" pitchFamily="2" charset="0"/>
            </a:endParaRPr>
          </a:p>
        </p:txBody>
      </p:sp>
      <p:sp>
        <p:nvSpPr>
          <p:cNvPr id="30" name="Footer Placeholder 3"/>
          <p:cNvSpPr>
            <a:spLocks noGrp="1"/>
          </p:cNvSpPr>
          <p:nvPr>
            <p:ph type="ftr" sz="quarter" idx="4294967295"/>
          </p:nvPr>
        </p:nvSpPr>
        <p:spPr>
          <a:xfrm>
            <a:off x="2588400" y="6503980"/>
            <a:ext cx="3434400" cy="201600"/>
          </a:xfrm>
          <a:prstGeom prst="rect">
            <a:avLst/>
          </a:prstGeom>
        </p:spPr>
        <p:txBody>
          <a:bodyPr lIns="0" tIns="0" rIns="0" bIns="0"/>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32" name="Abgerundetes Rechteck 24"/>
          <p:cNvSpPr/>
          <p:nvPr/>
        </p:nvSpPr>
        <p:spPr bwMode="gray">
          <a:xfrm>
            <a:off x="3811868" y="5374721"/>
            <a:ext cx="1642873" cy="534432"/>
          </a:xfrm>
          <a:prstGeom prst="rect">
            <a:avLst/>
          </a:prstGeom>
          <a:solidFill>
            <a:srgbClr val="FFD503"/>
          </a:solidFill>
          <a:ln w="57150">
            <a:noFill/>
            <a:headEnd/>
            <a:tailEnd/>
          </a:ln>
        </p:spPr>
        <p:style>
          <a:lnRef idx="2">
            <a:schemeClr val="accent1"/>
          </a:lnRef>
          <a:fillRef idx="1">
            <a:schemeClr val="lt1"/>
          </a:fillRef>
          <a:effectRef idx="0">
            <a:schemeClr val="accent1"/>
          </a:effectRef>
          <a:fontRef idx="minor">
            <a:schemeClr val="dk1"/>
          </a:fontRef>
        </p:style>
        <p:txBody>
          <a:bodyPr vert="horz" wrap="square" lIns="0" tIns="0" rIns="0" bIns="0" anchor="ctr"/>
          <a:lstStyle/>
          <a:p>
            <a:pPr algn="ctr" defTabSz="801688" eaLnBrk="0" hangingPunct="0">
              <a:lnSpc>
                <a:spcPct val="95000"/>
              </a:lnSpc>
              <a:spcAft>
                <a:spcPts val="800"/>
              </a:spcAft>
              <a:buClr>
                <a:srgbClr val="969696"/>
              </a:buClr>
              <a:defRPr/>
            </a:pPr>
            <a:r>
              <a:rPr lang="en-US" b="1" dirty="0">
                <a:solidFill>
                  <a:srgbClr val="808080"/>
                </a:solidFill>
                <a:latin typeface="EYInterstate" panose="02000503020000020004" pitchFamily="2" charset="0"/>
                <a:cs typeface="Arial" charset="0"/>
              </a:rPr>
              <a:t>LIC </a:t>
            </a:r>
            <a:r>
              <a:rPr lang="en-US" b="1" dirty="0" smtClean="0">
                <a:solidFill>
                  <a:srgbClr val="808080"/>
                </a:solidFill>
                <a:latin typeface="EYInterstate" panose="02000503020000020004" pitchFamily="2" charset="0"/>
                <a:cs typeface="Arial" charset="0"/>
              </a:rPr>
              <a:t>Solution</a:t>
            </a:r>
            <a:r>
              <a:rPr lang="cs-CZ" b="1" dirty="0" smtClean="0">
                <a:solidFill>
                  <a:srgbClr val="808080"/>
                </a:solidFill>
                <a:latin typeface="EYInterstate" panose="02000503020000020004" pitchFamily="2" charset="0"/>
                <a:cs typeface="Arial" charset="0"/>
              </a:rPr>
              <a:t>®</a:t>
            </a:r>
            <a:endParaRPr lang="en-US" b="1" dirty="0">
              <a:solidFill>
                <a:srgbClr val="808080"/>
              </a:solidFill>
              <a:latin typeface="EYInterstate" panose="02000503020000020004" pitchFamily="2" charset="0"/>
              <a:cs typeface="Arial" charset="0"/>
            </a:endParaRPr>
          </a:p>
        </p:txBody>
      </p:sp>
    </p:spTree>
    <p:extLst>
      <p:ext uri="{BB962C8B-B14F-4D97-AF65-F5344CB8AC3E}">
        <p14:creationId xmlns:p14="http://schemas.microsoft.com/office/powerpoint/2010/main" val="3928921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ontent Placeholder 2"/>
          <p:cNvSpPr txBox="1">
            <a:spLocks/>
          </p:cNvSpPr>
          <p:nvPr/>
        </p:nvSpPr>
        <p:spPr>
          <a:xfrm>
            <a:off x="457200" y="1026000"/>
            <a:ext cx="8306474" cy="2183318"/>
          </a:xfrm>
          <a:prstGeom prst="rect">
            <a:avLst/>
          </a:prstGeom>
        </p:spPr>
        <p:txBody>
          <a:bodyPr lIns="0" tIns="0"/>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cs-CZ" sz="1200" dirty="0" smtClean="0">
                <a:latin typeface="EYInterstate Light" panose="02000506000000020004" pitchFamily="2" charset="0"/>
              </a:rPr>
              <a:t>LIC Solution® </a:t>
            </a:r>
            <a:r>
              <a:rPr lang="en-US" sz="1200" dirty="0" smtClean="0">
                <a:latin typeface="EYInterstate Light" panose="02000506000000020004" pitchFamily="2" charset="0"/>
              </a:rPr>
              <a:t>operates on three </a:t>
            </a:r>
            <a:r>
              <a:rPr lang="en-US" sz="1200" dirty="0">
                <a:latin typeface="EYInterstate Light" panose="02000506000000020004" pitchFamily="2" charset="0"/>
              </a:rPr>
              <a:t>tiers which ensure separation of data management functions, of application processing and of end-user presentation. Application processing includes both web server as well as reporting server services.</a:t>
            </a:r>
            <a:endParaRPr lang="en-US" sz="1200" dirty="0" smtClean="0">
              <a:latin typeface="EYInterstate Light" panose="02000506000000020004" pitchFamily="2" charset="0"/>
            </a:endParaRPr>
          </a:p>
          <a:p>
            <a:endParaRPr lang="en-US" sz="1400" dirty="0" smtClean="0"/>
          </a:p>
          <a:p>
            <a:endParaRPr lang="en-GB" sz="1400" dirty="0"/>
          </a:p>
        </p:txBody>
      </p:sp>
      <p:sp>
        <p:nvSpPr>
          <p:cNvPr id="2" name="Title 1"/>
          <p:cNvSpPr>
            <a:spLocks noGrp="1"/>
          </p:cNvSpPr>
          <p:nvPr>
            <p:ph type="title"/>
          </p:nvPr>
        </p:nvSpPr>
        <p:spPr/>
        <p:txBody>
          <a:bodyPr/>
          <a:lstStyle/>
          <a:p>
            <a:r>
              <a:rPr lang="en-US" dirty="0">
                <a:latin typeface="EYInterstate" panose="02000503020000020004" pitchFamily="2" charset="0"/>
              </a:rPr>
              <a:t>A</a:t>
            </a:r>
            <a:r>
              <a:rPr lang="en-US" dirty="0" smtClean="0">
                <a:latin typeface="EYInterstate" panose="02000503020000020004" pitchFamily="2" charset="0"/>
              </a:rPr>
              <a:t>rchitecture</a:t>
            </a:r>
            <a:r>
              <a:rPr lang="en-US" dirty="0"/>
              <a:t/>
            </a:r>
            <a:br>
              <a:rPr lang="en-US" dirty="0"/>
            </a:br>
            <a:endParaRPr lang="en-US" dirty="0"/>
          </a:p>
        </p:txBody>
      </p:sp>
      <p:sp>
        <p:nvSpPr>
          <p:cNvPr id="6" name="Rectangle 5"/>
          <p:cNvSpPr/>
          <p:nvPr/>
        </p:nvSpPr>
        <p:spPr>
          <a:xfrm>
            <a:off x="2587112" y="1750167"/>
            <a:ext cx="5291512" cy="2839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3163" tIns="33163" rIns="33163" bIns="33163" rtlCol="0" anchor="ctr"/>
          <a:lstStyle/>
          <a:p>
            <a:pPr algn="ctr" fontAlgn="base">
              <a:spcBef>
                <a:spcPct val="0"/>
              </a:spcBef>
              <a:spcAft>
                <a:spcPct val="0"/>
              </a:spcAft>
            </a:pPr>
            <a:endParaRPr lang="cs-CZ" sz="923" dirty="0" err="1">
              <a:solidFill>
                <a:srgbClr val="000000"/>
              </a:solidFill>
              <a:latin typeface="EYInterstate Light" panose="02000506000000020004" pitchFamily="2" charset="0"/>
            </a:endParaRPr>
          </a:p>
        </p:txBody>
      </p:sp>
      <p:sp>
        <p:nvSpPr>
          <p:cNvPr id="7" name="Rectangle 6"/>
          <p:cNvSpPr/>
          <p:nvPr/>
        </p:nvSpPr>
        <p:spPr bwMode="auto">
          <a:xfrm>
            <a:off x="2473837" y="1750167"/>
            <a:ext cx="4223925" cy="250334"/>
          </a:xfrm>
          <a:prstGeom prst="rect">
            <a:avLst/>
          </a:prstGeom>
          <a:noFill/>
          <a:ln w="12700" cap="flat" cmpd="sng" algn="ctr">
            <a:noFill/>
            <a:prstDash val="solid"/>
            <a:round/>
            <a:headEnd type="none" w="med" len="med"/>
            <a:tailEnd type="none" w="med" len="med"/>
          </a:ln>
          <a:effectLst/>
        </p:spPr>
        <p:txBody>
          <a:bodyPr vert="horz" wrap="none" lIns="49744" tIns="49744" rIns="49744" bIns="49744" numCol="1" rtlCol="0" anchor="ctr" anchorCtr="0" compatLnSpc="1">
            <a:prstTxWarp prst="textNoShape">
              <a:avLst/>
            </a:prstTxWarp>
          </a:bodyPr>
          <a:lstStyle/>
          <a:p>
            <a:pPr algn="ctr" defTabSz="960839">
              <a:defRPr/>
            </a:pPr>
            <a:endParaRPr lang="cs-CZ" sz="831" kern="0">
              <a:solidFill>
                <a:srgbClr val="000000"/>
              </a:solidFill>
              <a:latin typeface="EYInterstate Light" panose="02000506000000020004" pitchFamily="2" charset="0"/>
            </a:endParaRPr>
          </a:p>
        </p:txBody>
      </p:sp>
      <p:pic>
        <p:nvPicPr>
          <p:cNvPr id="8"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3896" y="2481521"/>
            <a:ext cx="606395" cy="592809"/>
          </a:xfrm>
          <a:prstGeom prst="rect">
            <a:avLst/>
          </a:prstGeom>
          <a:noFill/>
          <a:ln w="9525">
            <a:noFill/>
            <a:miter lim="800000"/>
            <a:headEnd/>
            <a:tailEnd/>
          </a:ln>
        </p:spPr>
      </p:pic>
      <p:cxnSp>
        <p:nvCxnSpPr>
          <p:cNvPr id="9" name="Straight Connector 8"/>
          <p:cNvCxnSpPr/>
          <p:nvPr/>
        </p:nvCxnSpPr>
        <p:spPr bwMode="auto">
          <a:xfrm flipH="1">
            <a:off x="4305722" y="2074678"/>
            <a:ext cx="1116" cy="1731229"/>
          </a:xfrm>
          <a:prstGeom prst="line">
            <a:avLst/>
          </a:prstGeom>
          <a:solidFill>
            <a:srgbClr val="A5A4A7"/>
          </a:solidFill>
          <a:ln w="12700" cap="flat" cmpd="sng" algn="ctr">
            <a:solidFill>
              <a:srgbClr val="A5A4A7"/>
            </a:solidFill>
            <a:prstDash val="solid"/>
            <a:round/>
            <a:headEnd type="none" w="med" len="med"/>
            <a:tailEnd type="none" w="med" len="med"/>
          </a:ln>
          <a:effectLst/>
        </p:spPr>
      </p:cxnSp>
      <p:cxnSp>
        <p:nvCxnSpPr>
          <p:cNvPr id="10" name="Straight Connector 9"/>
          <p:cNvCxnSpPr/>
          <p:nvPr/>
        </p:nvCxnSpPr>
        <p:spPr bwMode="auto">
          <a:xfrm>
            <a:off x="6179697" y="2074678"/>
            <a:ext cx="4721" cy="1731229"/>
          </a:xfrm>
          <a:prstGeom prst="line">
            <a:avLst/>
          </a:prstGeom>
          <a:solidFill>
            <a:srgbClr val="A5A4A7"/>
          </a:solidFill>
          <a:ln w="12700" cap="flat" cmpd="sng" algn="ctr">
            <a:solidFill>
              <a:srgbClr val="A5A4A7"/>
            </a:solidFill>
            <a:prstDash val="solid"/>
            <a:round/>
            <a:headEnd type="none" w="med" len="med"/>
            <a:tailEnd type="none" w="med" len="med"/>
          </a:ln>
          <a:effectLst/>
        </p:spPr>
      </p:cxnSp>
      <p:sp>
        <p:nvSpPr>
          <p:cNvPr id="11" name="TextBox 10"/>
          <p:cNvSpPr txBox="1"/>
          <p:nvPr/>
        </p:nvSpPr>
        <p:spPr>
          <a:xfrm>
            <a:off x="1155812" y="2089131"/>
            <a:ext cx="1338674" cy="212914"/>
          </a:xfrm>
          <a:prstGeom prst="rect">
            <a:avLst/>
          </a:prstGeom>
          <a:noFill/>
        </p:spPr>
        <p:txBody>
          <a:bodyPr wrap="square" lIns="84232" tIns="42118" rIns="84232" bIns="42118" rtlCol="0">
            <a:spAutoFit/>
          </a:bodyPr>
          <a:lstStyle/>
          <a:p>
            <a:pPr algn="ctr">
              <a:defRPr/>
            </a:pPr>
            <a:r>
              <a:rPr lang="en-US" sz="831" b="1" kern="0" dirty="0" smtClean="0">
                <a:solidFill>
                  <a:schemeClr val="bg1"/>
                </a:solidFill>
                <a:latin typeface="EYInterstate Light" pitchFamily="2" charset="0"/>
              </a:rPr>
              <a:t>Institution’s </a:t>
            </a:r>
            <a:r>
              <a:rPr lang="en-US" sz="831" b="1" kern="0" dirty="0">
                <a:solidFill>
                  <a:schemeClr val="bg1"/>
                </a:solidFill>
                <a:latin typeface="EYInterstate Light" pitchFamily="2" charset="0"/>
              </a:rPr>
              <a:t>IT systems</a:t>
            </a:r>
            <a:endParaRPr lang="cs-CZ" sz="831" b="1" kern="0" dirty="0">
              <a:solidFill>
                <a:schemeClr val="bg1"/>
              </a:solidFill>
              <a:latin typeface="EYInterstate Light" pitchFamily="2" charset="0"/>
            </a:endParaRPr>
          </a:p>
        </p:txBody>
      </p:sp>
      <p:sp>
        <p:nvSpPr>
          <p:cNvPr id="12" name="TextBox 11"/>
          <p:cNvSpPr txBox="1"/>
          <p:nvPr/>
        </p:nvSpPr>
        <p:spPr>
          <a:xfrm>
            <a:off x="2798556" y="2089131"/>
            <a:ext cx="1274749" cy="212914"/>
          </a:xfrm>
          <a:prstGeom prst="rect">
            <a:avLst/>
          </a:prstGeom>
          <a:noFill/>
        </p:spPr>
        <p:txBody>
          <a:bodyPr wrap="square" lIns="84232" tIns="42118" rIns="84232" bIns="42118" rtlCol="0">
            <a:spAutoFit/>
          </a:bodyPr>
          <a:lstStyle/>
          <a:p>
            <a:pPr algn="ctr">
              <a:defRPr/>
            </a:pPr>
            <a:r>
              <a:rPr lang="en-US" sz="831" b="1" kern="0" dirty="0">
                <a:solidFill>
                  <a:schemeClr val="bg1"/>
                </a:solidFill>
                <a:latin typeface="EYInterstate Light" pitchFamily="2" charset="0"/>
              </a:rPr>
              <a:t>Database tier</a:t>
            </a:r>
            <a:endParaRPr lang="cs-CZ" sz="831" b="1" kern="0" dirty="0">
              <a:solidFill>
                <a:schemeClr val="bg1"/>
              </a:solidFill>
              <a:latin typeface="EYInterstate Light" pitchFamily="2" charset="0"/>
            </a:endParaRPr>
          </a:p>
        </p:txBody>
      </p:sp>
      <p:sp>
        <p:nvSpPr>
          <p:cNvPr id="13" name="TextBox 12"/>
          <p:cNvSpPr txBox="1"/>
          <p:nvPr/>
        </p:nvSpPr>
        <p:spPr>
          <a:xfrm>
            <a:off x="4620732" y="2089131"/>
            <a:ext cx="1274749" cy="212914"/>
          </a:xfrm>
          <a:prstGeom prst="rect">
            <a:avLst/>
          </a:prstGeom>
          <a:noFill/>
        </p:spPr>
        <p:txBody>
          <a:bodyPr wrap="square" lIns="84232" tIns="42118" rIns="84232" bIns="42118" rtlCol="0">
            <a:spAutoFit/>
          </a:bodyPr>
          <a:lstStyle/>
          <a:p>
            <a:pPr algn="ctr">
              <a:defRPr/>
            </a:pPr>
            <a:r>
              <a:rPr lang="en-US" sz="831" b="1" kern="0" dirty="0">
                <a:solidFill>
                  <a:schemeClr val="bg1"/>
                </a:solidFill>
                <a:latin typeface="EYInterstate Light" pitchFamily="2" charset="0"/>
              </a:rPr>
              <a:t>Application tier</a:t>
            </a:r>
            <a:endParaRPr lang="cs-CZ" sz="831" b="1" kern="0" dirty="0">
              <a:solidFill>
                <a:schemeClr val="bg1"/>
              </a:solidFill>
              <a:latin typeface="EYInterstate Light" pitchFamily="2" charset="0"/>
            </a:endParaRPr>
          </a:p>
        </p:txBody>
      </p:sp>
      <p:sp>
        <p:nvSpPr>
          <p:cNvPr id="14" name="TextBox 13"/>
          <p:cNvSpPr txBox="1"/>
          <p:nvPr/>
        </p:nvSpPr>
        <p:spPr>
          <a:xfrm>
            <a:off x="6369139" y="2081221"/>
            <a:ext cx="1274749" cy="212914"/>
          </a:xfrm>
          <a:prstGeom prst="rect">
            <a:avLst/>
          </a:prstGeom>
          <a:noFill/>
        </p:spPr>
        <p:txBody>
          <a:bodyPr wrap="square" lIns="84232" tIns="42118" rIns="84232" bIns="42118" rtlCol="0">
            <a:spAutoFit/>
          </a:bodyPr>
          <a:lstStyle/>
          <a:p>
            <a:pPr algn="ctr">
              <a:defRPr/>
            </a:pPr>
            <a:r>
              <a:rPr lang="en-US" sz="831" b="1" kern="0" dirty="0">
                <a:solidFill>
                  <a:schemeClr val="bg1"/>
                </a:solidFill>
                <a:latin typeface="EYInterstate Light" pitchFamily="2" charset="0"/>
              </a:rPr>
              <a:t>Client tier</a:t>
            </a:r>
            <a:endParaRPr lang="cs-CZ" sz="831" b="1" kern="0" dirty="0">
              <a:solidFill>
                <a:schemeClr val="bg1"/>
              </a:solidFill>
              <a:latin typeface="EYInterstate Light" pitchFamily="2" charset="0"/>
            </a:endParaRPr>
          </a:p>
        </p:txBody>
      </p:sp>
      <p:cxnSp>
        <p:nvCxnSpPr>
          <p:cNvPr id="15" name="Straight Arrow Connector 14"/>
          <p:cNvCxnSpPr>
            <a:endCxn id="6" idx="3"/>
          </p:cNvCxnSpPr>
          <p:nvPr/>
        </p:nvCxnSpPr>
        <p:spPr bwMode="auto">
          <a:xfrm flipV="1">
            <a:off x="2588612" y="1892145"/>
            <a:ext cx="5290012" cy="20547"/>
          </a:xfrm>
          <a:prstGeom prst="straightConnector1">
            <a:avLst/>
          </a:prstGeom>
          <a:solidFill>
            <a:srgbClr val="A5A4A7"/>
          </a:solidFill>
          <a:ln w="6350" cap="flat" cmpd="sng" algn="ctr">
            <a:solidFill>
              <a:schemeClr val="bg1"/>
            </a:solidFill>
            <a:prstDash val="solid"/>
            <a:round/>
            <a:headEnd type="arrow" w="med" len="med"/>
            <a:tailEnd type="arrow" w="med" len="med"/>
          </a:ln>
          <a:effectLst/>
        </p:spPr>
      </p:cxnSp>
      <p:sp>
        <p:nvSpPr>
          <p:cNvPr id="16" name="TextBox 15"/>
          <p:cNvSpPr txBox="1"/>
          <p:nvPr/>
        </p:nvSpPr>
        <p:spPr>
          <a:xfrm>
            <a:off x="4291889" y="1768071"/>
            <a:ext cx="1875812" cy="212914"/>
          </a:xfrm>
          <a:prstGeom prst="rect">
            <a:avLst/>
          </a:prstGeom>
          <a:solidFill>
            <a:schemeClr val="accent2"/>
          </a:solidFill>
        </p:spPr>
        <p:txBody>
          <a:bodyPr wrap="square" lIns="84232" tIns="42118" rIns="84232" bIns="42118" rtlCol="0">
            <a:spAutoFit/>
          </a:bodyPr>
          <a:lstStyle/>
          <a:p>
            <a:pPr algn="ctr">
              <a:defRPr/>
            </a:pPr>
            <a:r>
              <a:rPr lang="en-US" sz="831" b="1" kern="0" dirty="0">
                <a:solidFill>
                  <a:schemeClr val="bg1"/>
                </a:solidFill>
                <a:latin typeface="EYInterstate Light" pitchFamily="2" charset="0"/>
              </a:rPr>
              <a:t>Three-tier architecture</a:t>
            </a:r>
            <a:endParaRPr lang="cs-CZ" sz="831" b="1" kern="0" dirty="0">
              <a:solidFill>
                <a:schemeClr val="bg1"/>
              </a:solidFill>
              <a:latin typeface="EYInterstate Light" pitchFamily="2" charset="0"/>
            </a:endParaRPr>
          </a:p>
        </p:txBody>
      </p:sp>
      <p:sp>
        <p:nvSpPr>
          <p:cNvPr id="17" name="TextBox 16"/>
          <p:cNvSpPr txBox="1"/>
          <p:nvPr/>
        </p:nvSpPr>
        <p:spPr>
          <a:xfrm>
            <a:off x="2616634" y="3806005"/>
            <a:ext cx="1690204" cy="1619325"/>
          </a:xfrm>
          <a:prstGeom prst="rect">
            <a:avLst/>
          </a:prstGeom>
          <a:noFill/>
        </p:spPr>
        <p:txBody>
          <a:bodyPr wrap="square" lIns="33163" tIns="42118" rIns="0" bIns="42118" rtlCol="0">
            <a:spAutoFit/>
          </a:bodyPr>
          <a:lstStyle/>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Database server</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Data integration services</a:t>
            </a:r>
          </a:p>
          <a:p>
            <a:pPr marL="168182" indent="-168182" defTabSz="1044996">
              <a:buClr>
                <a:srgbClr val="FFE600"/>
              </a:buClr>
              <a:buFont typeface="Arial" pitchFamily="34" charset="0"/>
              <a:buChar char="►"/>
              <a:defRPr/>
            </a:pPr>
            <a:endParaRPr lang="en-US" sz="831" kern="0" dirty="0">
              <a:solidFill>
                <a:schemeClr val="bg1"/>
              </a:solidFill>
              <a:latin typeface="EYInterstate Light" pitchFamily="2" charset="0"/>
            </a:endParaRPr>
          </a:p>
          <a:p>
            <a:pPr defTabSz="1044996">
              <a:buClr>
                <a:srgbClr val="FFE600"/>
              </a:buClr>
              <a:defRPr/>
            </a:pPr>
            <a:r>
              <a:rPr lang="en-US" sz="831" b="1" kern="0" dirty="0">
                <a:solidFill>
                  <a:schemeClr val="bg1"/>
                </a:solidFill>
                <a:latin typeface="EYInterstate Light" pitchFamily="2" charset="0"/>
              </a:rPr>
              <a:t>Performs</a:t>
            </a:r>
            <a:r>
              <a:rPr lang="en-US" sz="831" kern="0" dirty="0">
                <a:solidFill>
                  <a:schemeClr val="bg1"/>
                </a:solidFill>
                <a:latin typeface="EYInterstate Light" pitchFamily="2" charset="0"/>
              </a:rPr>
              <a:t>:</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All business logic</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All computations</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Storing all parameterizations</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All data-related operations, data versioning and full historization</a:t>
            </a:r>
          </a:p>
          <a:p>
            <a:pPr marL="168182" indent="-168182" defTabSz="1044996">
              <a:buClr>
                <a:srgbClr val="FFE600"/>
              </a:buClr>
              <a:buFont typeface="Arial" pitchFamily="34" charset="0"/>
              <a:buChar char="►"/>
              <a:defRPr/>
            </a:pPr>
            <a:endParaRPr lang="en-US" sz="831" kern="0" dirty="0">
              <a:solidFill>
                <a:srgbClr val="000000"/>
              </a:solidFill>
              <a:latin typeface="EYInterstate Light" pitchFamily="2" charset="0"/>
            </a:endParaRPr>
          </a:p>
          <a:p>
            <a:pPr marL="168182" indent="-168182" defTabSz="1044996">
              <a:buClr>
                <a:srgbClr val="FFE600"/>
              </a:buClr>
              <a:buFont typeface="Arial" pitchFamily="34" charset="0"/>
              <a:buChar char="►"/>
              <a:defRPr/>
            </a:pPr>
            <a:endParaRPr lang="en-US" sz="831" kern="0" dirty="0">
              <a:solidFill>
                <a:srgbClr val="000000"/>
              </a:solidFill>
              <a:latin typeface="EYInterstate Light" pitchFamily="2" charset="0"/>
            </a:endParaRPr>
          </a:p>
        </p:txBody>
      </p:sp>
      <p:sp>
        <p:nvSpPr>
          <p:cNvPr id="18" name="TextBox 17"/>
          <p:cNvSpPr txBox="1"/>
          <p:nvPr/>
        </p:nvSpPr>
        <p:spPr>
          <a:xfrm>
            <a:off x="4297986" y="3805917"/>
            <a:ext cx="1881711" cy="2130747"/>
          </a:xfrm>
          <a:prstGeom prst="rect">
            <a:avLst/>
          </a:prstGeom>
          <a:noFill/>
        </p:spPr>
        <p:txBody>
          <a:bodyPr wrap="square" lIns="33163" tIns="42118" rIns="72000" bIns="42118" rtlCol="0">
            <a:spAutoFit/>
          </a:bodyPr>
          <a:lstStyle/>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Web application server</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Reporting server</a:t>
            </a:r>
          </a:p>
          <a:p>
            <a:pPr defTabSz="1044996">
              <a:buClr>
                <a:srgbClr val="FFE600"/>
              </a:buClr>
              <a:defRPr/>
            </a:pPr>
            <a:endParaRPr lang="en-US" sz="831" kern="0" dirty="0">
              <a:solidFill>
                <a:schemeClr val="bg1"/>
              </a:solidFill>
              <a:latin typeface="EYInterstate Light" pitchFamily="2" charset="0"/>
            </a:endParaRPr>
          </a:p>
          <a:p>
            <a:pPr defTabSz="1044996">
              <a:buClr>
                <a:srgbClr val="FFE600"/>
              </a:buClr>
              <a:defRPr/>
            </a:pPr>
            <a:r>
              <a:rPr lang="en-US" sz="831" b="1" kern="0" dirty="0">
                <a:solidFill>
                  <a:schemeClr val="bg1"/>
                </a:solidFill>
                <a:latin typeface="EYInterstate Light" pitchFamily="2" charset="0"/>
              </a:rPr>
              <a:t>Performs:</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Presentation layer functions</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GUI/ user interface, web pages and reports rendering</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Processes AD authentication using LDAP</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Processes user requests</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Data requests to database</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No application server side computations (all </a:t>
            </a:r>
            <a:r>
              <a:rPr lang="en-US" sz="831" kern="0" dirty="0" smtClean="0">
                <a:solidFill>
                  <a:schemeClr val="bg1"/>
                </a:solidFill>
                <a:latin typeface="EYInterstate Light" pitchFamily="2" charset="0"/>
              </a:rPr>
              <a:t>computations are performed by the database server)</a:t>
            </a:r>
            <a:endParaRPr lang="en-US" sz="831" kern="0" dirty="0">
              <a:solidFill>
                <a:schemeClr val="bg1"/>
              </a:solidFill>
              <a:latin typeface="EYInterstate Light" pitchFamily="2" charset="0"/>
            </a:endParaRPr>
          </a:p>
          <a:p>
            <a:pPr marL="168182" indent="-168182" defTabSz="1044996">
              <a:buClr>
                <a:srgbClr val="FFE600"/>
              </a:buClr>
              <a:buFont typeface="Arial" pitchFamily="34" charset="0"/>
              <a:buChar char="►"/>
              <a:defRPr/>
            </a:pPr>
            <a:endParaRPr lang="cs-CZ" sz="831" kern="0" dirty="0">
              <a:solidFill>
                <a:srgbClr val="000000"/>
              </a:solidFill>
              <a:latin typeface="EYInterstate Light" pitchFamily="2" charset="0"/>
            </a:endParaRPr>
          </a:p>
        </p:txBody>
      </p:sp>
      <p:sp>
        <p:nvSpPr>
          <p:cNvPr id="19" name="TextBox 18"/>
          <p:cNvSpPr txBox="1"/>
          <p:nvPr/>
        </p:nvSpPr>
        <p:spPr>
          <a:xfrm>
            <a:off x="1160832" y="3805944"/>
            <a:ext cx="1410903" cy="724336"/>
          </a:xfrm>
          <a:prstGeom prst="rect">
            <a:avLst/>
          </a:prstGeom>
          <a:noFill/>
        </p:spPr>
        <p:txBody>
          <a:bodyPr wrap="square" lIns="84232" tIns="42118" rIns="84232" bIns="42118" rtlCol="0">
            <a:spAutoFit/>
          </a:bodyPr>
          <a:lstStyle/>
          <a:p>
            <a:pPr defTabSz="1044996">
              <a:buClr>
                <a:srgbClr val="FFE600"/>
              </a:buClr>
              <a:defRPr/>
            </a:pPr>
            <a:r>
              <a:rPr lang="en-US" sz="831" kern="0" dirty="0">
                <a:solidFill>
                  <a:schemeClr val="bg1"/>
                </a:solidFill>
                <a:latin typeface="EYInterstate Light" pitchFamily="2" charset="0"/>
              </a:rPr>
              <a:t>Input &amp; output from/to:</a:t>
            </a: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Core </a:t>
            </a:r>
            <a:r>
              <a:rPr lang="en-US" sz="831" kern="0" dirty="0" smtClean="0">
                <a:solidFill>
                  <a:schemeClr val="bg1"/>
                </a:solidFill>
                <a:latin typeface="EYInterstate Light" pitchFamily="2" charset="0"/>
              </a:rPr>
              <a:t>systems</a:t>
            </a:r>
            <a:endParaRPr lang="en-US" sz="831" kern="0" dirty="0">
              <a:solidFill>
                <a:schemeClr val="bg1"/>
              </a:solidFill>
              <a:latin typeface="EYInterstate Light" pitchFamily="2" charset="0"/>
            </a:endParaRPr>
          </a:p>
          <a:p>
            <a:pPr marL="168182" indent="-168182" defTabSz="1044996">
              <a:buClr>
                <a:srgbClr val="FFE600"/>
              </a:buClr>
              <a:buFont typeface="Arial" pitchFamily="34" charset="0"/>
              <a:buChar char="►"/>
              <a:defRPr/>
            </a:pPr>
            <a:r>
              <a:rPr lang="en-US" sz="831" kern="0" dirty="0">
                <a:solidFill>
                  <a:schemeClr val="bg1"/>
                </a:solidFill>
                <a:latin typeface="EYInterstate Light" pitchFamily="2" charset="0"/>
              </a:rPr>
              <a:t>Data warehouse(s)</a:t>
            </a:r>
          </a:p>
          <a:p>
            <a:pPr marL="168182" indent="-168182" defTabSz="1044996">
              <a:buClr>
                <a:srgbClr val="FFE600"/>
              </a:buClr>
              <a:buFont typeface="Arial" pitchFamily="34" charset="0"/>
              <a:buChar char="►"/>
              <a:defRPr/>
            </a:pPr>
            <a:r>
              <a:rPr lang="en-US" sz="831" kern="0" dirty="0" smtClean="0">
                <a:solidFill>
                  <a:schemeClr val="bg1"/>
                </a:solidFill>
                <a:latin typeface="EYInterstate Light" pitchFamily="2" charset="0"/>
              </a:rPr>
              <a:t>Inputs &amp; outputs standardized</a:t>
            </a:r>
            <a:endParaRPr lang="en-US" sz="831" kern="0" dirty="0">
              <a:solidFill>
                <a:schemeClr val="bg1"/>
              </a:solidFill>
              <a:latin typeface="EYInterstate Light" pitchFamily="2" charset="0"/>
            </a:endParaRPr>
          </a:p>
        </p:txBody>
      </p:sp>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9087" y="3247137"/>
            <a:ext cx="525125" cy="372082"/>
          </a:xfrm>
          <a:prstGeom prst="rect">
            <a:avLst/>
          </a:prstGeom>
          <a:noFill/>
          <a:ln w="9525">
            <a:noFill/>
            <a:miter lim="800000"/>
            <a:headEnd/>
            <a:tailEnd/>
          </a:ln>
        </p:spPr>
      </p:pic>
      <p:cxnSp>
        <p:nvCxnSpPr>
          <p:cNvPr id="21" name="Straight Connector 20"/>
          <p:cNvCxnSpPr/>
          <p:nvPr/>
        </p:nvCxnSpPr>
        <p:spPr>
          <a:xfrm flipH="1">
            <a:off x="2589122" y="2074692"/>
            <a:ext cx="1067" cy="3606298"/>
          </a:xfrm>
          <a:prstGeom prst="line">
            <a:avLst/>
          </a:prstGeom>
          <a:noFill/>
          <a:ln w="12700" cap="flat" cmpd="sng" algn="ctr">
            <a:solidFill>
              <a:srgbClr val="808080"/>
            </a:solidFill>
            <a:prstDash val="dashDot"/>
          </a:ln>
          <a:effectLst/>
        </p:spPr>
      </p:cxnSp>
      <p:pic>
        <p:nvPicPr>
          <p:cNvPr id="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2660" y="2401725"/>
            <a:ext cx="713494" cy="1151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Left-Right Arrow 22"/>
          <p:cNvSpPr/>
          <p:nvPr/>
        </p:nvSpPr>
        <p:spPr>
          <a:xfrm>
            <a:off x="3959233" y="2864006"/>
            <a:ext cx="659182" cy="241950"/>
          </a:xfrm>
          <a:prstGeom prst="leftRightArrow">
            <a:avLst/>
          </a:prstGeom>
        </p:spPr>
        <p:style>
          <a:lnRef idx="1">
            <a:schemeClr val="accent4"/>
          </a:lnRef>
          <a:fillRef idx="2">
            <a:schemeClr val="accent4"/>
          </a:fillRef>
          <a:effectRef idx="1">
            <a:schemeClr val="accent4"/>
          </a:effectRef>
          <a:fontRef idx="minor">
            <a:schemeClr val="dk1"/>
          </a:fontRef>
        </p:style>
        <p:txBody>
          <a:bodyPr lIns="33163" tIns="33163" rIns="33163" bIns="33163" rtlCol="0" anchor="ctr"/>
          <a:lstStyle/>
          <a:p>
            <a:pPr algn="ctr" fontAlgn="base">
              <a:spcBef>
                <a:spcPct val="0"/>
              </a:spcBef>
              <a:spcAft>
                <a:spcPct val="0"/>
              </a:spcAft>
            </a:pPr>
            <a:endParaRPr lang="en-US" sz="831" dirty="0" err="1">
              <a:solidFill>
                <a:srgbClr val="000000"/>
              </a:solidFill>
              <a:latin typeface="EYInterstate Light" panose="02000506000000020004" pitchFamily="2" charset="0"/>
            </a:endParaRPr>
          </a:p>
        </p:txBody>
      </p:sp>
      <p:sp>
        <p:nvSpPr>
          <p:cNvPr id="24" name="Left-Right Arrow 23"/>
          <p:cNvSpPr/>
          <p:nvPr/>
        </p:nvSpPr>
        <p:spPr>
          <a:xfrm>
            <a:off x="5854827" y="2882151"/>
            <a:ext cx="659182" cy="241950"/>
          </a:xfrm>
          <a:prstGeom prst="leftRightArrow">
            <a:avLst/>
          </a:prstGeom>
        </p:spPr>
        <p:style>
          <a:lnRef idx="1">
            <a:schemeClr val="accent4"/>
          </a:lnRef>
          <a:fillRef idx="2">
            <a:schemeClr val="accent4"/>
          </a:fillRef>
          <a:effectRef idx="1">
            <a:schemeClr val="accent4"/>
          </a:effectRef>
          <a:fontRef idx="minor">
            <a:schemeClr val="dk1"/>
          </a:fontRef>
        </p:style>
        <p:txBody>
          <a:bodyPr lIns="33163" tIns="33163" rIns="33163" bIns="33163" rtlCol="0" anchor="ctr"/>
          <a:lstStyle/>
          <a:p>
            <a:pPr algn="ctr" fontAlgn="base">
              <a:spcBef>
                <a:spcPct val="0"/>
              </a:spcBef>
              <a:spcAft>
                <a:spcPct val="0"/>
              </a:spcAft>
            </a:pPr>
            <a:endParaRPr lang="en-US" sz="831" dirty="0" err="1">
              <a:solidFill>
                <a:srgbClr val="000000"/>
              </a:solidFill>
              <a:latin typeface="EYInterstate Light" panose="02000506000000020004" pitchFamily="2" charset="0"/>
            </a:endParaRPr>
          </a:p>
        </p:txBody>
      </p:sp>
      <p:sp>
        <p:nvSpPr>
          <p:cNvPr id="25" name="Left-Right Arrow 24"/>
          <p:cNvSpPr/>
          <p:nvPr/>
        </p:nvSpPr>
        <p:spPr>
          <a:xfrm>
            <a:off x="2253505" y="2882151"/>
            <a:ext cx="659182" cy="241950"/>
          </a:xfrm>
          <a:prstGeom prst="leftRightArrow">
            <a:avLst/>
          </a:prstGeom>
        </p:spPr>
        <p:style>
          <a:lnRef idx="1">
            <a:schemeClr val="accent4"/>
          </a:lnRef>
          <a:fillRef idx="2">
            <a:schemeClr val="accent4"/>
          </a:fillRef>
          <a:effectRef idx="1">
            <a:schemeClr val="accent4"/>
          </a:effectRef>
          <a:fontRef idx="minor">
            <a:schemeClr val="dk1"/>
          </a:fontRef>
        </p:style>
        <p:txBody>
          <a:bodyPr lIns="33163" tIns="33163" rIns="33163" bIns="33163" rtlCol="0" anchor="ctr"/>
          <a:lstStyle/>
          <a:p>
            <a:pPr algn="ctr" fontAlgn="base">
              <a:spcBef>
                <a:spcPct val="0"/>
              </a:spcBef>
              <a:spcAft>
                <a:spcPct val="0"/>
              </a:spcAft>
            </a:pPr>
            <a:endParaRPr lang="en-US" sz="831" dirty="0" err="1">
              <a:solidFill>
                <a:srgbClr val="000000"/>
              </a:solidFill>
              <a:latin typeface="EYInterstate Light" panose="02000506000000020004" pitchFamily="2" charset="0"/>
            </a:endParaRPr>
          </a:p>
        </p:txBody>
      </p:sp>
      <p:pic>
        <p:nvPicPr>
          <p:cNvPr id="26"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9387" y="2538177"/>
            <a:ext cx="593146" cy="893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6515" y="2401893"/>
            <a:ext cx="713494" cy="1151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8" name="Straight Connector 27"/>
          <p:cNvCxnSpPr/>
          <p:nvPr/>
        </p:nvCxnSpPr>
        <p:spPr bwMode="auto">
          <a:xfrm>
            <a:off x="7871006" y="2074678"/>
            <a:ext cx="0" cy="1731229"/>
          </a:xfrm>
          <a:prstGeom prst="line">
            <a:avLst/>
          </a:prstGeom>
          <a:solidFill>
            <a:srgbClr val="A5A4A7"/>
          </a:solidFill>
          <a:ln w="12700" cap="flat" cmpd="sng" algn="ctr">
            <a:solidFill>
              <a:srgbClr val="A5A4A7"/>
            </a:solidFill>
            <a:prstDash val="solid"/>
            <a:round/>
            <a:headEnd type="none" w="med" len="med"/>
            <a:tailEnd type="none" w="med" len="med"/>
          </a:ln>
          <a:effectLst/>
        </p:spPr>
      </p:cxnSp>
      <p:sp>
        <p:nvSpPr>
          <p:cNvPr id="31" name="TextBox 30"/>
          <p:cNvSpPr txBox="1"/>
          <p:nvPr/>
        </p:nvSpPr>
        <p:spPr>
          <a:xfrm>
            <a:off x="6170234" y="3859726"/>
            <a:ext cx="1708389" cy="1892768"/>
          </a:xfrm>
          <a:prstGeom prst="rect">
            <a:avLst/>
          </a:prstGeom>
          <a:noFill/>
        </p:spPr>
        <p:txBody>
          <a:bodyPr wrap="square" lIns="35927" tIns="45628" rIns="0" bIns="45628" rtlCol="0">
            <a:spAutoFit/>
          </a:bodyPr>
          <a:lstStyle/>
          <a:p>
            <a:pPr marL="182193" indent="-182193" defTabSz="1132051">
              <a:buClr>
                <a:srgbClr val="FFE600"/>
              </a:buClr>
              <a:buFont typeface="Arial" pitchFamily="34" charset="0"/>
              <a:buChar char="►"/>
              <a:defRPr/>
            </a:pPr>
            <a:r>
              <a:rPr lang="en-US" sz="831" kern="0" dirty="0">
                <a:solidFill>
                  <a:schemeClr val="bg1"/>
                </a:solidFill>
                <a:latin typeface="EYInterstate Light" pitchFamily="2" charset="0"/>
              </a:rPr>
              <a:t>User workstations</a:t>
            </a:r>
          </a:p>
          <a:p>
            <a:pPr marL="182193" indent="-182193" defTabSz="1132051">
              <a:buClr>
                <a:srgbClr val="FFE600"/>
              </a:buClr>
              <a:buFont typeface="Arial" pitchFamily="34" charset="0"/>
              <a:buChar char="►"/>
              <a:defRPr/>
            </a:pPr>
            <a:r>
              <a:rPr lang="en-US" sz="831" kern="0" dirty="0">
                <a:solidFill>
                  <a:schemeClr val="bg1"/>
                </a:solidFill>
                <a:latin typeface="EYInterstate Light" pitchFamily="2" charset="0"/>
              </a:rPr>
              <a:t>Mobile devices</a:t>
            </a:r>
          </a:p>
          <a:p>
            <a:pPr defTabSz="1132051">
              <a:buClr>
                <a:srgbClr val="FFE600"/>
              </a:buClr>
              <a:defRPr/>
            </a:pPr>
            <a:endParaRPr lang="en-US" sz="900" kern="0" dirty="0">
              <a:solidFill>
                <a:srgbClr val="000000"/>
              </a:solidFill>
              <a:latin typeface="EYInterstate Light" pitchFamily="2" charset="0"/>
            </a:endParaRPr>
          </a:p>
          <a:p>
            <a:pPr defTabSz="1132051">
              <a:buClr>
                <a:srgbClr val="FFE600"/>
              </a:buClr>
              <a:defRPr/>
            </a:pPr>
            <a:r>
              <a:rPr lang="en-US" sz="831" b="1" kern="0" dirty="0">
                <a:solidFill>
                  <a:schemeClr val="bg1"/>
                </a:solidFill>
                <a:latin typeface="EYInterstate Light" pitchFamily="2" charset="0"/>
              </a:rPr>
              <a:t>Performs:</a:t>
            </a:r>
          </a:p>
          <a:p>
            <a:pPr marL="182193" indent="-182193" defTabSz="1132051">
              <a:buClr>
                <a:srgbClr val="FFE600"/>
              </a:buClr>
              <a:buFont typeface="Arial" pitchFamily="34" charset="0"/>
              <a:buChar char="►"/>
              <a:defRPr/>
            </a:pPr>
            <a:r>
              <a:rPr lang="en-US" sz="831" kern="0" dirty="0">
                <a:solidFill>
                  <a:schemeClr val="bg1"/>
                </a:solidFill>
                <a:latin typeface="EYInterstate Light" pitchFamily="2" charset="0"/>
              </a:rPr>
              <a:t>Web pages and report presentation for the client/end-user based on user requests</a:t>
            </a:r>
          </a:p>
          <a:p>
            <a:pPr marL="182193" indent="-182193" defTabSz="1132051">
              <a:buClr>
                <a:srgbClr val="FFE600"/>
              </a:buClr>
              <a:buFont typeface="Arial" pitchFamily="34" charset="0"/>
              <a:buChar char="►"/>
              <a:defRPr/>
            </a:pPr>
            <a:r>
              <a:rPr lang="en-US" sz="831" kern="0" dirty="0">
                <a:solidFill>
                  <a:schemeClr val="bg1"/>
                </a:solidFill>
                <a:latin typeface="EYInterstate Light" pitchFamily="2" charset="0"/>
              </a:rPr>
              <a:t>Provides user inputs to the web server and reporting server</a:t>
            </a:r>
          </a:p>
          <a:p>
            <a:pPr marL="182193" indent="-182193" defTabSz="1132051">
              <a:buClr>
                <a:srgbClr val="FFE600"/>
              </a:buClr>
              <a:buFont typeface="Arial" pitchFamily="34" charset="0"/>
              <a:buChar char="►"/>
              <a:defRPr/>
            </a:pPr>
            <a:r>
              <a:rPr lang="en-US" sz="831" kern="0" dirty="0">
                <a:solidFill>
                  <a:schemeClr val="bg1"/>
                </a:solidFill>
                <a:latin typeface="EYInterstate Light" pitchFamily="2" charset="0"/>
              </a:rPr>
              <a:t>Sends to web server the user AD identity</a:t>
            </a:r>
          </a:p>
          <a:p>
            <a:pPr marL="182193" indent="-182193" defTabSz="1132051">
              <a:buClr>
                <a:srgbClr val="FFE600"/>
              </a:buClr>
              <a:buFont typeface="Arial" pitchFamily="34" charset="0"/>
              <a:buChar char="►"/>
              <a:defRPr/>
            </a:pPr>
            <a:r>
              <a:rPr lang="en-US" sz="831" kern="0" dirty="0">
                <a:solidFill>
                  <a:schemeClr val="bg1"/>
                </a:solidFill>
                <a:latin typeface="EYInterstate Light" pitchFamily="2" charset="0"/>
              </a:rPr>
              <a:t>No client side </a:t>
            </a:r>
            <a:r>
              <a:rPr lang="en-US" sz="831" kern="0" dirty="0" smtClean="0">
                <a:solidFill>
                  <a:schemeClr val="bg1"/>
                </a:solidFill>
                <a:latin typeface="EYInterstate Light" pitchFamily="2" charset="0"/>
              </a:rPr>
              <a:t>computations</a:t>
            </a:r>
            <a:endParaRPr lang="cs-CZ" sz="900" kern="0" dirty="0">
              <a:solidFill>
                <a:srgbClr val="000000"/>
              </a:solidFill>
              <a:latin typeface="EYInterstate Light" pitchFamily="2" charset="0"/>
            </a:endParaRPr>
          </a:p>
        </p:txBody>
      </p:sp>
      <p:sp>
        <p:nvSpPr>
          <p:cNvPr id="29" name="Footer Placeholder 3"/>
          <p:cNvSpPr>
            <a:spLocks noGrp="1"/>
          </p:cNvSpPr>
          <p:nvPr>
            <p:ph type="ftr" sz="quarter" idx="4294967295"/>
          </p:nvPr>
        </p:nvSpPr>
        <p:spPr>
          <a:xfrm>
            <a:off x="2588400" y="6503980"/>
            <a:ext cx="3434400" cy="201600"/>
          </a:xfrm>
          <a:prstGeom prst="rect">
            <a:avLst/>
          </a:prstGeom>
        </p:spPr>
        <p:txBody>
          <a:bodyPr lIns="0" tIns="0" rIns="0" bIns="0"/>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1542353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ontent Placeholder 2"/>
          <p:cNvSpPr txBox="1">
            <a:spLocks/>
          </p:cNvSpPr>
          <p:nvPr/>
        </p:nvSpPr>
        <p:spPr>
          <a:xfrm>
            <a:off x="457200" y="1026000"/>
            <a:ext cx="8306474" cy="2183318"/>
          </a:xfrm>
          <a:prstGeom prst="rect">
            <a:avLst/>
          </a:prstGeom>
        </p:spPr>
        <p:txBody>
          <a:bodyPr lIns="0" tIns="0"/>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200" dirty="0" smtClean="0">
                <a:latin typeface="EYInterstate Light" panose="02000506000000020004" pitchFamily="2" charset="0"/>
              </a:rPr>
              <a:t>Hardware, software and access requirements for LIC Solution® are </a:t>
            </a:r>
            <a:r>
              <a:rPr lang="en-US" sz="1200" dirty="0">
                <a:latin typeface="EYInterstate Light" panose="02000506000000020004" pitchFamily="2" charset="0"/>
              </a:rPr>
              <a:t>presented below</a:t>
            </a:r>
            <a:r>
              <a:rPr lang="en-US" sz="1200" dirty="0" smtClean="0">
                <a:latin typeface="EYInterstate Light" panose="02000506000000020004" pitchFamily="2" charset="0"/>
              </a:rPr>
              <a:t>. As the solution is </a:t>
            </a:r>
            <a:r>
              <a:rPr lang="en-US" sz="1200" dirty="0">
                <a:latin typeface="EYInterstate Light" panose="02000506000000020004" pitchFamily="2" charset="0"/>
              </a:rPr>
              <a:t>accessible via a web browser interface, there is no additional installation effort required for its distribution among end-users.</a:t>
            </a:r>
            <a:endParaRPr lang="en-US" sz="1400" dirty="0" smtClean="0">
              <a:latin typeface="EYInterstate Light" panose="02000506000000020004" pitchFamily="2" charset="0"/>
            </a:endParaRPr>
          </a:p>
          <a:p>
            <a:endParaRPr lang="en-GB" sz="1400" dirty="0"/>
          </a:p>
        </p:txBody>
      </p:sp>
      <p:sp>
        <p:nvSpPr>
          <p:cNvPr id="2" name="Title 1"/>
          <p:cNvSpPr>
            <a:spLocks noGrp="1"/>
          </p:cNvSpPr>
          <p:nvPr>
            <p:ph type="title"/>
          </p:nvPr>
        </p:nvSpPr>
        <p:spPr/>
        <p:txBody>
          <a:bodyPr/>
          <a:lstStyle/>
          <a:p>
            <a:r>
              <a:rPr lang="en-US" dirty="0" smtClean="0">
                <a:latin typeface="EYInterstate" panose="02000503020000020004" pitchFamily="2" charset="0"/>
              </a:rPr>
              <a:t>Technical requirements</a:t>
            </a:r>
            <a:r>
              <a:rPr lang="en-US" dirty="0"/>
              <a:t/>
            </a:r>
            <a:br>
              <a:rPr lang="en-US" dirty="0"/>
            </a:b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629491579"/>
              </p:ext>
            </p:extLst>
          </p:nvPr>
        </p:nvGraphicFramePr>
        <p:xfrm>
          <a:off x="868680" y="1617983"/>
          <a:ext cx="7398340" cy="3334234"/>
        </p:xfrm>
        <a:graphic>
          <a:graphicData uri="http://schemas.openxmlformats.org/drawingml/2006/table">
            <a:tbl>
              <a:tblPr firstRow="1" bandRow="1">
                <a:tableStyleId>{21E4AEA4-8DFA-4A89-87EB-49C32662AFE0}</a:tableStyleId>
              </a:tblPr>
              <a:tblGrid>
                <a:gridCol w="516246"/>
                <a:gridCol w="395251"/>
                <a:gridCol w="1892663"/>
                <a:gridCol w="2263010"/>
                <a:gridCol w="109806"/>
                <a:gridCol w="2221364"/>
              </a:tblGrid>
              <a:tr h="172717">
                <a:tc rowSpan="11">
                  <a:txBody>
                    <a:bodyPr/>
                    <a:lstStyle/>
                    <a:p>
                      <a:pPr marL="0" marR="0" lvl="0" indent="0" algn="ctr" defTabSz="839535" rtl="0" eaLnBrk="1" fontAlgn="auto" latinLnBrk="0" hangingPunct="1">
                        <a:lnSpc>
                          <a:spcPct val="100000"/>
                        </a:lnSpc>
                        <a:spcBef>
                          <a:spcPts val="0"/>
                        </a:spcBef>
                        <a:spcAft>
                          <a:spcPts val="0"/>
                        </a:spcAft>
                        <a:buClrTx/>
                        <a:buSzTx/>
                        <a:buFontTx/>
                        <a:buNone/>
                        <a:tabLst/>
                        <a:defRPr/>
                      </a:pPr>
                      <a:r>
                        <a:rPr kumimoji="0" lang="en-US" sz="1400" u="none" strike="noStrike" kern="0" cap="none" spc="0" normalizeH="0" baseline="0" noProof="0" dirty="0" smtClean="0">
                          <a:ln>
                            <a:noFill/>
                          </a:ln>
                          <a:solidFill>
                            <a:schemeClr val="tx1"/>
                          </a:solidFill>
                          <a:effectLst/>
                          <a:uLnTx/>
                          <a:uFillTx/>
                          <a:latin typeface="EYInterstate" panose="02000503020000020004" pitchFamily="2" charset="0"/>
                        </a:rPr>
                        <a:t>Hardware (optimal)</a:t>
                      </a:r>
                      <a:endParaRPr kumimoji="0" lang="cs-CZ" sz="1400" b="1" i="0" u="none" strike="noStrike" kern="0" cap="none" spc="0" normalizeH="0" baseline="0" noProof="0" dirty="0" smtClean="0">
                        <a:ln>
                          <a:noFill/>
                        </a:ln>
                        <a:solidFill>
                          <a:schemeClr val="tx1"/>
                        </a:solidFill>
                        <a:effectLst/>
                        <a:uLnTx/>
                        <a:uFillTx/>
                        <a:latin typeface="EYInterstate" panose="02000503020000020004" pitchFamily="2" charset="0"/>
                      </a:endParaRPr>
                    </a:p>
                  </a:txBody>
                  <a:tcPr marL="84406" marR="84406" marT="42203" marB="42203"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rowSpan="9">
                  <a:txBody>
                    <a:bodyPr/>
                    <a:lstStyle/>
                    <a:p>
                      <a:pPr algn="ctr"/>
                      <a:r>
                        <a:rPr lang="en-US" sz="1100" b="1" dirty="0" smtClean="0">
                          <a:solidFill>
                            <a:srgbClr val="FFFFFF"/>
                          </a:solidFill>
                          <a:latin typeface="EYInterstate" panose="02000503020000020004" pitchFamily="2" charset="0"/>
                        </a:rPr>
                        <a:t>Servers</a:t>
                      </a:r>
                      <a:endParaRPr lang="en-US" sz="1100" b="1" dirty="0">
                        <a:solidFill>
                          <a:srgbClr val="FFFFFF"/>
                        </a:solidFill>
                        <a:latin typeface="EYInterstate" panose="02000503020000020004" pitchFamily="2" charset="0"/>
                      </a:endParaRPr>
                    </a:p>
                  </a:txBody>
                  <a:tcPr marL="84406" marR="84406" marT="42203" marB="42203"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solidFill>
                  </a:tcPr>
                </a:tc>
                <a:tc>
                  <a:txBody>
                    <a:bodyPr/>
                    <a:lstStyle/>
                    <a:p>
                      <a:r>
                        <a:rPr lang="en-US" sz="800" dirty="0" smtClean="0">
                          <a:solidFill>
                            <a:schemeClr val="tx1"/>
                          </a:solidFill>
                          <a:latin typeface="EYInterstate Light" panose="02000506000000020004" pitchFamily="2" charset="0"/>
                        </a:rPr>
                        <a:t>Server type</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7E7"/>
                    </a:solidFill>
                  </a:tcPr>
                </a:tc>
                <a:tc gridSpan="3">
                  <a:txBody>
                    <a:bodyPr/>
                    <a:lstStyle/>
                    <a:p>
                      <a:r>
                        <a:rPr lang="en-US" sz="800" dirty="0" smtClean="0">
                          <a:solidFill>
                            <a:schemeClr val="tx1"/>
                          </a:solidFill>
                          <a:latin typeface="EYInterstate Light" panose="02000506000000020004" pitchFamily="2" charset="0"/>
                        </a:rPr>
                        <a:t>Physical server or alternatively a fully dedicated virtualized server</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7E7"/>
                    </a:solidFill>
                  </a:tcPr>
                </a:tc>
                <a:tc hMerge="1">
                  <a:txBody>
                    <a:bodyPr/>
                    <a:lstStyle/>
                    <a:p>
                      <a:endParaRPr lang="cs-CZ"/>
                    </a:p>
                  </a:txBody>
                  <a:tcPr/>
                </a:tc>
                <a:tc hMerge="1">
                  <a:txBody>
                    <a:bodyPr/>
                    <a:lstStyle/>
                    <a:p>
                      <a:endParaRPr lang="cs-CZ"/>
                    </a:p>
                  </a:txBody>
                  <a:tcPr/>
                </a:tc>
              </a:tr>
              <a:tr h="202611">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Operating System</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gridSpan="3">
                  <a:txBody>
                    <a:bodyPr/>
                    <a:lstStyle/>
                    <a:p>
                      <a:r>
                        <a:rPr lang="en-US" sz="800" kern="1200" dirty="0" smtClean="0">
                          <a:solidFill>
                            <a:schemeClr val="tx1"/>
                          </a:solidFill>
                          <a:effectLst/>
                          <a:latin typeface="EYInterstate Light" panose="02000506000000020004" pitchFamily="2" charset="0"/>
                        </a:rPr>
                        <a:t>Windows Server 2012 or higher, 64-bit, Standard edition (as minimum) or Datacenter edition (recommended)</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hMerge="1">
                  <a:txBody>
                    <a:bodyPr/>
                    <a:lstStyle/>
                    <a:p>
                      <a:endParaRPr lang="cs-CZ"/>
                    </a:p>
                  </a:txBody>
                  <a:tcPr/>
                </a:tc>
                <a:tc hMerge="1">
                  <a:txBody>
                    <a:bodyPr/>
                    <a:lstStyle/>
                    <a:p>
                      <a:endParaRPr lang="cs-CZ"/>
                    </a:p>
                  </a:txBody>
                  <a:tcPr/>
                </a:tc>
              </a:tr>
              <a:tr h="224885">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kern="1200" dirty="0" smtClean="0">
                          <a:solidFill>
                            <a:schemeClr val="tx1"/>
                          </a:solidFill>
                          <a:effectLst/>
                          <a:latin typeface="EYInterstate Light" panose="02000506000000020004" pitchFamily="2" charset="0"/>
                        </a:rPr>
                        <a:t>Additional SW installations/licensing needed</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gridSpan="3">
                  <a:txBody>
                    <a:bodyPr/>
                    <a:lstStyle/>
                    <a:p>
                      <a:r>
                        <a:rPr lang="en-US" sz="800" kern="1200" dirty="0" smtClean="0">
                          <a:solidFill>
                            <a:schemeClr val="tx1"/>
                          </a:solidFill>
                          <a:effectLst/>
                          <a:latin typeface="EYInterstate Light" panose="02000506000000020004" pitchFamily="2" charset="0"/>
                        </a:rPr>
                        <a:t>MS SQL Server 2016, 64 bit,  Enterprise edition or Standard edition, IIS web server component activated, .NET framework 4.5 or higher installed</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rgbClr val="FFF7E7"/>
                    </a:solidFill>
                  </a:tcPr>
                </a:tc>
                <a:tc hMerge="1">
                  <a:txBody>
                    <a:bodyPr/>
                    <a:lstStyle/>
                    <a:p>
                      <a:endParaRPr lang="cs-CZ"/>
                    </a:p>
                  </a:txBody>
                  <a:tcPr/>
                </a:tc>
                <a:tc hMerge="1">
                  <a:txBody>
                    <a:bodyPr/>
                    <a:lstStyle/>
                    <a:p>
                      <a:endParaRPr lang="cs-CZ"/>
                    </a:p>
                  </a:txBody>
                  <a:tcPr/>
                </a:tc>
              </a:tr>
              <a:tr h="148099">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kern="1200" dirty="0" smtClean="0">
                          <a:solidFill>
                            <a:schemeClr val="tx1"/>
                          </a:solidFill>
                          <a:effectLst/>
                          <a:latin typeface="EYInterstate Light" panose="02000506000000020004" pitchFamily="2" charset="0"/>
                        </a:rPr>
                        <a:t>CPU</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gridSpan="3">
                  <a:txBody>
                    <a:bodyPr/>
                    <a:lstStyle/>
                    <a:p>
                      <a:r>
                        <a:rPr lang="en-US" sz="800" dirty="0" smtClean="0">
                          <a:solidFill>
                            <a:schemeClr val="tx1"/>
                          </a:solidFill>
                          <a:latin typeface="EYInterstate Light" panose="02000506000000020004" pitchFamily="2" charset="0"/>
                        </a:rPr>
                        <a:t>x64 Processor with 2.0GHz or faster</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hMerge="1">
                  <a:txBody>
                    <a:bodyPr/>
                    <a:lstStyle/>
                    <a:p>
                      <a:endParaRPr lang="cs-CZ"/>
                    </a:p>
                  </a:txBody>
                  <a:tcPr/>
                </a:tc>
                <a:tc hMerge="1">
                  <a:txBody>
                    <a:bodyPr/>
                    <a:lstStyle/>
                    <a:p>
                      <a:endParaRPr lang="cs-CZ"/>
                    </a:p>
                  </a:txBody>
                  <a:tcPr/>
                </a:tc>
              </a:tr>
              <a:tr h="148099">
                <a:tc vMerge="1">
                  <a:txBody>
                    <a:bodyPr/>
                    <a:lstStyle/>
                    <a:p>
                      <a:endParaRPr lang="cs-CZ"/>
                    </a:p>
                  </a:txBody>
                  <a:tcPr/>
                </a:tc>
                <a:tc vMerge="1">
                  <a:txBody>
                    <a:bodyPr/>
                    <a:lstStyle/>
                    <a:p>
                      <a:endParaRPr lang="cs-CZ"/>
                    </a:p>
                  </a:txBody>
                  <a:tcPr/>
                </a:tc>
                <a:tc>
                  <a:txBody>
                    <a:bodyPr/>
                    <a:lstStyle/>
                    <a:p>
                      <a:pPr algn="ctr"/>
                      <a:r>
                        <a:rPr lang="en-US" sz="800" b="1" dirty="0" err="1" smtClean="0">
                          <a:solidFill>
                            <a:schemeClr val="tx2"/>
                          </a:solidFill>
                          <a:latin typeface="EYInterstate" panose="02000503020000020004" pitchFamily="2" charset="0"/>
                        </a:rPr>
                        <a:t>Nr</a:t>
                      </a:r>
                      <a:r>
                        <a:rPr lang="en-US" sz="800" b="1" dirty="0" smtClean="0">
                          <a:solidFill>
                            <a:schemeClr val="tx2"/>
                          </a:solidFill>
                          <a:latin typeface="EYInterstate" panose="02000503020000020004" pitchFamily="2" charset="0"/>
                        </a:rPr>
                        <a:t>. of</a:t>
                      </a:r>
                      <a:r>
                        <a:rPr lang="en-US" sz="800" b="1" baseline="0" dirty="0" smtClean="0">
                          <a:solidFill>
                            <a:schemeClr val="tx2"/>
                          </a:solidFill>
                          <a:latin typeface="EYInterstate" panose="02000503020000020004" pitchFamily="2" charset="0"/>
                        </a:rPr>
                        <a:t> accounts processed / month</a:t>
                      </a:r>
                      <a:endParaRPr lang="en-US" sz="800" b="1" dirty="0">
                        <a:solidFill>
                          <a:schemeClr val="tx2"/>
                        </a:solidFill>
                        <a:latin typeface="EYInterstate" panose="02000503020000020004" pitchFamily="2" charset="0"/>
                      </a:endParaRPr>
                    </a:p>
                  </a:txBody>
                  <a:tcPr marL="84406" marR="84406" marT="42203" marB="4220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chemeClr val="bg1"/>
                    </a:solidFill>
                  </a:tcPr>
                </a:tc>
                <a:tc gridSpan="2">
                  <a:txBody>
                    <a:bodyPr/>
                    <a:lstStyle/>
                    <a:p>
                      <a:pPr algn="ctr"/>
                      <a:r>
                        <a:rPr lang="en-US" sz="800" b="1" dirty="0" smtClean="0">
                          <a:solidFill>
                            <a:schemeClr val="tx2"/>
                          </a:solidFill>
                          <a:latin typeface="EYInterstate" panose="02000503020000020004" pitchFamily="2" charset="0"/>
                        </a:rPr>
                        <a:t>Up</a:t>
                      </a:r>
                      <a:r>
                        <a:rPr lang="en-US" sz="800" b="1" baseline="0" dirty="0" smtClean="0">
                          <a:solidFill>
                            <a:schemeClr val="tx2"/>
                          </a:solidFill>
                          <a:latin typeface="EYInterstate" panose="02000503020000020004" pitchFamily="2" charset="0"/>
                        </a:rPr>
                        <a:t> to 100 000</a:t>
                      </a:r>
                      <a:endParaRPr lang="en-US" sz="800" b="1" dirty="0">
                        <a:solidFill>
                          <a:schemeClr val="tx2"/>
                        </a:solidFill>
                        <a:latin typeface="EYInterstate" panose="0200050302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chemeClr val="bg1"/>
                    </a:solidFill>
                  </a:tcPr>
                </a:tc>
                <a:tc hMerge="1">
                  <a:txBody>
                    <a:bodyPr/>
                    <a:lstStyle/>
                    <a:p>
                      <a:endParaRPr lang="cs-CZ"/>
                    </a:p>
                  </a:txBody>
                  <a:tcPr/>
                </a:tc>
                <a:tc>
                  <a:txBody>
                    <a:bodyPr/>
                    <a:lstStyle/>
                    <a:p>
                      <a:pPr algn="ctr"/>
                      <a:r>
                        <a:rPr lang="en-US" sz="800" b="1" dirty="0" smtClean="0">
                          <a:solidFill>
                            <a:schemeClr val="tx2"/>
                          </a:solidFill>
                          <a:latin typeface="EYInterstate" panose="02000503020000020004" pitchFamily="2" charset="0"/>
                        </a:rPr>
                        <a:t>Up to 500 000</a:t>
                      </a:r>
                      <a:endParaRPr lang="en-US" sz="800" b="1" dirty="0">
                        <a:solidFill>
                          <a:schemeClr val="tx2"/>
                        </a:solidFill>
                        <a:latin typeface="EYInterstate" panose="0200050302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chemeClr val="bg1"/>
                    </a:solidFill>
                  </a:tcPr>
                </a:tc>
              </a:tr>
              <a:tr h="124653">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Number of cores</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a:txBody>
                    <a:bodyPr/>
                    <a:lstStyle/>
                    <a:p>
                      <a:pPr marL="0" marR="0" lvl="0" indent="0" algn="l" defTabSz="839535" rtl="0" eaLnBrk="1" fontAlgn="auto" latinLnBrk="0" hangingPunct="1">
                        <a:lnSpc>
                          <a:spcPct val="100000"/>
                        </a:lnSpc>
                        <a:spcBef>
                          <a:spcPts val="0"/>
                        </a:spcBef>
                        <a:spcAft>
                          <a:spcPts val="0"/>
                        </a:spcAft>
                        <a:buClrTx/>
                        <a:buSzTx/>
                        <a:buFontTx/>
                        <a:buNone/>
                        <a:tabLst/>
                        <a:defRPr/>
                      </a:pPr>
                      <a:r>
                        <a:rPr lang="en-US" sz="800" kern="1200" dirty="0" smtClean="0">
                          <a:solidFill>
                            <a:schemeClr val="tx1"/>
                          </a:solidFill>
                          <a:effectLst/>
                          <a:latin typeface="EYInterstate Light" panose="02000506000000020004" pitchFamily="2" charset="0"/>
                        </a:rPr>
                        <a:t>8 (as minimum)</a:t>
                      </a:r>
                      <a:endParaRPr lang="en-US" sz="800" dirty="0" smtClean="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gridSpan="2">
                  <a:txBody>
                    <a:bodyPr/>
                    <a:lstStyle/>
                    <a:p>
                      <a:pPr marL="0" marR="0" lvl="0" indent="0" algn="l" defTabSz="839535" rtl="0" eaLnBrk="1" fontAlgn="auto" latinLnBrk="0" hangingPunct="1">
                        <a:lnSpc>
                          <a:spcPct val="100000"/>
                        </a:lnSpc>
                        <a:spcBef>
                          <a:spcPts val="0"/>
                        </a:spcBef>
                        <a:spcAft>
                          <a:spcPts val="0"/>
                        </a:spcAft>
                        <a:buClrTx/>
                        <a:buSzTx/>
                        <a:buFontTx/>
                        <a:buNone/>
                        <a:tabLst/>
                        <a:defRPr/>
                      </a:pPr>
                      <a:r>
                        <a:rPr lang="en-US" sz="800" kern="1200" dirty="0" smtClean="0">
                          <a:solidFill>
                            <a:schemeClr val="tx1"/>
                          </a:solidFill>
                          <a:effectLst/>
                          <a:latin typeface="EYInterstate Light" panose="02000506000000020004" pitchFamily="2" charset="0"/>
                        </a:rPr>
                        <a:t>12 (as minimum)</a:t>
                      </a:r>
                      <a:endParaRPr lang="en-US" sz="800" dirty="0" smtClean="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hMerge="1">
                  <a:txBody>
                    <a:bodyPr/>
                    <a:lstStyle/>
                    <a:p>
                      <a:endParaRPr lang="cs-CZ"/>
                    </a:p>
                  </a:txBody>
                  <a:tcPr/>
                </a:tc>
              </a:tr>
              <a:tr h="0">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RAM</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a:txBody>
                    <a:body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32 GB (as minimum), 64 GB recommended</a:t>
                      </a:r>
                      <a:endParaRPr lang="en-US" sz="800" kern="1200" baseline="0" dirty="0" smtClean="0">
                        <a:solidFill>
                          <a:schemeClr val="tx1"/>
                        </a:solidFill>
                        <a:effectLst/>
                        <a:latin typeface="EYInterstate Light" panose="02000506000000020004" pitchFamily="2" charset="0"/>
                        <a:ea typeface="+mn-ea"/>
                        <a:cs typeface="+mn-cs"/>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gridSpan="2">
                  <a:txBody>
                    <a:bodyPr/>
                    <a:lstStyle/>
                    <a:p>
                      <a:pPr marL="0" marR="0" lvl="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64 GB (as minimum), 128 GB recommended</a:t>
                      </a:r>
                      <a:endParaRPr lang="en-US" sz="800" kern="1200" baseline="0" dirty="0" smtClean="0">
                        <a:solidFill>
                          <a:schemeClr val="tx1"/>
                        </a:solidFill>
                        <a:effectLst/>
                        <a:latin typeface="EYInterstate Light" panose="02000506000000020004" pitchFamily="2" charset="0"/>
                        <a:ea typeface="+mn-ea"/>
                        <a:cs typeface="+mn-cs"/>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hMerge="1">
                  <a:txBody>
                    <a:bodyPr/>
                    <a:lstStyle/>
                    <a:p>
                      <a:endParaRPr lang="cs-CZ"/>
                    </a:p>
                  </a:txBody>
                  <a:tcPr/>
                </a:tc>
              </a:tr>
              <a:tr h="222541">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Storage (all NTFS) - number of disks, disk size </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a:txBody>
                    <a:body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4 disks (redundancy, and separated),</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overall storage requirement 500 GB</a:t>
                      </a:r>
                      <a:endParaRPr lang="en-US" sz="800" kern="1200" baseline="0" dirty="0" smtClean="0">
                        <a:solidFill>
                          <a:schemeClr val="tx1"/>
                        </a:solidFill>
                        <a:effectLst/>
                        <a:latin typeface="EYInterstate Light" panose="02000506000000020004" pitchFamily="2" charset="0"/>
                        <a:ea typeface="+mn-ea"/>
                        <a:cs typeface="+mn-cs"/>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gridSpan="2">
                  <a:txBody>
                    <a:body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ea typeface="+mn-ea"/>
                          <a:cs typeface="+mn-cs"/>
                        </a:rPr>
                        <a:t>4 disks (redundancy, and separated),</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ea typeface="+mn-ea"/>
                          <a:cs typeface="+mn-cs"/>
                        </a:rPr>
                        <a:t>overall storage requirement 1 TB</a:t>
                      </a: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tcPr>
                </a:tc>
                <a:tc hMerge="1">
                  <a:txBody>
                    <a:bodyPr/>
                    <a:lstStyle/>
                    <a:p>
                      <a:endParaRPr lang="cs-CZ"/>
                    </a:p>
                  </a:txBody>
                  <a:tcPr/>
                </a:tc>
              </a:tr>
              <a:tr h="712653">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Storage - </a:t>
                      </a:r>
                      <a:r>
                        <a:rPr lang="en-US" sz="800" dirty="0" err="1" smtClean="0">
                          <a:solidFill>
                            <a:schemeClr val="tx1"/>
                          </a:solidFill>
                          <a:latin typeface="EYInterstate Light" panose="02000506000000020004" pitchFamily="2" charset="0"/>
                        </a:rPr>
                        <a:t>nr</a:t>
                      </a:r>
                      <a:r>
                        <a:rPr lang="en-US" sz="800" dirty="0" smtClean="0">
                          <a:solidFill>
                            <a:schemeClr val="tx1"/>
                          </a:solidFill>
                          <a:latin typeface="EYInterstate Light" panose="02000506000000020004" pitchFamily="2" charset="0"/>
                        </a:rPr>
                        <a:t>., usage reason, disk size</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tc>
                  <a:txBody>
                    <a:body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1. OS + SQL Server installations incl. SSRS + IIS component + Web Application, ~60 GB</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2. Data files incl. Index data files, ~300 GB</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3. Log files, ~70 GB</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4. Temporary DB, ~70 GB</a:t>
                      </a:r>
                      <a:endParaRPr lang="en-US" sz="800" kern="1200" baseline="0" dirty="0" smtClean="0">
                        <a:solidFill>
                          <a:schemeClr val="tx1"/>
                        </a:solidFill>
                        <a:effectLst/>
                        <a:latin typeface="EYInterstate Light" panose="02000506000000020004" pitchFamily="2" charset="0"/>
                        <a:ea typeface="+mn-ea"/>
                        <a:cs typeface="+mn-cs"/>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tc gridSpan="2">
                  <a:txBody>
                    <a:bodyPr/>
                    <a:lstStyle/>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1. OS + SQL Server installations incl. SSRS + IIS component + Web Application, ~60 GB</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2. Data files incl. Index data files, ~600 GB</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3. Log files, ~200 GB</a:t>
                      </a:r>
                    </a:p>
                    <a:p>
                      <a:pPr marL="0" marR="0" indent="0" algn="l" defTabSz="839535" rtl="0" eaLnBrk="1" fontAlgn="auto" latinLnBrk="0" hangingPunct="1">
                        <a:lnSpc>
                          <a:spcPct val="100000"/>
                        </a:lnSpc>
                        <a:spcBef>
                          <a:spcPts val="0"/>
                        </a:spcBef>
                        <a:spcAft>
                          <a:spcPts val="0"/>
                        </a:spcAft>
                        <a:buClrTx/>
                        <a:buSzTx/>
                        <a:buFontTx/>
                        <a:buNone/>
                        <a:tabLst/>
                        <a:defRPr/>
                      </a:pPr>
                      <a:r>
                        <a:rPr lang="en-US" sz="800" kern="1200" baseline="0" dirty="0" smtClean="0">
                          <a:solidFill>
                            <a:schemeClr val="tx1"/>
                          </a:solidFill>
                          <a:effectLst/>
                          <a:latin typeface="EYInterstate Light" panose="02000506000000020004" pitchFamily="2" charset="0"/>
                        </a:rPr>
                        <a:t>4. Temporary DB, ~200 GB</a:t>
                      </a:r>
                      <a:endParaRPr lang="en-US" sz="800" kern="1200" baseline="0" dirty="0" smtClean="0">
                        <a:solidFill>
                          <a:schemeClr val="tx1"/>
                        </a:solidFill>
                        <a:effectLst/>
                        <a:latin typeface="EYInterstate Light" panose="02000506000000020004" pitchFamily="2" charset="0"/>
                        <a:ea typeface="+mn-ea"/>
                        <a:cs typeface="+mn-cs"/>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tc hMerge="1">
                  <a:txBody>
                    <a:bodyPr/>
                    <a:lstStyle/>
                    <a:p>
                      <a:endParaRPr lang="cs-CZ"/>
                    </a:p>
                  </a:txBody>
                  <a:tcPr/>
                </a:tc>
              </a:tr>
              <a:tr h="240822">
                <a:tc vMerge="1">
                  <a:txBody>
                    <a:bodyPr/>
                    <a:lstStyle/>
                    <a:p>
                      <a:pPr marL="0" marR="0" lvl="0" indent="0" algn="ctr" defTabSz="839535" rtl="0" eaLnBrk="1" fontAlgn="auto" latinLnBrk="0" hangingPunct="1">
                        <a:lnSpc>
                          <a:spcPct val="100000"/>
                        </a:lnSpc>
                        <a:spcBef>
                          <a:spcPts val="0"/>
                        </a:spcBef>
                        <a:spcAft>
                          <a:spcPts val="0"/>
                        </a:spcAft>
                        <a:buClrTx/>
                        <a:buSzTx/>
                        <a:buFontTx/>
                        <a:buNone/>
                        <a:tabLst/>
                        <a:defRPr/>
                      </a:pPr>
                      <a:endParaRPr kumimoji="0" lang="cs-CZ" sz="800" b="1" i="0" u="none" strike="noStrike" kern="0" cap="none" spc="0" normalizeH="0" baseline="0" noProof="0" dirty="0" smtClean="0">
                        <a:ln>
                          <a:noFill/>
                        </a:ln>
                        <a:solidFill>
                          <a:schemeClr val="tx2"/>
                        </a:solidFill>
                        <a:effectLst/>
                        <a:uLnTx/>
                        <a:uFillTx/>
                        <a:latin typeface="EYInterstate" panose="02000503020000020004" pitchFamily="2" charset="0"/>
                      </a:endParaRPr>
                    </a:p>
                  </a:txBody>
                  <a:tcPr marL="84406" marR="84406" marT="42203" marB="42203" vert="vert270" anchor="ctr">
                    <a:solidFill>
                      <a:schemeClr val="accent2">
                        <a:lumMod val="60000"/>
                        <a:lumOff val="4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smtClean="0">
                          <a:solidFill>
                            <a:srgbClr val="FFFFFF"/>
                          </a:solidFill>
                          <a:latin typeface="EYInterstate" panose="02000503020000020004" pitchFamily="2" charset="0"/>
                        </a:rPr>
                        <a:t>Clients</a:t>
                      </a:r>
                    </a:p>
                  </a:txBody>
                  <a:tcPr marL="84406" marR="84406" marT="42203" marB="42203"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smtClean="0">
                          <a:solidFill>
                            <a:schemeClr val="tx1"/>
                          </a:solidFill>
                          <a:latin typeface="EYInterstate Light" panose="02000506000000020004" pitchFamily="2" charset="0"/>
                        </a:rPr>
                        <a:t>Operating system</a:t>
                      </a: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3">
                  <a:txBody>
                    <a:bodyPr/>
                    <a:lstStyle/>
                    <a:p>
                      <a:pPr marL="0" marR="0" lvl="0" indent="0" algn="l" defTabSz="839535" rtl="0" eaLnBrk="1" fontAlgn="auto" latinLnBrk="0" hangingPunct="1">
                        <a:lnSpc>
                          <a:spcPct val="100000"/>
                        </a:lnSpc>
                        <a:spcBef>
                          <a:spcPts val="0"/>
                        </a:spcBef>
                        <a:spcAft>
                          <a:spcPts val="0"/>
                        </a:spcAft>
                        <a:buClrTx/>
                        <a:buSzTx/>
                        <a:buFontTx/>
                        <a:buNone/>
                        <a:tabLst/>
                        <a:defRPr/>
                      </a:pPr>
                      <a:r>
                        <a:rPr lang="en-US" sz="800" dirty="0" smtClean="0">
                          <a:solidFill>
                            <a:schemeClr val="tx1"/>
                          </a:solidFill>
                          <a:latin typeface="EYInterstate Light" panose="02000506000000020004" pitchFamily="2" charset="0"/>
                        </a:rPr>
                        <a:t>Windows 7 or higher</a:t>
                      </a: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cs-CZ"/>
                    </a:p>
                  </a:txBody>
                  <a:tcPr/>
                </a:tc>
                <a:tc hMerge="1">
                  <a:txBody>
                    <a:bodyPr/>
                    <a:lstStyle/>
                    <a:p>
                      <a:endParaRPr lang="cs-CZ"/>
                    </a:p>
                  </a:txBody>
                  <a:tcPr/>
                </a:tc>
              </a:tr>
              <a:tr h="364391">
                <a:tc vMerge="1">
                  <a:txBody>
                    <a:bodyPr/>
                    <a:lstStyle/>
                    <a:p>
                      <a:pPr marL="0" marR="0" lvl="0" indent="0" algn="ctr" defTabSz="839535" rtl="0" eaLnBrk="1" fontAlgn="auto" latinLnBrk="0" hangingPunct="1">
                        <a:lnSpc>
                          <a:spcPct val="100000"/>
                        </a:lnSpc>
                        <a:spcBef>
                          <a:spcPts val="0"/>
                        </a:spcBef>
                        <a:spcAft>
                          <a:spcPts val="0"/>
                        </a:spcAft>
                        <a:buClrTx/>
                        <a:buSzTx/>
                        <a:buFontTx/>
                        <a:buNone/>
                        <a:tabLst/>
                        <a:defRPr/>
                      </a:pPr>
                      <a:endParaRPr kumimoji="0" lang="cs-CZ" sz="800" b="1" i="0" u="none" strike="noStrike" kern="0" cap="none" spc="0" normalizeH="0" baseline="0" noProof="0" dirty="0" smtClean="0">
                        <a:ln>
                          <a:noFill/>
                        </a:ln>
                        <a:solidFill>
                          <a:schemeClr val="tx2"/>
                        </a:solidFill>
                        <a:effectLst/>
                        <a:uLnTx/>
                        <a:uFillTx/>
                        <a:latin typeface="EYInterstate" panose="02000503020000020004" pitchFamily="2" charset="0"/>
                      </a:endParaRPr>
                    </a:p>
                  </a:txBody>
                  <a:tcPr marL="84406" marR="84406" marT="42203" marB="42203" vert="vert270" anchor="ctr">
                    <a:solidFill>
                      <a:schemeClr val="accent2">
                        <a:lumMod val="60000"/>
                        <a:lumOff val="40000"/>
                      </a:schemeClr>
                    </a:solidFill>
                  </a:tcPr>
                </a:tc>
                <a:tc vMerge="1">
                  <a:txBody>
                    <a:bodyPr/>
                    <a:lstStyle/>
                    <a:p>
                      <a:pPr algn="ctr"/>
                      <a:endParaRPr lang="en-US" sz="800" b="1" dirty="0">
                        <a:solidFill>
                          <a:schemeClr val="bg1"/>
                        </a:solidFill>
                        <a:latin typeface="EYInterstate" panose="02000503020000020004" pitchFamily="2" charset="0"/>
                      </a:endParaRPr>
                    </a:p>
                  </a:txBody>
                  <a:tcPr marL="84406" marR="84406" marT="42203" marB="42203" vert="vert270"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smtClean="0">
                          <a:solidFill>
                            <a:schemeClr val="tx1"/>
                          </a:solidFill>
                          <a:latin typeface="EYInterstate Light" panose="02000506000000020004" pitchFamily="2" charset="0"/>
                        </a:rPr>
                        <a:t>Web browser</a:t>
                      </a: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gridSpan="3">
                  <a:txBody>
                    <a:bodyPr/>
                    <a:lstStyle/>
                    <a:p>
                      <a:pPr marL="0" marR="0" lvl="0" indent="0" algn="l" defTabSz="839535" rtl="0" eaLnBrk="1" fontAlgn="auto" latinLnBrk="0" hangingPunct="1">
                        <a:lnSpc>
                          <a:spcPct val="100000"/>
                        </a:lnSpc>
                        <a:spcBef>
                          <a:spcPts val="0"/>
                        </a:spcBef>
                        <a:spcAft>
                          <a:spcPts val="0"/>
                        </a:spcAft>
                        <a:buClrTx/>
                        <a:buSzTx/>
                        <a:buFontTx/>
                        <a:buNone/>
                        <a:tabLst/>
                        <a:defRPr/>
                      </a:pPr>
                      <a:r>
                        <a:rPr lang="en-US" sz="800" kern="1200" dirty="0" smtClean="0">
                          <a:solidFill>
                            <a:schemeClr val="tx1"/>
                          </a:solidFill>
                          <a:effectLst/>
                          <a:latin typeface="EYInterstate Light" panose="02000506000000020004" pitchFamily="2" charset="0"/>
                        </a:rPr>
                        <a:t>MS Internet Explorer 11.0 or higher, Google Chrome, Mozilla Firefox</a:t>
                      </a:r>
                      <a:endParaRPr lang="en-US" sz="800" dirty="0" smtClean="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endParaRPr lang="cs-CZ"/>
                    </a:p>
                  </a:txBody>
                  <a:tcPr/>
                </a:tc>
                <a:tc hMerge="1">
                  <a:txBody>
                    <a:bodyPr/>
                    <a:lstStyle/>
                    <a:p>
                      <a:endParaRPr lang="cs-CZ"/>
                    </a:p>
                  </a:txBody>
                  <a:tcPr/>
                </a:tc>
              </a:tr>
            </a:tbl>
          </a:graphicData>
        </a:graphic>
      </p:graphicFrame>
      <p:sp>
        <p:nvSpPr>
          <p:cNvPr id="7" name="Rectangle 6"/>
          <p:cNvSpPr/>
          <p:nvPr/>
        </p:nvSpPr>
        <p:spPr bwMode="auto">
          <a:xfrm>
            <a:off x="1679978" y="2306040"/>
            <a:ext cx="4223925" cy="250334"/>
          </a:xfrm>
          <a:prstGeom prst="rect">
            <a:avLst/>
          </a:prstGeom>
          <a:noFill/>
          <a:ln w="12700" cap="flat" cmpd="sng" algn="ctr">
            <a:noFill/>
            <a:prstDash val="solid"/>
            <a:round/>
            <a:headEnd type="none" w="med" len="med"/>
            <a:tailEnd type="none" w="med" len="med"/>
          </a:ln>
          <a:effectLst/>
        </p:spPr>
        <p:txBody>
          <a:bodyPr vert="horz" wrap="none" lIns="49744" tIns="49744" rIns="49744" bIns="49744" numCol="1" rtlCol="0" anchor="ctr" anchorCtr="0" compatLnSpc="1">
            <a:prstTxWarp prst="textNoShape">
              <a:avLst/>
            </a:prstTxWarp>
          </a:bodyPr>
          <a:lstStyle/>
          <a:p>
            <a:pPr algn="ctr" defTabSz="960839">
              <a:defRPr/>
            </a:pPr>
            <a:endParaRPr lang="cs-CZ" sz="831" kern="0">
              <a:solidFill>
                <a:srgbClr val="000000"/>
              </a:solidFill>
              <a:latin typeface="EYInterstate Light" panose="02000506000000020004" pitchFamily="2" charset="0"/>
            </a:endParaRPr>
          </a:p>
        </p:txBody>
      </p:sp>
      <p:graphicFrame>
        <p:nvGraphicFramePr>
          <p:cNvPr id="35" name="Table 34"/>
          <p:cNvGraphicFramePr>
            <a:graphicFrameLocks noGrp="1"/>
          </p:cNvGraphicFramePr>
          <p:nvPr>
            <p:extLst>
              <p:ext uri="{D42A27DB-BD31-4B8C-83A1-F6EECF244321}">
                <p14:modId xmlns:p14="http://schemas.microsoft.com/office/powerpoint/2010/main" val="2033675534"/>
              </p:ext>
            </p:extLst>
          </p:nvPr>
        </p:nvGraphicFramePr>
        <p:xfrm>
          <a:off x="866972" y="5078889"/>
          <a:ext cx="7396057" cy="1154506"/>
        </p:xfrm>
        <a:graphic>
          <a:graphicData uri="http://schemas.openxmlformats.org/drawingml/2006/table">
            <a:tbl>
              <a:tblPr firstRow="1" bandRow="1">
                <a:tableStyleId>{073A0DAA-6AF3-43AB-8588-CEC1D06C72B9}</a:tableStyleId>
              </a:tblPr>
              <a:tblGrid>
                <a:gridCol w="515486"/>
                <a:gridCol w="396527"/>
                <a:gridCol w="1893600"/>
                <a:gridCol w="4590444"/>
              </a:tblGrid>
              <a:tr h="25092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0" cap="none" spc="0" normalizeH="0" baseline="0" noProof="0" dirty="0" smtClean="0">
                          <a:ln>
                            <a:noFill/>
                          </a:ln>
                          <a:solidFill>
                            <a:srgbClr val="FFFFFF"/>
                          </a:solidFill>
                          <a:effectLst/>
                          <a:uLnTx/>
                          <a:uFillTx/>
                          <a:latin typeface="EYInterstate" panose="02000503020000020004" pitchFamily="2" charset="0"/>
                        </a:rPr>
                        <a:t>Access</a:t>
                      </a:r>
                      <a:endParaRPr kumimoji="0" lang="cs-CZ" sz="1400" b="1" i="0" u="none" strike="noStrike" kern="0" cap="none" spc="0" normalizeH="0" baseline="0" noProof="0" dirty="0" smtClean="0">
                        <a:ln>
                          <a:noFill/>
                        </a:ln>
                        <a:solidFill>
                          <a:srgbClr val="FFFFFF"/>
                        </a:solidFill>
                        <a:effectLst/>
                        <a:uLnTx/>
                        <a:uFillTx/>
                        <a:latin typeface="EYInterstate" panose="02000503020000020004" pitchFamily="2" charset="0"/>
                      </a:endParaRPr>
                    </a:p>
                  </a:txBody>
                  <a:tcPr marL="84406" marR="84406" marT="42203" marB="42203"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smtClean="0">
                          <a:solidFill>
                            <a:srgbClr val="FFFFFF"/>
                          </a:solidFill>
                          <a:latin typeface="EYInterstate" panose="02000503020000020004" pitchFamily="2" charset="0"/>
                        </a:rPr>
                        <a:t>Servers</a:t>
                      </a:r>
                      <a:endParaRPr lang="en-US" sz="1100" b="1" dirty="0" smtClean="0">
                        <a:solidFill>
                          <a:srgbClr val="FFFFFF"/>
                        </a:solidFill>
                        <a:latin typeface="EYInterstate" panose="02000503020000020004" pitchFamily="2" charset="0"/>
                      </a:endParaRPr>
                    </a:p>
                  </a:txBody>
                  <a:tcPr marL="84406" marR="84406" marT="42203" marB="42203" vert="vert27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solidFill>
                  </a:tcPr>
                </a:tc>
                <a:tc>
                  <a:txBody>
                    <a:bodyPr/>
                    <a:lstStyle/>
                    <a:p>
                      <a:r>
                        <a:rPr lang="en-US" sz="800" dirty="0" smtClean="0">
                          <a:solidFill>
                            <a:schemeClr val="tx1"/>
                          </a:solidFill>
                          <a:latin typeface="EYInterstate Light" panose="02000506000000020004" pitchFamily="2" charset="0"/>
                        </a:rPr>
                        <a:t>Connection type</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20000"/>
                        <a:lumOff val="80000"/>
                      </a:schemeClr>
                    </a:solidFill>
                  </a:tcPr>
                </a:tc>
                <a:tc>
                  <a:txBody>
                    <a:bodyPr/>
                    <a:lstStyle/>
                    <a:p>
                      <a:r>
                        <a:rPr lang="en-US" sz="800" dirty="0" smtClean="0">
                          <a:solidFill>
                            <a:schemeClr val="tx1"/>
                          </a:solidFill>
                          <a:latin typeface="EYInterstate Light" panose="02000506000000020004" pitchFamily="2" charset="0"/>
                        </a:rPr>
                        <a:t>Remote access via a VPN connection upon agreement</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20000"/>
                        <a:lumOff val="80000"/>
                      </a:schemeClr>
                    </a:solidFill>
                  </a:tcPr>
                </a:tc>
              </a:tr>
              <a:tr h="652648">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Database server</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sz="800" kern="1200" dirty="0" smtClean="0">
                          <a:solidFill>
                            <a:schemeClr val="tx1"/>
                          </a:solidFill>
                          <a:effectLst/>
                          <a:latin typeface="EYInterstate Light" panose="02000506000000020004" pitchFamily="2" charset="0"/>
                        </a:rPr>
                        <a:t>Expected: Read only access (at least timely limited) for operational issue investigations (2nd level) and ad-hoc analyses, upon critical request; </a:t>
                      </a:r>
                    </a:p>
                    <a:p>
                      <a:r>
                        <a:rPr lang="en-US" sz="800" kern="1200" dirty="0" smtClean="0">
                          <a:solidFill>
                            <a:schemeClr val="tx1"/>
                          </a:solidFill>
                          <a:effectLst/>
                          <a:latin typeface="EYInterstate Light" panose="02000506000000020004" pitchFamily="2" charset="0"/>
                        </a:rPr>
                        <a:t>Alternatively, a depersonalized copy of the production environment onto test/investigation environment is sufficient, however time is needed to prepare such instance.</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250929">
                <a:tc vMerge="1">
                  <a:txBody>
                    <a:bodyPr/>
                    <a:lstStyle/>
                    <a:p>
                      <a:endParaRPr lang="en-US" sz="800" dirty="0">
                        <a:solidFill>
                          <a:schemeClr val="bg1"/>
                        </a:solidFill>
                        <a:latin typeface="EYInterstate Light" panose="02000506000000020004" pitchFamily="2" charset="0"/>
                      </a:endParaRPr>
                    </a:p>
                  </a:txBody>
                  <a:tcPr marL="84406" marR="84406" marT="42203" marB="42203"/>
                </a:tc>
                <a:tc vMerge="1">
                  <a:txBody>
                    <a:bodyPr/>
                    <a:lstStyle/>
                    <a:p>
                      <a:endParaRPr lang="en-US" sz="800" dirty="0">
                        <a:solidFill>
                          <a:schemeClr val="bg1"/>
                        </a:solidFill>
                        <a:latin typeface="EYInterstate Light" panose="02000506000000020004" pitchFamily="2" charset="0"/>
                      </a:endParaRPr>
                    </a:p>
                  </a:txBody>
                  <a:tcPr marL="84406" marR="84406" marT="42203" marB="42203"/>
                </a:tc>
                <a:tc>
                  <a:txBody>
                    <a:bodyPr/>
                    <a:lstStyle/>
                    <a:p>
                      <a:r>
                        <a:rPr lang="en-US" sz="800" dirty="0" smtClean="0">
                          <a:solidFill>
                            <a:schemeClr val="tx1"/>
                          </a:solidFill>
                          <a:latin typeface="EYInterstate Light" panose="02000506000000020004" pitchFamily="2" charset="0"/>
                        </a:rPr>
                        <a:t>Web server, Reporting server (SSRS)</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r>
                        <a:rPr lang="en-US" sz="800" dirty="0" smtClean="0">
                          <a:solidFill>
                            <a:schemeClr val="tx1"/>
                          </a:solidFill>
                          <a:latin typeface="EYInterstate Light" panose="02000506000000020004" pitchFamily="2" charset="0"/>
                        </a:rPr>
                        <a:t>Not required</a:t>
                      </a:r>
                      <a:endParaRPr lang="en-US" sz="800" dirty="0">
                        <a:solidFill>
                          <a:schemeClr val="tx1"/>
                        </a:solidFill>
                        <a:latin typeface="EYInterstate Light" panose="02000506000000020004" pitchFamily="2" charset="0"/>
                      </a:endParaRPr>
                    </a:p>
                  </a:txBody>
                  <a:tcPr marL="84406" marR="84406" marT="42203" marB="42203">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r>
            </a:tbl>
          </a:graphicData>
        </a:graphic>
      </p:graphicFrame>
      <p:sp>
        <p:nvSpPr>
          <p:cNvPr id="9" name="Footer Placeholder 3"/>
          <p:cNvSpPr>
            <a:spLocks noGrp="1"/>
          </p:cNvSpPr>
          <p:nvPr>
            <p:ph type="ftr" sz="quarter" idx="4294967295"/>
          </p:nvPr>
        </p:nvSpPr>
        <p:spPr>
          <a:xfrm>
            <a:off x="2588400" y="6503980"/>
            <a:ext cx="3434400" cy="201600"/>
          </a:xfrm>
          <a:prstGeom prst="rect">
            <a:avLst/>
          </a:prstGeom>
        </p:spPr>
        <p:txBody>
          <a:bodyPr lIns="0" tIns="0" rIns="0" bIns="0"/>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11578798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Calculation </a:t>
            </a:r>
            <a:r>
              <a:rPr lang="en-GB" dirty="0" smtClean="0">
                <a:latin typeface="EYInterstate" panose="02000503020000020004" pitchFamily="2" charset="0"/>
              </a:rPr>
              <a:t>process flow</a:t>
            </a:r>
            <a:endParaRPr lang="cs-CZ" dirty="0">
              <a:latin typeface="EYInterstate" panose="02000503020000020004" pitchFamily="2" charset="0"/>
            </a:endParaRPr>
          </a:p>
        </p:txBody>
      </p:sp>
      <p:sp>
        <p:nvSpPr>
          <p:cNvPr id="3" name="Footer Placeholder 2"/>
          <p:cNvSpPr>
            <a:spLocks noGrp="1"/>
          </p:cNvSpPr>
          <p:nvPr>
            <p:ph type="ftr" sz="quarter" idx="10"/>
          </p:nvPr>
        </p:nvSpPr>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4" name="Text Placeholder 2"/>
          <p:cNvSpPr txBox="1">
            <a:spLocks/>
          </p:cNvSpPr>
          <p:nvPr/>
        </p:nvSpPr>
        <p:spPr>
          <a:xfrm>
            <a:off x="457200" y="620688"/>
            <a:ext cx="8229600" cy="442800"/>
          </a:xfrm>
          <a:prstGeom prst="rect">
            <a:avLst/>
          </a:prstGeom>
        </p:spPr>
        <p:txBody>
          <a:bodyPr vert="horz" wrap="square" lIns="0" tIns="0" rIns="0" bIns="0" anchor="t"/>
          <a:lstStyle>
            <a:lvl1pPr marL="0" indent="0" algn="l" defTabSz="914400" rtl="0" eaLnBrk="1" latinLnBrk="0" hangingPunct="1">
              <a:spcBef>
                <a:spcPct val="20000"/>
              </a:spcBef>
              <a:buClr>
                <a:schemeClr val="accent2"/>
              </a:buClr>
              <a:buSzPct val="70000"/>
              <a:buFont typeface="Arial" pitchFamily="34" charset="0"/>
              <a:buNone/>
              <a:defRPr sz="2400" kern="1200">
                <a:solidFill>
                  <a:schemeClr val="bg1"/>
                </a:solidFill>
                <a:latin typeface="+mn-lt"/>
                <a:ea typeface="+mn-ea"/>
                <a:cs typeface="+mn-cs"/>
              </a:defRPr>
            </a:lvl1pPr>
            <a:lvl2pPr marL="360363" indent="-36036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720725" indent="-36036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081088" indent="-36036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431925" indent="-350838"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ct val="0"/>
              </a:spcAft>
            </a:pPr>
            <a:endParaRPr lang="en-IN" sz="2200" dirty="0">
              <a:solidFill>
                <a:srgbClr val="646464"/>
              </a:solidFill>
              <a:latin typeface="Arial" panose="020B0604020202020204" pitchFamily="34" charset="0"/>
            </a:endParaRPr>
          </a:p>
        </p:txBody>
      </p:sp>
      <p:grpSp>
        <p:nvGrpSpPr>
          <p:cNvPr id="5" name="Group 4"/>
          <p:cNvGrpSpPr/>
          <p:nvPr/>
        </p:nvGrpSpPr>
        <p:grpSpPr>
          <a:xfrm>
            <a:off x="802148" y="2849050"/>
            <a:ext cx="4322965" cy="1261685"/>
            <a:chOff x="2228848" y="3026193"/>
            <a:chExt cx="4993809" cy="1457475"/>
          </a:xfrm>
        </p:grpSpPr>
        <p:sp>
          <p:nvSpPr>
            <p:cNvPr id="7" name="Ellipse 10"/>
            <p:cNvSpPr/>
            <p:nvPr/>
          </p:nvSpPr>
          <p:spPr>
            <a:xfrm rot="12908734">
              <a:off x="2228848" y="3073663"/>
              <a:ext cx="3402447" cy="1410005"/>
            </a:xfrm>
            <a:custGeom>
              <a:avLst/>
              <a:gdLst/>
              <a:ahLst/>
              <a:cxnLst/>
              <a:rect l="l" t="t" r="r" b="b"/>
              <a:pathLst>
                <a:path w="4555400" h="1887800">
                  <a:moveTo>
                    <a:pt x="2772629" y="1375355"/>
                  </a:moveTo>
                  <a:cubicBezTo>
                    <a:pt x="2774619" y="1380611"/>
                    <a:pt x="2777224" y="1385546"/>
                    <a:pt x="2779896" y="1390441"/>
                  </a:cubicBezTo>
                  <a:close/>
                  <a:moveTo>
                    <a:pt x="1782826" y="1375242"/>
                  </a:moveTo>
                  <a:lnTo>
                    <a:pt x="1775502" y="1390445"/>
                  </a:lnTo>
                  <a:cubicBezTo>
                    <a:pt x="1778195" y="1385512"/>
                    <a:pt x="1780820" y="1380538"/>
                    <a:pt x="1782826" y="1375242"/>
                  </a:cubicBezTo>
                  <a:close/>
                  <a:moveTo>
                    <a:pt x="2729201" y="1276951"/>
                  </a:moveTo>
                  <a:cubicBezTo>
                    <a:pt x="2732260" y="1287962"/>
                    <a:pt x="2736474" y="1298515"/>
                    <a:pt x="2740915" y="1308954"/>
                  </a:cubicBezTo>
                  <a:close/>
                  <a:moveTo>
                    <a:pt x="1826241" y="1276837"/>
                  </a:moveTo>
                  <a:lnTo>
                    <a:pt x="1814484" y="1308958"/>
                  </a:lnTo>
                  <a:cubicBezTo>
                    <a:pt x="1818942" y="1298481"/>
                    <a:pt x="1823170" y="1287889"/>
                    <a:pt x="1826241" y="1276837"/>
                  </a:cubicBezTo>
                  <a:close/>
                  <a:moveTo>
                    <a:pt x="2697869" y="1177267"/>
                  </a:moveTo>
                  <a:cubicBezTo>
                    <a:pt x="2700663" y="1192867"/>
                    <a:pt x="2704943" y="1208034"/>
                    <a:pt x="2709634" y="1223025"/>
                  </a:cubicBezTo>
                  <a:close/>
                  <a:moveTo>
                    <a:pt x="1857555" y="1177177"/>
                  </a:moveTo>
                  <a:lnTo>
                    <a:pt x="1845765" y="1223028"/>
                  </a:lnTo>
                  <a:cubicBezTo>
                    <a:pt x="1850467" y="1208006"/>
                    <a:pt x="1854754" y="1192808"/>
                    <a:pt x="1857555" y="1177177"/>
                  </a:cubicBezTo>
                  <a:close/>
                  <a:moveTo>
                    <a:pt x="2677581" y="1073877"/>
                  </a:moveTo>
                  <a:cubicBezTo>
                    <a:pt x="2679248" y="1093951"/>
                    <a:pt x="2682619" y="1113678"/>
                    <a:pt x="2686632" y="1133177"/>
                  </a:cubicBezTo>
                  <a:close/>
                  <a:moveTo>
                    <a:pt x="1877825" y="1073840"/>
                  </a:moveTo>
                  <a:lnTo>
                    <a:pt x="1868769" y="1133178"/>
                  </a:lnTo>
                  <a:cubicBezTo>
                    <a:pt x="1872784" y="1113667"/>
                    <a:pt x="1876157" y="1093927"/>
                    <a:pt x="1877825" y="1073840"/>
                  </a:cubicBezTo>
                  <a:close/>
                  <a:moveTo>
                    <a:pt x="2672450" y="847847"/>
                  </a:moveTo>
                  <a:cubicBezTo>
                    <a:pt x="2669235" y="879428"/>
                    <a:pt x="2667600" y="911473"/>
                    <a:pt x="2667600" y="943900"/>
                  </a:cubicBezTo>
                  <a:cubicBezTo>
                    <a:pt x="2667600" y="976327"/>
                    <a:pt x="2669235" y="1008372"/>
                    <a:pt x="2672450" y="1039954"/>
                  </a:cubicBezTo>
                  <a:cubicBezTo>
                    <a:pt x="2669235" y="1008371"/>
                    <a:pt x="2667600" y="976327"/>
                    <a:pt x="2667600" y="943900"/>
                  </a:cubicBezTo>
                  <a:close/>
                  <a:moveTo>
                    <a:pt x="1882950" y="847847"/>
                  </a:moveTo>
                  <a:lnTo>
                    <a:pt x="1887800" y="943900"/>
                  </a:lnTo>
                  <a:lnTo>
                    <a:pt x="1882950" y="1039954"/>
                  </a:lnTo>
                  <a:cubicBezTo>
                    <a:pt x="1886165" y="1008372"/>
                    <a:pt x="1887800" y="976327"/>
                    <a:pt x="1887800" y="943900"/>
                  </a:cubicBezTo>
                  <a:cubicBezTo>
                    <a:pt x="1887800" y="911473"/>
                    <a:pt x="1886165" y="879428"/>
                    <a:pt x="1882950" y="847847"/>
                  </a:cubicBezTo>
                  <a:close/>
                  <a:moveTo>
                    <a:pt x="2686632" y="754624"/>
                  </a:moveTo>
                  <a:cubicBezTo>
                    <a:pt x="2682619" y="774123"/>
                    <a:pt x="2679248" y="793849"/>
                    <a:pt x="2677581" y="813924"/>
                  </a:cubicBezTo>
                  <a:close/>
                  <a:moveTo>
                    <a:pt x="1868769" y="754624"/>
                  </a:moveTo>
                  <a:lnTo>
                    <a:pt x="1877819" y="813924"/>
                  </a:lnTo>
                  <a:cubicBezTo>
                    <a:pt x="1876153" y="793849"/>
                    <a:pt x="1872781" y="774123"/>
                    <a:pt x="1868769" y="754624"/>
                  </a:cubicBezTo>
                  <a:close/>
                  <a:moveTo>
                    <a:pt x="2709634" y="664776"/>
                  </a:moveTo>
                  <a:cubicBezTo>
                    <a:pt x="2704944" y="679763"/>
                    <a:pt x="2700665" y="694926"/>
                    <a:pt x="2697872" y="710522"/>
                  </a:cubicBezTo>
                  <a:close/>
                  <a:moveTo>
                    <a:pt x="1845766" y="664776"/>
                  </a:moveTo>
                  <a:lnTo>
                    <a:pt x="1857529" y="710522"/>
                  </a:lnTo>
                  <a:cubicBezTo>
                    <a:pt x="1854735" y="694926"/>
                    <a:pt x="1850457" y="679763"/>
                    <a:pt x="1845766" y="664776"/>
                  </a:cubicBezTo>
                  <a:close/>
                  <a:moveTo>
                    <a:pt x="2740915" y="578846"/>
                  </a:moveTo>
                  <a:cubicBezTo>
                    <a:pt x="2736475" y="589282"/>
                    <a:pt x="2732262" y="599832"/>
                    <a:pt x="2729205" y="610841"/>
                  </a:cubicBezTo>
                  <a:close/>
                  <a:moveTo>
                    <a:pt x="1814486" y="578846"/>
                  </a:moveTo>
                  <a:lnTo>
                    <a:pt x="1826196" y="610841"/>
                  </a:lnTo>
                  <a:cubicBezTo>
                    <a:pt x="1823138" y="599832"/>
                    <a:pt x="1818925" y="589282"/>
                    <a:pt x="1814486" y="578846"/>
                  </a:cubicBezTo>
                  <a:close/>
                  <a:moveTo>
                    <a:pt x="2779896" y="497360"/>
                  </a:moveTo>
                  <a:cubicBezTo>
                    <a:pt x="2777227" y="502250"/>
                    <a:pt x="2774624" y="507180"/>
                    <a:pt x="2772636" y="512431"/>
                  </a:cubicBezTo>
                  <a:close/>
                  <a:moveTo>
                    <a:pt x="1775504" y="497360"/>
                  </a:moveTo>
                  <a:lnTo>
                    <a:pt x="1782764" y="512431"/>
                  </a:lnTo>
                  <a:cubicBezTo>
                    <a:pt x="1780776" y="507180"/>
                    <a:pt x="1778173" y="502250"/>
                    <a:pt x="1775504" y="497360"/>
                  </a:cubicBezTo>
                  <a:close/>
                  <a:moveTo>
                    <a:pt x="943900" y="0"/>
                  </a:moveTo>
                  <a:cubicBezTo>
                    <a:pt x="1206995" y="0"/>
                    <a:pt x="1444949" y="107640"/>
                    <a:pt x="1615679" y="281723"/>
                  </a:cubicBezTo>
                  <a:lnTo>
                    <a:pt x="1616264" y="281723"/>
                  </a:lnTo>
                  <a:cubicBezTo>
                    <a:pt x="1786105" y="449773"/>
                    <a:pt x="2019769" y="553127"/>
                    <a:pt x="2277572" y="553127"/>
                  </a:cubicBezTo>
                  <a:cubicBezTo>
                    <a:pt x="2535376" y="553127"/>
                    <a:pt x="2769039" y="449773"/>
                    <a:pt x="2938881" y="281723"/>
                  </a:cubicBezTo>
                  <a:lnTo>
                    <a:pt x="2939721" y="281723"/>
                  </a:lnTo>
                  <a:cubicBezTo>
                    <a:pt x="3110452" y="107640"/>
                    <a:pt x="3348406" y="0"/>
                    <a:pt x="3611500" y="0"/>
                  </a:cubicBezTo>
                  <a:cubicBezTo>
                    <a:pt x="4132802" y="0"/>
                    <a:pt x="4555400" y="422598"/>
                    <a:pt x="4555400" y="943900"/>
                  </a:cubicBezTo>
                  <a:cubicBezTo>
                    <a:pt x="4555400" y="1465202"/>
                    <a:pt x="4132802" y="1887800"/>
                    <a:pt x="3611500" y="1887800"/>
                  </a:cubicBezTo>
                  <a:cubicBezTo>
                    <a:pt x="3348405" y="1887800"/>
                    <a:pt x="3110451" y="1780160"/>
                    <a:pt x="2939720" y="1606076"/>
                  </a:cubicBezTo>
                  <a:lnTo>
                    <a:pt x="2936632" y="1606076"/>
                  </a:lnTo>
                  <a:cubicBezTo>
                    <a:pt x="2767144" y="1439044"/>
                    <a:pt x="2534330" y="1336527"/>
                    <a:pt x="2277572" y="1336527"/>
                  </a:cubicBezTo>
                  <a:cubicBezTo>
                    <a:pt x="2020814" y="1336527"/>
                    <a:pt x="1788000" y="1439044"/>
                    <a:pt x="1618512" y="1606076"/>
                  </a:cubicBezTo>
                  <a:lnTo>
                    <a:pt x="1615680" y="1606076"/>
                  </a:lnTo>
                  <a:cubicBezTo>
                    <a:pt x="1444950" y="1780160"/>
                    <a:pt x="1206995" y="1887800"/>
                    <a:pt x="943900" y="1887800"/>
                  </a:cubicBezTo>
                  <a:cubicBezTo>
                    <a:pt x="422598" y="1887800"/>
                    <a:pt x="0" y="1465202"/>
                    <a:pt x="0" y="943900"/>
                  </a:cubicBezTo>
                  <a:cubicBezTo>
                    <a:pt x="0" y="422598"/>
                    <a:pt x="422598" y="0"/>
                    <a:pt x="943900" y="0"/>
                  </a:cubicBezTo>
                  <a:close/>
                </a:path>
              </a:pathLst>
            </a:cu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8080"/>
                </a:solidFill>
              </a:endParaRPr>
            </a:p>
          </p:txBody>
        </p:sp>
        <p:sp>
          <p:nvSpPr>
            <p:cNvPr id="10" name="Ellipse 10"/>
            <p:cNvSpPr/>
            <p:nvPr/>
          </p:nvSpPr>
          <p:spPr>
            <a:xfrm rot="8460000">
              <a:off x="3820210" y="3026193"/>
              <a:ext cx="3402447" cy="1410005"/>
            </a:xfrm>
            <a:custGeom>
              <a:avLst/>
              <a:gdLst/>
              <a:ahLst/>
              <a:cxnLst/>
              <a:rect l="l" t="t" r="r" b="b"/>
              <a:pathLst>
                <a:path w="4555400" h="1887800">
                  <a:moveTo>
                    <a:pt x="2772629" y="1375355"/>
                  </a:moveTo>
                  <a:cubicBezTo>
                    <a:pt x="2774619" y="1380611"/>
                    <a:pt x="2777224" y="1385546"/>
                    <a:pt x="2779896" y="1390441"/>
                  </a:cubicBezTo>
                  <a:close/>
                  <a:moveTo>
                    <a:pt x="1782826" y="1375242"/>
                  </a:moveTo>
                  <a:lnTo>
                    <a:pt x="1775502" y="1390445"/>
                  </a:lnTo>
                  <a:cubicBezTo>
                    <a:pt x="1778195" y="1385512"/>
                    <a:pt x="1780820" y="1380538"/>
                    <a:pt x="1782826" y="1375242"/>
                  </a:cubicBezTo>
                  <a:close/>
                  <a:moveTo>
                    <a:pt x="2729201" y="1276951"/>
                  </a:moveTo>
                  <a:cubicBezTo>
                    <a:pt x="2732260" y="1287962"/>
                    <a:pt x="2736474" y="1298515"/>
                    <a:pt x="2740915" y="1308954"/>
                  </a:cubicBezTo>
                  <a:close/>
                  <a:moveTo>
                    <a:pt x="1826241" y="1276837"/>
                  </a:moveTo>
                  <a:lnTo>
                    <a:pt x="1814484" y="1308958"/>
                  </a:lnTo>
                  <a:cubicBezTo>
                    <a:pt x="1818942" y="1298481"/>
                    <a:pt x="1823170" y="1287889"/>
                    <a:pt x="1826241" y="1276837"/>
                  </a:cubicBezTo>
                  <a:close/>
                  <a:moveTo>
                    <a:pt x="2697869" y="1177267"/>
                  </a:moveTo>
                  <a:cubicBezTo>
                    <a:pt x="2700663" y="1192867"/>
                    <a:pt x="2704943" y="1208034"/>
                    <a:pt x="2709634" y="1223025"/>
                  </a:cubicBezTo>
                  <a:close/>
                  <a:moveTo>
                    <a:pt x="1857555" y="1177177"/>
                  </a:moveTo>
                  <a:lnTo>
                    <a:pt x="1845765" y="1223028"/>
                  </a:lnTo>
                  <a:cubicBezTo>
                    <a:pt x="1850467" y="1208006"/>
                    <a:pt x="1854754" y="1192808"/>
                    <a:pt x="1857555" y="1177177"/>
                  </a:cubicBezTo>
                  <a:close/>
                  <a:moveTo>
                    <a:pt x="2677581" y="1073877"/>
                  </a:moveTo>
                  <a:cubicBezTo>
                    <a:pt x="2679248" y="1093951"/>
                    <a:pt x="2682619" y="1113678"/>
                    <a:pt x="2686632" y="1133177"/>
                  </a:cubicBezTo>
                  <a:close/>
                  <a:moveTo>
                    <a:pt x="1877825" y="1073840"/>
                  </a:moveTo>
                  <a:lnTo>
                    <a:pt x="1868769" y="1133178"/>
                  </a:lnTo>
                  <a:cubicBezTo>
                    <a:pt x="1872784" y="1113667"/>
                    <a:pt x="1876157" y="1093927"/>
                    <a:pt x="1877825" y="1073840"/>
                  </a:cubicBezTo>
                  <a:close/>
                  <a:moveTo>
                    <a:pt x="2672450" y="847847"/>
                  </a:moveTo>
                  <a:cubicBezTo>
                    <a:pt x="2669235" y="879428"/>
                    <a:pt x="2667600" y="911473"/>
                    <a:pt x="2667600" y="943900"/>
                  </a:cubicBezTo>
                  <a:cubicBezTo>
                    <a:pt x="2667600" y="976327"/>
                    <a:pt x="2669235" y="1008372"/>
                    <a:pt x="2672450" y="1039954"/>
                  </a:cubicBezTo>
                  <a:cubicBezTo>
                    <a:pt x="2669235" y="1008371"/>
                    <a:pt x="2667600" y="976327"/>
                    <a:pt x="2667600" y="943900"/>
                  </a:cubicBezTo>
                  <a:close/>
                  <a:moveTo>
                    <a:pt x="1882950" y="847847"/>
                  </a:moveTo>
                  <a:lnTo>
                    <a:pt x="1887800" y="943900"/>
                  </a:lnTo>
                  <a:lnTo>
                    <a:pt x="1882950" y="1039954"/>
                  </a:lnTo>
                  <a:cubicBezTo>
                    <a:pt x="1886165" y="1008372"/>
                    <a:pt x="1887800" y="976327"/>
                    <a:pt x="1887800" y="943900"/>
                  </a:cubicBezTo>
                  <a:cubicBezTo>
                    <a:pt x="1887800" y="911473"/>
                    <a:pt x="1886165" y="879428"/>
                    <a:pt x="1882950" y="847847"/>
                  </a:cubicBezTo>
                  <a:close/>
                  <a:moveTo>
                    <a:pt x="2686632" y="754624"/>
                  </a:moveTo>
                  <a:cubicBezTo>
                    <a:pt x="2682619" y="774123"/>
                    <a:pt x="2679248" y="793849"/>
                    <a:pt x="2677581" y="813924"/>
                  </a:cubicBezTo>
                  <a:close/>
                  <a:moveTo>
                    <a:pt x="1868769" y="754624"/>
                  </a:moveTo>
                  <a:lnTo>
                    <a:pt x="1877819" y="813924"/>
                  </a:lnTo>
                  <a:cubicBezTo>
                    <a:pt x="1876153" y="793849"/>
                    <a:pt x="1872781" y="774123"/>
                    <a:pt x="1868769" y="754624"/>
                  </a:cubicBezTo>
                  <a:close/>
                  <a:moveTo>
                    <a:pt x="2709634" y="664776"/>
                  </a:moveTo>
                  <a:cubicBezTo>
                    <a:pt x="2704944" y="679763"/>
                    <a:pt x="2700665" y="694926"/>
                    <a:pt x="2697872" y="710522"/>
                  </a:cubicBezTo>
                  <a:close/>
                  <a:moveTo>
                    <a:pt x="1845766" y="664776"/>
                  </a:moveTo>
                  <a:lnTo>
                    <a:pt x="1857529" y="710522"/>
                  </a:lnTo>
                  <a:cubicBezTo>
                    <a:pt x="1854735" y="694926"/>
                    <a:pt x="1850457" y="679763"/>
                    <a:pt x="1845766" y="664776"/>
                  </a:cubicBezTo>
                  <a:close/>
                  <a:moveTo>
                    <a:pt x="2740915" y="578846"/>
                  </a:moveTo>
                  <a:cubicBezTo>
                    <a:pt x="2736475" y="589282"/>
                    <a:pt x="2732262" y="599832"/>
                    <a:pt x="2729205" y="610841"/>
                  </a:cubicBezTo>
                  <a:close/>
                  <a:moveTo>
                    <a:pt x="1814486" y="578846"/>
                  </a:moveTo>
                  <a:lnTo>
                    <a:pt x="1826196" y="610841"/>
                  </a:lnTo>
                  <a:cubicBezTo>
                    <a:pt x="1823138" y="599832"/>
                    <a:pt x="1818925" y="589282"/>
                    <a:pt x="1814486" y="578846"/>
                  </a:cubicBezTo>
                  <a:close/>
                  <a:moveTo>
                    <a:pt x="2779896" y="497360"/>
                  </a:moveTo>
                  <a:cubicBezTo>
                    <a:pt x="2777227" y="502250"/>
                    <a:pt x="2774624" y="507180"/>
                    <a:pt x="2772636" y="512431"/>
                  </a:cubicBezTo>
                  <a:close/>
                  <a:moveTo>
                    <a:pt x="1775504" y="497360"/>
                  </a:moveTo>
                  <a:lnTo>
                    <a:pt x="1782764" y="512431"/>
                  </a:lnTo>
                  <a:cubicBezTo>
                    <a:pt x="1780776" y="507180"/>
                    <a:pt x="1778173" y="502250"/>
                    <a:pt x="1775504" y="497360"/>
                  </a:cubicBezTo>
                  <a:close/>
                  <a:moveTo>
                    <a:pt x="943900" y="0"/>
                  </a:moveTo>
                  <a:cubicBezTo>
                    <a:pt x="1206995" y="0"/>
                    <a:pt x="1444949" y="107640"/>
                    <a:pt x="1615679" y="281723"/>
                  </a:cubicBezTo>
                  <a:lnTo>
                    <a:pt x="1616264" y="281723"/>
                  </a:lnTo>
                  <a:cubicBezTo>
                    <a:pt x="1786105" y="449773"/>
                    <a:pt x="2019769" y="553127"/>
                    <a:pt x="2277572" y="553127"/>
                  </a:cubicBezTo>
                  <a:cubicBezTo>
                    <a:pt x="2535376" y="553127"/>
                    <a:pt x="2769039" y="449773"/>
                    <a:pt x="2938881" y="281723"/>
                  </a:cubicBezTo>
                  <a:lnTo>
                    <a:pt x="2939721" y="281723"/>
                  </a:lnTo>
                  <a:cubicBezTo>
                    <a:pt x="3110452" y="107640"/>
                    <a:pt x="3348406" y="0"/>
                    <a:pt x="3611500" y="0"/>
                  </a:cubicBezTo>
                  <a:cubicBezTo>
                    <a:pt x="4132802" y="0"/>
                    <a:pt x="4555400" y="422598"/>
                    <a:pt x="4555400" y="943900"/>
                  </a:cubicBezTo>
                  <a:cubicBezTo>
                    <a:pt x="4555400" y="1465202"/>
                    <a:pt x="4132802" y="1887800"/>
                    <a:pt x="3611500" y="1887800"/>
                  </a:cubicBezTo>
                  <a:cubicBezTo>
                    <a:pt x="3348405" y="1887800"/>
                    <a:pt x="3110451" y="1780160"/>
                    <a:pt x="2939720" y="1606076"/>
                  </a:cubicBezTo>
                  <a:lnTo>
                    <a:pt x="2936632" y="1606076"/>
                  </a:lnTo>
                  <a:cubicBezTo>
                    <a:pt x="2767144" y="1439044"/>
                    <a:pt x="2534330" y="1336527"/>
                    <a:pt x="2277572" y="1336527"/>
                  </a:cubicBezTo>
                  <a:cubicBezTo>
                    <a:pt x="2020814" y="1336527"/>
                    <a:pt x="1788000" y="1439044"/>
                    <a:pt x="1618512" y="1606076"/>
                  </a:cubicBezTo>
                  <a:lnTo>
                    <a:pt x="1615680" y="1606076"/>
                  </a:lnTo>
                  <a:cubicBezTo>
                    <a:pt x="1444950" y="1780160"/>
                    <a:pt x="1206995" y="1887800"/>
                    <a:pt x="943900" y="1887800"/>
                  </a:cubicBezTo>
                  <a:cubicBezTo>
                    <a:pt x="422598" y="1887800"/>
                    <a:pt x="0" y="1465202"/>
                    <a:pt x="0" y="943900"/>
                  </a:cubicBezTo>
                  <a:cubicBezTo>
                    <a:pt x="0" y="422598"/>
                    <a:pt x="422598" y="0"/>
                    <a:pt x="943900"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8080"/>
                </a:solidFill>
              </a:endParaRPr>
            </a:p>
          </p:txBody>
        </p:sp>
      </p:grpSp>
      <p:sp>
        <p:nvSpPr>
          <p:cNvPr id="13" name="Rechteck 65"/>
          <p:cNvSpPr/>
          <p:nvPr/>
        </p:nvSpPr>
        <p:spPr bwMode="gray">
          <a:xfrm>
            <a:off x="460575" y="1026000"/>
            <a:ext cx="2340000" cy="984372"/>
          </a:xfrm>
          <a:prstGeom prst="rect">
            <a:avLst/>
          </a:prstGeom>
          <a:ln>
            <a:noFill/>
          </a:ln>
        </p:spPr>
        <p:txBody>
          <a:bodyPr vert="horz" wrap="square" lIns="91440" tIns="45720" rIns="91440" bIns="45720" anchor="t">
            <a:spAutoFit/>
          </a:bodyPr>
          <a:lstStyle/>
          <a:p>
            <a:pPr>
              <a:lnSpc>
                <a:spcPct val="95000"/>
              </a:lnSpc>
              <a:spcAft>
                <a:spcPts val="800"/>
              </a:spcAft>
              <a:defRPr/>
            </a:pPr>
            <a:r>
              <a:rPr lang="en-US" sz="1400" b="1" dirty="0" smtClean="0">
                <a:solidFill>
                  <a:srgbClr val="646464"/>
                </a:solidFill>
                <a:latin typeface="EYInterstate" panose="02000503020000020004" pitchFamily="2" charset="0"/>
              </a:rPr>
              <a:t>Data Input</a:t>
            </a:r>
            <a:endParaRPr lang="en-US" sz="1400" b="1" dirty="0">
              <a:solidFill>
                <a:srgbClr val="646464"/>
              </a:solidFill>
              <a:latin typeface="EYInterstate" panose="02000503020000020004" pitchFamily="2" charset="0"/>
            </a:endParaRPr>
          </a:p>
          <a:p>
            <a:pPr>
              <a:lnSpc>
                <a:spcPct val="95000"/>
              </a:lnSpc>
              <a:spcAft>
                <a:spcPts val="800"/>
              </a:spcAft>
              <a:defRPr/>
            </a:pPr>
            <a:r>
              <a:rPr lang="en-US" sz="1000" dirty="0" smtClean="0">
                <a:solidFill>
                  <a:srgbClr val="646464"/>
                </a:solidFill>
                <a:latin typeface="EYInterstate Light" panose="02000506000000020004" pitchFamily="2" charset="0"/>
              </a:rPr>
              <a:t>Loading calculation inputs from source systems in a standardized structure. These </a:t>
            </a:r>
            <a:r>
              <a:rPr lang="cs-CZ" sz="1000" dirty="0" err="1" smtClean="0">
                <a:solidFill>
                  <a:srgbClr val="646464"/>
                </a:solidFill>
                <a:latin typeface="EYInterstate Light" panose="02000506000000020004" pitchFamily="2" charset="0"/>
              </a:rPr>
              <a:t>inputs</a:t>
            </a:r>
            <a:r>
              <a:rPr lang="cs-CZ" sz="1000" dirty="0" smtClean="0">
                <a:solidFill>
                  <a:srgbClr val="646464"/>
                </a:solidFill>
                <a:latin typeface="EYInterstate Light" panose="02000506000000020004" pitchFamily="2" charset="0"/>
              </a:rPr>
              <a:t> </a:t>
            </a:r>
            <a:r>
              <a:rPr lang="en-US" sz="1000" dirty="0" smtClean="0">
                <a:solidFill>
                  <a:srgbClr val="646464"/>
                </a:solidFill>
                <a:latin typeface="EYInterstate Light" panose="02000506000000020004" pitchFamily="2" charset="0"/>
              </a:rPr>
              <a:t>are then validated using data quality checks.</a:t>
            </a:r>
            <a:endParaRPr lang="en-US" sz="1000" dirty="0">
              <a:solidFill>
                <a:srgbClr val="646464"/>
              </a:solidFill>
              <a:latin typeface="EYInterstate Light" panose="02000506000000020004" pitchFamily="2" charset="0"/>
            </a:endParaRPr>
          </a:p>
        </p:txBody>
      </p:sp>
      <p:sp>
        <p:nvSpPr>
          <p:cNvPr id="14" name="Rechteck 65"/>
          <p:cNvSpPr/>
          <p:nvPr/>
        </p:nvSpPr>
        <p:spPr bwMode="gray">
          <a:xfrm>
            <a:off x="6343423" y="1026000"/>
            <a:ext cx="2340000" cy="838178"/>
          </a:xfrm>
          <a:prstGeom prst="rect">
            <a:avLst/>
          </a:prstGeom>
          <a:ln>
            <a:noFill/>
          </a:ln>
        </p:spPr>
        <p:txBody>
          <a:bodyPr vert="horz" wrap="square" lIns="91440" tIns="45720" rIns="91440" bIns="45720" anchor="t">
            <a:spAutoFit/>
          </a:bodyPr>
          <a:lstStyle/>
          <a:p>
            <a:pPr>
              <a:lnSpc>
                <a:spcPct val="95000"/>
              </a:lnSpc>
              <a:spcAft>
                <a:spcPts val="800"/>
              </a:spcAft>
              <a:defRPr/>
            </a:pPr>
            <a:r>
              <a:rPr lang="en-US" sz="1400" b="1" dirty="0" smtClean="0">
                <a:solidFill>
                  <a:srgbClr val="646464"/>
                </a:solidFill>
                <a:latin typeface="EYInterstate" panose="02000503020000020004" pitchFamily="2" charset="0"/>
              </a:rPr>
              <a:t>Output</a:t>
            </a:r>
            <a:endParaRPr lang="en-US" sz="1400" b="1" dirty="0">
              <a:solidFill>
                <a:srgbClr val="646464"/>
              </a:solidFill>
              <a:latin typeface="EYInterstate" panose="02000503020000020004" pitchFamily="2" charset="0"/>
            </a:endParaRPr>
          </a:p>
          <a:p>
            <a:pPr>
              <a:lnSpc>
                <a:spcPct val="95000"/>
              </a:lnSpc>
              <a:spcAft>
                <a:spcPts val="800"/>
              </a:spcAft>
              <a:defRPr/>
            </a:pPr>
            <a:r>
              <a:rPr lang="en-US" sz="1000" dirty="0" smtClean="0">
                <a:solidFill>
                  <a:srgbClr val="646464"/>
                </a:solidFill>
                <a:latin typeface="EYInterstate Light" panose="02000506000000020004" pitchFamily="2" charset="0"/>
              </a:rPr>
              <a:t>Preparing standardized data extracts, built-in reports and comparison to previous runs.</a:t>
            </a:r>
            <a:endParaRPr lang="en-US" sz="1000" dirty="0">
              <a:solidFill>
                <a:srgbClr val="646464"/>
              </a:solidFill>
              <a:latin typeface="EYInterstate Light" panose="02000506000000020004" pitchFamily="2" charset="0"/>
            </a:endParaRPr>
          </a:p>
        </p:txBody>
      </p:sp>
      <p:sp>
        <p:nvSpPr>
          <p:cNvPr id="15" name="Rechteck 65"/>
          <p:cNvSpPr/>
          <p:nvPr/>
        </p:nvSpPr>
        <p:spPr bwMode="gray">
          <a:xfrm>
            <a:off x="1795913" y="4778597"/>
            <a:ext cx="2340000" cy="1335237"/>
          </a:xfrm>
          <a:prstGeom prst="rect">
            <a:avLst/>
          </a:prstGeom>
          <a:ln>
            <a:noFill/>
          </a:ln>
        </p:spPr>
        <p:txBody>
          <a:bodyPr vert="horz" wrap="square" lIns="91440" tIns="45720" rIns="91440" bIns="45720" anchor="t">
            <a:spAutoFit/>
          </a:bodyPr>
          <a:lstStyle/>
          <a:p>
            <a:pPr>
              <a:lnSpc>
                <a:spcPct val="95000"/>
              </a:lnSpc>
              <a:spcAft>
                <a:spcPts val="800"/>
              </a:spcAft>
              <a:defRPr/>
            </a:pPr>
            <a:r>
              <a:rPr lang="en-US" sz="1400" b="1" dirty="0" smtClean="0">
                <a:solidFill>
                  <a:srgbClr val="646464"/>
                </a:solidFill>
                <a:latin typeface="EYInterstate" panose="02000503020000020004" pitchFamily="2" charset="0"/>
              </a:rPr>
              <a:t>Configuration and process control</a:t>
            </a:r>
            <a:endParaRPr lang="en-US" sz="1400" b="1" dirty="0">
              <a:solidFill>
                <a:srgbClr val="646464"/>
              </a:solidFill>
              <a:latin typeface="EYInterstate" panose="02000503020000020004" pitchFamily="2" charset="0"/>
            </a:endParaRPr>
          </a:p>
          <a:p>
            <a:pPr>
              <a:lnSpc>
                <a:spcPct val="95000"/>
              </a:lnSpc>
              <a:spcAft>
                <a:spcPts val="800"/>
              </a:spcAft>
              <a:defRPr/>
            </a:pPr>
            <a:r>
              <a:rPr lang="en-US" sz="1000" dirty="0" smtClean="0">
                <a:solidFill>
                  <a:srgbClr val="646464"/>
                </a:solidFill>
                <a:latin typeface="EYInterstate Light" panose="02000506000000020004" pitchFamily="2" charset="0"/>
              </a:rPr>
              <a:t>Selecting the version of input data and configuration of calculation parameters (e.g. Staging criteria, Risk parameters) and link to previous calculation run.</a:t>
            </a:r>
            <a:endParaRPr lang="en-US" sz="1000" dirty="0">
              <a:solidFill>
                <a:srgbClr val="646464"/>
              </a:solidFill>
              <a:latin typeface="EYInterstate Light" panose="02000506000000020004" pitchFamily="2" charset="0"/>
            </a:endParaRPr>
          </a:p>
        </p:txBody>
      </p:sp>
      <p:sp>
        <p:nvSpPr>
          <p:cNvPr id="16" name="Rechteck 65"/>
          <p:cNvSpPr/>
          <p:nvPr/>
        </p:nvSpPr>
        <p:spPr bwMode="gray">
          <a:xfrm>
            <a:off x="4880259" y="4773381"/>
            <a:ext cx="2340000" cy="984372"/>
          </a:xfrm>
          <a:prstGeom prst="rect">
            <a:avLst/>
          </a:prstGeom>
          <a:ln>
            <a:noFill/>
          </a:ln>
        </p:spPr>
        <p:txBody>
          <a:bodyPr vert="horz" wrap="square" lIns="91440" tIns="45720" rIns="91440" bIns="45720" anchor="t">
            <a:spAutoFit/>
          </a:bodyPr>
          <a:lstStyle/>
          <a:p>
            <a:pPr>
              <a:lnSpc>
                <a:spcPct val="95000"/>
              </a:lnSpc>
              <a:spcAft>
                <a:spcPts val="800"/>
              </a:spcAft>
              <a:defRPr/>
            </a:pPr>
            <a:r>
              <a:rPr lang="en-US" sz="1400" b="1" dirty="0" smtClean="0">
                <a:solidFill>
                  <a:srgbClr val="646464"/>
                </a:solidFill>
                <a:latin typeface="EYInterstate" panose="02000503020000020004" pitchFamily="2" charset="0"/>
              </a:rPr>
              <a:t>ECL calculation</a:t>
            </a:r>
            <a:endParaRPr lang="en-US" sz="1400" b="1" dirty="0">
              <a:solidFill>
                <a:srgbClr val="646464"/>
              </a:solidFill>
              <a:latin typeface="EYInterstate" panose="02000503020000020004" pitchFamily="2" charset="0"/>
            </a:endParaRPr>
          </a:p>
          <a:p>
            <a:pPr>
              <a:lnSpc>
                <a:spcPct val="95000"/>
              </a:lnSpc>
              <a:spcAft>
                <a:spcPts val="800"/>
              </a:spcAft>
              <a:defRPr/>
            </a:pPr>
            <a:r>
              <a:rPr lang="en-US" sz="1000" dirty="0" smtClean="0">
                <a:solidFill>
                  <a:srgbClr val="646464"/>
                </a:solidFill>
                <a:latin typeface="EYInterstate Light" panose="02000506000000020004" pitchFamily="2" charset="0"/>
              </a:rPr>
              <a:t>EAD, LGD and PD modelling. Performing impairment calculation using cash flow scenarios or portfolio risk parameters.</a:t>
            </a:r>
            <a:endParaRPr lang="en-US" sz="1000" dirty="0">
              <a:solidFill>
                <a:srgbClr val="646464"/>
              </a:solidFill>
              <a:latin typeface="EYInterstate Light" panose="02000506000000020004" pitchFamily="2" charset="0"/>
            </a:endParaRPr>
          </a:p>
        </p:txBody>
      </p:sp>
      <p:sp>
        <p:nvSpPr>
          <p:cNvPr id="17" name="Ellipse 10"/>
          <p:cNvSpPr/>
          <p:nvPr/>
        </p:nvSpPr>
        <p:spPr>
          <a:xfrm rot="12908734">
            <a:off x="3552719" y="2801928"/>
            <a:ext cx="2945379" cy="1220592"/>
          </a:xfrm>
          <a:custGeom>
            <a:avLst/>
            <a:gdLst/>
            <a:ahLst/>
            <a:cxnLst/>
            <a:rect l="l" t="t" r="r" b="b"/>
            <a:pathLst>
              <a:path w="4555400" h="1887800">
                <a:moveTo>
                  <a:pt x="2772629" y="1375355"/>
                </a:moveTo>
                <a:cubicBezTo>
                  <a:pt x="2774619" y="1380611"/>
                  <a:pt x="2777224" y="1385546"/>
                  <a:pt x="2779896" y="1390441"/>
                </a:cubicBezTo>
                <a:close/>
                <a:moveTo>
                  <a:pt x="1782826" y="1375242"/>
                </a:moveTo>
                <a:lnTo>
                  <a:pt x="1775502" y="1390445"/>
                </a:lnTo>
                <a:cubicBezTo>
                  <a:pt x="1778195" y="1385512"/>
                  <a:pt x="1780820" y="1380538"/>
                  <a:pt x="1782826" y="1375242"/>
                </a:cubicBezTo>
                <a:close/>
                <a:moveTo>
                  <a:pt x="2729201" y="1276951"/>
                </a:moveTo>
                <a:cubicBezTo>
                  <a:pt x="2732260" y="1287962"/>
                  <a:pt x="2736474" y="1298515"/>
                  <a:pt x="2740915" y="1308954"/>
                </a:cubicBezTo>
                <a:close/>
                <a:moveTo>
                  <a:pt x="1826241" y="1276837"/>
                </a:moveTo>
                <a:lnTo>
                  <a:pt x="1814484" y="1308958"/>
                </a:lnTo>
                <a:cubicBezTo>
                  <a:pt x="1818942" y="1298481"/>
                  <a:pt x="1823170" y="1287889"/>
                  <a:pt x="1826241" y="1276837"/>
                </a:cubicBezTo>
                <a:close/>
                <a:moveTo>
                  <a:pt x="2697869" y="1177267"/>
                </a:moveTo>
                <a:cubicBezTo>
                  <a:pt x="2700663" y="1192867"/>
                  <a:pt x="2704943" y="1208034"/>
                  <a:pt x="2709634" y="1223025"/>
                </a:cubicBezTo>
                <a:close/>
                <a:moveTo>
                  <a:pt x="1857555" y="1177177"/>
                </a:moveTo>
                <a:lnTo>
                  <a:pt x="1845765" y="1223028"/>
                </a:lnTo>
                <a:cubicBezTo>
                  <a:pt x="1850467" y="1208006"/>
                  <a:pt x="1854754" y="1192808"/>
                  <a:pt x="1857555" y="1177177"/>
                </a:cubicBezTo>
                <a:close/>
                <a:moveTo>
                  <a:pt x="2677581" y="1073877"/>
                </a:moveTo>
                <a:cubicBezTo>
                  <a:pt x="2679248" y="1093951"/>
                  <a:pt x="2682619" y="1113678"/>
                  <a:pt x="2686632" y="1133177"/>
                </a:cubicBezTo>
                <a:close/>
                <a:moveTo>
                  <a:pt x="1877825" y="1073840"/>
                </a:moveTo>
                <a:lnTo>
                  <a:pt x="1868769" y="1133178"/>
                </a:lnTo>
                <a:cubicBezTo>
                  <a:pt x="1872784" y="1113667"/>
                  <a:pt x="1876157" y="1093927"/>
                  <a:pt x="1877825" y="1073840"/>
                </a:cubicBezTo>
                <a:close/>
                <a:moveTo>
                  <a:pt x="2672450" y="847847"/>
                </a:moveTo>
                <a:cubicBezTo>
                  <a:pt x="2669235" y="879428"/>
                  <a:pt x="2667600" y="911473"/>
                  <a:pt x="2667600" y="943900"/>
                </a:cubicBezTo>
                <a:cubicBezTo>
                  <a:pt x="2667600" y="976327"/>
                  <a:pt x="2669235" y="1008372"/>
                  <a:pt x="2672450" y="1039954"/>
                </a:cubicBezTo>
                <a:cubicBezTo>
                  <a:pt x="2669235" y="1008371"/>
                  <a:pt x="2667600" y="976327"/>
                  <a:pt x="2667600" y="943900"/>
                </a:cubicBezTo>
                <a:close/>
                <a:moveTo>
                  <a:pt x="1882950" y="847847"/>
                </a:moveTo>
                <a:lnTo>
                  <a:pt x="1887800" y="943900"/>
                </a:lnTo>
                <a:lnTo>
                  <a:pt x="1882950" y="1039954"/>
                </a:lnTo>
                <a:cubicBezTo>
                  <a:pt x="1886165" y="1008372"/>
                  <a:pt x="1887800" y="976327"/>
                  <a:pt x="1887800" y="943900"/>
                </a:cubicBezTo>
                <a:cubicBezTo>
                  <a:pt x="1887800" y="911473"/>
                  <a:pt x="1886165" y="879428"/>
                  <a:pt x="1882950" y="847847"/>
                </a:cubicBezTo>
                <a:close/>
                <a:moveTo>
                  <a:pt x="2686632" y="754624"/>
                </a:moveTo>
                <a:cubicBezTo>
                  <a:pt x="2682619" y="774123"/>
                  <a:pt x="2679248" y="793849"/>
                  <a:pt x="2677581" y="813924"/>
                </a:cubicBezTo>
                <a:close/>
                <a:moveTo>
                  <a:pt x="1868769" y="754624"/>
                </a:moveTo>
                <a:lnTo>
                  <a:pt x="1877819" y="813924"/>
                </a:lnTo>
                <a:cubicBezTo>
                  <a:pt x="1876153" y="793849"/>
                  <a:pt x="1872781" y="774123"/>
                  <a:pt x="1868769" y="754624"/>
                </a:cubicBezTo>
                <a:close/>
                <a:moveTo>
                  <a:pt x="2709634" y="664776"/>
                </a:moveTo>
                <a:cubicBezTo>
                  <a:pt x="2704944" y="679763"/>
                  <a:pt x="2700665" y="694926"/>
                  <a:pt x="2697872" y="710522"/>
                </a:cubicBezTo>
                <a:close/>
                <a:moveTo>
                  <a:pt x="1845766" y="664776"/>
                </a:moveTo>
                <a:lnTo>
                  <a:pt x="1857529" y="710522"/>
                </a:lnTo>
                <a:cubicBezTo>
                  <a:pt x="1854735" y="694926"/>
                  <a:pt x="1850457" y="679763"/>
                  <a:pt x="1845766" y="664776"/>
                </a:cubicBezTo>
                <a:close/>
                <a:moveTo>
                  <a:pt x="2740915" y="578846"/>
                </a:moveTo>
                <a:cubicBezTo>
                  <a:pt x="2736475" y="589282"/>
                  <a:pt x="2732262" y="599832"/>
                  <a:pt x="2729205" y="610841"/>
                </a:cubicBezTo>
                <a:close/>
                <a:moveTo>
                  <a:pt x="1814486" y="578846"/>
                </a:moveTo>
                <a:lnTo>
                  <a:pt x="1826196" y="610841"/>
                </a:lnTo>
                <a:cubicBezTo>
                  <a:pt x="1823138" y="599832"/>
                  <a:pt x="1818925" y="589282"/>
                  <a:pt x="1814486" y="578846"/>
                </a:cubicBezTo>
                <a:close/>
                <a:moveTo>
                  <a:pt x="2779896" y="497360"/>
                </a:moveTo>
                <a:cubicBezTo>
                  <a:pt x="2777227" y="502250"/>
                  <a:pt x="2774624" y="507180"/>
                  <a:pt x="2772636" y="512431"/>
                </a:cubicBezTo>
                <a:close/>
                <a:moveTo>
                  <a:pt x="1775504" y="497360"/>
                </a:moveTo>
                <a:lnTo>
                  <a:pt x="1782764" y="512431"/>
                </a:lnTo>
                <a:cubicBezTo>
                  <a:pt x="1780776" y="507180"/>
                  <a:pt x="1778173" y="502250"/>
                  <a:pt x="1775504" y="497360"/>
                </a:cubicBezTo>
                <a:close/>
                <a:moveTo>
                  <a:pt x="943900" y="0"/>
                </a:moveTo>
                <a:cubicBezTo>
                  <a:pt x="1206995" y="0"/>
                  <a:pt x="1444949" y="107640"/>
                  <a:pt x="1615679" y="281723"/>
                </a:cubicBezTo>
                <a:lnTo>
                  <a:pt x="1616264" y="281723"/>
                </a:lnTo>
                <a:cubicBezTo>
                  <a:pt x="1786105" y="449773"/>
                  <a:pt x="2019769" y="553127"/>
                  <a:pt x="2277572" y="553127"/>
                </a:cubicBezTo>
                <a:cubicBezTo>
                  <a:pt x="2535376" y="553127"/>
                  <a:pt x="2769039" y="449773"/>
                  <a:pt x="2938881" y="281723"/>
                </a:cubicBezTo>
                <a:lnTo>
                  <a:pt x="2939721" y="281723"/>
                </a:lnTo>
                <a:cubicBezTo>
                  <a:pt x="3110452" y="107640"/>
                  <a:pt x="3348406" y="0"/>
                  <a:pt x="3611500" y="0"/>
                </a:cubicBezTo>
                <a:cubicBezTo>
                  <a:pt x="4132802" y="0"/>
                  <a:pt x="4555400" y="422598"/>
                  <a:pt x="4555400" y="943900"/>
                </a:cubicBezTo>
                <a:cubicBezTo>
                  <a:pt x="4555400" y="1465202"/>
                  <a:pt x="4132802" y="1887800"/>
                  <a:pt x="3611500" y="1887800"/>
                </a:cubicBezTo>
                <a:cubicBezTo>
                  <a:pt x="3348405" y="1887800"/>
                  <a:pt x="3110451" y="1780160"/>
                  <a:pt x="2939720" y="1606076"/>
                </a:cubicBezTo>
                <a:lnTo>
                  <a:pt x="2936632" y="1606076"/>
                </a:lnTo>
                <a:cubicBezTo>
                  <a:pt x="2767144" y="1439044"/>
                  <a:pt x="2534330" y="1336527"/>
                  <a:pt x="2277572" y="1336527"/>
                </a:cubicBezTo>
                <a:cubicBezTo>
                  <a:pt x="2020814" y="1336527"/>
                  <a:pt x="1788000" y="1439044"/>
                  <a:pt x="1618512" y="1606076"/>
                </a:cubicBezTo>
                <a:lnTo>
                  <a:pt x="1615680" y="1606076"/>
                </a:lnTo>
                <a:cubicBezTo>
                  <a:pt x="1444950" y="1780160"/>
                  <a:pt x="1206995" y="1887800"/>
                  <a:pt x="943900" y="1887800"/>
                </a:cubicBezTo>
                <a:cubicBezTo>
                  <a:pt x="422598" y="1887800"/>
                  <a:pt x="0" y="1465202"/>
                  <a:pt x="0" y="943900"/>
                </a:cubicBezTo>
                <a:cubicBezTo>
                  <a:pt x="0" y="422598"/>
                  <a:pt x="422598" y="0"/>
                  <a:pt x="943900" y="0"/>
                </a:cubicBezTo>
                <a:close/>
              </a:path>
            </a:pathLst>
          </a:cu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8080"/>
              </a:solidFill>
            </a:endParaRPr>
          </a:p>
        </p:txBody>
      </p:sp>
      <p:sp>
        <p:nvSpPr>
          <p:cNvPr id="20" name="Ellipse 22"/>
          <p:cNvSpPr/>
          <p:nvPr/>
        </p:nvSpPr>
        <p:spPr bwMode="gray">
          <a:xfrm>
            <a:off x="2423407" y="3428355"/>
            <a:ext cx="1106227" cy="1106227"/>
          </a:xfrm>
          <a:prstGeom prst="ellipse">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7200" b="1" dirty="0" smtClean="0">
                <a:solidFill>
                  <a:srgbClr val="FFFFFF"/>
                </a:solidFill>
              </a:rPr>
              <a:t>02</a:t>
            </a:r>
            <a:endParaRPr lang="en-US" sz="7200" b="1" dirty="0">
              <a:solidFill>
                <a:srgbClr val="FFFFFF"/>
              </a:solidFill>
            </a:endParaRPr>
          </a:p>
        </p:txBody>
      </p:sp>
      <p:sp>
        <p:nvSpPr>
          <p:cNvPr id="21" name="Ellipse 22"/>
          <p:cNvSpPr/>
          <p:nvPr/>
        </p:nvSpPr>
        <p:spPr bwMode="gray">
          <a:xfrm>
            <a:off x="3774032" y="2362073"/>
            <a:ext cx="1106227" cy="1106227"/>
          </a:xfrm>
          <a:prstGeom prst="ellipse">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7200" b="1" dirty="0" smtClean="0">
                <a:solidFill>
                  <a:srgbClr val="FFFFFF"/>
                </a:solidFill>
              </a:rPr>
              <a:t>03</a:t>
            </a:r>
            <a:endParaRPr lang="en-US" sz="7200" b="1" dirty="0">
              <a:solidFill>
                <a:srgbClr val="FFFFFF"/>
              </a:solidFill>
            </a:endParaRPr>
          </a:p>
        </p:txBody>
      </p:sp>
      <p:sp>
        <p:nvSpPr>
          <p:cNvPr id="24" name="Rechteck 65"/>
          <p:cNvSpPr/>
          <p:nvPr/>
        </p:nvSpPr>
        <p:spPr bwMode="gray">
          <a:xfrm>
            <a:off x="3401999" y="1026000"/>
            <a:ext cx="2340000" cy="1042850"/>
          </a:xfrm>
          <a:prstGeom prst="rect">
            <a:avLst/>
          </a:prstGeom>
          <a:ln>
            <a:noFill/>
          </a:ln>
        </p:spPr>
        <p:txBody>
          <a:bodyPr vert="horz" wrap="square" lIns="91440" tIns="45720" rIns="91440" bIns="45720" anchor="t">
            <a:spAutoFit/>
          </a:bodyPr>
          <a:lstStyle/>
          <a:p>
            <a:pPr>
              <a:lnSpc>
                <a:spcPct val="95000"/>
              </a:lnSpc>
              <a:spcAft>
                <a:spcPts val="800"/>
              </a:spcAft>
              <a:defRPr/>
            </a:pPr>
            <a:r>
              <a:rPr lang="en-US" sz="1400" b="1" dirty="0" smtClean="0">
                <a:solidFill>
                  <a:srgbClr val="646464"/>
                </a:solidFill>
                <a:latin typeface="EYInterstate" panose="02000503020000020004" pitchFamily="2" charset="0"/>
              </a:rPr>
              <a:t>Segmentation and staging</a:t>
            </a:r>
          </a:p>
          <a:p>
            <a:pPr>
              <a:lnSpc>
                <a:spcPct val="95000"/>
              </a:lnSpc>
              <a:spcAft>
                <a:spcPts val="800"/>
              </a:spcAft>
              <a:defRPr/>
            </a:pPr>
            <a:r>
              <a:rPr lang="en-US" sz="1000" dirty="0" smtClean="0">
                <a:solidFill>
                  <a:srgbClr val="646464"/>
                </a:solidFill>
                <a:latin typeface="EYInterstate Light" panose="02000506000000020004" pitchFamily="2" charset="0"/>
              </a:rPr>
              <a:t>Performing automatic selection for individual assessment and segmentation into IFRS 9 stages.</a:t>
            </a:r>
            <a:endParaRPr lang="en-US" sz="1000" dirty="0">
              <a:solidFill>
                <a:srgbClr val="646464"/>
              </a:solidFill>
              <a:latin typeface="EYInterstate Light" panose="02000506000000020004" pitchFamily="2" charset="0"/>
            </a:endParaRPr>
          </a:p>
        </p:txBody>
      </p:sp>
      <p:sp>
        <p:nvSpPr>
          <p:cNvPr id="25" name="Ellipse 10"/>
          <p:cNvSpPr/>
          <p:nvPr/>
        </p:nvSpPr>
        <p:spPr>
          <a:xfrm rot="8460000">
            <a:off x="4925704" y="2762002"/>
            <a:ext cx="2945379" cy="1220592"/>
          </a:xfrm>
          <a:custGeom>
            <a:avLst/>
            <a:gdLst/>
            <a:ahLst/>
            <a:cxnLst/>
            <a:rect l="l" t="t" r="r" b="b"/>
            <a:pathLst>
              <a:path w="4555400" h="1887800">
                <a:moveTo>
                  <a:pt x="2772629" y="1375355"/>
                </a:moveTo>
                <a:cubicBezTo>
                  <a:pt x="2774619" y="1380611"/>
                  <a:pt x="2777224" y="1385546"/>
                  <a:pt x="2779896" y="1390441"/>
                </a:cubicBezTo>
                <a:close/>
                <a:moveTo>
                  <a:pt x="1782826" y="1375242"/>
                </a:moveTo>
                <a:lnTo>
                  <a:pt x="1775502" y="1390445"/>
                </a:lnTo>
                <a:cubicBezTo>
                  <a:pt x="1778195" y="1385512"/>
                  <a:pt x="1780820" y="1380538"/>
                  <a:pt x="1782826" y="1375242"/>
                </a:cubicBezTo>
                <a:close/>
                <a:moveTo>
                  <a:pt x="2729201" y="1276951"/>
                </a:moveTo>
                <a:cubicBezTo>
                  <a:pt x="2732260" y="1287962"/>
                  <a:pt x="2736474" y="1298515"/>
                  <a:pt x="2740915" y="1308954"/>
                </a:cubicBezTo>
                <a:close/>
                <a:moveTo>
                  <a:pt x="1826241" y="1276837"/>
                </a:moveTo>
                <a:lnTo>
                  <a:pt x="1814484" y="1308958"/>
                </a:lnTo>
                <a:cubicBezTo>
                  <a:pt x="1818942" y="1298481"/>
                  <a:pt x="1823170" y="1287889"/>
                  <a:pt x="1826241" y="1276837"/>
                </a:cubicBezTo>
                <a:close/>
                <a:moveTo>
                  <a:pt x="2697869" y="1177267"/>
                </a:moveTo>
                <a:cubicBezTo>
                  <a:pt x="2700663" y="1192867"/>
                  <a:pt x="2704943" y="1208034"/>
                  <a:pt x="2709634" y="1223025"/>
                </a:cubicBezTo>
                <a:close/>
                <a:moveTo>
                  <a:pt x="1857555" y="1177177"/>
                </a:moveTo>
                <a:lnTo>
                  <a:pt x="1845765" y="1223028"/>
                </a:lnTo>
                <a:cubicBezTo>
                  <a:pt x="1850467" y="1208006"/>
                  <a:pt x="1854754" y="1192808"/>
                  <a:pt x="1857555" y="1177177"/>
                </a:cubicBezTo>
                <a:close/>
                <a:moveTo>
                  <a:pt x="2677581" y="1073877"/>
                </a:moveTo>
                <a:cubicBezTo>
                  <a:pt x="2679248" y="1093951"/>
                  <a:pt x="2682619" y="1113678"/>
                  <a:pt x="2686632" y="1133177"/>
                </a:cubicBezTo>
                <a:close/>
                <a:moveTo>
                  <a:pt x="1877825" y="1073840"/>
                </a:moveTo>
                <a:lnTo>
                  <a:pt x="1868769" y="1133178"/>
                </a:lnTo>
                <a:cubicBezTo>
                  <a:pt x="1872784" y="1113667"/>
                  <a:pt x="1876157" y="1093927"/>
                  <a:pt x="1877825" y="1073840"/>
                </a:cubicBezTo>
                <a:close/>
                <a:moveTo>
                  <a:pt x="2672450" y="847847"/>
                </a:moveTo>
                <a:cubicBezTo>
                  <a:pt x="2669235" y="879428"/>
                  <a:pt x="2667600" y="911473"/>
                  <a:pt x="2667600" y="943900"/>
                </a:cubicBezTo>
                <a:cubicBezTo>
                  <a:pt x="2667600" y="976327"/>
                  <a:pt x="2669235" y="1008372"/>
                  <a:pt x="2672450" y="1039954"/>
                </a:cubicBezTo>
                <a:cubicBezTo>
                  <a:pt x="2669235" y="1008371"/>
                  <a:pt x="2667600" y="976327"/>
                  <a:pt x="2667600" y="943900"/>
                </a:cubicBezTo>
                <a:close/>
                <a:moveTo>
                  <a:pt x="1882950" y="847847"/>
                </a:moveTo>
                <a:lnTo>
                  <a:pt x="1887800" y="943900"/>
                </a:lnTo>
                <a:lnTo>
                  <a:pt x="1882950" y="1039954"/>
                </a:lnTo>
                <a:cubicBezTo>
                  <a:pt x="1886165" y="1008372"/>
                  <a:pt x="1887800" y="976327"/>
                  <a:pt x="1887800" y="943900"/>
                </a:cubicBezTo>
                <a:cubicBezTo>
                  <a:pt x="1887800" y="911473"/>
                  <a:pt x="1886165" y="879428"/>
                  <a:pt x="1882950" y="847847"/>
                </a:cubicBezTo>
                <a:close/>
                <a:moveTo>
                  <a:pt x="2686632" y="754624"/>
                </a:moveTo>
                <a:cubicBezTo>
                  <a:pt x="2682619" y="774123"/>
                  <a:pt x="2679248" y="793849"/>
                  <a:pt x="2677581" y="813924"/>
                </a:cubicBezTo>
                <a:close/>
                <a:moveTo>
                  <a:pt x="1868769" y="754624"/>
                </a:moveTo>
                <a:lnTo>
                  <a:pt x="1877819" y="813924"/>
                </a:lnTo>
                <a:cubicBezTo>
                  <a:pt x="1876153" y="793849"/>
                  <a:pt x="1872781" y="774123"/>
                  <a:pt x="1868769" y="754624"/>
                </a:cubicBezTo>
                <a:close/>
                <a:moveTo>
                  <a:pt x="2709634" y="664776"/>
                </a:moveTo>
                <a:cubicBezTo>
                  <a:pt x="2704944" y="679763"/>
                  <a:pt x="2700665" y="694926"/>
                  <a:pt x="2697872" y="710522"/>
                </a:cubicBezTo>
                <a:close/>
                <a:moveTo>
                  <a:pt x="1845766" y="664776"/>
                </a:moveTo>
                <a:lnTo>
                  <a:pt x="1857529" y="710522"/>
                </a:lnTo>
                <a:cubicBezTo>
                  <a:pt x="1854735" y="694926"/>
                  <a:pt x="1850457" y="679763"/>
                  <a:pt x="1845766" y="664776"/>
                </a:cubicBezTo>
                <a:close/>
                <a:moveTo>
                  <a:pt x="2740915" y="578846"/>
                </a:moveTo>
                <a:cubicBezTo>
                  <a:pt x="2736475" y="589282"/>
                  <a:pt x="2732262" y="599832"/>
                  <a:pt x="2729205" y="610841"/>
                </a:cubicBezTo>
                <a:close/>
                <a:moveTo>
                  <a:pt x="1814486" y="578846"/>
                </a:moveTo>
                <a:lnTo>
                  <a:pt x="1826196" y="610841"/>
                </a:lnTo>
                <a:cubicBezTo>
                  <a:pt x="1823138" y="599832"/>
                  <a:pt x="1818925" y="589282"/>
                  <a:pt x="1814486" y="578846"/>
                </a:cubicBezTo>
                <a:close/>
                <a:moveTo>
                  <a:pt x="2779896" y="497360"/>
                </a:moveTo>
                <a:cubicBezTo>
                  <a:pt x="2777227" y="502250"/>
                  <a:pt x="2774624" y="507180"/>
                  <a:pt x="2772636" y="512431"/>
                </a:cubicBezTo>
                <a:close/>
                <a:moveTo>
                  <a:pt x="1775504" y="497360"/>
                </a:moveTo>
                <a:lnTo>
                  <a:pt x="1782764" y="512431"/>
                </a:lnTo>
                <a:cubicBezTo>
                  <a:pt x="1780776" y="507180"/>
                  <a:pt x="1778173" y="502250"/>
                  <a:pt x="1775504" y="497360"/>
                </a:cubicBezTo>
                <a:close/>
                <a:moveTo>
                  <a:pt x="943900" y="0"/>
                </a:moveTo>
                <a:cubicBezTo>
                  <a:pt x="1206995" y="0"/>
                  <a:pt x="1444949" y="107640"/>
                  <a:pt x="1615679" y="281723"/>
                </a:cubicBezTo>
                <a:lnTo>
                  <a:pt x="1616264" y="281723"/>
                </a:lnTo>
                <a:cubicBezTo>
                  <a:pt x="1786105" y="449773"/>
                  <a:pt x="2019769" y="553127"/>
                  <a:pt x="2277572" y="553127"/>
                </a:cubicBezTo>
                <a:cubicBezTo>
                  <a:pt x="2535376" y="553127"/>
                  <a:pt x="2769039" y="449773"/>
                  <a:pt x="2938881" y="281723"/>
                </a:cubicBezTo>
                <a:lnTo>
                  <a:pt x="2939721" y="281723"/>
                </a:lnTo>
                <a:cubicBezTo>
                  <a:pt x="3110452" y="107640"/>
                  <a:pt x="3348406" y="0"/>
                  <a:pt x="3611500" y="0"/>
                </a:cubicBezTo>
                <a:cubicBezTo>
                  <a:pt x="4132802" y="0"/>
                  <a:pt x="4555400" y="422598"/>
                  <a:pt x="4555400" y="943900"/>
                </a:cubicBezTo>
                <a:cubicBezTo>
                  <a:pt x="4555400" y="1465202"/>
                  <a:pt x="4132802" y="1887800"/>
                  <a:pt x="3611500" y="1887800"/>
                </a:cubicBezTo>
                <a:cubicBezTo>
                  <a:pt x="3348405" y="1887800"/>
                  <a:pt x="3110451" y="1780160"/>
                  <a:pt x="2939720" y="1606076"/>
                </a:cubicBezTo>
                <a:lnTo>
                  <a:pt x="2936632" y="1606076"/>
                </a:lnTo>
                <a:cubicBezTo>
                  <a:pt x="2767144" y="1439044"/>
                  <a:pt x="2534330" y="1336527"/>
                  <a:pt x="2277572" y="1336527"/>
                </a:cubicBezTo>
                <a:cubicBezTo>
                  <a:pt x="2020814" y="1336527"/>
                  <a:pt x="1788000" y="1439044"/>
                  <a:pt x="1618512" y="1606076"/>
                </a:cubicBezTo>
                <a:lnTo>
                  <a:pt x="1615680" y="1606076"/>
                </a:lnTo>
                <a:cubicBezTo>
                  <a:pt x="1444950" y="1780160"/>
                  <a:pt x="1206995" y="1887800"/>
                  <a:pt x="943900" y="1887800"/>
                </a:cubicBezTo>
                <a:cubicBezTo>
                  <a:pt x="422598" y="1887800"/>
                  <a:pt x="0" y="1465202"/>
                  <a:pt x="0" y="943900"/>
                </a:cubicBezTo>
                <a:cubicBezTo>
                  <a:pt x="0" y="422598"/>
                  <a:pt x="422598" y="0"/>
                  <a:pt x="943900"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808080"/>
              </a:solidFill>
            </a:endParaRPr>
          </a:p>
        </p:txBody>
      </p:sp>
      <p:sp>
        <p:nvSpPr>
          <p:cNvPr id="22" name="Ellipse 22"/>
          <p:cNvSpPr/>
          <p:nvPr/>
        </p:nvSpPr>
        <p:spPr bwMode="gray">
          <a:xfrm>
            <a:off x="5164148" y="3357878"/>
            <a:ext cx="1106227" cy="1106227"/>
          </a:xfrm>
          <a:prstGeom prst="ellipse">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7200" b="1" dirty="0" smtClean="0">
                <a:solidFill>
                  <a:srgbClr val="FFFFFF"/>
                </a:solidFill>
              </a:rPr>
              <a:t>04</a:t>
            </a:r>
            <a:endParaRPr lang="en-US" sz="7200" b="1" dirty="0">
              <a:solidFill>
                <a:srgbClr val="FFFFFF"/>
              </a:solidFill>
            </a:endParaRPr>
          </a:p>
        </p:txBody>
      </p:sp>
      <p:sp>
        <p:nvSpPr>
          <p:cNvPr id="19" name="Oval 18"/>
          <p:cNvSpPr/>
          <p:nvPr/>
        </p:nvSpPr>
        <p:spPr>
          <a:xfrm>
            <a:off x="6462068" y="2213455"/>
            <a:ext cx="1224000" cy="1224000"/>
          </a:xfrm>
          <a:prstGeom prst="ellipse">
            <a:avLst/>
          </a:prstGeom>
          <a:solidFill>
            <a:srgbClr val="FFD2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cs-CZ" sz="1200" dirty="0">
              <a:solidFill>
                <a:schemeClr val="tx1"/>
              </a:solidFill>
            </a:endParaRPr>
          </a:p>
        </p:txBody>
      </p:sp>
      <p:sp>
        <p:nvSpPr>
          <p:cNvPr id="23" name="Ellipse 22"/>
          <p:cNvSpPr/>
          <p:nvPr/>
        </p:nvSpPr>
        <p:spPr bwMode="gray">
          <a:xfrm>
            <a:off x="6504287" y="2263241"/>
            <a:ext cx="1106227" cy="1106227"/>
          </a:xfrm>
          <a:prstGeom prst="ellipse">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7200" b="1" dirty="0" smtClean="0">
                <a:solidFill>
                  <a:srgbClr val="FFFFFF"/>
                </a:solidFill>
              </a:rPr>
              <a:t>05</a:t>
            </a:r>
            <a:endParaRPr lang="en-US" sz="7200" b="1" dirty="0">
              <a:solidFill>
                <a:srgbClr val="FFFFFF"/>
              </a:solidFill>
            </a:endParaRPr>
          </a:p>
        </p:txBody>
      </p:sp>
      <p:sp>
        <p:nvSpPr>
          <p:cNvPr id="26" name="Ellipse 22"/>
          <p:cNvSpPr/>
          <p:nvPr/>
        </p:nvSpPr>
        <p:spPr bwMode="gray">
          <a:xfrm>
            <a:off x="1017787" y="2429172"/>
            <a:ext cx="1106227" cy="1106227"/>
          </a:xfrm>
          <a:prstGeom prst="ellipse">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7200" b="1" dirty="0" smtClean="0">
                <a:solidFill>
                  <a:srgbClr val="FFFFFF"/>
                </a:solidFill>
              </a:rPr>
              <a:t>01</a:t>
            </a:r>
            <a:endParaRPr lang="en-US" sz="7200" b="1" dirty="0">
              <a:solidFill>
                <a:srgbClr val="FFFFFF"/>
              </a:solidFill>
            </a:endParaRPr>
          </a:p>
        </p:txBody>
      </p:sp>
    </p:spTree>
    <p:extLst>
      <p:ext uri="{BB962C8B-B14F-4D97-AF65-F5344CB8AC3E}">
        <p14:creationId xmlns:p14="http://schemas.microsoft.com/office/powerpoint/2010/main" val="3685072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Data import and validation</a:t>
            </a:r>
            <a:endParaRPr lang="en-US" dirty="0">
              <a:latin typeface="EYInterstate" panose="02000503020000020004" pitchFamily="2" charset="0"/>
            </a:endParaRPr>
          </a:p>
        </p:txBody>
      </p:sp>
      <p:sp>
        <p:nvSpPr>
          <p:cNvPr id="14" name="Abgerundetes Rechteck 24"/>
          <p:cNvSpPr/>
          <p:nvPr/>
        </p:nvSpPr>
        <p:spPr bwMode="gray">
          <a:xfrm>
            <a:off x="979999" y="2631679"/>
            <a:ext cx="3376800" cy="3243528"/>
          </a:xfrm>
          <a:prstGeom prst="rect">
            <a:avLst/>
          </a:prstGeom>
          <a:no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180000" tIns="252000" rIns="180000" bIns="0" anchor="t" anchorCtr="0"/>
          <a:lstStyle/>
          <a:p>
            <a:pPr marL="272489"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LIC Solution® supports data validity versioning in a “valid from” “valid to” fashion</a:t>
            </a:r>
          </a:p>
          <a:p>
            <a:pPr marL="272489"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Existence of multiple in parallel existing versions of data is supported </a:t>
            </a:r>
          </a:p>
          <a:p>
            <a:pPr marL="272489"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Prior to loading the data into the LIC Solution, data validation is performed</a:t>
            </a:r>
          </a:p>
          <a:p>
            <a:pPr marL="272489"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Data input process supports transaction-like handling, i.e. committed only if done completely</a:t>
            </a:r>
          </a:p>
          <a:p>
            <a:pPr marL="272489" indent="-272489" defTabSz="912524">
              <a:buClr>
                <a:srgbClr val="FFD200"/>
              </a:buClr>
              <a:buSzPct val="70000"/>
              <a:buFont typeface="Arial" panose="020B0604020202020204" pitchFamily="34" charset="0"/>
              <a:buChar char="►"/>
            </a:pPr>
            <a:endParaRPr lang="en-US" sz="1200" dirty="0" smtClean="0">
              <a:solidFill>
                <a:srgbClr val="646464"/>
              </a:solidFill>
              <a:latin typeface="EYInterstate Light" pitchFamily="2" charset="0"/>
            </a:endParaRPr>
          </a:p>
          <a:p>
            <a:pPr defTabSz="801688" eaLnBrk="0" hangingPunct="0">
              <a:lnSpc>
                <a:spcPct val="95000"/>
              </a:lnSpc>
              <a:spcAft>
                <a:spcPts val="800"/>
              </a:spcAft>
              <a:buClr>
                <a:srgbClr val="969696"/>
              </a:buClr>
              <a:defRPr/>
            </a:pPr>
            <a:endParaRPr lang="en-US" sz="1200" dirty="0">
              <a:solidFill>
                <a:srgbClr val="646464"/>
              </a:solidFill>
              <a:latin typeface="EYInterstate" panose="02000503020000020004" pitchFamily="2" charset="0"/>
              <a:cs typeface="Arial" charset="0"/>
            </a:endParaRPr>
          </a:p>
        </p:txBody>
      </p:sp>
      <p:sp>
        <p:nvSpPr>
          <p:cNvPr id="24" name="Abgerundetes Rechteck 24"/>
          <p:cNvSpPr/>
          <p:nvPr/>
        </p:nvSpPr>
        <p:spPr bwMode="gray">
          <a:xfrm>
            <a:off x="979998" y="1930693"/>
            <a:ext cx="3376801" cy="700986"/>
          </a:xfrm>
          <a:prstGeom prst="rect">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504000" tIns="72000" rIns="108000" bIns="72000" anchor="ctr"/>
          <a:lstStyle/>
          <a:p>
            <a:pPr algn="ctr" defTabSz="801688" eaLnBrk="0" hangingPunct="0">
              <a:lnSpc>
                <a:spcPct val="95000"/>
              </a:lnSpc>
              <a:spcAft>
                <a:spcPts val="800"/>
              </a:spcAft>
              <a:buClr>
                <a:srgbClr val="969696"/>
              </a:buClr>
              <a:defRPr/>
            </a:pPr>
            <a:r>
              <a:rPr lang="en-US" b="1" dirty="0" smtClean="0">
                <a:solidFill>
                  <a:schemeClr val="bg1"/>
                </a:solidFill>
                <a:latin typeface="EYInterstate" panose="02000503020000020004" pitchFamily="2" charset="0"/>
                <a:cs typeface="Arial" charset="0"/>
              </a:rPr>
              <a:t>Data Mart and Data Load</a:t>
            </a:r>
            <a:endParaRPr lang="en-US" b="1" dirty="0">
              <a:solidFill>
                <a:schemeClr val="bg1"/>
              </a:solidFill>
              <a:latin typeface="EYInterstate" panose="02000503020000020004" pitchFamily="2" charset="0"/>
              <a:cs typeface="Arial" charset="0"/>
            </a:endParaRPr>
          </a:p>
        </p:txBody>
      </p:sp>
      <p:sp>
        <p:nvSpPr>
          <p:cNvPr id="26" name="Rad 23"/>
          <p:cNvSpPr/>
          <p:nvPr/>
        </p:nvSpPr>
        <p:spPr bwMode="gray">
          <a:xfrm>
            <a:off x="505895" y="1930692"/>
            <a:ext cx="948207" cy="948206"/>
          </a:xfrm>
          <a:prstGeom prst="donut">
            <a:avLst>
              <a:gd name="adj" fmla="val 15297"/>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25" name="Ellipse 22"/>
          <p:cNvSpPr/>
          <p:nvPr/>
        </p:nvSpPr>
        <p:spPr bwMode="gray">
          <a:xfrm>
            <a:off x="621445" y="2043467"/>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17" name="Freeform 6"/>
          <p:cNvSpPr>
            <a:spLocks noEditPoints="1"/>
          </p:cNvSpPr>
          <p:nvPr/>
        </p:nvSpPr>
        <p:spPr bwMode="auto">
          <a:xfrm>
            <a:off x="763738" y="2164618"/>
            <a:ext cx="443248" cy="448588"/>
          </a:xfrm>
          <a:custGeom>
            <a:avLst/>
            <a:gdLst>
              <a:gd name="T0" fmla="*/ 168 w 176"/>
              <a:gd name="T1" fmla="*/ 130 h 178"/>
              <a:gd name="T2" fmla="*/ 8 w 176"/>
              <a:gd name="T3" fmla="*/ 130 h 178"/>
              <a:gd name="T4" fmla="*/ 0 w 176"/>
              <a:gd name="T5" fmla="*/ 138 h 178"/>
              <a:gd name="T6" fmla="*/ 0 w 176"/>
              <a:gd name="T7" fmla="*/ 170 h 178"/>
              <a:gd name="T8" fmla="*/ 8 w 176"/>
              <a:gd name="T9" fmla="*/ 178 h 178"/>
              <a:gd name="T10" fmla="*/ 168 w 176"/>
              <a:gd name="T11" fmla="*/ 178 h 178"/>
              <a:gd name="T12" fmla="*/ 176 w 176"/>
              <a:gd name="T13" fmla="*/ 170 h 178"/>
              <a:gd name="T14" fmla="*/ 176 w 176"/>
              <a:gd name="T15" fmla="*/ 138 h 178"/>
              <a:gd name="T16" fmla="*/ 168 w 176"/>
              <a:gd name="T17" fmla="*/ 130 h 178"/>
              <a:gd name="T18" fmla="*/ 136 w 176"/>
              <a:gd name="T19" fmla="*/ 154 h 178"/>
              <a:gd name="T20" fmla="*/ 16 w 176"/>
              <a:gd name="T21" fmla="*/ 154 h 178"/>
              <a:gd name="T22" fmla="*/ 12 w 176"/>
              <a:gd name="T23" fmla="*/ 150 h 178"/>
              <a:gd name="T24" fmla="*/ 16 w 176"/>
              <a:gd name="T25" fmla="*/ 146 h 178"/>
              <a:gd name="T26" fmla="*/ 136 w 176"/>
              <a:gd name="T27" fmla="*/ 146 h 178"/>
              <a:gd name="T28" fmla="*/ 140 w 176"/>
              <a:gd name="T29" fmla="*/ 150 h 178"/>
              <a:gd name="T30" fmla="*/ 136 w 176"/>
              <a:gd name="T31" fmla="*/ 154 h 178"/>
              <a:gd name="T32" fmla="*/ 160 w 176"/>
              <a:gd name="T33" fmla="*/ 154 h 178"/>
              <a:gd name="T34" fmla="*/ 152 w 176"/>
              <a:gd name="T35" fmla="*/ 154 h 178"/>
              <a:gd name="T36" fmla="*/ 148 w 176"/>
              <a:gd name="T37" fmla="*/ 150 h 178"/>
              <a:gd name="T38" fmla="*/ 152 w 176"/>
              <a:gd name="T39" fmla="*/ 146 h 178"/>
              <a:gd name="T40" fmla="*/ 160 w 176"/>
              <a:gd name="T41" fmla="*/ 146 h 178"/>
              <a:gd name="T42" fmla="*/ 164 w 176"/>
              <a:gd name="T43" fmla="*/ 150 h 178"/>
              <a:gd name="T44" fmla="*/ 160 w 176"/>
              <a:gd name="T45" fmla="*/ 154 h 178"/>
              <a:gd name="T46" fmla="*/ 8 w 176"/>
              <a:gd name="T47" fmla="*/ 122 h 178"/>
              <a:gd name="T48" fmla="*/ 3 w 176"/>
              <a:gd name="T49" fmla="*/ 123 h 178"/>
              <a:gd name="T50" fmla="*/ 7 w 176"/>
              <a:gd name="T51" fmla="*/ 113 h 178"/>
              <a:gd name="T52" fmla="*/ 22 w 176"/>
              <a:gd name="T53" fmla="*/ 92 h 178"/>
              <a:gd name="T54" fmla="*/ 40 w 176"/>
              <a:gd name="T55" fmla="*/ 82 h 178"/>
              <a:gd name="T56" fmla="*/ 53 w 176"/>
              <a:gd name="T57" fmla="*/ 82 h 178"/>
              <a:gd name="T58" fmla="*/ 66 w 176"/>
              <a:gd name="T59" fmla="*/ 82 h 178"/>
              <a:gd name="T60" fmla="*/ 88 w 176"/>
              <a:gd name="T61" fmla="*/ 104 h 178"/>
              <a:gd name="T62" fmla="*/ 110 w 176"/>
              <a:gd name="T63" fmla="*/ 82 h 178"/>
              <a:gd name="T64" fmla="*/ 123 w 176"/>
              <a:gd name="T65" fmla="*/ 82 h 178"/>
              <a:gd name="T66" fmla="*/ 123 w 176"/>
              <a:gd name="T67" fmla="*/ 83 h 178"/>
              <a:gd name="T68" fmla="*/ 123 w 176"/>
              <a:gd name="T69" fmla="*/ 82 h 178"/>
              <a:gd name="T70" fmla="*/ 136 w 176"/>
              <a:gd name="T71" fmla="*/ 82 h 178"/>
              <a:gd name="T72" fmla="*/ 154 w 176"/>
              <a:gd name="T73" fmla="*/ 92 h 178"/>
              <a:gd name="T74" fmla="*/ 168 w 176"/>
              <a:gd name="T75" fmla="*/ 113 h 178"/>
              <a:gd name="T76" fmla="*/ 173 w 176"/>
              <a:gd name="T77" fmla="*/ 123 h 178"/>
              <a:gd name="T78" fmla="*/ 168 w 176"/>
              <a:gd name="T79" fmla="*/ 122 h 178"/>
              <a:gd name="T80" fmla="*/ 8 w 176"/>
              <a:gd name="T81" fmla="*/ 122 h 178"/>
              <a:gd name="T82" fmla="*/ 147 w 176"/>
              <a:gd name="T83" fmla="*/ 36 h 178"/>
              <a:gd name="T84" fmla="*/ 111 w 176"/>
              <a:gd name="T85" fmla="*/ 71 h 178"/>
              <a:gd name="T86" fmla="*/ 110 w 176"/>
              <a:gd name="T87" fmla="*/ 73 h 178"/>
              <a:gd name="T88" fmla="*/ 88 w 176"/>
              <a:gd name="T89" fmla="*/ 94 h 178"/>
              <a:gd name="T90" fmla="*/ 66 w 176"/>
              <a:gd name="T91" fmla="*/ 73 h 178"/>
              <a:gd name="T92" fmla="*/ 64 w 176"/>
              <a:gd name="T93" fmla="*/ 71 h 178"/>
              <a:gd name="T94" fmla="*/ 29 w 176"/>
              <a:gd name="T95" fmla="*/ 36 h 178"/>
              <a:gd name="T96" fmla="*/ 59 w 176"/>
              <a:gd name="T97" fmla="*/ 36 h 178"/>
              <a:gd name="T98" fmla="*/ 59 w 176"/>
              <a:gd name="T99" fmla="*/ 0 h 178"/>
              <a:gd name="T100" fmla="*/ 117 w 176"/>
              <a:gd name="T101" fmla="*/ 0 h 178"/>
              <a:gd name="T102" fmla="*/ 117 w 176"/>
              <a:gd name="T103" fmla="*/ 36 h 178"/>
              <a:gd name="T104" fmla="*/ 147 w 176"/>
              <a:gd name="T105" fmla="*/ 3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76" h="178">
                <a:moveTo>
                  <a:pt x="168" y="130"/>
                </a:moveTo>
                <a:cubicBezTo>
                  <a:pt x="8" y="130"/>
                  <a:pt x="8" y="130"/>
                  <a:pt x="8" y="130"/>
                </a:cubicBezTo>
                <a:cubicBezTo>
                  <a:pt x="4" y="130"/>
                  <a:pt x="0" y="134"/>
                  <a:pt x="0" y="138"/>
                </a:cubicBezTo>
                <a:cubicBezTo>
                  <a:pt x="0" y="170"/>
                  <a:pt x="0" y="170"/>
                  <a:pt x="0" y="170"/>
                </a:cubicBezTo>
                <a:cubicBezTo>
                  <a:pt x="0" y="175"/>
                  <a:pt x="4" y="178"/>
                  <a:pt x="8" y="178"/>
                </a:cubicBezTo>
                <a:cubicBezTo>
                  <a:pt x="168" y="178"/>
                  <a:pt x="168" y="178"/>
                  <a:pt x="168" y="178"/>
                </a:cubicBezTo>
                <a:cubicBezTo>
                  <a:pt x="172" y="178"/>
                  <a:pt x="176" y="175"/>
                  <a:pt x="176" y="170"/>
                </a:cubicBezTo>
                <a:cubicBezTo>
                  <a:pt x="176" y="138"/>
                  <a:pt x="176" y="138"/>
                  <a:pt x="176" y="138"/>
                </a:cubicBezTo>
                <a:cubicBezTo>
                  <a:pt x="176" y="134"/>
                  <a:pt x="172" y="130"/>
                  <a:pt x="168" y="130"/>
                </a:cubicBezTo>
                <a:close/>
                <a:moveTo>
                  <a:pt x="136" y="154"/>
                </a:moveTo>
                <a:cubicBezTo>
                  <a:pt x="16" y="154"/>
                  <a:pt x="16" y="154"/>
                  <a:pt x="16" y="154"/>
                </a:cubicBezTo>
                <a:cubicBezTo>
                  <a:pt x="14" y="154"/>
                  <a:pt x="12" y="152"/>
                  <a:pt x="12" y="150"/>
                </a:cubicBezTo>
                <a:cubicBezTo>
                  <a:pt x="12" y="148"/>
                  <a:pt x="14" y="146"/>
                  <a:pt x="16" y="146"/>
                </a:cubicBezTo>
                <a:cubicBezTo>
                  <a:pt x="136" y="146"/>
                  <a:pt x="136" y="146"/>
                  <a:pt x="136" y="146"/>
                </a:cubicBezTo>
                <a:cubicBezTo>
                  <a:pt x="138" y="146"/>
                  <a:pt x="140" y="148"/>
                  <a:pt x="140" y="150"/>
                </a:cubicBezTo>
                <a:cubicBezTo>
                  <a:pt x="140" y="152"/>
                  <a:pt x="138" y="154"/>
                  <a:pt x="136" y="154"/>
                </a:cubicBezTo>
                <a:close/>
                <a:moveTo>
                  <a:pt x="160" y="154"/>
                </a:moveTo>
                <a:cubicBezTo>
                  <a:pt x="152" y="154"/>
                  <a:pt x="152" y="154"/>
                  <a:pt x="152" y="154"/>
                </a:cubicBezTo>
                <a:cubicBezTo>
                  <a:pt x="150" y="154"/>
                  <a:pt x="148" y="152"/>
                  <a:pt x="148" y="150"/>
                </a:cubicBezTo>
                <a:cubicBezTo>
                  <a:pt x="148" y="148"/>
                  <a:pt x="150" y="146"/>
                  <a:pt x="152" y="146"/>
                </a:cubicBezTo>
                <a:cubicBezTo>
                  <a:pt x="160" y="146"/>
                  <a:pt x="160" y="146"/>
                  <a:pt x="160" y="146"/>
                </a:cubicBezTo>
                <a:cubicBezTo>
                  <a:pt x="162" y="146"/>
                  <a:pt x="164" y="148"/>
                  <a:pt x="164" y="150"/>
                </a:cubicBezTo>
                <a:cubicBezTo>
                  <a:pt x="164" y="152"/>
                  <a:pt x="162" y="154"/>
                  <a:pt x="160" y="154"/>
                </a:cubicBezTo>
                <a:close/>
                <a:moveTo>
                  <a:pt x="8" y="122"/>
                </a:moveTo>
                <a:cubicBezTo>
                  <a:pt x="6" y="122"/>
                  <a:pt x="5" y="123"/>
                  <a:pt x="3" y="123"/>
                </a:cubicBezTo>
                <a:cubicBezTo>
                  <a:pt x="4" y="119"/>
                  <a:pt x="6" y="116"/>
                  <a:pt x="7" y="113"/>
                </a:cubicBezTo>
                <a:cubicBezTo>
                  <a:pt x="22" y="92"/>
                  <a:pt x="22" y="92"/>
                  <a:pt x="22" y="92"/>
                </a:cubicBezTo>
                <a:cubicBezTo>
                  <a:pt x="25" y="87"/>
                  <a:pt x="34" y="82"/>
                  <a:pt x="40" y="82"/>
                </a:cubicBezTo>
                <a:cubicBezTo>
                  <a:pt x="53" y="82"/>
                  <a:pt x="53" y="82"/>
                  <a:pt x="53" y="82"/>
                </a:cubicBezTo>
                <a:cubicBezTo>
                  <a:pt x="66" y="82"/>
                  <a:pt x="66" y="82"/>
                  <a:pt x="66" y="82"/>
                </a:cubicBezTo>
                <a:cubicBezTo>
                  <a:pt x="88" y="104"/>
                  <a:pt x="88" y="104"/>
                  <a:pt x="88" y="104"/>
                </a:cubicBezTo>
                <a:cubicBezTo>
                  <a:pt x="110" y="82"/>
                  <a:pt x="110" y="82"/>
                  <a:pt x="110" y="82"/>
                </a:cubicBezTo>
                <a:cubicBezTo>
                  <a:pt x="123" y="82"/>
                  <a:pt x="123" y="82"/>
                  <a:pt x="123" y="82"/>
                </a:cubicBezTo>
                <a:cubicBezTo>
                  <a:pt x="123" y="83"/>
                  <a:pt x="123" y="83"/>
                  <a:pt x="123" y="83"/>
                </a:cubicBezTo>
                <a:cubicBezTo>
                  <a:pt x="123" y="82"/>
                  <a:pt x="123" y="82"/>
                  <a:pt x="123" y="82"/>
                </a:cubicBezTo>
                <a:cubicBezTo>
                  <a:pt x="136" y="82"/>
                  <a:pt x="136" y="82"/>
                  <a:pt x="136" y="82"/>
                </a:cubicBezTo>
                <a:cubicBezTo>
                  <a:pt x="142" y="82"/>
                  <a:pt x="151" y="87"/>
                  <a:pt x="154" y="92"/>
                </a:cubicBezTo>
                <a:cubicBezTo>
                  <a:pt x="168" y="113"/>
                  <a:pt x="168" y="113"/>
                  <a:pt x="168" y="113"/>
                </a:cubicBezTo>
                <a:cubicBezTo>
                  <a:pt x="170" y="116"/>
                  <a:pt x="172" y="119"/>
                  <a:pt x="173" y="123"/>
                </a:cubicBezTo>
                <a:cubicBezTo>
                  <a:pt x="171" y="123"/>
                  <a:pt x="170" y="122"/>
                  <a:pt x="168" y="122"/>
                </a:cubicBezTo>
                <a:lnTo>
                  <a:pt x="8" y="122"/>
                </a:lnTo>
                <a:close/>
                <a:moveTo>
                  <a:pt x="147" y="36"/>
                </a:moveTo>
                <a:cubicBezTo>
                  <a:pt x="111" y="71"/>
                  <a:pt x="111" y="71"/>
                  <a:pt x="111" y="71"/>
                </a:cubicBezTo>
                <a:cubicBezTo>
                  <a:pt x="110" y="73"/>
                  <a:pt x="110" y="73"/>
                  <a:pt x="110" y="73"/>
                </a:cubicBezTo>
                <a:cubicBezTo>
                  <a:pt x="88" y="94"/>
                  <a:pt x="88" y="94"/>
                  <a:pt x="88" y="94"/>
                </a:cubicBezTo>
                <a:cubicBezTo>
                  <a:pt x="66" y="73"/>
                  <a:pt x="66" y="73"/>
                  <a:pt x="66" y="73"/>
                </a:cubicBezTo>
                <a:cubicBezTo>
                  <a:pt x="64" y="71"/>
                  <a:pt x="64" y="71"/>
                  <a:pt x="64" y="71"/>
                </a:cubicBezTo>
                <a:cubicBezTo>
                  <a:pt x="29" y="36"/>
                  <a:pt x="29" y="36"/>
                  <a:pt x="29" y="36"/>
                </a:cubicBezTo>
                <a:cubicBezTo>
                  <a:pt x="59" y="36"/>
                  <a:pt x="59" y="36"/>
                  <a:pt x="59" y="36"/>
                </a:cubicBezTo>
                <a:cubicBezTo>
                  <a:pt x="59" y="0"/>
                  <a:pt x="59" y="0"/>
                  <a:pt x="59" y="0"/>
                </a:cubicBezTo>
                <a:cubicBezTo>
                  <a:pt x="117" y="0"/>
                  <a:pt x="117" y="0"/>
                  <a:pt x="117" y="0"/>
                </a:cubicBezTo>
                <a:cubicBezTo>
                  <a:pt x="117" y="36"/>
                  <a:pt x="117" y="36"/>
                  <a:pt x="117" y="36"/>
                </a:cubicBezTo>
                <a:lnTo>
                  <a:pt x="147" y="36"/>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endParaRPr lang="en-US" sz="1600" dirty="0">
              <a:solidFill>
                <a:srgbClr val="000000"/>
              </a:solidFill>
            </a:endParaRPr>
          </a:p>
        </p:txBody>
      </p:sp>
      <p:sp>
        <p:nvSpPr>
          <p:cNvPr id="27" name="Abgerundetes Rechteck 24"/>
          <p:cNvSpPr/>
          <p:nvPr/>
        </p:nvSpPr>
        <p:spPr bwMode="gray">
          <a:xfrm>
            <a:off x="5150024" y="2631678"/>
            <a:ext cx="3376070" cy="3243531"/>
          </a:xfrm>
          <a:prstGeom prst="rect">
            <a:avLst/>
          </a:prstGeom>
          <a:no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180000" tIns="252000" rIns="180000" bIns="0" anchor="t" anchorCtr="0"/>
          <a:lstStyle/>
          <a:p>
            <a:pPr defTabSz="912524">
              <a:spcAft>
                <a:spcPts val="600"/>
              </a:spcAft>
              <a:buClr>
                <a:srgbClr val="FFD200"/>
              </a:buClr>
              <a:buSzPct val="70000"/>
            </a:pPr>
            <a:r>
              <a:rPr lang="en-US" sz="1200" dirty="0" smtClean="0">
                <a:latin typeface="EYInterstate Light" panose="02000506000000020004" pitchFamily="2" charset="0"/>
              </a:rPr>
              <a:t>LIC Solution® detects and records data input  defects on two levels:</a:t>
            </a:r>
          </a:p>
          <a:p>
            <a:pPr marL="272489" indent="-272489" defTabSz="912524">
              <a:spcAft>
                <a:spcPts val="600"/>
              </a:spcAft>
              <a:buClr>
                <a:srgbClr val="FFD200"/>
              </a:buClr>
              <a:buSzPct val="70000"/>
              <a:buFont typeface="Arial" panose="020B0604020202020204" pitchFamily="34" charset="0"/>
              <a:buChar char="►"/>
            </a:pPr>
            <a:r>
              <a:rPr lang="en-US" sz="1200" b="1" dirty="0" smtClean="0">
                <a:latin typeface="EYInterstate Light" panose="02000506000000020004" pitchFamily="2" charset="0"/>
              </a:rPr>
              <a:t>Technical checks</a:t>
            </a:r>
            <a:r>
              <a:rPr lang="en-US" sz="1200" dirty="0" smtClean="0">
                <a:latin typeface="EYInterstate Light" panose="02000506000000020004" pitchFamily="2" charset="0"/>
              </a:rPr>
              <a:t>:</a:t>
            </a:r>
          </a:p>
          <a:p>
            <a:pPr marL="729689" lvl="1"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Provided tables are not empty</a:t>
            </a:r>
          </a:p>
          <a:p>
            <a:pPr marL="729689" lvl="1"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Data structure and types</a:t>
            </a:r>
          </a:p>
          <a:p>
            <a:pPr marL="729689" lvl="1"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Compliance with NOT NULL rules</a:t>
            </a:r>
          </a:p>
          <a:p>
            <a:pPr marL="729689" lvl="1" indent="-272489" defTabSz="912524">
              <a:spcAft>
                <a:spcPts val="600"/>
              </a:spcAft>
              <a:buClr>
                <a:srgbClr val="FFD200"/>
              </a:buClr>
              <a:buSzPct val="70000"/>
              <a:buFont typeface="Arial" panose="020B0604020202020204" pitchFamily="34" charset="0"/>
              <a:buChar char="►"/>
            </a:pPr>
            <a:r>
              <a:rPr lang="en-US" sz="1200" dirty="0" smtClean="0">
                <a:latin typeface="EYInterstate Light" panose="02000506000000020004" pitchFamily="2" charset="0"/>
              </a:rPr>
              <a:t>Primary and foreign key checks</a:t>
            </a:r>
          </a:p>
          <a:p>
            <a:pPr marL="272489" indent="-272489" defTabSz="912524">
              <a:spcAft>
                <a:spcPts val="600"/>
              </a:spcAft>
              <a:buClr>
                <a:srgbClr val="FFD200"/>
              </a:buClr>
              <a:buSzPct val="70000"/>
              <a:buFont typeface="Arial" panose="020B0604020202020204" pitchFamily="34" charset="0"/>
              <a:buChar char="►"/>
            </a:pPr>
            <a:r>
              <a:rPr lang="en-US" sz="1200" b="1" dirty="0" smtClean="0">
                <a:latin typeface="EYInterstate Light" panose="02000506000000020004" pitchFamily="2" charset="0"/>
              </a:rPr>
              <a:t>Business logic checks:</a:t>
            </a:r>
          </a:p>
          <a:p>
            <a:pPr marL="729689" lvl="1"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Data value checks</a:t>
            </a:r>
          </a:p>
          <a:p>
            <a:pPr marL="729689" lvl="1"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Cross-field checks</a:t>
            </a:r>
          </a:p>
          <a:p>
            <a:pPr marL="729689" lvl="1" indent="-272489" defTabSz="912524">
              <a:spcAft>
                <a:spcPts val="600"/>
              </a:spcAft>
              <a:buClr>
                <a:srgbClr val="FFD200"/>
              </a:buClr>
              <a:buSzPct val="70000"/>
              <a:buFont typeface="Arial" panose="020B0604020202020204" pitchFamily="34" charset="0"/>
              <a:buChar char="►"/>
            </a:pPr>
            <a:r>
              <a:rPr lang="en-US" sz="1200" dirty="0" smtClean="0">
                <a:latin typeface="EYInterstate Light" panose="02000506000000020004" pitchFamily="2" charset="0"/>
              </a:rPr>
              <a:t>Cross-time checks</a:t>
            </a:r>
            <a:endParaRPr lang="en-US" sz="1200" dirty="0" smtClean="0">
              <a:solidFill>
                <a:srgbClr val="646464"/>
              </a:solidFill>
              <a:latin typeface="EYInterstate Light" pitchFamily="2" charset="0"/>
            </a:endParaRPr>
          </a:p>
          <a:p>
            <a:pPr defTabSz="801688" eaLnBrk="0" hangingPunct="0">
              <a:lnSpc>
                <a:spcPct val="95000"/>
              </a:lnSpc>
              <a:spcAft>
                <a:spcPts val="800"/>
              </a:spcAft>
              <a:buClr>
                <a:srgbClr val="969696"/>
              </a:buClr>
              <a:defRPr/>
            </a:pPr>
            <a:endParaRPr lang="en-US" sz="1200" dirty="0">
              <a:solidFill>
                <a:srgbClr val="646464"/>
              </a:solidFill>
              <a:latin typeface="EYInterstate" panose="02000503020000020004" pitchFamily="2" charset="0"/>
              <a:cs typeface="Arial" charset="0"/>
            </a:endParaRPr>
          </a:p>
        </p:txBody>
      </p:sp>
      <p:sp>
        <p:nvSpPr>
          <p:cNvPr id="28" name="Abgerundetes Rechteck 24"/>
          <p:cNvSpPr/>
          <p:nvPr/>
        </p:nvSpPr>
        <p:spPr bwMode="gray">
          <a:xfrm>
            <a:off x="5150024" y="1930693"/>
            <a:ext cx="3376070" cy="700986"/>
          </a:xfrm>
          <a:prstGeom prst="rect">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504000" tIns="72000" rIns="108000" bIns="72000" anchor="ctr"/>
          <a:lstStyle/>
          <a:p>
            <a:pPr defTabSz="801688" eaLnBrk="0" hangingPunct="0">
              <a:lnSpc>
                <a:spcPct val="95000"/>
              </a:lnSpc>
              <a:spcAft>
                <a:spcPts val="800"/>
              </a:spcAft>
              <a:buClr>
                <a:srgbClr val="969696"/>
              </a:buClr>
              <a:defRPr/>
            </a:pPr>
            <a:r>
              <a:rPr lang="en-US" b="1" dirty="0" smtClean="0">
                <a:solidFill>
                  <a:schemeClr val="bg1"/>
                </a:solidFill>
                <a:latin typeface="EYInterstate" panose="02000503020000020004" pitchFamily="2" charset="0"/>
                <a:cs typeface="Arial" charset="0"/>
              </a:rPr>
              <a:t>Data quality validation</a:t>
            </a:r>
            <a:endParaRPr lang="en-US" b="1" dirty="0">
              <a:solidFill>
                <a:schemeClr val="bg1"/>
              </a:solidFill>
              <a:latin typeface="EYInterstate" panose="02000503020000020004" pitchFamily="2" charset="0"/>
              <a:cs typeface="Arial" charset="0"/>
            </a:endParaRPr>
          </a:p>
        </p:txBody>
      </p:sp>
      <p:sp>
        <p:nvSpPr>
          <p:cNvPr id="29" name="Rad 23"/>
          <p:cNvSpPr/>
          <p:nvPr/>
        </p:nvSpPr>
        <p:spPr bwMode="gray">
          <a:xfrm>
            <a:off x="4675920" y="1930692"/>
            <a:ext cx="948207" cy="948206"/>
          </a:xfrm>
          <a:prstGeom prst="donut">
            <a:avLst>
              <a:gd name="adj" fmla="val 15297"/>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30" name="Ellipse 22"/>
          <p:cNvSpPr/>
          <p:nvPr/>
        </p:nvSpPr>
        <p:spPr bwMode="gray">
          <a:xfrm>
            <a:off x="4791470" y="2043467"/>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23" name="Freeform 21"/>
          <p:cNvSpPr>
            <a:spLocks noChangeArrowheads="1"/>
          </p:cNvSpPr>
          <p:nvPr/>
        </p:nvSpPr>
        <p:spPr bwMode="auto">
          <a:xfrm>
            <a:off x="4955609" y="2141133"/>
            <a:ext cx="388829" cy="490379"/>
          </a:xfrm>
          <a:custGeom>
            <a:avLst/>
            <a:gdLst>
              <a:gd name="T0" fmla="*/ 2147483647 w 1584"/>
              <a:gd name="T1" fmla="*/ 2147483647 h 2001"/>
              <a:gd name="T2" fmla="*/ 2147483647 w 1584"/>
              <a:gd name="T3" fmla="*/ 2147483647 h 2001"/>
              <a:gd name="T4" fmla="*/ 2147483647 w 1584"/>
              <a:gd name="T5" fmla="*/ 2147483647 h 2001"/>
              <a:gd name="T6" fmla="*/ 2147483647 w 1584"/>
              <a:gd name="T7" fmla="*/ 2147483647 h 2001"/>
              <a:gd name="T8" fmla="*/ 2147483647 w 1584"/>
              <a:gd name="T9" fmla="*/ 2147483647 h 2001"/>
              <a:gd name="T10" fmla="*/ 2147483647 w 1584"/>
              <a:gd name="T11" fmla="*/ 2147483647 h 2001"/>
              <a:gd name="T12" fmla="*/ 2147483647 w 1584"/>
              <a:gd name="T13" fmla="*/ 2147483647 h 2001"/>
              <a:gd name="T14" fmla="*/ 2147483647 w 1584"/>
              <a:gd name="T15" fmla="*/ 2147483647 h 2001"/>
              <a:gd name="T16" fmla="*/ 2147483647 w 1584"/>
              <a:gd name="T17" fmla="*/ 2147483647 h 2001"/>
              <a:gd name="T18" fmla="*/ 2147483647 w 1584"/>
              <a:gd name="T19" fmla="*/ 2147483647 h 2001"/>
              <a:gd name="T20" fmla="*/ 2147483647 w 1584"/>
              <a:gd name="T21" fmla="*/ 2147483647 h 2001"/>
              <a:gd name="T22" fmla="*/ 2147483647 w 1584"/>
              <a:gd name="T23" fmla="*/ 2147483647 h 2001"/>
              <a:gd name="T24" fmla="*/ 2147483647 w 1584"/>
              <a:gd name="T25" fmla="*/ 2147483647 h 2001"/>
              <a:gd name="T26" fmla="*/ 2147483647 w 1584"/>
              <a:gd name="T27" fmla="*/ 2147483647 h 2001"/>
              <a:gd name="T28" fmla="*/ 2147483647 w 1584"/>
              <a:gd name="T29" fmla="*/ 2147483647 h 2001"/>
              <a:gd name="T30" fmla="*/ 0 w 1584"/>
              <a:gd name="T31" fmla="*/ 2147483647 h 2001"/>
              <a:gd name="T32" fmla="*/ 2147483647 w 1584"/>
              <a:gd name="T33" fmla="*/ 2147483647 h 2001"/>
              <a:gd name="T34" fmla="*/ 2147483647 w 1584"/>
              <a:gd name="T35" fmla="*/ 2147483647 h 2001"/>
              <a:gd name="T36" fmla="*/ 2147483647 w 1584"/>
              <a:gd name="T37" fmla="*/ 2147483647 h 2001"/>
              <a:gd name="T38" fmla="*/ 2147483647 w 1584"/>
              <a:gd name="T39" fmla="*/ 2147483647 h 2001"/>
              <a:gd name="T40" fmla="*/ 2147483647 w 1584"/>
              <a:gd name="T41" fmla="*/ 2147483647 h 2001"/>
              <a:gd name="T42" fmla="*/ 2147483647 w 1584"/>
              <a:gd name="T43" fmla="*/ 2147483647 h 2001"/>
              <a:gd name="T44" fmla="*/ 2147483647 w 1584"/>
              <a:gd name="T45" fmla="*/ 2147483647 h 2001"/>
              <a:gd name="T46" fmla="*/ 2147483647 w 1584"/>
              <a:gd name="T47" fmla="*/ 2147483647 h 2001"/>
              <a:gd name="T48" fmla="*/ 2147483647 w 1584"/>
              <a:gd name="T49" fmla="*/ 2147483647 h 2001"/>
              <a:gd name="T50" fmla="*/ 2147483647 w 1584"/>
              <a:gd name="T51" fmla="*/ 2147483647 h 2001"/>
              <a:gd name="T52" fmla="*/ 2147483647 w 1584"/>
              <a:gd name="T53" fmla="*/ 2147483647 h 2001"/>
              <a:gd name="T54" fmla="*/ 2147483647 w 1584"/>
              <a:gd name="T55" fmla="*/ 2147483647 h 2001"/>
              <a:gd name="T56" fmla="*/ 2147483647 w 1584"/>
              <a:gd name="T57" fmla="*/ 2147483647 h 2001"/>
              <a:gd name="T58" fmla="*/ 2147483647 w 1584"/>
              <a:gd name="T59" fmla="*/ 2147483647 h 2001"/>
              <a:gd name="T60" fmla="*/ 2147483647 w 1584"/>
              <a:gd name="T61" fmla="*/ 2147483647 h 2001"/>
              <a:gd name="T62" fmla="*/ 2147483647 w 1584"/>
              <a:gd name="T63" fmla="*/ 2147483647 h 2001"/>
              <a:gd name="T64" fmla="*/ 2147483647 w 1584"/>
              <a:gd name="T65" fmla="*/ 2147483647 h 2001"/>
              <a:gd name="T66" fmla="*/ 2147483647 w 1584"/>
              <a:gd name="T67" fmla="*/ 2147483647 h 2001"/>
              <a:gd name="T68" fmla="*/ 2147483647 w 1584"/>
              <a:gd name="T69" fmla="*/ 2147483647 h 2001"/>
              <a:gd name="T70" fmla="*/ 2147483647 w 1584"/>
              <a:gd name="T71" fmla="*/ 2147483647 h 2001"/>
              <a:gd name="T72" fmla="*/ 2147483647 w 1584"/>
              <a:gd name="T73" fmla="*/ 2147483647 h 2001"/>
              <a:gd name="T74" fmla="*/ 2147483647 w 1584"/>
              <a:gd name="T75" fmla="*/ 2147483647 h 2001"/>
              <a:gd name="T76" fmla="*/ 2147483647 w 1584"/>
              <a:gd name="T77" fmla="*/ 2147483647 h 2001"/>
              <a:gd name="T78" fmla="*/ 2147483647 w 1584"/>
              <a:gd name="T79" fmla="*/ 2147483647 h 2001"/>
              <a:gd name="T80" fmla="*/ 2147483647 w 1584"/>
              <a:gd name="T81" fmla="*/ 2147483647 h 2001"/>
              <a:gd name="T82" fmla="*/ 2147483647 w 1584"/>
              <a:gd name="T83" fmla="*/ 2147483647 h 2001"/>
              <a:gd name="T84" fmla="*/ 2147483647 w 1584"/>
              <a:gd name="T85" fmla="*/ 2147483647 h 2001"/>
              <a:gd name="T86" fmla="*/ 2147483647 w 1584"/>
              <a:gd name="T87" fmla="*/ 2147483647 h 2001"/>
              <a:gd name="T88" fmla="*/ 2147483647 w 1584"/>
              <a:gd name="T89" fmla="*/ 2147483647 h 200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584" h="2001">
                <a:moveTo>
                  <a:pt x="541" y="416"/>
                </a:moveTo>
                <a:lnTo>
                  <a:pt x="541" y="416"/>
                </a:lnTo>
                <a:cubicBezTo>
                  <a:pt x="1041" y="416"/>
                  <a:pt x="1041" y="416"/>
                  <a:pt x="1041" y="416"/>
                </a:cubicBezTo>
                <a:cubicBezTo>
                  <a:pt x="1083" y="416"/>
                  <a:pt x="1125" y="375"/>
                  <a:pt x="1125" y="333"/>
                </a:cubicBezTo>
                <a:cubicBezTo>
                  <a:pt x="1125" y="166"/>
                  <a:pt x="1125" y="166"/>
                  <a:pt x="1125" y="166"/>
                </a:cubicBezTo>
                <a:cubicBezTo>
                  <a:pt x="958" y="166"/>
                  <a:pt x="958" y="166"/>
                  <a:pt x="958" y="166"/>
                </a:cubicBezTo>
                <a:cubicBezTo>
                  <a:pt x="958" y="73"/>
                  <a:pt x="885" y="0"/>
                  <a:pt x="791" y="0"/>
                </a:cubicBezTo>
                <a:cubicBezTo>
                  <a:pt x="698" y="0"/>
                  <a:pt x="625" y="73"/>
                  <a:pt x="625" y="166"/>
                </a:cubicBezTo>
                <a:cubicBezTo>
                  <a:pt x="458" y="166"/>
                  <a:pt x="458" y="166"/>
                  <a:pt x="458" y="166"/>
                </a:cubicBezTo>
                <a:cubicBezTo>
                  <a:pt x="458" y="333"/>
                  <a:pt x="458" y="333"/>
                  <a:pt x="458" y="333"/>
                </a:cubicBezTo>
                <a:cubicBezTo>
                  <a:pt x="458" y="375"/>
                  <a:pt x="500" y="416"/>
                  <a:pt x="541" y="416"/>
                </a:cubicBezTo>
                <a:close/>
                <a:moveTo>
                  <a:pt x="791" y="73"/>
                </a:moveTo>
                <a:lnTo>
                  <a:pt x="791" y="73"/>
                </a:lnTo>
                <a:cubicBezTo>
                  <a:pt x="843" y="73"/>
                  <a:pt x="885" y="114"/>
                  <a:pt x="885" y="166"/>
                </a:cubicBezTo>
                <a:cubicBezTo>
                  <a:pt x="885" y="218"/>
                  <a:pt x="843" y="260"/>
                  <a:pt x="791" y="260"/>
                </a:cubicBezTo>
                <a:cubicBezTo>
                  <a:pt x="739" y="260"/>
                  <a:pt x="698" y="218"/>
                  <a:pt x="698" y="166"/>
                </a:cubicBezTo>
                <a:cubicBezTo>
                  <a:pt x="698" y="114"/>
                  <a:pt x="739" y="73"/>
                  <a:pt x="791" y="73"/>
                </a:cubicBezTo>
                <a:close/>
                <a:moveTo>
                  <a:pt x="1500" y="166"/>
                </a:moveTo>
                <a:lnTo>
                  <a:pt x="1500" y="166"/>
                </a:lnTo>
                <a:cubicBezTo>
                  <a:pt x="1208" y="166"/>
                  <a:pt x="1208" y="166"/>
                  <a:pt x="1208" y="166"/>
                </a:cubicBezTo>
                <a:cubicBezTo>
                  <a:pt x="1208" y="333"/>
                  <a:pt x="1208" y="333"/>
                  <a:pt x="1208" y="333"/>
                </a:cubicBezTo>
                <a:cubicBezTo>
                  <a:pt x="1416" y="333"/>
                  <a:pt x="1416" y="333"/>
                  <a:pt x="1416" y="333"/>
                </a:cubicBezTo>
                <a:cubicBezTo>
                  <a:pt x="1416" y="1416"/>
                  <a:pt x="1416" y="1416"/>
                  <a:pt x="1416" y="1416"/>
                </a:cubicBezTo>
                <a:cubicBezTo>
                  <a:pt x="1000" y="1416"/>
                  <a:pt x="1000" y="1416"/>
                  <a:pt x="1000" y="1416"/>
                </a:cubicBezTo>
                <a:cubicBezTo>
                  <a:pt x="1000" y="1833"/>
                  <a:pt x="1000" y="1833"/>
                  <a:pt x="1000" y="1833"/>
                </a:cubicBezTo>
                <a:cubicBezTo>
                  <a:pt x="166" y="1833"/>
                  <a:pt x="166" y="1833"/>
                  <a:pt x="166" y="1833"/>
                </a:cubicBezTo>
                <a:cubicBezTo>
                  <a:pt x="166" y="333"/>
                  <a:pt x="166" y="333"/>
                  <a:pt x="166" y="333"/>
                </a:cubicBezTo>
                <a:cubicBezTo>
                  <a:pt x="375" y="333"/>
                  <a:pt x="375" y="333"/>
                  <a:pt x="375" y="333"/>
                </a:cubicBezTo>
                <a:cubicBezTo>
                  <a:pt x="375" y="166"/>
                  <a:pt x="375" y="166"/>
                  <a:pt x="375" y="166"/>
                </a:cubicBezTo>
                <a:cubicBezTo>
                  <a:pt x="83" y="166"/>
                  <a:pt x="83" y="166"/>
                  <a:pt x="83" y="166"/>
                </a:cubicBezTo>
                <a:cubicBezTo>
                  <a:pt x="41" y="166"/>
                  <a:pt x="0" y="208"/>
                  <a:pt x="0" y="250"/>
                </a:cubicBezTo>
                <a:cubicBezTo>
                  <a:pt x="0" y="1916"/>
                  <a:pt x="0" y="1916"/>
                  <a:pt x="0" y="1916"/>
                </a:cubicBezTo>
                <a:cubicBezTo>
                  <a:pt x="0" y="1958"/>
                  <a:pt x="41" y="2000"/>
                  <a:pt x="83" y="2000"/>
                </a:cubicBezTo>
                <a:cubicBezTo>
                  <a:pt x="1500" y="2000"/>
                  <a:pt x="1500" y="2000"/>
                  <a:pt x="1500" y="2000"/>
                </a:cubicBezTo>
                <a:cubicBezTo>
                  <a:pt x="1541" y="2000"/>
                  <a:pt x="1583" y="1958"/>
                  <a:pt x="1583" y="1916"/>
                </a:cubicBezTo>
                <a:cubicBezTo>
                  <a:pt x="1583" y="250"/>
                  <a:pt x="1583" y="250"/>
                  <a:pt x="1583" y="250"/>
                </a:cubicBezTo>
                <a:cubicBezTo>
                  <a:pt x="1583" y="208"/>
                  <a:pt x="1541" y="166"/>
                  <a:pt x="1500" y="166"/>
                </a:cubicBezTo>
                <a:close/>
                <a:moveTo>
                  <a:pt x="1083" y="1812"/>
                </a:moveTo>
                <a:lnTo>
                  <a:pt x="1083" y="1812"/>
                </a:lnTo>
                <a:cubicBezTo>
                  <a:pt x="1083" y="1500"/>
                  <a:pt x="1083" y="1500"/>
                  <a:pt x="1083" y="1500"/>
                </a:cubicBezTo>
                <a:cubicBezTo>
                  <a:pt x="1396" y="1500"/>
                  <a:pt x="1396" y="1500"/>
                  <a:pt x="1396" y="1500"/>
                </a:cubicBezTo>
                <a:lnTo>
                  <a:pt x="1083" y="1812"/>
                </a:lnTo>
                <a:close/>
                <a:moveTo>
                  <a:pt x="458" y="791"/>
                </a:moveTo>
                <a:lnTo>
                  <a:pt x="458" y="791"/>
                </a:lnTo>
                <a:cubicBezTo>
                  <a:pt x="500" y="791"/>
                  <a:pt x="541" y="750"/>
                  <a:pt x="541" y="708"/>
                </a:cubicBezTo>
                <a:cubicBezTo>
                  <a:pt x="541" y="666"/>
                  <a:pt x="500" y="625"/>
                  <a:pt x="458" y="625"/>
                </a:cubicBezTo>
                <a:cubicBezTo>
                  <a:pt x="416" y="625"/>
                  <a:pt x="375" y="666"/>
                  <a:pt x="375" y="708"/>
                </a:cubicBezTo>
                <a:cubicBezTo>
                  <a:pt x="375" y="750"/>
                  <a:pt x="416" y="791"/>
                  <a:pt x="458" y="791"/>
                </a:cubicBezTo>
                <a:close/>
                <a:moveTo>
                  <a:pt x="1208" y="666"/>
                </a:moveTo>
                <a:lnTo>
                  <a:pt x="1208" y="666"/>
                </a:lnTo>
                <a:cubicBezTo>
                  <a:pt x="625" y="666"/>
                  <a:pt x="625" y="666"/>
                  <a:pt x="625" y="666"/>
                </a:cubicBezTo>
                <a:cubicBezTo>
                  <a:pt x="625" y="750"/>
                  <a:pt x="625" y="750"/>
                  <a:pt x="625" y="750"/>
                </a:cubicBezTo>
                <a:cubicBezTo>
                  <a:pt x="1208" y="750"/>
                  <a:pt x="1208" y="750"/>
                  <a:pt x="1208" y="750"/>
                </a:cubicBezTo>
                <a:lnTo>
                  <a:pt x="1208" y="666"/>
                </a:lnTo>
                <a:close/>
                <a:moveTo>
                  <a:pt x="458" y="875"/>
                </a:moveTo>
                <a:lnTo>
                  <a:pt x="458" y="875"/>
                </a:lnTo>
                <a:cubicBezTo>
                  <a:pt x="416" y="875"/>
                  <a:pt x="375" y="916"/>
                  <a:pt x="375" y="958"/>
                </a:cubicBezTo>
                <a:cubicBezTo>
                  <a:pt x="375" y="1000"/>
                  <a:pt x="416" y="1041"/>
                  <a:pt x="458" y="1041"/>
                </a:cubicBezTo>
                <a:cubicBezTo>
                  <a:pt x="500" y="1041"/>
                  <a:pt x="541" y="1000"/>
                  <a:pt x="541" y="958"/>
                </a:cubicBezTo>
                <a:cubicBezTo>
                  <a:pt x="541" y="916"/>
                  <a:pt x="500" y="875"/>
                  <a:pt x="458" y="875"/>
                </a:cubicBezTo>
                <a:close/>
                <a:moveTo>
                  <a:pt x="1208" y="916"/>
                </a:moveTo>
                <a:lnTo>
                  <a:pt x="1208" y="916"/>
                </a:lnTo>
                <a:cubicBezTo>
                  <a:pt x="625" y="916"/>
                  <a:pt x="625" y="916"/>
                  <a:pt x="625" y="916"/>
                </a:cubicBezTo>
                <a:cubicBezTo>
                  <a:pt x="625" y="1000"/>
                  <a:pt x="625" y="1000"/>
                  <a:pt x="625" y="1000"/>
                </a:cubicBezTo>
                <a:cubicBezTo>
                  <a:pt x="1208" y="1000"/>
                  <a:pt x="1208" y="1000"/>
                  <a:pt x="1208" y="1000"/>
                </a:cubicBezTo>
                <a:lnTo>
                  <a:pt x="1208" y="916"/>
                </a:lnTo>
                <a:close/>
                <a:moveTo>
                  <a:pt x="458" y="1125"/>
                </a:moveTo>
                <a:lnTo>
                  <a:pt x="458" y="1125"/>
                </a:lnTo>
                <a:cubicBezTo>
                  <a:pt x="416" y="1125"/>
                  <a:pt x="375" y="1166"/>
                  <a:pt x="375" y="1208"/>
                </a:cubicBezTo>
                <a:cubicBezTo>
                  <a:pt x="375" y="1250"/>
                  <a:pt x="416" y="1291"/>
                  <a:pt x="458" y="1291"/>
                </a:cubicBezTo>
                <a:cubicBezTo>
                  <a:pt x="500" y="1291"/>
                  <a:pt x="541" y="1250"/>
                  <a:pt x="541" y="1208"/>
                </a:cubicBezTo>
                <a:cubicBezTo>
                  <a:pt x="541" y="1166"/>
                  <a:pt x="500" y="1125"/>
                  <a:pt x="458" y="1125"/>
                </a:cubicBezTo>
                <a:close/>
                <a:moveTo>
                  <a:pt x="1208" y="1166"/>
                </a:moveTo>
                <a:lnTo>
                  <a:pt x="1208" y="1166"/>
                </a:lnTo>
                <a:cubicBezTo>
                  <a:pt x="625" y="1166"/>
                  <a:pt x="625" y="1166"/>
                  <a:pt x="625" y="1166"/>
                </a:cubicBezTo>
                <a:cubicBezTo>
                  <a:pt x="625" y="1250"/>
                  <a:pt x="625" y="1250"/>
                  <a:pt x="625" y="1250"/>
                </a:cubicBezTo>
                <a:cubicBezTo>
                  <a:pt x="1208" y="1250"/>
                  <a:pt x="1208" y="1250"/>
                  <a:pt x="1208" y="1250"/>
                </a:cubicBezTo>
                <a:lnTo>
                  <a:pt x="1208" y="1166"/>
                </a:lnTo>
                <a:close/>
                <a:moveTo>
                  <a:pt x="458" y="1375"/>
                </a:moveTo>
                <a:lnTo>
                  <a:pt x="458" y="1375"/>
                </a:lnTo>
                <a:cubicBezTo>
                  <a:pt x="416" y="1375"/>
                  <a:pt x="375" y="1416"/>
                  <a:pt x="375" y="1458"/>
                </a:cubicBezTo>
                <a:cubicBezTo>
                  <a:pt x="375" y="1500"/>
                  <a:pt x="416" y="1541"/>
                  <a:pt x="458" y="1541"/>
                </a:cubicBezTo>
                <a:cubicBezTo>
                  <a:pt x="500" y="1541"/>
                  <a:pt x="541" y="1500"/>
                  <a:pt x="541" y="1458"/>
                </a:cubicBezTo>
                <a:cubicBezTo>
                  <a:pt x="541" y="1416"/>
                  <a:pt x="500" y="1375"/>
                  <a:pt x="458" y="1375"/>
                </a:cubicBezTo>
                <a:close/>
                <a:moveTo>
                  <a:pt x="625" y="1500"/>
                </a:moveTo>
                <a:lnTo>
                  <a:pt x="625" y="1500"/>
                </a:lnTo>
                <a:cubicBezTo>
                  <a:pt x="916" y="1500"/>
                  <a:pt x="916" y="1500"/>
                  <a:pt x="916" y="1500"/>
                </a:cubicBezTo>
                <a:cubicBezTo>
                  <a:pt x="916" y="1416"/>
                  <a:pt x="916" y="1416"/>
                  <a:pt x="916" y="1416"/>
                </a:cubicBezTo>
                <a:cubicBezTo>
                  <a:pt x="625" y="1416"/>
                  <a:pt x="625" y="1416"/>
                  <a:pt x="625" y="1416"/>
                </a:cubicBezTo>
                <a:lnTo>
                  <a:pt x="625" y="1500"/>
                </a:lnTo>
                <a:close/>
              </a:path>
            </a:pathLst>
          </a:custGeom>
          <a:solidFill>
            <a:schemeClr val="bg1"/>
          </a:solidFill>
          <a:ln>
            <a:noFill/>
          </a:ln>
          <a:extLst/>
        </p:spPr>
        <p:txBody>
          <a:bodyPr vert="horz" wrap="none" lIns="91440" tIns="45720" rIns="91440" bIns="45720" anchor="ctr"/>
          <a:lstStyle/>
          <a:p>
            <a:pPr eaLnBrk="0" fontAlgn="base" hangingPunct="0">
              <a:spcBef>
                <a:spcPct val="0"/>
              </a:spcBef>
              <a:spcAft>
                <a:spcPct val="0"/>
              </a:spcAft>
            </a:pPr>
            <a:endParaRPr lang="en-US" sz="1600" dirty="0">
              <a:solidFill>
                <a:srgbClr val="646464"/>
              </a:solidFill>
            </a:endParaRPr>
          </a:p>
        </p:txBody>
      </p:sp>
      <p:sp>
        <p:nvSpPr>
          <p:cNvPr id="32" name="Content Placeholder 2"/>
          <p:cNvSpPr txBox="1">
            <a:spLocks/>
          </p:cNvSpPr>
          <p:nvPr/>
        </p:nvSpPr>
        <p:spPr>
          <a:xfrm>
            <a:off x="457200" y="1026000"/>
            <a:ext cx="8306474" cy="2183318"/>
          </a:xfrm>
          <a:prstGeom prst="rect">
            <a:avLst/>
          </a:prstGeom>
        </p:spPr>
        <p:txBody>
          <a:bodyPr lIns="0" tIns="0"/>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200" dirty="0" smtClean="0">
                <a:latin typeface="EYInterstate Light" panose="02000506000000020004" pitchFamily="2" charset="0"/>
              </a:rPr>
              <a:t>Prior to the actual impairment calculation process the Institution prepares relational database filled with data in a standardized structure, according to the input data specification. The input data are then validated, to they match the prescribed specification and business logic, and are loaded into LIC Solution.</a:t>
            </a:r>
            <a:endParaRPr lang="en-US" sz="1200" dirty="0">
              <a:latin typeface="EYInterstate Light" panose="02000506000000020004" pitchFamily="2" charset="0"/>
            </a:endParaRPr>
          </a:p>
        </p:txBody>
      </p:sp>
      <p:sp>
        <p:nvSpPr>
          <p:cNvPr id="15"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8013760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Staging</a:t>
            </a:r>
            <a:endParaRPr lang="en-US" dirty="0">
              <a:latin typeface="EYInterstate" panose="02000503020000020004" pitchFamily="2" charset="0"/>
            </a:endParaRPr>
          </a:p>
        </p:txBody>
      </p:sp>
      <p:sp>
        <p:nvSpPr>
          <p:cNvPr id="25" name="Ellipse 22"/>
          <p:cNvSpPr/>
          <p:nvPr/>
        </p:nvSpPr>
        <p:spPr bwMode="gray">
          <a:xfrm>
            <a:off x="933688" y="3763307"/>
            <a:ext cx="968747"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11" name="Abgerundetes Rechteck 24"/>
          <p:cNvSpPr/>
          <p:nvPr/>
        </p:nvSpPr>
        <p:spPr bwMode="gray">
          <a:xfrm>
            <a:off x="457199" y="1031008"/>
            <a:ext cx="3901737" cy="2467091"/>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smtClean="0">
                <a:solidFill>
                  <a:schemeClr val="bg1"/>
                </a:solidFill>
                <a:latin typeface="EYInterstate Light" panose="02000506000000020004" pitchFamily="2" charset="0"/>
              </a:rPr>
              <a:t>LIC Solution® provides following options for </a:t>
            </a:r>
            <a:r>
              <a:rPr lang="en-US" sz="1200" b="1" dirty="0" smtClean="0">
                <a:solidFill>
                  <a:schemeClr val="bg1"/>
                </a:solidFill>
                <a:latin typeface="EYInterstate Light" panose="02000506000000020004" pitchFamily="2" charset="0"/>
              </a:rPr>
              <a:t>determination of significant increase in credit risk compared to origination (Stage 2)</a:t>
            </a:r>
            <a:r>
              <a:rPr lang="en-US" sz="1200" dirty="0" smtClean="0">
                <a:solidFill>
                  <a:schemeClr val="bg1"/>
                </a:solidFill>
                <a:latin typeface="EYInterstate Light" panose="02000506000000020004" pitchFamily="2" charset="0"/>
              </a:rPr>
              <a:t>:</a:t>
            </a:r>
          </a:p>
          <a:p>
            <a:pPr marL="0" lvl="1" defTabSz="940800">
              <a:spcAft>
                <a:spcPts val="277"/>
              </a:spcAft>
              <a:buClr>
                <a:srgbClr val="FFE600"/>
              </a:buClr>
              <a:buSzPct val="100000"/>
              <a:defRPr/>
            </a:pPr>
            <a:endParaRPr lang="en-US" sz="1200" dirty="0">
              <a:latin typeface="EYInterstate Light" panose="02000506000000020004" pitchFamily="2" charset="0"/>
            </a:endParaRPr>
          </a:p>
        </p:txBody>
      </p:sp>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1536" y="4459808"/>
            <a:ext cx="5295265" cy="1644015"/>
          </a:xfrm>
          <a:prstGeom prst="rect">
            <a:avLst/>
          </a:prstGeom>
          <a:noFill/>
        </p:spPr>
      </p:pic>
      <p:sp>
        <p:nvSpPr>
          <p:cNvPr id="13" name="Abgerundetes Rechteck 24"/>
          <p:cNvSpPr/>
          <p:nvPr/>
        </p:nvSpPr>
        <p:spPr bwMode="gray">
          <a:xfrm>
            <a:off x="457197" y="1658387"/>
            <a:ext cx="3901739" cy="1227474"/>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252000" tIns="0" rIns="108000" bIns="72000" numCol="2" anchor="t"/>
          <a:lstStyle/>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DPD threshold</a:t>
            </a:r>
            <a:endParaRPr lang="en-US" sz="1200" dirty="0">
              <a:solidFill>
                <a:srgbClr val="646464"/>
              </a:solidFill>
              <a:latin typeface="EYInterstate Light" pitchFamily="2"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Rating deterioration</a:t>
            </a:r>
            <a:endParaRPr lang="en-US" sz="1200" dirty="0">
              <a:solidFill>
                <a:srgbClr val="646464"/>
              </a:solidFill>
              <a:latin typeface="EYInterstate Light" pitchFamily="2"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Lifetime or 12 month PD deterioration</a:t>
            </a:r>
          </a:p>
          <a:p>
            <a:pPr marL="272489" indent="-272489" defTabSz="912524">
              <a:buClr>
                <a:srgbClr val="FFD200"/>
              </a:buClr>
              <a:buSzPct val="70000"/>
              <a:buFont typeface="Arial" panose="020B0604020202020204" pitchFamily="34" charset="0"/>
              <a:buChar char="►"/>
            </a:pPr>
            <a:r>
              <a:rPr lang="en-US" sz="1200" dirty="0">
                <a:solidFill>
                  <a:srgbClr val="646464"/>
                </a:solidFill>
                <a:latin typeface="EYInterstate Light" pitchFamily="2" charset="0"/>
              </a:rPr>
              <a:t>F</a:t>
            </a:r>
            <a:r>
              <a:rPr lang="en-US" sz="1200" dirty="0" smtClean="0">
                <a:solidFill>
                  <a:srgbClr val="646464"/>
                </a:solidFill>
                <a:latin typeface="EYInterstate Light" pitchFamily="2" charset="0"/>
              </a:rPr>
              <a:t>lags </a:t>
            </a:r>
            <a:r>
              <a:rPr lang="en-US" sz="1200" dirty="0">
                <a:solidFill>
                  <a:srgbClr val="646464"/>
                </a:solidFill>
                <a:latin typeface="EYInterstate Light" pitchFamily="2" charset="0"/>
              </a:rPr>
              <a:t>defined </a:t>
            </a:r>
            <a:r>
              <a:rPr lang="en-US" sz="1200" dirty="0" smtClean="0">
                <a:solidFill>
                  <a:srgbClr val="646464"/>
                </a:solidFill>
                <a:latin typeface="EYInterstate Light" pitchFamily="2" charset="0"/>
              </a:rPr>
              <a:t>by the Institution</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Alternatively, stages provided by the Institution and loaded as an input</a:t>
            </a:r>
          </a:p>
        </p:txBody>
      </p:sp>
      <p:sp>
        <p:nvSpPr>
          <p:cNvPr id="14" name="Abgerundetes Rechteck 24"/>
          <p:cNvSpPr/>
          <p:nvPr/>
        </p:nvSpPr>
        <p:spPr bwMode="gray">
          <a:xfrm>
            <a:off x="457197" y="2745959"/>
            <a:ext cx="3901740" cy="892357"/>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numCol="1" anchor="t"/>
          <a:lstStyle/>
          <a:p>
            <a:pPr defTabSz="912524">
              <a:buClr>
                <a:srgbClr val="FFD200"/>
              </a:buClr>
              <a:buSzPct val="70000"/>
            </a:pPr>
            <a:r>
              <a:rPr lang="en-US" sz="1200" dirty="0" smtClean="0">
                <a:solidFill>
                  <a:schemeClr val="bg1"/>
                </a:solidFill>
                <a:latin typeface="EYInterstate Light" panose="02000506000000020004" pitchFamily="2" charset="0"/>
              </a:rPr>
              <a:t>When determining assets in </a:t>
            </a:r>
            <a:r>
              <a:rPr lang="en-US" sz="1200" b="1" dirty="0" smtClean="0">
                <a:solidFill>
                  <a:schemeClr val="bg1"/>
                </a:solidFill>
                <a:latin typeface="EYInterstate Light" panose="02000506000000020004" pitchFamily="2" charset="0"/>
              </a:rPr>
              <a:t>Stage 3</a:t>
            </a:r>
            <a:r>
              <a:rPr lang="cs-CZ" sz="1200" b="1" dirty="0" smtClean="0">
                <a:solidFill>
                  <a:schemeClr val="bg1"/>
                </a:solidFill>
                <a:latin typeface="EYInterstate Light" panose="02000506000000020004" pitchFamily="2" charset="0"/>
              </a:rPr>
              <a:t>,</a:t>
            </a:r>
            <a:r>
              <a:rPr lang="en-US" sz="1200" dirty="0" smtClean="0">
                <a:solidFill>
                  <a:schemeClr val="bg1"/>
                </a:solidFill>
                <a:latin typeface="EYInterstate Light" panose="02000506000000020004" pitchFamily="2" charset="0"/>
              </a:rPr>
              <a:t> </a:t>
            </a:r>
            <a:r>
              <a:rPr lang="cs-CZ" sz="1200" dirty="0" smtClean="0">
                <a:solidFill>
                  <a:schemeClr val="bg1"/>
                </a:solidFill>
                <a:latin typeface="EYInterstate Light" panose="02000506000000020004" pitchFamily="2" charset="0"/>
              </a:rPr>
              <a:t>LIC Solution® </a:t>
            </a:r>
            <a:r>
              <a:rPr lang="en-US" sz="1200" dirty="0" smtClean="0">
                <a:solidFill>
                  <a:schemeClr val="bg1"/>
                </a:solidFill>
                <a:latin typeface="EYInterstate Light" panose="02000506000000020004" pitchFamily="2" charset="0"/>
              </a:rPr>
              <a:t>provides following options:</a:t>
            </a:r>
          </a:p>
          <a:p>
            <a:pPr defTabSz="912524">
              <a:buClr>
                <a:srgbClr val="FFD200"/>
              </a:buClr>
              <a:buSzPct val="70000"/>
            </a:pPr>
            <a:endParaRPr lang="en-US" sz="1200" dirty="0" smtClean="0">
              <a:solidFill>
                <a:srgbClr val="646464"/>
              </a:solidFill>
              <a:latin typeface="EYInterstate Light" pitchFamily="2" charset="0"/>
            </a:endParaRPr>
          </a:p>
        </p:txBody>
      </p:sp>
      <p:sp>
        <p:nvSpPr>
          <p:cNvPr id="15" name="Abgerundetes Rechteck 24"/>
          <p:cNvSpPr/>
          <p:nvPr/>
        </p:nvSpPr>
        <p:spPr bwMode="gray">
          <a:xfrm>
            <a:off x="457200" y="3197402"/>
            <a:ext cx="3901736" cy="982198"/>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252000" tIns="0" rIns="108000" bIns="72000" numCol="2" anchor="t"/>
          <a:lstStyle/>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DPD threshold</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Rating threshold</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Flags defined by the Institution</a:t>
            </a:r>
          </a:p>
          <a:p>
            <a:pPr marL="272489" indent="-272489" defTabSz="912524">
              <a:buClr>
                <a:srgbClr val="FFD200"/>
              </a:buClr>
              <a:buSzPct val="70000"/>
              <a:buFont typeface="Arial" panose="020B0604020202020204" pitchFamily="34" charset="0"/>
              <a:buChar char="►"/>
            </a:pPr>
            <a:endParaRPr lang="en-US" sz="1200" dirty="0" smtClean="0">
              <a:solidFill>
                <a:srgbClr val="646464"/>
              </a:solidFill>
              <a:latin typeface="EYInterstate Light" pitchFamily="2"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itchFamily="2" charset="0"/>
              </a:rPr>
              <a:t>Alternatively, stages provided by the Institution and loaded as an input</a:t>
            </a:r>
          </a:p>
          <a:p>
            <a:pPr defTabSz="912524">
              <a:buClr>
                <a:srgbClr val="FFD200"/>
              </a:buClr>
              <a:buSzPct val="70000"/>
            </a:pPr>
            <a:endParaRPr lang="en-US" sz="1200" dirty="0">
              <a:solidFill>
                <a:srgbClr val="646464"/>
              </a:solidFill>
              <a:latin typeface="EYInterstate Light" pitchFamily="2" charset="0"/>
            </a:endParaRPr>
          </a:p>
        </p:txBody>
      </p:sp>
      <p:sp>
        <p:nvSpPr>
          <p:cNvPr id="16" name="Abgerundetes Rechteck 24"/>
          <p:cNvSpPr/>
          <p:nvPr/>
        </p:nvSpPr>
        <p:spPr bwMode="gray">
          <a:xfrm>
            <a:off x="457197" y="3911796"/>
            <a:ext cx="3901737" cy="627044"/>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numCol="1" anchor="t"/>
          <a:lstStyle/>
          <a:p>
            <a:pPr defTabSz="912524">
              <a:buClr>
                <a:srgbClr val="FFD200"/>
              </a:buClr>
              <a:buSzPct val="70000"/>
            </a:pPr>
            <a:r>
              <a:rPr lang="en-US" sz="1200" dirty="0" smtClean="0">
                <a:solidFill>
                  <a:schemeClr val="bg1"/>
                </a:solidFill>
                <a:latin typeface="EYInterstate Light" panose="02000506000000020004" pitchFamily="2" charset="0"/>
              </a:rPr>
              <a:t>These rules can be configured and combined in the user interface separately for each portfolio.</a:t>
            </a:r>
            <a:endParaRPr lang="en-US" sz="1200" dirty="0">
              <a:solidFill>
                <a:schemeClr val="bg1"/>
              </a:solidFill>
              <a:latin typeface="EYInterstate Light" panose="02000506000000020004" pitchFamily="2" charset="0"/>
            </a:endParaRPr>
          </a:p>
          <a:p>
            <a:pPr defTabSz="912524">
              <a:buClr>
                <a:srgbClr val="FFD200"/>
              </a:buClr>
              <a:buSzPct val="70000"/>
            </a:pPr>
            <a:endParaRPr lang="en-US" sz="1200" dirty="0" smtClean="0">
              <a:solidFill>
                <a:srgbClr val="646464"/>
              </a:solidFill>
              <a:latin typeface="EYInterstate Light" pitchFamily="2" charset="0"/>
            </a:endParaRPr>
          </a:p>
        </p:txBody>
      </p:sp>
      <p:sp>
        <p:nvSpPr>
          <p:cNvPr id="17"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pic>
        <p:nvPicPr>
          <p:cNvPr id="18" name="Picture 17"/>
          <p:cNvPicPr>
            <a:picLocks noChangeAspect="1"/>
          </p:cNvPicPr>
          <p:nvPr/>
        </p:nvPicPr>
        <p:blipFill>
          <a:blip r:embed="rId3"/>
          <a:stretch>
            <a:fillRect/>
          </a:stretch>
        </p:blipFill>
        <p:spPr>
          <a:xfrm>
            <a:off x="4572000" y="1031008"/>
            <a:ext cx="3898793" cy="3293342"/>
          </a:xfrm>
          <a:prstGeom prst="rect">
            <a:avLst/>
          </a:prstGeom>
        </p:spPr>
      </p:pic>
    </p:spTree>
    <p:extLst>
      <p:ext uri="{BB962C8B-B14F-4D97-AF65-F5344CB8AC3E}">
        <p14:creationId xmlns:p14="http://schemas.microsoft.com/office/powerpoint/2010/main" val="6841490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dirty="0" err="1" smtClean="0"/>
              <a:t>Staging</a:t>
            </a:r>
            <a:r>
              <a:rPr lang="en-US" dirty="0" smtClean="0"/>
              <a:t> UI – </a:t>
            </a:r>
            <a:r>
              <a:rPr lang="cs-CZ" dirty="0" smtClean="0"/>
              <a:t>DPD and </a:t>
            </a:r>
            <a:r>
              <a:rPr lang="cs-CZ" dirty="0" err="1" smtClean="0"/>
              <a:t>Ratings</a:t>
            </a:r>
            <a:endParaRPr lang="cs-CZ" dirty="0"/>
          </a:p>
        </p:txBody>
      </p:sp>
      <p:pic>
        <p:nvPicPr>
          <p:cNvPr id="8" name="Picture 7"/>
          <p:cNvPicPr>
            <a:picLocks noChangeAspect="1"/>
          </p:cNvPicPr>
          <p:nvPr/>
        </p:nvPicPr>
        <p:blipFill>
          <a:blip r:embed="rId2"/>
          <a:stretch>
            <a:fillRect/>
          </a:stretch>
        </p:blipFill>
        <p:spPr>
          <a:xfrm>
            <a:off x="1027722" y="782323"/>
            <a:ext cx="6381262" cy="5390304"/>
          </a:xfrm>
          <a:prstGeom prst="rect">
            <a:avLst/>
          </a:prstGeom>
        </p:spPr>
      </p:pic>
      <p:sp>
        <p:nvSpPr>
          <p:cNvPr id="6"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1282572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cs-CZ" dirty="0" err="1"/>
              <a:t>Staging</a:t>
            </a:r>
            <a:r>
              <a:rPr lang="en-US" dirty="0"/>
              <a:t> </a:t>
            </a:r>
            <a:r>
              <a:rPr lang="en-US" dirty="0" smtClean="0"/>
              <a:t>UI</a:t>
            </a:r>
            <a:r>
              <a:rPr lang="cs-CZ" dirty="0" smtClean="0"/>
              <a:t> </a:t>
            </a:r>
            <a:r>
              <a:rPr lang="en-US" dirty="0" smtClean="0"/>
              <a:t>– PD parameter</a:t>
            </a:r>
            <a:endParaRPr lang="cs-CZ" dirty="0"/>
          </a:p>
        </p:txBody>
      </p:sp>
      <p:pic>
        <p:nvPicPr>
          <p:cNvPr id="6" name="Picture 5"/>
          <p:cNvPicPr>
            <a:picLocks noChangeAspect="1"/>
          </p:cNvPicPr>
          <p:nvPr/>
        </p:nvPicPr>
        <p:blipFill>
          <a:blip r:embed="rId2"/>
          <a:stretch>
            <a:fillRect/>
          </a:stretch>
        </p:blipFill>
        <p:spPr>
          <a:xfrm>
            <a:off x="908838" y="978377"/>
            <a:ext cx="6648639" cy="2796649"/>
          </a:xfrm>
          <a:prstGeom prst="rect">
            <a:avLst/>
          </a:prstGeom>
        </p:spPr>
      </p:pic>
      <p:sp>
        <p:nvSpPr>
          <p:cNvPr id="8" name="Footer Placeholder 3"/>
          <p:cNvSpPr>
            <a:spLocks noGrp="1"/>
          </p:cNvSpPr>
          <p:nvPr>
            <p:ph type="ftr" sz="quarter" idx="11"/>
          </p:nvPr>
        </p:nvSpPr>
        <p:spPr>
          <a:xfrm>
            <a:off x="2588400" y="6503980"/>
            <a:ext cx="3434400" cy="201600"/>
          </a:xfrm>
        </p:spPr>
        <p:txBody>
          <a:bodyPr/>
          <a:lstStyle/>
          <a:p>
            <a:pPr algn="ctr"/>
            <a:r>
              <a:rPr lang="en-US" dirty="0">
                <a:solidFill>
                  <a:srgbClr val="646464"/>
                </a:solidFill>
                <a:latin typeface="EYInterstate-Light"/>
              </a:rPr>
              <a:t>LIC </a:t>
            </a:r>
            <a:r>
              <a:rPr lang="en-GB" dirty="0">
                <a:solidFill>
                  <a:srgbClr val="646464"/>
                </a:solidFill>
                <a:latin typeface="EYInterstate-Light"/>
              </a:rPr>
              <a:t>Solution</a:t>
            </a:r>
            <a:r>
              <a:rPr lang="cs-CZ" dirty="0">
                <a:solidFill>
                  <a:srgbClr val="646464"/>
                </a:solidFill>
                <a:latin typeface="EYInterstate-Light"/>
              </a:rPr>
              <a:t>®</a:t>
            </a:r>
            <a:endParaRPr lang="en-GB" dirty="0">
              <a:solidFill>
                <a:srgbClr val="646464"/>
              </a:solidFill>
              <a:latin typeface="EYInterstate-Light"/>
            </a:endParaRPr>
          </a:p>
        </p:txBody>
      </p:sp>
    </p:spTree>
    <p:extLst>
      <p:ext uri="{BB962C8B-B14F-4D97-AF65-F5344CB8AC3E}">
        <p14:creationId xmlns:p14="http://schemas.microsoft.com/office/powerpoint/2010/main" val="2740513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cs-CZ" dirty="0" err="1"/>
              <a:t>Staging</a:t>
            </a:r>
            <a:r>
              <a:rPr lang="en-US" dirty="0"/>
              <a:t> </a:t>
            </a:r>
            <a:r>
              <a:rPr lang="en-US" dirty="0" smtClean="0"/>
              <a:t>UI</a:t>
            </a:r>
            <a:r>
              <a:rPr lang="cs-CZ" dirty="0" smtClean="0"/>
              <a:t> </a:t>
            </a:r>
            <a:r>
              <a:rPr lang="en-US" dirty="0" smtClean="0"/>
              <a:t>– </a:t>
            </a:r>
            <a:r>
              <a:rPr lang="cs-CZ" dirty="0" smtClean="0"/>
              <a:t>Risk</a:t>
            </a:r>
            <a:r>
              <a:rPr lang="en-US" dirty="0" smtClean="0"/>
              <a:t> flags</a:t>
            </a:r>
            <a:endParaRPr lang="cs-CZ" dirty="0"/>
          </a:p>
        </p:txBody>
      </p:sp>
      <p:pic>
        <p:nvPicPr>
          <p:cNvPr id="2" name="Picture 1"/>
          <p:cNvPicPr>
            <a:picLocks noChangeAspect="1"/>
          </p:cNvPicPr>
          <p:nvPr/>
        </p:nvPicPr>
        <p:blipFill>
          <a:blip r:embed="rId2"/>
          <a:stretch>
            <a:fillRect/>
          </a:stretch>
        </p:blipFill>
        <p:spPr>
          <a:xfrm>
            <a:off x="981279" y="2791899"/>
            <a:ext cx="6648639" cy="1957433"/>
          </a:xfrm>
          <a:prstGeom prst="rect">
            <a:avLst/>
          </a:prstGeom>
        </p:spPr>
      </p:pic>
      <p:pic>
        <p:nvPicPr>
          <p:cNvPr id="8" name="Picture 7"/>
          <p:cNvPicPr>
            <a:picLocks noChangeAspect="1"/>
          </p:cNvPicPr>
          <p:nvPr/>
        </p:nvPicPr>
        <p:blipFill>
          <a:blip r:embed="rId3"/>
          <a:stretch>
            <a:fillRect/>
          </a:stretch>
        </p:blipFill>
        <p:spPr>
          <a:xfrm>
            <a:off x="981280" y="1135038"/>
            <a:ext cx="6648639" cy="1525159"/>
          </a:xfrm>
          <a:prstGeom prst="rect">
            <a:avLst/>
          </a:prstGeom>
        </p:spPr>
      </p:pic>
      <p:sp>
        <p:nvSpPr>
          <p:cNvPr id="9" name="Footer Placeholder 3"/>
          <p:cNvSpPr>
            <a:spLocks noGrp="1"/>
          </p:cNvSpPr>
          <p:nvPr>
            <p:ph type="ftr" sz="quarter" idx="11"/>
          </p:nvPr>
        </p:nvSpPr>
        <p:spPr>
          <a:xfrm>
            <a:off x="2588400" y="6503980"/>
            <a:ext cx="3434400" cy="201600"/>
          </a:xfrm>
        </p:spPr>
        <p:txBody>
          <a:bodyPr/>
          <a:lstStyle/>
          <a:p>
            <a:pPr algn="ctr"/>
            <a:r>
              <a:rPr lang="en-US" dirty="0">
                <a:solidFill>
                  <a:srgbClr val="646464"/>
                </a:solidFill>
                <a:latin typeface="EYInterstate-Light"/>
              </a:rPr>
              <a:t>LIC </a:t>
            </a:r>
            <a:r>
              <a:rPr lang="en-GB" dirty="0">
                <a:solidFill>
                  <a:srgbClr val="646464"/>
                </a:solidFill>
                <a:latin typeface="EYInterstate-Light"/>
              </a:rPr>
              <a:t>Solution</a:t>
            </a:r>
            <a:r>
              <a:rPr lang="cs-CZ" dirty="0">
                <a:solidFill>
                  <a:srgbClr val="646464"/>
                </a:solidFill>
                <a:latin typeface="EYInterstate-Light"/>
              </a:rPr>
              <a:t>®</a:t>
            </a:r>
            <a:endParaRPr lang="en-GB" dirty="0">
              <a:solidFill>
                <a:srgbClr val="646464"/>
              </a:solidFill>
              <a:latin typeface="EYInterstate-Light"/>
            </a:endParaRPr>
          </a:p>
        </p:txBody>
      </p:sp>
    </p:spTree>
    <p:extLst>
      <p:ext uri="{BB962C8B-B14F-4D97-AF65-F5344CB8AC3E}">
        <p14:creationId xmlns:p14="http://schemas.microsoft.com/office/powerpoint/2010/main" val="3013360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p:cNvSpPr>
            <a:spLocks noChangeArrowheads="1"/>
          </p:cNvSpPr>
          <p:nvPr/>
        </p:nvSpPr>
        <p:spPr bwMode="gray">
          <a:xfrm>
            <a:off x="2523964" y="1923403"/>
            <a:ext cx="2096420" cy="568291"/>
          </a:xfrm>
          <a:prstGeom prst="homePlate">
            <a:avLst>
              <a:gd name="adj" fmla="val 15039"/>
            </a:avLst>
          </a:prstGeom>
          <a:solidFill>
            <a:srgbClr val="2C973E"/>
          </a:solidFill>
          <a:ln>
            <a:solidFill>
              <a:srgbClr val="2C973E"/>
            </a:solidFill>
            <a:headEnd/>
            <a:tailEnd/>
          </a:ln>
        </p:spPr>
        <p:style>
          <a:lnRef idx="2">
            <a:schemeClr val="dk1"/>
          </a:lnRef>
          <a:fillRef idx="1">
            <a:schemeClr val="lt1"/>
          </a:fillRef>
          <a:effectRef idx="0">
            <a:schemeClr val="dk1"/>
          </a:effectRef>
          <a:fontRef idx="minor">
            <a:schemeClr val="dk1"/>
          </a:fontRef>
        </p:style>
        <p:txBody>
          <a:bodyPr vert="horz" wrap="square" lIns="0" tIns="45720" rIns="468000" bIns="45720" rtlCol="0" anchor="ctr"/>
          <a:lstStyle/>
          <a:p>
            <a:pPr algn="ctr">
              <a:lnSpc>
                <a:spcPct val="95000"/>
              </a:lnSpc>
              <a:spcAft>
                <a:spcPts val="600"/>
              </a:spcAft>
              <a:buClr>
                <a:srgbClr val="969696"/>
              </a:buClr>
            </a:pPr>
            <a:r>
              <a:rPr lang="en-US" sz="2000" b="1" dirty="0" smtClean="0">
                <a:solidFill>
                  <a:srgbClr val="FFFFFF"/>
                </a:solidFill>
                <a:latin typeface="EYInterstate" panose="02000503020000020004" pitchFamily="2" charset="0"/>
              </a:rPr>
              <a:t>Stage</a:t>
            </a:r>
            <a:endParaRPr lang="en-US" sz="2000" b="1" dirty="0">
              <a:solidFill>
                <a:srgbClr val="FFFFFF"/>
              </a:solidFill>
              <a:latin typeface="EYInterstate" panose="02000503020000020004" pitchFamily="2" charset="0"/>
            </a:endParaRPr>
          </a:p>
        </p:txBody>
      </p:sp>
      <p:sp>
        <p:nvSpPr>
          <p:cNvPr id="8" name="AutoShape 6"/>
          <p:cNvSpPr>
            <a:spLocks noChangeArrowheads="1"/>
          </p:cNvSpPr>
          <p:nvPr/>
        </p:nvSpPr>
        <p:spPr bwMode="gray">
          <a:xfrm>
            <a:off x="4528659" y="1923403"/>
            <a:ext cx="2096420" cy="568291"/>
          </a:xfrm>
          <a:prstGeom prst="chevron">
            <a:avLst>
              <a:gd name="adj" fmla="val 14683"/>
            </a:avLst>
          </a:prstGeom>
          <a:solidFill>
            <a:srgbClr val="FFF27F"/>
          </a:solidFill>
          <a:ln>
            <a:solidFill>
              <a:srgbClr val="FFF27F"/>
            </a:solidFill>
            <a:headEnd/>
            <a:tailEnd/>
          </a:ln>
        </p:spPr>
        <p:style>
          <a:lnRef idx="2">
            <a:schemeClr val="dk1"/>
          </a:lnRef>
          <a:fillRef idx="1">
            <a:schemeClr val="lt1"/>
          </a:fillRef>
          <a:effectRef idx="0">
            <a:schemeClr val="dk1"/>
          </a:effectRef>
          <a:fontRef idx="minor">
            <a:schemeClr val="dk1"/>
          </a:fontRef>
        </p:style>
        <p:txBody>
          <a:bodyPr vert="horz" wrap="square" lIns="0" tIns="72000" rIns="468000" bIns="72000" anchor="ctr"/>
          <a:lstStyle/>
          <a:p>
            <a:pPr algn="ctr" defTabSz="801688" eaLnBrk="0" hangingPunct="0"/>
            <a:r>
              <a:rPr lang="en-US" sz="2000" b="1" dirty="0" smtClean="0">
                <a:solidFill>
                  <a:schemeClr val="bg1"/>
                </a:solidFill>
                <a:latin typeface="EYInterstate" panose="02000503020000020004" pitchFamily="2" charset="0"/>
              </a:rPr>
              <a:t>Stage</a:t>
            </a:r>
            <a:endParaRPr lang="en-US" sz="2000" b="1" dirty="0">
              <a:solidFill>
                <a:schemeClr val="bg1"/>
              </a:solidFill>
              <a:latin typeface="EYInterstate" panose="02000503020000020004" pitchFamily="2" charset="0"/>
            </a:endParaRPr>
          </a:p>
        </p:txBody>
      </p:sp>
      <p:sp>
        <p:nvSpPr>
          <p:cNvPr id="12" name="AutoShape 9"/>
          <p:cNvSpPr>
            <a:spLocks noChangeArrowheads="1"/>
          </p:cNvSpPr>
          <p:nvPr/>
        </p:nvSpPr>
        <p:spPr bwMode="gray">
          <a:xfrm>
            <a:off x="6519668" y="1923403"/>
            <a:ext cx="2096420" cy="568291"/>
          </a:xfrm>
          <a:prstGeom prst="chevron">
            <a:avLst>
              <a:gd name="adj" fmla="val 17807"/>
            </a:avLst>
          </a:prstGeom>
          <a:solidFill>
            <a:srgbClr val="F04C3E"/>
          </a:solidFill>
          <a:ln>
            <a:solidFill>
              <a:srgbClr val="F04C3E"/>
            </a:solidFill>
            <a:headEnd/>
            <a:tailEnd/>
          </a:ln>
        </p:spPr>
        <p:style>
          <a:lnRef idx="2">
            <a:schemeClr val="dk1"/>
          </a:lnRef>
          <a:fillRef idx="1">
            <a:schemeClr val="lt1"/>
          </a:fillRef>
          <a:effectRef idx="0">
            <a:schemeClr val="dk1"/>
          </a:effectRef>
          <a:fontRef idx="minor">
            <a:schemeClr val="dk1"/>
          </a:fontRef>
        </p:style>
        <p:txBody>
          <a:bodyPr vert="horz" wrap="square" lIns="0" tIns="45720" rIns="324000" bIns="45720" rtlCol="0" anchor="ctr"/>
          <a:lstStyle/>
          <a:p>
            <a:pPr algn="ctr">
              <a:lnSpc>
                <a:spcPct val="95000"/>
              </a:lnSpc>
              <a:spcAft>
                <a:spcPts val="600"/>
              </a:spcAft>
              <a:buClr>
                <a:srgbClr val="969696"/>
              </a:buClr>
            </a:pPr>
            <a:r>
              <a:rPr lang="en-US" b="1" dirty="0" smtClean="0">
                <a:solidFill>
                  <a:srgbClr val="FFFFFF"/>
                </a:solidFill>
                <a:latin typeface="EYInterstate" panose="02000503020000020004" pitchFamily="2" charset="0"/>
              </a:rPr>
              <a:t>Stage</a:t>
            </a:r>
            <a:endParaRPr lang="en-US" b="1" dirty="0">
              <a:solidFill>
                <a:srgbClr val="FFFFFF"/>
              </a:solidFill>
              <a:latin typeface="EYInterstate" panose="02000503020000020004" pitchFamily="2" charset="0"/>
            </a:endParaRPr>
          </a:p>
        </p:txBody>
      </p:sp>
      <p:sp>
        <p:nvSpPr>
          <p:cNvPr id="39" name="Rectangle 14"/>
          <p:cNvSpPr>
            <a:spLocks noChangeArrowheads="1"/>
          </p:cNvSpPr>
          <p:nvPr/>
        </p:nvSpPr>
        <p:spPr bwMode="gray">
          <a:xfrm>
            <a:off x="665824" y="2504924"/>
            <a:ext cx="1850400" cy="568314"/>
          </a:xfrm>
          <a:prstGeom prst="rect">
            <a:avLst/>
          </a:prstGeom>
          <a:solidFill>
            <a:schemeClr val="bg1"/>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spcAft>
                <a:spcPts val="800"/>
              </a:spcAft>
              <a:buClr>
                <a:srgbClr val="FFE600"/>
              </a:buClr>
              <a:buSzPct val="70000"/>
              <a:defRPr/>
            </a:pPr>
            <a:r>
              <a:rPr lang="en-US" sz="1200" b="1" dirty="0" smtClean="0">
                <a:solidFill>
                  <a:srgbClr val="FFFFFF"/>
                </a:solidFill>
                <a:latin typeface="EYInterstate Light" panose="02000506000000020004" pitchFamily="2" charset="0"/>
              </a:rPr>
              <a:t>Individual approach</a:t>
            </a:r>
            <a:endParaRPr lang="en-US" sz="1200" b="1" dirty="0">
              <a:solidFill>
                <a:srgbClr val="FFFFFF"/>
              </a:solidFill>
              <a:latin typeface="EYInterstate Light" panose="02000506000000020004" pitchFamily="2" charset="0"/>
            </a:endParaRPr>
          </a:p>
        </p:txBody>
      </p:sp>
      <p:sp>
        <p:nvSpPr>
          <p:cNvPr id="40" name="Rectangle 14"/>
          <p:cNvSpPr>
            <a:spLocks noChangeArrowheads="1"/>
          </p:cNvSpPr>
          <p:nvPr/>
        </p:nvSpPr>
        <p:spPr bwMode="gray">
          <a:xfrm>
            <a:off x="665824" y="3074170"/>
            <a:ext cx="1850400" cy="568314"/>
          </a:xfrm>
          <a:prstGeom prst="rect">
            <a:avLst/>
          </a:prstGeom>
          <a:solidFill>
            <a:schemeClr val="bg1"/>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spcAft>
                <a:spcPts val="800"/>
              </a:spcAft>
              <a:buClr>
                <a:srgbClr val="FFE600"/>
              </a:buClr>
              <a:buSzPct val="70000"/>
              <a:defRPr/>
            </a:pPr>
            <a:r>
              <a:rPr lang="en-US" sz="1200" b="1" dirty="0" smtClean="0">
                <a:solidFill>
                  <a:srgbClr val="FFFFFF"/>
                </a:solidFill>
                <a:latin typeface="EYInterstate Light" panose="02000506000000020004" pitchFamily="2" charset="0"/>
              </a:rPr>
              <a:t>Collective approach</a:t>
            </a:r>
            <a:endParaRPr lang="en-US" sz="1200" b="1" dirty="0">
              <a:solidFill>
                <a:srgbClr val="FFFFFF"/>
              </a:solidFill>
              <a:latin typeface="EYInterstate Light" panose="02000506000000020004" pitchFamily="2" charset="0"/>
            </a:endParaRPr>
          </a:p>
        </p:txBody>
      </p:sp>
      <p:sp>
        <p:nvSpPr>
          <p:cNvPr id="41" name="Rectangle 14"/>
          <p:cNvSpPr>
            <a:spLocks noChangeArrowheads="1"/>
          </p:cNvSpPr>
          <p:nvPr/>
        </p:nvSpPr>
        <p:spPr bwMode="gray">
          <a:xfrm>
            <a:off x="665824" y="3633802"/>
            <a:ext cx="1859292" cy="568314"/>
          </a:xfrm>
          <a:prstGeom prst="rect">
            <a:avLst/>
          </a:prstGeom>
          <a:solidFill>
            <a:srgbClr val="C0C0C0"/>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spcAft>
                <a:spcPts val="800"/>
              </a:spcAft>
              <a:buClr>
                <a:srgbClr val="FFE600"/>
              </a:buClr>
              <a:buSzPct val="70000"/>
              <a:defRPr/>
            </a:pPr>
            <a:r>
              <a:rPr lang="en-US" sz="1400" b="1" dirty="0" smtClean="0">
                <a:solidFill>
                  <a:schemeClr val="bg1"/>
                </a:solidFill>
                <a:latin typeface="EYInterstate Light" panose="02000506000000020004" pitchFamily="2" charset="0"/>
              </a:rPr>
              <a:t>Exceptions</a:t>
            </a:r>
            <a:endParaRPr lang="en-US" sz="1400" b="1" dirty="0">
              <a:solidFill>
                <a:schemeClr val="bg1"/>
              </a:solidFill>
              <a:latin typeface="EYInterstate Light" panose="02000506000000020004" pitchFamily="2" charset="0"/>
            </a:endParaRPr>
          </a:p>
        </p:txBody>
      </p:sp>
      <p:sp>
        <p:nvSpPr>
          <p:cNvPr id="42" name="Rectangle 14"/>
          <p:cNvSpPr>
            <a:spLocks noChangeArrowheads="1"/>
          </p:cNvSpPr>
          <p:nvPr/>
        </p:nvSpPr>
        <p:spPr bwMode="gray">
          <a:xfrm>
            <a:off x="663123" y="5347634"/>
            <a:ext cx="1851117" cy="568314"/>
          </a:xfrm>
          <a:prstGeom prst="rect">
            <a:avLst/>
          </a:prstGeom>
          <a:solidFill>
            <a:schemeClr val="bg1"/>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spcAft>
                <a:spcPts val="800"/>
              </a:spcAft>
              <a:buClr>
                <a:srgbClr val="FFE600"/>
              </a:buClr>
              <a:buSzPct val="70000"/>
              <a:defRPr/>
            </a:pPr>
            <a:r>
              <a:rPr lang="en-US" sz="1200" b="1" dirty="0" smtClean="0">
                <a:solidFill>
                  <a:srgbClr val="FFFFFF"/>
                </a:solidFill>
                <a:latin typeface="EYInterstate Light" panose="02000506000000020004" pitchFamily="2" charset="0"/>
              </a:rPr>
              <a:t>Purchased or Originated Credit Impaired (POCI)</a:t>
            </a:r>
            <a:endParaRPr lang="en-US" sz="1200" b="1" dirty="0">
              <a:solidFill>
                <a:srgbClr val="FFFFFF"/>
              </a:solidFill>
              <a:latin typeface="EYInterstate Light" panose="02000506000000020004" pitchFamily="2" charset="0"/>
            </a:endParaRPr>
          </a:p>
        </p:txBody>
      </p:sp>
      <p:sp>
        <p:nvSpPr>
          <p:cNvPr id="43" name="Rectangle 14"/>
          <p:cNvSpPr>
            <a:spLocks noChangeArrowheads="1"/>
          </p:cNvSpPr>
          <p:nvPr/>
        </p:nvSpPr>
        <p:spPr bwMode="gray">
          <a:xfrm>
            <a:off x="664066" y="4211006"/>
            <a:ext cx="1850174" cy="568314"/>
          </a:xfrm>
          <a:prstGeom prst="rect">
            <a:avLst/>
          </a:prstGeom>
          <a:solidFill>
            <a:schemeClr val="bg1"/>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buClr>
                <a:srgbClr val="FFE600"/>
              </a:buClr>
              <a:buSzPct val="70000"/>
              <a:defRPr/>
            </a:pPr>
            <a:r>
              <a:rPr lang="en-US" sz="1200" b="1" dirty="0" smtClean="0">
                <a:solidFill>
                  <a:srgbClr val="FFFFFF"/>
                </a:solidFill>
                <a:latin typeface="EYInterstate Light" panose="02000506000000020004" pitchFamily="2" charset="0"/>
              </a:rPr>
              <a:t>Renewable Credit</a:t>
            </a:r>
          </a:p>
          <a:p>
            <a:pPr algn="ctr">
              <a:lnSpc>
                <a:spcPct val="95000"/>
              </a:lnSpc>
              <a:buClr>
                <a:srgbClr val="FFE600"/>
              </a:buClr>
              <a:buSzPct val="70000"/>
              <a:defRPr/>
            </a:pPr>
            <a:r>
              <a:rPr lang="en-US" sz="1200" b="1" dirty="0" smtClean="0">
                <a:solidFill>
                  <a:srgbClr val="FFFFFF"/>
                </a:solidFill>
                <a:latin typeface="EYInterstate Light" panose="02000506000000020004" pitchFamily="2" charset="0"/>
              </a:rPr>
              <a:t>Facilities (collective)</a:t>
            </a:r>
            <a:endParaRPr lang="en-US" sz="1200" b="1" dirty="0">
              <a:solidFill>
                <a:srgbClr val="FFFFFF"/>
              </a:solidFill>
              <a:latin typeface="EYInterstate Light" panose="02000506000000020004" pitchFamily="2" charset="0"/>
            </a:endParaRPr>
          </a:p>
        </p:txBody>
      </p:sp>
      <p:sp>
        <p:nvSpPr>
          <p:cNvPr id="44" name="Rectangle 14"/>
          <p:cNvSpPr>
            <a:spLocks noChangeArrowheads="1"/>
          </p:cNvSpPr>
          <p:nvPr/>
        </p:nvSpPr>
        <p:spPr bwMode="gray">
          <a:xfrm>
            <a:off x="664066" y="4779314"/>
            <a:ext cx="1851117" cy="568314"/>
          </a:xfrm>
          <a:prstGeom prst="rect">
            <a:avLst/>
          </a:prstGeom>
          <a:solidFill>
            <a:schemeClr val="bg1"/>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spcAft>
                <a:spcPts val="800"/>
              </a:spcAft>
              <a:buClr>
                <a:srgbClr val="FFE600"/>
              </a:buClr>
              <a:buSzPct val="70000"/>
              <a:defRPr/>
            </a:pPr>
            <a:r>
              <a:rPr lang="en-US" sz="1200" b="1" dirty="0" smtClean="0">
                <a:solidFill>
                  <a:srgbClr val="FFFFFF"/>
                </a:solidFill>
                <a:latin typeface="EYInterstate Light" panose="02000506000000020004" pitchFamily="2" charset="0"/>
              </a:rPr>
              <a:t>Simplified approach</a:t>
            </a:r>
            <a:endParaRPr lang="en-US" sz="1200" b="1" dirty="0">
              <a:solidFill>
                <a:srgbClr val="FFFFFF"/>
              </a:solidFill>
              <a:latin typeface="EYInterstate Light" panose="02000506000000020004" pitchFamily="2" charset="0"/>
            </a:endParaRPr>
          </a:p>
        </p:txBody>
      </p:sp>
      <p:sp>
        <p:nvSpPr>
          <p:cNvPr id="2" name="Title 1"/>
          <p:cNvSpPr>
            <a:spLocks noGrp="1"/>
          </p:cNvSpPr>
          <p:nvPr>
            <p:ph type="title"/>
          </p:nvPr>
        </p:nvSpPr>
        <p:spPr/>
        <p:txBody>
          <a:bodyPr/>
          <a:lstStyle/>
          <a:p>
            <a:r>
              <a:rPr lang="en-US" dirty="0" smtClean="0">
                <a:latin typeface="EYInterstate" panose="02000503020000020004" pitchFamily="2" charset="0"/>
              </a:rPr>
              <a:t>Overview of the applied methods</a:t>
            </a:r>
            <a:endParaRPr lang="en-US" dirty="0">
              <a:latin typeface="EYInterstate" panose="02000503020000020004" pitchFamily="2" charset="0"/>
            </a:endParaRPr>
          </a:p>
        </p:txBody>
      </p:sp>
      <p:sp>
        <p:nvSpPr>
          <p:cNvPr id="3" name="Footer Placeholder 2"/>
          <p:cNvSpPr>
            <a:spLocks noGrp="1"/>
          </p:cNvSpPr>
          <p:nvPr>
            <p:ph type="ftr" sz="quarter" idx="10"/>
          </p:nvPr>
        </p:nvSpPr>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5" name="Rectangle 14"/>
          <p:cNvSpPr>
            <a:spLocks noChangeArrowheads="1"/>
          </p:cNvSpPr>
          <p:nvPr/>
        </p:nvSpPr>
        <p:spPr bwMode="gray">
          <a:xfrm>
            <a:off x="2530690" y="2504039"/>
            <a:ext cx="5987672"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buClr>
                <a:srgbClr val="FFE600"/>
              </a:buClr>
              <a:buSzPct val="70000"/>
              <a:defRPr/>
            </a:pPr>
            <a:r>
              <a:rPr lang="en-US" sz="1200" dirty="0" smtClean="0">
                <a:solidFill>
                  <a:schemeClr val="bg1"/>
                </a:solidFill>
                <a:latin typeface="EYInterstate Light" panose="02000506000000020004" pitchFamily="2" charset="0"/>
              </a:rPr>
              <a:t>Evaluation of a range of possible outcomes based on possible scenarios for </a:t>
            </a:r>
          </a:p>
          <a:p>
            <a:pPr algn="ctr">
              <a:lnSpc>
                <a:spcPct val="95000"/>
              </a:lnSpc>
              <a:buClr>
                <a:srgbClr val="FFE600"/>
              </a:buClr>
              <a:buSzPct val="70000"/>
              <a:defRPr/>
            </a:pPr>
            <a:r>
              <a:rPr lang="en-US" sz="1200" dirty="0" smtClean="0">
                <a:solidFill>
                  <a:schemeClr val="bg1"/>
                </a:solidFill>
                <a:latin typeface="EYInterstate Light" panose="02000506000000020004" pitchFamily="2" charset="0"/>
              </a:rPr>
              <a:t>future cash flows (discounted by EIR) and their probability</a:t>
            </a:r>
            <a:endParaRPr lang="en-US" sz="1200" dirty="0">
              <a:solidFill>
                <a:schemeClr val="bg1"/>
              </a:solidFill>
              <a:latin typeface="EYInterstate Light" panose="02000506000000020004" pitchFamily="2" charset="0"/>
            </a:endParaRPr>
          </a:p>
        </p:txBody>
      </p:sp>
      <p:sp>
        <p:nvSpPr>
          <p:cNvPr id="6" name="Ellipse 26"/>
          <p:cNvSpPr/>
          <p:nvPr/>
        </p:nvSpPr>
        <p:spPr bwMode="gray">
          <a:xfrm>
            <a:off x="3791488" y="1988210"/>
            <a:ext cx="442630" cy="442631"/>
          </a:xfrm>
          <a:prstGeom prst="ellipse">
            <a:avLst/>
          </a:prstGeom>
          <a:solidFill>
            <a:srgbClr val="C0C0C0"/>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7" name="Ellipse 20"/>
          <p:cNvSpPr/>
          <p:nvPr/>
        </p:nvSpPr>
        <p:spPr bwMode="gray">
          <a:xfrm>
            <a:off x="3835329" y="2037131"/>
            <a:ext cx="354948" cy="354949"/>
          </a:xfrm>
          <a:prstGeom prst="ellipse">
            <a:avLst/>
          </a:prstGeom>
          <a:solidFill>
            <a:srgbClr val="FFFFFF"/>
          </a:solidFill>
          <a:ln>
            <a:no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en-US" sz="2800" b="1" dirty="0" smtClean="0">
                <a:solidFill>
                  <a:srgbClr val="808080"/>
                </a:solidFill>
                <a:latin typeface="Arial" panose="020B0604020202020204" pitchFamily="34" charset="0"/>
              </a:rPr>
              <a:t>1</a:t>
            </a:r>
            <a:endParaRPr lang="en-US" sz="2800" b="1" dirty="0">
              <a:solidFill>
                <a:srgbClr val="808080"/>
              </a:solidFill>
              <a:latin typeface="Arial" panose="020B0604020202020204" pitchFamily="34" charset="0"/>
            </a:endParaRPr>
          </a:p>
        </p:txBody>
      </p:sp>
      <p:sp>
        <p:nvSpPr>
          <p:cNvPr id="20" name="Text Placeholder 1"/>
          <p:cNvSpPr txBox="1">
            <a:spLocks/>
          </p:cNvSpPr>
          <p:nvPr/>
        </p:nvSpPr>
        <p:spPr>
          <a:xfrm>
            <a:off x="457200" y="620688"/>
            <a:ext cx="8229600" cy="442800"/>
          </a:xfrm>
          <a:prstGeom prst="rect">
            <a:avLst/>
          </a:prstGeom>
        </p:spPr>
        <p:txBody>
          <a:bodyPr vert="horz" wrap="square" lIns="0" tIns="0" rIns="0" bIns="0" anchor="t"/>
          <a:lstStyle>
            <a:lvl1pPr marL="0" indent="0" algn="l" defTabSz="914400" rtl="0" eaLnBrk="1" latinLnBrk="0" hangingPunct="1">
              <a:spcBef>
                <a:spcPct val="20000"/>
              </a:spcBef>
              <a:buClr>
                <a:schemeClr val="accent2"/>
              </a:buClr>
              <a:buSzPct val="70000"/>
              <a:buFont typeface="Arial" pitchFamily="34" charset="0"/>
              <a:buNone/>
              <a:defRPr sz="2400" kern="1200">
                <a:solidFill>
                  <a:schemeClr val="bg1"/>
                </a:solidFill>
                <a:latin typeface="+mn-lt"/>
                <a:ea typeface="+mn-ea"/>
                <a:cs typeface="+mn-cs"/>
              </a:defRPr>
            </a:lvl1pPr>
            <a:lvl2pPr marL="360363" indent="-36036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720725" indent="-36036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081088" indent="-36036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431925" indent="-350838"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ct val="0"/>
              </a:spcAft>
            </a:pPr>
            <a:endParaRPr lang="en-US" sz="2000" dirty="0">
              <a:solidFill>
                <a:srgbClr val="646464"/>
              </a:solidFill>
              <a:latin typeface="Arial" panose="020B0604020202020204" pitchFamily="34" charset="0"/>
            </a:endParaRPr>
          </a:p>
        </p:txBody>
      </p:sp>
      <p:sp>
        <p:nvSpPr>
          <p:cNvPr id="25" name="Rectangle 14"/>
          <p:cNvSpPr>
            <a:spLocks noChangeArrowheads="1"/>
          </p:cNvSpPr>
          <p:nvPr/>
        </p:nvSpPr>
        <p:spPr bwMode="gray">
          <a:xfrm>
            <a:off x="2532109" y="3072353"/>
            <a:ext cx="1991235"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72000" tIns="0" rIns="72000" bIns="0" anchor="ctr" anchorCtr="0"/>
          <a:lstStyle/>
          <a:p>
            <a:pPr algn="ct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12-month ECL*</a:t>
            </a:r>
            <a:endParaRPr lang="en-US" sz="1200" dirty="0">
              <a:solidFill>
                <a:schemeClr val="bg1"/>
              </a:solidFill>
              <a:latin typeface="EYInterstate Light" panose="02000506000000020004" pitchFamily="2" charset="0"/>
            </a:endParaRPr>
          </a:p>
        </p:txBody>
      </p:sp>
      <p:sp>
        <p:nvSpPr>
          <p:cNvPr id="26" name="Rectangle 14"/>
          <p:cNvSpPr>
            <a:spLocks noChangeArrowheads="1"/>
          </p:cNvSpPr>
          <p:nvPr/>
        </p:nvSpPr>
        <p:spPr bwMode="gray">
          <a:xfrm>
            <a:off x="2522401" y="5347628"/>
            <a:ext cx="6002954"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buClr>
                <a:srgbClr val="FFE600"/>
              </a:buClr>
              <a:buSzPct val="70000"/>
              <a:defRPr/>
            </a:pPr>
            <a:r>
              <a:rPr lang="en-US" sz="1200" dirty="0" smtClean="0">
                <a:solidFill>
                  <a:schemeClr val="bg1"/>
                </a:solidFill>
                <a:latin typeface="EYInterstate Light" panose="02000506000000020004" pitchFamily="2" charset="0"/>
              </a:rPr>
              <a:t>Either individual approach is applied or future cash flows are generated based on the portfolio recovery curve. Future cash flows are discounted by Credit Adjusted EIR</a:t>
            </a:r>
            <a:endParaRPr lang="en-US" sz="1200" dirty="0">
              <a:solidFill>
                <a:schemeClr val="bg1"/>
              </a:solidFill>
              <a:latin typeface="EYInterstate Light" panose="02000506000000020004" pitchFamily="2" charset="0"/>
            </a:endParaRPr>
          </a:p>
        </p:txBody>
      </p:sp>
      <p:sp>
        <p:nvSpPr>
          <p:cNvPr id="27" name="Rectangle 14"/>
          <p:cNvSpPr>
            <a:spLocks noChangeArrowheads="1"/>
          </p:cNvSpPr>
          <p:nvPr/>
        </p:nvSpPr>
        <p:spPr bwMode="gray">
          <a:xfrm>
            <a:off x="2522416" y="4211000"/>
            <a:ext cx="1997751"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72000" tIns="0" rIns="72000" bIns="0" anchor="ctr" anchorCtr="0"/>
          <a:lstStyle/>
          <a:p>
            <a:pPr algn="ctr">
              <a:lnSpc>
                <a:spcPct val="95000"/>
              </a:lnSpc>
              <a:buClr>
                <a:srgbClr val="FFE600"/>
              </a:buClr>
              <a:buSzPct val="70000"/>
              <a:defRPr/>
            </a:pPr>
            <a:r>
              <a:rPr lang="en-US" sz="1200" dirty="0" smtClean="0">
                <a:solidFill>
                  <a:schemeClr val="bg1"/>
                </a:solidFill>
                <a:latin typeface="EYInterstate Light" panose="02000506000000020004" pitchFamily="2" charset="0"/>
              </a:rPr>
              <a:t>12-month ECL regardless </a:t>
            </a:r>
          </a:p>
          <a:p>
            <a:pPr algn="ctr">
              <a:lnSpc>
                <a:spcPct val="95000"/>
              </a:lnSpc>
              <a:buClr>
                <a:srgbClr val="FFE600"/>
              </a:buClr>
              <a:buSzPct val="70000"/>
              <a:defRPr/>
            </a:pPr>
            <a:r>
              <a:rPr lang="en-US" sz="1200" dirty="0" smtClean="0">
                <a:solidFill>
                  <a:schemeClr val="bg1"/>
                </a:solidFill>
                <a:latin typeface="EYInterstate Light" panose="02000506000000020004" pitchFamily="2" charset="0"/>
              </a:rPr>
              <a:t>of contractual maturity</a:t>
            </a:r>
            <a:endParaRPr lang="en-US" sz="1200" dirty="0">
              <a:solidFill>
                <a:schemeClr val="bg1"/>
              </a:solidFill>
              <a:latin typeface="EYInterstate Light" panose="02000506000000020004" pitchFamily="2" charset="0"/>
            </a:endParaRPr>
          </a:p>
        </p:txBody>
      </p:sp>
      <p:sp>
        <p:nvSpPr>
          <p:cNvPr id="28" name="Rectangle 14"/>
          <p:cNvSpPr>
            <a:spLocks noChangeArrowheads="1"/>
          </p:cNvSpPr>
          <p:nvPr/>
        </p:nvSpPr>
        <p:spPr bwMode="gray">
          <a:xfrm>
            <a:off x="2521473" y="4779314"/>
            <a:ext cx="6002590"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ECL calculated based on Exposure and the Loss Rate</a:t>
            </a:r>
            <a:endParaRPr lang="en-US" sz="1200" dirty="0">
              <a:solidFill>
                <a:schemeClr val="bg1"/>
              </a:solidFill>
              <a:latin typeface="EYInterstate Light" panose="02000506000000020004" pitchFamily="2" charset="0"/>
            </a:endParaRPr>
          </a:p>
        </p:txBody>
      </p:sp>
      <p:sp>
        <p:nvSpPr>
          <p:cNvPr id="30" name="Rectangle 14"/>
          <p:cNvSpPr>
            <a:spLocks noChangeArrowheads="1"/>
          </p:cNvSpPr>
          <p:nvPr/>
        </p:nvSpPr>
        <p:spPr bwMode="gray">
          <a:xfrm>
            <a:off x="4528659" y="3071468"/>
            <a:ext cx="1991009"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72000" tIns="0" rIns="72000" bIns="0" anchor="ctr" anchorCtr="0"/>
          <a:lstStyle/>
          <a:p>
            <a:pPr algn="ct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Lifetime ECL based on EAD, PD and LGD</a:t>
            </a:r>
            <a:endParaRPr lang="en-US" sz="1200" dirty="0">
              <a:solidFill>
                <a:schemeClr val="bg1"/>
              </a:solidFill>
              <a:latin typeface="EYInterstate Light" panose="02000506000000020004" pitchFamily="2" charset="0"/>
            </a:endParaRPr>
          </a:p>
        </p:txBody>
      </p:sp>
      <p:sp>
        <p:nvSpPr>
          <p:cNvPr id="45" name="Rectangle 14"/>
          <p:cNvSpPr>
            <a:spLocks noChangeArrowheads="1"/>
          </p:cNvSpPr>
          <p:nvPr/>
        </p:nvSpPr>
        <p:spPr bwMode="gray">
          <a:xfrm>
            <a:off x="4519329" y="4210115"/>
            <a:ext cx="1998581"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72000" tIns="0" rIns="72000" bIns="0" anchor="ctr" anchorCtr="0"/>
          <a:lstStyle/>
          <a:p>
            <a:pPr algn="ctr">
              <a:lnSpc>
                <a:spcPct val="95000"/>
              </a:lnSpc>
              <a:spcAft>
                <a:spcPts val="800"/>
              </a:spcAft>
              <a:buClr>
                <a:srgbClr val="FFE600"/>
              </a:buClr>
              <a:buSzPct val="70000"/>
              <a:defRPr/>
            </a:pPr>
            <a:r>
              <a:rPr lang="en-US" sz="1200" dirty="0">
                <a:solidFill>
                  <a:schemeClr val="bg1"/>
                </a:solidFill>
                <a:latin typeface="EYInterstate Light" panose="02000506000000020004" pitchFamily="2" charset="0"/>
              </a:rPr>
              <a:t>Lifetime ECL based on EAD, PD and LGD</a:t>
            </a:r>
          </a:p>
        </p:txBody>
      </p:sp>
      <p:sp>
        <p:nvSpPr>
          <p:cNvPr id="46" name="Rectangle 45"/>
          <p:cNvSpPr/>
          <p:nvPr/>
        </p:nvSpPr>
        <p:spPr>
          <a:xfrm>
            <a:off x="3791488" y="1569662"/>
            <a:ext cx="1490456" cy="220183"/>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i="0" u="none" strike="noStrike" kern="0" cap="none" spc="0" normalizeH="0" baseline="0" dirty="0" smtClean="0">
                <a:ln>
                  <a:noFill/>
                </a:ln>
                <a:solidFill>
                  <a:schemeClr val="bg1"/>
                </a:solidFill>
                <a:effectLst/>
                <a:uLnTx/>
                <a:uFillTx/>
                <a:latin typeface="EYInterstate" panose="02000503020000020004" pitchFamily="2" charset="0"/>
              </a:rPr>
              <a:t>Significant increase in credit risk</a:t>
            </a:r>
          </a:p>
        </p:txBody>
      </p:sp>
      <p:sp>
        <p:nvSpPr>
          <p:cNvPr id="47" name="Rectangle 46"/>
          <p:cNvSpPr/>
          <p:nvPr/>
        </p:nvSpPr>
        <p:spPr>
          <a:xfrm>
            <a:off x="5923504" y="1574717"/>
            <a:ext cx="1207471" cy="219343"/>
          </a:xfrm>
          <a:prstGeom prst="rect">
            <a:avLst/>
          </a:prstGeom>
          <a:noFill/>
          <a:ln w="12700" cap="flat" cmpd="sng" algn="ctr">
            <a:noFill/>
            <a:prstDash val="solid"/>
          </a:ln>
          <a:effectLst/>
        </p:spPr>
        <p:txBody>
          <a:bodyPr lIns="33231" tIns="33231" rIns="33231" bIns="33231" rtlCol="0" anchor="ctr"/>
          <a:lstStyle/>
          <a:p>
            <a:pPr lvl="0" algn="ctr" fontAlgn="base">
              <a:spcBef>
                <a:spcPct val="0"/>
              </a:spcBef>
              <a:spcAft>
                <a:spcPct val="0"/>
              </a:spcAft>
              <a:defRPr/>
            </a:pPr>
            <a:r>
              <a:rPr kumimoji="0" lang="en-US" sz="1100" i="0" u="none" strike="noStrike" kern="0" cap="none" spc="0" normalizeH="0" baseline="0" dirty="0" smtClean="0">
                <a:ln>
                  <a:noFill/>
                </a:ln>
                <a:solidFill>
                  <a:schemeClr val="bg1"/>
                </a:solidFill>
                <a:effectLst/>
                <a:uLnTx/>
                <a:uFillTx/>
                <a:latin typeface="EYInterstate" panose="02000503020000020004" pitchFamily="2" charset="0"/>
              </a:rPr>
              <a:t>Impairment</a:t>
            </a:r>
          </a:p>
        </p:txBody>
      </p:sp>
      <p:sp>
        <p:nvSpPr>
          <p:cNvPr id="48" name="Content Placeholder 2"/>
          <p:cNvSpPr txBox="1">
            <a:spLocks/>
          </p:cNvSpPr>
          <p:nvPr/>
        </p:nvSpPr>
        <p:spPr>
          <a:xfrm>
            <a:off x="457200" y="1026000"/>
            <a:ext cx="8229600" cy="1849190"/>
          </a:xfrm>
          <a:prstGeom prst="rect">
            <a:avLst/>
          </a:prstGeom>
        </p:spPr>
        <p:txBody>
          <a:bodyPr lIns="0" tIns="0"/>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200" dirty="0" smtClean="0">
                <a:latin typeface="EYInterstate Light" panose="02000506000000020004" pitchFamily="2" charset="0"/>
              </a:rPr>
              <a:t>Applied method for Expected credit loss (ECL) calculation depends on the assessment method and IFRS 9 stage. Additionally exceptions are defined for special classes of assets.</a:t>
            </a:r>
          </a:p>
        </p:txBody>
      </p:sp>
      <p:sp>
        <p:nvSpPr>
          <p:cNvPr id="49" name="Rectangle 14"/>
          <p:cNvSpPr>
            <a:spLocks noChangeArrowheads="1"/>
          </p:cNvSpPr>
          <p:nvPr/>
        </p:nvSpPr>
        <p:spPr bwMode="gray">
          <a:xfrm>
            <a:off x="6519668" y="3072993"/>
            <a:ext cx="2005687"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72000" tIns="0" rIns="72000" bIns="0" anchor="ctr" anchorCtr="0"/>
          <a:lstStyle/>
          <a:p>
            <a:pPr algn="ct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Lifetime ECL based on Exposure and LGD</a:t>
            </a:r>
            <a:endParaRPr lang="en-US" sz="1200" dirty="0">
              <a:solidFill>
                <a:schemeClr val="bg1"/>
              </a:solidFill>
              <a:latin typeface="EYInterstate Light" panose="02000506000000020004" pitchFamily="2" charset="0"/>
            </a:endParaRPr>
          </a:p>
        </p:txBody>
      </p:sp>
      <p:sp>
        <p:nvSpPr>
          <p:cNvPr id="50" name="Rectangle 14"/>
          <p:cNvSpPr>
            <a:spLocks noChangeArrowheads="1"/>
          </p:cNvSpPr>
          <p:nvPr/>
        </p:nvSpPr>
        <p:spPr bwMode="gray">
          <a:xfrm>
            <a:off x="6516152" y="4210994"/>
            <a:ext cx="2008766" cy="568314"/>
          </a:xfrm>
          <a:prstGeom prst="rect">
            <a:avLst/>
          </a:prstGeom>
          <a:no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72000" tIns="0" rIns="72000" bIns="0" anchor="ctr" anchorCtr="0"/>
          <a:lstStyle/>
          <a:p>
            <a:pPr algn="ctr">
              <a:lnSpc>
                <a:spcPct val="95000"/>
              </a:lnSpc>
              <a:buClr>
                <a:srgbClr val="FFE600"/>
              </a:buClr>
              <a:buSzPct val="70000"/>
              <a:defRPr/>
            </a:pPr>
            <a:r>
              <a:rPr lang="en-US" sz="1200" dirty="0">
                <a:solidFill>
                  <a:schemeClr val="bg1"/>
                </a:solidFill>
                <a:latin typeface="EYInterstate Light" panose="02000506000000020004" pitchFamily="2" charset="0"/>
              </a:rPr>
              <a:t>Lifetime ECL based </a:t>
            </a:r>
            <a:r>
              <a:rPr lang="en-US" sz="1200" dirty="0" smtClean="0">
                <a:solidFill>
                  <a:schemeClr val="bg1"/>
                </a:solidFill>
                <a:latin typeface="EYInterstate Light" panose="02000506000000020004" pitchFamily="2" charset="0"/>
              </a:rPr>
              <a:t>on </a:t>
            </a:r>
            <a:r>
              <a:rPr lang="en-US" sz="1200" dirty="0">
                <a:solidFill>
                  <a:schemeClr val="bg1"/>
                </a:solidFill>
                <a:latin typeface="EYInterstate Light" panose="02000506000000020004" pitchFamily="2" charset="0"/>
              </a:rPr>
              <a:t>Exposure and LGD</a:t>
            </a:r>
          </a:p>
        </p:txBody>
      </p:sp>
      <p:sp>
        <p:nvSpPr>
          <p:cNvPr id="51" name="Ellipse 26"/>
          <p:cNvSpPr/>
          <p:nvPr/>
        </p:nvSpPr>
        <p:spPr bwMode="gray">
          <a:xfrm>
            <a:off x="5801485" y="1988210"/>
            <a:ext cx="442630" cy="442631"/>
          </a:xfrm>
          <a:prstGeom prst="ellipse">
            <a:avLst/>
          </a:prstGeom>
          <a:solidFill>
            <a:srgbClr val="C0C0C0"/>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52" name="Ellipse 20"/>
          <p:cNvSpPr/>
          <p:nvPr/>
        </p:nvSpPr>
        <p:spPr bwMode="gray">
          <a:xfrm>
            <a:off x="5845326" y="2037131"/>
            <a:ext cx="354948" cy="354949"/>
          </a:xfrm>
          <a:prstGeom prst="ellipse">
            <a:avLst/>
          </a:prstGeom>
          <a:solidFill>
            <a:srgbClr val="FFFFFF"/>
          </a:solidFill>
          <a:ln>
            <a:no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en-US" sz="2800" b="1" dirty="0" smtClean="0">
                <a:solidFill>
                  <a:srgbClr val="808080"/>
                </a:solidFill>
                <a:latin typeface="Arial" panose="020B0604020202020204" pitchFamily="34" charset="0"/>
              </a:rPr>
              <a:t>2</a:t>
            </a:r>
            <a:endParaRPr lang="en-US" sz="2800" b="1" dirty="0">
              <a:solidFill>
                <a:srgbClr val="808080"/>
              </a:solidFill>
              <a:latin typeface="Arial" panose="020B0604020202020204" pitchFamily="34" charset="0"/>
            </a:endParaRPr>
          </a:p>
        </p:txBody>
      </p:sp>
      <p:sp>
        <p:nvSpPr>
          <p:cNvPr id="53" name="Ellipse 26"/>
          <p:cNvSpPr/>
          <p:nvPr/>
        </p:nvSpPr>
        <p:spPr bwMode="gray">
          <a:xfrm>
            <a:off x="7851609" y="1990292"/>
            <a:ext cx="442630" cy="442631"/>
          </a:xfrm>
          <a:prstGeom prst="ellipse">
            <a:avLst/>
          </a:prstGeom>
          <a:solidFill>
            <a:srgbClr val="C0C0C0"/>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54" name="Ellipse 20"/>
          <p:cNvSpPr/>
          <p:nvPr/>
        </p:nvSpPr>
        <p:spPr bwMode="gray">
          <a:xfrm>
            <a:off x="7895450" y="2039213"/>
            <a:ext cx="354948" cy="354949"/>
          </a:xfrm>
          <a:prstGeom prst="ellipse">
            <a:avLst/>
          </a:prstGeom>
          <a:solidFill>
            <a:srgbClr val="FFFFFF"/>
          </a:solidFill>
          <a:ln>
            <a:no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en-US" sz="2800" b="1" dirty="0" smtClean="0">
                <a:solidFill>
                  <a:srgbClr val="808080"/>
                </a:solidFill>
                <a:latin typeface="Arial" panose="020B0604020202020204" pitchFamily="34" charset="0"/>
              </a:rPr>
              <a:t>3</a:t>
            </a:r>
            <a:endParaRPr lang="en-US" sz="2800" b="1" dirty="0">
              <a:solidFill>
                <a:srgbClr val="808080"/>
              </a:solidFill>
              <a:latin typeface="Arial" panose="020B0604020202020204" pitchFamily="34" charset="0"/>
            </a:endParaRPr>
          </a:p>
        </p:txBody>
      </p:sp>
      <p:sp>
        <p:nvSpPr>
          <p:cNvPr id="32" name="Abgerundetes Rechteck 24"/>
          <p:cNvSpPr/>
          <p:nvPr/>
        </p:nvSpPr>
        <p:spPr bwMode="gray">
          <a:xfrm>
            <a:off x="665824" y="5918350"/>
            <a:ext cx="7859531" cy="376340"/>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smtClean="0">
                <a:solidFill>
                  <a:schemeClr val="bg1"/>
                </a:solidFill>
                <a:latin typeface="EYInterstate Light" panose="02000506000000020004" pitchFamily="2" charset="0"/>
              </a:rPr>
              <a:t>*For assets with contractual maturity bellow 12 months, contractual maturity ECL can be used.</a:t>
            </a:r>
          </a:p>
        </p:txBody>
      </p:sp>
      <p:sp>
        <p:nvSpPr>
          <p:cNvPr id="33" name="Rectangle 14"/>
          <p:cNvSpPr>
            <a:spLocks noChangeArrowheads="1"/>
          </p:cNvSpPr>
          <p:nvPr/>
        </p:nvSpPr>
        <p:spPr bwMode="gray">
          <a:xfrm>
            <a:off x="2523964" y="3634454"/>
            <a:ext cx="6002954" cy="568314"/>
          </a:xfrm>
          <a:prstGeom prst="rect">
            <a:avLst/>
          </a:prstGeom>
          <a:solidFill>
            <a:srgbClr val="C0C0C0"/>
          </a:solidFill>
          <a:ln>
            <a:solidFill>
              <a:srgbClr val="C0C0C0"/>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algn="ctr">
              <a:lnSpc>
                <a:spcPct val="95000"/>
              </a:lnSpc>
              <a:buClr>
                <a:srgbClr val="FFE600"/>
              </a:buClr>
              <a:buSzPct val="70000"/>
              <a:defRPr/>
            </a:pPr>
            <a:endParaRPr lang="en-US" sz="1200" dirty="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5396658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4566979" y="4558277"/>
            <a:ext cx="1292545" cy="577791"/>
          </a:xfrm>
          <a:prstGeom prst="rect">
            <a:avLst/>
          </a:prstGeom>
          <a:solidFill>
            <a:srgbClr val="FFFFFF"/>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900" kern="0" dirty="0">
                <a:solidFill>
                  <a:schemeClr val="bg1"/>
                </a:solidFill>
                <a:latin typeface="EYInterstate Light" panose="02000506000000020004" pitchFamily="2" charset="0"/>
              </a:rPr>
              <a:t>Manual selection (subjective decision of authorized person)</a:t>
            </a:r>
          </a:p>
        </p:txBody>
      </p:sp>
      <p:sp>
        <p:nvSpPr>
          <p:cNvPr id="38" name="AutoShape 29"/>
          <p:cNvSpPr>
            <a:spLocks noChangeArrowheads="1"/>
          </p:cNvSpPr>
          <p:nvPr/>
        </p:nvSpPr>
        <p:spPr bwMode="auto">
          <a:xfrm>
            <a:off x="5838917" y="4765934"/>
            <a:ext cx="1463198" cy="906938"/>
          </a:xfrm>
          <a:prstGeom prst="flowChartProcess">
            <a:avLst/>
          </a:prstGeom>
          <a:solidFill>
            <a:srgbClr val="FFD200"/>
          </a:solidFill>
          <a:ln w="9525">
            <a:solidFill>
              <a:schemeClr val="bg1"/>
            </a:solid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cxnSp>
        <p:nvCxnSpPr>
          <p:cNvPr id="39" name="Straight Connector 38"/>
          <p:cNvCxnSpPr/>
          <p:nvPr/>
        </p:nvCxnSpPr>
        <p:spPr bwMode="auto">
          <a:xfrm>
            <a:off x="5841627" y="5040725"/>
            <a:ext cx="1460488" cy="0"/>
          </a:xfrm>
          <a:prstGeom prst="line">
            <a:avLst/>
          </a:prstGeom>
          <a:solidFill>
            <a:srgbClr val="7F7E82"/>
          </a:solidFill>
          <a:ln w="12700" cap="flat" cmpd="sng" algn="ctr">
            <a:solidFill>
              <a:srgbClr val="7F7E82"/>
            </a:solidFill>
            <a:prstDash val="sysDot"/>
            <a:round/>
            <a:headEnd type="none" w="med" len="med"/>
            <a:tailEnd type="none" w="med" len="med"/>
          </a:ln>
          <a:effectLst/>
        </p:spPr>
      </p:cxnSp>
      <p:cxnSp>
        <p:nvCxnSpPr>
          <p:cNvPr id="40" name="Straight Connector 39"/>
          <p:cNvCxnSpPr/>
          <p:nvPr/>
        </p:nvCxnSpPr>
        <p:spPr bwMode="auto">
          <a:xfrm>
            <a:off x="5840006" y="5356651"/>
            <a:ext cx="1460488" cy="0"/>
          </a:xfrm>
          <a:prstGeom prst="line">
            <a:avLst/>
          </a:prstGeom>
          <a:solidFill>
            <a:srgbClr val="7F7E82"/>
          </a:solidFill>
          <a:ln w="12700" cap="flat" cmpd="sng" algn="ctr">
            <a:solidFill>
              <a:srgbClr val="7F7E82"/>
            </a:solidFill>
            <a:prstDash val="sysDot"/>
            <a:round/>
            <a:headEnd type="none" w="med" len="med"/>
            <a:tailEnd type="none" w="med" len="med"/>
          </a:ln>
          <a:effectLst/>
        </p:spPr>
      </p:cxnSp>
      <p:sp>
        <p:nvSpPr>
          <p:cNvPr id="41" name="Text Box 27"/>
          <p:cNvSpPr txBox="1">
            <a:spLocks noChangeArrowheads="1"/>
          </p:cNvSpPr>
          <p:nvPr/>
        </p:nvSpPr>
        <p:spPr bwMode="auto">
          <a:xfrm>
            <a:off x="5755996" y="5014233"/>
            <a:ext cx="945949" cy="261714"/>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900" b="1" kern="0" dirty="0">
                <a:solidFill>
                  <a:schemeClr val="bg1"/>
                </a:solidFill>
                <a:latin typeface="EYInterstate Light" panose="02000506000000020004" pitchFamily="2" charset="0"/>
              </a:rPr>
              <a:t>Collective assessment</a:t>
            </a:r>
            <a:endParaRPr lang="en-US" sz="900" kern="0" dirty="0">
              <a:solidFill>
                <a:schemeClr val="bg1"/>
              </a:solidFill>
              <a:latin typeface="EYInterstate Light" pitchFamily="2" charset="0"/>
            </a:endParaRPr>
          </a:p>
        </p:txBody>
      </p:sp>
      <p:sp>
        <p:nvSpPr>
          <p:cNvPr id="2" name="Title 1"/>
          <p:cNvSpPr>
            <a:spLocks noGrp="1"/>
          </p:cNvSpPr>
          <p:nvPr>
            <p:ph type="title"/>
          </p:nvPr>
        </p:nvSpPr>
        <p:spPr/>
        <p:txBody>
          <a:bodyPr/>
          <a:lstStyle/>
          <a:p>
            <a:r>
              <a:rPr lang="en-GB" dirty="0" smtClean="0">
                <a:latin typeface="EYInterstate" panose="02000503020000020004" pitchFamily="2" charset="0"/>
              </a:rPr>
              <a:t>Segmentation</a:t>
            </a:r>
            <a:endParaRPr lang="en-GB"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32" name="Content Placeholder 2"/>
          <p:cNvSpPr txBox="1">
            <a:spLocks/>
          </p:cNvSpPr>
          <p:nvPr/>
        </p:nvSpPr>
        <p:spPr>
          <a:xfrm>
            <a:off x="457200" y="1026000"/>
            <a:ext cx="8229600" cy="1849190"/>
          </a:xfrm>
          <a:prstGeom prst="rect">
            <a:avLst/>
          </a:prstGeom>
        </p:spPr>
        <p:txBody>
          <a:bodyPr lIns="0" tIns="0"/>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200" dirty="0" smtClean="0">
                <a:latin typeface="EYInterstate Light" panose="02000506000000020004" pitchFamily="2" charset="0"/>
              </a:rPr>
              <a:t>The segmentation process under IFRS 9 aims to classify the financial instruments based on:</a:t>
            </a:r>
          </a:p>
          <a:p>
            <a:r>
              <a:rPr lang="en-US" sz="1200" b="1" dirty="0" smtClean="0">
                <a:latin typeface="EYInterstate Light" panose="02000506000000020004" pitchFamily="2" charset="0"/>
              </a:rPr>
              <a:t>Portfolio</a:t>
            </a:r>
            <a:r>
              <a:rPr lang="en-US" sz="1200" dirty="0" smtClean="0">
                <a:latin typeface="EYInterstate Light" panose="02000506000000020004" pitchFamily="2" charset="0"/>
              </a:rPr>
              <a:t> – with respect to business line, product type, currency, term to maturity</a:t>
            </a:r>
          </a:p>
          <a:p>
            <a:r>
              <a:rPr lang="en-US" sz="1200" b="1" dirty="0">
                <a:latin typeface="EYInterstate Light" panose="02000506000000020004" pitchFamily="2" charset="0"/>
              </a:rPr>
              <a:t>Stage</a:t>
            </a:r>
            <a:r>
              <a:rPr lang="en-US" sz="1200" dirty="0">
                <a:latin typeface="EYInterstate Light" panose="02000506000000020004" pitchFamily="2" charset="0"/>
              </a:rPr>
              <a:t> – Type of ECL measurement base (12-month or lifetime) and way of interest revenue </a:t>
            </a:r>
            <a:r>
              <a:rPr lang="en-US" sz="1200" dirty="0" smtClean="0">
                <a:latin typeface="EYInterstate Light" panose="02000506000000020004" pitchFamily="2" charset="0"/>
              </a:rPr>
              <a:t>recognition</a:t>
            </a:r>
          </a:p>
          <a:p>
            <a:r>
              <a:rPr lang="en-US" sz="1200" b="1" dirty="0">
                <a:latin typeface="EYInterstate Light" panose="02000506000000020004" pitchFamily="2" charset="0"/>
              </a:rPr>
              <a:t>Assessment method </a:t>
            </a:r>
            <a:r>
              <a:rPr lang="en-US" sz="1200" dirty="0">
                <a:latin typeface="EYInterstate Light" panose="02000506000000020004" pitchFamily="2" charset="0"/>
              </a:rPr>
              <a:t>– Assessment on individual or collective </a:t>
            </a:r>
            <a:r>
              <a:rPr lang="en-US" sz="1200" dirty="0" smtClean="0">
                <a:latin typeface="EYInterstate Light" panose="02000506000000020004" pitchFamily="2" charset="0"/>
              </a:rPr>
              <a:t>basis, with exception</a:t>
            </a:r>
            <a:r>
              <a:rPr lang="cs-CZ" sz="1200" dirty="0" smtClean="0">
                <a:latin typeface="EYInterstate Light" panose="02000506000000020004" pitchFamily="2" charset="0"/>
              </a:rPr>
              <a:t>s</a:t>
            </a:r>
            <a:r>
              <a:rPr lang="en-US" sz="1200" dirty="0" smtClean="0">
                <a:latin typeface="EYInterstate Light" panose="02000506000000020004" pitchFamily="2" charset="0"/>
              </a:rPr>
              <a:t> for Purchased or Originated Credit Impaired (POCI) assets, Renewable Credit Facilities and Loss Rate approach</a:t>
            </a:r>
            <a:endParaRPr lang="en-US" sz="1200" dirty="0">
              <a:latin typeface="EYInterstate Light" panose="02000506000000020004" pitchFamily="2" charset="0"/>
            </a:endParaRPr>
          </a:p>
          <a:p>
            <a:pPr marL="0" indent="0" algn="just">
              <a:buNone/>
            </a:pPr>
            <a:endParaRPr lang="en-US" sz="1200" dirty="0" smtClean="0">
              <a:latin typeface="EYInterstate Light" panose="02000506000000020004" pitchFamily="2" charset="0"/>
            </a:endParaRPr>
          </a:p>
        </p:txBody>
      </p:sp>
      <p:sp>
        <p:nvSpPr>
          <p:cNvPr id="7" name="Abgerundetes Rechteck 24"/>
          <p:cNvSpPr/>
          <p:nvPr/>
        </p:nvSpPr>
        <p:spPr bwMode="gray">
          <a:xfrm>
            <a:off x="447784" y="2280098"/>
            <a:ext cx="8233996" cy="2007402"/>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Assessment method (Individual / Collective)</a:t>
            </a:r>
          </a:p>
          <a:p>
            <a:pPr algn="just" defTabSz="912524">
              <a:buClr>
                <a:srgbClr val="FFD200"/>
              </a:buClr>
              <a:buSzPct val="70000"/>
            </a:pPr>
            <a:r>
              <a:rPr lang="en-US" sz="1200" dirty="0" smtClean="0">
                <a:solidFill>
                  <a:schemeClr val="bg1"/>
                </a:solidFill>
                <a:latin typeface="EYInterstate Light" panose="02000506000000020004" pitchFamily="2" charset="0"/>
              </a:rPr>
              <a:t>Categorization of assets into product portfolios is provided by the Institution. Staging is either provided by the Institution or is based on rules defined via user interface. Automated choice of the assessment method can be configured in LIC Solution® through user interface based on:</a:t>
            </a:r>
          </a:p>
          <a:p>
            <a:pPr algn="just" defTabSz="912524">
              <a:buClr>
                <a:srgbClr val="FFD200"/>
              </a:buClr>
              <a:buSzPct val="70000"/>
            </a:pPr>
            <a:endParaRPr lang="en-US" sz="1200" dirty="0" smtClean="0">
              <a:solidFill>
                <a:schemeClr val="bg1"/>
              </a:solidFill>
              <a:latin typeface="EYInterstate Light" panose="02000506000000020004" pitchFamily="2" charset="0"/>
            </a:endParaRPr>
          </a:p>
          <a:p>
            <a:pPr algn="just" defTabSz="912524">
              <a:buClr>
                <a:srgbClr val="FFD200"/>
              </a:buClr>
              <a:buSzPct val="70000"/>
            </a:pPr>
            <a:endParaRPr lang="en-US" sz="1200" dirty="0" smtClean="0">
              <a:solidFill>
                <a:schemeClr val="bg1"/>
              </a:solidFill>
              <a:latin typeface="EYInterstate Light" panose="02000506000000020004" pitchFamily="2" charset="0"/>
            </a:endParaRPr>
          </a:p>
          <a:p>
            <a:pPr algn="just" defTabSz="912524">
              <a:buClr>
                <a:srgbClr val="FFD200"/>
              </a:buClr>
              <a:buSzPct val="70000"/>
            </a:pPr>
            <a:endParaRPr lang="en-US" sz="1200" dirty="0" smtClean="0">
              <a:solidFill>
                <a:schemeClr val="bg1"/>
              </a:solidFill>
              <a:latin typeface="EYInterstate Light" panose="02000506000000020004" pitchFamily="2" charset="0"/>
            </a:endParaRPr>
          </a:p>
          <a:p>
            <a:pPr algn="just" defTabSz="912524">
              <a:buClr>
                <a:srgbClr val="FFD200"/>
              </a:buClr>
              <a:buSzPct val="70000"/>
            </a:pPr>
            <a:r>
              <a:rPr lang="en-US" sz="1200" dirty="0" smtClean="0">
                <a:solidFill>
                  <a:schemeClr val="bg1"/>
                </a:solidFill>
                <a:latin typeface="EYInterstate Light" panose="02000506000000020004" pitchFamily="2" charset="0"/>
              </a:rPr>
              <a:t>Manual adjustment of the list of individually assessed clients (adding and removing clients) is possible after automatic selection.</a:t>
            </a:r>
          </a:p>
        </p:txBody>
      </p:sp>
      <p:sp>
        <p:nvSpPr>
          <p:cNvPr id="8" name="Text Box 8"/>
          <p:cNvSpPr txBox="1">
            <a:spLocks noChangeArrowheads="1"/>
          </p:cNvSpPr>
          <p:nvPr/>
        </p:nvSpPr>
        <p:spPr bwMode="auto">
          <a:xfrm>
            <a:off x="1931972" y="4555792"/>
            <a:ext cx="1226203" cy="1106137"/>
          </a:xfrm>
          <a:prstGeom prst="rect">
            <a:avLst/>
          </a:prstGeom>
          <a:solidFill>
            <a:srgbClr val="FFFFFF"/>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391"/>
              </a:spcAft>
              <a:defRPr/>
            </a:pPr>
            <a:r>
              <a:rPr lang="en-US" sz="900" kern="0" dirty="0">
                <a:solidFill>
                  <a:schemeClr val="bg1"/>
                </a:solidFill>
                <a:latin typeface="EYInterstate Light" panose="02000506000000020004" pitchFamily="2" charset="0"/>
              </a:rPr>
              <a:t>Automatic  selection for individual assessment</a:t>
            </a:r>
          </a:p>
          <a:p>
            <a:pPr algn="ctr" defTabSz="893097" fontAlgn="base">
              <a:spcBef>
                <a:spcPct val="0"/>
              </a:spcBef>
              <a:spcAft>
                <a:spcPts val="391"/>
              </a:spcAft>
              <a:defRPr/>
            </a:pPr>
            <a:endParaRPr lang="en-US" sz="769" kern="0" dirty="0">
              <a:solidFill>
                <a:schemeClr val="bg1"/>
              </a:solidFill>
              <a:latin typeface="EYInterstate Light" pitchFamily="2" charset="0"/>
            </a:endParaRPr>
          </a:p>
        </p:txBody>
      </p:sp>
      <p:sp>
        <p:nvSpPr>
          <p:cNvPr id="10" name="AutoShape 7"/>
          <p:cNvSpPr>
            <a:spLocks noChangeArrowheads="1"/>
          </p:cNvSpPr>
          <p:nvPr/>
        </p:nvSpPr>
        <p:spPr bwMode="auto">
          <a:xfrm>
            <a:off x="4828834" y="5157687"/>
            <a:ext cx="811874" cy="161872"/>
          </a:xfrm>
          <a:prstGeom prst="rightArrow">
            <a:avLst>
              <a:gd name="adj1" fmla="val 50000"/>
              <a:gd name="adj2" fmla="val 122917"/>
            </a:avLst>
          </a:prstGeom>
          <a:solidFill>
            <a:srgbClr val="CCCCCC"/>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sp>
        <p:nvSpPr>
          <p:cNvPr id="12" name="Text Box 12"/>
          <p:cNvSpPr txBox="1">
            <a:spLocks noChangeArrowheads="1"/>
          </p:cNvSpPr>
          <p:nvPr/>
        </p:nvSpPr>
        <p:spPr bwMode="auto">
          <a:xfrm>
            <a:off x="5841627" y="4611888"/>
            <a:ext cx="1460488" cy="161702"/>
          </a:xfrm>
          <a:prstGeom prst="rect">
            <a:avLst/>
          </a:prstGeom>
          <a:solidFill>
            <a:srgbClr val="FFFFFF"/>
          </a:solidFill>
          <a:ln w="9525">
            <a:solidFill>
              <a:schemeClr val="bg1"/>
            </a:solidFill>
            <a:miter lim="800000"/>
            <a:headEnd/>
            <a:tailEnd/>
          </a:ln>
        </p:spPr>
        <p:txBody>
          <a:bodyPr vert="horz" wrap="square" lIns="78156" tIns="39078" rIns="78156" bIns="39078" numCol="1" anchor="ctr" anchorCtr="0" compatLnSpc="1">
            <a:prstTxWarp prst="textNoShape">
              <a:avLst/>
            </a:prstTxWarp>
          </a:bodyPr>
          <a:lstStyle/>
          <a:p>
            <a:pPr algn="ctr" defTabSz="893097" fontAlgn="base">
              <a:spcBef>
                <a:spcPct val="0"/>
              </a:spcBef>
              <a:spcAft>
                <a:spcPts val="977"/>
              </a:spcAft>
              <a:defRPr/>
            </a:pPr>
            <a:r>
              <a:rPr lang="en-US" sz="1111" kern="0" dirty="0">
                <a:solidFill>
                  <a:schemeClr val="bg1"/>
                </a:solidFill>
                <a:latin typeface="EYInterstate" panose="02000503020000020004" pitchFamily="2" charset="0"/>
              </a:rPr>
              <a:t>ALL LOANS</a:t>
            </a:r>
          </a:p>
        </p:txBody>
      </p:sp>
      <p:sp>
        <p:nvSpPr>
          <p:cNvPr id="13" name="Rectangle 13"/>
          <p:cNvSpPr>
            <a:spLocks noChangeArrowheads="1"/>
          </p:cNvSpPr>
          <p:nvPr/>
        </p:nvSpPr>
        <p:spPr bwMode="auto">
          <a:xfrm>
            <a:off x="6632907" y="4776412"/>
            <a:ext cx="290524" cy="896460"/>
          </a:xfrm>
          <a:prstGeom prst="rect">
            <a:avLst/>
          </a:prstGeom>
          <a:solidFill>
            <a:srgbClr val="CCCCCC"/>
          </a:solidFill>
          <a:ln w="6350">
            <a:solidFill>
              <a:schemeClr val="bg1"/>
            </a:solid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sp>
        <p:nvSpPr>
          <p:cNvPr id="14" name="Rectangle 14"/>
          <p:cNvSpPr>
            <a:spLocks noChangeArrowheads="1"/>
          </p:cNvSpPr>
          <p:nvPr/>
        </p:nvSpPr>
        <p:spPr bwMode="auto">
          <a:xfrm>
            <a:off x="6923432" y="4776412"/>
            <a:ext cx="378684" cy="896460"/>
          </a:xfrm>
          <a:prstGeom prst="rect">
            <a:avLst/>
          </a:prstGeom>
          <a:solidFill>
            <a:srgbClr val="A6A6A6"/>
          </a:solidFill>
          <a:ln w="6350">
            <a:solidFill>
              <a:schemeClr val="bg1"/>
            </a:solid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sp>
        <p:nvSpPr>
          <p:cNvPr id="17" name="Text Box 15"/>
          <p:cNvSpPr txBox="1">
            <a:spLocks noChangeArrowheads="1"/>
          </p:cNvSpPr>
          <p:nvPr/>
        </p:nvSpPr>
        <p:spPr bwMode="auto">
          <a:xfrm>
            <a:off x="7360716" y="4398061"/>
            <a:ext cx="1330481" cy="555388"/>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900" kern="0" dirty="0">
                <a:solidFill>
                  <a:schemeClr val="bg1"/>
                </a:solidFill>
                <a:latin typeface="EYInterstate Light" panose="02000506000000020004" pitchFamily="2" charset="0"/>
              </a:rPr>
              <a:t>Individual assessment </a:t>
            </a:r>
            <a:r>
              <a:rPr lang="en-US" sz="900" i="1" kern="0" dirty="0">
                <a:solidFill>
                  <a:schemeClr val="bg1"/>
                </a:solidFill>
                <a:latin typeface="EYInterstate Light" pitchFamily="2" charset="0"/>
              </a:rPr>
              <a:t>(selected automatically)</a:t>
            </a:r>
            <a:endParaRPr lang="en-US" sz="900" kern="0" dirty="0">
              <a:solidFill>
                <a:schemeClr val="bg1"/>
              </a:solidFill>
              <a:latin typeface="EYInterstate Light" pitchFamily="2" charset="0"/>
            </a:endParaRPr>
          </a:p>
        </p:txBody>
      </p:sp>
      <p:cxnSp>
        <p:nvCxnSpPr>
          <p:cNvPr id="18" name="AutoShape 16"/>
          <p:cNvCxnSpPr>
            <a:cxnSpLocks noChangeShapeType="1"/>
            <a:stCxn id="17" idx="2"/>
          </p:cNvCxnSpPr>
          <p:nvPr/>
        </p:nvCxnSpPr>
        <p:spPr bwMode="auto">
          <a:xfrm rot="5400000">
            <a:off x="7527089" y="4541885"/>
            <a:ext cx="87305" cy="910433"/>
          </a:xfrm>
          <a:prstGeom prst="bentConnector2">
            <a:avLst/>
          </a:prstGeom>
          <a:noFill/>
          <a:ln w="19050" cap="rnd">
            <a:solidFill>
              <a:schemeClr val="bg1"/>
            </a:solidFill>
            <a:prstDash val="sysDot"/>
            <a:miter lim="800000"/>
            <a:headEnd/>
            <a:tailEnd type="arrow" w="med" len="med"/>
          </a:ln>
        </p:spPr>
      </p:cxnSp>
      <p:sp>
        <p:nvSpPr>
          <p:cNvPr id="19" name="Text Box 17"/>
          <p:cNvSpPr txBox="1">
            <a:spLocks noChangeArrowheads="1"/>
          </p:cNvSpPr>
          <p:nvPr/>
        </p:nvSpPr>
        <p:spPr bwMode="auto">
          <a:xfrm>
            <a:off x="7340537" y="5264406"/>
            <a:ext cx="1244402" cy="456984"/>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900" kern="0" dirty="0">
                <a:solidFill>
                  <a:schemeClr val="bg1"/>
                </a:solidFill>
                <a:latin typeface="EYInterstate Light" panose="02000506000000020004" pitchFamily="2" charset="0"/>
              </a:rPr>
              <a:t>Individual assessment </a:t>
            </a:r>
            <a:r>
              <a:rPr lang="en-US" sz="900" i="1" kern="0" dirty="0">
                <a:solidFill>
                  <a:schemeClr val="bg1"/>
                </a:solidFill>
                <a:latin typeface="EYInterstate Light" pitchFamily="2" charset="0"/>
              </a:rPr>
              <a:t>(selected manually)</a:t>
            </a:r>
            <a:endParaRPr lang="en-US" sz="900" kern="0" dirty="0">
              <a:solidFill>
                <a:schemeClr val="bg1"/>
              </a:solidFill>
              <a:latin typeface="EYInterstate Light" pitchFamily="2" charset="0"/>
            </a:endParaRPr>
          </a:p>
        </p:txBody>
      </p:sp>
      <p:cxnSp>
        <p:nvCxnSpPr>
          <p:cNvPr id="20" name="AutoShape 18"/>
          <p:cNvCxnSpPr>
            <a:cxnSpLocks noChangeShapeType="1"/>
            <a:stCxn id="19" idx="0"/>
          </p:cNvCxnSpPr>
          <p:nvPr/>
        </p:nvCxnSpPr>
        <p:spPr bwMode="auto">
          <a:xfrm rot="16200000" flipV="1">
            <a:off x="7333903" y="4635570"/>
            <a:ext cx="51565" cy="1206107"/>
          </a:xfrm>
          <a:prstGeom prst="bentConnector2">
            <a:avLst/>
          </a:prstGeom>
          <a:noFill/>
          <a:ln w="19050" cap="rnd">
            <a:solidFill>
              <a:schemeClr val="bg1"/>
            </a:solidFill>
            <a:prstDash val="sysDot"/>
            <a:miter lim="800000"/>
            <a:headEnd/>
            <a:tailEnd type="arrow" w="med" len="med"/>
          </a:ln>
        </p:spPr>
      </p:cxnSp>
      <p:sp>
        <p:nvSpPr>
          <p:cNvPr id="21" name="Text Box 22"/>
          <p:cNvSpPr txBox="1">
            <a:spLocks noChangeArrowheads="1"/>
          </p:cNvSpPr>
          <p:nvPr/>
        </p:nvSpPr>
        <p:spPr bwMode="auto">
          <a:xfrm>
            <a:off x="458821" y="4607055"/>
            <a:ext cx="1460488" cy="161701"/>
          </a:xfrm>
          <a:prstGeom prst="rect">
            <a:avLst/>
          </a:prstGeom>
          <a:solidFill>
            <a:srgbClr val="FFFFFF"/>
          </a:solidFill>
          <a:ln w="9525">
            <a:solidFill>
              <a:schemeClr val="bg1"/>
            </a:solidFill>
            <a:miter lim="800000"/>
            <a:headEnd/>
            <a:tailEnd/>
          </a:ln>
        </p:spPr>
        <p:txBody>
          <a:bodyPr vert="horz" wrap="square" lIns="78156" tIns="39078" rIns="78156" bIns="39078" numCol="1" anchor="ctr" anchorCtr="0" compatLnSpc="1">
            <a:prstTxWarp prst="textNoShape">
              <a:avLst/>
            </a:prstTxWarp>
          </a:bodyPr>
          <a:lstStyle/>
          <a:p>
            <a:pPr algn="ctr" defTabSz="893097" fontAlgn="base">
              <a:spcBef>
                <a:spcPct val="0"/>
              </a:spcBef>
              <a:spcAft>
                <a:spcPts val="977"/>
              </a:spcAft>
              <a:defRPr/>
            </a:pPr>
            <a:r>
              <a:rPr lang="en-US" sz="1111" kern="0" dirty="0">
                <a:solidFill>
                  <a:schemeClr val="bg1"/>
                </a:solidFill>
                <a:latin typeface="EYInterstate" panose="02000503020000020004" pitchFamily="2" charset="0"/>
              </a:rPr>
              <a:t>ALL LOANS</a:t>
            </a:r>
          </a:p>
        </p:txBody>
      </p:sp>
      <p:sp>
        <p:nvSpPr>
          <p:cNvPr id="22" name="Text Box 23"/>
          <p:cNvSpPr txBox="1">
            <a:spLocks noChangeArrowheads="1"/>
          </p:cNvSpPr>
          <p:nvPr/>
        </p:nvSpPr>
        <p:spPr bwMode="auto">
          <a:xfrm>
            <a:off x="3129214" y="4600653"/>
            <a:ext cx="1460488" cy="161701"/>
          </a:xfrm>
          <a:prstGeom prst="rect">
            <a:avLst/>
          </a:prstGeom>
          <a:solidFill>
            <a:srgbClr val="FFFFFF"/>
          </a:solidFill>
          <a:ln w="9525">
            <a:solidFill>
              <a:schemeClr val="bg1"/>
            </a:solidFill>
            <a:miter lim="800000"/>
            <a:headEnd/>
            <a:tailEnd/>
          </a:ln>
        </p:spPr>
        <p:txBody>
          <a:bodyPr vert="horz" wrap="square" lIns="78156" tIns="39078" rIns="78156" bIns="39078" numCol="1" anchor="ctr" anchorCtr="0" compatLnSpc="1">
            <a:prstTxWarp prst="textNoShape">
              <a:avLst/>
            </a:prstTxWarp>
          </a:bodyPr>
          <a:lstStyle/>
          <a:p>
            <a:pPr algn="ctr" defTabSz="893097" fontAlgn="base">
              <a:spcBef>
                <a:spcPct val="0"/>
              </a:spcBef>
              <a:spcAft>
                <a:spcPts val="977"/>
              </a:spcAft>
              <a:defRPr/>
            </a:pPr>
            <a:r>
              <a:rPr lang="en-US" sz="1111" kern="0" dirty="0">
                <a:solidFill>
                  <a:schemeClr val="bg1"/>
                </a:solidFill>
                <a:latin typeface="EYInterstate" panose="02000503020000020004" pitchFamily="2" charset="0"/>
              </a:rPr>
              <a:t>ALL LOANS</a:t>
            </a:r>
          </a:p>
        </p:txBody>
      </p:sp>
      <p:sp>
        <p:nvSpPr>
          <p:cNvPr id="24" name="AutoShape 29"/>
          <p:cNvSpPr>
            <a:spLocks noChangeArrowheads="1"/>
          </p:cNvSpPr>
          <p:nvPr/>
        </p:nvSpPr>
        <p:spPr bwMode="auto">
          <a:xfrm>
            <a:off x="458821" y="4765934"/>
            <a:ext cx="1460488" cy="906938"/>
          </a:xfrm>
          <a:prstGeom prst="flowChartProcess">
            <a:avLst/>
          </a:prstGeom>
          <a:solidFill>
            <a:srgbClr val="FFD200"/>
          </a:solidFill>
          <a:ln w="9525">
            <a:solidFill>
              <a:schemeClr val="bg1"/>
            </a:solid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sp>
        <p:nvSpPr>
          <p:cNvPr id="29" name="AutoShape 25"/>
          <p:cNvSpPr>
            <a:spLocks noChangeArrowheads="1"/>
          </p:cNvSpPr>
          <p:nvPr/>
        </p:nvSpPr>
        <p:spPr bwMode="auto">
          <a:xfrm>
            <a:off x="2167457" y="5143669"/>
            <a:ext cx="748831" cy="159449"/>
          </a:xfrm>
          <a:prstGeom prst="rightArrow">
            <a:avLst>
              <a:gd name="adj1" fmla="val 50000"/>
              <a:gd name="adj2" fmla="val 122917"/>
            </a:avLst>
          </a:prstGeom>
          <a:solidFill>
            <a:srgbClr val="CCCCCC"/>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cxnSp>
        <p:nvCxnSpPr>
          <p:cNvPr id="31" name="Straight Connector 30"/>
          <p:cNvCxnSpPr/>
          <p:nvPr/>
        </p:nvCxnSpPr>
        <p:spPr bwMode="auto">
          <a:xfrm>
            <a:off x="458821" y="5040725"/>
            <a:ext cx="1460488" cy="0"/>
          </a:xfrm>
          <a:prstGeom prst="line">
            <a:avLst/>
          </a:prstGeom>
          <a:solidFill>
            <a:srgbClr val="7F7E82"/>
          </a:solidFill>
          <a:ln w="12700" cap="flat" cmpd="sng" algn="ctr">
            <a:solidFill>
              <a:srgbClr val="7F7E82"/>
            </a:solidFill>
            <a:prstDash val="sysDot"/>
            <a:round/>
            <a:headEnd type="none" w="med" len="med"/>
            <a:tailEnd type="none" w="med" len="med"/>
          </a:ln>
          <a:effectLst/>
        </p:spPr>
      </p:cxnSp>
      <p:cxnSp>
        <p:nvCxnSpPr>
          <p:cNvPr id="33" name="Straight Connector 32"/>
          <p:cNvCxnSpPr/>
          <p:nvPr/>
        </p:nvCxnSpPr>
        <p:spPr bwMode="auto">
          <a:xfrm>
            <a:off x="457200" y="5356651"/>
            <a:ext cx="1460488" cy="0"/>
          </a:xfrm>
          <a:prstGeom prst="line">
            <a:avLst/>
          </a:prstGeom>
          <a:solidFill>
            <a:srgbClr val="7F7E82"/>
          </a:solidFill>
          <a:ln w="12700" cap="flat" cmpd="sng" algn="ctr">
            <a:solidFill>
              <a:srgbClr val="7F7E82"/>
            </a:solidFill>
            <a:prstDash val="sysDot"/>
            <a:round/>
            <a:headEnd type="none" w="med" len="med"/>
            <a:tailEnd type="none" w="med" len="med"/>
          </a:ln>
          <a:effectLst/>
        </p:spPr>
      </p:cxnSp>
      <p:sp>
        <p:nvSpPr>
          <p:cNvPr id="34" name="AutoShape 29"/>
          <p:cNvSpPr>
            <a:spLocks noChangeArrowheads="1"/>
          </p:cNvSpPr>
          <p:nvPr/>
        </p:nvSpPr>
        <p:spPr bwMode="auto">
          <a:xfrm>
            <a:off x="3129214" y="4762061"/>
            <a:ext cx="1460488" cy="906938"/>
          </a:xfrm>
          <a:prstGeom prst="flowChartProcess">
            <a:avLst/>
          </a:prstGeom>
          <a:solidFill>
            <a:srgbClr val="FFD200"/>
          </a:solidFill>
          <a:ln w="9525">
            <a:solidFill>
              <a:schemeClr val="bg1"/>
            </a:solid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cxnSp>
        <p:nvCxnSpPr>
          <p:cNvPr id="35" name="Straight Connector 34"/>
          <p:cNvCxnSpPr/>
          <p:nvPr/>
        </p:nvCxnSpPr>
        <p:spPr bwMode="auto">
          <a:xfrm>
            <a:off x="3129214" y="5031869"/>
            <a:ext cx="1460488" cy="0"/>
          </a:xfrm>
          <a:prstGeom prst="line">
            <a:avLst/>
          </a:prstGeom>
          <a:solidFill>
            <a:srgbClr val="7F7E82"/>
          </a:solidFill>
          <a:ln w="12700" cap="flat" cmpd="sng" algn="ctr">
            <a:solidFill>
              <a:srgbClr val="7F7E82"/>
            </a:solidFill>
            <a:prstDash val="sysDot"/>
            <a:round/>
            <a:headEnd type="none" w="med" len="med"/>
            <a:tailEnd type="none" w="med" len="med"/>
          </a:ln>
          <a:effectLst/>
        </p:spPr>
      </p:cxnSp>
      <p:cxnSp>
        <p:nvCxnSpPr>
          <p:cNvPr id="36" name="Straight Connector 35"/>
          <p:cNvCxnSpPr/>
          <p:nvPr/>
        </p:nvCxnSpPr>
        <p:spPr bwMode="auto">
          <a:xfrm>
            <a:off x="3130303" y="5352778"/>
            <a:ext cx="1460488" cy="0"/>
          </a:xfrm>
          <a:prstGeom prst="line">
            <a:avLst/>
          </a:prstGeom>
          <a:solidFill>
            <a:srgbClr val="7F7E82"/>
          </a:solidFill>
          <a:ln w="12700" cap="flat" cmpd="sng" algn="ctr">
            <a:solidFill>
              <a:srgbClr val="7F7E82"/>
            </a:solidFill>
            <a:prstDash val="sysDot"/>
            <a:round/>
            <a:headEnd type="none" w="med" len="med"/>
            <a:tailEnd type="none" w="med" len="med"/>
          </a:ln>
          <a:effectLst/>
        </p:spPr>
      </p:cxnSp>
      <p:sp>
        <p:nvSpPr>
          <p:cNvPr id="30" name="Text Box 27"/>
          <p:cNvSpPr txBox="1">
            <a:spLocks noChangeArrowheads="1"/>
          </p:cNvSpPr>
          <p:nvPr/>
        </p:nvSpPr>
        <p:spPr bwMode="auto">
          <a:xfrm>
            <a:off x="3110397" y="5010360"/>
            <a:ext cx="945949" cy="261714"/>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900" b="1" kern="0" dirty="0">
                <a:solidFill>
                  <a:schemeClr val="bg1"/>
                </a:solidFill>
                <a:latin typeface="EYInterstate Light" panose="02000506000000020004" pitchFamily="2" charset="0"/>
              </a:rPr>
              <a:t>Collective assessment</a:t>
            </a:r>
            <a:endParaRPr lang="en-US" sz="900" kern="0" dirty="0">
              <a:solidFill>
                <a:schemeClr val="bg1"/>
              </a:solidFill>
              <a:latin typeface="EYInterstate Light" pitchFamily="2" charset="0"/>
            </a:endParaRPr>
          </a:p>
        </p:txBody>
      </p:sp>
      <p:sp>
        <p:nvSpPr>
          <p:cNvPr id="27" name="Rectangle 24"/>
          <p:cNvSpPr>
            <a:spLocks noChangeArrowheads="1"/>
          </p:cNvSpPr>
          <p:nvPr/>
        </p:nvSpPr>
        <p:spPr bwMode="auto">
          <a:xfrm>
            <a:off x="4162793" y="4762062"/>
            <a:ext cx="426909" cy="906937"/>
          </a:xfrm>
          <a:prstGeom prst="rect">
            <a:avLst/>
          </a:prstGeom>
          <a:solidFill>
            <a:srgbClr val="A6A6A6"/>
          </a:solidFill>
          <a:ln w="9525">
            <a:solidFill>
              <a:schemeClr val="bg1"/>
            </a:solidFill>
            <a:miter lim="800000"/>
            <a:headEnd/>
            <a:tailEnd/>
          </a:ln>
        </p:spPr>
        <p:txBody>
          <a:bodyPr vert="horz" wrap="square" lIns="78156" tIns="39078" rIns="78156" bIns="39078" numCol="1" anchor="t" anchorCtr="0" compatLnSpc="1">
            <a:prstTxWarp prst="textNoShape">
              <a:avLst/>
            </a:prstTxWarp>
          </a:bodyPr>
          <a:lstStyle/>
          <a:p>
            <a:pPr algn="ctr" defTabSz="893097">
              <a:defRPr/>
            </a:pPr>
            <a:endParaRPr lang="en-US" sz="855" kern="0" dirty="0">
              <a:solidFill>
                <a:sysClr val="windowText" lastClr="000000"/>
              </a:solidFill>
              <a:latin typeface="EYInterstate Light" panose="02000506000000020004" pitchFamily="2" charset="0"/>
            </a:endParaRPr>
          </a:p>
        </p:txBody>
      </p:sp>
      <p:sp>
        <p:nvSpPr>
          <p:cNvPr id="37" name="Text Box 27"/>
          <p:cNvSpPr txBox="1">
            <a:spLocks noChangeArrowheads="1"/>
          </p:cNvSpPr>
          <p:nvPr/>
        </p:nvSpPr>
        <p:spPr bwMode="auto">
          <a:xfrm>
            <a:off x="676530" y="4815066"/>
            <a:ext cx="945949" cy="261714"/>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800" b="1" kern="0" dirty="0" smtClean="0">
                <a:solidFill>
                  <a:schemeClr val="bg1"/>
                </a:solidFill>
                <a:latin typeface="EYInterstate Light" panose="02000506000000020004" pitchFamily="2" charset="0"/>
              </a:rPr>
              <a:t>Portfolio 1</a:t>
            </a:r>
            <a:endParaRPr lang="en-US" sz="800" kern="0" dirty="0">
              <a:solidFill>
                <a:schemeClr val="bg1"/>
              </a:solidFill>
              <a:latin typeface="EYInterstate Light" pitchFamily="2" charset="0"/>
            </a:endParaRPr>
          </a:p>
        </p:txBody>
      </p:sp>
      <p:sp>
        <p:nvSpPr>
          <p:cNvPr id="42" name="Text Box 27"/>
          <p:cNvSpPr txBox="1">
            <a:spLocks noChangeArrowheads="1"/>
          </p:cNvSpPr>
          <p:nvPr/>
        </p:nvSpPr>
        <p:spPr bwMode="auto">
          <a:xfrm>
            <a:off x="676530" y="5091064"/>
            <a:ext cx="945949" cy="261714"/>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800" b="1" kern="0" dirty="0" smtClean="0">
                <a:solidFill>
                  <a:schemeClr val="bg1"/>
                </a:solidFill>
                <a:latin typeface="EYInterstate Light" panose="02000506000000020004" pitchFamily="2" charset="0"/>
              </a:rPr>
              <a:t>Portfolio 2</a:t>
            </a:r>
            <a:endParaRPr lang="en-US" sz="800" kern="0" dirty="0">
              <a:solidFill>
                <a:schemeClr val="bg1"/>
              </a:solidFill>
              <a:latin typeface="EYInterstate Light" pitchFamily="2" charset="0"/>
            </a:endParaRPr>
          </a:p>
        </p:txBody>
      </p:sp>
      <p:sp>
        <p:nvSpPr>
          <p:cNvPr id="43" name="Text Box 27"/>
          <p:cNvSpPr txBox="1">
            <a:spLocks noChangeArrowheads="1"/>
          </p:cNvSpPr>
          <p:nvPr/>
        </p:nvSpPr>
        <p:spPr bwMode="auto">
          <a:xfrm>
            <a:off x="676530" y="5402962"/>
            <a:ext cx="945949" cy="261714"/>
          </a:xfrm>
          <a:prstGeom prst="rect">
            <a:avLst/>
          </a:prstGeom>
          <a:solidFill>
            <a:srgbClr val="FFFFFF">
              <a:alpha val="0"/>
            </a:srgbClr>
          </a:solidFill>
          <a:ln w="9525">
            <a:noFill/>
            <a:miter lim="800000"/>
            <a:headEnd/>
            <a:tailEnd/>
          </a:ln>
        </p:spPr>
        <p:txBody>
          <a:bodyPr vert="horz" wrap="square" lIns="78156" tIns="39078" rIns="78156" bIns="39078" numCol="1" anchor="t" anchorCtr="0" compatLnSpc="1">
            <a:prstTxWarp prst="textNoShape">
              <a:avLst/>
            </a:prstTxWarp>
          </a:bodyPr>
          <a:lstStyle/>
          <a:p>
            <a:pPr algn="ctr" defTabSz="893097" fontAlgn="base">
              <a:spcBef>
                <a:spcPct val="0"/>
              </a:spcBef>
              <a:spcAft>
                <a:spcPts val="977"/>
              </a:spcAft>
              <a:defRPr/>
            </a:pPr>
            <a:r>
              <a:rPr lang="en-US" sz="800" b="1" kern="0" dirty="0" smtClean="0">
                <a:solidFill>
                  <a:schemeClr val="bg1"/>
                </a:solidFill>
                <a:latin typeface="EYInterstate Light" panose="02000506000000020004" pitchFamily="2" charset="0"/>
              </a:rPr>
              <a:t>Portfolio 3</a:t>
            </a:r>
            <a:endParaRPr lang="en-US" sz="800" kern="0" dirty="0">
              <a:solidFill>
                <a:schemeClr val="bg1"/>
              </a:solidFill>
              <a:latin typeface="EYInterstate Light" pitchFamily="2" charset="0"/>
            </a:endParaRPr>
          </a:p>
        </p:txBody>
      </p:sp>
      <p:sp>
        <p:nvSpPr>
          <p:cNvPr id="44"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45" name="Abgerundetes Rechteck 24"/>
          <p:cNvSpPr/>
          <p:nvPr/>
        </p:nvSpPr>
        <p:spPr bwMode="gray">
          <a:xfrm>
            <a:off x="449980" y="3329374"/>
            <a:ext cx="8229603" cy="438010"/>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252000" tIns="0" rIns="108000" bIns="72000" numCol="2" anchor="t"/>
          <a:lstStyle/>
          <a:p>
            <a:pPr marL="272489" indent="-272489" defTabSz="912524">
              <a:buClr>
                <a:srgbClr val="FFD200"/>
              </a:buClr>
              <a:buSzPct val="70000"/>
              <a:buFont typeface="Arial" panose="020B0604020202020204" pitchFamily="34" charset="0"/>
              <a:buChar char="►"/>
            </a:pPr>
            <a:r>
              <a:rPr lang="en-US" sz="1200" b="1" dirty="0">
                <a:solidFill>
                  <a:schemeClr val="bg1"/>
                </a:solidFill>
                <a:latin typeface="EYInterstate Light" panose="02000506000000020004" pitchFamily="2" charset="0"/>
              </a:rPr>
              <a:t>Exposure </a:t>
            </a:r>
            <a:r>
              <a:rPr lang="en-US" sz="1200" dirty="0" smtClean="0">
                <a:solidFill>
                  <a:schemeClr val="bg1"/>
                </a:solidFill>
                <a:latin typeface="EYInterstate Light" panose="02000506000000020004" pitchFamily="2" charset="0"/>
              </a:rPr>
              <a:t>(</a:t>
            </a:r>
            <a:r>
              <a:rPr lang="en-US" sz="1200" dirty="0">
                <a:solidFill>
                  <a:schemeClr val="bg1"/>
                </a:solidFill>
                <a:latin typeface="EYInterstate Light" panose="02000506000000020004" pitchFamily="2" charset="0"/>
              </a:rPr>
              <a:t>materiality limit)</a:t>
            </a: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Stage</a:t>
            </a:r>
            <a:endParaRPr lang="en-US" sz="1200" dirty="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r>
              <a:rPr lang="cs-CZ" sz="1200" b="1" dirty="0" smtClean="0">
                <a:solidFill>
                  <a:schemeClr val="bg1"/>
                </a:solidFill>
                <a:latin typeface="EYInterstate Light" panose="02000506000000020004" pitchFamily="2" charset="0"/>
              </a:rPr>
              <a:t>Portfolio</a:t>
            </a:r>
            <a:endParaRPr lang="en-US" sz="1200" b="1" dirty="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8370109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EYInterstate" panose="02000503020000020004" pitchFamily="2" charset="0"/>
              </a:rPr>
              <a:t>PD parameter</a:t>
            </a:r>
            <a:endParaRPr lang="en-GB"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11" name="Abgerundetes Rechteck 24"/>
          <p:cNvSpPr/>
          <p:nvPr/>
        </p:nvSpPr>
        <p:spPr bwMode="gray">
          <a:xfrm>
            <a:off x="432672" y="2468045"/>
            <a:ext cx="4835614" cy="1922987"/>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smtClean="0">
                <a:solidFill>
                  <a:schemeClr val="bg1"/>
                </a:solidFill>
                <a:latin typeface="EYInterstate Light" panose="02000506000000020004" pitchFamily="2" charset="0"/>
              </a:rPr>
              <a:t>PDs are estimated </a:t>
            </a:r>
            <a:r>
              <a:rPr lang="cs-CZ" sz="1200" dirty="0" smtClean="0">
                <a:solidFill>
                  <a:schemeClr val="bg1"/>
                </a:solidFill>
                <a:latin typeface="EYInterstate Light" panose="02000506000000020004" pitchFamily="2" charset="0"/>
              </a:rPr>
              <a:t>in LIC Solution® </a:t>
            </a:r>
            <a:r>
              <a:rPr lang="en-US" sz="1200" dirty="0" smtClean="0">
                <a:solidFill>
                  <a:schemeClr val="bg1"/>
                </a:solidFill>
                <a:latin typeface="EYInterstate Light" panose="02000506000000020004" pitchFamily="2" charset="0"/>
              </a:rPr>
              <a:t>based on </a:t>
            </a:r>
            <a:r>
              <a:rPr lang="en-US" sz="1200" b="1" dirty="0" smtClean="0">
                <a:solidFill>
                  <a:schemeClr val="bg1"/>
                </a:solidFill>
                <a:latin typeface="EYInterstate Light" panose="02000506000000020004" pitchFamily="2" charset="0"/>
              </a:rPr>
              <a:t>Markov Chain process</a:t>
            </a:r>
            <a:r>
              <a:rPr lang="en-US" sz="1200" dirty="0" smtClean="0">
                <a:solidFill>
                  <a:schemeClr val="bg1"/>
                </a:solidFill>
                <a:latin typeface="EYInterstate Light" panose="02000506000000020004" pitchFamily="2" charset="0"/>
              </a:rPr>
              <a:t>, which requires information regarding transitions among credit states (DPD buckets / rating classes).</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Transition probabilities </a:t>
            </a:r>
            <a:r>
              <a:rPr lang="cs-CZ" sz="1200" dirty="0" smtClean="0">
                <a:solidFill>
                  <a:schemeClr val="bg1"/>
                </a:solidFill>
                <a:latin typeface="EYInterstate Light" panose="02000506000000020004" pitchFamily="2" charset="0"/>
              </a:rPr>
              <a:t>are </a:t>
            </a:r>
            <a:r>
              <a:rPr lang="en-US" sz="1200" dirty="0" smtClean="0">
                <a:solidFill>
                  <a:schemeClr val="bg1"/>
                </a:solidFill>
                <a:latin typeface="EYInterstate Light" panose="02000506000000020004" pitchFamily="2" charset="0"/>
              </a:rPr>
              <a:t>estimated using average of monthly transitions over a chosen time period</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12-month PDs are then calculated as 12th power of the monthly migration matrix</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Lifetime PDs are estimated using </a:t>
            </a:r>
            <a:r>
              <a:rPr lang="en-US" sz="1200" b="1" i="1" dirty="0" smtClean="0">
                <a:solidFill>
                  <a:schemeClr val="bg1"/>
                </a:solidFill>
                <a:latin typeface="EYInterstate Light" panose="02000506000000020004" pitchFamily="2" charset="0"/>
              </a:rPr>
              <a:t>n</a:t>
            </a:r>
            <a:r>
              <a:rPr lang="en-US" sz="1200" dirty="0" smtClean="0">
                <a:solidFill>
                  <a:schemeClr val="bg1"/>
                </a:solidFill>
                <a:latin typeface="EYInterstate Light" panose="02000506000000020004" pitchFamily="2" charset="0"/>
              </a:rPr>
              <a:t>-</a:t>
            </a:r>
            <a:r>
              <a:rPr lang="en-US" sz="1200" dirty="0" err="1" smtClean="0">
                <a:solidFill>
                  <a:schemeClr val="bg1"/>
                </a:solidFill>
                <a:latin typeface="EYInterstate Light" panose="02000506000000020004" pitchFamily="2" charset="0"/>
              </a:rPr>
              <a:t>th</a:t>
            </a:r>
            <a:r>
              <a:rPr lang="en-US" sz="1200" dirty="0" smtClean="0">
                <a:solidFill>
                  <a:schemeClr val="bg1"/>
                </a:solidFill>
                <a:latin typeface="EYInterstate Light" panose="02000506000000020004" pitchFamily="2" charset="0"/>
              </a:rPr>
              <a:t> power of the monthly migration matrix, where </a:t>
            </a:r>
            <a:r>
              <a:rPr lang="en-US" sz="1200" b="1" i="1" dirty="0" smtClean="0">
                <a:solidFill>
                  <a:schemeClr val="bg1"/>
                </a:solidFill>
                <a:latin typeface="EYInterstate Light" panose="02000506000000020004" pitchFamily="2" charset="0"/>
              </a:rPr>
              <a:t>n</a:t>
            </a:r>
            <a:r>
              <a:rPr lang="en-US" sz="1200" dirty="0" smtClean="0">
                <a:solidFill>
                  <a:schemeClr val="bg1"/>
                </a:solidFill>
                <a:latin typeface="EYInterstate Light" panose="02000506000000020004" pitchFamily="2" charset="0"/>
              </a:rPr>
              <a:t> stands for contractual maturity</a:t>
            </a:r>
          </a:p>
        </p:txBody>
      </p:sp>
      <p:pic>
        <p:nvPicPr>
          <p:cNvPr id="20" name="Picture 1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672" y="4411718"/>
            <a:ext cx="3441227" cy="2071577"/>
          </a:xfrm>
          <a:prstGeom prst="rect">
            <a:avLst/>
          </a:prstGeom>
          <a:noFill/>
        </p:spPr>
      </p:pic>
      <p:pic>
        <p:nvPicPr>
          <p:cNvPr id="21" name="Picture 20"/>
          <p:cNvPicPr>
            <a:picLocks noChangeAspect="1"/>
          </p:cNvPicPr>
          <p:nvPr/>
        </p:nvPicPr>
        <p:blipFill>
          <a:blip r:embed="rId3"/>
          <a:stretch>
            <a:fillRect/>
          </a:stretch>
        </p:blipFill>
        <p:spPr>
          <a:xfrm>
            <a:off x="6331664" y="1359727"/>
            <a:ext cx="2131345" cy="751270"/>
          </a:xfrm>
          <a:prstGeom prst="rect">
            <a:avLst/>
          </a:prstGeom>
        </p:spPr>
      </p:pic>
      <p:graphicFrame>
        <p:nvGraphicFramePr>
          <p:cNvPr id="23" name="Table 22"/>
          <p:cNvGraphicFramePr>
            <a:graphicFrameLocks noGrp="1"/>
          </p:cNvGraphicFramePr>
          <p:nvPr>
            <p:extLst>
              <p:ext uri="{D42A27DB-BD31-4B8C-83A1-F6EECF244321}">
                <p14:modId xmlns:p14="http://schemas.microsoft.com/office/powerpoint/2010/main" val="3899795796"/>
              </p:ext>
            </p:extLst>
          </p:nvPr>
        </p:nvGraphicFramePr>
        <p:xfrm>
          <a:off x="5401848" y="2503558"/>
          <a:ext cx="3286521" cy="1150282"/>
        </p:xfrm>
        <a:graphic>
          <a:graphicData uri="http://schemas.openxmlformats.org/drawingml/2006/table">
            <a:tbl>
              <a:tblPr/>
              <a:tblGrid>
                <a:gridCol w="469503"/>
                <a:gridCol w="469503"/>
                <a:gridCol w="469503"/>
                <a:gridCol w="469503"/>
                <a:gridCol w="469503"/>
                <a:gridCol w="469503"/>
                <a:gridCol w="469503"/>
              </a:tblGrid>
              <a:tr h="164326">
                <a:tc rowSpan="2" gridSpan="2">
                  <a:txBody>
                    <a:bodyPr/>
                    <a:lstStyle/>
                    <a:p>
                      <a:pPr algn="ctr" fontAlgn="ctr"/>
                      <a:r>
                        <a:rPr lang="en-US" sz="1000" b="0" i="0" u="none" strike="noStrike" dirty="0">
                          <a:solidFill>
                            <a:srgbClr val="FFFFFF"/>
                          </a:solidFill>
                          <a:effectLst/>
                          <a:latin typeface="EYInterstate Light" panose="02000506000000020004" pitchFamily="2" charset="0"/>
                        </a:rPr>
                        <a:t>State</a:t>
                      </a:r>
                      <a:endParaRPr lang="cs-CZ" sz="1000" b="0" i="0" u="none" strike="noStrike" dirty="0">
                        <a:solidFill>
                          <a:srgbClr val="FFFFFF"/>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rowSpan="2" hMerge="1">
                  <a:txBody>
                    <a:bodyPr/>
                    <a:lstStyle/>
                    <a:p>
                      <a:endParaRPr lang="cs-CZ"/>
                    </a:p>
                  </a:txBody>
                  <a:tcPr/>
                </a:tc>
                <a:tc gridSpan="5">
                  <a:txBody>
                    <a:bodyPr/>
                    <a:lstStyle/>
                    <a:p>
                      <a:pPr algn="ctr" fontAlgn="ctr"/>
                      <a:r>
                        <a:rPr lang="en-US" sz="1000" b="0" i="0" u="none" strike="noStrike" dirty="0">
                          <a:solidFill>
                            <a:srgbClr val="FFFFFF"/>
                          </a:solidFill>
                          <a:effectLst/>
                          <a:latin typeface="EYInterstate Light" panose="02000506000000020004" pitchFamily="2" charset="0"/>
                        </a:rPr>
                        <a:t>End</a:t>
                      </a:r>
                      <a:endParaRPr lang="cs-CZ" sz="1000" b="0" i="0" u="none" strike="noStrike" dirty="0">
                        <a:solidFill>
                          <a:srgbClr val="FFFFFF"/>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hMerge="1">
                  <a:txBody>
                    <a:bodyPr/>
                    <a:lstStyle/>
                    <a:p>
                      <a:endParaRPr lang="cs-CZ"/>
                    </a:p>
                  </a:txBody>
                  <a:tcPr/>
                </a:tc>
                <a:tc hMerge="1">
                  <a:txBody>
                    <a:bodyPr/>
                    <a:lstStyle/>
                    <a:p>
                      <a:endParaRPr lang="cs-CZ"/>
                    </a:p>
                  </a:txBody>
                  <a:tcPr/>
                </a:tc>
                <a:tc hMerge="1">
                  <a:txBody>
                    <a:bodyPr/>
                    <a:lstStyle/>
                    <a:p>
                      <a:endParaRPr lang="cs-CZ"/>
                    </a:p>
                  </a:txBody>
                  <a:tcPr/>
                </a:tc>
                <a:tc hMerge="1">
                  <a:txBody>
                    <a:bodyPr/>
                    <a:lstStyle/>
                    <a:p>
                      <a:endParaRPr lang="cs-CZ"/>
                    </a:p>
                  </a:txBody>
                  <a:tcPr/>
                </a:tc>
              </a:tr>
              <a:tr h="164326">
                <a:tc gridSpan="2" vMerge="1">
                  <a:txBody>
                    <a:bodyPr/>
                    <a:lstStyle/>
                    <a:p>
                      <a:endParaRPr lang="cs-CZ"/>
                    </a:p>
                  </a:txBody>
                  <a:tcPr/>
                </a:tc>
                <a:tc hMerge="1" vMerge="1">
                  <a:txBody>
                    <a:bodyPr/>
                    <a:lstStyle/>
                    <a:p>
                      <a:endParaRPr lang="cs-CZ"/>
                    </a:p>
                  </a:txBody>
                  <a:tcPr/>
                </a:tc>
                <a:tc>
                  <a:txBody>
                    <a:bodyPr/>
                    <a:lstStyle/>
                    <a:p>
                      <a:pPr algn="ctr" fontAlgn="ctr"/>
                      <a:r>
                        <a:rPr lang="en-US" sz="1000" b="0" i="0" u="none" strike="noStrike">
                          <a:solidFill>
                            <a:srgbClr val="000000"/>
                          </a:solidFill>
                          <a:effectLst/>
                          <a:latin typeface="EYInterstate Light" panose="02000506000000020004" pitchFamily="2" charset="0"/>
                          <a:ea typeface="Times New Roman" panose="02020603050405020304" pitchFamily="18" charset="0"/>
                        </a:rPr>
                        <a:t>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fontAlgn="ctr"/>
                      <a:r>
                        <a:rPr lang="en-US" sz="1000" b="0" i="0" u="none" strike="noStrike">
                          <a:solidFill>
                            <a:srgbClr val="000000"/>
                          </a:solidFill>
                          <a:effectLst/>
                          <a:latin typeface="EYInterstate Light" panose="02000506000000020004" pitchFamily="2" charset="0"/>
                          <a:ea typeface="Times New Roman" panose="02020603050405020304" pitchFamily="18" charset="0"/>
                        </a:rPr>
                        <a:t>30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fontAlgn="ctr"/>
                      <a:r>
                        <a:rPr lang="en-US" sz="1000" b="0" i="0" u="none" strike="noStrike">
                          <a:solidFill>
                            <a:srgbClr val="000000"/>
                          </a:solidFill>
                          <a:effectLst/>
                          <a:latin typeface="EYInterstate Light" panose="02000506000000020004" pitchFamily="2" charset="0"/>
                          <a:ea typeface="Times New Roman" panose="02020603050405020304" pitchFamily="18" charset="0"/>
                        </a:rPr>
                        <a:t>60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fontAlgn="ctr"/>
                      <a:r>
                        <a:rPr lang="en-US" sz="1000" b="0" i="0" u="none" strike="noStrike">
                          <a:solidFill>
                            <a:srgbClr val="000000"/>
                          </a:solidFill>
                          <a:effectLst/>
                          <a:latin typeface="EYInterstate Light" panose="02000506000000020004" pitchFamily="2" charset="0"/>
                          <a:ea typeface="Times New Roman" panose="02020603050405020304" pitchFamily="18" charset="0"/>
                        </a:rPr>
                        <a:t>90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fontAlgn="ctr"/>
                      <a:r>
                        <a:rPr lang="en-US" sz="1000" b="0" i="0" u="none" strike="noStrike">
                          <a:solidFill>
                            <a:srgbClr val="000000"/>
                          </a:solidFill>
                          <a:effectLst/>
                          <a:latin typeface="EYInterstate Light" panose="02000506000000020004" pitchFamily="2" charset="0"/>
                          <a:ea typeface="Times New Roman" panose="02020603050405020304" pitchFamily="18" charset="0"/>
                        </a:rPr>
                        <a:t>Default</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r h="164326">
                <a:tc rowSpan="5">
                  <a:txBody>
                    <a:bodyPr/>
                    <a:lstStyle/>
                    <a:p>
                      <a:pPr algn="ctr" fontAlgn="ctr"/>
                      <a:r>
                        <a:rPr lang="en-US" sz="1000" b="0" i="0" u="none" strike="noStrike">
                          <a:solidFill>
                            <a:srgbClr val="FFFFFF"/>
                          </a:solidFill>
                          <a:effectLst/>
                          <a:latin typeface="EYInterstate Light" panose="02000506000000020004" pitchFamily="2" charset="0"/>
                        </a:rPr>
                        <a:t>Initial</a:t>
                      </a:r>
                      <a:endParaRPr lang="cs-CZ" sz="1000" b="0" i="0" u="none" strike="noStrike">
                        <a:solidFill>
                          <a:srgbClr val="FFFFFF"/>
                        </a:solidFill>
                        <a:effectLst/>
                        <a:latin typeface="EYInterstate Light" panose="02000506000000020004" pitchFamily="2" charset="0"/>
                      </a:endParaRPr>
                    </a:p>
                  </a:txBody>
                  <a:tcPr marL="5868" marR="5868" marT="5868"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EYInterstate Light" panose="02000506000000020004" pitchFamily="2" charset="0"/>
                        </a:rPr>
                        <a:t>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92.7%</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7.3%</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4326">
                <a:tc vMerge="1">
                  <a:txBody>
                    <a:bodyPr/>
                    <a:lstStyle/>
                    <a:p>
                      <a:endParaRPr lang="cs-CZ"/>
                    </a:p>
                  </a:txBody>
                  <a:tcPr/>
                </a:tc>
                <a:tc>
                  <a:txBody>
                    <a:bodyPr/>
                    <a:lstStyle/>
                    <a:p>
                      <a:pPr algn="ctr" fontAlgn="ctr"/>
                      <a:r>
                        <a:rPr lang="en-US" sz="1000" b="0" i="0" u="none" strike="noStrike">
                          <a:solidFill>
                            <a:srgbClr val="000000"/>
                          </a:solidFill>
                          <a:effectLst/>
                          <a:latin typeface="EYInterstate Light" panose="02000506000000020004" pitchFamily="2" charset="0"/>
                        </a:rPr>
                        <a:t>30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16.7%</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54.2%</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29.2%</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4326">
                <a:tc vMerge="1">
                  <a:txBody>
                    <a:bodyPr/>
                    <a:lstStyle/>
                    <a:p>
                      <a:endParaRPr lang="cs-CZ"/>
                    </a:p>
                  </a:txBody>
                  <a:tcPr/>
                </a:tc>
                <a:tc>
                  <a:txBody>
                    <a:bodyPr/>
                    <a:lstStyle/>
                    <a:p>
                      <a:pPr algn="ctr" fontAlgn="ctr"/>
                      <a:r>
                        <a:rPr lang="en-US" sz="1000" b="0" i="0" u="none" strike="noStrike">
                          <a:solidFill>
                            <a:srgbClr val="000000"/>
                          </a:solidFill>
                          <a:effectLst/>
                          <a:latin typeface="EYInterstate Light" panose="02000506000000020004" pitchFamily="2" charset="0"/>
                        </a:rPr>
                        <a:t>60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35.0%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52.4%</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12.6%</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4326">
                <a:tc vMerge="1">
                  <a:txBody>
                    <a:bodyPr/>
                    <a:lstStyle/>
                    <a:p>
                      <a:endParaRPr lang="cs-CZ"/>
                    </a:p>
                  </a:txBody>
                  <a:tcPr/>
                </a:tc>
                <a:tc>
                  <a:txBody>
                    <a:bodyPr/>
                    <a:lstStyle/>
                    <a:p>
                      <a:pPr algn="ctr" fontAlgn="ctr"/>
                      <a:r>
                        <a:rPr lang="en-US" sz="1000" b="0" i="0" u="none" strike="noStrike">
                          <a:solidFill>
                            <a:srgbClr val="000000"/>
                          </a:solidFill>
                          <a:effectLst/>
                          <a:latin typeface="EYInterstate Light" panose="02000506000000020004" pitchFamily="2" charset="0"/>
                        </a:rPr>
                        <a:t>90</a:t>
                      </a:r>
                      <a:endParaRPr lang="cs-CZ" sz="1000" b="0" i="0" u="none" strike="noStrike">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23.8%</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16.7%</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47.6%</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11.9%</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4326">
                <a:tc vMerge="1">
                  <a:txBody>
                    <a:bodyPr/>
                    <a:lstStyle/>
                    <a:p>
                      <a:endParaRPr lang="cs-CZ"/>
                    </a:p>
                  </a:txBody>
                  <a:tcPr/>
                </a:tc>
                <a:tc>
                  <a:txBody>
                    <a:bodyPr/>
                    <a:lstStyle/>
                    <a:p>
                      <a:pPr algn="ctr" fontAlgn="ctr"/>
                      <a:r>
                        <a:rPr lang="cs-CZ" sz="1000" b="0" i="0" u="none" strike="noStrike" dirty="0" smtClean="0">
                          <a:solidFill>
                            <a:srgbClr val="000000"/>
                          </a:solidFill>
                          <a:effectLst/>
                          <a:latin typeface="EYInterstate Light" panose="02000506000000020004" pitchFamily="2" charset="0"/>
                        </a:rPr>
                        <a:t>Default</a:t>
                      </a:r>
                      <a:endParaRPr lang="cs-CZ" sz="1000" b="0" i="0" u="none" strike="noStrike" dirty="0">
                        <a:solidFill>
                          <a:srgbClr val="000000"/>
                        </a:solidFill>
                        <a:effectLst/>
                        <a:latin typeface="EYInterstate Light" panose="02000506000000020004" pitchFamily="2" charset="0"/>
                      </a:endParaRP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92.7%</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7.3%</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cs-CZ" sz="700" b="0" i="0" u="none" strike="noStrike" dirty="0">
                          <a:solidFill>
                            <a:srgbClr val="000000"/>
                          </a:solidFill>
                          <a:effectLst/>
                          <a:latin typeface="EYInterstate Light" panose="02000506000000020004" pitchFamily="2" charset="0"/>
                        </a:rPr>
                        <a:t>0.0%</a:t>
                      </a:r>
                    </a:p>
                  </a:txBody>
                  <a:tcPr marL="5868" marR="5868" marT="5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grpSp>
        <p:nvGrpSpPr>
          <p:cNvPr id="27" name="Group 110"/>
          <p:cNvGrpSpPr>
            <a:grpSpLocks/>
          </p:cNvGrpSpPr>
          <p:nvPr/>
        </p:nvGrpSpPr>
        <p:grpSpPr bwMode="auto">
          <a:xfrm rot="8431915" flipH="1" flipV="1">
            <a:off x="5523201" y="1825396"/>
            <a:ext cx="656341" cy="453405"/>
            <a:chOff x="4560" y="1734"/>
            <a:chExt cx="851" cy="574"/>
          </a:xfrm>
        </p:grpSpPr>
        <p:sp>
          <p:nvSpPr>
            <p:cNvPr id="28" name="Freeform 111"/>
            <p:cNvSpPr>
              <a:spLocks/>
            </p:cNvSpPr>
            <p:nvPr/>
          </p:nvSpPr>
          <p:spPr bwMode="auto">
            <a:xfrm>
              <a:off x="4560" y="1755"/>
              <a:ext cx="825" cy="534"/>
            </a:xfrm>
            <a:custGeom>
              <a:avLst/>
              <a:gdLst>
                <a:gd name="T0" fmla="*/ 0 w 3302"/>
                <a:gd name="T1" fmla="*/ 0 h 2138"/>
                <a:gd name="T2" fmla="*/ 0 w 3302"/>
                <a:gd name="T3" fmla="*/ 0 h 2138"/>
                <a:gd name="T4" fmla="*/ 0 w 3302"/>
                <a:gd name="T5" fmla="*/ 0 h 2138"/>
                <a:gd name="T6" fmla="*/ 0 w 3302"/>
                <a:gd name="T7" fmla="*/ 0 h 2138"/>
                <a:gd name="T8" fmla="*/ 0 w 3302"/>
                <a:gd name="T9" fmla="*/ 0 h 2138"/>
                <a:gd name="T10" fmla="*/ 0 w 3302"/>
                <a:gd name="T11" fmla="*/ 0 h 2138"/>
                <a:gd name="T12" fmla="*/ 0 w 3302"/>
                <a:gd name="T13" fmla="*/ 0 h 2138"/>
                <a:gd name="T14" fmla="*/ 0 w 3302"/>
                <a:gd name="T15" fmla="*/ 0 h 2138"/>
                <a:gd name="T16" fmla="*/ 0 w 3302"/>
                <a:gd name="T17" fmla="*/ 0 h 2138"/>
                <a:gd name="T18" fmla="*/ 0 w 3302"/>
                <a:gd name="T19" fmla="*/ 0 h 2138"/>
                <a:gd name="T20" fmla="*/ 0 w 3302"/>
                <a:gd name="T21" fmla="*/ 0 h 2138"/>
                <a:gd name="T22" fmla="*/ 0 w 3302"/>
                <a:gd name="T23" fmla="*/ 0 h 2138"/>
                <a:gd name="T24" fmla="*/ 0 w 3302"/>
                <a:gd name="T25" fmla="*/ 0 h 2138"/>
                <a:gd name="T26" fmla="*/ 0 w 3302"/>
                <a:gd name="T27" fmla="*/ 0 h 2138"/>
                <a:gd name="T28" fmla="*/ 0 w 3302"/>
                <a:gd name="T29" fmla="*/ 0 h 2138"/>
                <a:gd name="T30" fmla="*/ 0 w 3302"/>
                <a:gd name="T31" fmla="*/ 0 h 2138"/>
                <a:gd name="T32" fmla="*/ 0 w 3302"/>
                <a:gd name="T33" fmla="*/ 0 h 2138"/>
                <a:gd name="T34" fmla="*/ 0 w 3302"/>
                <a:gd name="T35" fmla="*/ 0 h 2138"/>
                <a:gd name="T36" fmla="*/ 0 w 3302"/>
                <a:gd name="T37" fmla="*/ 0 h 2138"/>
                <a:gd name="T38" fmla="*/ 0 w 3302"/>
                <a:gd name="T39" fmla="*/ 0 h 2138"/>
                <a:gd name="T40" fmla="*/ 0 w 3302"/>
                <a:gd name="T41" fmla="*/ 0 h 2138"/>
                <a:gd name="T42" fmla="*/ 0 w 3302"/>
                <a:gd name="T43" fmla="*/ 0 h 2138"/>
                <a:gd name="T44" fmla="*/ 0 w 3302"/>
                <a:gd name="T45" fmla="*/ 0 h 2138"/>
                <a:gd name="T46" fmla="*/ 0 w 3302"/>
                <a:gd name="T47" fmla="*/ 0 h 21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302" h="2138">
                  <a:moveTo>
                    <a:pt x="550" y="679"/>
                  </a:moveTo>
                  <a:lnTo>
                    <a:pt x="252" y="1322"/>
                  </a:lnTo>
                  <a:lnTo>
                    <a:pt x="68" y="1770"/>
                  </a:lnTo>
                  <a:lnTo>
                    <a:pt x="0" y="2126"/>
                  </a:lnTo>
                  <a:lnTo>
                    <a:pt x="103" y="2138"/>
                  </a:lnTo>
                  <a:lnTo>
                    <a:pt x="883" y="1817"/>
                  </a:lnTo>
                  <a:lnTo>
                    <a:pt x="848" y="1517"/>
                  </a:lnTo>
                  <a:lnTo>
                    <a:pt x="1548" y="1162"/>
                  </a:lnTo>
                  <a:lnTo>
                    <a:pt x="2190" y="966"/>
                  </a:lnTo>
                  <a:lnTo>
                    <a:pt x="2590" y="920"/>
                  </a:lnTo>
                  <a:lnTo>
                    <a:pt x="2890" y="1012"/>
                  </a:lnTo>
                  <a:lnTo>
                    <a:pt x="2912" y="1195"/>
                  </a:lnTo>
                  <a:lnTo>
                    <a:pt x="3164" y="886"/>
                  </a:lnTo>
                  <a:lnTo>
                    <a:pt x="3302" y="402"/>
                  </a:lnTo>
                  <a:lnTo>
                    <a:pt x="3221" y="138"/>
                  </a:lnTo>
                  <a:lnTo>
                    <a:pt x="2890" y="0"/>
                  </a:lnTo>
                  <a:lnTo>
                    <a:pt x="2441" y="13"/>
                  </a:lnTo>
                  <a:lnTo>
                    <a:pt x="1914" y="208"/>
                  </a:lnTo>
                  <a:lnTo>
                    <a:pt x="1490" y="460"/>
                  </a:lnTo>
                  <a:lnTo>
                    <a:pt x="1020" y="817"/>
                  </a:lnTo>
                  <a:lnTo>
                    <a:pt x="710" y="1081"/>
                  </a:lnTo>
                  <a:lnTo>
                    <a:pt x="652" y="679"/>
                  </a:lnTo>
                  <a:lnTo>
                    <a:pt x="550" y="6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cs-CZ"/>
            </a:p>
          </p:txBody>
        </p:sp>
        <p:sp>
          <p:nvSpPr>
            <p:cNvPr id="29" name="Freeform 112"/>
            <p:cNvSpPr>
              <a:spLocks/>
            </p:cNvSpPr>
            <p:nvPr/>
          </p:nvSpPr>
          <p:spPr bwMode="auto">
            <a:xfrm>
              <a:off x="4599" y="1771"/>
              <a:ext cx="812" cy="535"/>
            </a:xfrm>
            <a:custGeom>
              <a:avLst/>
              <a:gdLst>
                <a:gd name="T0" fmla="*/ 0 w 3248"/>
                <a:gd name="T1" fmla="*/ 0 h 2137"/>
                <a:gd name="T2" fmla="*/ 0 w 3248"/>
                <a:gd name="T3" fmla="*/ 0 h 2137"/>
                <a:gd name="T4" fmla="*/ 0 w 3248"/>
                <a:gd name="T5" fmla="*/ 0 h 2137"/>
                <a:gd name="T6" fmla="*/ 0 w 3248"/>
                <a:gd name="T7" fmla="*/ 0 h 2137"/>
                <a:gd name="T8" fmla="*/ 0 w 3248"/>
                <a:gd name="T9" fmla="*/ 0 h 2137"/>
                <a:gd name="T10" fmla="*/ 0 w 3248"/>
                <a:gd name="T11" fmla="*/ 0 h 2137"/>
                <a:gd name="T12" fmla="*/ 0 w 3248"/>
                <a:gd name="T13" fmla="*/ 0 h 2137"/>
                <a:gd name="T14" fmla="*/ 0 w 3248"/>
                <a:gd name="T15" fmla="*/ 0 h 2137"/>
                <a:gd name="T16" fmla="*/ 0 w 3248"/>
                <a:gd name="T17" fmla="*/ 0 h 2137"/>
                <a:gd name="T18" fmla="*/ 0 w 3248"/>
                <a:gd name="T19" fmla="*/ 0 h 2137"/>
                <a:gd name="T20" fmla="*/ 0 w 3248"/>
                <a:gd name="T21" fmla="*/ 0 h 2137"/>
                <a:gd name="T22" fmla="*/ 0 w 3248"/>
                <a:gd name="T23" fmla="*/ 0 h 2137"/>
                <a:gd name="T24" fmla="*/ 0 w 3248"/>
                <a:gd name="T25" fmla="*/ 0 h 2137"/>
                <a:gd name="T26" fmla="*/ 0 w 3248"/>
                <a:gd name="T27" fmla="*/ 0 h 2137"/>
                <a:gd name="T28" fmla="*/ 0 w 3248"/>
                <a:gd name="T29" fmla="*/ 0 h 2137"/>
                <a:gd name="T30" fmla="*/ 0 w 3248"/>
                <a:gd name="T31" fmla="*/ 0 h 2137"/>
                <a:gd name="T32" fmla="*/ 0 w 3248"/>
                <a:gd name="T33" fmla="*/ 0 h 2137"/>
                <a:gd name="T34" fmla="*/ 0 w 3248"/>
                <a:gd name="T35" fmla="*/ 0 h 2137"/>
                <a:gd name="T36" fmla="*/ 0 w 3248"/>
                <a:gd name="T37" fmla="*/ 0 h 2137"/>
                <a:gd name="T38" fmla="*/ 0 w 3248"/>
                <a:gd name="T39" fmla="*/ 0 h 2137"/>
                <a:gd name="T40" fmla="*/ 0 w 3248"/>
                <a:gd name="T41" fmla="*/ 0 h 2137"/>
                <a:gd name="T42" fmla="*/ 0 w 3248"/>
                <a:gd name="T43" fmla="*/ 0 h 2137"/>
                <a:gd name="T44" fmla="*/ 0 w 3248"/>
                <a:gd name="T45" fmla="*/ 0 h 2137"/>
                <a:gd name="T46" fmla="*/ 0 w 3248"/>
                <a:gd name="T47" fmla="*/ 0 h 2137"/>
                <a:gd name="T48" fmla="*/ 0 w 3248"/>
                <a:gd name="T49" fmla="*/ 0 h 213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48" h="2137">
                  <a:moveTo>
                    <a:pt x="550" y="679"/>
                  </a:moveTo>
                  <a:lnTo>
                    <a:pt x="252" y="1322"/>
                  </a:lnTo>
                  <a:lnTo>
                    <a:pt x="68" y="1770"/>
                  </a:lnTo>
                  <a:lnTo>
                    <a:pt x="0" y="2126"/>
                  </a:lnTo>
                  <a:lnTo>
                    <a:pt x="103" y="2137"/>
                  </a:lnTo>
                  <a:lnTo>
                    <a:pt x="883" y="1816"/>
                  </a:lnTo>
                  <a:lnTo>
                    <a:pt x="848" y="1517"/>
                  </a:lnTo>
                  <a:lnTo>
                    <a:pt x="1547" y="1161"/>
                  </a:lnTo>
                  <a:lnTo>
                    <a:pt x="2190" y="966"/>
                  </a:lnTo>
                  <a:lnTo>
                    <a:pt x="2591" y="919"/>
                  </a:lnTo>
                  <a:lnTo>
                    <a:pt x="2813" y="1096"/>
                  </a:lnTo>
                  <a:lnTo>
                    <a:pt x="2789" y="1291"/>
                  </a:lnTo>
                  <a:lnTo>
                    <a:pt x="3007" y="1118"/>
                  </a:lnTo>
                  <a:lnTo>
                    <a:pt x="3165" y="885"/>
                  </a:lnTo>
                  <a:lnTo>
                    <a:pt x="3248" y="498"/>
                  </a:lnTo>
                  <a:lnTo>
                    <a:pt x="3221" y="139"/>
                  </a:lnTo>
                  <a:lnTo>
                    <a:pt x="2889" y="0"/>
                  </a:lnTo>
                  <a:lnTo>
                    <a:pt x="2443" y="12"/>
                  </a:lnTo>
                  <a:lnTo>
                    <a:pt x="1914" y="208"/>
                  </a:lnTo>
                  <a:lnTo>
                    <a:pt x="1490" y="460"/>
                  </a:lnTo>
                  <a:lnTo>
                    <a:pt x="1020" y="817"/>
                  </a:lnTo>
                  <a:lnTo>
                    <a:pt x="711" y="1081"/>
                  </a:lnTo>
                  <a:lnTo>
                    <a:pt x="653" y="679"/>
                  </a:lnTo>
                  <a:lnTo>
                    <a:pt x="550" y="679"/>
                  </a:lnTo>
                  <a:close/>
                </a:path>
              </a:pathLst>
            </a:custGeom>
            <a:solidFill>
              <a:srgbClr val="FDC20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cs-CZ"/>
            </a:p>
          </p:txBody>
        </p:sp>
        <p:sp>
          <p:nvSpPr>
            <p:cNvPr id="30" name="Freeform 113"/>
            <p:cNvSpPr>
              <a:spLocks/>
            </p:cNvSpPr>
            <p:nvPr/>
          </p:nvSpPr>
          <p:spPr bwMode="auto">
            <a:xfrm>
              <a:off x="4562" y="1734"/>
              <a:ext cx="833" cy="544"/>
            </a:xfrm>
            <a:custGeom>
              <a:avLst/>
              <a:gdLst>
                <a:gd name="T0" fmla="*/ 0 w 3331"/>
                <a:gd name="T1" fmla="*/ 0 h 2178"/>
                <a:gd name="T2" fmla="*/ 0 w 3331"/>
                <a:gd name="T3" fmla="*/ 0 h 2178"/>
                <a:gd name="T4" fmla="*/ 0 w 3331"/>
                <a:gd name="T5" fmla="*/ 0 h 2178"/>
                <a:gd name="T6" fmla="*/ 0 w 3331"/>
                <a:gd name="T7" fmla="*/ 0 h 2178"/>
                <a:gd name="T8" fmla="*/ 0 w 3331"/>
                <a:gd name="T9" fmla="*/ 0 h 2178"/>
                <a:gd name="T10" fmla="*/ 0 w 3331"/>
                <a:gd name="T11" fmla="*/ 0 h 2178"/>
                <a:gd name="T12" fmla="*/ 0 w 3331"/>
                <a:gd name="T13" fmla="*/ 0 h 2178"/>
                <a:gd name="T14" fmla="*/ 0 w 3331"/>
                <a:gd name="T15" fmla="*/ 0 h 2178"/>
                <a:gd name="T16" fmla="*/ 0 w 3331"/>
                <a:gd name="T17" fmla="*/ 0 h 2178"/>
                <a:gd name="T18" fmla="*/ 0 w 3331"/>
                <a:gd name="T19" fmla="*/ 0 h 2178"/>
                <a:gd name="T20" fmla="*/ 0 w 3331"/>
                <a:gd name="T21" fmla="*/ 0 h 2178"/>
                <a:gd name="T22" fmla="*/ 0 w 3331"/>
                <a:gd name="T23" fmla="*/ 0 h 2178"/>
                <a:gd name="T24" fmla="*/ 0 w 3331"/>
                <a:gd name="T25" fmla="*/ 0 h 2178"/>
                <a:gd name="T26" fmla="*/ 0 w 3331"/>
                <a:gd name="T27" fmla="*/ 0 h 2178"/>
                <a:gd name="T28" fmla="*/ 0 w 3331"/>
                <a:gd name="T29" fmla="*/ 0 h 2178"/>
                <a:gd name="T30" fmla="*/ 0 w 3331"/>
                <a:gd name="T31" fmla="*/ 0 h 2178"/>
                <a:gd name="T32" fmla="*/ 0 w 3331"/>
                <a:gd name="T33" fmla="*/ 0 h 2178"/>
                <a:gd name="T34" fmla="*/ 0 w 3331"/>
                <a:gd name="T35" fmla="*/ 0 h 2178"/>
                <a:gd name="T36" fmla="*/ 0 w 3331"/>
                <a:gd name="T37" fmla="*/ 0 h 2178"/>
                <a:gd name="T38" fmla="*/ 0 w 3331"/>
                <a:gd name="T39" fmla="*/ 0 h 2178"/>
                <a:gd name="T40" fmla="*/ 0 w 3331"/>
                <a:gd name="T41" fmla="*/ 0 h 2178"/>
                <a:gd name="T42" fmla="*/ 0 w 3331"/>
                <a:gd name="T43" fmla="*/ 0 h 2178"/>
                <a:gd name="T44" fmla="*/ 0 w 3331"/>
                <a:gd name="T45" fmla="*/ 0 h 2178"/>
                <a:gd name="T46" fmla="*/ 0 w 3331"/>
                <a:gd name="T47" fmla="*/ 0 h 2178"/>
                <a:gd name="T48" fmla="*/ 0 w 3331"/>
                <a:gd name="T49" fmla="*/ 0 h 2178"/>
                <a:gd name="T50" fmla="*/ 0 w 3331"/>
                <a:gd name="T51" fmla="*/ 0 h 2178"/>
                <a:gd name="T52" fmla="*/ 0 w 3331"/>
                <a:gd name="T53" fmla="*/ 0 h 2178"/>
                <a:gd name="T54" fmla="*/ 0 w 3331"/>
                <a:gd name="T55" fmla="*/ 0 h 2178"/>
                <a:gd name="T56" fmla="*/ 0 w 3331"/>
                <a:gd name="T57" fmla="*/ 0 h 2178"/>
                <a:gd name="T58" fmla="*/ 0 w 3331"/>
                <a:gd name="T59" fmla="*/ 0 h 2178"/>
                <a:gd name="T60" fmla="*/ 0 w 3331"/>
                <a:gd name="T61" fmla="*/ 0 h 2178"/>
                <a:gd name="T62" fmla="*/ 0 w 3331"/>
                <a:gd name="T63" fmla="*/ 0 h 2178"/>
                <a:gd name="T64" fmla="*/ 0 w 3331"/>
                <a:gd name="T65" fmla="*/ 0 h 2178"/>
                <a:gd name="T66" fmla="*/ 0 w 3331"/>
                <a:gd name="T67" fmla="*/ 0 h 2178"/>
                <a:gd name="T68" fmla="*/ 0 w 3331"/>
                <a:gd name="T69" fmla="*/ 0 h 2178"/>
                <a:gd name="T70" fmla="*/ 0 w 3331"/>
                <a:gd name="T71" fmla="*/ 0 h 2178"/>
                <a:gd name="T72" fmla="*/ 0 w 3331"/>
                <a:gd name="T73" fmla="*/ 0 h 2178"/>
                <a:gd name="T74" fmla="*/ 0 w 3331"/>
                <a:gd name="T75" fmla="*/ 0 h 2178"/>
                <a:gd name="T76" fmla="*/ 0 w 3331"/>
                <a:gd name="T77" fmla="*/ 0 h 2178"/>
                <a:gd name="T78" fmla="*/ 0 w 3331"/>
                <a:gd name="T79" fmla="*/ 0 h 2178"/>
                <a:gd name="T80" fmla="*/ 0 w 3331"/>
                <a:gd name="T81" fmla="*/ 0 h 2178"/>
                <a:gd name="T82" fmla="*/ 0 w 3331"/>
                <a:gd name="T83" fmla="*/ 0 h 217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331" h="2178">
                  <a:moveTo>
                    <a:pt x="0" y="2178"/>
                  </a:moveTo>
                  <a:lnTo>
                    <a:pt x="190" y="1626"/>
                  </a:lnTo>
                  <a:lnTo>
                    <a:pt x="367" y="1230"/>
                  </a:lnTo>
                  <a:lnTo>
                    <a:pt x="562" y="873"/>
                  </a:lnTo>
                  <a:lnTo>
                    <a:pt x="608" y="1316"/>
                  </a:lnTo>
                  <a:lnTo>
                    <a:pt x="786" y="1120"/>
                  </a:lnTo>
                  <a:lnTo>
                    <a:pt x="1130" y="850"/>
                  </a:lnTo>
                  <a:lnTo>
                    <a:pt x="1508" y="592"/>
                  </a:lnTo>
                  <a:lnTo>
                    <a:pt x="1864" y="407"/>
                  </a:lnTo>
                  <a:lnTo>
                    <a:pt x="2230" y="264"/>
                  </a:lnTo>
                  <a:lnTo>
                    <a:pt x="2575" y="178"/>
                  </a:lnTo>
                  <a:lnTo>
                    <a:pt x="2856" y="155"/>
                  </a:lnTo>
                  <a:lnTo>
                    <a:pt x="3039" y="206"/>
                  </a:lnTo>
                  <a:lnTo>
                    <a:pt x="3154" y="270"/>
                  </a:lnTo>
                  <a:lnTo>
                    <a:pt x="3206" y="368"/>
                  </a:lnTo>
                  <a:lnTo>
                    <a:pt x="3234" y="540"/>
                  </a:lnTo>
                  <a:lnTo>
                    <a:pt x="3206" y="724"/>
                  </a:lnTo>
                  <a:lnTo>
                    <a:pt x="3113" y="1029"/>
                  </a:lnTo>
                  <a:lnTo>
                    <a:pt x="3188" y="982"/>
                  </a:lnTo>
                  <a:lnTo>
                    <a:pt x="3303" y="672"/>
                  </a:lnTo>
                  <a:lnTo>
                    <a:pt x="3331" y="437"/>
                  </a:lnTo>
                  <a:lnTo>
                    <a:pt x="3303" y="282"/>
                  </a:lnTo>
                  <a:lnTo>
                    <a:pt x="3217" y="184"/>
                  </a:lnTo>
                  <a:lnTo>
                    <a:pt x="3039" y="81"/>
                  </a:lnTo>
                  <a:lnTo>
                    <a:pt x="2764" y="0"/>
                  </a:lnTo>
                  <a:lnTo>
                    <a:pt x="2558" y="0"/>
                  </a:lnTo>
                  <a:lnTo>
                    <a:pt x="2305" y="40"/>
                  </a:lnTo>
                  <a:lnTo>
                    <a:pt x="2111" y="109"/>
                  </a:lnTo>
                  <a:lnTo>
                    <a:pt x="1927" y="201"/>
                  </a:lnTo>
                  <a:lnTo>
                    <a:pt x="1668" y="351"/>
                  </a:lnTo>
                  <a:lnTo>
                    <a:pt x="1382" y="558"/>
                  </a:lnTo>
                  <a:lnTo>
                    <a:pt x="1130" y="753"/>
                  </a:lnTo>
                  <a:lnTo>
                    <a:pt x="895" y="960"/>
                  </a:lnTo>
                  <a:lnTo>
                    <a:pt x="740" y="1103"/>
                  </a:lnTo>
                  <a:lnTo>
                    <a:pt x="728" y="746"/>
                  </a:lnTo>
                  <a:lnTo>
                    <a:pt x="562" y="746"/>
                  </a:lnTo>
                  <a:lnTo>
                    <a:pt x="391" y="1057"/>
                  </a:lnTo>
                  <a:lnTo>
                    <a:pt x="247" y="1351"/>
                  </a:lnTo>
                  <a:lnTo>
                    <a:pt x="121" y="1638"/>
                  </a:lnTo>
                  <a:lnTo>
                    <a:pt x="29" y="1908"/>
                  </a:lnTo>
                  <a:lnTo>
                    <a:pt x="0" y="21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cs-CZ"/>
            </a:p>
          </p:txBody>
        </p:sp>
        <p:sp>
          <p:nvSpPr>
            <p:cNvPr id="31" name="Freeform 114"/>
            <p:cNvSpPr>
              <a:spLocks/>
            </p:cNvSpPr>
            <p:nvPr/>
          </p:nvSpPr>
          <p:spPr bwMode="auto">
            <a:xfrm>
              <a:off x="4561" y="1966"/>
              <a:ext cx="752" cy="342"/>
            </a:xfrm>
            <a:custGeom>
              <a:avLst/>
              <a:gdLst>
                <a:gd name="T0" fmla="*/ 0 w 3011"/>
                <a:gd name="T1" fmla="*/ 0 h 1368"/>
                <a:gd name="T2" fmla="*/ 0 w 3011"/>
                <a:gd name="T3" fmla="*/ 0 h 1368"/>
                <a:gd name="T4" fmla="*/ 0 w 3011"/>
                <a:gd name="T5" fmla="*/ 0 h 1368"/>
                <a:gd name="T6" fmla="*/ 0 w 3011"/>
                <a:gd name="T7" fmla="*/ 0 h 1368"/>
                <a:gd name="T8" fmla="*/ 0 w 3011"/>
                <a:gd name="T9" fmla="*/ 0 h 1368"/>
                <a:gd name="T10" fmla="*/ 0 w 3011"/>
                <a:gd name="T11" fmla="*/ 0 h 1368"/>
                <a:gd name="T12" fmla="*/ 0 w 3011"/>
                <a:gd name="T13" fmla="*/ 0 h 1368"/>
                <a:gd name="T14" fmla="*/ 0 w 3011"/>
                <a:gd name="T15" fmla="*/ 0 h 1368"/>
                <a:gd name="T16" fmla="*/ 0 w 3011"/>
                <a:gd name="T17" fmla="*/ 0 h 1368"/>
                <a:gd name="T18" fmla="*/ 0 w 3011"/>
                <a:gd name="T19" fmla="*/ 0 h 1368"/>
                <a:gd name="T20" fmla="*/ 0 w 3011"/>
                <a:gd name="T21" fmla="*/ 0 h 1368"/>
                <a:gd name="T22" fmla="*/ 0 w 3011"/>
                <a:gd name="T23" fmla="*/ 0 h 1368"/>
                <a:gd name="T24" fmla="*/ 0 w 3011"/>
                <a:gd name="T25" fmla="*/ 0 h 1368"/>
                <a:gd name="T26" fmla="*/ 0 w 3011"/>
                <a:gd name="T27" fmla="*/ 0 h 1368"/>
                <a:gd name="T28" fmla="*/ 0 w 3011"/>
                <a:gd name="T29" fmla="*/ 0 h 1368"/>
                <a:gd name="T30" fmla="*/ 0 w 3011"/>
                <a:gd name="T31" fmla="*/ 0 h 1368"/>
                <a:gd name="T32" fmla="*/ 0 w 3011"/>
                <a:gd name="T33" fmla="*/ 0 h 1368"/>
                <a:gd name="T34" fmla="*/ 0 w 3011"/>
                <a:gd name="T35" fmla="*/ 0 h 1368"/>
                <a:gd name="T36" fmla="*/ 0 w 3011"/>
                <a:gd name="T37" fmla="*/ 0 h 1368"/>
                <a:gd name="T38" fmla="*/ 0 w 3011"/>
                <a:gd name="T39" fmla="*/ 0 h 1368"/>
                <a:gd name="T40" fmla="*/ 0 w 3011"/>
                <a:gd name="T41" fmla="*/ 0 h 1368"/>
                <a:gd name="T42" fmla="*/ 0 w 3011"/>
                <a:gd name="T43" fmla="*/ 0 h 1368"/>
                <a:gd name="T44" fmla="*/ 0 w 3011"/>
                <a:gd name="T45" fmla="*/ 0 h 1368"/>
                <a:gd name="T46" fmla="*/ 0 w 3011"/>
                <a:gd name="T47" fmla="*/ 0 h 1368"/>
                <a:gd name="T48" fmla="*/ 0 w 3011"/>
                <a:gd name="T49" fmla="*/ 0 h 1368"/>
                <a:gd name="T50" fmla="*/ 0 w 3011"/>
                <a:gd name="T51" fmla="*/ 0 h 1368"/>
                <a:gd name="T52" fmla="*/ 0 w 3011"/>
                <a:gd name="T53" fmla="*/ 0 h 1368"/>
                <a:gd name="T54" fmla="*/ 0 w 3011"/>
                <a:gd name="T55" fmla="*/ 0 h 1368"/>
                <a:gd name="T56" fmla="*/ 0 w 3011"/>
                <a:gd name="T57" fmla="*/ 0 h 1368"/>
                <a:gd name="T58" fmla="*/ 0 w 3011"/>
                <a:gd name="T59" fmla="*/ 0 h 1368"/>
                <a:gd name="T60" fmla="*/ 0 w 3011"/>
                <a:gd name="T61" fmla="*/ 0 h 1368"/>
                <a:gd name="T62" fmla="*/ 0 w 3011"/>
                <a:gd name="T63" fmla="*/ 0 h 1368"/>
                <a:gd name="T64" fmla="*/ 0 w 3011"/>
                <a:gd name="T65" fmla="*/ 0 h 1368"/>
                <a:gd name="T66" fmla="*/ 0 w 3011"/>
                <a:gd name="T67" fmla="*/ 0 h 1368"/>
                <a:gd name="T68" fmla="*/ 0 w 3011"/>
                <a:gd name="T69" fmla="*/ 0 h 1368"/>
                <a:gd name="T70" fmla="*/ 0 w 3011"/>
                <a:gd name="T71" fmla="*/ 0 h 1368"/>
                <a:gd name="T72" fmla="*/ 0 w 3011"/>
                <a:gd name="T73" fmla="*/ 0 h 1368"/>
                <a:gd name="T74" fmla="*/ 0 w 3011"/>
                <a:gd name="T75" fmla="*/ 0 h 1368"/>
                <a:gd name="T76" fmla="*/ 0 w 3011"/>
                <a:gd name="T77" fmla="*/ 0 h 13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3011" h="1368">
                  <a:moveTo>
                    <a:pt x="775" y="702"/>
                  </a:moveTo>
                  <a:lnTo>
                    <a:pt x="1108" y="518"/>
                  </a:lnTo>
                  <a:lnTo>
                    <a:pt x="1463" y="334"/>
                  </a:lnTo>
                  <a:lnTo>
                    <a:pt x="1870" y="162"/>
                  </a:lnTo>
                  <a:lnTo>
                    <a:pt x="2156" y="69"/>
                  </a:lnTo>
                  <a:lnTo>
                    <a:pt x="2449" y="0"/>
                  </a:lnTo>
                  <a:lnTo>
                    <a:pt x="2724" y="0"/>
                  </a:lnTo>
                  <a:lnTo>
                    <a:pt x="2896" y="58"/>
                  </a:lnTo>
                  <a:lnTo>
                    <a:pt x="3005" y="162"/>
                  </a:lnTo>
                  <a:lnTo>
                    <a:pt x="3011" y="265"/>
                  </a:lnTo>
                  <a:lnTo>
                    <a:pt x="2964" y="374"/>
                  </a:lnTo>
                  <a:lnTo>
                    <a:pt x="2850" y="495"/>
                  </a:lnTo>
                  <a:lnTo>
                    <a:pt x="2765" y="575"/>
                  </a:lnTo>
                  <a:lnTo>
                    <a:pt x="2644" y="633"/>
                  </a:lnTo>
                  <a:lnTo>
                    <a:pt x="2776" y="449"/>
                  </a:lnTo>
                  <a:lnTo>
                    <a:pt x="2804" y="356"/>
                  </a:lnTo>
                  <a:lnTo>
                    <a:pt x="2799" y="276"/>
                  </a:lnTo>
                  <a:lnTo>
                    <a:pt x="2696" y="213"/>
                  </a:lnTo>
                  <a:lnTo>
                    <a:pt x="2569" y="185"/>
                  </a:lnTo>
                  <a:lnTo>
                    <a:pt x="2426" y="179"/>
                  </a:lnTo>
                  <a:lnTo>
                    <a:pt x="2283" y="196"/>
                  </a:lnTo>
                  <a:lnTo>
                    <a:pt x="2099" y="225"/>
                  </a:lnTo>
                  <a:lnTo>
                    <a:pt x="1922" y="270"/>
                  </a:lnTo>
                  <a:lnTo>
                    <a:pt x="1681" y="363"/>
                  </a:lnTo>
                  <a:lnTo>
                    <a:pt x="1376" y="477"/>
                  </a:lnTo>
                  <a:lnTo>
                    <a:pt x="1073" y="604"/>
                  </a:lnTo>
                  <a:lnTo>
                    <a:pt x="907" y="678"/>
                  </a:lnTo>
                  <a:lnTo>
                    <a:pt x="993" y="1041"/>
                  </a:lnTo>
                  <a:lnTo>
                    <a:pt x="814" y="1041"/>
                  </a:lnTo>
                  <a:lnTo>
                    <a:pt x="557" y="1127"/>
                  </a:lnTo>
                  <a:lnTo>
                    <a:pt x="315" y="1242"/>
                  </a:lnTo>
                  <a:lnTo>
                    <a:pt x="99" y="1368"/>
                  </a:lnTo>
                  <a:lnTo>
                    <a:pt x="0" y="1294"/>
                  </a:lnTo>
                  <a:lnTo>
                    <a:pt x="190" y="1167"/>
                  </a:lnTo>
                  <a:lnTo>
                    <a:pt x="402" y="1058"/>
                  </a:lnTo>
                  <a:lnTo>
                    <a:pt x="631" y="966"/>
                  </a:lnTo>
                  <a:lnTo>
                    <a:pt x="821" y="920"/>
                  </a:lnTo>
                  <a:lnTo>
                    <a:pt x="775" y="7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cs-CZ"/>
            </a:p>
          </p:txBody>
        </p:sp>
      </p:grpSp>
      <p:sp>
        <p:nvSpPr>
          <p:cNvPr id="32" name="Abgerundetes Rechteck 24"/>
          <p:cNvSpPr/>
          <p:nvPr/>
        </p:nvSpPr>
        <p:spPr bwMode="gray">
          <a:xfrm>
            <a:off x="3994617" y="4279165"/>
            <a:ext cx="4674093" cy="1954936"/>
          </a:xfrm>
          <a:prstGeom prst="rect">
            <a:avLst/>
          </a:prstGeom>
          <a:solidFill>
            <a:schemeClr val="bg1"/>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smtClean="0">
                <a:solidFill>
                  <a:srgbClr val="FFFFFF"/>
                </a:solidFill>
                <a:latin typeface="EYInterstate Light" panose="02000506000000020004" pitchFamily="2" charset="0"/>
              </a:rPr>
              <a:t>Depending on the form of input, the PD values are adjusted in LIC Solution® to reflect</a:t>
            </a:r>
            <a:r>
              <a:rPr lang="en-US" sz="1200" dirty="0" smtClean="0">
                <a:solidFill>
                  <a:srgbClr val="FFD503"/>
                </a:solidFill>
                <a:latin typeface="EYInterstate Light" panose="02000506000000020004" pitchFamily="2" charset="0"/>
              </a:rPr>
              <a:t> </a:t>
            </a:r>
            <a:r>
              <a:rPr lang="en-US" sz="1200" b="1" dirty="0" smtClean="0">
                <a:solidFill>
                  <a:srgbClr val="FFD503"/>
                </a:solidFill>
                <a:latin typeface="EYInterstate Light" panose="02000506000000020004" pitchFamily="2" charset="0"/>
              </a:rPr>
              <a:t>forward looking elements </a:t>
            </a:r>
            <a:r>
              <a:rPr lang="en-US" sz="1200" dirty="0" smtClean="0">
                <a:solidFill>
                  <a:schemeClr val="tx2"/>
                </a:solidFill>
                <a:latin typeface="EYInterstate Light" panose="02000506000000020004" pitchFamily="2" charset="0"/>
              </a:rPr>
              <a:t>and</a:t>
            </a:r>
            <a:r>
              <a:rPr lang="en-US" sz="1200" b="1" dirty="0" smtClean="0">
                <a:solidFill>
                  <a:srgbClr val="FFD503"/>
                </a:solidFill>
                <a:latin typeface="EYInterstate Light" panose="02000506000000020004" pitchFamily="2" charset="0"/>
              </a:rPr>
              <a:t> PIT approach</a:t>
            </a:r>
            <a:r>
              <a:rPr lang="en-US" sz="1200" dirty="0" smtClean="0">
                <a:solidFill>
                  <a:srgbClr val="FFC000"/>
                </a:solidFill>
                <a:latin typeface="EYInterstate Light" panose="02000506000000020004" pitchFamily="2" charset="0"/>
              </a:rPr>
              <a:t> </a:t>
            </a:r>
            <a:r>
              <a:rPr lang="en-US" sz="1200" dirty="0" smtClean="0">
                <a:solidFill>
                  <a:srgbClr val="FFFFFF"/>
                </a:solidFill>
                <a:latin typeface="EYInterstate Light" panose="02000506000000020004" pitchFamily="2" charset="0"/>
              </a:rPr>
              <a:t>using parameters entered in the user interface on portfolio level:</a:t>
            </a:r>
          </a:p>
          <a:p>
            <a:pPr marL="272489" indent="-272489" defTabSz="912524">
              <a:buClr>
                <a:srgbClr val="FFD200"/>
              </a:buClr>
              <a:buSzPct val="70000"/>
              <a:buFont typeface="Arial" panose="020B0604020202020204" pitchFamily="34" charset="0"/>
              <a:buChar char="►"/>
            </a:pPr>
            <a:r>
              <a:rPr lang="en-US" sz="1200" dirty="0" smtClean="0">
                <a:solidFill>
                  <a:srgbClr val="FFFFFF"/>
                </a:solidFill>
                <a:latin typeface="EYInterstate Light" panose="02000506000000020004" pitchFamily="2" charset="0"/>
              </a:rPr>
              <a:t>forecasted multiple (</a:t>
            </a:r>
            <a:r>
              <a:rPr lang="en-US" sz="1200" b="1" i="1" dirty="0" smtClean="0">
                <a:solidFill>
                  <a:srgbClr val="FFFFFF"/>
                </a:solidFill>
                <a:latin typeface="EYInterstate Light" panose="02000506000000020004" pitchFamily="2" charset="0"/>
              </a:rPr>
              <a:t>k</a:t>
            </a:r>
            <a:r>
              <a:rPr lang="en-US" sz="1200" dirty="0" smtClean="0">
                <a:solidFill>
                  <a:srgbClr val="FFFFFF"/>
                </a:solidFill>
                <a:latin typeface="EYInterstate Light" panose="02000506000000020004" pitchFamily="2" charset="0"/>
              </a:rPr>
              <a:t>) for 12-month marginal PD</a:t>
            </a:r>
          </a:p>
          <a:p>
            <a:pPr marL="272489" indent="-272489" defTabSz="912524">
              <a:spcAft>
                <a:spcPts val="600"/>
              </a:spcAft>
              <a:buClr>
                <a:srgbClr val="FFD200"/>
              </a:buClr>
              <a:buSzPct val="70000"/>
              <a:buFont typeface="Arial" panose="020B0604020202020204" pitchFamily="34" charset="0"/>
              <a:buChar char="►"/>
            </a:pPr>
            <a:r>
              <a:rPr lang="en-US" sz="1200" dirty="0" smtClean="0">
                <a:solidFill>
                  <a:srgbClr val="FFFFFF"/>
                </a:solidFill>
                <a:latin typeface="EYInterstate Light" panose="02000506000000020004" pitchFamily="2" charset="0"/>
              </a:rPr>
              <a:t>number of months after which the forecasted marginal PD curve equals to the unadjusted curve</a:t>
            </a:r>
          </a:p>
          <a:p>
            <a:pPr defTabSz="912524">
              <a:buClr>
                <a:srgbClr val="FFD200"/>
              </a:buClr>
              <a:buSzPct val="70000"/>
            </a:pPr>
            <a:r>
              <a:rPr lang="en-US" sz="1200" b="1" dirty="0" smtClean="0">
                <a:solidFill>
                  <a:srgbClr val="FFD503"/>
                </a:solidFill>
                <a:latin typeface="EYInterstate Light" panose="02000506000000020004" pitchFamily="2" charset="0"/>
              </a:rPr>
              <a:t>Multiple</a:t>
            </a:r>
            <a:r>
              <a:rPr lang="en-US" sz="1200" dirty="0" smtClean="0">
                <a:solidFill>
                  <a:srgbClr val="FFD503"/>
                </a:solidFill>
                <a:latin typeface="EYInterstate Light" panose="02000506000000020004" pitchFamily="2" charset="0"/>
              </a:rPr>
              <a:t> </a:t>
            </a:r>
            <a:r>
              <a:rPr lang="en-US" sz="1200" b="1" i="1" dirty="0" smtClean="0">
                <a:solidFill>
                  <a:srgbClr val="FFD503"/>
                </a:solidFill>
                <a:latin typeface="EYInterstate Light" panose="02000506000000020004" pitchFamily="2" charset="0"/>
              </a:rPr>
              <a:t>k </a:t>
            </a:r>
            <a:r>
              <a:rPr lang="en-US" sz="1200" dirty="0" smtClean="0">
                <a:solidFill>
                  <a:srgbClr val="FFFFFF"/>
                </a:solidFill>
                <a:latin typeface="EYInterstate Light" panose="02000506000000020004" pitchFamily="2" charset="0"/>
              </a:rPr>
              <a:t>can be alternatively estimated in LIC Solution® on asset level using Bayesian formula.</a:t>
            </a:r>
            <a:endParaRPr lang="en-US" sz="1200" b="1" i="1" dirty="0" smtClean="0">
              <a:solidFill>
                <a:srgbClr val="FFFFFF"/>
              </a:solidFill>
              <a:latin typeface="EYInterstate Light" panose="02000506000000020004" pitchFamily="2" charset="0"/>
            </a:endParaRPr>
          </a:p>
        </p:txBody>
      </p:sp>
      <p:pic>
        <p:nvPicPr>
          <p:cNvPr id="14" name="Picture 13"/>
          <p:cNvPicPr>
            <a:picLocks noChangeAspect="1"/>
          </p:cNvPicPr>
          <p:nvPr/>
        </p:nvPicPr>
        <p:blipFill>
          <a:blip r:embed="rId3"/>
          <a:stretch>
            <a:fillRect/>
          </a:stretch>
        </p:blipFill>
        <p:spPr>
          <a:xfrm>
            <a:off x="6248815" y="1447039"/>
            <a:ext cx="2131345" cy="751270"/>
          </a:xfrm>
          <a:prstGeom prst="rect">
            <a:avLst/>
          </a:prstGeom>
        </p:spPr>
      </p:pic>
      <p:pic>
        <p:nvPicPr>
          <p:cNvPr id="15" name="Picture 14"/>
          <p:cNvPicPr>
            <a:picLocks noChangeAspect="1"/>
          </p:cNvPicPr>
          <p:nvPr/>
        </p:nvPicPr>
        <p:blipFill>
          <a:blip r:embed="rId3"/>
          <a:stretch>
            <a:fillRect/>
          </a:stretch>
        </p:blipFill>
        <p:spPr>
          <a:xfrm>
            <a:off x="6157088" y="1535424"/>
            <a:ext cx="2131345" cy="751270"/>
          </a:xfrm>
          <a:prstGeom prst="rect">
            <a:avLst/>
          </a:prstGeom>
        </p:spPr>
      </p:pic>
      <p:sp>
        <p:nvSpPr>
          <p:cNvPr id="16" name="Abgerundetes Rechteck 24"/>
          <p:cNvSpPr/>
          <p:nvPr/>
        </p:nvSpPr>
        <p:spPr bwMode="gray">
          <a:xfrm>
            <a:off x="457201" y="1026000"/>
            <a:ext cx="4403040" cy="840265"/>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a:solidFill>
                  <a:schemeClr val="bg1"/>
                </a:solidFill>
                <a:latin typeface="EYInterstate Light" panose="02000506000000020004" pitchFamily="2" charset="0"/>
              </a:rPr>
              <a:t>T</a:t>
            </a:r>
            <a:r>
              <a:rPr lang="en-US" sz="1200" dirty="0" smtClean="0">
                <a:solidFill>
                  <a:schemeClr val="bg1"/>
                </a:solidFill>
                <a:latin typeface="EYInterstate Light" panose="02000506000000020004" pitchFamily="2" charset="0"/>
              </a:rPr>
              <a:t>wo </a:t>
            </a:r>
            <a:r>
              <a:rPr lang="en-US" sz="1200" dirty="0">
                <a:solidFill>
                  <a:schemeClr val="bg1"/>
                </a:solidFill>
                <a:latin typeface="EYInterstate Light" panose="02000506000000020004" pitchFamily="2" charset="0"/>
              </a:rPr>
              <a:t>options for </a:t>
            </a:r>
            <a:r>
              <a:rPr lang="en-US" sz="1200" dirty="0" smtClean="0">
                <a:solidFill>
                  <a:schemeClr val="bg1"/>
                </a:solidFill>
                <a:latin typeface="EYInterstate Light" panose="02000506000000020004" pitchFamily="2" charset="0"/>
              </a:rPr>
              <a:t>PDs are provided by </a:t>
            </a:r>
            <a:r>
              <a:rPr lang="en-US" sz="1200" dirty="0">
                <a:solidFill>
                  <a:schemeClr val="bg1"/>
                </a:solidFill>
                <a:latin typeface="EYInterstate Light" panose="02000506000000020004" pitchFamily="2" charset="0"/>
              </a:rPr>
              <a:t>LIC </a:t>
            </a:r>
            <a:r>
              <a:rPr lang="cs-CZ" sz="1200" dirty="0" smtClean="0">
                <a:solidFill>
                  <a:schemeClr val="bg1"/>
                </a:solidFill>
                <a:latin typeface="EYInterstate Light" panose="02000506000000020004" pitchFamily="2" charset="0"/>
              </a:rPr>
              <a:t>Solution</a:t>
            </a:r>
            <a:r>
              <a:rPr lang="en-US" sz="1200" dirty="0" smtClean="0">
                <a:solidFill>
                  <a:schemeClr val="bg1"/>
                </a:solidFill>
                <a:latin typeface="EYInterstate Light" panose="02000506000000020004" pitchFamily="2" charset="0"/>
              </a:rPr>
              <a:t>:</a:t>
            </a:r>
            <a:endParaRPr lang="en-US" sz="1200" dirty="0">
              <a:solidFill>
                <a:schemeClr val="bg1"/>
              </a:solidFill>
              <a:latin typeface="EYInterstate Light" panose="02000506000000020004" pitchFamily="2" charset="0"/>
            </a:endParaRPr>
          </a:p>
          <a:p>
            <a:pPr marL="272489" indent="-272489" defTabSz="912524">
              <a:spcAft>
                <a:spcPts val="600"/>
              </a:spcAft>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PD </a:t>
            </a:r>
            <a:r>
              <a:rPr lang="cs-CZ" sz="1200" b="1" dirty="0" err="1" smtClean="0">
                <a:solidFill>
                  <a:schemeClr val="bg1"/>
                </a:solidFill>
                <a:latin typeface="EYInterstate Light" panose="02000506000000020004" pitchFamily="2" charset="0"/>
              </a:rPr>
              <a:t>lifetime</a:t>
            </a:r>
            <a:r>
              <a:rPr lang="cs-CZ" sz="1200" b="1" dirty="0" smtClean="0">
                <a:solidFill>
                  <a:schemeClr val="bg1"/>
                </a:solidFill>
                <a:latin typeface="EYInterstate Light" panose="02000506000000020004" pitchFamily="2" charset="0"/>
              </a:rPr>
              <a:t> </a:t>
            </a:r>
            <a:r>
              <a:rPr lang="en-US" sz="1200" b="1" dirty="0" smtClean="0">
                <a:solidFill>
                  <a:schemeClr val="bg1"/>
                </a:solidFill>
                <a:latin typeface="EYInterstate Light" panose="02000506000000020004" pitchFamily="2" charset="0"/>
              </a:rPr>
              <a:t>curves </a:t>
            </a:r>
            <a:r>
              <a:rPr lang="en-US" sz="1200" b="1" dirty="0">
                <a:solidFill>
                  <a:schemeClr val="bg1"/>
                </a:solidFill>
                <a:latin typeface="EYInterstate Light" panose="02000506000000020004" pitchFamily="2" charset="0"/>
              </a:rPr>
              <a:t>in input </a:t>
            </a:r>
            <a:r>
              <a:rPr lang="en-US" sz="1200" b="1" dirty="0" smtClean="0">
                <a:solidFill>
                  <a:schemeClr val="bg1"/>
                </a:solidFill>
                <a:latin typeface="EYInterstate Light" panose="02000506000000020004" pitchFamily="2" charset="0"/>
              </a:rPr>
              <a:t>data</a:t>
            </a:r>
            <a:r>
              <a:rPr lang="en-US" sz="1200" dirty="0" smtClean="0">
                <a:solidFill>
                  <a:schemeClr val="bg1"/>
                </a:solidFill>
                <a:latin typeface="EYInterstate Light" panose="02000506000000020004" pitchFamily="2" charset="0"/>
              </a:rPr>
              <a:t> as either:</a:t>
            </a:r>
          </a:p>
          <a:p>
            <a:pPr marL="729689" lvl="1"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Applicable PD after forward-looking adjustment</a:t>
            </a:r>
          </a:p>
          <a:p>
            <a:pPr marL="729689" lvl="1"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PD Through-the-cycle (TTC)</a:t>
            </a:r>
          </a:p>
          <a:p>
            <a:pPr marL="729689" lvl="1" indent="-272489" defTabSz="912524">
              <a:spcAft>
                <a:spcPts val="600"/>
              </a:spcAft>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PD Point-in-time (PIT)</a:t>
            </a:r>
            <a:endParaRPr lang="en-US" sz="1200" dirty="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r>
              <a:rPr lang="en-US" sz="1200" b="1" dirty="0">
                <a:solidFill>
                  <a:schemeClr val="bg1"/>
                </a:solidFill>
                <a:latin typeface="EYInterstate Light" panose="02000506000000020004" pitchFamily="2" charset="0"/>
              </a:rPr>
              <a:t>PD estimation from transition </a:t>
            </a:r>
            <a:r>
              <a:rPr lang="en-US" sz="1200" b="1" dirty="0" smtClean="0">
                <a:solidFill>
                  <a:schemeClr val="bg1"/>
                </a:solidFill>
                <a:latin typeface="EYInterstate Light" panose="02000506000000020004" pitchFamily="2" charset="0"/>
              </a:rPr>
              <a:t>matrices</a:t>
            </a:r>
            <a:endParaRPr lang="en-US" sz="1200" b="1" dirty="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p:txBody>
      </p:sp>
      <p:sp>
        <p:nvSpPr>
          <p:cNvPr id="17"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22237440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t>PD </a:t>
            </a:r>
            <a:r>
              <a:rPr lang="en-US" dirty="0"/>
              <a:t>parameter configuration</a:t>
            </a:r>
          </a:p>
        </p:txBody>
      </p:sp>
      <p:sp>
        <p:nvSpPr>
          <p:cNvPr id="9" name="Footer Placeholder 3"/>
          <p:cNvSpPr>
            <a:spLocks noGrp="1"/>
          </p:cNvSpPr>
          <p:nvPr>
            <p:ph type="ftr" sz="quarter" idx="11"/>
          </p:nvPr>
        </p:nvSpPr>
        <p:spPr>
          <a:xfrm>
            <a:off x="2588400" y="6503980"/>
            <a:ext cx="3434400" cy="201600"/>
          </a:xfrm>
        </p:spPr>
        <p:txBody>
          <a:bodyPr/>
          <a:lstStyle/>
          <a:p>
            <a:pPr algn="ctr"/>
            <a:r>
              <a:rPr lang="en-US" dirty="0">
                <a:solidFill>
                  <a:srgbClr val="646464"/>
                </a:solidFill>
                <a:latin typeface="EYInterstate-Light"/>
              </a:rPr>
              <a:t>LIC </a:t>
            </a:r>
            <a:r>
              <a:rPr lang="en-GB" dirty="0">
                <a:solidFill>
                  <a:srgbClr val="646464"/>
                </a:solidFill>
                <a:latin typeface="EYInterstate-Light"/>
              </a:rPr>
              <a:t>Solution</a:t>
            </a:r>
            <a:r>
              <a:rPr lang="cs-CZ" dirty="0">
                <a:solidFill>
                  <a:srgbClr val="646464"/>
                </a:solidFill>
                <a:latin typeface="EYInterstate-Light"/>
              </a:rPr>
              <a:t>®</a:t>
            </a:r>
            <a:endParaRPr lang="en-GB" dirty="0">
              <a:solidFill>
                <a:srgbClr val="646464"/>
              </a:solidFill>
              <a:latin typeface="EYInterstate-Light"/>
            </a:endParaRPr>
          </a:p>
        </p:txBody>
      </p:sp>
      <p:pic>
        <p:nvPicPr>
          <p:cNvPr id="2" name="Picture 1"/>
          <p:cNvPicPr>
            <a:picLocks noChangeAspect="1"/>
          </p:cNvPicPr>
          <p:nvPr/>
        </p:nvPicPr>
        <p:blipFill>
          <a:blip r:embed="rId2"/>
          <a:stretch>
            <a:fillRect/>
          </a:stretch>
        </p:blipFill>
        <p:spPr>
          <a:xfrm>
            <a:off x="794987" y="964610"/>
            <a:ext cx="7549501" cy="5176417"/>
          </a:xfrm>
          <a:prstGeom prst="rect">
            <a:avLst/>
          </a:prstGeom>
        </p:spPr>
      </p:pic>
    </p:spTree>
    <p:extLst>
      <p:ext uri="{BB962C8B-B14F-4D97-AF65-F5344CB8AC3E}">
        <p14:creationId xmlns:p14="http://schemas.microsoft.com/office/powerpoint/2010/main" val="365013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t>PD </a:t>
            </a:r>
            <a:r>
              <a:rPr lang="en-US" dirty="0"/>
              <a:t>parameter configuration</a:t>
            </a:r>
          </a:p>
        </p:txBody>
      </p:sp>
      <p:sp>
        <p:nvSpPr>
          <p:cNvPr id="9" name="Footer Placeholder 3"/>
          <p:cNvSpPr>
            <a:spLocks noGrp="1"/>
          </p:cNvSpPr>
          <p:nvPr>
            <p:ph type="ftr" sz="quarter" idx="11"/>
          </p:nvPr>
        </p:nvSpPr>
        <p:spPr>
          <a:xfrm>
            <a:off x="2588400" y="6503980"/>
            <a:ext cx="3434400" cy="201600"/>
          </a:xfrm>
        </p:spPr>
        <p:txBody>
          <a:bodyPr/>
          <a:lstStyle/>
          <a:p>
            <a:pPr algn="ctr"/>
            <a:r>
              <a:rPr lang="en-US" dirty="0">
                <a:solidFill>
                  <a:srgbClr val="646464"/>
                </a:solidFill>
                <a:latin typeface="EYInterstate-Light"/>
              </a:rPr>
              <a:t>LIC </a:t>
            </a:r>
            <a:r>
              <a:rPr lang="en-GB" dirty="0">
                <a:solidFill>
                  <a:srgbClr val="646464"/>
                </a:solidFill>
                <a:latin typeface="EYInterstate-Light"/>
              </a:rPr>
              <a:t>Solution</a:t>
            </a:r>
            <a:r>
              <a:rPr lang="cs-CZ" dirty="0">
                <a:solidFill>
                  <a:srgbClr val="646464"/>
                </a:solidFill>
                <a:latin typeface="EYInterstate-Light"/>
              </a:rPr>
              <a:t>®</a:t>
            </a:r>
            <a:endParaRPr lang="en-GB" dirty="0">
              <a:solidFill>
                <a:srgbClr val="646464"/>
              </a:solidFill>
              <a:latin typeface="EYInterstate-Light"/>
            </a:endParaRPr>
          </a:p>
        </p:txBody>
      </p:sp>
      <p:pic>
        <p:nvPicPr>
          <p:cNvPr id="4" name="Picture 3"/>
          <p:cNvPicPr>
            <a:picLocks noChangeAspect="1"/>
          </p:cNvPicPr>
          <p:nvPr/>
        </p:nvPicPr>
        <p:blipFill>
          <a:blip r:embed="rId2"/>
          <a:stretch>
            <a:fillRect/>
          </a:stretch>
        </p:blipFill>
        <p:spPr>
          <a:xfrm>
            <a:off x="457200" y="704838"/>
            <a:ext cx="8204047" cy="5498535"/>
          </a:xfrm>
          <a:prstGeom prst="rect">
            <a:avLst/>
          </a:prstGeom>
        </p:spPr>
      </p:pic>
    </p:spTree>
    <p:extLst>
      <p:ext uri="{BB962C8B-B14F-4D97-AF65-F5344CB8AC3E}">
        <p14:creationId xmlns:p14="http://schemas.microsoft.com/office/powerpoint/2010/main" val="3855390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LGD parameter</a:t>
            </a:r>
            <a:endParaRPr lang="en-US" dirty="0">
              <a:latin typeface="EYInterstate" panose="02000503020000020004" pitchFamily="2" charset="0"/>
            </a:endParaRPr>
          </a:p>
        </p:txBody>
      </p:sp>
      <p:sp>
        <p:nvSpPr>
          <p:cNvPr id="11" name="Abgerundetes Rechteck 24"/>
          <p:cNvSpPr/>
          <p:nvPr/>
        </p:nvSpPr>
        <p:spPr bwMode="gray">
          <a:xfrm>
            <a:off x="457200" y="1026000"/>
            <a:ext cx="8229599" cy="935199"/>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smtClean="0">
                <a:solidFill>
                  <a:schemeClr val="bg1"/>
                </a:solidFill>
                <a:latin typeface="EYInterstate Light" panose="02000506000000020004" pitchFamily="2" charset="0"/>
              </a:rPr>
              <a:t>Multiple options for LGD parameter are available in LIC Solution® including:</a:t>
            </a:r>
          </a:p>
          <a:p>
            <a:pPr defTabSz="912524">
              <a:buClr>
                <a:srgbClr val="FFD200"/>
              </a:buClr>
              <a:buSzPct val="70000"/>
            </a:pPr>
            <a:endParaRPr lang="en-US" sz="1200" dirty="0" smtClean="0">
              <a:solidFill>
                <a:schemeClr val="bg1"/>
              </a:solidFill>
              <a:latin typeface="EYInterstate Light" panose="02000506000000020004" pitchFamily="2" charset="0"/>
            </a:endParaRPr>
          </a:p>
        </p:txBody>
      </p:sp>
      <p:sp>
        <p:nvSpPr>
          <p:cNvPr id="37" name="Abgerundetes Rechteck 24"/>
          <p:cNvSpPr/>
          <p:nvPr/>
        </p:nvSpPr>
        <p:spPr bwMode="gray">
          <a:xfrm>
            <a:off x="845201" y="1884611"/>
            <a:ext cx="3648658" cy="4127012"/>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anchor="t"/>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Stage 1 and Stage 2 assets</a:t>
            </a:r>
          </a:p>
          <a:p>
            <a:pPr defTabSz="801688" eaLnBrk="0" hangingPunct="0">
              <a:lnSpc>
                <a:spcPct val="95000"/>
              </a:lnSpc>
              <a:spcAft>
                <a:spcPts val="800"/>
              </a:spcAft>
              <a:buClr>
                <a:srgbClr val="969696"/>
              </a:buClr>
              <a:defRPr/>
            </a:pPr>
            <a:r>
              <a:rPr lang="en-US" sz="1200" dirty="0" smtClean="0">
                <a:solidFill>
                  <a:schemeClr val="bg1"/>
                </a:solidFill>
                <a:latin typeface="EYInterstate Light" panose="02000506000000020004" pitchFamily="2" charset="0"/>
                <a:cs typeface="Arial" charset="0"/>
              </a:rPr>
              <a:t>Two types of LGDs can be loaded on exposure level or manually set on portfolio level:</a:t>
            </a:r>
            <a:endParaRPr lang="en-US" sz="1200" dirty="0" smtClean="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LGD</a:t>
            </a: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Unsecured LGD</a:t>
            </a:r>
            <a:r>
              <a:rPr lang="en-US" sz="1200" dirty="0" smtClean="0">
                <a:solidFill>
                  <a:schemeClr val="bg1"/>
                </a:solidFill>
                <a:latin typeface="EYInterstate Light" panose="02000506000000020004" pitchFamily="2" charset="0"/>
              </a:rPr>
              <a:t> – collateral data are imported to LIC Solution® with the possibility for manual re-allocation of collaterals</a:t>
            </a:r>
          </a:p>
          <a:p>
            <a:pPr marL="272489" indent="-272489" defTabSz="912524">
              <a:buClr>
                <a:srgbClr val="FFD200"/>
              </a:buClr>
              <a:buSzPct val="70000"/>
              <a:buFont typeface="Arial" panose="020B0604020202020204" pitchFamily="34" charset="0"/>
              <a:buChar char="►"/>
            </a:pPr>
            <a:endParaRPr lang="en-US" sz="1200" dirty="0" smtClean="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dirty="0" smtClean="0">
              <a:solidFill>
                <a:srgbClr val="646464"/>
              </a:solidFill>
              <a:latin typeface="EYInterstate Light" panose="02000506000000020004" pitchFamily="2" charset="0"/>
              <a:cs typeface="Arial" charset="0"/>
            </a:endParaRPr>
          </a:p>
        </p:txBody>
      </p:sp>
      <p:sp>
        <p:nvSpPr>
          <p:cNvPr id="39" name="Abgerundetes Rechteck 24"/>
          <p:cNvSpPr/>
          <p:nvPr/>
        </p:nvSpPr>
        <p:spPr bwMode="gray">
          <a:xfrm>
            <a:off x="4865642" y="1874708"/>
            <a:ext cx="3560240" cy="1915027"/>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anchor="t"/>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Stage 3 assets</a:t>
            </a:r>
          </a:p>
          <a:p>
            <a:pPr defTabSz="801688" eaLnBrk="0" hangingPunct="0">
              <a:lnSpc>
                <a:spcPct val="95000"/>
              </a:lnSpc>
              <a:spcAft>
                <a:spcPts val="800"/>
              </a:spcAft>
              <a:buClr>
                <a:srgbClr val="969696"/>
              </a:buClr>
              <a:defRPr/>
            </a:pPr>
            <a:r>
              <a:rPr lang="en-US" sz="1200" dirty="0" smtClean="0">
                <a:solidFill>
                  <a:srgbClr val="646464"/>
                </a:solidFill>
                <a:latin typeface="EYInterstate Light" panose="02000506000000020004" pitchFamily="2" charset="0"/>
                <a:cs typeface="Arial" charset="0"/>
              </a:rPr>
              <a:t>LIC Solution® </a:t>
            </a:r>
            <a:r>
              <a:rPr lang="en-US" sz="1200" dirty="0" smtClean="0">
                <a:solidFill>
                  <a:schemeClr val="bg1"/>
                </a:solidFill>
                <a:latin typeface="EYInterstate Light" panose="02000506000000020004" pitchFamily="2" charset="0"/>
              </a:rPr>
              <a:t>provides several options to derive </a:t>
            </a:r>
            <a:r>
              <a:rPr lang="en-US" sz="1200" b="1" dirty="0" smtClean="0">
                <a:solidFill>
                  <a:schemeClr val="bg1"/>
                </a:solidFill>
                <a:latin typeface="EYInterstate Light" panose="02000506000000020004" pitchFamily="2" charset="0"/>
              </a:rPr>
              <a:t>residual LGD</a:t>
            </a:r>
            <a:r>
              <a:rPr lang="en-US" sz="1200" dirty="0" smtClean="0">
                <a:solidFill>
                  <a:schemeClr val="bg1"/>
                </a:solidFill>
                <a:latin typeface="EYInterstate Light" panose="02000506000000020004" pitchFamily="2" charset="0"/>
              </a:rPr>
              <a:t>:</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loaded from input data on asset level</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calculated based on collaterals</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based on the number of months after default and portfolio recovery curve provided by the Institution</a:t>
            </a:r>
          </a:p>
          <a:p>
            <a:pPr defTabSz="801688" eaLnBrk="0" hangingPunct="0">
              <a:lnSpc>
                <a:spcPct val="95000"/>
              </a:lnSpc>
              <a:spcAft>
                <a:spcPts val="800"/>
              </a:spcAft>
              <a:buClr>
                <a:srgbClr val="969696"/>
              </a:buClr>
              <a:defRPr/>
            </a:pPr>
            <a:endParaRPr lang="en-US" sz="1200" dirty="0" smtClean="0">
              <a:solidFill>
                <a:srgbClr val="646464"/>
              </a:solidFill>
              <a:latin typeface="EYInterstate Light" panose="02000506000000020004" pitchFamily="2" charset="0"/>
              <a:cs typeface="Arial" charset="0"/>
            </a:endParaRPr>
          </a:p>
        </p:txBody>
      </p:sp>
      <p:sp>
        <p:nvSpPr>
          <p:cNvPr id="43" name="Abgerundetes Rechteck 24"/>
          <p:cNvSpPr/>
          <p:nvPr/>
        </p:nvSpPr>
        <p:spPr bwMode="gray">
          <a:xfrm>
            <a:off x="457200" y="1325085"/>
            <a:ext cx="8686800" cy="44606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numCol="2" anchor="ctr"/>
          <a:lstStyle/>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LGD lifetime curves in input data</a:t>
            </a: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LGD lifetime curve estimation reflecting LTV change</a:t>
            </a: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One-off input of portfolio level residual LGD curve</a:t>
            </a: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LGD estimation based on collateral recovery</a:t>
            </a:r>
            <a:endParaRPr lang="en-US" sz="1200" b="1" dirty="0">
              <a:solidFill>
                <a:schemeClr val="bg1"/>
              </a:solidFill>
              <a:latin typeface="EYInterstate Light" panose="02000506000000020004" pitchFamily="2" charset="0"/>
            </a:endParaRPr>
          </a:p>
        </p:txBody>
      </p:sp>
      <p:pic>
        <p:nvPicPr>
          <p:cNvPr id="44" name="Picture 4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3267" y="3881705"/>
            <a:ext cx="3775776" cy="2157309"/>
          </a:xfrm>
          <a:prstGeom prst="rect">
            <a:avLst/>
          </a:prstGeom>
          <a:noFill/>
        </p:spPr>
      </p:pic>
      <p:sp>
        <p:nvSpPr>
          <p:cNvPr id="10"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12" name="Abgerundetes Rechteck 24"/>
          <p:cNvSpPr/>
          <p:nvPr/>
        </p:nvSpPr>
        <p:spPr bwMode="gray">
          <a:xfrm>
            <a:off x="1029351" y="3559853"/>
            <a:ext cx="3650400" cy="1251551"/>
          </a:xfrm>
          <a:prstGeom prst="rect">
            <a:avLst/>
          </a:prstGeom>
          <a:solidFill>
            <a:srgbClr val="FFD20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defTabSz="912524">
              <a:buClr>
                <a:srgbClr val="FFD200"/>
              </a:buClr>
              <a:buSzPct val="70000"/>
            </a:pPr>
            <a:r>
              <a:rPr lang="en-US" sz="1200" b="1" dirty="0">
                <a:solidFill>
                  <a:schemeClr val="bg1"/>
                </a:solidFill>
                <a:latin typeface="EYInterstate Light" panose="02000506000000020004" pitchFamily="2" charset="0"/>
              </a:rPr>
              <a:t>Forward-looking adjustment</a:t>
            </a:r>
            <a:r>
              <a:rPr lang="en-US" sz="1200" dirty="0">
                <a:solidFill>
                  <a:schemeClr val="bg1"/>
                </a:solidFill>
                <a:latin typeface="EYInterstate Light" panose="02000506000000020004" pitchFamily="2" charset="0"/>
              </a:rPr>
              <a:t> is reflected in LGDs through three different haircuts that can be applied per collateral type:</a:t>
            </a:r>
          </a:p>
          <a:p>
            <a:pPr marL="272489" indent="-272489" defTabSz="912524">
              <a:buClr>
                <a:schemeClr val="bg1"/>
              </a:buClr>
              <a:buSzPct val="70000"/>
              <a:buFont typeface="Arial" panose="020B0604020202020204" pitchFamily="34" charset="0"/>
              <a:buChar char="►"/>
            </a:pPr>
            <a:r>
              <a:rPr lang="en-US" sz="1200" dirty="0">
                <a:solidFill>
                  <a:schemeClr val="bg1"/>
                </a:solidFill>
                <a:latin typeface="EYInterstate Light" panose="02000506000000020004" pitchFamily="2" charset="0"/>
              </a:rPr>
              <a:t>Haircut applicable for next 12 months</a:t>
            </a:r>
          </a:p>
          <a:p>
            <a:pPr marL="272489" indent="-272489" defTabSz="912524">
              <a:buClr>
                <a:schemeClr val="bg1"/>
              </a:buClr>
              <a:buSzPct val="70000"/>
              <a:buFont typeface="Arial" panose="020B0604020202020204" pitchFamily="34" charset="0"/>
              <a:buChar char="►"/>
            </a:pPr>
            <a:r>
              <a:rPr lang="en-US" sz="1200" dirty="0">
                <a:solidFill>
                  <a:schemeClr val="bg1"/>
                </a:solidFill>
                <a:latin typeface="EYInterstate Light" panose="02000506000000020004" pitchFamily="2" charset="0"/>
              </a:rPr>
              <a:t>Haircut applicable for months 13-24</a:t>
            </a:r>
          </a:p>
          <a:p>
            <a:pPr marL="272489" indent="-272489" defTabSz="912524">
              <a:buClr>
                <a:schemeClr val="bg1"/>
              </a:buClr>
              <a:buSzPct val="70000"/>
              <a:buFont typeface="Arial" panose="020B0604020202020204" pitchFamily="34" charset="0"/>
              <a:buChar char="►"/>
            </a:pPr>
            <a:r>
              <a:rPr lang="en-US" sz="1200" dirty="0">
                <a:solidFill>
                  <a:schemeClr val="bg1"/>
                </a:solidFill>
                <a:latin typeface="EYInterstate Light" panose="02000506000000020004" pitchFamily="2" charset="0"/>
              </a:rPr>
              <a:t>Haircut applicable for months 25+</a:t>
            </a:r>
          </a:p>
          <a:p>
            <a:pPr defTabSz="912524">
              <a:buClr>
                <a:srgbClr val="FFD200"/>
              </a:buClr>
              <a:buSzPct val="70000"/>
            </a:pPr>
            <a:endParaRPr lang="en-US" sz="1200" b="1" dirty="0">
              <a:solidFill>
                <a:schemeClr val="bg1"/>
              </a:solidFill>
              <a:latin typeface="EYInterstate Light" panose="02000506000000020004" pitchFamily="2" charset="0"/>
            </a:endParaRPr>
          </a:p>
        </p:txBody>
      </p:sp>
      <p:sp>
        <p:nvSpPr>
          <p:cNvPr id="13" name="Abgerundetes Rechteck 24"/>
          <p:cNvSpPr/>
          <p:nvPr/>
        </p:nvSpPr>
        <p:spPr bwMode="gray">
          <a:xfrm>
            <a:off x="1029351" y="4930339"/>
            <a:ext cx="3650400" cy="1259302"/>
          </a:xfrm>
          <a:prstGeom prst="rect">
            <a:avLst/>
          </a:prstGeom>
          <a:solidFill>
            <a:schemeClr val="bg1"/>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defTabSz="912524">
              <a:buClr>
                <a:schemeClr val="bg1"/>
              </a:buClr>
              <a:buSzPct val="70000"/>
            </a:pPr>
            <a:r>
              <a:rPr lang="en-US" sz="1200" dirty="0" smtClean="0">
                <a:solidFill>
                  <a:srgbClr val="FFFFFF"/>
                </a:solidFill>
                <a:latin typeface="EYInterstate Light" panose="02000506000000020004" pitchFamily="2" charset="0"/>
              </a:rPr>
              <a:t>Alternatively to providing collateral information, </a:t>
            </a:r>
            <a:r>
              <a:rPr lang="en-US" sz="1200" b="1" dirty="0" smtClean="0">
                <a:solidFill>
                  <a:srgbClr val="FFD503"/>
                </a:solidFill>
                <a:latin typeface="EYInterstate Light" panose="02000506000000020004" pitchFamily="2" charset="0"/>
              </a:rPr>
              <a:t>LTV</a:t>
            </a:r>
            <a:r>
              <a:rPr lang="en-US" sz="1200" dirty="0" smtClean="0">
                <a:solidFill>
                  <a:srgbClr val="FFFFFF"/>
                </a:solidFill>
                <a:latin typeface="EYInterstate Light" panose="02000506000000020004" pitchFamily="2" charset="0"/>
              </a:rPr>
              <a:t> (loan-to-value) parameter provided by the Institution on asset level can be used. </a:t>
            </a:r>
            <a:r>
              <a:rPr lang="en-US" sz="1200" b="1" dirty="0" smtClean="0">
                <a:solidFill>
                  <a:srgbClr val="FFD503"/>
                </a:solidFill>
                <a:latin typeface="EYInterstate Light" panose="02000506000000020004" pitchFamily="2" charset="0"/>
              </a:rPr>
              <a:t>More advanced approach</a:t>
            </a:r>
            <a:r>
              <a:rPr lang="en-US" sz="1200" dirty="0" smtClean="0">
                <a:solidFill>
                  <a:srgbClr val="FFD503"/>
                </a:solidFill>
                <a:latin typeface="EYInterstate Light" panose="02000506000000020004" pitchFamily="2" charset="0"/>
              </a:rPr>
              <a:t> </a:t>
            </a:r>
            <a:r>
              <a:rPr lang="en-US" sz="1200" dirty="0" smtClean="0">
                <a:solidFill>
                  <a:srgbClr val="FFFFFF"/>
                </a:solidFill>
                <a:latin typeface="EYInterstate Light" panose="02000506000000020004" pitchFamily="2" charset="0"/>
              </a:rPr>
              <a:t>reflecting lifetime development of LGD is also available.</a:t>
            </a:r>
          </a:p>
          <a:p>
            <a:pPr defTabSz="912524">
              <a:buClr>
                <a:schemeClr val="bg1"/>
              </a:buClr>
              <a:buSzPct val="70000"/>
            </a:pPr>
            <a:endParaRPr lang="en-US" sz="1200" b="1" dirty="0" smtClean="0">
              <a:solidFill>
                <a:srgbClr val="FFFFFF"/>
              </a:solidFill>
              <a:latin typeface="EYInterstate Light" panose="02000506000000020004" pitchFamily="2" charset="0"/>
            </a:endParaRPr>
          </a:p>
        </p:txBody>
      </p:sp>
    </p:spTree>
    <p:extLst>
      <p:ext uri="{BB962C8B-B14F-4D97-AF65-F5344CB8AC3E}">
        <p14:creationId xmlns:p14="http://schemas.microsoft.com/office/powerpoint/2010/main" val="2750203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t>LGD </a:t>
            </a:r>
            <a:r>
              <a:rPr lang="en-US" dirty="0"/>
              <a:t>parameter configuration</a:t>
            </a:r>
          </a:p>
        </p:txBody>
      </p:sp>
      <p:sp>
        <p:nvSpPr>
          <p:cNvPr id="9" name="Footer Placeholder 3"/>
          <p:cNvSpPr>
            <a:spLocks noGrp="1"/>
          </p:cNvSpPr>
          <p:nvPr>
            <p:ph type="ftr" sz="quarter" idx="11"/>
          </p:nvPr>
        </p:nvSpPr>
        <p:spPr>
          <a:xfrm>
            <a:off x="2588400" y="6503980"/>
            <a:ext cx="3434400" cy="201600"/>
          </a:xfrm>
        </p:spPr>
        <p:txBody>
          <a:bodyPr/>
          <a:lstStyle/>
          <a:p>
            <a:pPr algn="ctr"/>
            <a:r>
              <a:rPr lang="en-US" dirty="0">
                <a:solidFill>
                  <a:srgbClr val="646464"/>
                </a:solidFill>
                <a:latin typeface="EYInterstate-Light"/>
              </a:rPr>
              <a:t>LIC </a:t>
            </a:r>
            <a:r>
              <a:rPr lang="en-GB" dirty="0">
                <a:solidFill>
                  <a:srgbClr val="646464"/>
                </a:solidFill>
                <a:latin typeface="EYInterstate-Light"/>
              </a:rPr>
              <a:t>Solution</a:t>
            </a:r>
            <a:r>
              <a:rPr lang="cs-CZ" dirty="0">
                <a:solidFill>
                  <a:srgbClr val="646464"/>
                </a:solidFill>
                <a:latin typeface="EYInterstate-Light"/>
              </a:rPr>
              <a:t>®</a:t>
            </a:r>
            <a:endParaRPr lang="en-GB" dirty="0">
              <a:solidFill>
                <a:srgbClr val="646464"/>
              </a:solidFill>
              <a:latin typeface="EYInterstate-Light"/>
            </a:endParaRPr>
          </a:p>
        </p:txBody>
      </p:sp>
      <p:pic>
        <p:nvPicPr>
          <p:cNvPr id="3" name="Picture 2"/>
          <p:cNvPicPr>
            <a:picLocks noChangeAspect="1"/>
          </p:cNvPicPr>
          <p:nvPr/>
        </p:nvPicPr>
        <p:blipFill>
          <a:blip r:embed="rId2"/>
          <a:stretch>
            <a:fillRect/>
          </a:stretch>
        </p:blipFill>
        <p:spPr>
          <a:xfrm>
            <a:off x="853524" y="797169"/>
            <a:ext cx="6904152" cy="4442313"/>
          </a:xfrm>
          <a:prstGeom prst="rect">
            <a:avLst/>
          </a:prstGeom>
        </p:spPr>
      </p:pic>
    </p:spTree>
    <p:extLst>
      <p:ext uri="{BB962C8B-B14F-4D97-AF65-F5344CB8AC3E}">
        <p14:creationId xmlns:p14="http://schemas.microsoft.com/office/powerpoint/2010/main" val="3819738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EYInterstate" panose="02000503020000020004" pitchFamily="2" charset="0"/>
              </a:rPr>
              <a:t>EAD parameter</a:t>
            </a:r>
            <a:endParaRPr lang="en-GB"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11" name="Abgerundetes Rechteck 24"/>
          <p:cNvSpPr/>
          <p:nvPr/>
        </p:nvSpPr>
        <p:spPr bwMode="gray">
          <a:xfrm>
            <a:off x="457200" y="1026000"/>
            <a:ext cx="8229599" cy="935199"/>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0" lvl="1" defTabSz="940800">
              <a:spcAft>
                <a:spcPts val="277"/>
              </a:spcAft>
              <a:buClr>
                <a:srgbClr val="FFE600"/>
              </a:buClr>
              <a:buSzPct val="100000"/>
              <a:defRPr/>
            </a:pPr>
            <a:r>
              <a:rPr lang="en-US" sz="1200" dirty="0" smtClean="0">
                <a:solidFill>
                  <a:schemeClr val="bg1"/>
                </a:solidFill>
                <a:latin typeface="EYInterstate Light" panose="02000506000000020004" pitchFamily="2" charset="0"/>
              </a:rPr>
              <a:t>For EAD parameter LIC Solution® provides two options:</a:t>
            </a:r>
          </a:p>
          <a:p>
            <a:pPr marL="272489" indent="-272489" defTabSz="912524">
              <a:buClr>
                <a:srgbClr val="FFD200"/>
              </a:buClr>
              <a:buSzPct val="70000"/>
              <a:buFont typeface="Arial" panose="020B0604020202020204" pitchFamily="34" charset="0"/>
              <a:buChar char="►"/>
            </a:pPr>
            <a:endParaRPr lang="en-US" sz="1200" dirty="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p:txBody>
      </p:sp>
      <mc:AlternateContent xmlns:mc="http://schemas.openxmlformats.org/markup-compatibility/2006" xmlns:a14="http://schemas.microsoft.com/office/drawing/2010/main">
        <mc:Choice Requires="a14">
          <p:sp>
            <p:nvSpPr>
              <p:cNvPr id="37" name="Abgerundetes Rechteck 24"/>
              <p:cNvSpPr/>
              <p:nvPr/>
            </p:nvSpPr>
            <p:spPr bwMode="gray">
              <a:xfrm>
                <a:off x="3792843" y="2132245"/>
                <a:ext cx="4514395" cy="3744772"/>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anchor="t"/>
              <a:lstStyle/>
              <a:p>
                <a:pPr defTabSz="801688" eaLnBrk="0" hangingPunct="0">
                  <a:lnSpc>
                    <a:spcPct val="95000"/>
                  </a:lnSpc>
                  <a:spcAft>
                    <a:spcPts val="800"/>
                  </a:spcAft>
                  <a:buClr>
                    <a:srgbClr val="969696"/>
                  </a:buClr>
                  <a:defRPr/>
                </a:pPr>
                <a:r>
                  <a:rPr lang="en-US" sz="1200" dirty="0" smtClean="0">
                    <a:solidFill>
                      <a:srgbClr val="646464"/>
                    </a:solidFill>
                    <a:latin typeface="EYInterstate Light" panose="02000506000000020004" pitchFamily="2" charset="0"/>
                    <a:cs typeface="Arial" charset="0"/>
                  </a:rPr>
                  <a:t>EAD curve is in </a:t>
                </a:r>
                <a:r>
                  <a:rPr lang="en-US" sz="1200" dirty="0" smtClean="0">
                    <a:solidFill>
                      <a:schemeClr val="bg1"/>
                    </a:solidFill>
                    <a:latin typeface="EYInterstate Light" panose="02000506000000020004" pitchFamily="2" charset="0"/>
                  </a:rPr>
                  <a:t>LIC Solution® estimated using:</a:t>
                </a:r>
              </a:p>
              <a:p>
                <a:pPr defTabSz="801688" eaLnBrk="0" hangingPunct="0">
                  <a:lnSpc>
                    <a:spcPct val="95000"/>
                  </a:lnSpc>
                  <a:spcAft>
                    <a:spcPts val="800"/>
                  </a:spcAft>
                  <a:buClr>
                    <a:srgbClr val="969696"/>
                  </a:buClr>
                  <a:defRPr/>
                </a:pPr>
                <a14:m>
                  <m:oMathPara xmlns:m="http://schemas.openxmlformats.org/officeDocument/2006/math">
                    <m:oMathParaPr>
                      <m:jc m:val="centerGroup"/>
                    </m:oMathParaPr>
                    <m:oMath xmlns:m="http://schemas.openxmlformats.org/officeDocument/2006/math">
                      <m:sSub>
                        <m:sSubPr>
                          <m:ctrlPr>
                            <a:rPr lang="cs-CZ" sz="1200" i="1">
                              <a:latin typeface="Cambria Math" panose="02040503050406030204" pitchFamily="18" charset="0"/>
                            </a:rPr>
                          </m:ctrlPr>
                        </m:sSubPr>
                        <m:e>
                          <m:r>
                            <a:rPr lang="en-US" sz="1200" i="1">
                              <a:latin typeface="Cambria Math" panose="02040503050406030204" pitchFamily="18" charset="0"/>
                            </a:rPr>
                            <m:t>𝐸𝐴𝐷</m:t>
                          </m:r>
                        </m:e>
                        <m:sub>
                          <m:r>
                            <a:rPr lang="en-US" sz="1200" i="1">
                              <a:latin typeface="Cambria Math" panose="02040503050406030204" pitchFamily="18" charset="0"/>
                            </a:rPr>
                            <m:t>𝑡</m:t>
                          </m:r>
                        </m:sub>
                      </m:sSub>
                      <m:r>
                        <a:rPr lang="en-US" sz="1200" i="1">
                          <a:latin typeface="Cambria Math" panose="02040503050406030204" pitchFamily="18" charset="0"/>
                        </a:rPr>
                        <m:t>=</m:t>
                      </m:r>
                      <m:sSub>
                        <m:sSubPr>
                          <m:ctrlPr>
                            <a:rPr lang="cs-CZ" sz="1200" i="1">
                              <a:latin typeface="Cambria Math" panose="02040503050406030204" pitchFamily="18" charset="0"/>
                            </a:rPr>
                          </m:ctrlPr>
                        </m:sSubPr>
                        <m:e>
                          <m:r>
                            <a:rPr lang="en-US" sz="1200" i="1">
                              <a:latin typeface="Cambria Math" panose="02040503050406030204" pitchFamily="18" charset="0"/>
                            </a:rPr>
                            <m:t>𝑂𝑛𝑏𝑎𝑙𝑎𝑛𝑐𝑒</m:t>
                          </m:r>
                          <m:r>
                            <a:rPr lang="en-US" sz="1200" i="1">
                              <a:latin typeface="Cambria Math" panose="02040503050406030204" pitchFamily="18" charset="0"/>
                            </a:rPr>
                            <m:t> </m:t>
                          </m:r>
                          <m:r>
                            <a:rPr lang="en-US" sz="1200" i="1">
                              <a:latin typeface="Cambria Math" panose="02040503050406030204" pitchFamily="18" charset="0"/>
                            </a:rPr>
                            <m:t>𝑒𝑥𝑝𝑜𝑠𝑢𝑟𝑒</m:t>
                          </m:r>
                        </m:e>
                        <m:sub>
                          <m:r>
                            <a:rPr lang="en-US" sz="1200" i="1">
                              <a:latin typeface="Cambria Math" panose="02040503050406030204" pitchFamily="18" charset="0"/>
                            </a:rPr>
                            <m:t>𝑡</m:t>
                          </m:r>
                        </m:sub>
                      </m:sSub>
                      <m:r>
                        <a:rPr lang="en-US" sz="1200" i="1">
                          <a:latin typeface="Cambria Math" panose="02040503050406030204" pitchFamily="18" charset="0"/>
                        </a:rPr>
                        <m:t>+</m:t>
                      </m:r>
                      <m:sSub>
                        <m:sSubPr>
                          <m:ctrlPr>
                            <a:rPr lang="cs-CZ" sz="1200" i="1">
                              <a:latin typeface="Cambria Math" panose="02040503050406030204" pitchFamily="18" charset="0"/>
                            </a:rPr>
                          </m:ctrlPr>
                        </m:sSubPr>
                        <m:e>
                          <m:r>
                            <a:rPr lang="en-US" sz="1200" i="1">
                              <a:latin typeface="Cambria Math" panose="02040503050406030204" pitchFamily="18" charset="0"/>
                            </a:rPr>
                            <m:t>𝑂𝑓𝑓𝑏𝑎𝑙𝑎𝑛𝑐𝑒</m:t>
                          </m:r>
                          <m:r>
                            <a:rPr lang="en-US" sz="1200" i="1">
                              <a:latin typeface="Cambria Math" panose="02040503050406030204" pitchFamily="18" charset="0"/>
                            </a:rPr>
                            <m:t> </m:t>
                          </m:r>
                          <m:r>
                            <a:rPr lang="en-US" sz="1200" i="1">
                              <a:latin typeface="Cambria Math" panose="02040503050406030204" pitchFamily="18" charset="0"/>
                            </a:rPr>
                            <m:t>𝑒𝑥𝑝𝑜𝑠𝑢𝑟𝑒</m:t>
                          </m:r>
                        </m:e>
                        <m:sub>
                          <m:r>
                            <a:rPr lang="en-US" sz="1200" i="1">
                              <a:latin typeface="Cambria Math" panose="02040503050406030204" pitchFamily="18" charset="0"/>
                            </a:rPr>
                            <m:t>𝑡</m:t>
                          </m:r>
                        </m:sub>
                      </m:sSub>
                      <m:r>
                        <a:rPr lang="en-US" sz="1200" i="1">
                          <a:latin typeface="Cambria Math" panose="02040503050406030204" pitchFamily="18" charset="0"/>
                        </a:rPr>
                        <m:t>×</m:t>
                      </m:r>
                      <m:sSub>
                        <m:sSubPr>
                          <m:ctrlPr>
                            <a:rPr lang="cs-CZ" sz="1200" i="1">
                              <a:latin typeface="Cambria Math" panose="02040503050406030204" pitchFamily="18" charset="0"/>
                            </a:rPr>
                          </m:ctrlPr>
                        </m:sSubPr>
                        <m:e>
                          <m:r>
                            <a:rPr lang="en-US" sz="1200" i="1">
                              <a:latin typeface="Cambria Math" panose="02040503050406030204" pitchFamily="18" charset="0"/>
                            </a:rPr>
                            <m:t>𝐶𝐶𝐹</m:t>
                          </m:r>
                        </m:e>
                        <m:sub>
                          <m:r>
                            <a:rPr lang="en-US" sz="1200" i="1">
                              <a:latin typeface="Cambria Math" panose="02040503050406030204" pitchFamily="18" charset="0"/>
                            </a:rPr>
                            <m:t>𝑡</m:t>
                          </m:r>
                        </m:sub>
                      </m:sSub>
                    </m:oMath>
                  </m:oMathPara>
                </a14:m>
                <a:endParaRPr lang="en-US" sz="1200" dirty="0" smtClean="0">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smtClean="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smtClean="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smtClean="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smtClean="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endParaRPr lang="en-US" sz="1200" dirty="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dirty="0" smtClean="0">
                  <a:solidFill>
                    <a:srgbClr val="646464"/>
                  </a:solidFill>
                  <a:latin typeface="EYInterstate Light" panose="02000506000000020004" pitchFamily="2" charset="0"/>
                  <a:cs typeface="Arial" charset="0"/>
                </a:endParaRPr>
              </a:p>
            </p:txBody>
          </p:sp>
        </mc:Choice>
        <mc:Fallback xmlns="">
          <p:sp>
            <p:nvSpPr>
              <p:cNvPr id="37" name="Abgerundetes Rechteck 24"/>
              <p:cNvSpPr>
                <a:spLocks noRot="1" noChangeAspect="1" noMove="1" noResize="1" noEditPoints="1" noAdjustHandles="1" noChangeArrowheads="1" noChangeShapeType="1" noTextEdit="1"/>
              </p:cNvSpPr>
              <p:nvPr/>
            </p:nvSpPr>
            <p:spPr bwMode="gray">
              <a:xfrm>
                <a:off x="3792843" y="2132245"/>
                <a:ext cx="4514395" cy="3744772"/>
              </a:xfrm>
              <a:prstGeom prst="rect">
                <a:avLst/>
              </a:prstGeom>
              <a:blipFill rotWithShape="0">
                <a:blip r:embed="rId2"/>
                <a:stretch>
                  <a:fillRect/>
                </a:stretch>
              </a:blipFill>
              <a:ln>
                <a:noFill/>
                <a:headEnd/>
                <a:tailEnd/>
              </a:ln>
            </p:spPr>
            <p:txBody>
              <a:bodyPr/>
              <a:lstStyle/>
              <a:p>
                <a:r>
                  <a:rPr lang="cs-CZ">
                    <a:noFill/>
                  </a:rPr>
                  <a:t> </a:t>
                </a:r>
              </a:p>
            </p:txBody>
          </p:sp>
        </mc:Fallback>
      </mc:AlternateContent>
      <p:sp>
        <p:nvSpPr>
          <p:cNvPr id="43" name="Abgerundetes Rechteck 24"/>
          <p:cNvSpPr/>
          <p:nvPr/>
        </p:nvSpPr>
        <p:spPr bwMode="gray">
          <a:xfrm>
            <a:off x="457199" y="1389600"/>
            <a:ext cx="8229599" cy="44606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numCol="2" spcCol="360000" anchor="ctr"/>
          <a:lstStyle/>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EAD curve (monthly </a:t>
            </a:r>
            <a:r>
              <a:rPr lang="en-US" sz="1200" b="1" i="1" dirty="0" smtClean="0">
                <a:solidFill>
                  <a:schemeClr val="bg1"/>
                </a:solidFill>
                <a:latin typeface="EYInterstate Light" panose="02000506000000020004" pitchFamily="2" charset="0"/>
              </a:rPr>
              <a:t>EAD</a:t>
            </a:r>
            <a:r>
              <a:rPr lang="en-US" sz="1200" b="1" i="1" baseline="-25000" dirty="0" smtClean="0">
                <a:solidFill>
                  <a:schemeClr val="bg1"/>
                </a:solidFill>
                <a:latin typeface="EYInterstate Light" panose="02000506000000020004" pitchFamily="2" charset="0"/>
              </a:rPr>
              <a:t>t</a:t>
            </a:r>
            <a:r>
              <a:rPr lang="en-US" sz="1200" b="1" dirty="0" smtClean="0">
                <a:solidFill>
                  <a:schemeClr val="bg1"/>
                </a:solidFill>
                <a:latin typeface="EYInterstate Light" panose="02000506000000020004" pitchFamily="2" charset="0"/>
              </a:rPr>
              <a:t>) provided by the Institution in input data</a:t>
            </a:r>
            <a:endParaRPr lang="en-US" sz="1200" b="1" dirty="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EAD curve estimated in LIC </a:t>
            </a:r>
            <a:r>
              <a:rPr lang="cs-CZ" sz="1200" b="1" dirty="0" smtClean="0">
                <a:solidFill>
                  <a:schemeClr val="bg1"/>
                </a:solidFill>
                <a:latin typeface="EYInterstate Light" panose="02000506000000020004" pitchFamily="2" charset="0"/>
              </a:rPr>
              <a:t>Solution</a:t>
            </a:r>
            <a:endParaRPr lang="en-US" sz="1200" b="1" dirty="0" smtClean="0">
              <a:solidFill>
                <a:schemeClr val="bg1"/>
              </a:solidFill>
              <a:latin typeface="EYInterstate Light" panose="02000506000000020004" pitchFamily="2" charset="0"/>
            </a:endParaRPr>
          </a:p>
        </p:txBody>
      </p:sp>
      <p:graphicFrame>
        <p:nvGraphicFramePr>
          <p:cNvPr id="10" name="Chart 9"/>
          <p:cNvGraphicFramePr/>
          <p:nvPr>
            <p:extLst>
              <p:ext uri="{D42A27DB-BD31-4B8C-83A1-F6EECF244321}">
                <p14:modId xmlns:p14="http://schemas.microsoft.com/office/powerpoint/2010/main" val="1915926706"/>
              </p:ext>
            </p:extLst>
          </p:nvPr>
        </p:nvGraphicFramePr>
        <p:xfrm>
          <a:off x="403351" y="2138134"/>
          <a:ext cx="3231593" cy="3295000"/>
        </p:xfrm>
        <a:graphic>
          <a:graphicData uri="http://schemas.openxmlformats.org/drawingml/2006/chart">
            <c:chart xmlns:c="http://schemas.openxmlformats.org/drawingml/2006/chart" xmlns:r="http://schemas.openxmlformats.org/officeDocument/2006/relationships" r:id="rId3"/>
          </a:graphicData>
        </a:graphic>
      </p:graphicFrame>
      <p:sp>
        <p:nvSpPr>
          <p:cNvPr id="8"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9" name="Abgerundetes Rechteck 24"/>
          <p:cNvSpPr/>
          <p:nvPr/>
        </p:nvSpPr>
        <p:spPr bwMode="gray">
          <a:xfrm>
            <a:off x="4020928" y="5412951"/>
            <a:ext cx="4484717" cy="730137"/>
          </a:xfrm>
          <a:prstGeom prst="rect">
            <a:avLst/>
          </a:prstGeom>
          <a:solidFill>
            <a:srgbClr val="FFD20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defTabSz="912524">
              <a:buClr>
                <a:srgbClr val="FFD200"/>
              </a:buClr>
              <a:buSzPct val="70000"/>
            </a:pPr>
            <a:r>
              <a:rPr lang="en-US" sz="1200" b="1" dirty="0">
                <a:solidFill>
                  <a:schemeClr val="bg1"/>
                </a:solidFill>
                <a:latin typeface="EYInterstate Light" panose="02000506000000020004" pitchFamily="2" charset="0"/>
              </a:rPr>
              <a:t>Credit conversion factor</a:t>
            </a:r>
            <a:r>
              <a:rPr lang="en-US" sz="1200" dirty="0">
                <a:solidFill>
                  <a:schemeClr val="bg1"/>
                </a:solidFill>
                <a:latin typeface="EYInterstate Light" panose="02000506000000020004" pitchFamily="2" charset="0"/>
              </a:rPr>
              <a:t> (</a:t>
            </a:r>
            <a:r>
              <a:rPr lang="en-US" sz="1200" b="1" dirty="0">
                <a:solidFill>
                  <a:schemeClr val="bg1"/>
                </a:solidFill>
                <a:latin typeface="EYInterstate Light" panose="02000506000000020004" pitchFamily="2" charset="0"/>
              </a:rPr>
              <a:t>CCF</a:t>
            </a:r>
            <a:r>
              <a:rPr lang="en-US" sz="1200" dirty="0">
                <a:solidFill>
                  <a:schemeClr val="bg1"/>
                </a:solidFill>
                <a:latin typeface="EYInterstate Light" panose="02000506000000020004" pitchFamily="2" charset="0"/>
              </a:rPr>
              <a:t>) values are provided by the Institution as an input on </a:t>
            </a:r>
            <a:r>
              <a:rPr lang="cs-CZ" sz="1200" dirty="0" err="1" smtClean="0">
                <a:solidFill>
                  <a:schemeClr val="bg1"/>
                </a:solidFill>
                <a:latin typeface="EYInterstate Light" panose="02000506000000020004" pitchFamily="2" charset="0"/>
              </a:rPr>
              <a:t>asset</a:t>
            </a:r>
            <a:r>
              <a:rPr lang="en-US" sz="1200" dirty="0" smtClean="0">
                <a:solidFill>
                  <a:schemeClr val="bg1"/>
                </a:solidFill>
                <a:latin typeface="EYInterstate Light" panose="02000506000000020004" pitchFamily="2" charset="0"/>
              </a:rPr>
              <a:t> </a:t>
            </a:r>
            <a:r>
              <a:rPr lang="en-US" sz="1200" dirty="0">
                <a:solidFill>
                  <a:schemeClr val="bg1"/>
                </a:solidFill>
                <a:latin typeface="EYInterstate Light" panose="02000506000000020004" pitchFamily="2" charset="0"/>
              </a:rPr>
              <a:t>level, or manually entered through user interface on portfolio level. </a:t>
            </a:r>
            <a:endParaRPr lang="en-US" sz="1200" b="1" dirty="0">
              <a:solidFill>
                <a:schemeClr val="bg1"/>
              </a:solidFill>
              <a:latin typeface="EYInterstate Light" panose="02000506000000020004" pitchFamily="2" charset="0"/>
            </a:endParaRPr>
          </a:p>
        </p:txBody>
      </p:sp>
      <p:sp>
        <p:nvSpPr>
          <p:cNvPr id="12" name="Abgerundetes Rechteck 24"/>
          <p:cNvSpPr/>
          <p:nvPr/>
        </p:nvSpPr>
        <p:spPr bwMode="gray">
          <a:xfrm>
            <a:off x="4020928" y="2751689"/>
            <a:ext cx="4484717" cy="2490216"/>
          </a:xfrm>
          <a:prstGeom prst="rect">
            <a:avLst/>
          </a:prstGeom>
          <a:solidFill>
            <a:schemeClr val="bg1"/>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defTabSz="912524">
              <a:buClr>
                <a:srgbClr val="FFD200"/>
              </a:buClr>
              <a:buSzPct val="70000"/>
            </a:pPr>
            <a:r>
              <a:rPr lang="en-US" sz="1200" dirty="0" smtClean="0">
                <a:solidFill>
                  <a:srgbClr val="FFFFFF"/>
                </a:solidFill>
                <a:latin typeface="EYInterstate Light" panose="02000506000000020004" pitchFamily="2" charset="0"/>
              </a:rPr>
              <a:t>Contractual </a:t>
            </a:r>
            <a:r>
              <a:rPr lang="en-US" sz="1200" b="1" dirty="0" smtClean="0">
                <a:solidFill>
                  <a:srgbClr val="FFD503"/>
                </a:solidFill>
                <a:latin typeface="EYInterstate Light" panose="02000506000000020004" pitchFamily="2" charset="0"/>
              </a:rPr>
              <a:t>on-balance cash-flow curve </a:t>
            </a:r>
            <a:r>
              <a:rPr lang="en-US" sz="1200" dirty="0" smtClean="0">
                <a:solidFill>
                  <a:srgbClr val="FFFFFF"/>
                </a:solidFill>
                <a:latin typeface="EYInterstate Light" panose="02000506000000020004" pitchFamily="2" charset="0"/>
              </a:rPr>
              <a:t>can be provided in input data or, estimated based on payment type:</a:t>
            </a:r>
          </a:p>
          <a:p>
            <a:pPr marL="729689" lvl="1" indent="-272489" defTabSz="912524">
              <a:buClr>
                <a:schemeClr val="accent2"/>
              </a:buClr>
              <a:buSzPct val="70000"/>
              <a:buFont typeface="Arial" panose="020B0604020202020204" pitchFamily="34" charset="0"/>
              <a:buChar char="►"/>
            </a:pPr>
            <a:r>
              <a:rPr lang="en-US" sz="1200" b="1" dirty="0" smtClean="0">
                <a:solidFill>
                  <a:srgbClr val="FFFFFF"/>
                </a:solidFill>
                <a:latin typeface="EYInterstate Light" panose="02000506000000020004" pitchFamily="2" charset="0"/>
              </a:rPr>
              <a:t>Constant exposure development</a:t>
            </a:r>
          </a:p>
          <a:p>
            <a:pPr marL="729689" lvl="1" indent="-272489" defTabSz="912524">
              <a:buClr>
                <a:schemeClr val="accent2"/>
              </a:buClr>
              <a:buSzPct val="70000"/>
              <a:buFont typeface="Arial" panose="020B0604020202020204" pitchFamily="34" charset="0"/>
              <a:buChar char="►"/>
            </a:pPr>
            <a:r>
              <a:rPr lang="en-US" sz="1200" b="1" dirty="0" smtClean="0">
                <a:solidFill>
                  <a:srgbClr val="FFFFFF"/>
                </a:solidFill>
                <a:latin typeface="EYInterstate Light" panose="02000506000000020004" pitchFamily="2" charset="0"/>
              </a:rPr>
              <a:t>Annuity approach</a:t>
            </a:r>
          </a:p>
          <a:p>
            <a:pPr marL="729689" lvl="1" indent="-272489" defTabSz="912524">
              <a:buClr>
                <a:schemeClr val="accent2"/>
              </a:buClr>
              <a:buSzPct val="70000"/>
              <a:buFont typeface="Arial" panose="020B0604020202020204" pitchFamily="34" charset="0"/>
              <a:buChar char="►"/>
            </a:pPr>
            <a:r>
              <a:rPr lang="en-US" sz="1200" b="1" dirty="0" smtClean="0">
                <a:solidFill>
                  <a:srgbClr val="FFFFFF"/>
                </a:solidFill>
                <a:latin typeface="EYInterstate Light" panose="02000506000000020004" pitchFamily="2" charset="0"/>
              </a:rPr>
              <a:t>Linear approach</a:t>
            </a:r>
          </a:p>
          <a:p>
            <a:pPr marL="729689" lvl="1" indent="-272489" defTabSz="912524">
              <a:buClr>
                <a:schemeClr val="accent2"/>
              </a:buClr>
              <a:buSzPct val="70000"/>
              <a:buFont typeface="Arial" panose="020B0604020202020204" pitchFamily="34" charset="0"/>
              <a:buChar char="►"/>
            </a:pPr>
            <a:r>
              <a:rPr lang="en-US" sz="1200" b="1" dirty="0" smtClean="0">
                <a:solidFill>
                  <a:srgbClr val="FFFFFF"/>
                </a:solidFill>
                <a:latin typeface="EYInterstate Light" panose="02000506000000020004" pitchFamily="2" charset="0"/>
              </a:rPr>
              <a:t>Deferral of installments</a:t>
            </a:r>
          </a:p>
          <a:p>
            <a:pPr lvl="1" defTabSz="912524">
              <a:buClr>
                <a:schemeClr val="bg1"/>
              </a:buClr>
              <a:buSzPct val="70000"/>
            </a:pPr>
            <a:endParaRPr lang="en-US" sz="1200" b="1" dirty="0" smtClean="0">
              <a:solidFill>
                <a:srgbClr val="FFFFFF"/>
              </a:solidFill>
              <a:latin typeface="EYInterstate Light" panose="02000506000000020004" pitchFamily="2" charset="0"/>
            </a:endParaRPr>
          </a:p>
          <a:p>
            <a:pPr defTabSz="912524">
              <a:buClr>
                <a:srgbClr val="FFD200"/>
              </a:buClr>
              <a:buSzPct val="70000"/>
            </a:pPr>
            <a:r>
              <a:rPr lang="en-US" sz="1200" b="1" dirty="0" smtClean="0">
                <a:solidFill>
                  <a:srgbClr val="FFD503"/>
                </a:solidFill>
                <a:latin typeface="EYInterstate Light" panose="02000506000000020004" pitchFamily="2" charset="0"/>
              </a:rPr>
              <a:t>Expected maturity estimate</a:t>
            </a:r>
            <a:r>
              <a:rPr lang="en-US" sz="1200" dirty="0" smtClean="0">
                <a:solidFill>
                  <a:srgbClr val="FFD503"/>
                </a:solidFill>
                <a:latin typeface="EYInterstate Light" panose="02000506000000020004" pitchFamily="2" charset="0"/>
              </a:rPr>
              <a:t> </a:t>
            </a:r>
            <a:r>
              <a:rPr lang="en-US" sz="1200" dirty="0" smtClean="0">
                <a:solidFill>
                  <a:srgbClr val="FFFFFF"/>
                </a:solidFill>
                <a:latin typeface="EYInterstate Light" panose="02000506000000020004" pitchFamily="2" charset="0"/>
              </a:rPr>
              <a:t>based on:</a:t>
            </a:r>
          </a:p>
          <a:p>
            <a:pPr marL="729689" lvl="1" indent="-272489" defTabSz="912524">
              <a:buClr>
                <a:schemeClr val="accent2"/>
              </a:buClr>
              <a:buSzPct val="70000"/>
              <a:buFont typeface="Arial" panose="020B0604020202020204" pitchFamily="34" charset="0"/>
              <a:buChar char="►"/>
            </a:pPr>
            <a:r>
              <a:rPr lang="en-US" sz="1200" b="1" dirty="0" smtClean="0">
                <a:solidFill>
                  <a:srgbClr val="FFFFFF"/>
                </a:solidFill>
                <a:latin typeface="EYInterstate Light" panose="02000506000000020004" pitchFamily="2" charset="0"/>
              </a:rPr>
              <a:t>Contractual maturity</a:t>
            </a:r>
          </a:p>
          <a:p>
            <a:pPr marL="729689" lvl="1" indent="-272489" defTabSz="912524">
              <a:buClr>
                <a:schemeClr val="accent2"/>
              </a:buClr>
              <a:buSzPct val="70000"/>
              <a:buFont typeface="Arial" panose="020B0604020202020204" pitchFamily="34" charset="0"/>
              <a:buChar char="►"/>
            </a:pPr>
            <a:r>
              <a:rPr lang="en-US" sz="1200" b="1" dirty="0" smtClean="0">
                <a:solidFill>
                  <a:srgbClr val="FFFFFF"/>
                </a:solidFill>
                <a:latin typeface="EYInterstate Light" panose="02000506000000020004" pitchFamily="2" charset="0"/>
              </a:rPr>
              <a:t>Pre-payment factor </a:t>
            </a:r>
            <a:r>
              <a:rPr lang="en-US" sz="1200" dirty="0" smtClean="0">
                <a:solidFill>
                  <a:srgbClr val="FFFFFF"/>
                </a:solidFill>
                <a:latin typeface="EYInterstate Light" panose="02000506000000020004" pitchFamily="2" charset="0"/>
              </a:rPr>
              <a:t>- multiplied with contractual maturity, it provides an estimate for expected maturity after which no on-balance sheet exposure is expected</a:t>
            </a:r>
          </a:p>
          <a:p>
            <a:pPr defTabSz="912524">
              <a:buClr>
                <a:schemeClr val="bg1"/>
              </a:buClr>
              <a:buSzPct val="70000"/>
            </a:pPr>
            <a:endParaRPr lang="en-US" sz="1200" b="1" dirty="0" smtClean="0">
              <a:solidFill>
                <a:srgbClr val="FFFFFF"/>
              </a:solidFill>
              <a:latin typeface="EYInterstate Light" panose="02000506000000020004" pitchFamily="2" charset="0"/>
            </a:endParaRPr>
          </a:p>
        </p:txBody>
      </p:sp>
    </p:spTree>
    <p:extLst>
      <p:ext uri="{BB962C8B-B14F-4D97-AF65-F5344CB8AC3E}">
        <p14:creationId xmlns:p14="http://schemas.microsoft.com/office/powerpoint/2010/main" val="7579661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t>EAD parameter configuration</a:t>
            </a:r>
            <a:endParaRPr lang="cs-CZ" dirty="0"/>
          </a:p>
        </p:txBody>
      </p:sp>
      <p:sp>
        <p:nvSpPr>
          <p:cNvPr id="9" name="Footer Placeholder 3"/>
          <p:cNvSpPr>
            <a:spLocks noGrp="1"/>
          </p:cNvSpPr>
          <p:nvPr>
            <p:ph type="ftr" sz="quarter" idx="11"/>
          </p:nvPr>
        </p:nvSpPr>
        <p:spPr>
          <a:xfrm>
            <a:off x="2588400" y="6503980"/>
            <a:ext cx="3434400" cy="201600"/>
          </a:xfrm>
        </p:spPr>
        <p:txBody>
          <a:bodyPr/>
          <a:lstStyle/>
          <a:p>
            <a:pPr algn="ctr"/>
            <a:r>
              <a:rPr lang="en-US" dirty="0">
                <a:solidFill>
                  <a:srgbClr val="646464"/>
                </a:solidFill>
                <a:latin typeface="EYInterstate-Light"/>
              </a:rPr>
              <a:t>LIC </a:t>
            </a:r>
            <a:r>
              <a:rPr lang="en-GB" dirty="0">
                <a:solidFill>
                  <a:srgbClr val="646464"/>
                </a:solidFill>
                <a:latin typeface="EYInterstate-Light"/>
              </a:rPr>
              <a:t>Solution</a:t>
            </a:r>
            <a:r>
              <a:rPr lang="cs-CZ" dirty="0">
                <a:solidFill>
                  <a:srgbClr val="646464"/>
                </a:solidFill>
                <a:latin typeface="EYInterstate-Light"/>
              </a:rPr>
              <a:t>®</a:t>
            </a:r>
            <a:endParaRPr lang="en-GB" dirty="0">
              <a:solidFill>
                <a:srgbClr val="646464"/>
              </a:solidFill>
              <a:latin typeface="EYInterstate-Light"/>
            </a:endParaRPr>
          </a:p>
        </p:txBody>
      </p:sp>
      <p:pic>
        <p:nvPicPr>
          <p:cNvPr id="2" name="Picture 1"/>
          <p:cNvPicPr>
            <a:picLocks noChangeAspect="1"/>
          </p:cNvPicPr>
          <p:nvPr/>
        </p:nvPicPr>
        <p:blipFill>
          <a:blip r:embed="rId2"/>
          <a:stretch>
            <a:fillRect/>
          </a:stretch>
        </p:blipFill>
        <p:spPr>
          <a:xfrm>
            <a:off x="837776" y="915986"/>
            <a:ext cx="6935648" cy="5196581"/>
          </a:xfrm>
          <a:prstGeom prst="rect">
            <a:avLst/>
          </a:prstGeom>
        </p:spPr>
      </p:pic>
    </p:spTree>
    <p:extLst>
      <p:ext uri="{BB962C8B-B14F-4D97-AF65-F5344CB8AC3E}">
        <p14:creationId xmlns:p14="http://schemas.microsoft.com/office/powerpoint/2010/main" val="2645284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Individual </a:t>
            </a:r>
            <a:r>
              <a:rPr lang="cs-CZ" dirty="0" err="1" smtClean="0">
                <a:latin typeface="EYInterstate" panose="02000503020000020004" pitchFamily="2" charset="0"/>
              </a:rPr>
              <a:t>assessment</a:t>
            </a:r>
            <a:endParaRPr lang="en-US"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9" name="Abgerundetes Rechteck 24"/>
          <p:cNvSpPr/>
          <p:nvPr/>
        </p:nvSpPr>
        <p:spPr bwMode="gray">
          <a:xfrm>
            <a:off x="457200" y="1026000"/>
            <a:ext cx="2800905" cy="4897748"/>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80000" bIns="72000" anchor="t"/>
          <a:lstStyle/>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Based on projecting future cash flows from on-going business and collateral realization</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Support for collateral allocation adjustment</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Traffic lights indicate need of reassessment based on the difference between forecasted and actual cash flows and elapsed time validity of assessment</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Four-eyes principle (input, approval) and full user action logging applied</a:t>
            </a:r>
          </a:p>
          <a:p>
            <a:pPr marL="272489" indent="-272489" defTabSz="912524">
              <a:buClr>
                <a:srgbClr val="FFD200"/>
              </a:buClr>
              <a:buSzPct val="70000"/>
              <a:buFont typeface="Arial" panose="020B0604020202020204" pitchFamily="34" charset="0"/>
              <a:buChar char="►"/>
            </a:pPr>
            <a:endParaRPr lang="en-US" sz="1200" dirty="0" smtClean="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Allows for:</a:t>
            </a:r>
          </a:p>
          <a:p>
            <a:pPr marL="272489" indent="-272489" defTabSz="912524">
              <a:buClr>
                <a:srgbClr val="FFD200"/>
              </a:buClr>
              <a:buSzPct val="70000"/>
              <a:buFont typeface="Arial" panose="020B0604020202020204" pitchFamily="34" charset="0"/>
              <a:buChar char="►"/>
            </a:pPr>
            <a:endParaRPr lang="en-US" sz="1200" dirty="0" smtClean="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a:p>
            <a:pPr defTabSz="912524">
              <a:buClr>
                <a:srgbClr val="FFD200"/>
              </a:buClr>
              <a:buSzPct val="70000"/>
            </a:pPr>
            <a:endParaRPr lang="en-US" sz="1200" dirty="0" smtClean="0">
              <a:solidFill>
                <a:schemeClr val="bg1"/>
              </a:solidFill>
              <a:latin typeface="EYInterstate Light" panose="02000506000000020004" pitchFamily="2" charset="0"/>
            </a:endParaRPr>
          </a:p>
        </p:txBody>
      </p:sp>
      <p:sp>
        <p:nvSpPr>
          <p:cNvPr id="18" name="Abgerundetes Rechteck 24"/>
          <p:cNvSpPr/>
          <p:nvPr/>
        </p:nvSpPr>
        <p:spPr bwMode="gray">
          <a:xfrm>
            <a:off x="1077776" y="4582875"/>
            <a:ext cx="3211048" cy="1234121"/>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396000" tIns="72000" rIns="108000" bIns="72000" anchor="t"/>
          <a:lstStyle/>
          <a:p>
            <a:pPr defTabSz="801688" eaLnBrk="0" hangingPunct="0">
              <a:lnSpc>
                <a:spcPct val="95000"/>
              </a:lnSpc>
              <a:spcAft>
                <a:spcPts val="800"/>
              </a:spcAft>
              <a:buClr>
                <a:srgbClr val="969696"/>
              </a:buClr>
              <a:defRPr/>
            </a:pPr>
            <a:r>
              <a:rPr lang="en-US" sz="1600" b="1" dirty="0" smtClean="0">
                <a:solidFill>
                  <a:srgbClr val="646464"/>
                </a:solidFill>
                <a:latin typeface="EYInterstate" panose="02000503020000020004" pitchFamily="2" charset="0"/>
                <a:cs typeface="Arial" charset="0"/>
              </a:rPr>
              <a:t>CF modelling</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Entering expected cash-flows on customer/account/collateral level</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Manual input of dates and amounts supported by block functions</a:t>
            </a:r>
          </a:p>
          <a:p>
            <a:pPr marL="272489" indent="-272489" defTabSz="912524">
              <a:buClr>
                <a:srgbClr val="FFD200"/>
              </a:buClr>
              <a:buSzPct val="70000"/>
              <a:buFont typeface="Arial" panose="020B0604020202020204" pitchFamily="34" charset="0"/>
              <a:buChar char="►"/>
            </a:pPr>
            <a:endParaRPr lang="en-US" sz="1200" dirty="0" smtClean="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600" b="1" dirty="0">
              <a:solidFill>
                <a:srgbClr val="646464"/>
              </a:solidFill>
              <a:latin typeface="Arial" panose="020B0604020202020204" pitchFamily="34" charset="0"/>
              <a:cs typeface="Arial" charset="0"/>
            </a:endParaRPr>
          </a:p>
        </p:txBody>
      </p:sp>
      <p:sp>
        <p:nvSpPr>
          <p:cNvPr id="19" name="TextBox 18"/>
          <p:cNvSpPr txBox="1"/>
          <p:nvPr/>
        </p:nvSpPr>
        <p:spPr>
          <a:xfrm>
            <a:off x="755405" y="4439553"/>
            <a:ext cx="459914" cy="1805110"/>
          </a:xfrm>
          <a:prstGeom prst="rect">
            <a:avLst/>
          </a:prstGeom>
          <a:noFill/>
        </p:spPr>
        <p:txBody>
          <a:bodyPr vert="horz" wrap="square" lIns="0" tIns="0" rIns="0" bIns="0" rtlCol="0" anchor="ctr">
            <a:spAutoFit/>
          </a:bodyPr>
          <a:lstStyle/>
          <a:p>
            <a:pPr algn="ctr">
              <a:lnSpc>
                <a:spcPct val="85000"/>
              </a:lnSpc>
              <a:spcAft>
                <a:spcPts val="600"/>
              </a:spcAft>
              <a:buClr>
                <a:srgbClr val="FFE600"/>
              </a:buClr>
              <a:buSzPct val="70000"/>
            </a:pPr>
            <a:r>
              <a:rPr lang="en-US" sz="13800" b="1" dirty="0" smtClean="0">
                <a:solidFill>
                  <a:srgbClr val="FFD200"/>
                </a:solidFill>
                <a:latin typeface="EYInterstate" panose="02000503020000020004" pitchFamily="2" charset="0"/>
              </a:rPr>
              <a:t>1</a:t>
            </a:r>
            <a:endParaRPr lang="en-US" sz="13800" b="1" dirty="0">
              <a:solidFill>
                <a:srgbClr val="FFD200"/>
              </a:solidFill>
              <a:latin typeface="EYInterstate" panose="02000503020000020004" pitchFamily="2" charset="0"/>
            </a:endParaRPr>
          </a:p>
        </p:txBody>
      </p:sp>
      <p:sp>
        <p:nvSpPr>
          <p:cNvPr id="20" name="Abgerundetes Rechteck 24"/>
          <p:cNvSpPr/>
          <p:nvPr/>
        </p:nvSpPr>
        <p:spPr bwMode="gray">
          <a:xfrm>
            <a:off x="4998612" y="4582875"/>
            <a:ext cx="3531169" cy="1234121"/>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396000" tIns="72000" rIns="108000" bIns="72000" anchor="t"/>
          <a:lstStyle/>
          <a:p>
            <a:pPr defTabSz="801688" eaLnBrk="0" hangingPunct="0">
              <a:lnSpc>
                <a:spcPct val="95000"/>
              </a:lnSpc>
              <a:spcAft>
                <a:spcPts val="800"/>
              </a:spcAft>
              <a:buClr>
                <a:srgbClr val="969696"/>
              </a:buClr>
              <a:defRPr/>
            </a:pPr>
            <a:r>
              <a:rPr lang="en-US" sz="1600" b="1" dirty="0" smtClean="0">
                <a:solidFill>
                  <a:srgbClr val="646464"/>
                </a:solidFill>
                <a:latin typeface="EYInterstate" panose="02000503020000020004" pitchFamily="2" charset="0"/>
                <a:cs typeface="Arial" charset="0"/>
              </a:rPr>
              <a:t>Scenario setting</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Flexible number of cash-flow scenarios</a:t>
            </a:r>
          </a:p>
          <a:p>
            <a:pPr marL="272489" indent="-272489" defTabSz="912524">
              <a:buClr>
                <a:srgbClr val="FFD200"/>
              </a:buClr>
              <a:buSzPct val="70000"/>
              <a:buFont typeface="Arial" panose="020B0604020202020204" pitchFamily="34" charset="0"/>
              <a:buChar char="►"/>
            </a:pPr>
            <a:r>
              <a:rPr lang="en-US" sz="1200" dirty="0" smtClean="0">
                <a:solidFill>
                  <a:schemeClr val="bg1"/>
                </a:solidFill>
                <a:latin typeface="EYInterstate Light" panose="02000506000000020004" pitchFamily="2" charset="0"/>
              </a:rPr>
              <a:t>Support for the management of probability weights of scenarios</a:t>
            </a:r>
            <a:endParaRPr lang="en-US" sz="1200" b="1" dirty="0">
              <a:solidFill>
                <a:srgbClr val="646464"/>
              </a:solidFill>
              <a:latin typeface="EYInterstate Light" panose="02000506000000020004" pitchFamily="2" charset="0"/>
              <a:cs typeface="Arial" charset="0"/>
            </a:endParaRPr>
          </a:p>
        </p:txBody>
      </p:sp>
      <p:sp>
        <p:nvSpPr>
          <p:cNvPr id="21" name="TextBox 20"/>
          <p:cNvSpPr txBox="1"/>
          <p:nvPr/>
        </p:nvSpPr>
        <p:spPr>
          <a:xfrm>
            <a:off x="4288824" y="4438338"/>
            <a:ext cx="1098058" cy="1805110"/>
          </a:xfrm>
          <a:prstGeom prst="rect">
            <a:avLst/>
          </a:prstGeom>
          <a:noFill/>
        </p:spPr>
        <p:txBody>
          <a:bodyPr vert="horz" wrap="none" lIns="0" tIns="0" rIns="0" bIns="0" rtlCol="0" anchor="ctr">
            <a:spAutoFit/>
          </a:bodyPr>
          <a:lstStyle/>
          <a:p>
            <a:pPr algn="ctr">
              <a:lnSpc>
                <a:spcPct val="85000"/>
              </a:lnSpc>
              <a:spcAft>
                <a:spcPts val="600"/>
              </a:spcAft>
              <a:buClr>
                <a:srgbClr val="FFE600"/>
              </a:buClr>
              <a:buSzPct val="70000"/>
            </a:pPr>
            <a:r>
              <a:rPr lang="en-US" sz="13800" b="1" dirty="0" smtClean="0">
                <a:solidFill>
                  <a:srgbClr val="808080"/>
                </a:solidFill>
                <a:latin typeface="EYInterstate" panose="02000503020000020004" pitchFamily="2" charset="0"/>
              </a:rPr>
              <a:t>2</a:t>
            </a:r>
            <a:endParaRPr lang="en-US" sz="13800" b="1" dirty="0">
              <a:solidFill>
                <a:srgbClr val="808080"/>
              </a:solidFill>
              <a:latin typeface="EYInterstate" panose="02000503020000020004" pitchFamily="2" charset="0"/>
            </a:endParaRPr>
          </a:p>
        </p:txBody>
      </p:sp>
      <p:sp>
        <p:nvSpPr>
          <p:cNvPr id="10"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37113" y="1317936"/>
            <a:ext cx="5392668" cy="2700611"/>
          </a:xfrm>
          <a:prstGeom prst="rect">
            <a:avLst/>
          </a:prstGeom>
        </p:spPr>
      </p:pic>
    </p:spTree>
    <p:extLst>
      <p:ext uri="{BB962C8B-B14F-4D97-AF65-F5344CB8AC3E}">
        <p14:creationId xmlns:p14="http://schemas.microsoft.com/office/powerpoint/2010/main" val="1786169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549" r="31140" b="16215"/>
          <a:stretch/>
        </p:blipFill>
        <p:spPr bwMode="auto">
          <a:xfrm>
            <a:off x="5579832" y="1028216"/>
            <a:ext cx="3094602" cy="2141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smtClean="0">
                <a:latin typeface="EYInterstate" panose="02000503020000020004" pitchFamily="2" charset="0"/>
              </a:rPr>
              <a:t>Collective </a:t>
            </a:r>
            <a:r>
              <a:rPr lang="cs-CZ" dirty="0" err="1" smtClean="0">
                <a:latin typeface="EYInterstate" panose="02000503020000020004" pitchFamily="2" charset="0"/>
              </a:rPr>
              <a:t>assessment</a:t>
            </a:r>
            <a:endParaRPr lang="en-GB"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28" name="AutoShape 9"/>
          <p:cNvSpPr>
            <a:spLocks noChangeArrowheads="1"/>
          </p:cNvSpPr>
          <p:nvPr/>
        </p:nvSpPr>
        <p:spPr bwMode="gray">
          <a:xfrm>
            <a:off x="457198" y="2051116"/>
            <a:ext cx="2667600" cy="432000"/>
          </a:xfrm>
          <a:prstGeom prst="rect">
            <a:avLst/>
          </a:prstGeom>
          <a:solidFill>
            <a:srgbClr val="FFD200"/>
          </a:solidFill>
          <a:ln w="28575">
            <a:solidFill>
              <a:srgbClr val="FFD200"/>
            </a:solidFill>
            <a:headEnd/>
            <a:tailEnd/>
          </a:ln>
        </p:spPr>
        <p:style>
          <a:lnRef idx="2">
            <a:schemeClr val="dk1"/>
          </a:lnRef>
          <a:fillRef idx="1">
            <a:schemeClr val="lt1"/>
          </a:fillRef>
          <a:effectRef idx="0">
            <a:schemeClr val="dk1"/>
          </a:effectRef>
          <a:fontRef idx="minor">
            <a:schemeClr val="dk1"/>
          </a:fontRef>
        </p:style>
        <p:txBody>
          <a:bodyPr vert="horz" wrap="square" lIns="91440" tIns="45720" rIns="288000" bIns="45720" rtlCol="0" anchor="ctr"/>
          <a:lstStyle/>
          <a:p>
            <a:pPr algn="ctr">
              <a:lnSpc>
                <a:spcPct val="95000"/>
              </a:lnSpc>
              <a:spcAft>
                <a:spcPts val="800"/>
              </a:spcAft>
              <a:defRPr/>
            </a:pPr>
            <a:r>
              <a:rPr lang="en-US" b="1" dirty="0" smtClean="0">
                <a:solidFill>
                  <a:srgbClr val="646464"/>
                </a:solidFill>
                <a:latin typeface="EYInterstate" panose="02000503020000020004" pitchFamily="2" charset="0"/>
              </a:rPr>
              <a:t>Stage</a:t>
            </a:r>
            <a:endParaRPr lang="en-US" b="1" dirty="0">
              <a:solidFill>
                <a:srgbClr val="646464"/>
              </a:solidFill>
              <a:latin typeface="EYInterstate" panose="02000503020000020004" pitchFamily="2" charset="0"/>
            </a:endParaRPr>
          </a:p>
        </p:txBody>
      </p:sp>
      <mc:AlternateContent xmlns:mc="http://schemas.openxmlformats.org/markup-compatibility/2006" xmlns:a14="http://schemas.microsoft.com/office/drawing/2010/main">
        <mc:Choice Requires="a14">
          <p:sp>
            <p:nvSpPr>
              <p:cNvPr id="29" name="Rectangle 14"/>
              <p:cNvSpPr>
                <a:spLocks noChangeArrowheads="1"/>
              </p:cNvSpPr>
              <p:nvPr/>
            </p:nvSpPr>
            <p:spPr bwMode="gray">
              <a:xfrm>
                <a:off x="453714" y="2496395"/>
                <a:ext cx="2667598" cy="3558175"/>
              </a:xfrm>
              <a:prstGeom prst="rect">
                <a:avLst/>
              </a:prstGeom>
              <a:noFill/>
              <a:ln>
                <a:solidFill>
                  <a:srgbClr val="FFD200"/>
                </a:solidFill>
                <a:headEnd/>
                <a:tailEnd/>
              </a:ln>
            </p:spPr>
            <p:style>
              <a:lnRef idx="2">
                <a:schemeClr val="dk1"/>
              </a:lnRef>
              <a:fillRef idx="1">
                <a:schemeClr val="lt1"/>
              </a:fillRef>
              <a:effectRef idx="0">
                <a:schemeClr val="dk1"/>
              </a:effectRef>
              <a:fontRef idx="minor">
                <a:schemeClr val="dk1"/>
              </a:fontRef>
            </p:style>
            <p:txBody>
              <a:bodyPr vert="horz" wrap="square" lIns="108000" tIns="72000" rIns="108000" bIns="0" anchor="t" anchorCtr="0"/>
              <a:lstStyle/>
              <a:p>
                <a:pP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The Institution has two options for 12 month ECL calculation:</a:t>
                </a:r>
              </a:p>
              <a:p>
                <a:pPr marL="171450" indent="-171450">
                  <a:lnSpc>
                    <a:spcPct val="95000"/>
                  </a:lnSpc>
                  <a:spcAft>
                    <a:spcPts val="800"/>
                  </a:spcAft>
                  <a:buClr>
                    <a:srgbClr val="FFE600"/>
                  </a:buClr>
                  <a:buSzPct val="70000"/>
                  <a:buFont typeface="Arial" pitchFamily="34" charset="0"/>
                  <a:buChar char="►"/>
                  <a:defRPr/>
                </a:pPr>
                <a:r>
                  <a:rPr lang="en-US" sz="1200" dirty="0" smtClean="0">
                    <a:solidFill>
                      <a:schemeClr val="bg1"/>
                    </a:solidFill>
                    <a:latin typeface="EYInterstate Light" panose="02000506000000020004" pitchFamily="2" charset="0"/>
                  </a:rPr>
                  <a:t>Use 12 month PD irrespective of the contractual maturity of a facility</a:t>
                </a:r>
              </a:p>
              <a:p>
                <a:pPr>
                  <a:lnSpc>
                    <a:spcPct val="95000"/>
                  </a:lnSpc>
                  <a:spcAft>
                    <a:spcPts val="800"/>
                  </a:spcAft>
                  <a:buClr>
                    <a:srgbClr val="FFE600"/>
                  </a:buClr>
                  <a:buSzPct val="70000"/>
                  <a:defRPr/>
                </a:pPr>
                <a14:m>
                  <m:oMathPara xmlns:m="http://schemas.openxmlformats.org/officeDocument/2006/math">
                    <m:oMathParaPr>
                      <m:jc m:val="center"/>
                    </m:oMathParaPr>
                    <m:oMath xmlns:m="http://schemas.openxmlformats.org/officeDocument/2006/math">
                      <m:sSub>
                        <m:sSubPr>
                          <m:ctrlPr>
                            <a:rPr lang="cs-CZ" sz="1200" i="1" smtClean="0">
                              <a:latin typeface="Cambria Math" panose="02040503050406030204" pitchFamily="18" charset="0"/>
                            </a:rPr>
                          </m:ctrlPr>
                        </m:sSubPr>
                        <m:e>
                          <m:r>
                            <a:rPr lang="cs-CZ" sz="1200" b="0" i="1" smtClean="0">
                              <a:latin typeface="Cambria Math" panose="02040503050406030204" pitchFamily="18" charset="0"/>
                            </a:rPr>
                            <m:t>𝐼𝑚𝑝𝑎𝑖𝑟</m:t>
                          </m:r>
                        </m:e>
                        <m:sub>
                          <m:r>
                            <a:rPr lang="en-US" sz="1200" b="0" i="1" smtClean="0">
                              <a:latin typeface="Cambria Math" panose="02040503050406030204" pitchFamily="18" charset="0"/>
                            </a:rPr>
                            <m:t>𝑆</m:t>
                          </m:r>
                          <m:r>
                            <a:rPr lang="en-US" sz="1200" i="1">
                              <a:latin typeface="Cambria Math" panose="02040503050406030204" pitchFamily="18" charset="0"/>
                            </a:rPr>
                            <m:t>1</m:t>
                          </m:r>
                        </m:sub>
                      </m:sSub>
                      <m:r>
                        <a:rPr lang="en-US" sz="1200" i="1" smtClean="0">
                          <a:latin typeface="Cambria Math" panose="02040503050406030204" pitchFamily="18" charset="0"/>
                        </a:rPr>
                        <m:t>=</m:t>
                      </m:r>
                      <m:r>
                        <a:rPr lang="en-US" sz="1200" i="1">
                          <a:latin typeface="Cambria Math" panose="02040503050406030204" pitchFamily="18" charset="0"/>
                        </a:rPr>
                        <m:t>𝐸𝐴𝐷</m:t>
                      </m:r>
                      <m:r>
                        <a:rPr lang="en-US" sz="1200" i="1">
                          <a:latin typeface="Cambria Math" panose="02040503050406030204" pitchFamily="18" charset="0"/>
                        </a:rPr>
                        <m:t>∗</m:t>
                      </m:r>
                      <m:sSub>
                        <m:sSubPr>
                          <m:ctrlPr>
                            <a:rPr lang="cs-CZ" sz="1200" i="1">
                              <a:latin typeface="Cambria Math" panose="02040503050406030204" pitchFamily="18" charset="0"/>
                            </a:rPr>
                          </m:ctrlPr>
                        </m:sSubPr>
                        <m:e>
                          <m:r>
                            <a:rPr lang="en-US" sz="1200" i="1">
                              <a:latin typeface="Cambria Math" panose="02040503050406030204" pitchFamily="18" charset="0"/>
                            </a:rPr>
                            <m:t>𝑃𝐷</m:t>
                          </m:r>
                        </m:e>
                        <m:sub>
                          <m:r>
                            <a:rPr lang="en-US" sz="1200" i="1">
                              <a:latin typeface="Cambria Math" panose="02040503050406030204" pitchFamily="18" charset="0"/>
                            </a:rPr>
                            <m:t>12</m:t>
                          </m:r>
                          <m:r>
                            <a:rPr lang="en-US" sz="1200" i="1">
                              <a:latin typeface="Cambria Math" panose="02040503050406030204" pitchFamily="18" charset="0"/>
                            </a:rPr>
                            <m:t>𝑚</m:t>
                          </m:r>
                        </m:sub>
                      </m:sSub>
                      <m:r>
                        <a:rPr lang="en-US" sz="1200" i="1">
                          <a:latin typeface="Cambria Math" panose="02040503050406030204" pitchFamily="18" charset="0"/>
                        </a:rPr>
                        <m:t>∗</m:t>
                      </m:r>
                      <m:r>
                        <a:rPr lang="en-US" sz="1200" i="1">
                          <a:latin typeface="Cambria Math" panose="02040503050406030204" pitchFamily="18" charset="0"/>
                        </a:rPr>
                        <m:t>𝐿𝐺𝐷</m:t>
                      </m:r>
                    </m:oMath>
                  </m:oMathPara>
                </a14:m>
                <a:endParaRPr lang="cs-CZ" sz="1200" dirty="0"/>
              </a:p>
              <a:p>
                <a:pPr marL="171450" indent="-171450">
                  <a:lnSpc>
                    <a:spcPct val="95000"/>
                  </a:lnSpc>
                  <a:spcAft>
                    <a:spcPts val="800"/>
                  </a:spcAft>
                  <a:buClr>
                    <a:srgbClr val="FFE600"/>
                  </a:buClr>
                  <a:buSzPct val="70000"/>
                  <a:buFont typeface="Arial" pitchFamily="34" charset="0"/>
                  <a:buChar char="►"/>
                  <a:defRPr/>
                </a:pPr>
                <a:r>
                  <a:rPr lang="en-US" sz="1200" dirty="0" smtClean="0">
                    <a:solidFill>
                      <a:schemeClr val="bg1"/>
                    </a:solidFill>
                    <a:latin typeface="EYInterstate Light" panose="02000506000000020004" pitchFamily="2" charset="0"/>
                  </a:rPr>
                  <a:t>Use contractual maturity for exposures with contractual maturity in less than 12 months, otherwise use 12 month PD</a:t>
                </a:r>
              </a:p>
              <a:p>
                <a:pPr algn="ctr">
                  <a:lnSpc>
                    <a:spcPct val="95000"/>
                  </a:lnSpc>
                  <a:spcAft>
                    <a:spcPts val="800"/>
                  </a:spcAft>
                  <a:buClr>
                    <a:srgbClr val="FFE600"/>
                  </a:buClr>
                  <a:buSzPct val="70000"/>
                  <a:defRPr/>
                </a:pPr>
                <a14:m>
                  <m:oMath xmlns:m="http://schemas.openxmlformats.org/officeDocument/2006/math">
                    <m:sSub>
                      <m:sSubPr>
                        <m:ctrlPr>
                          <a:rPr lang="cs-CZ" sz="1200" i="1" smtClean="0">
                            <a:latin typeface="Cambria Math" panose="02040503050406030204" pitchFamily="18" charset="0"/>
                          </a:rPr>
                        </m:ctrlPr>
                      </m:sSubPr>
                      <m:e>
                        <m:r>
                          <a:rPr lang="cs-CZ" sz="1200" b="0" i="1" smtClean="0">
                            <a:latin typeface="Cambria Math" panose="02040503050406030204" pitchFamily="18" charset="0"/>
                          </a:rPr>
                          <m:t>𝐼𝑚𝑝𝑎𝑖𝑟</m:t>
                        </m:r>
                      </m:e>
                      <m:sub>
                        <m:r>
                          <a:rPr lang="en-US" sz="1200" b="0" i="1" smtClean="0">
                            <a:latin typeface="Cambria Math" panose="02040503050406030204" pitchFamily="18" charset="0"/>
                          </a:rPr>
                          <m:t>𝑆</m:t>
                        </m:r>
                        <m:r>
                          <a:rPr lang="en-US" sz="1200" i="1">
                            <a:latin typeface="Cambria Math" panose="02040503050406030204" pitchFamily="18" charset="0"/>
                          </a:rPr>
                          <m:t>1</m:t>
                        </m:r>
                      </m:sub>
                    </m:sSub>
                    <m:r>
                      <a:rPr lang="en-US" sz="1200" i="1" smtClean="0">
                        <a:latin typeface="Cambria Math" panose="02040503050406030204" pitchFamily="18" charset="0"/>
                      </a:rPr>
                      <m:t>=</m:t>
                    </m:r>
                    <m:r>
                      <a:rPr lang="en-US" sz="1200" i="1">
                        <a:latin typeface="Cambria Math" panose="02040503050406030204" pitchFamily="18" charset="0"/>
                      </a:rPr>
                      <m:t>𝐸𝐴𝐷</m:t>
                    </m:r>
                    <m:r>
                      <a:rPr lang="en-US" sz="1200" i="1">
                        <a:latin typeface="Cambria Math" panose="02040503050406030204" pitchFamily="18" charset="0"/>
                      </a:rPr>
                      <m:t>∗</m:t>
                    </m:r>
                    <m:sSub>
                      <m:sSubPr>
                        <m:ctrlPr>
                          <a:rPr lang="cs-CZ" sz="1200" i="1">
                            <a:latin typeface="Cambria Math" panose="02040503050406030204" pitchFamily="18" charset="0"/>
                          </a:rPr>
                        </m:ctrlPr>
                      </m:sSubPr>
                      <m:e>
                        <m:r>
                          <a:rPr lang="en-US" sz="1200" i="1">
                            <a:latin typeface="Cambria Math" panose="02040503050406030204" pitchFamily="18" charset="0"/>
                          </a:rPr>
                          <m:t>𝑃𝐷</m:t>
                        </m:r>
                      </m:e>
                      <m:sub>
                        <m:r>
                          <a:rPr lang="en-US" sz="1200" b="0" i="1" smtClean="0">
                            <a:latin typeface="Cambria Math" panose="02040503050406030204" pitchFamily="18" charset="0"/>
                          </a:rPr>
                          <m:t>𝑘</m:t>
                        </m:r>
                      </m:sub>
                    </m:sSub>
                    <m:r>
                      <a:rPr lang="en-US" sz="1200" i="1">
                        <a:latin typeface="Cambria Math" panose="02040503050406030204" pitchFamily="18" charset="0"/>
                      </a:rPr>
                      <m:t>∗</m:t>
                    </m:r>
                    <m:r>
                      <a:rPr lang="en-US" sz="1200" i="1">
                        <a:latin typeface="Cambria Math" panose="02040503050406030204" pitchFamily="18" charset="0"/>
                      </a:rPr>
                      <m:t>𝐿𝐺𝐷</m:t>
                    </m:r>
                  </m:oMath>
                </a14:m>
                <a:r>
                  <a:rPr lang="en-US" sz="1200" dirty="0" smtClean="0">
                    <a:solidFill>
                      <a:schemeClr val="bg1"/>
                    </a:solidFill>
                    <a:latin typeface="EYInterstate Light" panose="02000506000000020004" pitchFamily="2" charset="0"/>
                  </a:rPr>
                  <a:t>,</a:t>
                </a:r>
              </a:p>
              <a:p>
                <a:pP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    where</a:t>
                </a:r>
              </a:p>
              <a:p>
                <a:pPr>
                  <a:lnSpc>
                    <a:spcPct val="95000"/>
                  </a:lnSpc>
                  <a:spcAft>
                    <a:spcPts val="800"/>
                  </a:spcAft>
                  <a:buClr>
                    <a:srgbClr val="FFE600"/>
                  </a:buClr>
                  <a:buSzPct val="70000"/>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𝑘</m:t>
                      </m:r>
                      <m:r>
                        <a:rPr lang="en-US" sz="1200" i="1">
                          <a:latin typeface="Cambria Math" panose="02040503050406030204" pitchFamily="18" charset="0"/>
                        </a:rPr>
                        <m:t>=</m:t>
                      </m:r>
                      <m:r>
                        <m:rPr>
                          <m:sty m:val="p"/>
                        </m:rPr>
                        <a:rPr lang="en-US" sz="1200" b="0" i="0" smtClean="0">
                          <a:latin typeface="Cambria Math" panose="02040503050406030204" pitchFamily="18" charset="0"/>
                        </a:rPr>
                        <m:t>min</m:t>
                      </m:r>
                      <m:r>
                        <a:rPr lang="en-US" sz="1200" b="0" i="1" smtClean="0">
                          <a:latin typeface="Cambria Math" panose="02040503050406030204" pitchFamily="18" charset="0"/>
                        </a:rPr>
                        <m:t>⁡(</m:t>
                      </m:r>
                      <m:r>
                        <a:rPr lang="en-US" sz="1200" b="0" i="1" smtClean="0">
                          <a:latin typeface="Cambria Math" panose="02040503050406030204" pitchFamily="18" charset="0"/>
                        </a:rPr>
                        <m:t>𝐶𝑜𝑛𝑡𝑟</m:t>
                      </m:r>
                      <m:r>
                        <a:rPr lang="en-US" sz="1200" b="0" i="1" smtClean="0">
                          <a:latin typeface="Cambria Math" panose="02040503050406030204" pitchFamily="18" charset="0"/>
                        </a:rPr>
                        <m:t>. </m:t>
                      </m:r>
                      <m:r>
                        <a:rPr lang="en-US" sz="1200" b="0" i="1" smtClean="0">
                          <a:latin typeface="Cambria Math" panose="02040503050406030204" pitchFamily="18" charset="0"/>
                        </a:rPr>
                        <m:t>𝑚𝑎𝑡𝑢𝑟𝑖𝑡𝑦</m:t>
                      </m:r>
                      <m:r>
                        <a:rPr lang="en-US" sz="1200" b="0" i="1" smtClean="0">
                          <a:latin typeface="Cambria Math" panose="02040503050406030204" pitchFamily="18" charset="0"/>
                        </a:rPr>
                        <m:t>, 12</m:t>
                      </m:r>
                      <m:r>
                        <a:rPr lang="en-US" sz="1200" b="0" i="1" smtClean="0">
                          <a:latin typeface="Cambria Math" panose="02040503050406030204" pitchFamily="18" charset="0"/>
                        </a:rPr>
                        <m:t>𝑚</m:t>
                      </m:r>
                      <m:r>
                        <a:rPr lang="en-US" sz="1200" b="0" i="1" smtClean="0">
                          <a:latin typeface="Cambria Math" panose="02040503050406030204" pitchFamily="18" charset="0"/>
                        </a:rPr>
                        <m:t>)</m:t>
                      </m:r>
                    </m:oMath>
                  </m:oMathPara>
                </a14:m>
                <a:endParaRPr lang="en-US" sz="1200" dirty="0" smtClean="0">
                  <a:solidFill>
                    <a:schemeClr val="bg1"/>
                  </a:solidFill>
                  <a:latin typeface="EYInterstate Light" panose="02000506000000020004" pitchFamily="2" charset="0"/>
                </a:endParaRPr>
              </a:p>
            </p:txBody>
          </p:sp>
        </mc:Choice>
        <mc:Fallback xmlns="">
          <p:sp>
            <p:nvSpPr>
              <p:cNvPr id="29" name="Rectangle 14"/>
              <p:cNvSpPr>
                <a:spLocks noRot="1" noChangeAspect="1" noMove="1" noResize="1" noEditPoints="1" noAdjustHandles="1" noChangeArrowheads="1" noChangeShapeType="1" noTextEdit="1"/>
              </p:cNvSpPr>
              <p:nvPr/>
            </p:nvSpPr>
            <p:spPr bwMode="gray">
              <a:xfrm>
                <a:off x="453714" y="2496395"/>
                <a:ext cx="2667598" cy="3558175"/>
              </a:xfrm>
              <a:prstGeom prst="rect">
                <a:avLst/>
              </a:prstGeom>
              <a:blipFill rotWithShape="0">
                <a:blip r:embed="rId3"/>
                <a:stretch>
                  <a:fillRect/>
                </a:stretch>
              </a:blipFill>
              <a:ln>
                <a:solidFill>
                  <a:srgbClr val="FFD200"/>
                </a:solidFill>
                <a:headEnd/>
                <a:tailEnd/>
              </a:ln>
            </p:spPr>
            <p:txBody>
              <a:bodyPr/>
              <a:lstStyle/>
              <a:p>
                <a:r>
                  <a:rPr lang="cs-CZ">
                    <a:noFill/>
                  </a:rPr>
                  <a:t> </a:t>
                </a:r>
              </a:p>
            </p:txBody>
          </p:sp>
        </mc:Fallback>
      </mc:AlternateContent>
      <p:sp>
        <p:nvSpPr>
          <p:cNvPr id="30" name="Ellipse 20"/>
          <p:cNvSpPr/>
          <p:nvPr/>
        </p:nvSpPr>
        <p:spPr bwMode="gray">
          <a:xfrm>
            <a:off x="2075878" y="2081716"/>
            <a:ext cx="345600" cy="370800"/>
          </a:xfrm>
          <a:prstGeom prst="ellipse">
            <a:avLst/>
          </a:prstGeom>
          <a:solidFill>
            <a:srgbClr val="FFFFFF"/>
          </a:solidFill>
          <a:ln w="38100">
            <a:solidFill>
              <a:schemeClr val="accent1">
                <a:lumMod val="40000"/>
                <a:lumOff val="60000"/>
              </a:schemeClr>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de-DE" sz="2400" dirty="0">
                <a:solidFill>
                  <a:srgbClr val="808080"/>
                </a:solidFill>
                <a:latin typeface="EYInterstate" panose="02000503020000020004" pitchFamily="2" charset="0"/>
              </a:rPr>
              <a:t>1</a:t>
            </a:r>
          </a:p>
        </p:txBody>
      </p:sp>
      <p:sp>
        <p:nvSpPr>
          <p:cNvPr id="32" name="AutoShape 9"/>
          <p:cNvSpPr>
            <a:spLocks noChangeArrowheads="1"/>
          </p:cNvSpPr>
          <p:nvPr/>
        </p:nvSpPr>
        <p:spPr bwMode="gray">
          <a:xfrm>
            <a:off x="3272493" y="3958221"/>
            <a:ext cx="5028128" cy="432846"/>
          </a:xfrm>
          <a:prstGeom prst="rect">
            <a:avLst/>
          </a:prstGeom>
          <a:solidFill>
            <a:srgbClr val="FFD200"/>
          </a:solidFill>
          <a:ln w="28575">
            <a:solidFill>
              <a:srgbClr val="FFD200"/>
            </a:solidFill>
            <a:headEnd/>
            <a:tailEnd/>
          </a:ln>
        </p:spPr>
        <p:style>
          <a:lnRef idx="2">
            <a:schemeClr val="dk1"/>
          </a:lnRef>
          <a:fillRef idx="1">
            <a:schemeClr val="lt1"/>
          </a:fillRef>
          <a:effectRef idx="0">
            <a:schemeClr val="dk1"/>
          </a:effectRef>
          <a:fontRef idx="minor">
            <a:schemeClr val="dk1"/>
          </a:fontRef>
        </p:style>
        <p:txBody>
          <a:bodyPr vert="horz" wrap="square" lIns="72000" tIns="45720" rIns="468000" bIns="45720" rtlCol="0" anchor="ctr"/>
          <a:lstStyle/>
          <a:p>
            <a:pPr algn="ctr">
              <a:lnSpc>
                <a:spcPct val="95000"/>
              </a:lnSpc>
              <a:spcAft>
                <a:spcPts val="800"/>
              </a:spcAft>
              <a:defRPr/>
            </a:pPr>
            <a:r>
              <a:rPr lang="en-US" b="1" dirty="0" smtClean="0">
                <a:solidFill>
                  <a:schemeClr val="bg1"/>
                </a:solidFill>
                <a:latin typeface="EYInterstate" panose="02000503020000020004" pitchFamily="2" charset="0"/>
              </a:rPr>
              <a:t>Stage</a:t>
            </a:r>
            <a:endParaRPr lang="en-US" b="1" dirty="0">
              <a:solidFill>
                <a:schemeClr val="bg1"/>
              </a:solidFill>
              <a:latin typeface="EYInterstate" panose="02000503020000020004" pitchFamily="2" charset="0"/>
            </a:endParaRPr>
          </a:p>
        </p:txBody>
      </p:sp>
      <mc:AlternateContent xmlns:mc="http://schemas.openxmlformats.org/markup-compatibility/2006" xmlns:a14="http://schemas.microsoft.com/office/drawing/2010/main">
        <mc:Choice Requires="a14">
          <p:sp>
            <p:nvSpPr>
              <p:cNvPr id="33" name="Rectangle 14"/>
              <p:cNvSpPr>
                <a:spLocks noChangeArrowheads="1"/>
              </p:cNvSpPr>
              <p:nvPr/>
            </p:nvSpPr>
            <p:spPr bwMode="gray">
              <a:xfrm>
                <a:off x="3272493" y="4408690"/>
                <a:ext cx="5028128" cy="1645880"/>
              </a:xfrm>
              <a:prstGeom prst="rect">
                <a:avLst/>
              </a:prstGeom>
              <a:noFill/>
              <a:ln>
                <a:solidFill>
                  <a:srgbClr val="FFD200"/>
                </a:solidFill>
                <a:headEnd/>
                <a:tailEnd/>
              </a:ln>
            </p:spPr>
            <p:style>
              <a:lnRef idx="2">
                <a:schemeClr val="dk1"/>
              </a:lnRef>
              <a:fillRef idx="1">
                <a:schemeClr val="lt1"/>
              </a:fillRef>
              <a:effectRef idx="0">
                <a:schemeClr val="dk1"/>
              </a:effectRef>
              <a:fontRef idx="minor">
                <a:schemeClr val="dk1"/>
              </a:fontRef>
            </p:style>
            <p:txBody>
              <a:bodyPr vert="horz" wrap="square" lIns="108000" tIns="72000" rIns="108000" bIns="0" anchor="t" anchorCtr="0"/>
              <a:lstStyle/>
              <a:p>
                <a:pP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Two approaches are used:</a:t>
                </a:r>
                <a:endParaRPr lang="en-US" sz="1200" dirty="0">
                  <a:solidFill>
                    <a:schemeClr val="bg1"/>
                  </a:solidFill>
                  <a:latin typeface="EYInterstate Light" panose="02000506000000020004" pitchFamily="2" charset="0"/>
                </a:endParaRPr>
              </a:p>
              <a:p>
                <a:pPr marL="171450" indent="-171450">
                  <a:lnSpc>
                    <a:spcPct val="95000"/>
                  </a:lnSpc>
                  <a:spcAft>
                    <a:spcPts val="800"/>
                  </a:spcAft>
                  <a:buClr>
                    <a:srgbClr val="FFE600"/>
                  </a:buClr>
                  <a:buSzPct val="70000"/>
                  <a:buFont typeface="Arial" pitchFamily="34" charset="0"/>
                  <a:buChar char="►"/>
                  <a:defRPr/>
                </a:pPr>
                <a:r>
                  <a:rPr lang="en-US" sz="1200" dirty="0" smtClean="0">
                    <a:solidFill>
                      <a:schemeClr val="bg1"/>
                    </a:solidFill>
                    <a:latin typeface="EYInterstate Light" panose="02000506000000020004" pitchFamily="2" charset="0"/>
                  </a:rPr>
                  <a:t>Using a simplified approach, which takes into account only the exposure at the time of default ignoring any recoveries</a:t>
                </a:r>
              </a:p>
              <a:p>
                <a:pPr>
                  <a:lnSpc>
                    <a:spcPct val="95000"/>
                  </a:lnSpc>
                  <a:spcAft>
                    <a:spcPts val="800"/>
                  </a:spcAft>
                  <a:buClr>
                    <a:srgbClr val="FFE600"/>
                  </a:buClr>
                  <a:buSzPct val="70000"/>
                  <a:defRPr/>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cs-CZ" sz="1200" b="0" i="1" smtClean="0">
                              <a:latin typeface="Cambria Math" panose="02040503050406030204" pitchFamily="18" charset="0"/>
                            </a:rPr>
                            <m:t>𝐼𝑚𝑝𝑎𝑖𝑟</m:t>
                          </m:r>
                        </m:e>
                        <m:sub>
                          <m:r>
                            <a:rPr lang="en-US" sz="1200" i="1">
                              <a:latin typeface="Cambria Math" panose="02040503050406030204" pitchFamily="18" charset="0"/>
                            </a:rPr>
                            <m:t>𝑆</m:t>
                          </m:r>
                          <m:r>
                            <a:rPr lang="en-US" sz="1200" b="0" i="1" smtClean="0">
                              <a:latin typeface="Cambria Math" panose="02040503050406030204" pitchFamily="18" charset="0"/>
                            </a:rPr>
                            <m:t>3</m:t>
                          </m:r>
                        </m:sub>
                      </m:sSub>
                      <m:r>
                        <a:rPr lang="en-US" sz="1200" i="1" smtClean="0">
                          <a:latin typeface="Cambria Math" panose="02040503050406030204" pitchFamily="18" charset="0"/>
                        </a:rPr>
                        <m:t>=</m:t>
                      </m:r>
                      <m:r>
                        <a:rPr lang="en-US" sz="1200" i="1">
                          <a:latin typeface="Cambria Math" panose="02040503050406030204" pitchFamily="18" charset="0"/>
                        </a:rPr>
                        <m:t>𝐸</m:t>
                      </m:r>
                      <m:r>
                        <a:rPr lang="en-US" sz="1200" b="0" i="1" smtClean="0">
                          <a:latin typeface="Cambria Math" panose="02040503050406030204" pitchFamily="18" charset="0"/>
                        </a:rPr>
                        <m:t>𝐴𝐷</m:t>
                      </m:r>
                      <m:r>
                        <a:rPr lang="en-US" sz="1200" i="1">
                          <a:latin typeface="Cambria Math" panose="02040503050406030204" pitchFamily="18" charset="0"/>
                        </a:rPr>
                        <m:t>∗</m:t>
                      </m:r>
                      <m:r>
                        <a:rPr lang="en-US" sz="1200" i="1">
                          <a:latin typeface="Cambria Math" panose="02040503050406030204" pitchFamily="18" charset="0"/>
                        </a:rPr>
                        <m:t>𝐿𝐺𝐷</m:t>
                      </m:r>
                    </m:oMath>
                  </m:oMathPara>
                </a14:m>
                <a:endParaRPr lang="en-US" sz="1200" dirty="0">
                  <a:solidFill>
                    <a:schemeClr val="bg1"/>
                  </a:solidFill>
                  <a:latin typeface="EYInterstate Light" panose="02000506000000020004" pitchFamily="2" charset="0"/>
                </a:endParaRPr>
              </a:p>
              <a:p>
                <a:pPr marL="171450" indent="-171450">
                  <a:lnSpc>
                    <a:spcPct val="95000"/>
                  </a:lnSpc>
                  <a:spcAft>
                    <a:spcPts val="800"/>
                  </a:spcAft>
                  <a:buClr>
                    <a:srgbClr val="FFE600"/>
                  </a:buClr>
                  <a:buSzPct val="70000"/>
                  <a:buFont typeface="Arial" pitchFamily="34" charset="0"/>
                  <a:buChar char="►"/>
                  <a:defRPr/>
                </a:pPr>
                <a:r>
                  <a:rPr lang="en-US" sz="1200" dirty="0" smtClean="0">
                    <a:solidFill>
                      <a:schemeClr val="bg1"/>
                    </a:solidFill>
                    <a:latin typeface="EYInterstate Light" panose="02000506000000020004" pitchFamily="2" charset="0"/>
                  </a:rPr>
                  <a:t>Using actual exposure reflecting recoveries and residual LGD</a:t>
                </a:r>
                <a:endParaRPr lang="en-US" sz="1200" dirty="0">
                  <a:solidFill>
                    <a:schemeClr val="bg1"/>
                  </a:solidFill>
                  <a:latin typeface="EYInterstate Light" panose="02000506000000020004" pitchFamily="2" charset="0"/>
                </a:endParaRPr>
              </a:p>
              <a:p>
                <a:pPr>
                  <a:lnSpc>
                    <a:spcPct val="95000"/>
                  </a:lnSpc>
                  <a:spcAft>
                    <a:spcPts val="800"/>
                  </a:spcAft>
                  <a:buClr>
                    <a:srgbClr val="FFE600"/>
                  </a:buClr>
                  <a:buSzPct val="70000"/>
                  <a:defRPr/>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cs-CZ" sz="1200" b="0" i="1" smtClean="0">
                              <a:latin typeface="Cambria Math" panose="02040503050406030204" pitchFamily="18" charset="0"/>
                            </a:rPr>
                            <m:t>𝐼𝑚𝑝𝑎𝑖𝑟</m:t>
                          </m:r>
                        </m:e>
                        <m:sub>
                          <m:r>
                            <a:rPr lang="en-US" sz="1200" i="1">
                              <a:latin typeface="Cambria Math" panose="02040503050406030204" pitchFamily="18" charset="0"/>
                            </a:rPr>
                            <m:t>𝑆</m:t>
                          </m:r>
                          <m:r>
                            <a:rPr lang="en-US" sz="1200" i="1">
                              <a:latin typeface="Cambria Math" panose="02040503050406030204" pitchFamily="18" charset="0"/>
                            </a:rPr>
                            <m:t>3</m:t>
                          </m:r>
                        </m:sub>
                      </m:sSub>
                      <m:r>
                        <a:rPr lang="en-US" sz="1200" i="1" smtClean="0">
                          <a:latin typeface="Cambria Math" panose="02040503050406030204" pitchFamily="18" charset="0"/>
                        </a:rPr>
                        <m:t>=</m:t>
                      </m:r>
                      <m:r>
                        <a:rPr lang="en-US" sz="1200" i="1">
                          <a:latin typeface="Cambria Math" panose="02040503050406030204" pitchFamily="18" charset="0"/>
                        </a:rPr>
                        <m:t>𝐸𝑥𝑝𝑜𝑠𝑢𝑟𝑒</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𝐿𝐺𝐷</m:t>
                          </m:r>
                        </m:e>
                        <m:sub>
                          <m:r>
                            <a:rPr lang="en-US" sz="1200" i="1">
                              <a:latin typeface="Cambria Math" panose="02040503050406030204" pitchFamily="18" charset="0"/>
                            </a:rPr>
                            <m:t>𝑟𝑒𝑠</m:t>
                          </m:r>
                        </m:sub>
                      </m:sSub>
                    </m:oMath>
                  </m:oMathPara>
                </a14:m>
                <a:endParaRPr lang="en-US" sz="1200" dirty="0"/>
              </a:p>
              <a:p>
                <a:pPr>
                  <a:lnSpc>
                    <a:spcPct val="95000"/>
                  </a:lnSpc>
                  <a:spcAft>
                    <a:spcPts val="800"/>
                  </a:spcAft>
                  <a:buClr>
                    <a:srgbClr val="FFE600"/>
                  </a:buClr>
                  <a:buSzPct val="70000"/>
                  <a:defRPr/>
                </a:pPr>
                <a:endParaRPr lang="en-US" sz="1200" dirty="0" smtClean="0">
                  <a:solidFill>
                    <a:schemeClr val="bg1"/>
                  </a:solidFill>
                  <a:latin typeface="EYInterstate Light" panose="02000506000000020004" pitchFamily="2" charset="0"/>
                </a:endParaRPr>
              </a:p>
            </p:txBody>
          </p:sp>
        </mc:Choice>
        <mc:Fallback xmlns="">
          <p:sp>
            <p:nvSpPr>
              <p:cNvPr id="33" name="Rectangle 14"/>
              <p:cNvSpPr>
                <a:spLocks noRot="1" noChangeAspect="1" noMove="1" noResize="1" noEditPoints="1" noAdjustHandles="1" noChangeArrowheads="1" noChangeShapeType="1" noTextEdit="1"/>
              </p:cNvSpPr>
              <p:nvPr/>
            </p:nvSpPr>
            <p:spPr bwMode="gray">
              <a:xfrm>
                <a:off x="3272493" y="4408690"/>
                <a:ext cx="5028128" cy="1645880"/>
              </a:xfrm>
              <a:prstGeom prst="rect">
                <a:avLst/>
              </a:prstGeom>
              <a:blipFill rotWithShape="0">
                <a:blip r:embed="rId4"/>
                <a:stretch>
                  <a:fillRect/>
                </a:stretch>
              </a:blipFill>
              <a:ln>
                <a:solidFill>
                  <a:srgbClr val="FFD200"/>
                </a:solidFill>
                <a:headEnd/>
                <a:tailEnd/>
              </a:ln>
            </p:spPr>
            <p:txBody>
              <a:bodyPr/>
              <a:lstStyle/>
              <a:p>
                <a:r>
                  <a:rPr lang="cs-CZ">
                    <a:noFill/>
                  </a:rPr>
                  <a:t> </a:t>
                </a:r>
              </a:p>
            </p:txBody>
          </p:sp>
        </mc:Fallback>
      </mc:AlternateContent>
      <p:sp>
        <p:nvSpPr>
          <p:cNvPr id="34" name="Ellipse 20"/>
          <p:cNvSpPr/>
          <p:nvPr/>
        </p:nvSpPr>
        <p:spPr bwMode="gray">
          <a:xfrm>
            <a:off x="5991393" y="3993732"/>
            <a:ext cx="345874" cy="371527"/>
          </a:xfrm>
          <a:prstGeom prst="ellipse">
            <a:avLst/>
          </a:prstGeom>
          <a:solidFill>
            <a:srgbClr val="FFFFFF"/>
          </a:solidFill>
          <a:ln w="38100">
            <a:solidFill>
              <a:schemeClr val="accent1">
                <a:lumMod val="40000"/>
                <a:lumOff val="60000"/>
              </a:schemeClr>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de-DE" sz="2400" dirty="0">
                <a:solidFill>
                  <a:srgbClr val="808080"/>
                </a:solidFill>
                <a:latin typeface="EYInterstate" panose="02000503020000020004" pitchFamily="2" charset="0"/>
              </a:rPr>
              <a:t>3</a:t>
            </a:r>
          </a:p>
        </p:txBody>
      </p:sp>
      <p:sp>
        <p:nvSpPr>
          <p:cNvPr id="35" name="AutoShape 9"/>
          <p:cNvSpPr>
            <a:spLocks noChangeArrowheads="1"/>
          </p:cNvSpPr>
          <p:nvPr/>
        </p:nvSpPr>
        <p:spPr bwMode="gray">
          <a:xfrm>
            <a:off x="3272493" y="2051116"/>
            <a:ext cx="2826466" cy="432000"/>
          </a:xfrm>
          <a:prstGeom prst="rect">
            <a:avLst/>
          </a:prstGeom>
          <a:solidFill>
            <a:schemeClr val="bg1"/>
          </a:solidFill>
          <a:ln w="28575">
            <a:solidFill>
              <a:schemeClr val="bg1"/>
            </a:solidFill>
            <a:headEnd/>
            <a:tailEnd/>
          </a:ln>
        </p:spPr>
        <p:style>
          <a:lnRef idx="2">
            <a:schemeClr val="dk1"/>
          </a:lnRef>
          <a:fillRef idx="1">
            <a:schemeClr val="lt1"/>
          </a:fillRef>
          <a:effectRef idx="0">
            <a:schemeClr val="dk1"/>
          </a:effectRef>
          <a:fontRef idx="minor">
            <a:schemeClr val="dk1"/>
          </a:fontRef>
        </p:style>
        <p:txBody>
          <a:bodyPr vert="horz" wrap="square" lIns="91440" tIns="45720" rIns="396000" bIns="45720" rtlCol="0" anchor="ctr"/>
          <a:lstStyle/>
          <a:p>
            <a:pPr algn="ctr">
              <a:lnSpc>
                <a:spcPct val="95000"/>
              </a:lnSpc>
              <a:spcAft>
                <a:spcPts val="800"/>
              </a:spcAft>
              <a:defRPr/>
            </a:pPr>
            <a:r>
              <a:rPr lang="en-US" b="1" dirty="0" smtClean="0">
                <a:solidFill>
                  <a:srgbClr val="FFFFFF"/>
                </a:solidFill>
                <a:latin typeface="EYInterstate" panose="02000503020000020004" pitchFamily="2" charset="0"/>
              </a:rPr>
              <a:t>Stage</a:t>
            </a:r>
            <a:endParaRPr lang="en-US" b="1" dirty="0">
              <a:solidFill>
                <a:srgbClr val="FFFFFF"/>
              </a:solidFill>
              <a:latin typeface="EYInterstate" panose="02000503020000020004" pitchFamily="2" charset="0"/>
            </a:endParaRPr>
          </a:p>
        </p:txBody>
      </p:sp>
      <mc:AlternateContent xmlns:mc="http://schemas.openxmlformats.org/markup-compatibility/2006" xmlns:a14="http://schemas.microsoft.com/office/drawing/2010/main">
        <mc:Choice Requires="a14">
          <p:sp>
            <p:nvSpPr>
              <p:cNvPr id="36" name="Rectangle 14"/>
              <p:cNvSpPr>
                <a:spLocks noChangeArrowheads="1"/>
              </p:cNvSpPr>
              <p:nvPr/>
            </p:nvSpPr>
            <p:spPr bwMode="gray">
              <a:xfrm>
                <a:off x="3272493" y="2494999"/>
                <a:ext cx="2826466" cy="1349031"/>
              </a:xfrm>
              <a:prstGeom prst="rect">
                <a:avLst/>
              </a:prstGeom>
              <a:solidFill>
                <a:srgbClr val="FFFFFF"/>
              </a:solidFill>
              <a:ln>
                <a:solidFill>
                  <a:schemeClr val="bg1"/>
                </a:solidFill>
                <a:headEnd/>
                <a:tailEnd/>
              </a:ln>
            </p:spPr>
            <p:style>
              <a:lnRef idx="2">
                <a:schemeClr val="dk1"/>
              </a:lnRef>
              <a:fillRef idx="1">
                <a:schemeClr val="lt1"/>
              </a:fillRef>
              <a:effectRef idx="0">
                <a:schemeClr val="dk1"/>
              </a:effectRef>
              <a:fontRef idx="minor">
                <a:schemeClr val="dk1"/>
              </a:fontRef>
            </p:style>
            <p:txBody>
              <a:bodyPr vert="horz" wrap="square" lIns="108000" tIns="72000" rIns="108000" bIns="0" anchor="t" anchorCtr="0"/>
              <a:lstStyle/>
              <a:p>
                <a:pPr>
                  <a:lnSpc>
                    <a:spcPct val="95000"/>
                  </a:lnSpc>
                  <a:spcAft>
                    <a:spcPts val="800"/>
                  </a:spcAft>
                  <a:buClr>
                    <a:srgbClr val="FFE600"/>
                  </a:buClr>
                  <a:buSzPct val="70000"/>
                  <a:defRPr/>
                </a:pPr>
                <a:r>
                  <a:rPr lang="en-US" sz="1200" dirty="0" smtClean="0">
                    <a:solidFill>
                      <a:schemeClr val="bg1"/>
                    </a:solidFill>
                    <a:latin typeface="EYInterstate Light" panose="02000506000000020004" pitchFamily="2" charset="0"/>
                  </a:rPr>
                  <a:t>Lifetime ECL allowance calculation for Stage 2 uses incremental PDs and follows the approach:</a:t>
                </a:r>
              </a:p>
              <a:p>
                <a:pPr>
                  <a:lnSpc>
                    <a:spcPct val="95000"/>
                  </a:lnSpc>
                  <a:spcAft>
                    <a:spcPts val="800"/>
                  </a:spcAft>
                  <a:buClr>
                    <a:srgbClr val="FFE600"/>
                  </a:buClr>
                  <a:buSzPct val="70000"/>
                  <a:defRPr/>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𝐼𝑚𝑝𝑎𝑖𝑟</m:t>
                          </m:r>
                        </m:e>
                        <m:sub>
                          <m:r>
                            <a:rPr lang="en-US" sz="1200" i="1">
                              <a:latin typeface="Cambria Math" panose="02040503050406030204" pitchFamily="18" charset="0"/>
                            </a:rPr>
                            <m:t>𝑆</m:t>
                          </m:r>
                          <m:r>
                            <a:rPr lang="en-US" sz="1200" b="0" i="1" smtClean="0">
                              <a:latin typeface="Cambria Math" panose="02040503050406030204" pitchFamily="18" charset="0"/>
                            </a:rPr>
                            <m:t>2</m:t>
                          </m:r>
                        </m:sub>
                      </m:sSub>
                      <m:r>
                        <a:rPr lang="en-US" sz="1200" i="1" smtClean="0">
                          <a:latin typeface="Cambria Math" panose="02040503050406030204" pitchFamily="18" charset="0"/>
                        </a:rPr>
                        <m:t>=</m:t>
                      </m:r>
                      <m:nary>
                        <m:naryPr>
                          <m:chr m:val="∑"/>
                          <m:ctrlPr>
                            <a:rPr lang="en-US" sz="1200" i="1" smtClean="0">
                              <a:latin typeface="Cambria Math" panose="02040503050406030204" pitchFamily="18" charset="0"/>
                            </a:rPr>
                          </m:ctrlPr>
                        </m:naryPr>
                        <m:sub>
                          <m:r>
                            <a:rPr lang="en-US" sz="1200" i="1">
                              <a:latin typeface="Cambria Math" panose="02040503050406030204" pitchFamily="18" charset="0"/>
                            </a:rPr>
                            <m:t>𝑖</m:t>
                          </m:r>
                          <m:r>
                            <a:rPr lang="en-US" sz="1200" i="1">
                              <a:latin typeface="Cambria Math" panose="02040503050406030204" pitchFamily="18" charset="0"/>
                            </a:rPr>
                            <m:t>=0</m:t>
                          </m:r>
                        </m:sub>
                        <m:sup>
                          <m:r>
                            <a:rPr lang="en-US" sz="1200" i="1">
                              <a:latin typeface="Cambria Math" panose="02040503050406030204" pitchFamily="18" charset="0"/>
                            </a:rPr>
                            <m:t>𝑛</m:t>
                          </m:r>
                          <m:r>
                            <a:rPr lang="cs-CZ" sz="1200" b="0" i="1" smtClean="0">
                              <a:latin typeface="Cambria Math" panose="02040503050406030204" pitchFamily="18" charset="0"/>
                            </a:rPr>
                            <m:t>−1</m:t>
                          </m:r>
                        </m:sup>
                        <m:e>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𝑃𝐷</m:t>
                                  </m:r>
                                </m:e>
                                <m:sub>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i="1">
                                          <a:latin typeface="Cambria Math" panose="02040503050406030204" pitchFamily="18" charset="0"/>
                                        </a:rPr>
                                        <m:t>𝑖</m:t>
                                      </m:r>
                                    </m:sub>
                                  </m:sSub>
                                  <m:sSub>
                                    <m:sSubPr>
                                      <m:ctrlPr>
                                        <a:rPr lang="en-US" sz="1200" i="1">
                                          <a:latin typeface="Cambria Math" panose="02040503050406030204" pitchFamily="18" charset="0"/>
                                        </a:rPr>
                                      </m:ctrlPr>
                                    </m:sSubPr>
                                    <m:e>
                                      <m:r>
                                        <a:rPr lang="en-US" sz="1200" i="1">
                                          <a:latin typeface="Cambria Math" panose="02040503050406030204" pitchFamily="18" charset="0"/>
                                        </a:rPr>
                                        <m:t>,</m:t>
                                      </m:r>
                                      <m:r>
                                        <a:rPr lang="en-US" sz="1200" i="1">
                                          <a:latin typeface="Cambria Math" panose="02040503050406030204" pitchFamily="18" charset="0"/>
                                        </a:rPr>
                                        <m:t>𝑡</m:t>
                                      </m:r>
                                    </m:e>
                                    <m:sub>
                                      <m:r>
                                        <a:rPr lang="en-US" sz="1200" i="1">
                                          <a:latin typeface="Cambria Math" panose="02040503050406030204" pitchFamily="18" charset="0"/>
                                        </a:rPr>
                                        <m:t>𝑖</m:t>
                                      </m:r>
                                      <m:r>
                                        <a:rPr lang="en-US" sz="1200" i="1">
                                          <a:latin typeface="Cambria Math" panose="02040503050406030204" pitchFamily="18" charset="0"/>
                                        </a:rPr>
                                        <m:t>+1</m:t>
                                      </m:r>
                                    </m:sub>
                                  </m:sSub>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𝐸𝐴𝐷</m:t>
                                  </m:r>
                                </m:e>
                                <m:sub>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i="1">
                                          <a:latin typeface="Cambria Math" panose="02040503050406030204" pitchFamily="18" charset="0"/>
                                        </a:rPr>
                                        <m:t>𝑖</m:t>
                                      </m:r>
                                    </m:sub>
                                  </m:sSub>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𝐿𝐺𝐷</m:t>
                                  </m:r>
                                </m:e>
                                <m:sub>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i="1">
                                          <a:latin typeface="Cambria Math" panose="02040503050406030204" pitchFamily="18" charset="0"/>
                                        </a:rPr>
                                        <m:t>𝑖</m:t>
                                      </m:r>
                                    </m:sub>
                                  </m:sSub>
                                </m:sub>
                              </m:sSub>
                            </m:num>
                            <m:den>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i="1">
                                          <a:latin typeface="Cambria Math" panose="02040503050406030204" pitchFamily="18" charset="0"/>
                                        </a:rPr>
                                        <m:t>1+</m:t>
                                      </m:r>
                                      <m:r>
                                        <a:rPr lang="en-US" sz="1200" i="1">
                                          <a:latin typeface="Cambria Math" panose="02040503050406030204" pitchFamily="18" charset="0"/>
                                        </a:rPr>
                                        <m:t>𝐸𝐼𝑅</m:t>
                                      </m:r>
                                    </m:e>
                                  </m:d>
                                </m:e>
                                <m:sup>
                                  <m:r>
                                    <a:rPr lang="en-US" sz="1200" i="1">
                                      <a:latin typeface="Cambria Math" panose="02040503050406030204" pitchFamily="18" charset="0"/>
                                    </a:rPr>
                                    <m:t>𝑖</m:t>
                                  </m:r>
                                  <m:r>
                                    <a:rPr lang="en-US" sz="1200" i="1">
                                      <a:latin typeface="Cambria Math" panose="02040503050406030204" pitchFamily="18" charset="0"/>
                                    </a:rPr>
                                    <m:t>+1</m:t>
                                  </m:r>
                                </m:sup>
                              </m:sSup>
                            </m:den>
                          </m:f>
                        </m:e>
                      </m:nary>
                    </m:oMath>
                  </m:oMathPara>
                </a14:m>
                <a:endParaRPr lang="en-US" sz="1200" dirty="0" smtClean="0">
                  <a:solidFill>
                    <a:schemeClr val="bg1"/>
                  </a:solidFill>
                  <a:latin typeface="EYInterstate Light" panose="02000506000000020004" pitchFamily="2" charset="0"/>
                </a:endParaRPr>
              </a:p>
            </p:txBody>
          </p:sp>
        </mc:Choice>
        <mc:Fallback xmlns="">
          <p:sp>
            <p:nvSpPr>
              <p:cNvPr id="36" name="Rectangle 14"/>
              <p:cNvSpPr>
                <a:spLocks noRot="1" noChangeAspect="1" noMove="1" noResize="1" noEditPoints="1" noAdjustHandles="1" noChangeArrowheads="1" noChangeShapeType="1" noTextEdit="1"/>
              </p:cNvSpPr>
              <p:nvPr/>
            </p:nvSpPr>
            <p:spPr bwMode="gray">
              <a:xfrm>
                <a:off x="3272493" y="2494999"/>
                <a:ext cx="2826466" cy="1349031"/>
              </a:xfrm>
              <a:prstGeom prst="rect">
                <a:avLst/>
              </a:prstGeom>
              <a:blipFill rotWithShape="0">
                <a:blip r:embed="rId5"/>
                <a:stretch>
                  <a:fillRect r="-428"/>
                </a:stretch>
              </a:blipFill>
              <a:ln>
                <a:solidFill>
                  <a:schemeClr val="bg1"/>
                </a:solidFill>
                <a:headEnd/>
                <a:tailEnd/>
              </a:ln>
            </p:spPr>
            <p:txBody>
              <a:bodyPr/>
              <a:lstStyle/>
              <a:p>
                <a:r>
                  <a:rPr lang="cs-CZ">
                    <a:noFill/>
                  </a:rPr>
                  <a:t> </a:t>
                </a:r>
              </a:p>
            </p:txBody>
          </p:sp>
        </mc:Fallback>
      </mc:AlternateContent>
      <p:sp>
        <p:nvSpPr>
          <p:cNvPr id="37" name="Ellipse 20"/>
          <p:cNvSpPr/>
          <p:nvPr/>
        </p:nvSpPr>
        <p:spPr bwMode="gray">
          <a:xfrm>
            <a:off x="4865687" y="2084406"/>
            <a:ext cx="345600" cy="370800"/>
          </a:xfrm>
          <a:prstGeom prst="ellipse">
            <a:avLst/>
          </a:prstGeom>
          <a:solidFill>
            <a:srgbClr val="FFFFFF"/>
          </a:solidFill>
          <a:ln w="38100">
            <a:solidFill>
              <a:schemeClr val="accent1">
                <a:lumMod val="40000"/>
                <a:lumOff val="60000"/>
              </a:schemeClr>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de-DE" sz="2400" dirty="0" smtClean="0">
                <a:solidFill>
                  <a:srgbClr val="808080"/>
                </a:solidFill>
                <a:latin typeface="EYInterstate" panose="02000503020000020004" pitchFamily="2" charset="0"/>
              </a:rPr>
              <a:t>2</a:t>
            </a:r>
            <a:endParaRPr lang="de-DE" sz="2400" dirty="0">
              <a:solidFill>
                <a:srgbClr val="808080"/>
              </a:solidFill>
              <a:latin typeface="EYInterstate" panose="02000503020000020004" pitchFamily="2" charset="0"/>
            </a:endParaRPr>
          </a:p>
        </p:txBody>
      </p:sp>
      <p:sp>
        <p:nvSpPr>
          <p:cNvPr id="27"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cxnSp>
        <p:nvCxnSpPr>
          <p:cNvPr id="5" name="Straight Arrow Connector 4"/>
          <p:cNvCxnSpPr/>
          <p:nvPr/>
        </p:nvCxnSpPr>
        <p:spPr>
          <a:xfrm>
            <a:off x="637821" y="1374742"/>
            <a:ext cx="4752000" cy="0"/>
          </a:xfrm>
          <a:prstGeom prst="straightConnector1">
            <a:avLst/>
          </a:prstGeom>
          <a:ln w="25400" cap="sq">
            <a:solidFill>
              <a:schemeClr val="accent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39334" y="1373704"/>
            <a:ext cx="0" cy="180000"/>
          </a:xfrm>
          <a:prstGeom prst="line">
            <a:avLst/>
          </a:prstGeom>
          <a:ln w="254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827334" y="1373704"/>
            <a:ext cx="0" cy="180000"/>
          </a:xfrm>
          <a:prstGeom prst="line">
            <a:avLst/>
          </a:prstGeom>
          <a:ln w="254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3015334" y="1373704"/>
            <a:ext cx="0" cy="180000"/>
          </a:xfrm>
          <a:prstGeom prst="line">
            <a:avLst/>
          </a:prstGeom>
          <a:ln w="254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203334" y="1373704"/>
            <a:ext cx="0" cy="180000"/>
          </a:xfrm>
          <a:prstGeom prst="line">
            <a:avLst/>
          </a:prstGeom>
          <a:ln w="254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41" name="AutoShape 9"/>
          <p:cNvSpPr>
            <a:spLocks noChangeArrowheads="1"/>
          </p:cNvSpPr>
          <p:nvPr/>
        </p:nvSpPr>
        <p:spPr bwMode="gray">
          <a:xfrm>
            <a:off x="716544" y="1031957"/>
            <a:ext cx="1032067" cy="278759"/>
          </a:xfrm>
          <a:prstGeom prst="rect">
            <a:avLst/>
          </a:prstGeom>
          <a:solidFill>
            <a:srgbClr val="2C973E"/>
          </a:solidFill>
          <a:ln w="28575">
            <a:no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lnSpc>
                <a:spcPct val="95000"/>
              </a:lnSpc>
              <a:spcAft>
                <a:spcPts val="800"/>
              </a:spcAft>
              <a:defRPr/>
            </a:pPr>
            <a:r>
              <a:rPr lang="en-US" sz="800" b="1" dirty="0" smtClean="0">
                <a:solidFill>
                  <a:srgbClr val="FFFFFF"/>
                </a:solidFill>
                <a:latin typeface="EYInterstate" panose="02000503020000020004" pitchFamily="2" charset="0"/>
              </a:rPr>
              <a:t>12-month ECLs</a:t>
            </a:r>
            <a:endParaRPr lang="en-US" sz="800" b="1" dirty="0">
              <a:solidFill>
                <a:srgbClr val="FFFFFF"/>
              </a:solidFill>
              <a:latin typeface="EYInterstate" panose="02000503020000020004" pitchFamily="2" charset="0"/>
            </a:endParaRPr>
          </a:p>
        </p:txBody>
      </p:sp>
      <p:sp>
        <p:nvSpPr>
          <p:cNvPr id="42" name="Rectangle 41"/>
          <p:cNvSpPr/>
          <p:nvPr/>
        </p:nvSpPr>
        <p:spPr>
          <a:xfrm>
            <a:off x="80408" y="1591987"/>
            <a:ext cx="1490456" cy="220183"/>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800" i="0" u="none" strike="noStrike" kern="0" cap="none" spc="0" normalizeH="0" baseline="0" noProof="0" dirty="0" smtClean="0">
                <a:ln>
                  <a:noFill/>
                </a:ln>
                <a:solidFill>
                  <a:schemeClr val="bg1"/>
                </a:solidFill>
                <a:effectLst/>
                <a:uLnTx/>
                <a:uFillTx/>
                <a:latin typeface="EYInterstate" panose="02000503020000020004" pitchFamily="2" charset="0"/>
              </a:rPr>
              <a:t>Origination</a:t>
            </a:r>
          </a:p>
        </p:txBody>
      </p:sp>
      <p:sp>
        <p:nvSpPr>
          <p:cNvPr id="43" name="Rectangle 42"/>
          <p:cNvSpPr/>
          <p:nvPr/>
        </p:nvSpPr>
        <p:spPr>
          <a:xfrm>
            <a:off x="1283597" y="1603388"/>
            <a:ext cx="1087473" cy="197379"/>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800" i="0" u="none" strike="noStrike" kern="0" cap="none" spc="0" normalizeH="0" baseline="0" noProof="0" dirty="0" smtClean="0">
                <a:ln>
                  <a:noFill/>
                </a:ln>
                <a:solidFill>
                  <a:schemeClr val="bg1"/>
                </a:solidFill>
                <a:effectLst/>
                <a:uLnTx/>
                <a:uFillTx/>
                <a:latin typeface="EYInterstate" panose="02000503020000020004" pitchFamily="2" charset="0"/>
              </a:rPr>
              <a:t>Significant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800" i="0" u="none" strike="noStrike" kern="0" cap="none" spc="0" normalizeH="0" baseline="0" noProof="0" dirty="0" smtClean="0">
                <a:ln>
                  <a:noFill/>
                </a:ln>
                <a:solidFill>
                  <a:schemeClr val="bg1"/>
                </a:solidFill>
                <a:effectLst/>
                <a:uLnTx/>
                <a:uFillTx/>
                <a:latin typeface="EYInterstate" panose="02000503020000020004" pitchFamily="2" charset="0"/>
              </a:rPr>
              <a:t>increase in credit risk</a:t>
            </a:r>
          </a:p>
        </p:txBody>
      </p:sp>
      <p:sp>
        <p:nvSpPr>
          <p:cNvPr id="44" name="Rectangle 43"/>
          <p:cNvSpPr/>
          <p:nvPr/>
        </p:nvSpPr>
        <p:spPr>
          <a:xfrm>
            <a:off x="2441899" y="1613137"/>
            <a:ext cx="1087473" cy="197379"/>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800" kern="0" dirty="0" smtClean="0">
                <a:solidFill>
                  <a:schemeClr val="bg1"/>
                </a:solidFill>
                <a:latin typeface="EYInterstate" panose="02000503020000020004" pitchFamily="2" charset="0"/>
              </a:rPr>
              <a:t>Impairment</a:t>
            </a:r>
            <a:endParaRPr kumimoji="0" lang="en-US" sz="800" i="0" u="none" strike="noStrike" kern="0" cap="none" spc="0" normalizeH="0" baseline="0" noProof="0" dirty="0" smtClean="0">
              <a:ln>
                <a:noFill/>
              </a:ln>
              <a:solidFill>
                <a:schemeClr val="bg1"/>
              </a:solidFill>
              <a:effectLst/>
              <a:uLnTx/>
              <a:uFillTx/>
              <a:latin typeface="EYInterstate" panose="02000503020000020004" pitchFamily="2" charset="0"/>
            </a:endParaRPr>
          </a:p>
        </p:txBody>
      </p:sp>
      <p:sp>
        <p:nvSpPr>
          <p:cNvPr id="45" name="Rectangle 44"/>
          <p:cNvSpPr/>
          <p:nvPr/>
        </p:nvSpPr>
        <p:spPr>
          <a:xfrm>
            <a:off x="3659597" y="1606927"/>
            <a:ext cx="1087473" cy="197379"/>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800" kern="0" noProof="0" dirty="0" smtClean="0">
                <a:solidFill>
                  <a:schemeClr val="bg1"/>
                </a:solidFill>
                <a:latin typeface="EYInterstate" panose="02000503020000020004" pitchFamily="2" charset="0"/>
              </a:rPr>
              <a:t>Recovery horizon</a:t>
            </a:r>
            <a:endParaRPr kumimoji="0" lang="en-US" sz="800" i="0" u="none" strike="noStrike" kern="0" cap="none" spc="0" normalizeH="0" baseline="0" noProof="0" dirty="0" smtClean="0">
              <a:ln>
                <a:noFill/>
              </a:ln>
              <a:solidFill>
                <a:schemeClr val="bg1"/>
              </a:solidFill>
              <a:effectLst/>
              <a:uLnTx/>
              <a:uFillTx/>
              <a:latin typeface="EYInterstate" panose="02000503020000020004" pitchFamily="2" charset="0"/>
            </a:endParaRPr>
          </a:p>
        </p:txBody>
      </p:sp>
      <p:sp>
        <p:nvSpPr>
          <p:cNvPr id="46" name="Ellipse 20"/>
          <p:cNvSpPr/>
          <p:nvPr/>
        </p:nvSpPr>
        <p:spPr bwMode="gray">
          <a:xfrm>
            <a:off x="1108374" y="1441384"/>
            <a:ext cx="248408" cy="266521"/>
          </a:xfrm>
          <a:prstGeom prst="ellipse">
            <a:avLst/>
          </a:prstGeom>
          <a:solidFill>
            <a:srgbClr val="FFFFFF"/>
          </a:solidFill>
          <a:ln w="38100">
            <a:solidFill>
              <a:schemeClr val="accent1">
                <a:lumMod val="40000"/>
                <a:lumOff val="60000"/>
              </a:schemeClr>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de-DE" sz="1400" dirty="0">
                <a:solidFill>
                  <a:srgbClr val="808080"/>
                </a:solidFill>
                <a:latin typeface="EYInterstate" panose="02000503020000020004" pitchFamily="2" charset="0"/>
              </a:rPr>
              <a:t>1</a:t>
            </a:r>
          </a:p>
        </p:txBody>
      </p:sp>
      <p:sp>
        <p:nvSpPr>
          <p:cNvPr id="49" name="AutoShape 9"/>
          <p:cNvSpPr>
            <a:spLocks noChangeArrowheads="1"/>
          </p:cNvSpPr>
          <p:nvPr/>
        </p:nvSpPr>
        <p:spPr bwMode="gray">
          <a:xfrm>
            <a:off x="1897573" y="1031957"/>
            <a:ext cx="2214000" cy="278759"/>
          </a:xfrm>
          <a:prstGeom prst="rect">
            <a:avLst/>
          </a:prstGeom>
          <a:solidFill>
            <a:srgbClr val="FFF27F"/>
          </a:solidFill>
          <a:ln w="28575">
            <a:no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lnSpc>
                <a:spcPct val="95000"/>
              </a:lnSpc>
              <a:spcAft>
                <a:spcPts val="800"/>
              </a:spcAft>
              <a:defRPr/>
            </a:pPr>
            <a:r>
              <a:rPr lang="en-US" sz="800" b="1" dirty="0" smtClean="0">
                <a:solidFill>
                  <a:schemeClr val="tx1"/>
                </a:solidFill>
                <a:latin typeface="EYInterstate" panose="02000503020000020004" pitchFamily="2" charset="0"/>
              </a:rPr>
              <a:t>Lifetime ECLs</a:t>
            </a:r>
            <a:endParaRPr lang="en-US" sz="800" b="1" dirty="0">
              <a:solidFill>
                <a:schemeClr val="tx1"/>
              </a:solidFill>
              <a:latin typeface="EYInterstate" panose="02000503020000020004" pitchFamily="2" charset="0"/>
            </a:endParaRPr>
          </a:p>
        </p:txBody>
      </p:sp>
      <p:sp>
        <p:nvSpPr>
          <p:cNvPr id="51" name="AutoShape 9"/>
          <p:cNvSpPr>
            <a:spLocks noChangeArrowheads="1"/>
          </p:cNvSpPr>
          <p:nvPr/>
        </p:nvSpPr>
        <p:spPr bwMode="gray">
          <a:xfrm>
            <a:off x="4259634" y="1037608"/>
            <a:ext cx="1032067" cy="278759"/>
          </a:xfrm>
          <a:prstGeom prst="rect">
            <a:avLst/>
          </a:prstGeom>
          <a:solidFill>
            <a:srgbClr val="F04C3E"/>
          </a:solidFill>
          <a:ln w="28575">
            <a:no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lnSpc>
                <a:spcPct val="95000"/>
              </a:lnSpc>
              <a:spcAft>
                <a:spcPts val="800"/>
              </a:spcAft>
              <a:defRPr/>
            </a:pPr>
            <a:r>
              <a:rPr lang="en-US" sz="800" b="1" dirty="0" smtClean="0">
                <a:solidFill>
                  <a:srgbClr val="FFFFFF"/>
                </a:solidFill>
                <a:latin typeface="EYInterstate" panose="02000503020000020004" pitchFamily="2" charset="0"/>
              </a:rPr>
              <a:t>100% </a:t>
            </a:r>
            <a:r>
              <a:rPr lang="cs-CZ" sz="800" b="1" dirty="0" err="1" smtClean="0">
                <a:solidFill>
                  <a:srgbClr val="FFFFFF"/>
                </a:solidFill>
                <a:latin typeface="EYInterstate" panose="02000503020000020004" pitchFamily="2" charset="0"/>
              </a:rPr>
              <a:t>allowance</a:t>
            </a:r>
            <a:endParaRPr lang="en-US" sz="800" b="1" dirty="0">
              <a:solidFill>
                <a:srgbClr val="FFFFFF"/>
              </a:solidFill>
              <a:latin typeface="EYInterstate" panose="02000503020000020004" pitchFamily="2" charset="0"/>
            </a:endParaRPr>
          </a:p>
        </p:txBody>
      </p:sp>
      <p:sp>
        <p:nvSpPr>
          <p:cNvPr id="52" name="Ellipse 20"/>
          <p:cNvSpPr/>
          <p:nvPr/>
        </p:nvSpPr>
        <p:spPr bwMode="gray">
          <a:xfrm>
            <a:off x="2297024" y="1441384"/>
            <a:ext cx="248408" cy="266521"/>
          </a:xfrm>
          <a:prstGeom prst="ellipse">
            <a:avLst/>
          </a:prstGeom>
          <a:solidFill>
            <a:srgbClr val="FFFFFF"/>
          </a:solidFill>
          <a:ln w="38100">
            <a:solidFill>
              <a:schemeClr val="accent1">
                <a:lumMod val="40000"/>
                <a:lumOff val="60000"/>
              </a:schemeClr>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de-DE" sz="1400" dirty="0">
                <a:solidFill>
                  <a:srgbClr val="808080"/>
                </a:solidFill>
                <a:latin typeface="EYInterstate" panose="02000503020000020004" pitchFamily="2" charset="0"/>
              </a:rPr>
              <a:t>2</a:t>
            </a:r>
          </a:p>
        </p:txBody>
      </p:sp>
      <p:sp>
        <p:nvSpPr>
          <p:cNvPr id="53" name="Ellipse 20"/>
          <p:cNvSpPr/>
          <p:nvPr/>
        </p:nvSpPr>
        <p:spPr bwMode="gray">
          <a:xfrm>
            <a:off x="3479450" y="1441828"/>
            <a:ext cx="248408" cy="266521"/>
          </a:xfrm>
          <a:prstGeom prst="ellipse">
            <a:avLst/>
          </a:prstGeom>
          <a:solidFill>
            <a:srgbClr val="FFFFFF"/>
          </a:solidFill>
          <a:ln w="38100">
            <a:solidFill>
              <a:schemeClr val="accent1">
                <a:lumMod val="40000"/>
                <a:lumOff val="60000"/>
              </a:schemeClr>
            </a:solidFill>
            <a:headEnd/>
            <a:tailEnd/>
          </a:ln>
        </p:spPr>
        <p:style>
          <a:lnRef idx="2">
            <a:schemeClr val="dk1"/>
          </a:lnRef>
          <a:fillRef idx="1">
            <a:schemeClr val="lt1"/>
          </a:fillRef>
          <a:effectRef idx="0">
            <a:schemeClr val="dk1"/>
          </a:effectRef>
          <a:fontRef idx="minor">
            <a:schemeClr val="dk1"/>
          </a:fontRef>
        </p:style>
        <p:txBody>
          <a:bodyPr vert="horz" wrap="square" lIns="0" tIns="0" rIns="0" bIns="0" rtlCol="0" anchor="ctr"/>
          <a:lstStyle/>
          <a:p>
            <a:pPr algn="ctr"/>
            <a:r>
              <a:rPr lang="de-DE" sz="1400" dirty="0" smtClean="0">
                <a:solidFill>
                  <a:srgbClr val="808080"/>
                </a:solidFill>
                <a:latin typeface="EYInterstate" panose="02000503020000020004" pitchFamily="2" charset="0"/>
              </a:rPr>
              <a:t>3</a:t>
            </a:r>
            <a:endParaRPr lang="de-DE" sz="1400" dirty="0">
              <a:solidFill>
                <a:srgbClr val="808080"/>
              </a:solidFill>
              <a:latin typeface="EYInterstate" panose="02000503020000020004" pitchFamily="2" charset="0"/>
            </a:endParaRPr>
          </a:p>
        </p:txBody>
      </p:sp>
      <p:sp>
        <p:nvSpPr>
          <p:cNvPr id="54" name="Rectangle 53"/>
          <p:cNvSpPr/>
          <p:nvPr/>
        </p:nvSpPr>
        <p:spPr>
          <a:xfrm>
            <a:off x="5115615" y="1421712"/>
            <a:ext cx="425970" cy="247063"/>
          </a:xfrm>
          <a:prstGeom prst="rect">
            <a:avLst/>
          </a:prstGeom>
          <a:noFill/>
          <a:ln w="12700" cap="flat" cmpd="sng" algn="ctr">
            <a:noFill/>
            <a:prstDash val="solid"/>
          </a:ln>
          <a:effectLst/>
        </p:spPr>
        <p:txBody>
          <a:bodyPr lIns="33231" tIns="33231" rIns="33231" bIns="33231"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1100" b="1" i="1" kern="0" noProof="0" dirty="0" smtClean="0">
                <a:solidFill>
                  <a:schemeClr val="bg1"/>
                </a:solidFill>
                <a:latin typeface="EYInterstate" panose="02000503020000020004" pitchFamily="2" charset="0"/>
              </a:rPr>
              <a:t>t</a:t>
            </a:r>
            <a:endParaRPr kumimoji="0" lang="en-US" sz="1100" b="1" i="1" u="none" strike="noStrike" kern="0" cap="none" spc="0" normalizeH="0" baseline="0" noProof="0" dirty="0" smtClean="0">
              <a:ln>
                <a:noFill/>
              </a:ln>
              <a:solidFill>
                <a:schemeClr val="bg1"/>
              </a:solidFill>
              <a:effectLst/>
              <a:uLnTx/>
              <a:uFillTx/>
              <a:latin typeface="EYInterstate" panose="02000503020000020004" pitchFamily="2" charset="0"/>
            </a:endParaRPr>
          </a:p>
        </p:txBody>
      </p:sp>
    </p:spTree>
    <p:extLst>
      <p:ext uri="{BB962C8B-B14F-4D97-AF65-F5344CB8AC3E}">
        <p14:creationId xmlns:p14="http://schemas.microsoft.com/office/powerpoint/2010/main" val="25324238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07046" cy="860400"/>
          </a:xfrm>
        </p:spPr>
        <p:txBody>
          <a:bodyPr/>
          <a:lstStyle/>
          <a:p>
            <a:r>
              <a:rPr lang="en-US" dirty="0"/>
              <a:t>Collective Assessment UI </a:t>
            </a:r>
            <a:r>
              <a:rPr lang="en-US" dirty="0" smtClean="0"/>
              <a:t>– ECL Configuration</a:t>
            </a:r>
            <a:endParaRPr lang="cs-CZ" dirty="0"/>
          </a:p>
        </p:txBody>
      </p:sp>
      <p:pic>
        <p:nvPicPr>
          <p:cNvPr id="5" name="Content Placeholder 4"/>
          <p:cNvPicPr>
            <a:picLocks noGrp="1" noChangeAspect="1"/>
          </p:cNvPicPr>
          <p:nvPr>
            <p:ph idx="1"/>
          </p:nvPr>
        </p:nvPicPr>
        <p:blipFill>
          <a:blip r:embed="rId2"/>
          <a:stretch>
            <a:fillRect/>
          </a:stretch>
        </p:blipFill>
        <p:spPr>
          <a:xfrm>
            <a:off x="1089730" y="940900"/>
            <a:ext cx="6667553" cy="4705350"/>
          </a:xfrm>
          <a:prstGeom prst="rect">
            <a:avLst/>
          </a:prstGeom>
        </p:spPr>
      </p:pic>
      <p:sp>
        <p:nvSpPr>
          <p:cNvPr id="7"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352878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Applied methodology for special classes of assets</a:t>
            </a:r>
            <a:endParaRPr lang="en-US"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27" name="Abgerundetes Rechteck 24"/>
              <p:cNvSpPr/>
              <p:nvPr/>
            </p:nvSpPr>
            <p:spPr bwMode="gray">
              <a:xfrm>
                <a:off x="1216800" y="1562400"/>
                <a:ext cx="7470000" cy="2104748"/>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648000" tIns="72000" rIns="108000" bIns="72000" anchor="t"/>
              <a:lstStyle/>
              <a:p>
                <a:pPr defTabSz="801688" eaLnBrk="0" hangingPunct="0">
                  <a:lnSpc>
                    <a:spcPct val="95000"/>
                  </a:lnSpc>
                  <a:spcAft>
                    <a:spcPts val="800"/>
                  </a:spcAft>
                  <a:buClr>
                    <a:srgbClr val="969696"/>
                  </a:buClr>
                  <a:defRPr/>
                </a:pPr>
                <a:r>
                  <a:rPr lang="en-US" sz="1600" b="1" dirty="0" smtClean="0">
                    <a:solidFill>
                      <a:srgbClr val="646464"/>
                    </a:solidFill>
                    <a:latin typeface="EYInterstate" panose="02000503020000020004" pitchFamily="2" charset="0"/>
                    <a:cs typeface="Arial" charset="0"/>
                  </a:rPr>
                  <a:t>Renewable Credit Facilities</a:t>
                </a:r>
              </a:p>
              <a:p>
                <a:pPr defTabSz="801688" eaLnBrk="0" hangingPunct="0">
                  <a:lnSpc>
                    <a:spcPct val="95000"/>
                  </a:lnSpc>
                  <a:spcAft>
                    <a:spcPts val="800"/>
                  </a:spcAft>
                  <a:buClr>
                    <a:srgbClr val="969696"/>
                  </a:buClr>
                  <a:defRPr/>
                </a:pPr>
                <a:r>
                  <a:rPr lang="en-US" sz="1200" dirty="0">
                    <a:solidFill>
                      <a:schemeClr val="bg1"/>
                    </a:solidFill>
                    <a:latin typeface="EYInterstate Light" panose="02000506000000020004" pitchFamily="2" charset="0"/>
                  </a:rPr>
                  <a:t>IFRS 9 standard defines exception for Renewable Credit Facilities treated </a:t>
                </a:r>
                <a:r>
                  <a:rPr lang="en-US" sz="1200" dirty="0" smtClean="0">
                    <a:solidFill>
                      <a:schemeClr val="bg1"/>
                    </a:solidFill>
                    <a:latin typeface="EYInterstate Light" panose="02000506000000020004" pitchFamily="2" charset="0"/>
                  </a:rPr>
                  <a:t>collectively. LIC Solution® applies following methodology to these portfolios:</a:t>
                </a: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Stage 1</a:t>
                </a:r>
                <a:r>
                  <a:rPr lang="en-US" sz="1200" dirty="0" smtClean="0">
                    <a:solidFill>
                      <a:schemeClr val="bg1"/>
                    </a:solidFill>
                    <a:latin typeface="EYInterstate Light" panose="02000506000000020004" pitchFamily="2" charset="0"/>
                  </a:rPr>
                  <a:t> - 12 month PDs (regardless of contractual maturity are used)</a:t>
                </a:r>
              </a:p>
              <a:p>
                <a:pPr defTabSz="912524">
                  <a:buClr>
                    <a:srgbClr val="FFD200"/>
                  </a:buClr>
                  <a:buSzPct val="70000"/>
                </a:pPr>
                <a14:m>
                  <m:oMathPara xmlns:m="http://schemas.openxmlformats.org/officeDocument/2006/math">
                    <m:oMathParaPr>
                      <m:jc m:val="centerGroup"/>
                    </m:oMathParaPr>
                    <m:oMath xmlns:m="http://schemas.openxmlformats.org/officeDocument/2006/math">
                      <m:sSubSup>
                        <m:sSubSupPr>
                          <m:ctrlPr>
                            <a:rPr lang="en-US" sz="1200" i="1">
                              <a:latin typeface="Cambria Math" panose="02040503050406030204" pitchFamily="18" charset="0"/>
                            </a:rPr>
                          </m:ctrlPr>
                        </m:sSubSupPr>
                        <m:e>
                          <m:r>
                            <a:rPr lang="en-US" sz="1200" b="0" i="1" smtClean="0">
                              <a:latin typeface="Cambria Math" panose="02040503050406030204" pitchFamily="18" charset="0"/>
                            </a:rPr>
                            <m:t>𝐼𝑚𝑝𝑎𝑖𝑟</m:t>
                          </m:r>
                        </m:e>
                        <m:sub>
                          <m:r>
                            <a:rPr lang="en-US" sz="1200" i="1">
                              <a:latin typeface="Cambria Math" panose="02040503050406030204" pitchFamily="18" charset="0"/>
                            </a:rPr>
                            <m:t>𝑆</m:t>
                          </m:r>
                          <m:r>
                            <a:rPr lang="en-US" sz="1200" i="1">
                              <a:latin typeface="Cambria Math" panose="02040503050406030204" pitchFamily="18" charset="0"/>
                            </a:rPr>
                            <m:t>1</m:t>
                          </m:r>
                        </m:sub>
                        <m:sup>
                          <m:r>
                            <a:rPr lang="en-US" sz="1200" i="1">
                              <a:latin typeface="Cambria Math" panose="02040503050406030204" pitchFamily="18" charset="0"/>
                            </a:rPr>
                            <m:t>𝑅𝑒𝑛𝑒𝑤𝑎𝑏𝑙𝑒</m:t>
                          </m:r>
                        </m:sup>
                      </m:sSubSup>
                      <m:r>
                        <a:rPr lang="en-US" sz="1200" i="1">
                          <a:latin typeface="Cambria Math" panose="02040503050406030204" pitchFamily="18" charset="0"/>
                        </a:rPr>
                        <m:t>=</m:t>
                      </m:r>
                      <m:r>
                        <a:rPr lang="en-US" sz="1200" i="1">
                          <a:latin typeface="Cambria Math" panose="02040503050406030204" pitchFamily="18" charset="0"/>
                        </a:rPr>
                        <m:t>𝐸𝐴𝐷</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𝑃𝐷</m:t>
                          </m:r>
                        </m:e>
                        <m:sub>
                          <m:r>
                            <a:rPr lang="en-US" sz="1200" i="1">
                              <a:latin typeface="Cambria Math" panose="02040503050406030204" pitchFamily="18" charset="0"/>
                            </a:rPr>
                            <m:t>12</m:t>
                          </m:r>
                          <m:r>
                            <a:rPr lang="en-US" sz="1200" i="1">
                              <a:latin typeface="Cambria Math" panose="02040503050406030204" pitchFamily="18" charset="0"/>
                            </a:rPr>
                            <m:t>𝑚</m:t>
                          </m:r>
                        </m:sub>
                      </m:sSub>
                      <m:r>
                        <a:rPr lang="en-US" sz="1200" i="1">
                          <a:latin typeface="Cambria Math" panose="02040503050406030204" pitchFamily="18" charset="0"/>
                        </a:rPr>
                        <m:t>∗</m:t>
                      </m:r>
                      <m:r>
                        <a:rPr lang="en-US" sz="1200" i="1">
                          <a:latin typeface="Cambria Math" panose="02040503050406030204" pitchFamily="18" charset="0"/>
                        </a:rPr>
                        <m:t>𝐿𝐺𝐷</m:t>
                      </m:r>
                    </m:oMath>
                  </m:oMathPara>
                </a14:m>
                <a:endParaRPr lang="en-US" sz="1200" dirty="0"/>
              </a:p>
              <a:p>
                <a:pPr marL="272489" indent="-272489" defTabSz="912524">
                  <a:buClr>
                    <a:srgbClr val="FFD200"/>
                  </a:buClr>
                  <a:buSzPct val="70000"/>
                  <a:buFont typeface="Arial" panose="020B0604020202020204" pitchFamily="34" charset="0"/>
                  <a:buChar char="►"/>
                </a:pPr>
                <a:endParaRPr lang="en-US" sz="1200" dirty="0">
                  <a:solidFill>
                    <a:schemeClr val="bg1"/>
                  </a:solidFill>
                  <a:latin typeface="EYInterstate Light" panose="02000506000000020004" pitchFamily="2" charset="0"/>
                </a:endParaRPr>
              </a:p>
              <a:p>
                <a:pPr marL="272489" indent="-272489" defTabSz="912524">
                  <a:buClr>
                    <a:srgbClr val="FFD200"/>
                  </a:buClr>
                  <a:buSzPct val="70000"/>
                  <a:buFont typeface="Arial" panose="020B0604020202020204" pitchFamily="34" charset="0"/>
                  <a:buChar char="►"/>
                </a:pPr>
                <a:r>
                  <a:rPr lang="en-US" sz="1200" b="1" dirty="0" smtClean="0">
                    <a:solidFill>
                      <a:schemeClr val="bg1"/>
                    </a:solidFill>
                    <a:latin typeface="EYInterstate Light" panose="02000506000000020004" pitchFamily="2" charset="0"/>
                  </a:rPr>
                  <a:t>Stage 2</a:t>
                </a:r>
                <a:r>
                  <a:rPr lang="en-US" sz="1200" dirty="0" smtClean="0">
                    <a:solidFill>
                      <a:schemeClr val="bg1"/>
                    </a:solidFill>
                    <a:latin typeface="EYInterstate Light" panose="02000506000000020004" pitchFamily="2" charset="0"/>
                  </a:rPr>
                  <a:t> - lifetime ECL calculated for the expected maximum period after reclassification to Stage 2, for which the Institution is exposed to credit risk – the period is provided by the Institution via user interface for every relevant portfolio</a:t>
                </a:r>
                <a:endParaRPr lang="en-US" sz="1200" dirty="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b="1" dirty="0">
                  <a:solidFill>
                    <a:schemeClr val="bg1"/>
                  </a:solidFill>
                  <a:latin typeface="EYInterstate Light" panose="02000506000000020004" pitchFamily="2" charset="0"/>
                  <a:cs typeface="Arial" charset="0"/>
                </a:endParaRPr>
              </a:p>
            </p:txBody>
          </p:sp>
        </mc:Choice>
        <mc:Fallback xmlns="">
          <p:sp>
            <p:nvSpPr>
              <p:cNvPr id="27" name="Abgerundetes Rechteck 24"/>
              <p:cNvSpPr>
                <a:spLocks noRot="1" noChangeAspect="1" noMove="1" noResize="1" noEditPoints="1" noAdjustHandles="1" noChangeArrowheads="1" noChangeShapeType="1" noTextEdit="1"/>
              </p:cNvSpPr>
              <p:nvPr/>
            </p:nvSpPr>
            <p:spPr bwMode="gray">
              <a:xfrm>
                <a:off x="1216800" y="1562400"/>
                <a:ext cx="7470000" cy="2104748"/>
              </a:xfrm>
              <a:prstGeom prst="rect">
                <a:avLst/>
              </a:prstGeom>
              <a:blipFill rotWithShape="0">
                <a:blip r:embed="rId2"/>
                <a:stretch>
                  <a:fillRect/>
                </a:stretch>
              </a:blipFill>
              <a:ln>
                <a:noFill/>
                <a:headEnd/>
                <a:tailEnd/>
              </a:ln>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31" name="Abgerundetes Rechteck 24"/>
              <p:cNvSpPr/>
              <p:nvPr/>
            </p:nvSpPr>
            <p:spPr bwMode="gray">
              <a:xfrm>
                <a:off x="1216800" y="4151440"/>
                <a:ext cx="7470000" cy="1999193"/>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648000" tIns="72000" rIns="108000" bIns="72000" anchor="t"/>
              <a:lstStyle/>
              <a:p>
                <a:pPr indent="-190500" defTabSz="801688" eaLnBrk="0" hangingPunct="0">
                  <a:lnSpc>
                    <a:spcPct val="95000"/>
                  </a:lnSpc>
                  <a:spcAft>
                    <a:spcPts val="800"/>
                  </a:spcAft>
                  <a:buClr>
                    <a:srgbClr val="969696"/>
                  </a:buClr>
                  <a:defRPr/>
                </a:pPr>
                <a:r>
                  <a:rPr lang="en-US" sz="1600" b="1" dirty="0" smtClean="0">
                    <a:solidFill>
                      <a:srgbClr val="646464"/>
                    </a:solidFill>
                    <a:latin typeface="EYInterstate" panose="02000503020000020004" pitchFamily="2" charset="0"/>
                    <a:cs typeface="Arial" charset="0"/>
                  </a:rPr>
                  <a:t>Simplified approach </a:t>
                </a:r>
              </a:p>
              <a:p>
                <a:pPr defTabSz="801688" eaLnBrk="0" hangingPunct="0">
                  <a:lnSpc>
                    <a:spcPct val="95000"/>
                  </a:lnSpc>
                  <a:spcAft>
                    <a:spcPts val="800"/>
                  </a:spcAft>
                  <a:buClr>
                    <a:srgbClr val="969696"/>
                  </a:buClr>
                  <a:defRPr/>
                </a:pPr>
                <a:r>
                  <a:rPr lang="en-US" sz="1200" dirty="0" smtClean="0">
                    <a:solidFill>
                      <a:srgbClr val="646464"/>
                    </a:solidFill>
                    <a:latin typeface="EYInterstate Light" panose="02000506000000020004" pitchFamily="2" charset="0"/>
                    <a:cs typeface="Arial" charset="0"/>
                  </a:rPr>
                  <a:t>LIC Solution® provides </a:t>
                </a:r>
                <a:r>
                  <a:rPr lang="en-US" sz="1200" dirty="0">
                    <a:solidFill>
                      <a:srgbClr val="646464"/>
                    </a:solidFill>
                    <a:latin typeface="EYInterstate Light" panose="02000506000000020004" pitchFamily="2" charset="0"/>
                    <a:cs typeface="Arial" charset="0"/>
                  </a:rPr>
                  <a:t>a simplified collective approach </a:t>
                </a:r>
                <a:r>
                  <a:rPr lang="en-US" sz="1200" dirty="0" smtClean="0">
                    <a:solidFill>
                      <a:srgbClr val="646464"/>
                    </a:solidFill>
                    <a:latin typeface="EYInterstate Light" panose="02000506000000020004" pitchFamily="2" charset="0"/>
                    <a:cs typeface="Arial" charset="0"/>
                  </a:rPr>
                  <a:t>to </a:t>
                </a:r>
                <a:r>
                  <a:rPr lang="en-US" sz="1200" dirty="0">
                    <a:solidFill>
                      <a:srgbClr val="646464"/>
                    </a:solidFill>
                    <a:latin typeface="EYInterstate Light" panose="02000506000000020004" pitchFamily="2" charset="0"/>
                    <a:cs typeface="Arial" charset="0"/>
                  </a:rPr>
                  <a:t>be applied </a:t>
                </a:r>
                <a:r>
                  <a:rPr lang="en-US" sz="1200" dirty="0" smtClean="0">
                    <a:solidFill>
                      <a:srgbClr val="646464"/>
                    </a:solidFill>
                    <a:latin typeface="EYInterstate Light" panose="02000506000000020004" pitchFamily="2" charset="0"/>
                    <a:cs typeface="Arial" charset="0"/>
                  </a:rPr>
                  <a:t>primarily to immaterial </a:t>
                </a:r>
                <a:r>
                  <a:rPr lang="en-US" sz="1200" dirty="0">
                    <a:solidFill>
                      <a:srgbClr val="646464"/>
                    </a:solidFill>
                    <a:latin typeface="EYInterstate Light" panose="02000506000000020004" pitchFamily="2" charset="0"/>
                    <a:cs typeface="Arial" charset="0"/>
                  </a:rPr>
                  <a:t>portfolios </a:t>
                </a:r>
                <a:r>
                  <a:rPr lang="en-US" sz="1200" dirty="0" smtClean="0">
                    <a:solidFill>
                      <a:srgbClr val="646464"/>
                    </a:solidFill>
                    <a:latin typeface="EYInterstate Light" panose="02000506000000020004" pitchFamily="2" charset="0"/>
                    <a:cs typeface="Arial" charset="0"/>
                  </a:rPr>
                  <a:t>which </a:t>
                </a:r>
                <a:r>
                  <a:rPr lang="en-US" sz="1200" dirty="0">
                    <a:solidFill>
                      <a:srgbClr val="646464"/>
                    </a:solidFill>
                    <a:latin typeface="EYInterstate Light" panose="02000506000000020004" pitchFamily="2" charset="0"/>
                    <a:cs typeface="Arial" charset="0"/>
                  </a:rPr>
                  <a:t>are expected to represent negligible share on </a:t>
                </a:r>
                <a:r>
                  <a:rPr lang="en-US" sz="1200" dirty="0" smtClean="0">
                    <a:solidFill>
                      <a:srgbClr val="646464"/>
                    </a:solidFill>
                    <a:latin typeface="EYInterstate Light" panose="02000506000000020004" pitchFamily="2" charset="0"/>
                    <a:cs typeface="Arial" charset="0"/>
                  </a:rPr>
                  <a:t>exposure </a:t>
                </a:r>
                <a:r>
                  <a:rPr lang="en-US" sz="1200" dirty="0">
                    <a:solidFill>
                      <a:srgbClr val="646464"/>
                    </a:solidFill>
                    <a:latin typeface="EYInterstate Light" panose="02000506000000020004" pitchFamily="2" charset="0"/>
                    <a:cs typeface="Arial" charset="0"/>
                  </a:rPr>
                  <a:t>of </a:t>
                </a:r>
                <a:r>
                  <a:rPr lang="en-US" sz="1200" dirty="0" smtClean="0">
                    <a:solidFill>
                      <a:srgbClr val="646464"/>
                    </a:solidFill>
                    <a:latin typeface="EYInterstate Light" panose="02000506000000020004" pitchFamily="2" charset="0"/>
                    <a:cs typeface="Arial" charset="0"/>
                  </a:rPr>
                  <a:t>the Institution.  It is based on </a:t>
                </a:r>
                <a:r>
                  <a:rPr lang="en-US" sz="1200" b="1" dirty="0" smtClean="0">
                    <a:solidFill>
                      <a:srgbClr val="646464"/>
                    </a:solidFill>
                    <a:latin typeface="EYInterstate Light" panose="02000506000000020004" pitchFamily="2" charset="0"/>
                    <a:cs typeface="Arial" charset="0"/>
                  </a:rPr>
                  <a:t>on-balance exposure</a:t>
                </a:r>
                <a:r>
                  <a:rPr lang="en-US" sz="1200" dirty="0" smtClean="0">
                    <a:solidFill>
                      <a:srgbClr val="646464"/>
                    </a:solidFill>
                    <a:latin typeface="EYInterstate Light" panose="02000506000000020004" pitchFamily="2" charset="0"/>
                    <a:cs typeface="Arial" charset="0"/>
                  </a:rPr>
                  <a:t> and the observed </a:t>
                </a:r>
                <a:r>
                  <a:rPr lang="en-US" sz="1200" b="1" dirty="0" smtClean="0">
                    <a:solidFill>
                      <a:srgbClr val="646464"/>
                    </a:solidFill>
                    <a:latin typeface="EYInterstate Light" panose="02000506000000020004" pitchFamily="2" charset="0"/>
                    <a:cs typeface="Arial" charset="0"/>
                  </a:rPr>
                  <a:t>loss rate</a:t>
                </a:r>
                <a:r>
                  <a:rPr lang="en-US" sz="1200" dirty="0" smtClean="0">
                    <a:solidFill>
                      <a:srgbClr val="646464"/>
                    </a:solidFill>
                    <a:latin typeface="EYInterstate Light" panose="02000506000000020004" pitchFamily="2" charset="0"/>
                    <a:cs typeface="Arial" charset="0"/>
                  </a:rPr>
                  <a:t> (</a:t>
                </a:r>
                <a14:m>
                  <m:oMath xmlns:m="http://schemas.openxmlformats.org/officeDocument/2006/math">
                    <m:r>
                      <a:rPr lang="en-US" sz="1200" i="1">
                        <a:latin typeface="Cambria Math" panose="02040503050406030204" pitchFamily="18" charset="0"/>
                      </a:rPr>
                      <m:t>𝐿𝑅</m:t>
                    </m:r>
                  </m:oMath>
                </a14:m>
                <a:r>
                  <a:rPr lang="en-US" sz="1200" dirty="0" smtClean="0">
                    <a:solidFill>
                      <a:srgbClr val="646464"/>
                    </a:solidFill>
                    <a:latin typeface="EYInterstate Light" panose="02000506000000020004" pitchFamily="2" charset="0"/>
                    <a:cs typeface="Arial" charset="0"/>
                  </a:rPr>
                  <a:t>) entered manually per such portfolio:</a:t>
                </a:r>
              </a:p>
              <a:p>
                <a:pPr defTabSz="801688" eaLnBrk="0" hangingPunct="0">
                  <a:lnSpc>
                    <a:spcPct val="95000"/>
                  </a:lnSpc>
                  <a:spcAft>
                    <a:spcPts val="800"/>
                  </a:spcAft>
                  <a:buClr>
                    <a:srgbClr val="969696"/>
                  </a:buClr>
                  <a:defRPr/>
                </a:pPr>
                <a14:m>
                  <m:oMathPara xmlns:m="http://schemas.openxmlformats.org/officeDocument/2006/math">
                    <m:oMathParaPr>
                      <m:jc m:val="centerGroup"/>
                    </m:oMathParaPr>
                    <m:oMath xmlns:m="http://schemas.openxmlformats.org/officeDocument/2006/math">
                      <m:sSub>
                        <m:sSubPr>
                          <m:ctrlPr>
                            <a:rPr lang="en-US" sz="1200" i="1">
                              <a:latin typeface="Cambria Math" panose="02040503050406030204" pitchFamily="18" charset="0"/>
                            </a:rPr>
                          </m:ctrlPr>
                        </m:sSubPr>
                        <m:e>
                          <m:r>
                            <a:rPr lang="en-US" sz="1200" b="0" i="1" smtClean="0">
                              <a:latin typeface="Cambria Math" panose="02040503050406030204" pitchFamily="18" charset="0"/>
                            </a:rPr>
                            <m:t>𝐼𝑚𝑝𝑎𝑖𝑟</m:t>
                          </m:r>
                        </m:e>
                        <m:sub>
                          <m:r>
                            <a:rPr lang="en-US" sz="1200" b="0" i="1" smtClean="0">
                              <a:latin typeface="Cambria Math" panose="02040503050406030204" pitchFamily="18" charset="0"/>
                            </a:rPr>
                            <m:t>𝐿𝑅</m:t>
                          </m:r>
                        </m:sub>
                      </m:sSub>
                      <m:r>
                        <a:rPr lang="en-US" sz="1200" i="1">
                          <a:latin typeface="Cambria Math" panose="02040503050406030204" pitchFamily="18" charset="0"/>
                        </a:rPr>
                        <m:t>=</m:t>
                      </m:r>
                      <m:r>
                        <a:rPr lang="en-US" sz="1200" i="1">
                          <a:latin typeface="Cambria Math" panose="02040503050406030204" pitchFamily="18" charset="0"/>
                        </a:rPr>
                        <m:t>𝐸𝑥𝑝𝑜𝑠𝑢𝑟𝑒</m:t>
                      </m:r>
                      <m:r>
                        <a:rPr lang="en-US" sz="1200" i="1">
                          <a:latin typeface="Cambria Math" panose="02040503050406030204" pitchFamily="18" charset="0"/>
                        </a:rPr>
                        <m:t>∗</m:t>
                      </m:r>
                      <m:r>
                        <a:rPr lang="en-US" sz="1200" i="1">
                          <a:latin typeface="Cambria Math" panose="02040503050406030204" pitchFamily="18" charset="0"/>
                        </a:rPr>
                        <m:t>𝐿𝑅</m:t>
                      </m:r>
                    </m:oMath>
                  </m:oMathPara>
                </a14:m>
                <a:endParaRPr lang="en-US" sz="1200" dirty="0" smtClean="0"/>
              </a:p>
              <a:p>
                <a:pPr defTabSz="801688" eaLnBrk="0" hangingPunct="0">
                  <a:lnSpc>
                    <a:spcPct val="95000"/>
                  </a:lnSpc>
                  <a:spcAft>
                    <a:spcPts val="800"/>
                  </a:spcAft>
                  <a:buClr>
                    <a:srgbClr val="969696"/>
                  </a:buClr>
                  <a:defRPr/>
                </a:pPr>
                <a:r>
                  <a:rPr lang="en-US" sz="1200" dirty="0" smtClean="0">
                    <a:solidFill>
                      <a:schemeClr val="bg1"/>
                    </a:solidFill>
                    <a:latin typeface="EYInterstate Light" panose="02000506000000020004" pitchFamily="2" charset="0"/>
                  </a:rPr>
                  <a:t>Typically loss rate approach is applied to trade receivables, lease receivables and purchased receivables.</a:t>
                </a:r>
                <a:endParaRPr lang="en-US" sz="1200" dirty="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dirty="0">
                  <a:solidFill>
                    <a:srgbClr val="646464"/>
                  </a:solidFill>
                  <a:latin typeface="Arial" panose="020B0604020202020204" pitchFamily="34" charset="0"/>
                  <a:cs typeface="Arial" charset="0"/>
                </a:endParaRPr>
              </a:p>
            </p:txBody>
          </p:sp>
        </mc:Choice>
        <mc:Fallback xmlns="">
          <p:sp>
            <p:nvSpPr>
              <p:cNvPr id="31" name="Abgerundetes Rechteck 24"/>
              <p:cNvSpPr>
                <a:spLocks noRot="1" noChangeAspect="1" noMove="1" noResize="1" noEditPoints="1" noAdjustHandles="1" noChangeArrowheads="1" noChangeShapeType="1" noTextEdit="1"/>
              </p:cNvSpPr>
              <p:nvPr/>
            </p:nvSpPr>
            <p:spPr bwMode="gray">
              <a:xfrm>
                <a:off x="1216800" y="4151440"/>
                <a:ext cx="7470000" cy="1999193"/>
              </a:xfrm>
              <a:prstGeom prst="rect">
                <a:avLst/>
              </a:prstGeom>
              <a:blipFill rotWithShape="0">
                <a:blip r:embed="rId3"/>
                <a:stretch>
                  <a:fillRect t="-305"/>
                </a:stretch>
              </a:blipFill>
              <a:ln>
                <a:noFill/>
                <a:headEnd/>
                <a:tailEnd/>
              </a:ln>
            </p:spPr>
            <p:txBody>
              <a:bodyPr/>
              <a:lstStyle/>
              <a:p>
                <a:r>
                  <a:rPr lang="cs-CZ">
                    <a:noFill/>
                  </a:rPr>
                  <a:t> </a:t>
                </a:r>
              </a:p>
            </p:txBody>
          </p:sp>
        </mc:Fallback>
      </mc:AlternateContent>
      <p:sp>
        <p:nvSpPr>
          <p:cNvPr id="40" name="TextBox 39"/>
          <p:cNvSpPr txBox="1"/>
          <p:nvPr/>
        </p:nvSpPr>
        <p:spPr>
          <a:xfrm>
            <a:off x="580861" y="1201712"/>
            <a:ext cx="1098058" cy="1805110"/>
          </a:xfrm>
          <a:prstGeom prst="rect">
            <a:avLst/>
          </a:prstGeom>
          <a:noFill/>
        </p:spPr>
        <p:txBody>
          <a:bodyPr vert="horz" wrap="none" lIns="0" tIns="0" rIns="0" bIns="0" rtlCol="0" anchor="ctr">
            <a:spAutoFit/>
          </a:bodyPr>
          <a:lstStyle/>
          <a:p>
            <a:pPr algn="ctr">
              <a:lnSpc>
                <a:spcPct val="85000"/>
              </a:lnSpc>
              <a:spcAft>
                <a:spcPts val="600"/>
              </a:spcAft>
              <a:buClr>
                <a:srgbClr val="FFE600"/>
              </a:buClr>
              <a:buSzPct val="70000"/>
            </a:pPr>
            <a:r>
              <a:rPr lang="en-US" sz="13800" b="1" dirty="0" smtClean="0">
                <a:solidFill>
                  <a:srgbClr val="FFD200"/>
                </a:solidFill>
                <a:latin typeface="EYInterstate" panose="02000503020000020004" pitchFamily="2" charset="0"/>
              </a:rPr>
              <a:t>1</a:t>
            </a:r>
            <a:endParaRPr lang="en-US" sz="13800" b="1" dirty="0">
              <a:solidFill>
                <a:srgbClr val="FFD200"/>
              </a:solidFill>
              <a:latin typeface="EYInterstate" panose="02000503020000020004" pitchFamily="2" charset="0"/>
            </a:endParaRPr>
          </a:p>
        </p:txBody>
      </p:sp>
      <p:sp>
        <p:nvSpPr>
          <p:cNvPr id="41" name="TextBox 40"/>
          <p:cNvSpPr txBox="1"/>
          <p:nvPr/>
        </p:nvSpPr>
        <p:spPr>
          <a:xfrm>
            <a:off x="580861" y="3803431"/>
            <a:ext cx="1098058" cy="1805110"/>
          </a:xfrm>
          <a:prstGeom prst="rect">
            <a:avLst/>
          </a:prstGeom>
          <a:noFill/>
        </p:spPr>
        <p:txBody>
          <a:bodyPr vert="horz" wrap="none" lIns="0" tIns="0" rIns="0" bIns="0" rtlCol="0" anchor="ctr">
            <a:spAutoFit/>
          </a:bodyPr>
          <a:lstStyle/>
          <a:p>
            <a:pPr algn="ctr">
              <a:lnSpc>
                <a:spcPct val="85000"/>
              </a:lnSpc>
              <a:spcAft>
                <a:spcPts val="600"/>
              </a:spcAft>
              <a:buClr>
                <a:srgbClr val="FFE600"/>
              </a:buClr>
              <a:buSzPct val="70000"/>
            </a:pPr>
            <a:r>
              <a:rPr lang="en-US" sz="13800" b="1" dirty="0" smtClean="0">
                <a:solidFill>
                  <a:srgbClr val="808080"/>
                </a:solidFill>
                <a:latin typeface="EYInterstate" panose="02000503020000020004" pitchFamily="2" charset="0"/>
              </a:rPr>
              <a:t>2</a:t>
            </a:r>
            <a:endParaRPr lang="en-US" sz="13800" b="1" dirty="0">
              <a:solidFill>
                <a:srgbClr val="808080"/>
              </a:solidFill>
              <a:latin typeface="EYInterstate" panose="02000503020000020004" pitchFamily="2" charset="0"/>
            </a:endParaRPr>
          </a:p>
        </p:txBody>
      </p:sp>
      <p:sp>
        <p:nvSpPr>
          <p:cNvPr id="8"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21555653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EYInterstate" panose="02000503020000020004" pitchFamily="2" charset="0"/>
              </a:rPr>
              <a:t>Applied methodology for special c</a:t>
            </a:r>
            <a:r>
              <a:rPr lang="cs-CZ" dirty="0" smtClean="0">
                <a:latin typeface="EYInterstate" panose="02000503020000020004" pitchFamily="2" charset="0"/>
              </a:rPr>
              <a:t>l</a:t>
            </a:r>
            <a:r>
              <a:rPr lang="en-GB" dirty="0" smtClean="0">
                <a:latin typeface="EYInterstate" panose="02000503020000020004" pitchFamily="2" charset="0"/>
              </a:rPr>
              <a:t>as</a:t>
            </a:r>
            <a:r>
              <a:rPr lang="cs-CZ" dirty="0" smtClean="0">
                <a:latin typeface="EYInterstate" panose="02000503020000020004" pitchFamily="2" charset="0"/>
              </a:rPr>
              <a:t>s</a:t>
            </a:r>
            <a:r>
              <a:rPr lang="en-GB" dirty="0" err="1" smtClean="0">
                <a:latin typeface="EYInterstate" panose="02000503020000020004" pitchFamily="2" charset="0"/>
              </a:rPr>
              <a:t>es</a:t>
            </a:r>
            <a:r>
              <a:rPr lang="en-GB" dirty="0" smtClean="0">
                <a:latin typeface="EYInterstate" panose="02000503020000020004" pitchFamily="2" charset="0"/>
              </a:rPr>
              <a:t> of assets (cont.)</a:t>
            </a:r>
            <a:endParaRPr lang="en-GB" dirty="0">
              <a:latin typeface="EYInterstate" panose="02000503020000020004" pitchFamily="2" charset="0"/>
            </a:endParaRPr>
          </a:p>
        </p:txBody>
      </p:sp>
      <p:sp>
        <p:nvSpPr>
          <p:cNvPr id="25" name="Ellipse 22"/>
          <p:cNvSpPr/>
          <p:nvPr/>
        </p:nvSpPr>
        <p:spPr bwMode="gray">
          <a:xfrm>
            <a:off x="621445" y="2132246"/>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38" name="Abgerundetes Rechteck 24"/>
              <p:cNvSpPr/>
              <p:nvPr/>
            </p:nvSpPr>
            <p:spPr bwMode="gray">
              <a:xfrm>
                <a:off x="1217635" y="1561513"/>
                <a:ext cx="7469165" cy="4126817"/>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648000" tIns="72000" rIns="108000" bIns="72000" anchor="t"/>
              <a:lstStyle/>
              <a:p>
                <a:pPr indent="-190500" defTabSz="801688" eaLnBrk="0" hangingPunct="0">
                  <a:lnSpc>
                    <a:spcPct val="95000"/>
                  </a:lnSpc>
                  <a:spcAft>
                    <a:spcPts val="800"/>
                  </a:spcAft>
                  <a:buClr>
                    <a:srgbClr val="969696"/>
                  </a:buClr>
                  <a:defRPr/>
                </a:pPr>
                <a:r>
                  <a:rPr lang="en-US" sz="1600" b="1" dirty="0" smtClean="0">
                    <a:solidFill>
                      <a:srgbClr val="646464"/>
                    </a:solidFill>
                    <a:latin typeface="Arial" panose="020B0604020202020204" pitchFamily="34" charset="0"/>
                    <a:cs typeface="Arial" charset="0"/>
                  </a:rPr>
                  <a:t>Purchased or originated </a:t>
                </a:r>
                <a:r>
                  <a:rPr lang="en-US" sz="1600" b="1" dirty="0">
                    <a:solidFill>
                      <a:srgbClr val="646464"/>
                    </a:solidFill>
                    <a:latin typeface="Arial" panose="020B0604020202020204" pitchFamily="34" charset="0"/>
                    <a:cs typeface="Arial" charset="0"/>
                  </a:rPr>
                  <a:t>credit-impaired (</a:t>
                </a:r>
                <a:r>
                  <a:rPr lang="en-US" sz="1600" b="1" dirty="0" smtClean="0">
                    <a:solidFill>
                      <a:srgbClr val="646464"/>
                    </a:solidFill>
                    <a:latin typeface="Arial" panose="020B0604020202020204" pitchFamily="34" charset="0"/>
                    <a:cs typeface="Arial" charset="0"/>
                  </a:rPr>
                  <a:t>POCI) assets </a:t>
                </a:r>
              </a:p>
              <a:p>
                <a:pPr indent="-190500" defTabSz="801688" eaLnBrk="0" hangingPunct="0">
                  <a:lnSpc>
                    <a:spcPct val="95000"/>
                  </a:lnSpc>
                  <a:spcAft>
                    <a:spcPts val="800"/>
                  </a:spcAft>
                  <a:buClr>
                    <a:srgbClr val="969696"/>
                  </a:buClr>
                  <a:defRPr/>
                </a:pPr>
                <a:r>
                  <a:rPr lang="en-US" sz="1200" dirty="0" smtClean="0">
                    <a:solidFill>
                      <a:srgbClr val="646464"/>
                    </a:solidFill>
                    <a:latin typeface="EYInterstate Light" panose="02000506000000020004" pitchFamily="2" charset="0"/>
                    <a:cs typeface="Arial" charset="0"/>
                  </a:rPr>
                  <a:t>On </a:t>
                </a:r>
                <a:r>
                  <a:rPr lang="en-US" sz="1200" dirty="0">
                    <a:solidFill>
                      <a:srgbClr val="646464"/>
                    </a:solidFill>
                    <a:latin typeface="EYInterstate Light" panose="02000506000000020004" pitchFamily="2" charset="0"/>
                    <a:cs typeface="Arial" charset="0"/>
                  </a:rPr>
                  <a:t>initial recognition it is determined whether the asset is credit-impaired </a:t>
                </a:r>
                <a:endParaRPr lang="en-US" sz="1200" dirty="0" smtClean="0">
                  <a:solidFill>
                    <a:srgbClr val="646464"/>
                  </a:solidFill>
                  <a:latin typeface="EYInterstate Light" panose="02000506000000020004" pitchFamily="2" charset="0"/>
                  <a:cs typeface="Arial" charset="0"/>
                </a:endParaRPr>
              </a:p>
              <a:p>
                <a:pPr marL="272489" indent="-272489" defTabSz="912524">
                  <a:buClr>
                    <a:srgbClr val="FFD200"/>
                  </a:buClr>
                  <a:buSzPct val="70000"/>
                  <a:buFont typeface="Arial" panose="020B0604020202020204" pitchFamily="34" charset="0"/>
                  <a:buChar char="►"/>
                </a:pPr>
                <a:r>
                  <a:rPr lang="en-US" sz="1200" dirty="0">
                    <a:solidFill>
                      <a:srgbClr val="646464"/>
                    </a:solidFill>
                    <a:latin typeface="EYInterstate Light" panose="02000506000000020004" pitchFamily="2" charset="0"/>
                    <a:cs typeface="Arial" charset="0"/>
                  </a:rPr>
                  <a:t>For such assets </a:t>
                </a:r>
                <a:r>
                  <a:rPr lang="en-US" sz="1200" dirty="0" smtClean="0">
                    <a:solidFill>
                      <a:srgbClr val="646464"/>
                    </a:solidFill>
                    <a:latin typeface="EYInterstate Light" panose="02000506000000020004" pitchFamily="2" charset="0"/>
                    <a:cs typeface="Arial" charset="0"/>
                  </a:rPr>
                  <a:t>Credit-Adjusted Effective Interest Rate </a:t>
                </a:r>
                <a:r>
                  <a:rPr lang="en-US" sz="1200" dirty="0">
                    <a:solidFill>
                      <a:srgbClr val="646464"/>
                    </a:solidFill>
                    <a:latin typeface="EYInterstate Light" panose="02000506000000020004" pitchFamily="2" charset="0"/>
                    <a:cs typeface="Arial" charset="0"/>
                  </a:rPr>
                  <a:t>is </a:t>
                </a:r>
                <a:r>
                  <a:rPr lang="en-US" sz="1200" dirty="0" smtClean="0">
                    <a:solidFill>
                      <a:srgbClr val="646464"/>
                    </a:solidFill>
                    <a:latin typeface="EYInterstate Light" panose="02000506000000020004" pitchFamily="2" charset="0"/>
                    <a:cs typeface="Arial" charset="0"/>
                  </a:rPr>
                  <a:t>applied for discounting</a:t>
                </a: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anose="02000506000000020004" pitchFamily="2" charset="0"/>
                    <a:cs typeface="Arial" charset="0"/>
                  </a:rPr>
                  <a:t>No 12 </a:t>
                </a:r>
                <a:r>
                  <a:rPr lang="en-US" sz="1200" dirty="0">
                    <a:solidFill>
                      <a:srgbClr val="646464"/>
                    </a:solidFill>
                    <a:latin typeface="EYInterstate Light" panose="02000506000000020004" pitchFamily="2" charset="0"/>
                    <a:cs typeface="Arial" charset="0"/>
                  </a:rPr>
                  <a:t>month ECL </a:t>
                </a:r>
                <a:r>
                  <a:rPr lang="en-US" sz="1200" dirty="0" smtClean="0">
                    <a:solidFill>
                      <a:srgbClr val="646464"/>
                    </a:solidFill>
                    <a:latin typeface="EYInterstate Light" panose="02000506000000020004" pitchFamily="2" charset="0"/>
                    <a:cs typeface="Arial" charset="0"/>
                  </a:rPr>
                  <a:t>allowance is booked and </a:t>
                </a:r>
                <a:r>
                  <a:rPr lang="en-US" sz="1200" dirty="0">
                    <a:solidFill>
                      <a:srgbClr val="646464"/>
                    </a:solidFill>
                    <a:latin typeface="EYInterstate Light" panose="02000506000000020004" pitchFamily="2" charset="0"/>
                    <a:cs typeface="Arial" charset="0"/>
                  </a:rPr>
                  <a:t>changes in lifetime expected credit losses since initial recognition are recognized as impairment loss – calculated </a:t>
                </a:r>
                <a:r>
                  <a:rPr lang="en-US" sz="1200" dirty="0" smtClean="0">
                    <a:solidFill>
                      <a:srgbClr val="646464"/>
                    </a:solidFill>
                    <a:latin typeface="EYInterstate Light" panose="02000506000000020004" pitchFamily="2" charset="0"/>
                    <a:cs typeface="Arial" charset="0"/>
                  </a:rPr>
                  <a:t>based on </a:t>
                </a:r>
                <a:r>
                  <a:rPr lang="en-US" sz="1200" dirty="0">
                    <a:solidFill>
                      <a:srgbClr val="646464"/>
                    </a:solidFill>
                    <a:latin typeface="EYInterstate Light" panose="02000506000000020004" pitchFamily="2" charset="0"/>
                    <a:cs typeface="Arial" charset="0"/>
                  </a:rPr>
                  <a:t>estimated future cash flows of the </a:t>
                </a:r>
                <a:r>
                  <a:rPr lang="en-US" sz="1200" dirty="0" smtClean="0">
                    <a:solidFill>
                      <a:srgbClr val="646464"/>
                    </a:solidFill>
                    <a:latin typeface="EYInterstate Light" panose="02000506000000020004" pitchFamily="2" charset="0"/>
                    <a:cs typeface="Arial" charset="0"/>
                  </a:rPr>
                  <a:t>contract</a:t>
                </a:r>
              </a:p>
              <a:p>
                <a:pPr defTabSz="912524">
                  <a:buClr>
                    <a:srgbClr val="FFD200"/>
                  </a:buClr>
                  <a:buSzPct val="70000"/>
                </a:pPr>
                <a:endParaRPr lang="en-US" sz="1200" dirty="0" smtClean="0">
                  <a:solidFill>
                    <a:srgbClr val="646464"/>
                  </a:solidFill>
                  <a:latin typeface="EYInterstate Light" panose="02000506000000020004" pitchFamily="2" charset="0"/>
                  <a:cs typeface="Arial" charset="0"/>
                </a:endParaRPr>
              </a:p>
              <a:p>
                <a:pPr defTabSz="912524">
                  <a:buClr>
                    <a:srgbClr val="FFD200"/>
                  </a:buClr>
                  <a:buSzPct val="70000"/>
                </a:pPr>
                <a:r>
                  <a:rPr lang="en-US" sz="1200" dirty="0" smtClean="0">
                    <a:solidFill>
                      <a:srgbClr val="646464"/>
                    </a:solidFill>
                    <a:latin typeface="EYInterstate Light" panose="02000506000000020004" pitchFamily="2" charset="0"/>
                    <a:cs typeface="Arial" charset="0"/>
                  </a:rPr>
                  <a:t>In LIC Solution® </a:t>
                </a:r>
                <a:r>
                  <a:rPr lang="en-US" sz="1200" b="1" dirty="0" smtClean="0">
                    <a:solidFill>
                      <a:srgbClr val="646464"/>
                    </a:solidFill>
                    <a:latin typeface="EYInterstate Light" panose="02000506000000020004" pitchFamily="2" charset="0"/>
                    <a:cs typeface="Arial" charset="0"/>
                  </a:rPr>
                  <a:t>future cash-flows for POCI assets </a:t>
                </a:r>
                <a:r>
                  <a:rPr lang="en-US" sz="1200" b="1" dirty="0">
                    <a:solidFill>
                      <a:srgbClr val="646464"/>
                    </a:solidFill>
                    <a:latin typeface="EYInterstate Light" panose="02000506000000020004" pitchFamily="2" charset="0"/>
                    <a:cs typeface="Arial" charset="0"/>
                  </a:rPr>
                  <a:t>are estimated </a:t>
                </a:r>
                <a:r>
                  <a:rPr lang="en-US" sz="1200" b="1" dirty="0" smtClean="0">
                    <a:solidFill>
                      <a:srgbClr val="646464"/>
                    </a:solidFill>
                    <a:latin typeface="EYInterstate Light" panose="02000506000000020004" pitchFamily="2" charset="0"/>
                    <a:cs typeface="Arial" charset="0"/>
                  </a:rPr>
                  <a:t>individually or</a:t>
                </a:r>
                <a:r>
                  <a:rPr lang="en-US" sz="1200" b="1" dirty="0">
                    <a:solidFill>
                      <a:srgbClr val="646464"/>
                    </a:solidFill>
                    <a:latin typeface="EYInterstate Light" panose="02000506000000020004" pitchFamily="2" charset="0"/>
                    <a:cs typeface="Arial" charset="0"/>
                  </a:rPr>
                  <a:t> </a:t>
                </a:r>
                <a:r>
                  <a:rPr lang="en-US" sz="1200" b="1" dirty="0" smtClean="0">
                    <a:solidFill>
                      <a:srgbClr val="646464"/>
                    </a:solidFill>
                    <a:latin typeface="EYInterstate Light" panose="02000506000000020004" pitchFamily="2" charset="0"/>
                    <a:cs typeface="Arial" charset="0"/>
                  </a:rPr>
                  <a:t>rule-based</a:t>
                </a:r>
                <a:r>
                  <a:rPr lang="en-US" sz="1200" dirty="0" smtClean="0">
                    <a:solidFill>
                      <a:srgbClr val="646464"/>
                    </a:solidFill>
                    <a:latin typeface="EYInterstate Light" panose="02000506000000020004" pitchFamily="2" charset="0"/>
                    <a:cs typeface="Arial" charset="0"/>
                  </a:rPr>
                  <a:t>:</a:t>
                </a:r>
              </a:p>
              <a:p>
                <a:pPr defTabSz="912524">
                  <a:buClr>
                    <a:srgbClr val="FFD200"/>
                  </a:buClr>
                  <a:buSzPct val="70000"/>
                </a:pPr>
                <a:endParaRPr lang="en-US" sz="1200" dirty="0">
                  <a:solidFill>
                    <a:srgbClr val="646464"/>
                  </a:solidFill>
                  <a:latin typeface="EYInterstate Light" panose="02000506000000020004" pitchFamily="2" charset="0"/>
                  <a:cs typeface="Arial"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anose="02000506000000020004" pitchFamily="2" charset="0"/>
                    <a:cs typeface="Arial" charset="0"/>
                  </a:rPr>
                  <a:t>The same</a:t>
                </a:r>
                <a:r>
                  <a:rPr lang="en-US" sz="1200" dirty="0">
                    <a:solidFill>
                      <a:srgbClr val="646464"/>
                    </a:solidFill>
                    <a:latin typeface="EYInterstate Light" panose="02000506000000020004" pitchFamily="2" charset="0"/>
                    <a:cs typeface="Arial" charset="0"/>
                  </a:rPr>
                  <a:t> individual assessment </a:t>
                </a:r>
                <a:r>
                  <a:rPr lang="en-US" sz="1200" dirty="0" smtClean="0">
                    <a:solidFill>
                      <a:srgbClr val="646464"/>
                    </a:solidFill>
                    <a:latin typeface="EYInterstate Light" panose="02000506000000020004" pitchFamily="2" charset="0"/>
                    <a:cs typeface="Arial" charset="0"/>
                  </a:rPr>
                  <a:t>functionalities are leveraged also for POCI, just the Credit-Adjusted EIR is used for discounting in probability </a:t>
                </a:r>
                <a:r>
                  <a:rPr lang="en-US" sz="1200" dirty="0">
                    <a:solidFill>
                      <a:srgbClr val="646464"/>
                    </a:solidFill>
                    <a:latin typeface="EYInterstate Light" panose="02000506000000020004" pitchFamily="2" charset="0"/>
                    <a:cs typeface="Arial" charset="0"/>
                  </a:rPr>
                  <a:t>(</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𝑖</m:t>
                        </m:r>
                      </m:sub>
                    </m:sSub>
                  </m:oMath>
                </a14:m>
                <a:r>
                  <a:rPr lang="en-US" sz="1200" dirty="0" smtClean="0">
                    <a:solidFill>
                      <a:srgbClr val="646464"/>
                    </a:solidFill>
                    <a:latin typeface="EYInterstate Light" panose="02000506000000020004" pitchFamily="2" charset="0"/>
                    <a:cs typeface="Arial" charset="0"/>
                  </a:rPr>
                  <a:t>) weighted cash flow scenarios:</a:t>
                </a:r>
              </a:p>
              <a:p>
                <a:pPr defTabSz="912524">
                  <a:buClr>
                    <a:srgbClr val="FFD200"/>
                  </a:buClr>
                  <a:buSzPct val="70000"/>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𝐼𝑚𝑝𝑎𝑖𝑟</m:t>
                          </m:r>
                        </m:e>
                        <m:sub>
                          <m:r>
                            <a:rPr lang="en-US" sz="1200" i="1">
                              <a:latin typeface="Cambria Math" panose="02040503050406030204" pitchFamily="18" charset="0"/>
                            </a:rPr>
                            <m:t>𝑃𝑂𝐶𝐼</m:t>
                          </m:r>
                        </m:sub>
                      </m:sSub>
                      <m:r>
                        <a:rPr lang="en-US" sz="1200" i="1">
                          <a:latin typeface="Cambria Math" panose="02040503050406030204" pitchFamily="18" charset="0"/>
                        </a:rPr>
                        <m:t>=</m:t>
                      </m:r>
                      <m:r>
                        <a:rPr lang="en-US" sz="1200" i="1">
                          <a:latin typeface="Cambria Math" panose="02040503050406030204" pitchFamily="18" charset="0"/>
                        </a:rPr>
                        <m:t>𝑂𝑛𝑏𝑎𝑙𝑎𝑛𝑐𝑒</m:t>
                      </m:r>
                      <m:r>
                        <a:rPr lang="en-US" sz="1200" i="1">
                          <a:latin typeface="Cambria Math" panose="02040503050406030204" pitchFamily="18" charset="0"/>
                        </a:rPr>
                        <m:t> </m:t>
                      </m:r>
                      <m:r>
                        <a:rPr lang="en-US" sz="1200" i="1">
                          <a:latin typeface="Cambria Math" panose="02040503050406030204" pitchFamily="18" charset="0"/>
                        </a:rPr>
                        <m:t>𝑒𝑥𝑝𝑜𝑠𝑢𝑟𝑒</m:t>
                      </m:r>
                      <m:r>
                        <a:rPr lang="en-US" sz="1200" i="1">
                          <a:latin typeface="Cambria Math" panose="02040503050406030204" pitchFamily="18" charset="0"/>
                        </a:rPr>
                        <m:t>−</m:t>
                      </m:r>
                      <m:nary>
                        <m:naryPr>
                          <m:chr m:val="∑"/>
                          <m:limLoc m:val="undOvr"/>
                          <m:ctrlPr>
                            <a:rPr lang="en-US" sz="1200" i="1">
                              <a:latin typeface="Cambria Math" panose="02040503050406030204" pitchFamily="18" charset="0"/>
                            </a:rPr>
                          </m:ctrlPr>
                        </m:naryPr>
                        <m:sub>
                          <m: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𝑛</m:t>
                          </m:r>
                        </m:sup>
                        <m:e>
                          <m:sSub>
                            <m:sSubPr>
                              <m:ctrlPr>
                                <a:rPr lang="en-US" sz="1200" i="1">
                                  <a:latin typeface="Cambria Math" panose="02040503050406030204" pitchFamily="18" charset="0"/>
                                </a:rPr>
                              </m:ctrlPr>
                            </m:sSubPr>
                            <m:e>
                              <m:r>
                                <a:rPr lang="en-US" sz="1200" i="1" smtClean="0">
                                  <a:latin typeface="Cambria Math" panose="02040503050406030204" pitchFamily="18" charset="0"/>
                                </a:rPr>
                                <m:t>𝑃</m:t>
                              </m:r>
                            </m:e>
                            <m:sub>
                              <m:r>
                                <a:rPr lang="en-US" sz="1200" i="1">
                                  <a:latin typeface="Cambria Math" panose="02040503050406030204" pitchFamily="18" charset="0"/>
                                </a:rPr>
                                <m:t>𝑖</m:t>
                              </m:r>
                            </m:sub>
                          </m:sSub>
                        </m:e>
                      </m:nary>
                      <m:nary>
                        <m:naryPr>
                          <m:chr m:val="∑"/>
                          <m:limLoc m:val="undOvr"/>
                          <m:ctrlPr>
                            <a:rPr lang="en-US" sz="1200" i="1">
                              <a:latin typeface="Cambria Math" panose="02040503050406030204" pitchFamily="18" charset="0"/>
                            </a:rPr>
                          </m:ctrlPr>
                        </m:naryPr>
                        <m:sub>
                          <m:r>
                            <a:rPr lang="en-US" sz="1200" i="1">
                              <a:latin typeface="Cambria Math" panose="02040503050406030204" pitchFamily="18" charset="0"/>
                            </a:rPr>
                            <m:t>𝑡</m:t>
                          </m:r>
                          <m:r>
                            <a:rPr lang="en-US" sz="1200" i="1">
                              <a:latin typeface="Cambria Math" panose="02040503050406030204" pitchFamily="18" charset="0"/>
                            </a:rPr>
                            <m:t>=1</m:t>
                          </m:r>
                        </m:sub>
                        <m:sup>
                          <m:r>
                            <a:rPr lang="en-US" sz="1200" i="1">
                              <a:latin typeface="Cambria Math" panose="02040503050406030204" pitchFamily="18" charset="0"/>
                            </a:rPr>
                            <m:t>𝑇</m:t>
                          </m:r>
                        </m:sup>
                        <m:e>
                          <m:f>
                            <m:fPr>
                              <m:ctrlPr>
                                <a:rPr lang="en-US" sz="1200" i="1">
                                  <a:latin typeface="Cambria Math" panose="02040503050406030204" pitchFamily="18" charset="0"/>
                                </a:rPr>
                              </m:ctrlPr>
                            </m:fPr>
                            <m:num>
                              <m:r>
                                <a:rPr lang="en-US" sz="1200" b="0" i="1" smtClean="0">
                                  <a:latin typeface="Cambria Math" panose="02040503050406030204" pitchFamily="18" charset="0"/>
                                </a:rPr>
                                <m:t>𝐶𝐹</m:t>
                              </m:r>
                            </m:num>
                            <m:den>
                              <m:sSup>
                                <m:sSupPr>
                                  <m:ctrlPr>
                                    <a:rPr lang="en-US" sz="1200" i="1">
                                      <a:latin typeface="Cambria Math" panose="02040503050406030204" pitchFamily="18" charset="0"/>
                                    </a:rPr>
                                  </m:ctrlPr>
                                </m:sSupPr>
                                <m:e>
                                  <m:r>
                                    <a:rPr lang="en-US" sz="1200" i="1">
                                      <a:latin typeface="Cambria Math" panose="02040503050406030204" pitchFamily="18" charset="0"/>
                                    </a:rPr>
                                    <m:t>(1+</m:t>
                                  </m:r>
                                  <m:r>
                                    <a:rPr lang="en-US" sz="1200" b="0" i="1" smtClean="0">
                                      <a:latin typeface="Cambria Math" panose="02040503050406030204" pitchFamily="18" charset="0"/>
                                    </a:rPr>
                                    <m:t>𝐶𝐴</m:t>
                                  </m:r>
                                  <m:r>
                                    <a:rPr lang="en-US" sz="1200" b="0" i="1" smtClean="0">
                                      <a:latin typeface="Cambria Math" panose="02040503050406030204" pitchFamily="18" charset="0"/>
                                    </a:rPr>
                                    <m:t>_</m:t>
                                  </m:r>
                                  <m:r>
                                    <a:rPr lang="en-US" sz="1200" i="1">
                                      <a:latin typeface="Cambria Math" panose="02040503050406030204" pitchFamily="18" charset="0"/>
                                    </a:rPr>
                                    <m:t>𝐸𝐼𝑅</m:t>
                                  </m:r>
                                  <m:r>
                                    <a:rPr lang="en-US" sz="1200" i="1">
                                      <a:latin typeface="Cambria Math" panose="02040503050406030204" pitchFamily="18" charset="0"/>
                                    </a:rPr>
                                    <m:t>)</m:t>
                                  </m:r>
                                </m:e>
                                <m:sup>
                                  <m:r>
                                    <a:rPr lang="en-US" sz="1200" i="1">
                                      <a:latin typeface="Cambria Math" panose="02040503050406030204" pitchFamily="18" charset="0"/>
                                    </a:rPr>
                                    <m:t>𝑡</m:t>
                                  </m:r>
                                </m:sup>
                              </m:sSup>
                            </m:den>
                          </m:f>
                        </m:e>
                      </m:nary>
                    </m:oMath>
                  </m:oMathPara>
                </a14:m>
                <a:endParaRPr lang="en-US" sz="1200" dirty="0" smtClean="0"/>
              </a:p>
              <a:p>
                <a:pPr defTabSz="912524">
                  <a:buClr>
                    <a:srgbClr val="FFD200"/>
                  </a:buClr>
                  <a:buSzPct val="70000"/>
                </a:pPr>
                <a:endParaRPr lang="en-US" sz="1200" dirty="0"/>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anose="02000506000000020004" pitchFamily="2" charset="0"/>
                    <a:cs typeface="Arial" charset="0"/>
                  </a:rPr>
                  <a:t>In case of rule-based approach, portfolio recovery curve provided by the Institution is followed by cash-flow scenario for each assets in such portfolio reflecting actual exposure and months after the default of the asset</a:t>
                </a:r>
                <a:endParaRPr lang="en-US" sz="1200" b="1" dirty="0">
                  <a:solidFill>
                    <a:srgbClr val="646464"/>
                  </a:solidFill>
                  <a:latin typeface="EYInterstate Light" panose="02000506000000020004" pitchFamily="2" charset="0"/>
                  <a:cs typeface="Arial" charset="0"/>
                </a:endParaRPr>
              </a:p>
            </p:txBody>
          </p:sp>
        </mc:Choice>
        <mc:Fallback xmlns="">
          <p:sp>
            <p:nvSpPr>
              <p:cNvPr id="38" name="Abgerundetes Rechteck 24"/>
              <p:cNvSpPr>
                <a:spLocks noRot="1" noChangeAspect="1" noMove="1" noResize="1" noEditPoints="1" noAdjustHandles="1" noChangeArrowheads="1" noChangeShapeType="1" noTextEdit="1"/>
              </p:cNvSpPr>
              <p:nvPr/>
            </p:nvSpPr>
            <p:spPr bwMode="gray">
              <a:xfrm>
                <a:off x="1217635" y="1561513"/>
                <a:ext cx="7469165" cy="4126817"/>
              </a:xfrm>
              <a:prstGeom prst="rect">
                <a:avLst/>
              </a:prstGeom>
              <a:blipFill rotWithShape="0">
                <a:blip r:embed="rId2"/>
                <a:stretch>
                  <a:fillRect t="-148" r="-245"/>
                </a:stretch>
              </a:blipFill>
              <a:ln>
                <a:noFill/>
                <a:headEnd/>
                <a:tailEnd/>
              </a:ln>
            </p:spPr>
            <p:txBody>
              <a:bodyPr/>
              <a:lstStyle/>
              <a:p>
                <a:r>
                  <a:rPr lang="cs-CZ">
                    <a:noFill/>
                  </a:rPr>
                  <a:t> </a:t>
                </a:r>
              </a:p>
            </p:txBody>
          </p:sp>
        </mc:Fallback>
      </mc:AlternateContent>
      <p:sp>
        <p:nvSpPr>
          <p:cNvPr id="42" name="TextBox 41"/>
          <p:cNvSpPr txBox="1"/>
          <p:nvPr/>
        </p:nvSpPr>
        <p:spPr>
          <a:xfrm>
            <a:off x="457200" y="1260408"/>
            <a:ext cx="1098058" cy="1805110"/>
          </a:xfrm>
          <a:prstGeom prst="rect">
            <a:avLst/>
          </a:prstGeom>
          <a:noFill/>
        </p:spPr>
        <p:txBody>
          <a:bodyPr vert="horz" wrap="none" lIns="0" tIns="0" rIns="0" bIns="0" rtlCol="0" anchor="ctr">
            <a:spAutoFit/>
          </a:bodyPr>
          <a:lstStyle/>
          <a:p>
            <a:pPr algn="ctr">
              <a:lnSpc>
                <a:spcPct val="85000"/>
              </a:lnSpc>
              <a:spcAft>
                <a:spcPts val="600"/>
              </a:spcAft>
              <a:buClr>
                <a:srgbClr val="FFE600"/>
              </a:buClr>
              <a:buSzPct val="70000"/>
            </a:pPr>
            <a:r>
              <a:rPr lang="en-US" sz="13800" b="1" dirty="0">
                <a:solidFill>
                  <a:srgbClr val="FFD200"/>
                </a:solidFill>
                <a:latin typeface="EYInterstate" panose="02000503020000020004" pitchFamily="2" charset="0"/>
              </a:rPr>
              <a:t>3</a:t>
            </a:r>
            <a:endParaRPr lang="en-IN" sz="13800" b="1" dirty="0">
              <a:solidFill>
                <a:srgbClr val="FFD200"/>
              </a:solidFill>
              <a:latin typeface="EYInterstate" panose="02000503020000020004" pitchFamily="2" charset="0"/>
            </a:endParaRPr>
          </a:p>
        </p:txBody>
      </p:sp>
      <p:sp>
        <p:nvSpPr>
          <p:cNvPr id="6"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25018392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Data output and reporting</a:t>
            </a:r>
            <a:endParaRPr lang="en-US" dirty="0">
              <a:latin typeface="EYInterstate" panose="02000503020000020004" pitchFamily="2" charset="0"/>
            </a:endParaRPr>
          </a:p>
        </p:txBody>
      </p:sp>
      <p:sp>
        <p:nvSpPr>
          <p:cNvPr id="14" name="Abgerundetes Rechteck 24"/>
          <p:cNvSpPr/>
          <p:nvPr/>
        </p:nvSpPr>
        <p:spPr bwMode="gray">
          <a:xfrm>
            <a:off x="998341" y="2743650"/>
            <a:ext cx="3376800" cy="2896449"/>
          </a:xfrm>
          <a:prstGeom prst="rect">
            <a:avLst/>
          </a:prstGeom>
          <a:no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180000" tIns="324000" rIns="180000" bIns="0" anchor="t" anchorCtr="0"/>
          <a:lstStyle/>
          <a:p>
            <a:pPr defTabSz="912524">
              <a:spcAft>
                <a:spcPts val="600"/>
              </a:spcAft>
              <a:buClr>
                <a:srgbClr val="FFD200"/>
              </a:buClr>
              <a:buSzPct val="70000"/>
            </a:pPr>
            <a:r>
              <a:rPr lang="en-US" sz="1200" dirty="0" smtClean="0">
                <a:latin typeface="EYInterstate Light" panose="02000506000000020004" pitchFamily="2" charset="0"/>
              </a:rPr>
              <a:t>The output data contain following information on asset level:</a:t>
            </a:r>
          </a:p>
          <a:p>
            <a:pPr marL="272489" indent="-272489" defTabSz="912524">
              <a:buClr>
                <a:srgbClr val="FFD200"/>
              </a:buClr>
              <a:buSzPct val="70000"/>
              <a:buFont typeface="Arial" panose="020B0604020202020204" pitchFamily="34" charset="0"/>
              <a:buChar char="►"/>
            </a:pPr>
            <a:r>
              <a:rPr lang="en-US" sz="1200" dirty="0" smtClean="0">
                <a:latin typeface="EYInterstate Light" panose="02000506000000020004" pitchFamily="2" charset="0"/>
              </a:rPr>
              <a:t>Date of calculation</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Exposure</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PD</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LGD</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CCF</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Stage 1/2/3</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Portfolio</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Individual / Collective Assessment / POCI</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Impairment including its split</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itchFamily="2" charset="0"/>
              </a:rPr>
              <a:t>Etc.</a:t>
            </a:r>
          </a:p>
          <a:p>
            <a:pPr defTabSz="801688" eaLnBrk="0" hangingPunct="0">
              <a:lnSpc>
                <a:spcPct val="95000"/>
              </a:lnSpc>
              <a:spcAft>
                <a:spcPts val="800"/>
              </a:spcAft>
              <a:buClr>
                <a:srgbClr val="969696"/>
              </a:buClr>
              <a:defRPr/>
            </a:pPr>
            <a:endParaRPr lang="en-US" sz="1200" dirty="0">
              <a:solidFill>
                <a:srgbClr val="646464"/>
              </a:solidFill>
              <a:latin typeface="EYInterstate" panose="02000503020000020004" pitchFamily="2" charset="0"/>
              <a:cs typeface="Arial" charset="0"/>
            </a:endParaRPr>
          </a:p>
        </p:txBody>
      </p:sp>
      <p:sp>
        <p:nvSpPr>
          <p:cNvPr id="24" name="Abgerundetes Rechteck 24"/>
          <p:cNvSpPr/>
          <p:nvPr/>
        </p:nvSpPr>
        <p:spPr bwMode="gray">
          <a:xfrm>
            <a:off x="998340" y="2042664"/>
            <a:ext cx="3376801" cy="700986"/>
          </a:xfrm>
          <a:prstGeom prst="rect">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504000" tIns="72000" rIns="108000" bIns="72000" anchor="ctr"/>
          <a:lstStyle/>
          <a:p>
            <a:pPr algn="ctr" defTabSz="801688" eaLnBrk="0" hangingPunct="0">
              <a:lnSpc>
                <a:spcPct val="95000"/>
              </a:lnSpc>
              <a:spcAft>
                <a:spcPts val="800"/>
              </a:spcAft>
              <a:buClr>
                <a:srgbClr val="969696"/>
              </a:buClr>
              <a:defRPr/>
            </a:pPr>
            <a:r>
              <a:rPr lang="en-US" b="1" dirty="0" smtClean="0">
                <a:solidFill>
                  <a:schemeClr val="bg1"/>
                </a:solidFill>
                <a:latin typeface="EYInterstate" panose="02000503020000020004" pitchFamily="2" charset="0"/>
                <a:cs typeface="Arial" charset="0"/>
              </a:rPr>
              <a:t>Output data generation</a:t>
            </a:r>
            <a:endParaRPr lang="en-US" b="1" dirty="0">
              <a:solidFill>
                <a:schemeClr val="bg1"/>
              </a:solidFill>
              <a:latin typeface="EYInterstate" panose="02000503020000020004" pitchFamily="2" charset="0"/>
              <a:cs typeface="Arial" charset="0"/>
            </a:endParaRPr>
          </a:p>
        </p:txBody>
      </p:sp>
      <p:sp>
        <p:nvSpPr>
          <p:cNvPr id="26" name="Rad 23"/>
          <p:cNvSpPr/>
          <p:nvPr/>
        </p:nvSpPr>
        <p:spPr bwMode="gray">
          <a:xfrm>
            <a:off x="524237" y="2042663"/>
            <a:ext cx="948207" cy="948206"/>
          </a:xfrm>
          <a:prstGeom prst="donut">
            <a:avLst>
              <a:gd name="adj" fmla="val 15297"/>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25" name="Ellipse 22"/>
          <p:cNvSpPr/>
          <p:nvPr/>
        </p:nvSpPr>
        <p:spPr bwMode="gray">
          <a:xfrm>
            <a:off x="639787" y="2155438"/>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27" name="Abgerundetes Rechteck 24"/>
          <p:cNvSpPr/>
          <p:nvPr/>
        </p:nvSpPr>
        <p:spPr bwMode="gray">
          <a:xfrm>
            <a:off x="5150024" y="2743648"/>
            <a:ext cx="3376070" cy="2896451"/>
          </a:xfrm>
          <a:prstGeom prst="rect">
            <a:avLst/>
          </a:prstGeom>
          <a:no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180000" tIns="396000" rIns="180000" bIns="0" anchor="t" anchorCtr="0"/>
          <a:lstStyle/>
          <a:p>
            <a:pPr defTabSz="912524">
              <a:spcAft>
                <a:spcPts val="600"/>
              </a:spcAft>
              <a:buClr>
                <a:srgbClr val="FFD200"/>
              </a:buClr>
              <a:buSzPct val="70000"/>
            </a:pPr>
            <a:r>
              <a:rPr lang="en-US" sz="1200" dirty="0" smtClean="0">
                <a:solidFill>
                  <a:schemeClr val="tx1"/>
                </a:solidFill>
                <a:latin typeface="EYInterstate Light" panose="02000506000000020004" pitchFamily="2" charset="0"/>
              </a:rPr>
              <a:t>Following </a:t>
            </a:r>
            <a:r>
              <a:rPr lang="cs-CZ" sz="1200" dirty="0" err="1" smtClean="0">
                <a:solidFill>
                  <a:schemeClr val="tx1"/>
                </a:solidFill>
                <a:latin typeface="EYInterstate Light" panose="02000506000000020004" pitchFamily="2" charset="0"/>
              </a:rPr>
              <a:t>key</a:t>
            </a:r>
            <a:r>
              <a:rPr lang="cs-CZ" sz="1200" dirty="0" smtClean="0">
                <a:solidFill>
                  <a:schemeClr val="tx1"/>
                </a:solidFill>
                <a:latin typeface="EYInterstate Light" panose="02000506000000020004" pitchFamily="2" charset="0"/>
              </a:rPr>
              <a:t> </a:t>
            </a:r>
            <a:r>
              <a:rPr lang="en-US" sz="1200" dirty="0" smtClean="0">
                <a:solidFill>
                  <a:schemeClr val="tx1"/>
                </a:solidFill>
                <a:latin typeface="EYInterstate Light" panose="02000506000000020004" pitchFamily="2" charset="0"/>
              </a:rPr>
              <a:t>reports are prepared by LIC Solution® from the output data:</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anose="02000506000000020004" pitchFamily="2" charset="0"/>
              </a:rPr>
              <a:t>Split of exposures and impairments by Portfolios and Stages</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anose="02000506000000020004" pitchFamily="2" charset="0"/>
              </a:rPr>
              <a:t>Changes in exposure and impairment split compared to the previous months</a:t>
            </a:r>
          </a:p>
          <a:p>
            <a:pPr marL="272489" indent="-272489" defTabSz="912524">
              <a:buClr>
                <a:srgbClr val="FFD200"/>
              </a:buClr>
              <a:buSzPct val="70000"/>
              <a:buFont typeface="Arial" panose="020B0604020202020204" pitchFamily="34" charset="0"/>
              <a:buChar char="►"/>
            </a:pPr>
            <a:r>
              <a:rPr lang="en-US" sz="1200" dirty="0" smtClean="0">
                <a:solidFill>
                  <a:schemeClr val="tx1"/>
                </a:solidFill>
                <a:latin typeface="EYInterstate Light" panose="02000506000000020004" pitchFamily="2" charset="0"/>
              </a:rPr>
              <a:t>Changes in exposure and impairment split compared to the start of the financial year</a:t>
            </a:r>
            <a:endParaRPr lang="en-US" sz="1200" dirty="0">
              <a:solidFill>
                <a:schemeClr val="tx1"/>
              </a:solidFill>
              <a:latin typeface="EYInterstate Light" panose="02000506000000020004" pitchFamily="2" charset="0"/>
            </a:endParaRPr>
          </a:p>
        </p:txBody>
      </p:sp>
      <p:sp>
        <p:nvSpPr>
          <p:cNvPr id="28" name="Abgerundetes Rechteck 24"/>
          <p:cNvSpPr/>
          <p:nvPr/>
        </p:nvSpPr>
        <p:spPr bwMode="gray">
          <a:xfrm>
            <a:off x="5150024" y="2042663"/>
            <a:ext cx="3376070" cy="700986"/>
          </a:xfrm>
          <a:prstGeom prst="rect">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504000" tIns="72000" rIns="108000" bIns="72000" anchor="ctr"/>
          <a:lstStyle/>
          <a:p>
            <a:pPr defTabSz="801688" eaLnBrk="0" hangingPunct="0">
              <a:lnSpc>
                <a:spcPct val="95000"/>
              </a:lnSpc>
              <a:spcAft>
                <a:spcPts val="800"/>
              </a:spcAft>
              <a:buClr>
                <a:srgbClr val="969696"/>
              </a:buClr>
              <a:defRPr/>
            </a:pPr>
            <a:r>
              <a:rPr lang="en-US" b="1" dirty="0" smtClean="0">
                <a:solidFill>
                  <a:schemeClr val="bg1"/>
                </a:solidFill>
                <a:latin typeface="EYInterstate" panose="02000503020000020004" pitchFamily="2" charset="0"/>
                <a:cs typeface="Arial" charset="0"/>
              </a:rPr>
              <a:t>Reporting</a:t>
            </a:r>
            <a:endParaRPr lang="en-US" b="1" dirty="0">
              <a:solidFill>
                <a:schemeClr val="bg1"/>
              </a:solidFill>
              <a:latin typeface="EYInterstate" panose="02000503020000020004" pitchFamily="2" charset="0"/>
              <a:cs typeface="Arial" charset="0"/>
            </a:endParaRPr>
          </a:p>
        </p:txBody>
      </p:sp>
      <p:sp>
        <p:nvSpPr>
          <p:cNvPr id="29" name="Rad 23"/>
          <p:cNvSpPr/>
          <p:nvPr/>
        </p:nvSpPr>
        <p:spPr bwMode="gray">
          <a:xfrm>
            <a:off x="4675920" y="2042662"/>
            <a:ext cx="948207" cy="948206"/>
          </a:xfrm>
          <a:prstGeom prst="donut">
            <a:avLst>
              <a:gd name="adj" fmla="val 15297"/>
            </a:avLst>
          </a:prstGeom>
          <a:solidFill>
            <a:srgbClr val="FFD200"/>
          </a:solidFill>
          <a:ln w="57150">
            <a:solidFill>
              <a:srgbClr val="FFD200"/>
            </a:solid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30" name="Ellipse 22"/>
          <p:cNvSpPr/>
          <p:nvPr/>
        </p:nvSpPr>
        <p:spPr bwMode="gray">
          <a:xfrm>
            <a:off x="4791470" y="2155437"/>
            <a:ext cx="727834" cy="727834"/>
          </a:xfrm>
          <a:prstGeom prst="ellipse">
            <a:avLst/>
          </a:prstGeom>
          <a:solidFill>
            <a:srgbClr val="FFFFFF"/>
          </a:solidFill>
          <a:ln>
            <a:noFill/>
            <a:headEnd/>
            <a:tailEnd/>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chor="ctr"/>
          <a:lstStyle/>
          <a:p>
            <a:pPr algn="ctr"/>
            <a:endParaRPr lang="en-US" sz="7200" b="1" dirty="0">
              <a:solidFill>
                <a:schemeClr val="tx2"/>
              </a:solidFill>
              <a:latin typeface="Arial" panose="020B0604020202020204" pitchFamily="34" charset="0"/>
            </a:endParaRPr>
          </a:p>
        </p:txBody>
      </p:sp>
      <p:sp>
        <p:nvSpPr>
          <p:cNvPr id="32" name="Content Placeholder 2"/>
          <p:cNvSpPr txBox="1">
            <a:spLocks/>
          </p:cNvSpPr>
          <p:nvPr/>
        </p:nvSpPr>
        <p:spPr>
          <a:xfrm>
            <a:off x="457200" y="1026000"/>
            <a:ext cx="8229600" cy="2183318"/>
          </a:xfrm>
          <a:prstGeom prst="rect">
            <a:avLst/>
          </a:prstGeom>
        </p:spPr>
        <p:txBody>
          <a:bodyPr lIns="0" tIns="0"/>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200" dirty="0" smtClean="0">
                <a:latin typeface="EYInterstate Light" panose="02000506000000020004" pitchFamily="2" charset="0"/>
              </a:rPr>
              <a:t>After the calculation process, LIC Solution® transforms the results into a standardized pre-defined output data format. Interfacing methods to extract the output from the solution are provided and support parametrization (e.g. date of output data, version of output data). Readiness of the output data in LIC Solution® is registered automatically. It is the responsibility of the Institution to call the interfacing methods to extract output data.</a:t>
            </a:r>
          </a:p>
        </p:txBody>
      </p:sp>
      <p:sp>
        <p:nvSpPr>
          <p:cNvPr id="15" name="Freeform 38"/>
          <p:cNvSpPr>
            <a:spLocks noChangeAspect="1" noEditPoints="1"/>
          </p:cNvSpPr>
          <p:nvPr/>
        </p:nvSpPr>
        <p:spPr bwMode="auto">
          <a:xfrm>
            <a:off x="4952570" y="2234667"/>
            <a:ext cx="394907" cy="540000"/>
          </a:xfrm>
          <a:custGeom>
            <a:avLst/>
            <a:gdLst>
              <a:gd name="T0" fmla="*/ 2147483647 w 3704"/>
              <a:gd name="T1" fmla="*/ 2147483647 h 4763"/>
              <a:gd name="T2" fmla="*/ 2147483647 w 3704"/>
              <a:gd name="T3" fmla="*/ 2147483647 h 4763"/>
              <a:gd name="T4" fmla="*/ 2147483647 w 3704"/>
              <a:gd name="T5" fmla="*/ 2147483647 h 4763"/>
              <a:gd name="T6" fmla="*/ 2147483647 w 3704"/>
              <a:gd name="T7" fmla="*/ 2147483647 h 4763"/>
              <a:gd name="T8" fmla="*/ 2147483647 w 3704"/>
              <a:gd name="T9" fmla="*/ 2147483647 h 4763"/>
              <a:gd name="T10" fmla="*/ 2147483647 w 3704"/>
              <a:gd name="T11" fmla="*/ 2147483647 h 4763"/>
              <a:gd name="T12" fmla="*/ 2147483647 w 3704"/>
              <a:gd name="T13" fmla="*/ 2147483647 h 4763"/>
              <a:gd name="T14" fmla="*/ 2147483647 w 3704"/>
              <a:gd name="T15" fmla="*/ 2147483647 h 4763"/>
              <a:gd name="T16" fmla="*/ 2147483647 w 3704"/>
              <a:gd name="T17" fmla="*/ 2147483647 h 4763"/>
              <a:gd name="T18" fmla="*/ 2147483647 w 3704"/>
              <a:gd name="T19" fmla="*/ 2147483647 h 4763"/>
              <a:gd name="T20" fmla="*/ 2147483647 w 3704"/>
              <a:gd name="T21" fmla="*/ 2147483647 h 4763"/>
              <a:gd name="T22" fmla="*/ 2147483647 w 3704"/>
              <a:gd name="T23" fmla="*/ 2147483647 h 4763"/>
              <a:gd name="T24" fmla="*/ 2147483647 w 3704"/>
              <a:gd name="T25" fmla="*/ 2147483647 h 4763"/>
              <a:gd name="T26" fmla="*/ 2147483647 w 3704"/>
              <a:gd name="T27" fmla="*/ 2147483647 h 4763"/>
              <a:gd name="T28" fmla="*/ 2147483647 w 3704"/>
              <a:gd name="T29" fmla="*/ 2147483647 h 4763"/>
              <a:gd name="T30" fmla="*/ 2147483647 w 3704"/>
              <a:gd name="T31" fmla="*/ 2147483647 h 4763"/>
              <a:gd name="T32" fmla="*/ 2147483647 w 3704"/>
              <a:gd name="T33" fmla="*/ 2147483647 h 4763"/>
              <a:gd name="T34" fmla="*/ 2147483647 w 3704"/>
              <a:gd name="T35" fmla="*/ 2147483647 h 4763"/>
              <a:gd name="T36" fmla="*/ 2147483647 w 3704"/>
              <a:gd name="T37" fmla="*/ 2147483647 h 4763"/>
              <a:gd name="T38" fmla="*/ 2147483647 w 3704"/>
              <a:gd name="T39" fmla="*/ 2147483647 h 4763"/>
              <a:gd name="T40" fmla="*/ 2147483647 w 3704"/>
              <a:gd name="T41" fmla="*/ 2147483647 h 4763"/>
              <a:gd name="T42" fmla="*/ 2147483647 w 3704"/>
              <a:gd name="T43" fmla="*/ 2147483647 h 4763"/>
              <a:gd name="T44" fmla="*/ 2147483647 w 3704"/>
              <a:gd name="T45" fmla="*/ 2147483647 h 4763"/>
              <a:gd name="T46" fmla="*/ 2147483647 w 3704"/>
              <a:gd name="T47" fmla="*/ 2147483647 h 4763"/>
              <a:gd name="T48" fmla="*/ 2147483647 w 3704"/>
              <a:gd name="T49" fmla="*/ 2147483647 h 4763"/>
              <a:gd name="T50" fmla="*/ 2147483647 w 3704"/>
              <a:gd name="T51" fmla="*/ 2147483647 h 4763"/>
              <a:gd name="T52" fmla="*/ 0 w 3704"/>
              <a:gd name="T53" fmla="*/ 2147483647 h 4763"/>
              <a:gd name="T54" fmla="*/ 0 w 3704"/>
              <a:gd name="T55" fmla="*/ 2147483647 h 4763"/>
              <a:gd name="T56" fmla="*/ 2147483647 w 3704"/>
              <a:gd name="T57" fmla="*/ 2147483647 h 4763"/>
              <a:gd name="T58" fmla="*/ 2147483647 w 3704"/>
              <a:gd name="T59" fmla="*/ 2147483647 h 4763"/>
              <a:gd name="T60" fmla="*/ 2147483647 w 3704"/>
              <a:gd name="T61" fmla="*/ 2147483647 h 4763"/>
              <a:gd name="T62" fmla="*/ 2147483647 w 3704"/>
              <a:gd name="T63" fmla="*/ 2147483647 h 4763"/>
              <a:gd name="T64" fmla="*/ 2147483647 w 3704"/>
              <a:gd name="T65" fmla="*/ 2147483647 h 4763"/>
              <a:gd name="T66" fmla="*/ 2147483647 w 3704"/>
              <a:gd name="T67" fmla="*/ 2147483647 h 4763"/>
              <a:gd name="T68" fmla="*/ 2147483647 w 3704"/>
              <a:gd name="T69" fmla="*/ 2147483647 h 4763"/>
              <a:gd name="T70" fmla="*/ 2147483647 w 3704"/>
              <a:gd name="T71" fmla="*/ 2147483647 h 4763"/>
              <a:gd name="T72" fmla="*/ 2147483647 w 3704"/>
              <a:gd name="T73" fmla="*/ 2147483647 h 4763"/>
              <a:gd name="T74" fmla="*/ 2147483647 w 3704"/>
              <a:gd name="T75" fmla="*/ 2147483647 h 4763"/>
              <a:gd name="T76" fmla="*/ 2147483647 w 3704"/>
              <a:gd name="T77" fmla="*/ 2147483647 h 4763"/>
              <a:gd name="T78" fmla="*/ 2147483647 w 3704"/>
              <a:gd name="T79" fmla="*/ 2147483647 h 4763"/>
              <a:gd name="T80" fmla="*/ 2147483647 w 3704"/>
              <a:gd name="T81" fmla="*/ 2147483647 h 4763"/>
              <a:gd name="T82" fmla="*/ 2147483647 w 3704"/>
              <a:gd name="T83" fmla="*/ 2147483647 h 4763"/>
              <a:gd name="T84" fmla="*/ 2147483647 w 3704"/>
              <a:gd name="T85" fmla="*/ 2147483647 h 4763"/>
              <a:gd name="T86" fmla="*/ 2147483647 w 3704"/>
              <a:gd name="T87" fmla="*/ 2147483647 h 4763"/>
              <a:gd name="T88" fmla="*/ 2147483647 w 3704"/>
              <a:gd name="T89" fmla="*/ 2147483647 h 4763"/>
              <a:gd name="T90" fmla="*/ 2147483647 w 3704"/>
              <a:gd name="T91" fmla="*/ 2147483647 h 4763"/>
              <a:gd name="T92" fmla="*/ 2147483647 w 3704"/>
              <a:gd name="T93" fmla="*/ 2147483647 h 4763"/>
              <a:gd name="T94" fmla="*/ 2147483647 w 3704"/>
              <a:gd name="T95" fmla="*/ 2147483647 h 4763"/>
              <a:gd name="T96" fmla="*/ 2147483647 w 3704"/>
              <a:gd name="T97" fmla="*/ 2147483647 h 4763"/>
              <a:gd name="T98" fmla="*/ 2147483647 w 3704"/>
              <a:gd name="T99" fmla="*/ 2147483647 h 4763"/>
              <a:gd name="T100" fmla="*/ 2147483647 w 3704"/>
              <a:gd name="T101" fmla="*/ 0 h 4763"/>
              <a:gd name="T102" fmla="*/ 2147483647 w 3704"/>
              <a:gd name="T103" fmla="*/ 0 h 4763"/>
              <a:gd name="T104" fmla="*/ 2147483647 w 3704"/>
              <a:gd name="T105" fmla="*/ 2147483647 h 4763"/>
              <a:gd name="T106" fmla="*/ 2147483647 w 3704"/>
              <a:gd name="T107" fmla="*/ 2147483647 h 4763"/>
              <a:gd name="T108" fmla="*/ 2147483647 w 3704"/>
              <a:gd name="T109" fmla="*/ 2147483647 h 4763"/>
              <a:gd name="T110" fmla="*/ 2147483647 w 3704"/>
              <a:gd name="T111" fmla="*/ 2147483647 h 4763"/>
              <a:gd name="T112" fmla="*/ 2147483647 w 3704"/>
              <a:gd name="T113" fmla="*/ 2147483647 h 4763"/>
              <a:gd name="T114" fmla="*/ 2147483647 w 3704"/>
              <a:gd name="T115" fmla="*/ 2147483647 h 4763"/>
              <a:gd name="T116" fmla="*/ 2147483647 w 3704"/>
              <a:gd name="T117" fmla="*/ 2147483647 h 4763"/>
              <a:gd name="T118" fmla="*/ 2147483647 w 3704"/>
              <a:gd name="T119" fmla="*/ 2147483647 h 47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704"/>
              <a:gd name="T181" fmla="*/ 0 h 4763"/>
              <a:gd name="T182" fmla="*/ 3704 w 3704"/>
              <a:gd name="T183" fmla="*/ 4763 h 47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704" h="4763">
                <a:moveTo>
                  <a:pt x="577" y="554"/>
                </a:moveTo>
                <a:lnTo>
                  <a:pt x="577" y="337"/>
                </a:lnTo>
                <a:lnTo>
                  <a:pt x="3327" y="337"/>
                </a:lnTo>
                <a:lnTo>
                  <a:pt x="3327" y="4213"/>
                </a:lnTo>
                <a:lnTo>
                  <a:pt x="3074" y="4213"/>
                </a:lnTo>
                <a:lnTo>
                  <a:pt x="3074" y="4115"/>
                </a:lnTo>
                <a:lnTo>
                  <a:pt x="3229" y="4115"/>
                </a:lnTo>
                <a:lnTo>
                  <a:pt x="3229" y="435"/>
                </a:lnTo>
                <a:lnTo>
                  <a:pt x="675" y="435"/>
                </a:lnTo>
                <a:lnTo>
                  <a:pt x="675" y="554"/>
                </a:lnTo>
                <a:lnTo>
                  <a:pt x="577" y="554"/>
                </a:lnTo>
                <a:close/>
                <a:moveTo>
                  <a:pt x="528" y="3793"/>
                </a:moveTo>
                <a:lnTo>
                  <a:pt x="2020" y="3793"/>
                </a:lnTo>
                <a:lnTo>
                  <a:pt x="2020" y="3890"/>
                </a:lnTo>
                <a:lnTo>
                  <a:pt x="528" y="3890"/>
                </a:lnTo>
                <a:lnTo>
                  <a:pt x="528" y="3793"/>
                </a:lnTo>
                <a:close/>
                <a:moveTo>
                  <a:pt x="2685" y="1426"/>
                </a:moveTo>
                <a:lnTo>
                  <a:pt x="2198" y="945"/>
                </a:lnTo>
                <a:lnTo>
                  <a:pt x="2198" y="1426"/>
                </a:lnTo>
                <a:lnTo>
                  <a:pt x="2685" y="1426"/>
                </a:lnTo>
                <a:close/>
                <a:moveTo>
                  <a:pt x="195" y="849"/>
                </a:moveTo>
                <a:lnTo>
                  <a:pt x="195" y="4568"/>
                </a:lnTo>
                <a:lnTo>
                  <a:pt x="2768" y="4568"/>
                </a:lnTo>
                <a:lnTo>
                  <a:pt x="2769" y="1718"/>
                </a:lnTo>
                <a:lnTo>
                  <a:pt x="2964" y="1718"/>
                </a:lnTo>
                <a:lnTo>
                  <a:pt x="2962" y="4763"/>
                </a:lnTo>
                <a:lnTo>
                  <a:pt x="0" y="4763"/>
                </a:lnTo>
                <a:lnTo>
                  <a:pt x="0" y="654"/>
                </a:lnTo>
                <a:lnTo>
                  <a:pt x="2190" y="654"/>
                </a:lnTo>
                <a:lnTo>
                  <a:pt x="2965" y="1428"/>
                </a:lnTo>
                <a:lnTo>
                  <a:pt x="2964" y="1621"/>
                </a:lnTo>
                <a:lnTo>
                  <a:pt x="2003" y="1621"/>
                </a:lnTo>
                <a:lnTo>
                  <a:pt x="2003" y="849"/>
                </a:lnTo>
                <a:lnTo>
                  <a:pt x="195" y="849"/>
                </a:lnTo>
                <a:close/>
                <a:moveTo>
                  <a:pt x="528" y="2209"/>
                </a:moveTo>
                <a:lnTo>
                  <a:pt x="2434" y="2209"/>
                </a:lnTo>
                <a:lnTo>
                  <a:pt x="2434" y="2306"/>
                </a:lnTo>
                <a:lnTo>
                  <a:pt x="528" y="2306"/>
                </a:lnTo>
                <a:lnTo>
                  <a:pt x="528" y="2209"/>
                </a:lnTo>
                <a:close/>
                <a:moveTo>
                  <a:pt x="528" y="2737"/>
                </a:moveTo>
                <a:lnTo>
                  <a:pt x="2434" y="2737"/>
                </a:lnTo>
                <a:lnTo>
                  <a:pt x="2434" y="2834"/>
                </a:lnTo>
                <a:lnTo>
                  <a:pt x="528" y="2834"/>
                </a:lnTo>
                <a:lnTo>
                  <a:pt x="528" y="2737"/>
                </a:lnTo>
                <a:close/>
                <a:moveTo>
                  <a:pt x="528" y="3265"/>
                </a:moveTo>
                <a:lnTo>
                  <a:pt x="2434" y="3265"/>
                </a:lnTo>
                <a:lnTo>
                  <a:pt x="2434" y="3363"/>
                </a:lnTo>
                <a:lnTo>
                  <a:pt x="528" y="3363"/>
                </a:lnTo>
                <a:lnTo>
                  <a:pt x="528" y="3265"/>
                </a:lnTo>
                <a:close/>
                <a:moveTo>
                  <a:pt x="964" y="218"/>
                </a:moveTo>
                <a:lnTo>
                  <a:pt x="964" y="0"/>
                </a:lnTo>
                <a:lnTo>
                  <a:pt x="3704" y="0"/>
                </a:lnTo>
                <a:lnTo>
                  <a:pt x="3704" y="3896"/>
                </a:lnTo>
                <a:lnTo>
                  <a:pt x="3452" y="3896"/>
                </a:lnTo>
                <a:lnTo>
                  <a:pt x="3452" y="3799"/>
                </a:lnTo>
                <a:lnTo>
                  <a:pt x="3607" y="3799"/>
                </a:lnTo>
                <a:lnTo>
                  <a:pt x="3607" y="97"/>
                </a:lnTo>
                <a:lnTo>
                  <a:pt x="1062" y="97"/>
                </a:lnTo>
                <a:lnTo>
                  <a:pt x="1062" y="218"/>
                </a:lnTo>
                <a:lnTo>
                  <a:pt x="964" y="218"/>
                </a:lnTo>
                <a:close/>
              </a:path>
            </a:pathLst>
          </a:custGeom>
          <a:solidFill>
            <a:schemeClr val="bg1"/>
          </a:solidFill>
          <a:ln w="9525">
            <a:noFill/>
            <a:round/>
            <a:headEnd/>
            <a:tailEnd/>
          </a:ln>
        </p:spPr>
        <p:txBody>
          <a:bodyPr vert="horz" wrap="square" lIns="91440" tIns="45720" rIns="91440" bIns="45720" anchor="t"/>
          <a:lstStyle/>
          <a:p>
            <a:pPr defTabSz="914077"/>
            <a:endParaRPr lang="en-US" dirty="0">
              <a:solidFill>
                <a:srgbClr val="000000"/>
              </a:solidFill>
            </a:endParaRPr>
          </a:p>
        </p:txBody>
      </p:sp>
      <p:sp>
        <p:nvSpPr>
          <p:cNvPr id="16" name="Freeform 30"/>
          <p:cNvSpPr>
            <a:spLocks noChangeAspect="1" noEditPoints="1"/>
          </p:cNvSpPr>
          <p:nvPr/>
        </p:nvSpPr>
        <p:spPr bwMode="auto">
          <a:xfrm>
            <a:off x="701386" y="2328927"/>
            <a:ext cx="593910" cy="392548"/>
          </a:xfrm>
          <a:custGeom>
            <a:avLst/>
            <a:gdLst>
              <a:gd name="T0" fmla="*/ 2147483647 w 6736"/>
              <a:gd name="T1" fmla="*/ 2147483647 h 4201"/>
              <a:gd name="T2" fmla="*/ 2147483647 w 6736"/>
              <a:gd name="T3" fmla="*/ 2147483647 h 4201"/>
              <a:gd name="T4" fmla="*/ 2147483647 w 6736"/>
              <a:gd name="T5" fmla="*/ 2147483647 h 4201"/>
              <a:gd name="T6" fmla="*/ 2147483647 w 6736"/>
              <a:gd name="T7" fmla="*/ 2147483647 h 4201"/>
              <a:gd name="T8" fmla="*/ 2147483647 w 6736"/>
              <a:gd name="T9" fmla="*/ 2147483647 h 4201"/>
              <a:gd name="T10" fmla="*/ 2147483647 w 6736"/>
              <a:gd name="T11" fmla="*/ 2147483647 h 4201"/>
              <a:gd name="T12" fmla="*/ 2147483647 w 6736"/>
              <a:gd name="T13" fmla="*/ 2147483647 h 4201"/>
              <a:gd name="T14" fmla="*/ 2147483647 w 6736"/>
              <a:gd name="T15" fmla="*/ 2147483647 h 4201"/>
              <a:gd name="T16" fmla="*/ 2147483647 w 6736"/>
              <a:gd name="T17" fmla="*/ 2147483647 h 4201"/>
              <a:gd name="T18" fmla="*/ 2147483647 w 6736"/>
              <a:gd name="T19" fmla="*/ 2147483647 h 4201"/>
              <a:gd name="T20" fmla="*/ 2147483647 w 6736"/>
              <a:gd name="T21" fmla="*/ 2147483647 h 4201"/>
              <a:gd name="T22" fmla="*/ 2147483647 w 6736"/>
              <a:gd name="T23" fmla="*/ 2147483647 h 4201"/>
              <a:gd name="T24" fmla="*/ 2147483647 w 6736"/>
              <a:gd name="T25" fmla="*/ 2147483647 h 4201"/>
              <a:gd name="T26" fmla="*/ 2147483647 w 6736"/>
              <a:gd name="T27" fmla="*/ 2147483647 h 4201"/>
              <a:gd name="T28" fmla="*/ 2147483647 w 6736"/>
              <a:gd name="T29" fmla="*/ 2147483647 h 4201"/>
              <a:gd name="T30" fmla="*/ 2147483647 w 6736"/>
              <a:gd name="T31" fmla="*/ 2147483647 h 4201"/>
              <a:gd name="T32" fmla="*/ 2147483647 w 6736"/>
              <a:gd name="T33" fmla="*/ 2147483647 h 4201"/>
              <a:gd name="T34" fmla="*/ 2147483647 w 6736"/>
              <a:gd name="T35" fmla="*/ 2147483647 h 4201"/>
              <a:gd name="T36" fmla="*/ 2147483647 w 6736"/>
              <a:gd name="T37" fmla="*/ 2147483647 h 4201"/>
              <a:gd name="T38" fmla="*/ 2147483647 w 6736"/>
              <a:gd name="T39" fmla="*/ 2147483647 h 4201"/>
              <a:gd name="T40" fmla="*/ 2147483647 w 6736"/>
              <a:gd name="T41" fmla="*/ 2147483647 h 4201"/>
              <a:gd name="T42" fmla="*/ 2147483647 w 6736"/>
              <a:gd name="T43" fmla="*/ 2147483647 h 4201"/>
              <a:gd name="T44" fmla="*/ 2147483647 w 6736"/>
              <a:gd name="T45" fmla="*/ 2147483647 h 4201"/>
              <a:gd name="T46" fmla="*/ 2147483647 w 6736"/>
              <a:gd name="T47" fmla="*/ 2147483647 h 4201"/>
              <a:gd name="T48" fmla="*/ 2147483647 w 6736"/>
              <a:gd name="T49" fmla="*/ 2147483647 h 4201"/>
              <a:gd name="T50" fmla="*/ 2147483647 w 6736"/>
              <a:gd name="T51" fmla="*/ 2147483647 h 4201"/>
              <a:gd name="T52" fmla="*/ 2147483647 w 6736"/>
              <a:gd name="T53" fmla="*/ 2147483647 h 4201"/>
              <a:gd name="T54" fmla="*/ 2147483647 w 6736"/>
              <a:gd name="T55" fmla="*/ 2147483647 h 4201"/>
              <a:gd name="T56" fmla="*/ 2147483647 w 6736"/>
              <a:gd name="T57" fmla="*/ 2147483647 h 4201"/>
              <a:gd name="T58" fmla="*/ 2147483647 w 6736"/>
              <a:gd name="T59" fmla="*/ 2147483647 h 4201"/>
              <a:gd name="T60" fmla="*/ 2147483647 w 6736"/>
              <a:gd name="T61" fmla="*/ 2147483647 h 4201"/>
              <a:gd name="T62" fmla="*/ 2147483647 w 6736"/>
              <a:gd name="T63" fmla="*/ 2147483647 h 4201"/>
              <a:gd name="T64" fmla="*/ 2147483647 w 6736"/>
              <a:gd name="T65" fmla="*/ 2147483647 h 4201"/>
              <a:gd name="T66" fmla="*/ 2147483647 w 6736"/>
              <a:gd name="T67" fmla="*/ 2147483647 h 4201"/>
              <a:gd name="T68" fmla="*/ 2147483647 w 6736"/>
              <a:gd name="T69" fmla="*/ 2147483647 h 4201"/>
              <a:gd name="T70" fmla="*/ 2147483647 w 6736"/>
              <a:gd name="T71" fmla="*/ 2147483647 h 4201"/>
              <a:gd name="T72" fmla="*/ 2147483647 w 6736"/>
              <a:gd name="T73" fmla="*/ 2147483647 h 4201"/>
              <a:gd name="T74" fmla="*/ 2147483647 w 6736"/>
              <a:gd name="T75" fmla="*/ 2147483647 h 4201"/>
              <a:gd name="T76" fmla="*/ 2147483647 w 6736"/>
              <a:gd name="T77" fmla="*/ 2147483647 h 4201"/>
              <a:gd name="T78" fmla="*/ 2147483647 w 6736"/>
              <a:gd name="T79" fmla="*/ 2147483647 h 4201"/>
              <a:gd name="T80" fmla="*/ 2147483647 w 6736"/>
              <a:gd name="T81" fmla="*/ 2147483647 h 4201"/>
              <a:gd name="T82" fmla="*/ 2147483647 w 6736"/>
              <a:gd name="T83" fmla="*/ 2147483647 h 4201"/>
              <a:gd name="T84" fmla="*/ 2147483647 w 6736"/>
              <a:gd name="T85" fmla="*/ 2147483647 h 4201"/>
              <a:gd name="T86" fmla="*/ 2147483647 w 6736"/>
              <a:gd name="T87" fmla="*/ 2147483647 h 4201"/>
              <a:gd name="T88" fmla="*/ 2147483647 w 6736"/>
              <a:gd name="T89" fmla="*/ 2147483647 h 4201"/>
              <a:gd name="T90" fmla="*/ 2147483647 w 6736"/>
              <a:gd name="T91" fmla="*/ 2147483647 h 4201"/>
              <a:gd name="T92" fmla="*/ 2147483647 w 6736"/>
              <a:gd name="T93" fmla="*/ 2147483647 h 4201"/>
              <a:gd name="T94" fmla="*/ 2147483647 w 6736"/>
              <a:gd name="T95" fmla="*/ 2147483647 h 4201"/>
              <a:gd name="T96" fmla="*/ 2147483647 w 6736"/>
              <a:gd name="T97" fmla="*/ 2147483647 h 4201"/>
              <a:gd name="T98" fmla="*/ 2147483647 w 6736"/>
              <a:gd name="T99" fmla="*/ 2147483647 h 4201"/>
              <a:gd name="T100" fmla="*/ 2147483647 w 6736"/>
              <a:gd name="T101" fmla="*/ 2147483647 h 4201"/>
              <a:gd name="T102" fmla="*/ 2147483647 w 6736"/>
              <a:gd name="T103" fmla="*/ 2147483647 h 4201"/>
              <a:gd name="T104" fmla="*/ 2147483647 w 6736"/>
              <a:gd name="T105" fmla="*/ 2147483647 h 4201"/>
              <a:gd name="T106" fmla="*/ 2147483647 w 6736"/>
              <a:gd name="T107" fmla="*/ 2147483647 h 4201"/>
              <a:gd name="T108" fmla="*/ 2147483647 w 6736"/>
              <a:gd name="T109" fmla="*/ 2147483647 h 4201"/>
              <a:gd name="T110" fmla="*/ 2147483647 w 6736"/>
              <a:gd name="T111" fmla="*/ 2147483647 h 4201"/>
              <a:gd name="T112" fmla="*/ 2147483647 w 6736"/>
              <a:gd name="T113" fmla="*/ 2147483647 h 4201"/>
              <a:gd name="T114" fmla="*/ 2147483647 w 6736"/>
              <a:gd name="T115" fmla="*/ 2147483647 h 4201"/>
              <a:gd name="T116" fmla="*/ 2147483647 w 6736"/>
              <a:gd name="T117" fmla="*/ 2147483647 h 4201"/>
              <a:gd name="T118" fmla="*/ 2147483647 w 6736"/>
              <a:gd name="T119" fmla="*/ 2147483647 h 4201"/>
              <a:gd name="T120" fmla="*/ 2147483647 w 6736"/>
              <a:gd name="T121" fmla="*/ 2147483647 h 4201"/>
              <a:gd name="T122" fmla="*/ 2147483647 w 6736"/>
              <a:gd name="T123" fmla="*/ 2147483647 h 42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736"/>
              <a:gd name="T187" fmla="*/ 0 h 4201"/>
              <a:gd name="T188" fmla="*/ 6736 w 6736"/>
              <a:gd name="T189" fmla="*/ 4201 h 42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736" h="4201">
                <a:moveTo>
                  <a:pt x="1860" y="3717"/>
                </a:moveTo>
                <a:lnTo>
                  <a:pt x="2605" y="3717"/>
                </a:lnTo>
                <a:lnTo>
                  <a:pt x="2605" y="3851"/>
                </a:lnTo>
                <a:lnTo>
                  <a:pt x="1833" y="3851"/>
                </a:lnTo>
                <a:lnTo>
                  <a:pt x="1493" y="4067"/>
                </a:lnTo>
                <a:lnTo>
                  <a:pt x="3212" y="4067"/>
                </a:lnTo>
                <a:lnTo>
                  <a:pt x="2948" y="3903"/>
                </a:lnTo>
                <a:lnTo>
                  <a:pt x="2936" y="3896"/>
                </a:lnTo>
                <a:lnTo>
                  <a:pt x="2924" y="3886"/>
                </a:lnTo>
                <a:lnTo>
                  <a:pt x="2914" y="3876"/>
                </a:lnTo>
                <a:lnTo>
                  <a:pt x="2904" y="3866"/>
                </a:lnTo>
                <a:lnTo>
                  <a:pt x="2896" y="3855"/>
                </a:lnTo>
                <a:lnTo>
                  <a:pt x="2888" y="3843"/>
                </a:lnTo>
                <a:lnTo>
                  <a:pt x="2881" y="3829"/>
                </a:lnTo>
                <a:lnTo>
                  <a:pt x="2874" y="3816"/>
                </a:lnTo>
                <a:lnTo>
                  <a:pt x="2864" y="3788"/>
                </a:lnTo>
                <a:lnTo>
                  <a:pt x="2857" y="3757"/>
                </a:lnTo>
                <a:lnTo>
                  <a:pt x="2852" y="3724"/>
                </a:lnTo>
                <a:lnTo>
                  <a:pt x="2851" y="3689"/>
                </a:lnTo>
                <a:lnTo>
                  <a:pt x="2851" y="3612"/>
                </a:lnTo>
                <a:lnTo>
                  <a:pt x="2985" y="3612"/>
                </a:lnTo>
                <a:lnTo>
                  <a:pt x="2985" y="3689"/>
                </a:lnTo>
                <a:lnTo>
                  <a:pt x="2986" y="3712"/>
                </a:lnTo>
                <a:lnTo>
                  <a:pt x="2990" y="3734"/>
                </a:lnTo>
                <a:lnTo>
                  <a:pt x="2996" y="3754"/>
                </a:lnTo>
                <a:lnTo>
                  <a:pt x="3005" y="3771"/>
                </a:lnTo>
                <a:lnTo>
                  <a:pt x="3016" y="3788"/>
                </a:lnTo>
                <a:lnTo>
                  <a:pt x="3028" y="3801"/>
                </a:lnTo>
                <a:lnTo>
                  <a:pt x="3043" y="3813"/>
                </a:lnTo>
                <a:lnTo>
                  <a:pt x="3058" y="3823"/>
                </a:lnTo>
                <a:lnTo>
                  <a:pt x="3368" y="4005"/>
                </a:lnTo>
                <a:lnTo>
                  <a:pt x="3381" y="4015"/>
                </a:lnTo>
                <a:lnTo>
                  <a:pt x="3391" y="4027"/>
                </a:lnTo>
                <a:lnTo>
                  <a:pt x="3401" y="4040"/>
                </a:lnTo>
                <a:lnTo>
                  <a:pt x="3408" y="4054"/>
                </a:lnTo>
                <a:lnTo>
                  <a:pt x="3415" y="4070"/>
                </a:lnTo>
                <a:lnTo>
                  <a:pt x="3418" y="4087"/>
                </a:lnTo>
                <a:lnTo>
                  <a:pt x="3420" y="4104"/>
                </a:lnTo>
                <a:lnTo>
                  <a:pt x="3420" y="4119"/>
                </a:lnTo>
                <a:lnTo>
                  <a:pt x="3417" y="4136"/>
                </a:lnTo>
                <a:lnTo>
                  <a:pt x="3413" y="4151"/>
                </a:lnTo>
                <a:lnTo>
                  <a:pt x="3407" y="4164"/>
                </a:lnTo>
                <a:lnTo>
                  <a:pt x="3396" y="4178"/>
                </a:lnTo>
                <a:lnTo>
                  <a:pt x="3385" y="4188"/>
                </a:lnTo>
                <a:lnTo>
                  <a:pt x="3370" y="4194"/>
                </a:lnTo>
                <a:lnTo>
                  <a:pt x="3353" y="4199"/>
                </a:lnTo>
                <a:lnTo>
                  <a:pt x="3335" y="4201"/>
                </a:lnTo>
                <a:lnTo>
                  <a:pt x="1376" y="4201"/>
                </a:lnTo>
                <a:lnTo>
                  <a:pt x="1354" y="4199"/>
                </a:lnTo>
                <a:lnTo>
                  <a:pt x="1337" y="4194"/>
                </a:lnTo>
                <a:lnTo>
                  <a:pt x="1321" y="4188"/>
                </a:lnTo>
                <a:lnTo>
                  <a:pt x="1309" y="4178"/>
                </a:lnTo>
                <a:lnTo>
                  <a:pt x="1299" y="4164"/>
                </a:lnTo>
                <a:lnTo>
                  <a:pt x="1291" y="4151"/>
                </a:lnTo>
                <a:lnTo>
                  <a:pt x="1286" y="4136"/>
                </a:lnTo>
                <a:lnTo>
                  <a:pt x="1282" y="4121"/>
                </a:lnTo>
                <a:lnTo>
                  <a:pt x="1282" y="4104"/>
                </a:lnTo>
                <a:lnTo>
                  <a:pt x="1284" y="4087"/>
                </a:lnTo>
                <a:lnTo>
                  <a:pt x="1289" y="4070"/>
                </a:lnTo>
                <a:lnTo>
                  <a:pt x="1294" y="4054"/>
                </a:lnTo>
                <a:lnTo>
                  <a:pt x="1304" y="4039"/>
                </a:lnTo>
                <a:lnTo>
                  <a:pt x="1314" y="4024"/>
                </a:lnTo>
                <a:lnTo>
                  <a:pt x="1327" y="4012"/>
                </a:lnTo>
                <a:lnTo>
                  <a:pt x="1343" y="4002"/>
                </a:lnTo>
                <a:lnTo>
                  <a:pt x="1682" y="3798"/>
                </a:lnTo>
                <a:lnTo>
                  <a:pt x="1692" y="3789"/>
                </a:lnTo>
                <a:lnTo>
                  <a:pt x="1701" y="3778"/>
                </a:lnTo>
                <a:lnTo>
                  <a:pt x="1709" y="3764"/>
                </a:lnTo>
                <a:lnTo>
                  <a:pt x="1714" y="3747"/>
                </a:lnTo>
                <a:lnTo>
                  <a:pt x="1719" y="3732"/>
                </a:lnTo>
                <a:lnTo>
                  <a:pt x="1723" y="3716"/>
                </a:lnTo>
                <a:lnTo>
                  <a:pt x="1724" y="3702"/>
                </a:lnTo>
                <a:lnTo>
                  <a:pt x="1726" y="3689"/>
                </a:lnTo>
                <a:lnTo>
                  <a:pt x="1726" y="3612"/>
                </a:lnTo>
                <a:lnTo>
                  <a:pt x="1860" y="3612"/>
                </a:lnTo>
                <a:lnTo>
                  <a:pt x="1860" y="3717"/>
                </a:lnTo>
                <a:close/>
                <a:moveTo>
                  <a:pt x="4577" y="3344"/>
                </a:moveTo>
                <a:lnTo>
                  <a:pt x="4577" y="134"/>
                </a:lnTo>
                <a:lnTo>
                  <a:pt x="134" y="134"/>
                </a:lnTo>
                <a:lnTo>
                  <a:pt x="134" y="3344"/>
                </a:lnTo>
                <a:lnTo>
                  <a:pt x="4577" y="3344"/>
                </a:lnTo>
                <a:close/>
                <a:moveTo>
                  <a:pt x="132" y="3478"/>
                </a:moveTo>
                <a:lnTo>
                  <a:pt x="132" y="3478"/>
                </a:lnTo>
                <a:lnTo>
                  <a:pt x="121" y="3478"/>
                </a:lnTo>
                <a:lnTo>
                  <a:pt x="109" y="3476"/>
                </a:lnTo>
                <a:lnTo>
                  <a:pt x="97" y="3473"/>
                </a:lnTo>
                <a:lnTo>
                  <a:pt x="85" y="3470"/>
                </a:lnTo>
                <a:lnTo>
                  <a:pt x="74" y="3465"/>
                </a:lnTo>
                <a:lnTo>
                  <a:pt x="62" y="3460"/>
                </a:lnTo>
                <a:lnTo>
                  <a:pt x="52" y="3453"/>
                </a:lnTo>
                <a:lnTo>
                  <a:pt x="42" y="3444"/>
                </a:lnTo>
                <a:lnTo>
                  <a:pt x="33" y="3436"/>
                </a:lnTo>
                <a:lnTo>
                  <a:pt x="25" y="3426"/>
                </a:lnTo>
                <a:lnTo>
                  <a:pt x="17" y="3416"/>
                </a:lnTo>
                <a:lnTo>
                  <a:pt x="12" y="3404"/>
                </a:lnTo>
                <a:lnTo>
                  <a:pt x="7" y="3393"/>
                </a:lnTo>
                <a:lnTo>
                  <a:pt x="3" y="3381"/>
                </a:lnTo>
                <a:lnTo>
                  <a:pt x="0" y="3367"/>
                </a:lnTo>
                <a:lnTo>
                  <a:pt x="0" y="3352"/>
                </a:lnTo>
                <a:lnTo>
                  <a:pt x="0" y="126"/>
                </a:lnTo>
                <a:lnTo>
                  <a:pt x="0" y="110"/>
                </a:lnTo>
                <a:lnTo>
                  <a:pt x="3" y="97"/>
                </a:lnTo>
                <a:lnTo>
                  <a:pt x="7" y="85"/>
                </a:lnTo>
                <a:lnTo>
                  <a:pt x="12" y="74"/>
                </a:lnTo>
                <a:lnTo>
                  <a:pt x="17" y="62"/>
                </a:lnTo>
                <a:lnTo>
                  <a:pt x="25" y="52"/>
                </a:lnTo>
                <a:lnTo>
                  <a:pt x="33" y="42"/>
                </a:lnTo>
                <a:lnTo>
                  <a:pt x="42" y="33"/>
                </a:lnTo>
                <a:lnTo>
                  <a:pt x="52" y="25"/>
                </a:lnTo>
                <a:lnTo>
                  <a:pt x="62" y="18"/>
                </a:lnTo>
                <a:lnTo>
                  <a:pt x="74" y="13"/>
                </a:lnTo>
                <a:lnTo>
                  <a:pt x="85" y="8"/>
                </a:lnTo>
                <a:lnTo>
                  <a:pt x="97" y="5"/>
                </a:lnTo>
                <a:lnTo>
                  <a:pt x="109" y="2"/>
                </a:lnTo>
                <a:lnTo>
                  <a:pt x="121" y="0"/>
                </a:lnTo>
                <a:lnTo>
                  <a:pt x="132" y="0"/>
                </a:lnTo>
                <a:lnTo>
                  <a:pt x="4577" y="0"/>
                </a:lnTo>
                <a:lnTo>
                  <a:pt x="4590" y="0"/>
                </a:lnTo>
                <a:lnTo>
                  <a:pt x="4602" y="2"/>
                </a:lnTo>
                <a:lnTo>
                  <a:pt x="4613" y="5"/>
                </a:lnTo>
                <a:lnTo>
                  <a:pt x="4625" y="8"/>
                </a:lnTo>
                <a:lnTo>
                  <a:pt x="4637" y="13"/>
                </a:lnTo>
                <a:lnTo>
                  <a:pt x="4649" y="18"/>
                </a:lnTo>
                <a:lnTo>
                  <a:pt x="4659" y="25"/>
                </a:lnTo>
                <a:lnTo>
                  <a:pt x="4669" y="33"/>
                </a:lnTo>
                <a:lnTo>
                  <a:pt x="4677" y="42"/>
                </a:lnTo>
                <a:lnTo>
                  <a:pt x="4685" y="52"/>
                </a:lnTo>
                <a:lnTo>
                  <a:pt x="4692" y="62"/>
                </a:lnTo>
                <a:lnTo>
                  <a:pt x="4699" y="74"/>
                </a:lnTo>
                <a:lnTo>
                  <a:pt x="4704" y="85"/>
                </a:lnTo>
                <a:lnTo>
                  <a:pt x="4707" y="97"/>
                </a:lnTo>
                <a:lnTo>
                  <a:pt x="4709" y="110"/>
                </a:lnTo>
                <a:lnTo>
                  <a:pt x="4711" y="126"/>
                </a:lnTo>
                <a:lnTo>
                  <a:pt x="4711" y="3352"/>
                </a:lnTo>
                <a:lnTo>
                  <a:pt x="4709" y="3367"/>
                </a:lnTo>
                <a:lnTo>
                  <a:pt x="4707" y="3381"/>
                </a:lnTo>
                <a:lnTo>
                  <a:pt x="4704" y="3393"/>
                </a:lnTo>
                <a:lnTo>
                  <a:pt x="4699" y="3404"/>
                </a:lnTo>
                <a:lnTo>
                  <a:pt x="4692" y="3416"/>
                </a:lnTo>
                <a:lnTo>
                  <a:pt x="4685" y="3426"/>
                </a:lnTo>
                <a:lnTo>
                  <a:pt x="4677" y="3436"/>
                </a:lnTo>
                <a:lnTo>
                  <a:pt x="4669" y="3444"/>
                </a:lnTo>
                <a:lnTo>
                  <a:pt x="4659" y="3453"/>
                </a:lnTo>
                <a:lnTo>
                  <a:pt x="4649" y="3460"/>
                </a:lnTo>
                <a:lnTo>
                  <a:pt x="4637" y="3465"/>
                </a:lnTo>
                <a:lnTo>
                  <a:pt x="4625" y="3470"/>
                </a:lnTo>
                <a:lnTo>
                  <a:pt x="4613" y="3473"/>
                </a:lnTo>
                <a:lnTo>
                  <a:pt x="4602" y="3476"/>
                </a:lnTo>
                <a:lnTo>
                  <a:pt x="4590" y="3478"/>
                </a:lnTo>
                <a:lnTo>
                  <a:pt x="4577" y="3478"/>
                </a:lnTo>
                <a:lnTo>
                  <a:pt x="132" y="3478"/>
                </a:lnTo>
                <a:close/>
                <a:moveTo>
                  <a:pt x="1093" y="2435"/>
                </a:moveTo>
                <a:lnTo>
                  <a:pt x="1885" y="1644"/>
                </a:lnTo>
                <a:lnTo>
                  <a:pt x="1980" y="1739"/>
                </a:lnTo>
                <a:lnTo>
                  <a:pt x="1189" y="2531"/>
                </a:lnTo>
                <a:lnTo>
                  <a:pt x="1093" y="2435"/>
                </a:lnTo>
                <a:close/>
                <a:moveTo>
                  <a:pt x="3991" y="433"/>
                </a:moveTo>
                <a:lnTo>
                  <a:pt x="452" y="433"/>
                </a:lnTo>
                <a:lnTo>
                  <a:pt x="452" y="2708"/>
                </a:lnTo>
                <a:lnTo>
                  <a:pt x="4259" y="2708"/>
                </a:lnTo>
                <a:lnTo>
                  <a:pt x="4259" y="300"/>
                </a:lnTo>
                <a:lnTo>
                  <a:pt x="4392" y="300"/>
                </a:lnTo>
                <a:lnTo>
                  <a:pt x="4392" y="2842"/>
                </a:lnTo>
                <a:lnTo>
                  <a:pt x="318" y="2842"/>
                </a:lnTo>
                <a:lnTo>
                  <a:pt x="318" y="300"/>
                </a:lnTo>
                <a:lnTo>
                  <a:pt x="3991" y="300"/>
                </a:lnTo>
                <a:lnTo>
                  <a:pt x="3991" y="433"/>
                </a:lnTo>
                <a:close/>
                <a:moveTo>
                  <a:pt x="656" y="2422"/>
                </a:moveTo>
                <a:lnTo>
                  <a:pt x="2467" y="611"/>
                </a:lnTo>
                <a:lnTo>
                  <a:pt x="2561" y="706"/>
                </a:lnTo>
                <a:lnTo>
                  <a:pt x="752" y="2516"/>
                </a:lnTo>
                <a:lnTo>
                  <a:pt x="656" y="2422"/>
                </a:lnTo>
                <a:close/>
                <a:moveTo>
                  <a:pt x="2355" y="2914"/>
                </a:moveTo>
                <a:lnTo>
                  <a:pt x="2355" y="2914"/>
                </a:lnTo>
                <a:lnTo>
                  <a:pt x="2372" y="2914"/>
                </a:lnTo>
                <a:lnTo>
                  <a:pt x="2389" y="2917"/>
                </a:lnTo>
                <a:lnTo>
                  <a:pt x="2405" y="2921"/>
                </a:lnTo>
                <a:lnTo>
                  <a:pt x="2421" y="2927"/>
                </a:lnTo>
                <a:lnTo>
                  <a:pt x="2436" y="2934"/>
                </a:lnTo>
                <a:lnTo>
                  <a:pt x="2451" y="2942"/>
                </a:lnTo>
                <a:lnTo>
                  <a:pt x="2464" y="2952"/>
                </a:lnTo>
                <a:lnTo>
                  <a:pt x="2476" y="2964"/>
                </a:lnTo>
                <a:lnTo>
                  <a:pt x="2486" y="2976"/>
                </a:lnTo>
                <a:lnTo>
                  <a:pt x="2496" y="2989"/>
                </a:lnTo>
                <a:lnTo>
                  <a:pt x="2504" y="3003"/>
                </a:lnTo>
                <a:lnTo>
                  <a:pt x="2513" y="3018"/>
                </a:lnTo>
                <a:lnTo>
                  <a:pt x="2518" y="3033"/>
                </a:lnTo>
                <a:lnTo>
                  <a:pt x="2523" y="3049"/>
                </a:lnTo>
                <a:lnTo>
                  <a:pt x="2524" y="3066"/>
                </a:lnTo>
                <a:lnTo>
                  <a:pt x="2526" y="3085"/>
                </a:lnTo>
                <a:lnTo>
                  <a:pt x="2524" y="3101"/>
                </a:lnTo>
                <a:lnTo>
                  <a:pt x="2523" y="3118"/>
                </a:lnTo>
                <a:lnTo>
                  <a:pt x="2518" y="3135"/>
                </a:lnTo>
                <a:lnTo>
                  <a:pt x="2513" y="3150"/>
                </a:lnTo>
                <a:lnTo>
                  <a:pt x="2504" y="3165"/>
                </a:lnTo>
                <a:lnTo>
                  <a:pt x="2496" y="3180"/>
                </a:lnTo>
                <a:lnTo>
                  <a:pt x="2486" y="3192"/>
                </a:lnTo>
                <a:lnTo>
                  <a:pt x="2476" y="3205"/>
                </a:lnTo>
                <a:lnTo>
                  <a:pt x="2464" y="3215"/>
                </a:lnTo>
                <a:lnTo>
                  <a:pt x="2451" y="3225"/>
                </a:lnTo>
                <a:lnTo>
                  <a:pt x="2436" y="3234"/>
                </a:lnTo>
                <a:lnTo>
                  <a:pt x="2421" y="3242"/>
                </a:lnTo>
                <a:lnTo>
                  <a:pt x="2405" y="3247"/>
                </a:lnTo>
                <a:lnTo>
                  <a:pt x="2389" y="3250"/>
                </a:lnTo>
                <a:lnTo>
                  <a:pt x="2372" y="3254"/>
                </a:lnTo>
                <a:lnTo>
                  <a:pt x="2355" y="3255"/>
                </a:lnTo>
                <a:lnTo>
                  <a:pt x="2337" y="3254"/>
                </a:lnTo>
                <a:lnTo>
                  <a:pt x="2320" y="3250"/>
                </a:lnTo>
                <a:lnTo>
                  <a:pt x="2305" y="3247"/>
                </a:lnTo>
                <a:lnTo>
                  <a:pt x="2288" y="3242"/>
                </a:lnTo>
                <a:lnTo>
                  <a:pt x="2273" y="3234"/>
                </a:lnTo>
                <a:lnTo>
                  <a:pt x="2260" y="3225"/>
                </a:lnTo>
                <a:lnTo>
                  <a:pt x="2246" y="3215"/>
                </a:lnTo>
                <a:lnTo>
                  <a:pt x="2235" y="3205"/>
                </a:lnTo>
                <a:lnTo>
                  <a:pt x="2223" y="3192"/>
                </a:lnTo>
                <a:lnTo>
                  <a:pt x="2213" y="3180"/>
                </a:lnTo>
                <a:lnTo>
                  <a:pt x="2205" y="3165"/>
                </a:lnTo>
                <a:lnTo>
                  <a:pt x="2198" y="3150"/>
                </a:lnTo>
                <a:lnTo>
                  <a:pt x="2193" y="3135"/>
                </a:lnTo>
                <a:lnTo>
                  <a:pt x="2188" y="3118"/>
                </a:lnTo>
                <a:lnTo>
                  <a:pt x="2186" y="3101"/>
                </a:lnTo>
                <a:lnTo>
                  <a:pt x="2185" y="3085"/>
                </a:lnTo>
                <a:lnTo>
                  <a:pt x="2186" y="3066"/>
                </a:lnTo>
                <a:lnTo>
                  <a:pt x="2188" y="3049"/>
                </a:lnTo>
                <a:lnTo>
                  <a:pt x="2193" y="3033"/>
                </a:lnTo>
                <a:lnTo>
                  <a:pt x="2198" y="3018"/>
                </a:lnTo>
                <a:lnTo>
                  <a:pt x="2205" y="3003"/>
                </a:lnTo>
                <a:lnTo>
                  <a:pt x="2213" y="2989"/>
                </a:lnTo>
                <a:lnTo>
                  <a:pt x="2223" y="2976"/>
                </a:lnTo>
                <a:lnTo>
                  <a:pt x="2235" y="2964"/>
                </a:lnTo>
                <a:lnTo>
                  <a:pt x="2246" y="2952"/>
                </a:lnTo>
                <a:lnTo>
                  <a:pt x="2260" y="2942"/>
                </a:lnTo>
                <a:lnTo>
                  <a:pt x="2273" y="2934"/>
                </a:lnTo>
                <a:lnTo>
                  <a:pt x="2288" y="2927"/>
                </a:lnTo>
                <a:lnTo>
                  <a:pt x="2305" y="2921"/>
                </a:lnTo>
                <a:lnTo>
                  <a:pt x="2320" y="2917"/>
                </a:lnTo>
                <a:lnTo>
                  <a:pt x="2337" y="2914"/>
                </a:lnTo>
                <a:lnTo>
                  <a:pt x="2355" y="2914"/>
                </a:lnTo>
                <a:close/>
                <a:moveTo>
                  <a:pt x="2355" y="3034"/>
                </a:moveTo>
                <a:lnTo>
                  <a:pt x="2355" y="3034"/>
                </a:lnTo>
                <a:lnTo>
                  <a:pt x="2345" y="3036"/>
                </a:lnTo>
                <a:lnTo>
                  <a:pt x="2335" y="3039"/>
                </a:lnTo>
                <a:lnTo>
                  <a:pt x="2327" y="3043"/>
                </a:lnTo>
                <a:lnTo>
                  <a:pt x="2320" y="3049"/>
                </a:lnTo>
                <a:lnTo>
                  <a:pt x="2313" y="3056"/>
                </a:lnTo>
                <a:lnTo>
                  <a:pt x="2310" y="3065"/>
                </a:lnTo>
                <a:lnTo>
                  <a:pt x="2307" y="3075"/>
                </a:lnTo>
                <a:lnTo>
                  <a:pt x="2305" y="3085"/>
                </a:lnTo>
                <a:lnTo>
                  <a:pt x="2307" y="3095"/>
                </a:lnTo>
                <a:lnTo>
                  <a:pt x="2310" y="3103"/>
                </a:lnTo>
                <a:lnTo>
                  <a:pt x="2313" y="3111"/>
                </a:lnTo>
                <a:lnTo>
                  <a:pt x="2320" y="3120"/>
                </a:lnTo>
                <a:lnTo>
                  <a:pt x="2327" y="3125"/>
                </a:lnTo>
                <a:lnTo>
                  <a:pt x="2335" y="3130"/>
                </a:lnTo>
                <a:lnTo>
                  <a:pt x="2345" y="3133"/>
                </a:lnTo>
                <a:lnTo>
                  <a:pt x="2355" y="3133"/>
                </a:lnTo>
                <a:lnTo>
                  <a:pt x="2365" y="3133"/>
                </a:lnTo>
                <a:lnTo>
                  <a:pt x="2374" y="3130"/>
                </a:lnTo>
                <a:lnTo>
                  <a:pt x="2382" y="3125"/>
                </a:lnTo>
                <a:lnTo>
                  <a:pt x="2390" y="3120"/>
                </a:lnTo>
                <a:lnTo>
                  <a:pt x="2395" y="3111"/>
                </a:lnTo>
                <a:lnTo>
                  <a:pt x="2400" y="3103"/>
                </a:lnTo>
                <a:lnTo>
                  <a:pt x="2404" y="3095"/>
                </a:lnTo>
                <a:lnTo>
                  <a:pt x="2404" y="3085"/>
                </a:lnTo>
                <a:lnTo>
                  <a:pt x="2404" y="3075"/>
                </a:lnTo>
                <a:lnTo>
                  <a:pt x="2400" y="3065"/>
                </a:lnTo>
                <a:lnTo>
                  <a:pt x="2395" y="3056"/>
                </a:lnTo>
                <a:lnTo>
                  <a:pt x="2390" y="3049"/>
                </a:lnTo>
                <a:lnTo>
                  <a:pt x="2382" y="3043"/>
                </a:lnTo>
                <a:lnTo>
                  <a:pt x="2374" y="3039"/>
                </a:lnTo>
                <a:lnTo>
                  <a:pt x="2365" y="3036"/>
                </a:lnTo>
                <a:lnTo>
                  <a:pt x="2355" y="3034"/>
                </a:lnTo>
                <a:close/>
                <a:moveTo>
                  <a:pt x="6736" y="0"/>
                </a:moveTo>
                <a:lnTo>
                  <a:pt x="6736" y="4201"/>
                </a:lnTo>
                <a:lnTo>
                  <a:pt x="4905" y="4201"/>
                </a:lnTo>
                <a:lnTo>
                  <a:pt x="4905" y="0"/>
                </a:lnTo>
                <a:lnTo>
                  <a:pt x="6736" y="0"/>
                </a:lnTo>
                <a:close/>
                <a:moveTo>
                  <a:pt x="6602" y="134"/>
                </a:moveTo>
                <a:lnTo>
                  <a:pt x="5039" y="134"/>
                </a:lnTo>
                <a:lnTo>
                  <a:pt x="5039" y="4067"/>
                </a:lnTo>
                <a:lnTo>
                  <a:pt x="6602" y="4067"/>
                </a:lnTo>
                <a:lnTo>
                  <a:pt x="6602" y="134"/>
                </a:lnTo>
                <a:close/>
                <a:moveTo>
                  <a:pt x="5246" y="433"/>
                </a:moveTo>
                <a:lnTo>
                  <a:pt x="6395" y="433"/>
                </a:lnTo>
                <a:lnTo>
                  <a:pt x="6395" y="701"/>
                </a:lnTo>
                <a:lnTo>
                  <a:pt x="5246" y="701"/>
                </a:lnTo>
                <a:lnTo>
                  <a:pt x="5246" y="433"/>
                </a:lnTo>
                <a:close/>
                <a:moveTo>
                  <a:pt x="6249" y="942"/>
                </a:moveTo>
                <a:lnTo>
                  <a:pt x="6249" y="942"/>
                </a:lnTo>
                <a:lnTo>
                  <a:pt x="6264" y="942"/>
                </a:lnTo>
                <a:lnTo>
                  <a:pt x="6277" y="944"/>
                </a:lnTo>
                <a:lnTo>
                  <a:pt x="6292" y="947"/>
                </a:lnTo>
                <a:lnTo>
                  <a:pt x="6306" y="952"/>
                </a:lnTo>
                <a:lnTo>
                  <a:pt x="6318" y="959"/>
                </a:lnTo>
                <a:lnTo>
                  <a:pt x="6329" y="966"/>
                </a:lnTo>
                <a:lnTo>
                  <a:pt x="6341" y="974"/>
                </a:lnTo>
                <a:lnTo>
                  <a:pt x="6351" y="984"/>
                </a:lnTo>
                <a:lnTo>
                  <a:pt x="6361" y="994"/>
                </a:lnTo>
                <a:lnTo>
                  <a:pt x="6369" y="1006"/>
                </a:lnTo>
                <a:lnTo>
                  <a:pt x="6376" y="1018"/>
                </a:lnTo>
                <a:lnTo>
                  <a:pt x="6383" y="1031"/>
                </a:lnTo>
                <a:lnTo>
                  <a:pt x="6388" y="1044"/>
                </a:lnTo>
                <a:lnTo>
                  <a:pt x="6391" y="1058"/>
                </a:lnTo>
                <a:lnTo>
                  <a:pt x="6393" y="1073"/>
                </a:lnTo>
                <a:lnTo>
                  <a:pt x="6395" y="1086"/>
                </a:lnTo>
                <a:lnTo>
                  <a:pt x="6393" y="1101"/>
                </a:lnTo>
                <a:lnTo>
                  <a:pt x="6391" y="1116"/>
                </a:lnTo>
                <a:lnTo>
                  <a:pt x="6388" y="1130"/>
                </a:lnTo>
                <a:lnTo>
                  <a:pt x="6383" y="1143"/>
                </a:lnTo>
                <a:lnTo>
                  <a:pt x="6376" y="1157"/>
                </a:lnTo>
                <a:lnTo>
                  <a:pt x="6369" y="1168"/>
                </a:lnTo>
                <a:lnTo>
                  <a:pt x="6361" y="1180"/>
                </a:lnTo>
                <a:lnTo>
                  <a:pt x="6351" y="1190"/>
                </a:lnTo>
                <a:lnTo>
                  <a:pt x="6341" y="1198"/>
                </a:lnTo>
                <a:lnTo>
                  <a:pt x="6329" y="1207"/>
                </a:lnTo>
                <a:lnTo>
                  <a:pt x="6318" y="1215"/>
                </a:lnTo>
                <a:lnTo>
                  <a:pt x="6306" y="1220"/>
                </a:lnTo>
                <a:lnTo>
                  <a:pt x="6292" y="1225"/>
                </a:lnTo>
                <a:lnTo>
                  <a:pt x="6277" y="1228"/>
                </a:lnTo>
                <a:lnTo>
                  <a:pt x="6264" y="1232"/>
                </a:lnTo>
                <a:lnTo>
                  <a:pt x="6249" y="1232"/>
                </a:lnTo>
                <a:lnTo>
                  <a:pt x="6234" y="1232"/>
                </a:lnTo>
                <a:lnTo>
                  <a:pt x="6219" y="1228"/>
                </a:lnTo>
                <a:lnTo>
                  <a:pt x="6205" y="1225"/>
                </a:lnTo>
                <a:lnTo>
                  <a:pt x="6192" y="1220"/>
                </a:lnTo>
                <a:lnTo>
                  <a:pt x="6179" y="1215"/>
                </a:lnTo>
                <a:lnTo>
                  <a:pt x="6167" y="1207"/>
                </a:lnTo>
                <a:lnTo>
                  <a:pt x="6157" y="1198"/>
                </a:lnTo>
                <a:lnTo>
                  <a:pt x="6145" y="1190"/>
                </a:lnTo>
                <a:lnTo>
                  <a:pt x="6137" y="1180"/>
                </a:lnTo>
                <a:lnTo>
                  <a:pt x="6128" y="1168"/>
                </a:lnTo>
                <a:lnTo>
                  <a:pt x="6120" y="1157"/>
                </a:lnTo>
                <a:lnTo>
                  <a:pt x="6115" y="1143"/>
                </a:lnTo>
                <a:lnTo>
                  <a:pt x="6110" y="1130"/>
                </a:lnTo>
                <a:lnTo>
                  <a:pt x="6107" y="1116"/>
                </a:lnTo>
                <a:lnTo>
                  <a:pt x="6103" y="1101"/>
                </a:lnTo>
                <a:lnTo>
                  <a:pt x="6103" y="1086"/>
                </a:lnTo>
                <a:lnTo>
                  <a:pt x="6103" y="1073"/>
                </a:lnTo>
                <a:lnTo>
                  <a:pt x="6107" y="1058"/>
                </a:lnTo>
                <a:lnTo>
                  <a:pt x="6110" y="1044"/>
                </a:lnTo>
                <a:lnTo>
                  <a:pt x="6115" y="1031"/>
                </a:lnTo>
                <a:lnTo>
                  <a:pt x="6120" y="1018"/>
                </a:lnTo>
                <a:lnTo>
                  <a:pt x="6128" y="1006"/>
                </a:lnTo>
                <a:lnTo>
                  <a:pt x="6137" y="994"/>
                </a:lnTo>
                <a:lnTo>
                  <a:pt x="6145" y="984"/>
                </a:lnTo>
                <a:lnTo>
                  <a:pt x="6157" y="974"/>
                </a:lnTo>
                <a:lnTo>
                  <a:pt x="6167" y="966"/>
                </a:lnTo>
                <a:lnTo>
                  <a:pt x="6179" y="959"/>
                </a:lnTo>
                <a:lnTo>
                  <a:pt x="6192" y="952"/>
                </a:lnTo>
                <a:lnTo>
                  <a:pt x="6205" y="947"/>
                </a:lnTo>
                <a:lnTo>
                  <a:pt x="6219" y="944"/>
                </a:lnTo>
                <a:lnTo>
                  <a:pt x="6234" y="942"/>
                </a:lnTo>
                <a:lnTo>
                  <a:pt x="6249" y="942"/>
                </a:lnTo>
                <a:close/>
              </a:path>
            </a:pathLst>
          </a:custGeom>
          <a:solidFill>
            <a:schemeClr val="bg1"/>
          </a:solidFill>
          <a:ln w="9525">
            <a:noFill/>
            <a:round/>
            <a:headEnd/>
            <a:tailEnd/>
          </a:ln>
        </p:spPr>
        <p:txBody>
          <a:bodyPr vert="horz" wrap="square" lIns="91440" tIns="45720" rIns="91440" bIns="45720" anchor="t"/>
          <a:lstStyle/>
          <a:p>
            <a:pPr defTabSz="914077"/>
            <a:endParaRPr lang="en-US" dirty="0">
              <a:solidFill>
                <a:srgbClr val="000000"/>
              </a:solidFill>
            </a:endParaRPr>
          </a:p>
        </p:txBody>
      </p:sp>
      <p:sp>
        <p:nvSpPr>
          <p:cNvPr id="17"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11426715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EYInterstate" panose="02000503020000020004" pitchFamily="2" charset="0"/>
              </a:rPr>
              <a:t>User management and audit track</a:t>
            </a:r>
            <a:endParaRPr lang="en-GB" dirty="0">
              <a:latin typeface="EYInterstate" panose="02000503020000020004" pitchFamily="2" charset="0"/>
            </a:endParaRPr>
          </a:p>
        </p:txBody>
      </p:sp>
      <p:pic>
        <p:nvPicPr>
          <p:cNvPr id="17"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407" r="16626"/>
          <a:stretch/>
        </p:blipFill>
        <p:spPr bwMode="auto">
          <a:xfrm>
            <a:off x="3408796" y="2638884"/>
            <a:ext cx="5278004" cy="2955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Abgerundetes Rechteck 24"/>
          <p:cNvSpPr/>
          <p:nvPr/>
        </p:nvSpPr>
        <p:spPr bwMode="gray">
          <a:xfrm>
            <a:off x="457200" y="1026000"/>
            <a:ext cx="2729345" cy="4568096"/>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anchor="t"/>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User management</a:t>
            </a:r>
          </a:p>
          <a:p>
            <a:pPr defTabSz="912524">
              <a:buClr>
                <a:srgbClr val="FFD200"/>
              </a:buClr>
              <a:buSzPct val="70000"/>
            </a:pPr>
            <a:r>
              <a:rPr lang="en-US" sz="1200" dirty="0" smtClean="0">
                <a:solidFill>
                  <a:srgbClr val="646464"/>
                </a:solidFill>
                <a:latin typeface="EYInterstate Light" panose="02000506000000020004" pitchFamily="2" charset="0"/>
                <a:cs typeface="Arial" charset="0"/>
              </a:rPr>
              <a:t>LIC Solution® supports Active Directory authentication of users. It enables seamless single-sign-on user experience.</a:t>
            </a:r>
          </a:p>
          <a:p>
            <a:pPr defTabSz="912524">
              <a:buClr>
                <a:srgbClr val="FFD200"/>
              </a:buClr>
              <a:buSzPct val="70000"/>
            </a:pPr>
            <a:endParaRPr lang="en-US" sz="1200" dirty="0" smtClean="0">
              <a:solidFill>
                <a:srgbClr val="646464"/>
              </a:solidFill>
              <a:latin typeface="EYInterstate Light" panose="02000506000000020004" pitchFamily="2" charset="0"/>
              <a:cs typeface="Arial" charset="0"/>
            </a:endParaRPr>
          </a:p>
          <a:p>
            <a:pPr defTabSz="912524">
              <a:buClr>
                <a:srgbClr val="FFD200"/>
              </a:buClr>
              <a:buSzPct val="70000"/>
            </a:pPr>
            <a:r>
              <a:rPr lang="en-US" sz="1200" dirty="0" smtClean="0">
                <a:solidFill>
                  <a:srgbClr val="646464"/>
                </a:solidFill>
                <a:latin typeface="EYInterstate Light" panose="02000506000000020004" pitchFamily="2" charset="0"/>
                <a:cs typeface="Arial" charset="0"/>
              </a:rPr>
              <a:t>Application roles can be managed and defined directly through user interface. Application roles are granted to Active Directory Groups using the same user interface.</a:t>
            </a:r>
          </a:p>
          <a:p>
            <a:pPr defTabSz="912524">
              <a:buClr>
                <a:srgbClr val="FFD200"/>
              </a:buClr>
              <a:buSzPct val="70000"/>
            </a:pPr>
            <a:endParaRPr lang="en-US" sz="1200" dirty="0" smtClean="0">
              <a:solidFill>
                <a:srgbClr val="646464"/>
              </a:solidFill>
              <a:latin typeface="EYInterstate Light" panose="02000506000000020004" pitchFamily="2" charset="0"/>
              <a:cs typeface="Arial" charset="0"/>
            </a:endParaRPr>
          </a:p>
          <a:p>
            <a:pPr defTabSz="912524">
              <a:buClr>
                <a:srgbClr val="FFD200"/>
              </a:buClr>
              <a:buSzPct val="70000"/>
            </a:pPr>
            <a:r>
              <a:rPr lang="en-US" sz="1200" dirty="0" smtClean="0">
                <a:solidFill>
                  <a:srgbClr val="646464"/>
                </a:solidFill>
                <a:latin typeface="EYInterstate Light" panose="02000506000000020004" pitchFamily="2" charset="0"/>
                <a:cs typeface="Arial" charset="0"/>
              </a:rPr>
              <a:t>Users’ membership in Active Directory Groups can be managed centrally via Institution’s Identity and Access Management tools. </a:t>
            </a:r>
          </a:p>
          <a:p>
            <a:pPr defTabSz="912524">
              <a:buClr>
                <a:srgbClr val="FFD200"/>
              </a:buClr>
              <a:buSzPct val="70000"/>
            </a:pPr>
            <a:endParaRPr lang="en-US" sz="1200" dirty="0" smtClean="0">
              <a:solidFill>
                <a:srgbClr val="646464"/>
              </a:solidFill>
              <a:latin typeface="EYInterstate Light" panose="02000506000000020004" pitchFamily="2" charset="0"/>
              <a:cs typeface="Arial" charset="0"/>
            </a:endParaRPr>
          </a:p>
          <a:p>
            <a:pPr defTabSz="912524">
              <a:buClr>
                <a:srgbClr val="FFD200"/>
              </a:buClr>
              <a:buSzPct val="70000"/>
            </a:pPr>
            <a:r>
              <a:rPr lang="en-US" sz="1200" dirty="0" smtClean="0">
                <a:solidFill>
                  <a:srgbClr val="646464"/>
                </a:solidFill>
                <a:latin typeface="EYInterstate Light" panose="02000506000000020004" pitchFamily="2" charset="0"/>
                <a:cs typeface="Arial" charset="0"/>
              </a:rPr>
              <a:t>Permissions for particular role are set by selecting them from the list of atomic permissions (e.g. view permission for a page, data modification permission, etc.).</a:t>
            </a:r>
            <a:endParaRPr lang="en-US" sz="1200" dirty="0" smtClean="0">
              <a:solidFill>
                <a:schemeClr val="bg1"/>
              </a:solidFill>
              <a:latin typeface="EYInterstate Light" panose="02000506000000020004" pitchFamily="2" charset="0"/>
            </a:endParaRPr>
          </a:p>
          <a:p>
            <a:pPr defTabSz="801688" eaLnBrk="0" hangingPunct="0">
              <a:lnSpc>
                <a:spcPct val="95000"/>
              </a:lnSpc>
              <a:spcAft>
                <a:spcPts val="800"/>
              </a:spcAft>
              <a:buClr>
                <a:srgbClr val="969696"/>
              </a:buClr>
              <a:defRPr/>
            </a:pPr>
            <a:endParaRPr lang="en-US" sz="1200" dirty="0" smtClean="0">
              <a:solidFill>
                <a:srgbClr val="646464"/>
              </a:solidFill>
              <a:latin typeface="EYInterstate Light" panose="02000506000000020004" pitchFamily="2" charset="0"/>
              <a:cs typeface="Arial" charset="0"/>
            </a:endParaRPr>
          </a:p>
        </p:txBody>
      </p:sp>
      <p:sp>
        <p:nvSpPr>
          <p:cNvPr id="19" name="Abgerundetes Rechteck 24"/>
          <p:cNvSpPr/>
          <p:nvPr/>
        </p:nvSpPr>
        <p:spPr bwMode="gray">
          <a:xfrm>
            <a:off x="3408797" y="1026000"/>
            <a:ext cx="5278004" cy="1423585"/>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80000" tIns="72000" rIns="108000" bIns="72000" anchor="t"/>
          <a:lstStyle/>
          <a:p>
            <a:pPr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Audit track</a:t>
            </a:r>
            <a:endParaRPr lang="en-US" b="1" dirty="0">
              <a:solidFill>
                <a:srgbClr val="646464"/>
              </a:solidFill>
              <a:latin typeface="EYInterstate" panose="02000503020000020004" pitchFamily="2" charset="0"/>
              <a:cs typeface="Arial"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anose="02000506000000020004" pitchFamily="2" charset="0"/>
                <a:cs typeface="Arial" charset="0"/>
              </a:rPr>
              <a:t>General auditing functionality – tracking all user and administrator actions in the solution, logging calculation steps, entries/exits </a:t>
            </a:r>
            <a:endParaRPr lang="en-US" sz="1200" dirty="0">
              <a:solidFill>
                <a:srgbClr val="646464"/>
              </a:solidFill>
              <a:latin typeface="EYInterstate Light" panose="02000506000000020004" pitchFamily="2" charset="0"/>
              <a:cs typeface="Arial" charset="0"/>
            </a:endParaRPr>
          </a:p>
          <a:p>
            <a:pPr marL="272489" indent="-272489" defTabSz="912524">
              <a:buClr>
                <a:srgbClr val="FFD200"/>
              </a:buClr>
              <a:buSzPct val="70000"/>
              <a:buFont typeface="Arial" panose="020B0604020202020204" pitchFamily="34" charset="0"/>
              <a:buChar char="►"/>
            </a:pPr>
            <a:r>
              <a:rPr lang="en-US" sz="1200" dirty="0" smtClean="0">
                <a:solidFill>
                  <a:srgbClr val="646464"/>
                </a:solidFill>
                <a:latin typeface="EYInterstate Light" panose="02000506000000020004" pitchFamily="2" charset="0"/>
                <a:cs typeface="Arial" charset="0"/>
              </a:rPr>
              <a:t>Audit reports – visualize/look up the data</a:t>
            </a:r>
          </a:p>
        </p:txBody>
      </p:sp>
      <p:sp>
        <p:nvSpPr>
          <p:cNvPr id="6"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9649310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6000"/>
            <a:ext cx="8229600" cy="4988562"/>
          </a:xfrm>
        </p:spPr>
        <p:txBody>
          <a:bodyPr/>
          <a:lstStyle/>
          <a:p>
            <a:pPr marL="0" indent="0" algn="just">
              <a:buNone/>
            </a:pPr>
            <a:r>
              <a:rPr lang="en-US" sz="1200" dirty="0" smtClean="0">
                <a:latin typeface="EYInterstate Light" panose="02000506000000020004" pitchFamily="2" charset="0"/>
              </a:rPr>
              <a:t>LIC Solution® has been specially designed to provide flexible configuration of calculation runs. Examples of extended variability features in calculation phases include: </a:t>
            </a:r>
          </a:p>
          <a:p>
            <a:pPr marL="0" indent="0">
              <a:buNone/>
            </a:pPr>
            <a:endParaRPr lang="en-US" sz="1800" dirty="0" smtClean="0">
              <a:latin typeface="EYInterstate" panose="02000503020000020004" pitchFamily="2" charset="0"/>
            </a:endParaRPr>
          </a:p>
          <a:p>
            <a:pPr marL="0" indent="0">
              <a:buNone/>
            </a:pPr>
            <a:endParaRPr lang="en-US" sz="1400" dirty="0" smtClean="0">
              <a:latin typeface="EYInterstate" panose="02000503020000020004" pitchFamily="2" charset="0"/>
            </a:endParaRPr>
          </a:p>
          <a:p>
            <a:pPr marL="0" indent="0">
              <a:buNone/>
            </a:pPr>
            <a:endParaRPr lang="en-US" sz="1800" dirty="0" smtClean="0">
              <a:latin typeface="EYInterstate" panose="02000503020000020004" pitchFamily="2" charset="0"/>
            </a:endParaRPr>
          </a:p>
          <a:p>
            <a:pPr marL="0" indent="0">
              <a:buNone/>
            </a:pPr>
            <a:endParaRPr lang="en-US" sz="1800" dirty="0" smtClean="0">
              <a:latin typeface="EYInterstate" panose="02000503020000020004" pitchFamily="2" charset="0"/>
            </a:endParaRPr>
          </a:p>
          <a:p>
            <a:pPr marL="0" indent="0">
              <a:buNone/>
            </a:pPr>
            <a:endParaRPr lang="en-US" sz="1800" dirty="0" smtClean="0">
              <a:latin typeface="EYInterstate" panose="02000503020000020004" pitchFamily="2" charset="0"/>
            </a:endParaRPr>
          </a:p>
          <a:p>
            <a:pPr marL="0" indent="0">
              <a:buNone/>
            </a:pPr>
            <a:endParaRPr lang="en-US" sz="1800" dirty="0">
              <a:latin typeface="EYInterstate" panose="02000503020000020004" pitchFamily="2" charset="0"/>
            </a:endParaRPr>
          </a:p>
        </p:txBody>
      </p:sp>
      <p:sp>
        <p:nvSpPr>
          <p:cNvPr id="2" name="Title 1"/>
          <p:cNvSpPr>
            <a:spLocks noGrp="1"/>
          </p:cNvSpPr>
          <p:nvPr>
            <p:ph type="title"/>
          </p:nvPr>
        </p:nvSpPr>
        <p:spPr>
          <a:xfrm>
            <a:off x="457200" y="274638"/>
            <a:ext cx="8229600" cy="860400"/>
          </a:xfrm>
        </p:spPr>
        <p:txBody>
          <a:bodyPr/>
          <a:lstStyle/>
          <a:p>
            <a:r>
              <a:rPr lang="en-US" dirty="0" smtClean="0">
                <a:latin typeface="EYInterstate" panose="02000503020000020004" pitchFamily="2" charset="0"/>
              </a:rPr>
              <a:t>Variability in calculation run configuration</a:t>
            </a:r>
            <a:endParaRPr lang="en-US" dirty="0">
              <a:latin typeface="EYInterstate" panose="02000503020000020004" pitchFamily="2" charset="0"/>
            </a:endParaRPr>
          </a:p>
        </p:txBody>
      </p:sp>
      <p:sp>
        <p:nvSpPr>
          <p:cNvPr id="4" name="Footer Placeholder 3"/>
          <p:cNvSpPr>
            <a:spLocks noGrp="1"/>
          </p:cNvSpPr>
          <p:nvPr>
            <p:ph type="ftr" sz="quarter" idx="11"/>
          </p:nvPr>
        </p:nvSpPr>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
        <p:nvSpPr>
          <p:cNvPr id="10" name="Rectangle 9"/>
          <p:cNvSpPr/>
          <p:nvPr/>
        </p:nvSpPr>
        <p:spPr bwMode="gray">
          <a:xfrm>
            <a:off x="790860" y="1652787"/>
            <a:ext cx="1750289" cy="615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lstStyle/>
          <a:p>
            <a:pPr algn="ctr" defTabSz="912524"/>
            <a:r>
              <a:rPr lang="en-US" sz="1400" b="1" dirty="0" smtClean="0">
                <a:solidFill>
                  <a:srgbClr val="FFFFFF"/>
                </a:solidFill>
                <a:latin typeface="EYInterstate Light" panose="02000506000000020004" pitchFamily="2" charset="0"/>
              </a:rPr>
              <a:t>Segmentation and Staging</a:t>
            </a:r>
          </a:p>
        </p:txBody>
      </p:sp>
      <p:sp>
        <p:nvSpPr>
          <p:cNvPr id="11" name="Rectangle 10"/>
          <p:cNvSpPr/>
          <p:nvPr/>
        </p:nvSpPr>
        <p:spPr bwMode="gray">
          <a:xfrm>
            <a:off x="790863" y="2505165"/>
            <a:ext cx="1750290" cy="615137"/>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lstStyle/>
          <a:p>
            <a:pPr algn="ctr" defTabSz="912524"/>
            <a:r>
              <a:rPr lang="en-US" sz="1400" b="1" dirty="0" smtClean="0">
                <a:solidFill>
                  <a:srgbClr val="FFFFFF"/>
                </a:solidFill>
                <a:latin typeface="EYInterstate Light" panose="02000506000000020004" pitchFamily="2" charset="0"/>
              </a:rPr>
              <a:t>Individual Assessment</a:t>
            </a:r>
          </a:p>
        </p:txBody>
      </p:sp>
      <p:sp>
        <p:nvSpPr>
          <p:cNvPr id="12" name="Rectangle 11"/>
          <p:cNvSpPr/>
          <p:nvPr/>
        </p:nvSpPr>
        <p:spPr bwMode="gray">
          <a:xfrm>
            <a:off x="790841" y="3345631"/>
            <a:ext cx="1750291" cy="615600"/>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lstStyle/>
          <a:p>
            <a:pPr algn="ctr" defTabSz="912524"/>
            <a:r>
              <a:rPr lang="en-US" sz="1400" b="1" dirty="0" smtClean="0">
                <a:solidFill>
                  <a:srgbClr val="FFFFFF"/>
                </a:solidFill>
                <a:latin typeface="EYInterstate Light" panose="02000506000000020004" pitchFamily="2" charset="0"/>
              </a:rPr>
              <a:t>Impairment</a:t>
            </a:r>
            <a:endParaRPr lang="en-US" sz="1400" b="1" dirty="0">
              <a:solidFill>
                <a:srgbClr val="FFFFFF"/>
              </a:solidFill>
              <a:latin typeface="EYInterstate Light" panose="02000506000000020004" pitchFamily="2" charset="0"/>
            </a:endParaRPr>
          </a:p>
        </p:txBody>
      </p:sp>
      <p:sp>
        <p:nvSpPr>
          <p:cNvPr id="13" name="Rectangle 12"/>
          <p:cNvSpPr/>
          <p:nvPr/>
        </p:nvSpPr>
        <p:spPr bwMode="gray">
          <a:xfrm>
            <a:off x="790863" y="5049753"/>
            <a:ext cx="1750294" cy="615600"/>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lstStyle/>
          <a:p>
            <a:pPr algn="ctr" defTabSz="912524"/>
            <a:r>
              <a:rPr lang="en-US" sz="1400" b="1" dirty="0" smtClean="0">
                <a:solidFill>
                  <a:srgbClr val="FFFFFF"/>
                </a:solidFill>
                <a:latin typeface="EYInterstate Light" panose="02000506000000020004" pitchFamily="2" charset="0"/>
              </a:rPr>
              <a:t>Sensitivity Analysis</a:t>
            </a:r>
          </a:p>
        </p:txBody>
      </p:sp>
      <p:sp>
        <p:nvSpPr>
          <p:cNvPr id="14" name="Rectangle 13"/>
          <p:cNvSpPr/>
          <p:nvPr/>
        </p:nvSpPr>
        <p:spPr bwMode="gray">
          <a:xfrm>
            <a:off x="2541134" y="1659301"/>
            <a:ext cx="5805054" cy="616669"/>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nchorCtr="0"/>
          <a:lstStyle/>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IFRS 9 staging criteria configuration</a:t>
            </a:r>
            <a:endParaRPr lang="en-US" sz="1200" dirty="0" smtClean="0">
              <a:solidFill>
                <a:schemeClr val="tx1"/>
              </a:solidFill>
              <a:latin typeface="EYInterstate Light" panose="02000506000000020004" pitchFamily="2" charset="0"/>
            </a:endParaRPr>
          </a:p>
        </p:txBody>
      </p:sp>
      <p:sp>
        <p:nvSpPr>
          <p:cNvPr id="15" name="Rectangle 14"/>
          <p:cNvSpPr/>
          <p:nvPr/>
        </p:nvSpPr>
        <p:spPr bwMode="gray">
          <a:xfrm>
            <a:off x="2541149" y="2505165"/>
            <a:ext cx="5805055" cy="62349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nchorCtr="0"/>
          <a:lstStyle/>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Configuration of automatic selection criteria for Individual Assessment</a:t>
            </a:r>
          </a:p>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Definition of work flow (roles &amp; rules) in Individual Assessment, e.g. Inputter, Approver, etc.</a:t>
            </a:r>
            <a:endParaRPr lang="en-US" sz="1200" dirty="0" smtClean="0">
              <a:solidFill>
                <a:schemeClr val="tx1"/>
              </a:solidFill>
              <a:latin typeface="EYInterstate Light" panose="02000506000000020004" pitchFamily="2" charset="0"/>
            </a:endParaRPr>
          </a:p>
        </p:txBody>
      </p:sp>
      <p:sp>
        <p:nvSpPr>
          <p:cNvPr id="16" name="Rectangle 15"/>
          <p:cNvSpPr/>
          <p:nvPr/>
        </p:nvSpPr>
        <p:spPr bwMode="gray">
          <a:xfrm>
            <a:off x="2541142" y="3345631"/>
            <a:ext cx="5805057" cy="62385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nchorCtr="0"/>
          <a:lstStyle/>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Collective assessment method selection on portfolio level</a:t>
            </a:r>
          </a:p>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Risk parameters definition, e.g. PD, LGD, EAD (internal or external model, or edited values)</a:t>
            </a:r>
            <a:endParaRPr lang="en-US" sz="1200" dirty="0" smtClean="0">
              <a:solidFill>
                <a:srgbClr val="646464"/>
              </a:solidFill>
              <a:latin typeface="EYInterstate Light" panose="02000506000000020004" pitchFamily="2" charset="0"/>
            </a:endParaRPr>
          </a:p>
        </p:txBody>
      </p:sp>
      <p:sp>
        <p:nvSpPr>
          <p:cNvPr id="17" name="Rectangle 16"/>
          <p:cNvSpPr/>
          <p:nvPr/>
        </p:nvSpPr>
        <p:spPr bwMode="gray">
          <a:xfrm>
            <a:off x="2541157" y="5049753"/>
            <a:ext cx="5805055" cy="62385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nchorCtr="0"/>
          <a:lstStyle/>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Performing multiple calculation runs with different parameter configuration supports sensitivity analysis required by IFRS 9</a:t>
            </a:r>
            <a:endParaRPr lang="en-US" sz="1200" dirty="0" smtClean="0">
              <a:solidFill>
                <a:schemeClr val="tx1"/>
              </a:solidFill>
              <a:latin typeface="EYInterstate Light" panose="02000506000000020004" pitchFamily="2" charset="0"/>
            </a:endParaRPr>
          </a:p>
        </p:txBody>
      </p:sp>
      <p:sp>
        <p:nvSpPr>
          <p:cNvPr id="20" name="Rectangle 19"/>
          <p:cNvSpPr/>
          <p:nvPr/>
        </p:nvSpPr>
        <p:spPr bwMode="gray">
          <a:xfrm>
            <a:off x="790855" y="4193563"/>
            <a:ext cx="1750294" cy="615600"/>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lstStyle/>
          <a:p>
            <a:pPr algn="ctr" defTabSz="912524"/>
            <a:r>
              <a:rPr lang="en-US" sz="1400" b="1" dirty="0" smtClean="0">
                <a:solidFill>
                  <a:srgbClr val="FFFFFF"/>
                </a:solidFill>
                <a:latin typeface="EYInterstate Light" panose="02000506000000020004" pitchFamily="2" charset="0"/>
              </a:rPr>
              <a:t>Special classes of assets</a:t>
            </a:r>
            <a:endParaRPr lang="en-US" sz="1400" b="1" dirty="0">
              <a:solidFill>
                <a:srgbClr val="FFFFFF"/>
              </a:solidFill>
              <a:latin typeface="EYInterstate Light" panose="02000506000000020004" pitchFamily="2" charset="0"/>
            </a:endParaRPr>
          </a:p>
        </p:txBody>
      </p:sp>
      <p:sp>
        <p:nvSpPr>
          <p:cNvPr id="21" name="Rectangle 20"/>
          <p:cNvSpPr/>
          <p:nvPr/>
        </p:nvSpPr>
        <p:spPr bwMode="gray">
          <a:xfrm>
            <a:off x="2541131" y="4193563"/>
            <a:ext cx="5805055" cy="62385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853" tIns="71853" rIns="71853" bIns="71853" rtlCol="0" anchor="ctr" anchorCtr="0"/>
          <a:lstStyle/>
          <a:p>
            <a:pPr marL="272489" indent="-272489" defTabSz="912524">
              <a:buClr>
                <a:srgbClr val="FFD200"/>
              </a:buClr>
              <a:buSzPct val="70000"/>
              <a:buFont typeface="Arial" panose="020B0604020202020204" pitchFamily="34" charset="0"/>
              <a:buChar char="►"/>
            </a:pPr>
            <a:r>
              <a:rPr lang="en-US" sz="1200" dirty="0" smtClean="0">
                <a:latin typeface="EYInterstate Light" pitchFamily="2" charset="0"/>
              </a:rPr>
              <a:t>Special approaches to impairment calculation for Purchased or Originated Credit-Impaired (POCI) assets and Renewable Credit Facilities, simplified Loss Rate approach used for receivables</a:t>
            </a:r>
            <a:endParaRPr lang="en-US" sz="1200" dirty="0" smtClean="0">
              <a:solidFill>
                <a:schemeClr val="tx1"/>
              </a:solidFill>
              <a:latin typeface="EYInterstate Light" panose="02000506000000020004" pitchFamily="2" charset="0"/>
            </a:endParaRPr>
          </a:p>
        </p:txBody>
      </p:sp>
    </p:spTree>
    <p:extLst>
      <p:ext uri="{BB962C8B-B14F-4D97-AF65-F5344CB8AC3E}">
        <p14:creationId xmlns:p14="http://schemas.microsoft.com/office/powerpoint/2010/main" val="5817579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txBox="1">
            <a:spLocks/>
          </p:cNvSpPr>
          <p:nvPr/>
        </p:nvSpPr>
        <p:spPr>
          <a:xfrm>
            <a:off x="457200" y="1135038"/>
            <a:ext cx="8229600" cy="4988562"/>
          </a:xfrm>
          <a:prstGeom prst="rect">
            <a:avLst/>
          </a:prstGeom>
        </p:spPr>
        <p:txBody>
          <a:bodyPr lIns="0" tIns="0" rIns="0" bIns="0"/>
          <a:lstStyle>
            <a:lvl1pPr marL="0" indent="0" algn="l" defTabSz="914400" rtl="0" eaLnBrk="1" latinLnBrk="0" hangingPunct="1">
              <a:spcBef>
                <a:spcPct val="20000"/>
              </a:spcBef>
              <a:buClr>
                <a:schemeClr val="accent2"/>
              </a:buClr>
              <a:buSzPct val="70000"/>
              <a:buFont typeface="Arial" pitchFamily="34" charset="0"/>
              <a:buNone/>
              <a:defRPr sz="2400" kern="1200">
                <a:solidFill>
                  <a:schemeClr val="bg1"/>
                </a:solidFill>
                <a:latin typeface="+mn-lt"/>
                <a:ea typeface="+mn-ea"/>
                <a:cs typeface="+mn-cs"/>
              </a:defRPr>
            </a:lvl1pPr>
            <a:lvl2pPr marL="360363" indent="-36036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720725" indent="-36036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081088" indent="-36036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431925" indent="-350838"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1200" dirty="0" smtClean="0">
                <a:latin typeface="EYInterstate Light" panose="02000506000000020004" pitchFamily="2" charset="0"/>
              </a:rPr>
              <a:t>Future cash flows in the Individual Assessment can be modeled very flexibly, taking the advantage of additional layers of variability for each such Individual Assessment exercise:</a:t>
            </a:r>
          </a:p>
          <a:p>
            <a:endParaRPr lang="en-US" sz="1800" dirty="0" smtClean="0">
              <a:latin typeface="EYInterstate" panose="02000503020000020004" pitchFamily="2" charset="0"/>
            </a:endParaRPr>
          </a:p>
          <a:p>
            <a:endParaRPr lang="en-US" sz="1800" dirty="0" smtClean="0">
              <a:latin typeface="EYInterstate" panose="02000503020000020004" pitchFamily="2" charset="0"/>
            </a:endParaRPr>
          </a:p>
          <a:p>
            <a:endParaRPr lang="en-US" sz="1800" dirty="0" smtClean="0">
              <a:latin typeface="EYInterstate" panose="02000503020000020004" pitchFamily="2" charset="0"/>
            </a:endParaRPr>
          </a:p>
        </p:txBody>
      </p:sp>
      <p:sp>
        <p:nvSpPr>
          <p:cNvPr id="5" name="Abgerundetes Rechteck 35"/>
          <p:cNvSpPr/>
          <p:nvPr/>
        </p:nvSpPr>
        <p:spPr bwMode="gray">
          <a:xfrm>
            <a:off x="1162978" y="1834539"/>
            <a:ext cx="7416000" cy="1539438"/>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080000" tIns="72000" rIns="108000" bIns="468000" anchor="ctr"/>
          <a:lstStyle/>
          <a:p>
            <a:pPr indent="-190500"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Scenarios</a:t>
            </a:r>
          </a:p>
          <a:p>
            <a:pPr marL="285750" indent="-285750">
              <a:buFont typeface="Wingdings" pitchFamily="2" charset="2"/>
              <a:buChar char="§"/>
            </a:pPr>
            <a:r>
              <a:rPr lang="en-US" sz="1200" dirty="0" smtClean="0">
                <a:latin typeface="EYInterstate Light" pitchFamily="2" charset="0"/>
              </a:rPr>
              <a:t>Definition of multiple (N) scenarios for each relevant recovery strategy</a:t>
            </a:r>
          </a:p>
          <a:p>
            <a:pPr marL="285750" indent="-285750">
              <a:buFont typeface="Wingdings" pitchFamily="2" charset="2"/>
              <a:buChar char="§"/>
            </a:pPr>
            <a:r>
              <a:rPr lang="en-US" sz="1200" dirty="0" smtClean="0">
                <a:latin typeface="EYInterstate Light" pitchFamily="2" charset="0"/>
              </a:rPr>
              <a:t>Assignment of probability weight to each such scenario</a:t>
            </a:r>
          </a:p>
          <a:p>
            <a:pPr marL="285750" indent="-285750">
              <a:buFont typeface="Wingdings" pitchFamily="2" charset="2"/>
              <a:buChar char="§"/>
            </a:pPr>
            <a:r>
              <a:rPr lang="en-US" sz="1200" dirty="0" smtClean="0">
                <a:latin typeface="EYInterstate Light" pitchFamily="2" charset="0"/>
              </a:rPr>
              <a:t>As an illustrative example, we can consider N=2 scenarios e.g.:</a:t>
            </a:r>
            <a:endParaRPr lang="en-US" sz="1200" dirty="0">
              <a:latin typeface="EYInterstate Light" pitchFamily="2" charset="0"/>
            </a:endParaRPr>
          </a:p>
        </p:txBody>
      </p:sp>
      <p:sp>
        <p:nvSpPr>
          <p:cNvPr id="28" name="Ellipse 33"/>
          <p:cNvSpPr/>
          <p:nvPr/>
        </p:nvSpPr>
        <p:spPr bwMode="gray">
          <a:xfrm>
            <a:off x="536174" y="1941080"/>
            <a:ext cx="1308936" cy="1308936"/>
          </a:xfrm>
          <a:prstGeom prst="ellipse">
            <a:avLst/>
          </a:prstGeom>
          <a:solidFill>
            <a:srgbClr val="80808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r>
              <a:rPr lang="en-US" sz="6600" b="1" dirty="0" smtClean="0">
                <a:solidFill>
                  <a:srgbClr val="FFFFFF"/>
                </a:solidFill>
                <a:latin typeface="EYInterstate" panose="02000503020000020004" pitchFamily="2" charset="0"/>
              </a:rPr>
              <a:t>1</a:t>
            </a:r>
          </a:p>
        </p:txBody>
      </p:sp>
      <p:sp>
        <p:nvSpPr>
          <p:cNvPr id="2" name="Title 1"/>
          <p:cNvSpPr>
            <a:spLocks noGrp="1"/>
          </p:cNvSpPr>
          <p:nvPr>
            <p:ph type="title"/>
          </p:nvPr>
        </p:nvSpPr>
        <p:spPr>
          <a:xfrm>
            <a:off x="457200" y="266249"/>
            <a:ext cx="8229600" cy="860400"/>
          </a:xfrm>
        </p:spPr>
        <p:txBody>
          <a:bodyPr/>
          <a:lstStyle/>
          <a:p>
            <a:r>
              <a:rPr lang="en-US" dirty="0" smtClean="0">
                <a:latin typeface="EYInterstate" panose="02000503020000020004" pitchFamily="2" charset="0"/>
              </a:rPr>
              <a:t>Variability in Individual Assessment</a:t>
            </a:r>
            <a:endParaRPr lang="en-US" dirty="0"/>
          </a:p>
        </p:txBody>
      </p:sp>
      <p:sp>
        <p:nvSpPr>
          <p:cNvPr id="4" name="Text Placeholder 2"/>
          <p:cNvSpPr txBox="1">
            <a:spLocks/>
          </p:cNvSpPr>
          <p:nvPr/>
        </p:nvSpPr>
        <p:spPr>
          <a:xfrm>
            <a:off x="457200" y="620688"/>
            <a:ext cx="8229600" cy="442800"/>
          </a:xfrm>
          <a:prstGeom prst="rect">
            <a:avLst/>
          </a:prstGeom>
        </p:spPr>
        <p:txBody>
          <a:bodyPr vert="horz" wrap="square" lIns="0" tIns="0" rIns="0" bIns="0" anchor="t"/>
          <a:lstStyle>
            <a:lvl1pPr marL="0" indent="0" algn="l" defTabSz="914400" rtl="0" eaLnBrk="1" latinLnBrk="0" hangingPunct="1">
              <a:spcBef>
                <a:spcPct val="20000"/>
              </a:spcBef>
              <a:buClr>
                <a:schemeClr val="accent2"/>
              </a:buClr>
              <a:buSzPct val="70000"/>
              <a:buFont typeface="Arial" pitchFamily="34" charset="0"/>
              <a:buNone/>
              <a:defRPr sz="2400" kern="1200">
                <a:solidFill>
                  <a:schemeClr val="bg1"/>
                </a:solidFill>
                <a:latin typeface="+mn-lt"/>
                <a:ea typeface="+mn-ea"/>
                <a:cs typeface="+mn-cs"/>
              </a:defRPr>
            </a:lvl1pPr>
            <a:lvl2pPr marL="360363" indent="-36036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720725" indent="-36036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081088" indent="-36036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431925" indent="-350838"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ct val="0"/>
              </a:spcAft>
            </a:pPr>
            <a:endParaRPr lang="en-US" sz="2200" dirty="0">
              <a:solidFill>
                <a:srgbClr val="646464"/>
              </a:solidFill>
              <a:latin typeface="Arial" panose="020B0604020202020204" pitchFamily="34" charset="0"/>
            </a:endParaRPr>
          </a:p>
        </p:txBody>
      </p:sp>
      <p:sp>
        <p:nvSpPr>
          <p:cNvPr id="8" name="Abgerundetes Rechteck 35"/>
          <p:cNvSpPr/>
          <p:nvPr/>
        </p:nvSpPr>
        <p:spPr bwMode="gray">
          <a:xfrm>
            <a:off x="1162978" y="3924506"/>
            <a:ext cx="7416000" cy="1530004"/>
          </a:xfrm>
          <a:prstGeom prst="rect">
            <a:avLst/>
          </a:prstGeom>
          <a:solidFill>
            <a:srgbClr val="F0F0F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1080000" tIns="72000" rIns="108000" bIns="468000" anchor="ctr"/>
          <a:lstStyle/>
          <a:p>
            <a:pPr indent="-190500" defTabSz="801688" eaLnBrk="0" hangingPunct="0">
              <a:lnSpc>
                <a:spcPct val="95000"/>
              </a:lnSpc>
              <a:spcAft>
                <a:spcPts val="800"/>
              </a:spcAft>
              <a:buClr>
                <a:srgbClr val="969696"/>
              </a:buClr>
              <a:defRPr/>
            </a:pPr>
            <a:r>
              <a:rPr lang="en-US" b="1" dirty="0" smtClean="0">
                <a:solidFill>
                  <a:srgbClr val="646464"/>
                </a:solidFill>
                <a:latin typeface="EYInterstate" panose="02000503020000020004" pitchFamily="2" charset="0"/>
                <a:cs typeface="Arial" charset="0"/>
              </a:rPr>
              <a:t>Different objects for which cash flows can be modeled</a:t>
            </a:r>
          </a:p>
          <a:p>
            <a:pPr marL="285750" indent="-285750">
              <a:buFont typeface="Wingdings" pitchFamily="2" charset="2"/>
              <a:buChar char="§"/>
            </a:pPr>
            <a:r>
              <a:rPr lang="en-US" sz="1200" dirty="0" smtClean="0">
                <a:latin typeface="EYInterstate Light" pitchFamily="2" charset="0"/>
              </a:rPr>
              <a:t>Three possible main object types for future cash flow analytical modeling - on the level of account, collateral and entire client</a:t>
            </a:r>
            <a:endParaRPr lang="en-US" sz="1200" dirty="0">
              <a:solidFill>
                <a:srgbClr val="646464"/>
              </a:solidFill>
              <a:latin typeface="Arial" panose="020B0604020202020204" pitchFamily="34" charset="0"/>
              <a:cs typeface="Arial"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1760987994"/>
              </p:ext>
            </p:extLst>
          </p:nvPr>
        </p:nvGraphicFramePr>
        <p:xfrm>
          <a:off x="2479819" y="2947371"/>
          <a:ext cx="5364108" cy="287253"/>
        </p:xfrm>
        <a:graphic>
          <a:graphicData uri="http://schemas.openxmlformats.org/drawingml/2006/table">
            <a:tbl>
              <a:tblPr firstRow="1" bandRow="1">
                <a:tableStyleId>{21E4AEA4-8DFA-4A89-87EB-49C32662AFE0}</a:tableStyleId>
              </a:tblPr>
              <a:tblGrid>
                <a:gridCol w="2682054"/>
                <a:gridCol w="2682054"/>
              </a:tblGrid>
              <a:tr h="287253">
                <a:tc>
                  <a:txBody>
                    <a:bodyPr/>
                    <a:lstStyle/>
                    <a:p>
                      <a:pPr algn="ctr"/>
                      <a:r>
                        <a:rPr lang="cs-CZ" sz="1200" dirty="0" smtClean="0">
                          <a:latin typeface="EYInterstate" panose="02000503020000020004" pitchFamily="2" charset="0"/>
                        </a:rPr>
                        <a:t>GONE</a:t>
                      </a:r>
                      <a:r>
                        <a:rPr lang="en-US" sz="1200" dirty="0" smtClean="0">
                          <a:latin typeface="EYInterstate" panose="02000503020000020004" pitchFamily="2" charset="0"/>
                        </a:rPr>
                        <a:t> (85%)</a:t>
                      </a:r>
                      <a:endParaRPr lang="cs-CZ" sz="1200" dirty="0">
                        <a:latin typeface="EYInterstate" panose="0200050302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sz="1200" dirty="0" smtClean="0">
                          <a:latin typeface="EYInterstate" panose="02000503020000020004" pitchFamily="2" charset="0"/>
                        </a:rPr>
                        <a:t>GOING</a:t>
                      </a:r>
                      <a:r>
                        <a:rPr lang="en-US" sz="1200" dirty="0" smtClean="0">
                          <a:latin typeface="EYInterstate" panose="02000503020000020004" pitchFamily="2" charset="0"/>
                        </a:rPr>
                        <a:t> (15%)</a:t>
                      </a:r>
                      <a:endParaRPr lang="cs-CZ" sz="1200" dirty="0">
                        <a:latin typeface="EYInterstate" panose="0200050302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4041932977"/>
              </p:ext>
            </p:extLst>
          </p:nvPr>
        </p:nvGraphicFramePr>
        <p:xfrm>
          <a:off x="2479819" y="4974895"/>
          <a:ext cx="5364108" cy="274320"/>
        </p:xfrm>
        <a:graphic>
          <a:graphicData uri="http://schemas.openxmlformats.org/drawingml/2006/table">
            <a:tbl>
              <a:tblPr firstRow="1" bandRow="1">
                <a:tableStyleId>{21E4AEA4-8DFA-4A89-87EB-49C32662AFE0}</a:tableStyleId>
              </a:tblPr>
              <a:tblGrid>
                <a:gridCol w="1772585"/>
                <a:gridCol w="1837678"/>
                <a:gridCol w="1753845"/>
              </a:tblGrid>
              <a:tr h="0">
                <a:tc>
                  <a:txBody>
                    <a:bodyPr/>
                    <a:lstStyle/>
                    <a:p>
                      <a:pPr algn="ctr"/>
                      <a:r>
                        <a:rPr lang="en-US" sz="1200" dirty="0" smtClean="0">
                          <a:solidFill>
                            <a:schemeClr val="tx2"/>
                          </a:solidFill>
                          <a:latin typeface="EYInterstate" panose="02000503020000020004" pitchFamily="2" charset="0"/>
                        </a:rPr>
                        <a:t>ENTIRE CLIENT</a:t>
                      </a:r>
                      <a:endParaRPr lang="cs-CZ" sz="1200" dirty="0">
                        <a:solidFill>
                          <a:schemeClr val="tx2"/>
                        </a:solidFill>
                        <a:latin typeface="EYInterstate" panose="0200050302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sz="1200" dirty="0" smtClean="0">
                          <a:solidFill>
                            <a:schemeClr val="tx2"/>
                          </a:solidFill>
                          <a:latin typeface="EYInterstate" panose="02000503020000020004" pitchFamily="2" charset="0"/>
                        </a:rPr>
                        <a:t>ACCOUNT</a:t>
                      </a:r>
                      <a:endParaRPr lang="cs-CZ" sz="1200" dirty="0">
                        <a:solidFill>
                          <a:schemeClr val="tx2"/>
                        </a:solidFill>
                        <a:latin typeface="EYInterstate" panose="0200050302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cs-CZ" sz="1200" dirty="0" smtClean="0">
                          <a:solidFill>
                            <a:schemeClr val="tx2"/>
                          </a:solidFill>
                          <a:latin typeface="EYInterstate" panose="02000503020000020004" pitchFamily="2" charset="0"/>
                        </a:rPr>
                        <a:t>COLLATERAL</a:t>
                      </a:r>
                      <a:endParaRPr lang="cs-CZ" sz="1200" dirty="0">
                        <a:solidFill>
                          <a:schemeClr val="tx2"/>
                        </a:solidFill>
                        <a:latin typeface="EYInterstate" panose="0200050302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r>
            </a:tbl>
          </a:graphicData>
        </a:graphic>
      </p:graphicFrame>
      <p:sp>
        <p:nvSpPr>
          <p:cNvPr id="23" name="Ellipse 33"/>
          <p:cNvSpPr/>
          <p:nvPr/>
        </p:nvSpPr>
        <p:spPr bwMode="gray">
          <a:xfrm>
            <a:off x="536174" y="4035040"/>
            <a:ext cx="1308936" cy="1308936"/>
          </a:xfrm>
          <a:prstGeom prst="ellipse">
            <a:avLst/>
          </a:prstGeom>
          <a:solidFill>
            <a:srgbClr val="80808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r>
              <a:rPr lang="en-US" sz="6600" b="1" dirty="0" smtClean="0">
                <a:solidFill>
                  <a:srgbClr val="FFFFFF"/>
                </a:solidFill>
                <a:latin typeface="EYInterstate" panose="02000503020000020004" pitchFamily="2" charset="0"/>
              </a:rPr>
              <a:t>2</a:t>
            </a:r>
          </a:p>
        </p:txBody>
      </p:sp>
      <p:sp>
        <p:nvSpPr>
          <p:cNvPr id="22" name="Rad 1"/>
          <p:cNvSpPr/>
          <p:nvPr/>
        </p:nvSpPr>
        <p:spPr bwMode="gray">
          <a:xfrm>
            <a:off x="457200" y="3921942"/>
            <a:ext cx="1466884" cy="1538346"/>
          </a:xfrm>
          <a:prstGeom prst="donut">
            <a:avLst>
              <a:gd name="adj" fmla="val 11326"/>
            </a:avLst>
          </a:prstGeom>
          <a:solidFill>
            <a:srgbClr val="FFD20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26" name="Rad 1"/>
          <p:cNvSpPr/>
          <p:nvPr/>
        </p:nvSpPr>
        <p:spPr bwMode="gray">
          <a:xfrm>
            <a:off x="457200" y="1834571"/>
            <a:ext cx="1466884" cy="1538346"/>
          </a:xfrm>
          <a:prstGeom prst="donut">
            <a:avLst>
              <a:gd name="adj" fmla="val 11326"/>
            </a:avLst>
          </a:prstGeom>
          <a:solidFill>
            <a:srgbClr val="FFD200"/>
          </a:solidFill>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lstStyle/>
          <a:p>
            <a:pPr algn="ctr"/>
            <a:endParaRPr lang="en-US" dirty="0">
              <a:solidFill>
                <a:srgbClr val="000000"/>
              </a:solidFill>
            </a:endParaRPr>
          </a:p>
        </p:txBody>
      </p:sp>
      <p:sp>
        <p:nvSpPr>
          <p:cNvPr id="15" name="Footer Placeholder 3"/>
          <p:cNvSpPr>
            <a:spLocks noGrp="1"/>
          </p:cNvSpPr>
          <p:nvPr>
            <p:ph type="ftr" sz="quarter" idx="11"/>
          </p:nvPr>
        </p:nvSpPr>
        <p:spPr>
          <a:xfrm>
            <a:off x="2588400" y="6503980"/>
            <a:ext cx="3434400" cy="201600"/>
          </a:xfrm>
        </p:spPr>
        <p:txBody>
          <a:bodyPr/>
          <a:lstStyle/>
          <a:p>
            <a:pPr algn="ctr"/>
            <a:r>
              <a:rPr lang="en-US" dirty="0">
                <a:latin typeface="EYInterstate-Light"/>
              </a:rPr>
              <a:t>LIC </a:t>
            </a:r>
            <a:r>
              <a:rPr lang="en-GB" dirty="0">
                <a:latin typeface="EYInterstate-Light"/>
              </a:rPr>
              <a:t>Solution</a:t>
            </a:r>
            <a:r>
              <a:rPr lang="cs-CZ" dirty="0">
                <a:latin typeface="EYInterstate-Light"/>
              </a:rPr>
              <a:t>®</a:t>
            </a:r>
            <a:endParaRPr lang="en-GB" dirty="0">
              <a:latin typeface="EYInterstate-Light"/>
            </a:endParaRPr>
          </a:p>
        </p:txBody>
      </p:sp>
    </p:spTree>
    <p:extLst>
      <p:ext uri="{BB962C8B-B14F-4D97-AF65-F5344CB8AC3E}">
        <p14:creationId xmlns:p14="http://schemas.microsoft.com/office/powerpoint/2010/main" val="28850252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EYInterstate" panose="02000503020000020004" pitchFamily="2" charset="0"/>
              </a:rPr>
              <a:t>Constant development of LIC Solution</a:t>
            </a:r>
            <a:r>
              <a:rPr lang="cs-CZ" dirty="0" smtClean="0">
                <a:latin typeface="EYInterstate" panose="02000503020000020004" pitchFamily="2" charset="0"/>
              </a:rPr>
              <a:t>®</a:t>
            </a:r>
            <a:endParaRPr lang="en-US" dirty="0">
              <a:latin typeface="EYInterstate" panose="02000503020000020004" pitchFamily="2" charset="0"/>
            </a:endParaRPr>
          </a:p>
        </p:txBody>
      </p:sp>
      <p:sp>
        <p:nvSpPr>
          <p:cNvPr id="3" name="Footer Placeholder 2"/>
          <p:cNvSpPr>
            <a:spLocks noGrp="1"/>
          </p:cNvSpPr>
          <p:nvPr>
            <p:ph type="ftr" sz="quarter" idx="10"/>
          </p:nvPr>
        </p:nvSpPr>
        <p:spPr/>
        <p:txBody>
          <a:bodyPr/>
          <a:lstStyle/>
          <a:p>
            <a:pPr algn="ctr"/>
            <a:r>
              <a:rPr lang="en-US" dirty="0" smtClean="0">
                <a:latin typeface="EYInterstate-Light"/>
              </a:rPr>
              <a:t>LIC </a:t>
            </a:r>
            <a:r>
              <a:rPr lang="en-GB" dirty="0" smtClean="0">
                <a:latin typeface="EYInterstate-Light"/>
              </a:rPr>
              <a:t>Solution</a:t>
            </a:r>
            <a:r>
              <a:rPr lang="cs-CZ" dirty="0" smtClean="0">
                <a:latin typeface="EYInterstate-Light"/>
              </a:rPr>
              <a:t>®</a:t>
            </a:r>
            <a:endParaRPr lang="en-GB" dirty="0">
              <a:latin typeface="EYInterstate-Light"/>
            </a:endParaRPr>
          </a:p>
        </p:txBody>
      </p:sp>
      <p:sp>
        <p:nvSpPr>
          <p:cNvPr id="5" name="Freihandform 11"/>
          <p:cNvSpPr/>
          <p:nvPr/>
        </p:nvSpPr>
        <p:spPr bwMode="gray">
          <a:xfrm>
            <a:off x="463550" y="3994524"/>
            <a:ext cx="8223250" cy="1776486"/>
          </a:xfrm>
          <a:custGeom>
            <a:avLst/>
            <a:gdLst/>
            <a:ahLst/>
            <a:cxnLst/>
            <a:rect l="l" t="t" r="r" b="b"/>
            <a:pathLst>
              <a:path w="9144000" h="3944893">
                <a:moveTo>
                  <a:pt x="9144000" y="0"/>
                </a:moveTo>
                <a:lnTo>
                  <a:pt x="9144000" y="247935"/>
                </a:lnTo>
                <a:lnTo>
                  <a:pt x="1064423" y="3944893"/>
                </a:lnTo>
                <a:lnTo>
                  <a:pt x="0" y="3944893"/>
                </a:lnTo>
                <a:lnTo>
                  <a:pt x="0" y="2813685"/>
                </a:lnTo>
                <a:close/>
              </a:path>
            </a:pathLst>
          </a:custGeom>
          <a:solidFill>
            <a:srgbClr val="C0C0C0"/>
          </a:solidFill>
          <a:ln w="12700">
            <a:noFill/>
            <a:round/>
            <a:headEnd/>
            <a:tailEnd/>
          </a:ln>
          <a:effectLst/>
        </p:spPr>
        <p:txBody>
          <a:bodyPr vert="horz" wrap="square" lIns="91440" tIns="45720" rIns="91440" bIns="45720" rtlCol="0" anchor="ctr"/>
          <a:lstStyle/>
          <a:p>
            <a:pPr algn="ctr" fontAlgn="base">
              <a:spcBef>
                <a:spcPct val="0"/>
              </a:spcBef>
              <a:spcAft>
                <a:spcPct val="0"/>
              </a:spcAft>
            </a:pPr>
            <a:endParaRPr lang="en-US" sz="1600" dirty="0">
              <a:solidFill>
                <a:srgbClr val="000000"/>
              </a:solidFill>
            </a:endParaRPr>
          </a:p>
        </p:txBody>
      </p:sp>
      <p:cxnSp>
        <p:nvCxnSpPr>
          <p:cNvPr id="6" name="Gerade Verbindung 168"/>
          <p:cNvCxnSpPr/>
          <p:nvPr/>
        </p:nvCxnSpPr>
        <p:spPr bwMode="gray">
          <a:xfrm flipV="1">
            <a:off x="1222729" y="2306572"/>
            <a:ext cx="0" cy="2694717"/>
          </a:xfrm>
          <a:prstGeom prst="line">
            <a:avLst/>
          </a:prstGeom>
          <a:noFill/>
          <a:ln w="19050">
            <a:solidFill>
              <a:srgbClr val="808080"/>
            </a:solidFill>
            <a:prstDash val="sysDot"/>
            <a:round/>
            <a:headEnd/>
            <a:tailEnd/>
          </a:ln>
          <a:effectLst/>
        </p:spPr>
      </p:cxnSp>
      <p:cxnSp>
        <p:nvCxnSpPr>
          <p:cNvPr id="7" name="Gerade Verbindung 169"/>
          <p:cNvCxnSpPr/>
          <p:nvPr/>
        </p:nvCxnSpPr>
        <p:spPr bwMode="gray">
          <a:xfrm flipV="1">
            <a:off x="3687235" y="2103657"/>
            <a:ext cx="0" cy="2467065"/>
          </a:xfrm>
          <a:prstGeom prst="line">
            <a:avLst/>
          </a:prstGeom>
          <a:noFill/>
          <a:ln w="19050">
            <a:solidFill>
              <a:srgbClr val="808080"/>
            </a:solidFill>
            <a:prstDash val="sysDot"/>
            <a:round/>
            <a:headEnd/>
            <a:tailEnd/>
          </a:ln>
          <a:effectLst/>
        </p:spPr>
      </p:cxnSp>
      <p:cxnSp>
        <p:nvCxnSpPr>
          <p:cNvPr id="8" name="Gerade Verbindung 170"/>
          <p:cNvCxnSpPr/>
          <p:nvPr/>
        </p:nvCxnSpPr>
        <p:spPr bwMode="gray">
          <a:xfrm flipV="1">
            <a:off x="6117073" y="1854003"/>
            <a:ext cx="0" cy="2282686"/>
          </a:xfrm>
          <a:prstGeom prst="line">
            <a:avLst/>
          </a:prstGeom>
          <a:noFill/>
          <a:ln w="19050">
            <a:solidFill>
              <a:srgbClr val="808080"/>
            </a:solidFill>
            <a:prstDash val="sysDot"/>
            <a:round/>
            <a:headEnd/>
            <a:tailEnd/>
          </a:ln>
          <a:effectLst/>
        </p:spPr>
      </p:cxnSp>
      <p:sp>
        <p:nvSpPr>
          <p:cNvPr id="11" name="Ellipse 21"/>
          <p:cNvSpPr/>
          <p:nvPr/>
        </p:nvSpPr>
        <p:spPr bwMode="gray">
          <a:xfrm>
            <a:off x="983651" y="4945775"/>
            <a:ext cx="1333314" cy="825235"/>
          </a:xfrm>
          <a:prstGeom prst="ellipse">
            <a:avLst/>
          </a:prstGeom>
          <a:solidFill>
            <a:srgbClr val="808080"/>
          </a:solidFill>
          <a:ln>
            <a:no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indent="-190500" algn="ctr" fontAlgn="base">
              <a:lnSpc>
                <a:spcPct val="95000"/>
              </a:lnSpc>
              <a:spcBef>
                <a:spcPct val="0"/>
              </a:spcBef>
              <a:spcAft>
                <a:spcPts val="800"/>
              </a:spcAft>
              <a:buClr>
                <a:srgbClr val="808080"/>
              </a:buClr>
            </a:pPr>
            <a:r>
              <a:rPr lang="en-US" sz="2800" b="1" noProof="1" smtClean="0">
                <a:solidFill>
                  <a:srgbClr val="FFFFFF"/>
                </a:solidFill>
                <a:latin typeface="EYInterstate" panose="02000503020000020004" pitchFamily="2" charset="0"/>
                <a:cs typeface="Arial" charset="0"/>
              </a:rPr>
              <a:t>2016</a:t>
            </a:r>
            <a:endParaRPr lang="en-US" sz="2800" b="1" noProof="1">
              <a:solidFill>
                <a:srgbClr val="FFFFFF"/>
              </a:solidFill>
              <a:latin typeface="EYInterstate" panose="02000503020000020004" pitchFamily="2" charset="0"/>
              <a:cs typeface="Arial" charset="0"/>
            </a:endParaRPr>
          </a:p>
        </p:txBody>
      </p:sp>
      <p:sp>
        <p:nvSpPr>
          <p:cNvPr id="17" name="Rechteck 177"/>
          <p:cNvSpPr/>
          <p:nvPr/>
        </p:nvSpPr>
        <p:spPr bwMode="gray">
          <a:xfrm>
            <a:off x="1222729" y="2327352"/>
            <a:ext cx="2475879" cy="1923235"/>
          </a:xfrm>
          <a:prstGeom prst="rect">
            <a:avLst/>
          </a:prstGeom>
          <a:noFill/>
          <a:ln w="12700">
            <a:noFill/>
            <a:miter lim="800000"/>
            <a:headEnd/>
            <a:tailEnd/>
          </a:ln>
          <a:effectLst/>
        </p:spPr>
        <p:txBody>
          <a:bodyPr vert="horz" wrap="square" lIns="108000" tIns="0" rIns="108000" bIns="72000" anchor="t" anchorCtr="0">
            <a:noAutofit/>
          </a:bodyPr>
          <a:lstStyle/>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New modern version of web application GUI (front-end graphical user interface)</a:t>
            </a: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IFRS 9 staging</a:t>
            </a: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Advanced sensitivity analysis for IFRS 9</a:t>
            </a:r>
            <a:endParaRPr lang="en-US" sz="1200" dirty="0" smtClean="0">
              <a:latin typeface="EYInterstate Light" panose="02000506000000020004" pitchFamily="2" charset="0"/>
            </a:endParaRP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endParaRPr lang="en-US" sz="1200" dirty="0" smtClean="0">
              <a:latin typeface="EYInterstate Light" panose="02000506000000020004" pitchFamily="2" charset="0"/>
            </a:endParaRP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endParaRPr lang="en-US" sz="1200" dirty="0">
              <a:solidFill>
                <a:srgbClr val="646464"/>
              </a:solidFill>
              <a:latin typeface="Arial" panose="020B0604020202020204" pitchFamily="34" charset="0"/>
              <a:cs typeface="Arial" charset="0"/>
            </a:endParaRPr>
          </a:p>
        </p:txBody>
      </p:sp>
      <p:sp>
        <p:nvSpPr>
          <p:cNvPr id="18" name="Ellipse 21"/>
          <p:cNvSpPr/>
          <p:nvPr/>
        </p:nvSpPr>
        <p:spPr bwMode="gray">
          <a:xfrm>
            <a:off x="3441051" y="4489892"/>
            <a:ext cx="1333314" cy="825235"/>
          </a:xfrm>
          <a:prstGeom prst="ellipse">
            <a:avLst/>
          </a:prstGeom>
          <a:solidFill>
            <a:srgbClr val="808080"/>
          </a:solidFill>
          <a:ln>
            <a:no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indent="-190500" algn="ctr" fontAlgn="base">
              <a:lnSpc>
                <a:spcPct val="95000"/>
              </a:lnSpc>
              <a:spcBef>
                <a:spcPct val="0"/>
              </a:spcBef>
              <a:spcAft>
                <a:spcPts val="800"/>
              </a:spcAft>
              <a:buClr>
                <a:srgbClr val="808080"/>
              </a:buClr>
            </a:pPr>
            <a:r>
              <a:rPr lang="en-US" sz="2800" b="1" noProof="1" smtClean="0">
                <a:solidFill>
                  <a:srgbClr val="FFFFFF"/>
                </a:solidFill>
                <a:latin typeface="EYInterstate" panose="02000503020000020004" pitchFamily="2" charset="0"/>
                <a:cs typeface="Arial" charset="0"/>
              </a:rPr>
              <a:t>2017</a:t>
            </a:r>
            <a:endParaRPr lang="en-US" sz="2800" b="1" noProof="1">
              <a:solidFill>
                <a:srgbClr val="FFFFFF"/>
              </a:solidFill>
              <a:latin typeface="EYInterstate" panose="02000503020000020004" pitchFamily="2" charset="0"/>
              <a:cs typeface="Arial" charset="0"/>
            </a:endParaRPr>
          </a:p>
        </p:txBody>
      </p:sp>
      <p:sp>
        <p:nvSpPr>
          <p:cNvPr id="19" name="Ellipse 21"/>
          <p:cNvSpPr/>
          <p:nvPr/>
        </p:nvSpPr>
        <p:spPr bwMode="gray">
          <a:xfrm>
            <a:off x="5898451" y="4060439"/>
            <a:ext cx="1333314" cy="825235"/>
          </a:xfrm>
          <a:prstGeom prst="ellipse">
            <a:avLst/>
          </a:prstGeom>
          <a:solidFill>
            <a:srgbClr val="808080"/>
          </a:solidFill>
          <a:ln>
            <a:noFill/>
            <a:headEnd/>
            <a:tailEnd/>
          </a:ln>
        </p:spPr>
        <p:style>
          <a:lnRef idx="2">
            <a:schemeClr val="dk1"/>
          </a:lnRef>
          <a:fillRef idx="1">
            <a:schemeClr val="lt1"/>
          </a:fillRef>
          <a:effectRef idx="0">
            <a:schemeClr val="dk1"/>
          </a:effectRef>
          <a:fontRef idx="minor">
            <a:schemeClr val="dk1"/>
          </a:fontRef>
        </p:style>
        <p:txBody>
          <a:bodyPr vert="horz" wrap="square" lIns="0" tIns="0" rIns="0" bIns="0" anchor="ctr" anchorCtr="0"/>
          <a:lstStyle/>
          <a:p>
            <a:pPr indent="-190500" algn="ctr" fontAlgn="base">
              <a:lnSpc>
                <a:spcPct val="95000"/>
              </a:lnSpc>
              <a:spcBef>
                <a:spcPct val="0"/>
              </a:spcBef>
              <a:spcAft>
                <a:spcPts val="800"/>
              </a:spcAft>
              <a:buClr>
                <a:srgbClr val="808080"/>
              </a:buClr>
            </a:pPr>
            <a:r>
              <a:rPr lang="en-US" sz="2800" b="1" noProof="1" smtClean="0">
                <a:solidFill>
                  <a:srgbClr val="FFFFFF"/>
                </a:solidFill>
                <a:latin typeface="EYInterstate" panose="02000503020000020004" pitchFamily="2" charset="0"/>
                <a:cs typeface="Arial" charset="0"/>
              </a:rPr>
              <a:t>2018</a:t>
            </a:r>
            <a:endParaRPr lang="en-US" sz="2800" b="1" noProof="1">
              <a:solidFill>
                <a:srgbClr val="FFFFFF"/>
              </a:solidFill>
              <a:latin typeface="EYInterstate" panose="02000503020000020004" pitchFamily="2" charset="0"/>
              <a:cs typeface="Arial" charset="0"/>
            </a:endParaRPr>
          </a:p>
        </p:txBody>
      </p:sp>
      <p:sp>
        <p:nvSpPr>
          <p:cNvPr id="25" name="Title 1"/>
          <p:cNvSpPr txBox="1">
            <a:spLocks/>
          </p:cNvSpPr>
          <p:nvPr/>
        </p:nvSpPr>
        <p:spPr>
          <a:xfrm>
            <a:off x="457200" y="1026000"/>
            <a:ext cx="8229600" cy="1188347"/>
          </a:xfrm>
          <a:prstGeom prst="rect">
            <a:avLst/>
          </a:prstGeom>
        </p:spPr>
        <p:txBody>
          <a:bodyPr vert="horz" lIns="0" tIns="0" rIns="0" bIns="0" rtlCol="0" anchor="t" anchorCtr="0">
            <a:noAutofit/>
          </a:bodyPr>
          <a:lst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a:lstStyle>
          <a:p>
            <a:pPr algn="just"/>
            <a:r>
              <a:rPr lang="en-US" sz="1200" b="0" dirty="0">
                <a:latin typeface="EYInterstate Light" panose="02000506000000020004" pitchFamily="2" charset="0"/>
              </a:rPr>
              <a:t>Our dedicated team is developing the </a:t>
            </a:r>
            <a:r>
              <a:rPr lang="en-US" sz="1200" b="0" dirty="0" smtClean="0">
                <a:latin typeface="EYInterstate Light" panose="02000506000000020004" pitchFamily="2" charset="0"/>
              </a:rPr>
              <a:t>LIC Solution® continuously </a:t>
            </a:r>
            <a:r>
              <a:rPr lang="en-US" sz="1200" b="0" dirty="0">
                <a:latin typeface="EYInterstate Light" panose="02000506000000020004" pitchFamily="2" charset="0"/>
              </a:rPr>
              <a:t>since 2007</a:t>
            </a:r>
            <a:r>
              <a:rPr lang="en-US" sz="1200" b="0" dirty="0" smtClean="0">
                <a:latin typeface="EYInterstate Light" panose="02000506000000020004" pitchFamily="2" charset="0"/>
              </a:rPr>
              <a:t>. We are </a:t>
            </a:r>
            <a:r>
              <a:rPr lang="en-US" sz="1200" b="0" dirty="0">
                <a:latin typeface="EYInterstate Light" panose="02000506000000020004" pitchFamily="2" charset="0"/>
              </a:rPr>
              <a:t>proactively tracking market trends and regulatory requirement developments in order to be ready to introduce </a:t>
            </a:r>
            <a:r>
              <a:rPr lang="en-US" sz="1200" b="0" dirty="0" smtClean="0">
                <a:latin typeface="EYInterstate Light" panose="02000506000000020004" pitchFamily="2" charset="0"/>
              </a:rPr>
              <a:t>important up-to-date LIC Solution® version </a:t>
            </a:r>
            <a:r>
              <a:rPr lang="en-US" sz="1200" b="0" dirty="0">
                <a:latin typeface="EYInterstate Light" panose="02000506000000020004" pitchFamily="2" charset="0"/>
              </a:rPr>
              <a:t>to our </a:t>
            </a:r>
            <a:r>
              <a:rPr lang="en-US" sz="1200" b="0" dirty="0" smtClean="0">
                <a:latin typeface="EYInterstate Light" panose="02000506000000020004" pitchFamily="2" charset="0"/>
              </a:rPr>
              <a:t>client </a:t>
            </a:r>
            <a:r>
              <a:rPr lang="en-US" sz="1200" b="0" dirty="0">
                <a:latin typeface="EYInterstate Light" panose="02000506000000020004" pitchFamily="2" charset="0"/>
              </a:rPr>
              <a:t>base.</a:t>
            </a:r>
          </a:p>
        </p:txBody>
      </p:sp>
      <p:sp>
        <p:nvSpPr>
          <p:cNvPr id="27" name="Rechteck 177"/>
          <p:cNvSpPr/>
          <p:nvPr/>
        </p:nvSpPr>
        <p:spPr bwMode="gray">
          <a:xfrm>
            <a:off x="3687237" y="2104753"/>
            <a:ext cx="2461119" cy="1923235"/>
          </a:xfrm>
          <a:prstGeom prst="rect">
            <a:avLst/>
          </a:prstGeom>
          <a:noFill/>
          <a:ln w="12700">
            <a:noFill/>
            <a:miter lim="800000"/>
            <a:headEnd/>
            <a:tailEnd/>
          </a:ln>
          <a:effectLst/>
        </p:spPr>
        <p:txBody>
          <a:bodyPr vert="horz" wrap="square" lIns="108000" tIns="0" rIns="108000" bIns="72000" anchor="t" anchorCtr="0">
            <a:noAutofit/>
          </a:bodyPr>
          <a:lstStyle/>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IFRS 9 quantitative disclosure package</a:t>
            </a: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Alternative approaches to impairment calculation for off-balance exposures</a:t>
            </a: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cs typeface="Arial" charset="0"/>
              </a:rPr>
              <a:t>Rule-based approach to POCI impairment calculation</a:t>
            </a:r>
            <a:endParaRPr lang="en-US" sz="1200" dirty="0">
              <a:solidFill>
                <a:schemeClr val="bg1"/>
              </a:solidFill>
              <a:latin typeface="Arial" panose="020B0604020202020204" pitchFamily="34" charset="0"/>
              <a:cs typeface="Arial" charset="0"/>
            </a:endParaRPr>
          </a:p>
        </p:txBody>
      </p:sp>
      <p:sp>
        <p:nvSpPr>
          <p:cNvPr id="31" name="Rechteck 177"/>
          <p:cNvSpPr/>
          <p:nvPr/>
        </p:nvSpPr>
        <p:spPr bwMode="gray">
          <a:xfrm>
            <a:off x="6117073" y="1854003"/>
            <a:ext cx="2538444" cy="1923235"/>
          </a:xfrm>
          <a:prstGeom prst="rect">
            <a:avLst/>
          </a:prstGeom>
          <a:noFill/>
          <a:ln w="12700">
            <a:noFill/>
            <a:miter lim="800000"/>
            <a:headEnd/>
            <a:tailEnd/>
          </a:ln>
          <a:effectLst/>
        </p:spPr>
        <p:txBody>
          <a:bodyPr vert="horz" wrap="square" lIns="108000" tIns="0" rIns="108000" bIns="72000" anchor="t" anchorCtr="0">
            <a:noAutofit/>
          </a:bodyPr>
          <a:lstStyle/>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Support with the initial live runs under IFRS 9</a:t>
            </a:r>
          </a:p>
          <a:p>
            <a:pPr marL="171450" indent="-171450" fontAlgn="base">
              <a:lnSpc>
                <a:spcPct val="95000"/>
              </a:lnSpc>
              <a:spcBef>
                <a:spcPct val="0"/>
              </a:spcBef>
              <a:spcAft>
                <a:spcPts val="800"/>
              </a:spcAft>
              <a:buClr>
                <a:srgbClr val="FFD200"/>
              </a:buClr>
              <a:buSzPct val="70000"/>
              <a:buFont typeface="Arial Narrow" panose="020B0606020202030204" pitchFamily="34" charset="0"/>
              <a:buChar char="►"/>
            </a:pPr>
            <a:r>
              <a:rPr lang="en-US" sz="1200" dirty="0" smtClean="0">
                <a:solidFill>
                  <a:schemeClr val="bg1"/>
                </a:solidFill>
                <a:latin typeface="EYInterstate Light" panose="02000506000000020004" pitchFamily="2" charset="0"/>
              </a:rPr>
              <a:t>Improving LIC Solution® performance through optimization of calculation</a:t>
            </a:r>
            <a:r>
              <a:rPr lang="cs-CZ" sz="1200" dirty="0" smtClean="0">
                <a:solidFill>
                  <a:schemeClr val="bg1"/>
                </a:solidFill>
                <a:latin typeface="EYInterstate Light" panose="02000506000000020004" pitchFamily="2" charset="0"/>
              </a:rPr>
              <a:t>s</a:t>
            </a:r>
            <a:endParaRPr lang="en-US" sz="1200" dirty="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29099678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EY light projection">
  <a:themeElements>
    <a:clrScheme name="EY white projection-ready">
      <a:dk1>
        <a:srgbClr val="000000"/>
      </a:dk1>
      <a:lt1>
        <a:srgbClr val="646464"/>
      </a:lt1>
      <a:dk2>
        <a:srgbClr val="FFFFFF"/>
      </a:dk2>
      <a:lt2>
        <a:srgbClr val="646464"/>
      </a:lt2>
      <a:accent1>
        <a:srgbClr val="808080"/>
      </a:accent1>
      <a:accent2>
        <a:srgbClr val="FFD200"/>
      </a:accent2>
      <a:accent3>
        <a:srgbClr val="999999"/>
      </a:accent3>
      <a:accent4>
        <a:srgbClr val="C0C0C0"/>
      </a:accent4>
      <a:accent5>
        <a:srgbClr val="0081AE"/>
      </a:accent5>
      <a:accent6>
        <a:srgbClr val="7FC0D6"/>
      </a:accent6>
      <a:hlink>
        <a:srgbClr val="336699"/>
      </a:hlink>
      <a:folHlink>
        <a:srgbClr val="7030A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_regular_presentation White 2015_FINAL1.potx" id="{614327D5-71DD-4F63-BF84-EF95C3F1384F}" vid="{9728A396-EAD0-4D87-8CC7-77CD0577A977}"/>
    </a:ext>
  </a:extLst>
</a:theme>
</file>

<file path=ppt/theme/theme2.xml><?xml version="1.0" encoding="utf-8"?>
<a:theme xmlns:a="http://schemas.openxmlformats.org/drawingml/2006/main" name="EY_regular_presentation">
  <a:themeElements>
    <a:clrScheme name="EY white projection-ready">
      <a:dk1>
        <a:srgbClr val="000000"/>
      </a:dk1>
      <a:lt1>
        <a:srgbClr val="646464"/>
      </a:lt1>
      <a:dk2>
        <a:srgbClr val="FFFFFF"/>
      </a:dk2>
      <a:lt2>
        <a:srgbClr val="646464"/>
      </a:lt2>
      <a:accent1>
        <a:srgbClr val="808080"/>
      </a:accent1>
      <a:accent2>
        <a:srgbClr val="FFD200"/>
      </a:accent2>
      <a:accent3>
        <a:srgbClr val="999999"/>
      </a:accent3>
      <a:accent4>
        <a:srgbClr val="C0C0C0"/>
      </a:accent4>
      <a:accent5>
        <a:srgbClr val="0081AE"/>
      </a:accent5>
      <a:accent6>
        <a:srgbClr val="7FC0D6"/>
      </a:accent6>
      <a:hlink>
        <a:srgbClr val="336699"/>
      </a:hlink>
      <a:folHlink>
        <a:srgbClr val="7030A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_regular_presentation White 2015_FINAL1.potx" id="{614327D5-71DD-4F63-BF84-EF95C3F1384F}" vid="{7CB81ECB-722B-417E-867E-BE30CE0FCFF1}"/>
    </a:ext>
  </a:extLst>
</a:theme>
</file>

<file path=ppt/theme/theme3.xml><?xml version="1.0" encoding="utf-8"?>
<a:theme xmlns:a="http://schemas.openxmlformats.org/drawingml/2006/main" name="1_EY_regular_presentation">
  <a:themeElements>
    <a:clrScheme name="EY white projection-ready">
      <a:dk1>
        <a:srgbClr val="000000"/>
      </a:dk1>
      <a:lt1>
        <a:srgbClr val="646464"/>
      </a:lt1>
      <a:dk2>
        <a:srgbClr val="FFFFFF"/>
      </a:dk2>
      <a:lt2>
        <a:srgbClr val="646464"/>
      </a:lt2>
      <a:accent1>
        <a:srgbClr val="808080"/>
      </a:accent1>
      <a:accent2>
        <a:srgbClr val="FFD200"/>
      </a:accent2>
      <a:accent3>
        <a:srgbClr val="999999"/>
      </a:accent3>
      <a:accent4>
        <a:srgbClr val="C0C0C0"/>
      </a:accent4>
      <a:accent5>
        <a:srgbClr val="0081AE"/>
      </a:accent5>
      <a:accent6>
        <a:srgbClr val="7FC0D6"/>
      </a:accent6>
      <a:hlink>
        <a:srgbClr val="336699"/>
      </a:hlink>
      <a:folHlink>
        <a:srgbClr val="7030A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_regular_presentation White 2015_FINAL1.potx" id="{614327D5-71DD-4F63-BF84-EF95C3F1384F}" vid="{7CB81ECB-722B-417E-867E-BE30CE0FCFF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2505070</vt:lpwstr>
  </property>
  <property fmtid="{D5CDD505-2E9C-101B-9397-08002B2CF9AE}" pid="4" name="OptimizationTime">
    <vt:lpwstr>20170828_1804</vt:lpwstr>
  </property>
</Properties>
</file>

<file path=docProps/app.xml><?xml version="1.0" encoding="utf-8"?>
<Properties xmlns="http://schemas.openxmlformats.org/officeDocument/2006/extended-properties" xmlns:vt="http://schemas.openxmlformats.org/officeDocument/2006/docPropsVTypes">
  <Template>EY_regular_presentation White 2016</Template>
  <TotalTime>14969</TotalTime>
  <Words>3693</Words>
  <Application>Microsoft Office PowerPoint</Application>
  <PresentationFormat>On-screen Show (4:3)</PresentationFormat>
  <Paragraphs>551</Paragraphs>
  <Slides>32</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32</vt:i4>
      </vt:variant>
    </vt:vector>
  </HeadingPairs>
  <TitlesOfParts>
    <vt:vector size="45" baseType="lpstr">
      <vt:lpstr>Arial</vt:lpstr>
      <vt:lpstr>Arial Narrow</vt:lpstr>
      <vt:lpstr>Calibri</vt:lpstr>
      <vt:lpstr>Cambria Math</vt:lpstr>
      <vt:lpstr>EYInterstate</vt:lpstr>
      <vt:lpstr>EYInterstate Light</vt:lpstr>
      <vt:lpstr>EYInterstate Regular</vt:lpstr>
      <vt:lpstr>EYInterstate-Light</vt:lpstr>
      <vt:lpstr>Times New Roman</vt:lpstr>
      <vt:lpstr>Wingdings</vt:lpstr>
      <vt:lpstr>EY light projection</vt:lpstr>
      <vt:lpstr>EY_regular_presentation</vt:lpstr>
      <vt:lpstr>1_EY_regular_presentation</vt:lpstr>
      <vt:lpstr>LIC Solution®</vt:lpstr>
      <vt:lpstr>LIC Solution®</vt:lpstr>
      <vt:lpstr>LIC Solution® key concepts</vt:lpstr>
      <vt:lpstr>Integration to the Institution’s environment – illustrative logical scheme</vt:lpstr>
      <vt:lpstr>Architecture </vt:lpstr>
      <vt:lpstr>Technical requirements </vt:lpstr>
      <vt:lpstr>Calculation process flow</vt:lpstr>
      <vt:lpstr>Data import and validation</vt:lpstr>
      <vt:lpstr>Staging</vt:lpstr>
      <vt:lpstr>Staging UI – DPD and Ratings</vt:lpstr>
      <vt:lpstr>Staging UI – PD parameter</vt:lpstr>
      <vt:lpstr>Staging UI – Risk flags</vt:lpstr>
      <vt:lpstr>Overview of the applied methods</vt:lpstr>
      <vt:lpstr>Segmentation</vt:lpstr>
      <vt:lpstr>PD parameter</vt:lpstr>
      <vt:lpstr>PD parameter configuration</vt:lpstr>
      <vt:lpstr>PD parameter configuration</vt:lpstr>
      <vt:lpstr>LGD parameter</vt:lpstr>
      <vt:lpstr>LGD parameter configuration</vt:lpstr>
      <vt:lpstr>EAD parameter</vt:lpstr>
      <vt:lpstr>EAD parameter configuration</vt:lpstr>
      <vt:lpstr>Individual assessment</vt:lpstr>
      <vt:lpstr>Collective assessment</vt:lpstr>
      <vt:lpstr>Collective Assessment UI – ECL Configuration</vt:lpstr>
      <vt:lpstr>Applied methodology for special classes of assets</vt:lpstr>
      <vt:lpstr>Applied methodology for special classes of assets (cont.)</vt:lpstr>
      <vt:lpstr>Data output and reporting</vt:lpstr>
      <vt:lpstr>User management and audit track</vt:lpstr>
      <vt:lpstr>Variability in calculation run configuration</vt:lpstr>
      <vt:lpstr>Variability in Individual Assessment</vt:lpstr>
      <vt:lpstr>Constant development of LIC Solution®</vt:lpstr>
      <vt:lpstr>PowerPoint Presentation</vt:lpstr>
    </vt:vector>
  </TitlesOfParts>
  <Company>Ernst &amp; Young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Matus Cellar</dc:creator>
  <cp:lastModifiedBy>Karl Jackson</cp:lastModifiedBy>
  <cp:revision>481</cp:revision>
  <dcterms:created xsi:type="dcterms:W3CDTF">2016-10-04T07:38:53Z</dcterms:created>
  <dcterms:modified xsi:type="dcterms:W3CDTF">2017-08-28T09:26:11Z</dcterms:modified>
</cp:coreProperties>
</file>