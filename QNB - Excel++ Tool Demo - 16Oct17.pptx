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6" r:id="rId1"/>
    <p:sldMasterId id="2147483680" r:id="rId2"/>
  </p:sldMasterIdLst>
  <p:notesMasterIdLst>
    <p:notesMasterId r:id="rId20"/>
  </p:notesMasterIdLst>
  <p:handoutMasterIdLst>
    <p:handoutMasterId r:id="rId21"/>
  </p:handoutMasterIdLst>
  <p:sldIdLst>
    <p:sldId id="278" r:id="rId3"/>
    <p:sldId id="257" r:id="rId4"/>
    <p:sldId id="318" r:id="rId5"/>
    <p:sldId id="319" r:id="rId6"/>
    <p:sldId id="324" r:id="rId7"/>
    <p:sldId id="325" r:id="rId8"/>
    <p:sldId id="320" r:id="rId9"/>
    <p:sldId id="326" r:id="rId10"/>
    <p:sldId id="321" r:id="rId11"/>
    <p:sldId id="327" r:id="rId12"/>
    <p:sldId id="322" r:id="rId13"/>
    <p:sldId id="328" r:id="rId14"/>
    <p:sldId id="329" r:id="rId15"/>
    <p:sldId id="330" r:id="rId16"/>
    <p:sldId id="331" r:id="rId17"/>
    <p:sldId id="323" r:id="rId18"/>
    <p:sldId id="284" r:id="rId19"/>
  </p:sldIdLst>
  <p:sldSz cx="1219835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7">
          <p15:clr>
            <a:srgbClr val="A4A3A4"/>
          </p15:clr>
        </p15:guide>
        <p15:guide id="2" orient="horz" pos="664">
          <p15:clr>
            <a:srgbClr val="A4A3A4"/>
          </p15:clr>
        </p15:guide>
        <p15:guide id="3" orient="horz" pos="3871">
          <p15:clr>
            <a:srgbClr val="A4A3A4"/>
          </p15:clr>
        </p15:guide>
        <p15:guide id="4" orient="horz" pos="898">
          <p15:clr>
            <a:srgbClr val="A4A3A4"/>
          </p15:clr>
        </p15:guide>
        <p15:guide id="5" orient="horz" pos="126">
          <p15:clr>
            <a:srgbClr val="A4A3A4"/>
          </p15:clr>
        </p15:guide>
        <p15:guide id="6" orient="horz" pos="1258">
          <p15:clr>
            <a:srgbClr val="A4A3A4"/>
          </p15:clr>
        </p15:guide>
        <p15:guide id="7" orient="horz" pos="388">
          <p15:clr>
            <a:srgbClr val="A4A3A4"/>
          </p15:clr>
        </p15:guide>
        <p15:guide id="8" orient="horz" pos="4192">
          <p15:clr>
            <a:srgbClr val="A4A3A4"/>
          </p15:clr>
        </p15:guide>
        <p15:guide id="9" orient="horz" pos="4077">
          <p15:clr>
            <a:srgbClr val="A4A3A4"/>
          </p15:clr>
        </p15:guide>
        <p15:guide id="10" pos="3842">
          <p15:clr>
            <a:srgbClr val="A4A3A4"/>
          </p15:clr>
        </p15:guide>
        <p15:guide id="11" pos="384">
          <p15:clr>
            <a:srgbClr val="A4A3A4"/>
          </p15:clr>
        </p15:guide>
        <p15:guide id="12" pos="7299">
          <p15:clr>
            <a:srgbClr val="A4A3A4"/>
          </p15:clr>
        </p15:guide>
        <p15:guide id="13" pos="3905">
          <p15:clr>
            <a:srgbClr val="A4A3A4"/>
          </p15:clr>
        </p15:guide>
        <p15:guide id="14" pos="3791">
          <p15:clr>
            <a:srgbClr val="A4A3A4"/>
          </p15:clr>
        </p15:guide>
      </p15:sldGuideLst>
    </p:ext>
    <p:ext uri="{2D200454-40CA-4A62-9FC3-DE9A4176ACB9}">
      <p15:notesGuideLst xmlns:p15="http://schemas.microsoft.com/office/powerpoint/2012/main">
        <p15:guide id="1" orient="horz" pos="2909">
          <p15:clr>
            <a:srgbClr val="A4A3A4"/>
          </p15:clr>
        </p15:guide>
        <p15:guide id="2" pos="2189">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ECF8"/>
    <a:srgbClr val="FFFFFF"/>
    <a:srgbClr val="FFCC00"/>
    <a:srgbClr val="404040"/>
    <a:srgbClr val="000000"/>
    <a:srgbClr val="FF009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5551" autoAdjust="0"/>
  </p:normalViewPr>
  <p:slideViewPr>
    <p:cSldViewPr snapToGrid="0" snapToObjects="1" showGuides="1">
      <p:cViewPr varScale="1">
        <p:scale>
          <a:sx n="89" d="100"/>
          <a:sy n="89" d="100"/>
        </p:scale>
        <p:origin x="461" y="77"/>
      </p:cViewPr>
      <p:guideLst>
        <p:guide orient="horz" pos="3127"/>
        <p:guide orient="horz" pos="664"/>
        <p:guide orient="horz" pos="3871"/>
        <p:guide orient="horz" pos="898"/>
        <p:guide orient="horz" pos="126"/>
        <p:guide orient="horz" pos="1258"/>
        <p:guide orient="horz" pos="388"/>
        <p:guide orient="horz" pos="4192"/>
        <p:guide orient="horz" pos="4077"/>
        <p:guide pos="3842"/>
        <p:guide pos="384"/>
        <p:guide pos="7299"/>
        <p:guide pos="3905"/>
        <p:guide pos="3791"/>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snapToObjects="1" showGuides="1">
      <p:cViewPr varScale="1">
        <p:scale>
          <a:sx n="80" d="100"/>
          <a:sy n="80" d="100"/>
        </p:scale>
        <p:origin x="-2004" y="-96"/>
      </p:cViewPr>
      <p:guideLst>
        <p:guide orient="horz" pos="2909"/>
        <p:guide pos="218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GB" dirty="0">
              <a:latin typeface="Arial" pitchFamily="34" charset="0"/>
            </a:endParaRPr>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75A85089-C692-4DEA-AC49-04CF34D4FE14}" type="datetimeFigureOut">
              <a:rPr lang="en-GB" smtClean="0">
                <a:latin typeface="Arial" pitchFamily="34" charset="0"/>
              </a:rPr>
              <a:pPr/>
              <a:t>17/10/2017</a:t>
            </a:fld>
            <a:endParaRPr lang="en-GB" dirty="0">
              <a:latin typeface="Arial" pitchFamily="34" charset="0"/>
            </a:endParaRPr>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GB" dirty="0">
              <a:latin typeface="Arial" pitchFamily="34" charset="0"/>
            </a:endParaRPr>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D3A5C721-4BB5-4DB6-AD65-4BA2A62B05B6}" type="slidenum">
              <a:rPr lang="en-GB" smtClean="0">
                <a:latin typeface="Arial" pitchFamily="34" charset="0"/>
              </a:rPr>
              <a:pPr/>
              <a:t>‹#›</a:t>
            </a:fld>
            <a:endParaRPr lang="en-GB" dirty="0">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atin typeface="Arial" pitchFamily="34" charset="0"/>
              </a:defRPr>
            </a:lvl1pPr>
          </a:lstStyle>
          <a:p>
            <a:endParaRPr lang="en-GB"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atin typeface="Arial" pitchFamily="34" charset="0"/>
              </a:defRPr>
            </a:lvl1pPr>
          </a:lstStyle>
          <a:p>
            <a:fld id="{8045EBA9-A28D-4849-BFEA-AA04F6A21B63}" type="datetimeFigureOut">
              <a:rPr lang="en-GB" smtClean="0"/>
              <a:pPr/>
              <a:t>17/10/2017</a:t>
            </a:fld>
            <a:endParaRPr lang="en-GB" dirty="0"/>
          </a:p>
        </p:txBody>
      </p:sp>
      <p:sp>
        <p:nvSpPr>
          <p:cNvPr id="4" name="Slide Image Placeholder 3"/>
          <p:cNvSpPr>
            <a:spLocks noGrp="1" noRot="1" noChangeAspect="1"/>
          </p:cNvSpPr>
          <p:nvPr>
            <p:ph type="sldImg" idx="2"/>
          </p:nvPr>
        </p:nvSpPr>
        <p:spPr>
          <a:xfrm>
            <a:off x="393700" y="692150"/>
            <a:ext cx="6162675" cy="3463925"/>
          </a:xfrm>
          <a:prstGeom prst="rect">
            <a:avLst/>
          </a:prstGeom>
          <a:noFill/>
          <a:ln w="12700">
            <a:solidFill>
              <a:prstClr val="black"/>
            </a:solidFill>
          </a:ln>
        </p:spPr>
        <p:txBody>
          <a:bodyPr vert="horz" lIns="92492" tIns="46246" rIns="92492" bIns="46246" rtlCol="0" anchor="ctr"/>
          <a:lstStyle/>
          <a:p>
            <a:endParaRPr lang="en-GB"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atin typeface="Arial" pitchFamily="34" charset="0"/>
              </a:defRPr>
            </a:lvl1pPr>
          </a:lstStyle>
          <a:p>
            <a:endParaRPr lang="en-GB"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atin typeface="Arial" pitchFamily="34" charset="0"/>
              </a:defRPr>
            </a:lvl1pPr>
          </a:lstStyle>
          <a:p>
            <a:fld id="{5B43D19E-BFDB-4C92-8EDD-32EDDA8F41DF}" type="slidenum">
              <a:rPr lang="en-GB" smtClean="0"/>
              <a:pPr/>
              <a:t>‹#›</a:t>
            </a:fld>
            <a:endParaRPr lang="en-GB" dirty="0"/>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3.w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5.w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3.wmf"/><Relationship Id="rId1" Type="http://schemas.openxmlformats.org/officeDocument/2006/relationships/slideMaster" Target="../slideMasters/slideMaster2.xml"/><Relationship Id="rId4" Type="http://schemas.openxmlformats.org/officeDocument/2006/relationships/image" Target="../media/image8.w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3"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8" name="Title 1"/>
          <p:cNvSpPr>
            <a:spLocks noGrp="1"/>
          </p:cNvSpPr>
          <p:nvPr>
            <p:ph type="ctrTitle"/>
          </p:nvPr>
        </p:nvSpPr>
        <p:spPr>
          <a:xfrm>
            <a:off x="4151376" y="2240280"/>
            <a:ext cx="7223760" cy="860400"/>
          </a:xfrm>
        </p:spPr>
        <p:txBody>
          <a:bodyPr/>
          <a:lstStyle>
            <a:lvl1pPr>
              <a:defRPr>
                <a:solidFill>
                  <a:srgbClr val="404040"/>
                </a:solidFill>
                <a:latin typeface="+mn-lt"/>
                <a:cs typeface="Arial" pitchFamily="34" charset="0"/>
              </a:defRPr>
            </a:lvl1pPr>
          </a:lstStyle>
          <a:p>
            <a:r>
              <a:rPr lang="en-US" smtClean="0"/>
              <a:t>Click to edit Master title style</a:t>
            </a:r>
            <a:endParaRPr lang="en-GB" dirty="0"/>
          </a:p>
        </p:txBody>
      </p:sp>
      <p:sp>
        <p:nvSpPr>
          <p:cNvPr id="10"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smtClean="0"/>
              <a:t>Click to edit Master subtitle style</a:t>
            </a:r>
            <a:endParaRPr lang="en-GB" dirty="0"/>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81676" y="5339038"/>
            <a:ext cx="987552" cy="11569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7" name="Freeform 5"/>
          <p:cNvSpPr>
            <a:spLocks noChangeAspect="1"/>
          </p:cNvSpPr>
          <p:nvPr userDrawn="1"/>
        </p:nvSpPr>
        <p:spPr bwMode="gray">
          <a:xfrm rot="10800000">
            <a:off x="4370832" y="457200"/>
            <a:ext cx="7221423"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Title 1"/>
          <p:cNvSpPr>
            <a:spLocks noGrp="1"/>
          </p:cNvSpPr>
          <p:nvPr>
            <p:ph type="ctrTitle"/>
          </p:nvPr>
        </p:nvSpPr>
        <p:spPr>
          <a:xfrm>
            <a:off x="4809744" y="1737360"/>
            <a:ext cx="6400800" cy="860400"/>
          </a:xfrm>
        </p:spPr>
        <p:txBody>
          <a:bodyPr/>
          <a:lstStyle>
            <a:lvl1pPr>
              <a:defRPr>
                <a:solidFill>
                  <a:srgbClr val="404040"/>
                </a:solidFill>
                <a:latin typeface="+mn-lt"/>
                <a:cs typeface="Arial" pitchFamily="34" charset="0"/>
              </a:defRPr>
            </a:lvl1pPr>
          </a:lstStyle>
          <a:p>
            <a:r>
              <a:rPr lang="en-US" smtClean="0"/>
              <a:t>Click to edit Master title style</a:t>
            </a:r>
            <a:endParaRPr lang="en-GB" dirty="0"/>
          </a:p>
        </p:txBody>
      </p:sp>
      <p:sp>
        <p:nvSpPr>
          <p:cNvPr id="13" name="Subtitle 2"/>
          <p:cNvSpPr>
            <a:spLocks noGrp="1"/>
          </p:cNvSpPr>
          <p:nvPr>
            <p:ph type="subTitle" idx="1"/>
          </p:nvPr>
        </p:nvSpPr>
        <p:spPr>
          <a:xfrm>
            <a:off x="4809744" y="2724912"/>
            <a:ext cx="640080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smtClean="0"/>
              <a:t>Click to edit Master subtitle style</a:t>
            </a:r>
            <a:endParaRPr lang="en-GB"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81676" y="5339038"/>
            <a:ext cx="987552" cy="1156968"/>
          </a:xfrm>
          <a:prstGeom prst="rect">
            <a:avLst/>
          </a:prstGeom>
        </p:spPr>
      </p:pic>
    </p:spTree>
    <p:extLst>
      <p:ext uri="{BB962C8B-B14F-4D97-AF65-F5344CB8AC3E}">
        <p14:creationId xmlns:p14="http://schemas.microsoft.com/office/powerpoint/2010/main" val="2139108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2648" y="612648"/>
            <a:ext cx="7731674" cy="3575304"/>
          </a:xfrm>
          <a:prstGeom prst="rect">
            <a:avLst/>
          </a:prstGeom>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1676" y="5339038"/>
            <a:ext cx="987552" cy="1156968"/>
          </a:xfrm>
          <a:prstGeom prst="rect">
            <a:avLst/>
          </a:prstGeom>
        </p:spPr>
      </p:pic>
      <p:sp>
        <p:nvSpPr>
          <p:cNvPr id="9" name="Title 1"/>
          <p:cNvSpPr>
            <a:spLocks noGrp="1"/>
          </p:cNvSpPr>
          <p:nvPr>
            <p:ph type="ctrTitle"/>
          </p:nvPr>
        </p:nvSpPr>
        <p:spPr>
          <a:xfrm>
            <a:off x="1005840" y="2240280"/>
            <a:ext cx="6879463" cy="860400"/>
          </a:xfrm>
          <a:prstGeom prst="rect">
            <a:avLst/>
          </a:prstGeom>
        </p:spPr>
        <p:txBody>
          <a:bodyPr/>
          <a:lstStyle>
            <a:lvl1pPr>
              <a:defRPr>
                <a:solidFill>
                  <a:srgbClr val="404040"/>
                </a:solidFill>
                <a:latin typeface="+mn-lt"/>
                <a:cs typeface="Arial" pitchFamily="34" charset="0"/>
              </a:defRPr>
            </a:lvl1pPr>
          </a:lstStyle>
          <a:p>
            <a:r>
              <a:rPr lang="en-US" smtClean="0"/>
              <a:t>Click to edit Master title style</a:t>
            </a:r>
            <a:endParaRPr lang="en-GB" dirty="0"/>
          </a:p>
        </p:txBody>
      </p:sp>
      <p:sp>
        <p:nvSpPr>
          <p:cNvPr id="10"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smtClean="0"/>
              <a:t>Click to edit Master subtitle style</a:t>
            </a:r>
            <a:endParaRPr lang="en-GB" dirty="0"/>
          </a:p>
        </p:txBody>
      </p:sp>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spTree>
    <p:extLst>
      <p:ext uri="{BB962C8B-B14F-4D97-AF65-F5344CB8AC3E}">
        <p14:creationId xmlns:p14="http://schemas.microsoft.com/office/powerpoint/2010/main" val="2929507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Approved question tall">
    <p:spTree>
      <p:nvGrpSpPr>
        <p:cNvPr id="1" name=""/>
        <p:cNvGrpSpPr/>
        <p:nvPr/>
      </p:nvGrpSpPr>
      <p:grpSpPr>
        <a:xfrm>
          <a:off x="0" y="0"/>
          <a:ext cx="0" cy="0"/>
          <a:chOff x="0" y="0"/>
          <a:chExt cx="0" cy="0"/>
        </a:xfrm>
      </p:grpSpPr>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4838" y="385087"/>
            <a:ext cx="5413375" cy="4572000"/>
          </a:xfrm>
          <a:prstGeom prst="rect">
            <a:avLst/>
          </a:prstGeom>
        </p:spPr>
      </p:pic>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1676" y="5339038"/>
            <a:ext cx="987552" cy="1156968"/>
          </a:xfrm>
          <a:prstGeom prst="rect">
            <a:avLst/>
          </a:prstGeom>
        </p:spPr>
      </p:pic>
      <p:pic>
        <p:nvPicPr>
          <p:cNvPr id="10" name="Picture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sp>
        <p:nvSpPr>
          <p:cNvPr id="11" name="Title 1"/>
          <p:cNvSpPr>
            <a:spLocks noGrp="1"/>
          </p:cNvSpPr>
          <p:nvPr>
            <p:ph type="ctrTitle"/>
          </p:nvPr>
        </p:nvSpPr>
        <p:spPr>
          <a:xfrm>
            <a:off x="996696" y="1691640"/>
            <a:ext cx="4597400" cy="860400"/>
          </a:xfrm>
          <a:prstGeom prst="rect">
            <a:avLst/>
          </a:prstGeom>
        </p:spPr>
        <p:txBody>
          <a:bodyPr/>
          <a:lstStyle>
            <a:lvl1pPr>
              <a:defRPr>
                <a:solidFill>
                  <a:srgbClr val="404040"/>
                </a:solidFill>
                <a:latin typeface="+mn-lt"/>
                <a:cs typeface="Arial" pitchFamily="34" charset="0"/>
              </a:defRPr>
            </a:lvl1pPr>
          </a:lstStyle>
          <a:p>
            <a:r>
              <a:rPr lang="en-US" smtClean="0"/>
              <a:t>Click to edit Master title style</a:t>
            </a:r>
            <a:endParaRPr lang="en-GB" dirty="0"/>
          </a:p>
        </p:txBody>
      </p:sp>
      <p:sp>
        <p:nvSpPr>
          <p:cNvPr id="14" name="Subtitle 2"/>
          <p:cNvSpPr>
            <a:spLocks noGrp="1"/>
          </p:cNvSpPr>
          <p:nvPr>
            <p:ph type="subTitle" idx="1"/>
          </p:nvPr>
        </p:nvSpPr>
        <p:spPr>
          <a:xfrm>
            <a:off x="996696" y="2660904"/>
            <a:ext cx="4597400"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smtClean="0"/>
              <a:t>Click to edit Master subtitle style</a:t>
            </a:r>
            <a:endParaRPr lang="en-GB" dirty="0"/>
          </a:p>
        </p:txBody>
      </p:sp>
    </p:spTree>
    <p:extLst>
      <p:ext uri="{BB962C8B-B14F-4D97-AF65-F5344CB8AC3E}">
        <p14:creationId xmlns:p14="http://schemas.microsoft.com/office/powerpoint/2010/main" val="17521231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a:xfrm>
            <a:off x="609918" y="1425600"/>
            <a:ext cx="10978515" cy="470001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886118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4119179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smtClean="0"/>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smtClean="0"/>
              <a:t>Click to edit Master title style</a:t>
            </a:r>
            <a:endParaRPr lang="en-GB" dirty="0"/>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4041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smtClean="0"/>
              <a:t>Click to edit Master title style</a:t>
            </a:r>
            <a:endParaRPr lang="en-GB" dirty="0"/>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6200828" y="1425575"/>
            <a:ext cx="5387605" cy="4700589"/>
          </a:xfr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lang="en-US" sz="2400" kern="1200" dirty="0" smtClean="0">
                <a:solidFill>
                  <a:schemeClr val="bg1"/>
                </a:solidFill>
                <a:latin typeface="+mn-l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lang="en-US" sz="2400" kern="1200" dirty="0" smtClean="0">
                <a:solidFill>
                  <a:schemeClr val="bg1"/>
                </a:solidFill>
                <a:latin typeface="+mn-l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lang="en-US" sz="2000" kern="1200" dirty="0" smtClean="0">
                <a:solidFill>
                  <a:schemeClr val="bg1"/>
                </a:solidFill>
                <a:latin typeface="+mn-l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lang="en-US" sz="1800" kern="1200" dirty="0" smtClean="0">
                <a:solidFill>
                  <a:schemeClr val="bg1"/>
                </a:solidFill>
                <a:latin typeface="+mn-l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lang="en-GB" sz="1800" kern="1200" dirty="0">
                <a:solidFill>
                  <a:schemeClr val="bg1"/>
                </a:solidFill>
                <a:latin typeface="+mn-lt"/>
                <a:ea typeface="+mn-ea"/>
                <a:cs typeface="+mn-cs"/>
              </a:defRPr>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sz="half" idx="1"/>
          </p:nvPr>
        </p:nvSpPr>
        <p:spPr>
          <a:xfrm>
            <a:off x="612648" y="2130551"/>
            <a:ext cx="5393208" cy="3995928"/>
          </a:xfrm>
        </p:spPr>
        <p:txBody>
          <a:bodyPr/>
          <a:lstStyle>
            <a:lvl1pPr>
              <a:defRPr sz="2400"/>
            </a:lvl1pPr>
            <a:lvl2pPr>
              <a:defRPr sz="2400"/>
            </a:lvl2pPr>
            <a:lvl3pPr marL="1081088" indent="-357188">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4" name="Content Placeholder 3"/>
          <p:cNvSpPr>
            <a:spLocks noGrp="1"/>
          </p:cNvSpPr>
          <p:nvPr>
            <p:ph sz="half" idx="2"/>
          </p:nvPr>
        </p:nvSpPr>
        <p:spPr>
          <a:xfrm>
            <a:off x="6199632" y="2130551"/>
            <a:ext cx="5393208" cy="3995928"/>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0" name="Text Placeholder 9"/>
          <p:cNvSpPr>
            <a:spLocks noGrp="1"/>
          </p:cNvSpPr>
          <p:nvPr>
            <p:ph type="body" sz="quarter" idx="12"/>
          </p:nvPr>
        </p:nvSpPr>
        <p:spPr>
          <a:xfrm>
            <a:off x="612648" y="1427144"/>
            <a:ext cx="5393208" cy="640800"/>
          </a:xfrm>
        </p:spPr>
        <p:txBody>
          <a:bodyPr anchor="t" anchorCtr="0"/>
          <a:lstStyle>
            <a:lvl1pPr>
              <a:buNone/>
              <a:defRPr b="1"/>
            </a:lvl1pPr>
          </a:lstStyle>
          <a:p>
            <a:pPr lvl="0"/>
            <a:r>
              <a:rPr lang="en-US" smtClean="0"/>
              <a:t>Click to edit Master text styles</a:t>
            </a:r>
          </a:p>
        </p:txBody>
      </p:sp>
      <p:sp>
        <p:nvSpPr>
          <p:cNvPr id="11" name="Text Placeholder 9"/>
          <p:cNvSpPr>
            <a:spLocks noGrp="1"/>
          </p:cNvSpPr>
          <p:nvPr>
            <p:ph type="body" sz="quarter" idx="13"/>
          </p:nvPr>
        </p:nvSpPr>
        <p:spPr>
          <a:xfrm>
            <a:off x="6199632" y="1427144"/>
            <a:ext cx="5393208" cy="640800"/>
          </a:xfrm>
        </p:spPr>
        <p:txBody>
          <a:bodyPr anchor="t" anchorCtr="0"/>
          <a:lstStyle>
            <a:lvl1pPr>
              <a:buNone/>
              <a:defRPr b="1"/>
            </a:lvl1pPr>
          </a:lstStyle>
          <a:p>
            <a:pPr lvl="0"/>
            <a:r>
              <a:rPr lang="en-US" smtClean="0"/>
              <a:t>Click to edit Master text styles</a:t>
            </a:r>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smtClean="0"/>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913011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smtClean="0"/>
              <a:t>Click to edit Master title style</a:t>
            </a:r>
            <a:endParaRPr lang="en-US" dirty="0"/>
          </a:p>
        </p:txBody>
      </p:sp>
      <p:sp>
        <p:nvSpPr>
          <p:cNvPr id="4102"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19999408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smtClean="0"/>
              <a:t>Click to edit Master title style</a:t>
            </a:r>
            <a:endParaRPr lang="en-US" dirty="0"/>
          </a:p>
        </p:txBody>
      </p:sp>
      <p:sp>
        <p:nvSpPr>
          <p:cNvPr id="7"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2528647806"/>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smtClean="0"/>
              <a:t>Click to edit Master title style</a:t>
            </a:r>
            <a:endParaRPr lang="en-US" dirty="0"/>
          </a:p>
        </p:txBody>
      </p:sp>
      <p:sp>
        <p:nvSpPr>
          <p:cNvPr id="7"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Tree>
    <p:extLst>
      <p:ext uri="{BB962C8B-B14F-4D97-AF65-F5344CB8AC3E}">
        <p14:creationId xmlns:p14="http://schemas.microsoft.com/office/powerpoint/2010/main" val="252864780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800" y="6245352"/>
            <a:ext cx="10978515" cy="0"/>
          </a:xfrm>
          <a:prstGeom prst="line">
            <a:avLst/>
          </a:prstGeom>
          <a:noFill/>
          <a:ln w="3175">
            <a:solidFill>
              <a:srgbClr val="808080"/>
            </a:solidFill>
            <a:round/>
            <a:headEnd/>
            <a:tailEnd/>
          </a:ln>
          <a:effectLst/>
        </p:spPr>
        <p:txBody>
          <a:bodyPr wrap="none" anchor="ctr"/>
          <a:lstStyle/>
          <a:p>
            <a:endParaRPr lang="en-US" noProof="0" dirty="0">
              <a:solidFill>
                <a:schemeClr val="bg1"/>
              </a:solidFill>
            </a:endParaRPr>
          </a:p>
        </p:txBody>
      </p:sp>
    </p:spTree>
    <p:extLst>
      <p:ext uri="{BB962C8B-B14F-4D97-AF65-F5344CB8AC3E}">
        <p14:creationId xmlns:p14="http://schemas.microsoft.com/office/powerpoint/2010/main" val="3350680830"/>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0900077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
        <p:nvSpPr>
          <p:cNvPr id="6"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1" name="Title 1"/>
          <p:cNvSpPr>
            <a:spLocks noGrp="1"/>
          </p:cNvSpPr>
          <p:nvPr>
            <p:ph type="ctrTitle"/>
          </p:nvPr>
        </p:nvSpPr>
        <p:spPr>
          <a:xfrm>
            <a:off x="4151376" y="2240280"/>
            <a:ext cx="7223760" cy="860400"/>
          </a:xfrm>
        </p:spPr>
        <p:txBody>
          <a:bodyPr/>
          <a:lstStyle>
            <a:lvl1pPr>
              <a:defRPr>
                <a:solidFill>
                  <a:srgbClr val="404040"/>
                </a:solidFill>
                <a:latin typeface="+mn-lt"/>
                <a:cs typeface="Arial" pitchFamily="34" charset="0"/>
              </a:defRPr>
            </a:lvl1pPr>
          </a:lstStyle>
          <a:p>
            <a:r>
              <a:rPr lang="en-US" dirty="0" smtClean="0"/>
              <a:t>Click to edit Master title style</a:t>
            </a:r>
            <a:endParaRPr lang="en-GB" dirty="0"/>
          </a:p>
        </p:txBody>
      </p:sp>
      <p:sp>
        <p:nvSpPr>
          <p:cNvPr id="12"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2648" y="612648"/>
            <a:ext cx="7731674" cy="3575304"/>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sp>
        <p:nvSpPr>
          <p:cNvPr id="18" name="Title 1"/>
          <p:cNvSpPr>
            <a:spLocks noGrp="1"/>
          </p:cNvSpPr>
          <p:nvPr>
            <p:ph type="ctrTitle"/>
          </p:nvPr>
        </p:nvSpPr>
        <p:spPr>
          <a:xfrm>
            <a:off x="1005840" y="2240280"/>
            <a:ext cx="6879463" cy="860400"/>
          </a:xfrm>
          <a:prstGeom prst="rect">
            <a:avLst/>
          </a:prstGeom>
        </p:spPr>
        <p:txBody>
          <a:bodyPr/>
          <a:lstStyle>
            <a:lvl1pPr>
              <a:defRPr>
                <a:solidFill>
                  <a:srgbClr val="FFFFFF"/>
                </a:solidFill>
                <a:latin typeface="+mn-lt"/>
                <a:cs typeface="Arial" pitchFamily="34" charset="0"/>
              </a:defRPr>
            </a:lvl1pPr>
          </a:lstStyle>
          <a:p>
            <a:r>
              <a:rPr lang="en-US" dirty="0" smtClean="0"/>
              <a:t>Click to edit Master title style</a:t>
            </a:r>
            <a:endParaRPr lang="en-GB" dirty="0"/>
          </a:p>
        </p:txBody>
      </p:sp>
      <p:sp>
        <p:nvSpPr>
          <p:cNvPr id="19"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rgbClr val="FFFFFF"/>
                </a:solidFill>
                <a:latin typeface="+mn-lt"/>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smtClean="0"/>
              <a:t>Click to edit Master subtitle style</a:t>
            </a:r>
            <a:endParaRPr lang="en-GB" dirty="0"/>
          </a:p>
        </p:txBody>
      </p:sp>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29295070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GB" dirty="0"/>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1665512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dirty="0"/>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9193151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smtClean="0"/>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smtClean="0"/>
              <a:t>Click to edit Master title style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470838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smtClean="0"/>
              <a:t>Click to edit Master title style</a:t>
            </a:r>
            <a:endParaRPr lang="en-GB" dirty="0"/>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6200828"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648"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4" name="Content Placeholder 3"/>
          <p:cNvSpPr>
            <a:spLocks noGrp="1"/>
          </p:cNvSpPr>
          <p:nvPr>
            <p:ph sz="half" idx="2"/>
          </p:nvPr>
        </p:nvSpPr>
        <p:spPr>
          <a:xfrm>
            <a:off x="6199632"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0" name="Text Placeholder 9"/>
          <p:cNvSpPr>
            <a:spLocks noGrp="1"/>
          </p:cNvSpPr>
          <p:nvPr>
            <p:ph type="body" sz="quarter" idx="12"/>
          </p:nvPr>
        </p:nvSpPr>
        <p:spPr>
          <a:xfrm>
            <a:off x="612648" y="1425575"/>
            <a:ext cx="5393208" cy="640800"/>
          </a:xfrm>
        </p:spPr>
        <p:txBody>
          <a:bodyPr anchor="t" anchorCtr="0"/>
          <a:lstStyle>
            <a:lvl1pPr>
              <a:buNone/>
              <a:defRPr b="1">
                <a:solidFill>
                  <a:schemeClr val="bg1"/>
                </a:solidFill>
              </a:defRPr>
            </a:lvl1pPr>
          </a:lstStyle>
          <a:p>
            <a:pPr lvl="0"/>
            <a:endParaRPr lang="en-GB" dirty="0"/>
          </a:p>
        </p:txBody>
      </p:sp>
      <p:sp>
        <p:nvSpPr>
          <p:cNvPr id="11" name="Text Placeholder 9"/>
          <p:cNvSpPr>
            <a:spLocks noGrp="1"/>
          </p:cNvSpPr>
          <p:nvPr>
            <p:ph type="body" sz="quarter" idx="13"/>
          </p:nvPr>
        </p:nvSpPr>
        <p:spPr>
          <a:xfrm>
            <a:off x="6199632" y="1425575"/>
            <a:ext cx="5393208" cy="640800"/>
          </a:xfrm>
        </p:spPr>
        <p:txBody>
          <a:bodyPr anchor="t" anchorCtr="0"/>
          <a:lstStyle>
            <a:lvl1pPr>
              <a:buNone/>
              <a:defRPr b="1">
                <a:solidFill>
                  <a:schemeClr val="bg1"/>
                </a:solidFill>
              </a:defRPr>
            </a:lvl1pPr>
          </a:lstStyle>
          <a:p>
            <a:pPr lvl="0"/>
            <a:endParaRPr lang="en-GB" dirty="0"/>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mn-lt"/>
              </a:defRPr>
            </a:lvl1pPr>
            <a:lvl2pPr marL="0" indent="0">
              <a:buNone/>
              <a:defRPr/>
            </a:lvl2pPr>
            <a:lvl3pPr marL="0" indent="0">
              <a:buNone/>
              <a:defRPr/>
            </a:lvl3pPr>
            <a:lvl4pPr marL="0" indent="0">
              <a:buNone/>
              <a:defRPr/>
            </a:lvl4pPr>
            <a:lvl5pPr marL="0" indent="0">
              <a:buNone/>
              <a:defRPr/>
            </a:lvl5pPr>
          </a:lstStyle>
          <a:p>
            <a:pPr lvl="0"/>
            <a:r>
              <a:rPr lang="en-US" dirty="0" smtClean="0"/>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latin typeface="+mn-lt"/>
            </a:endParaRPr>
          </a:p>
        </p:txBody>
      </p:sp>
    </p:spTree>
    <p:extLst>
      <p:ext uri="{BB962C8B-B14F-4D97-AF65-F5344CB8AC3E}">
        <p14:creationId xmlns:p14="http://schemas.microsoft.com/office/powerpoint/2010/main" val="391301120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smtClean="0"/>
              <a:t>Click to edit Master title style</a:t>
            </a:r>
            <a:endParaRPr lang="en-US" dirty="0"/>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19999408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smtClean="0"/>
              <a:t>Click to edit Master title style</a:t>
            </a:r>
            <a:endParaRPr lang="en-US" dirty="0"/>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2528647806"/>
      </p:ext>
    </p:extLst>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smtClean="0"/>
              <a:t>Click to edit Master title style</a:t>
            </a:r>
            <a:endParaRPr lang="en-US" dirty="0"/>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Tree>
    <p:extLst>
      <p:ext uri="{BB962C8B-B14F-4D97-AF65-F5344CB8AC3E}">
        <p14:creationId xmlns:p14="http://schemas.microsoft.com/office/powerpoint/2010/main" val="2528647806"/>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800" y="6245352"/>
            <a:ext cx="10978515" cy="0"/>
          </a:xfrm>
          <a:prstGeom prst="line">
            <a:avLst/>
          </a:prstGeom>
          <a:noFill/>
          <a:ln w="3175">
            <a:solidFill>
              <a:srgbClr val="808080"/>
            </a:solidFill>
            <a:round/>
            <a:headEnd/>
            <a:tailEnd/>
          </a:ln>
          <a:effectLst/>
        </p:spPr>
        <p:txBody>
          <a:bodyPr wrap="none" anchor="ctr"/>
          <a:lstStyle/>
          <a:p>
            <a:endParaRPr lang="en-US" noProof="0" dirty="0">
              <a:solidFill>
                <a:schemeClr val="bg1"/>
              </a:solidFill>
            </a:endParaRPr>
          </a:p>
        </p:txBody>
      </p:sp>
    </p:spTree>
    <p:extLst>
      <p:ext uri="{BB962C8B-B14F-4D97-AF65-F5344CB8AC3E}">
        <p14:creationId xmlns:p14="http://schemas.microsoft.com/office/powerpoint/2010/main" val="3350680830"/>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mn-lt"/>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mn-lt"/>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mn-lt"/>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mn-lt"/>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mn-lt"/>
                <a:ea typeface="+mn-ea"/>
                <a:cs typeface="Arial" pitchFamily="34" charset="0"/>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Tree>
    <p:extLst>
      <p:ext uri="{BB962C8B-B14F-4D97-AF65-F5344CB8AC3E}">
        <p14:creationId xmlns:p14="http://schemas.microsoft.com/office/powerpoint/2010/main" val="10900077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w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7.wmf"/><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201600"/>
            <a:ext cx="10978515" cy="860400"/>
          </a:xfrm>
          <a:prstGeom prst="rect">
            <a:avLst/>
          </a:prstGeom>
        </p:spPr>
        <p:txBody>
          <a:bodyPr vert="horz" lIns="0" tIns="0" rIns="0" bIns="0" rtlCol="0" anchor="t" anchorCtr="0">
            <a:noAutofit/>
          </a:bodyPr>
          <a:lstStyle/>
          <a:p>
            <a:r>
              <a:rPr lang="en-US" smtClean="0"/>
              <a:t>Click to edit Master title style</a:t>
            </a:r>
            <a:endParaRPr lang="en-GB" dirty="0"/>
          </a:p>
        </p:txBody>
      </p:sp>
      <p:sp>
        <p:nvSpPr>
          <p:cNvPr id="3" name="Text Placeholder 2"/>
          <p:cNvSpPr>
            <a:spLocks noGrp="1"/>
          </p:cNvSpPr>
          <p:nvPr>
            <p:ph type="body" idx="1"/>
          </p:nvPr>
        </p:nvSpPr>
        <p:spPr>
          <a:xfrm>
            <a:off x="609918" y="1425600"/>
            <a:ext cx="10978515" cy="4700016"/>
          </a:xfrm>
          <a:prstGeom prst="rect">
            <a:avLst/>
          </a:prstGeom>
        </p:spPr>
        <p:txBody>
          <a:bodyPr vert="horz" lIns="0" tIns="0" rIns="0" bIns="0" rtlCol="0" anchor="t" anchorCtr="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7" name="TextBox 6"/>
          <p:cNvSpPr txBox="1"/>
          <p:nvPr/>
        </p:nvSpPr>
        <p:spPr>
          <a:xfrm>
            <a:off x="609918" y="6519672"/>
            <a:ext cx="885600" cy="201168"/>
          </a:xfrm>
          <a:prstGeom prst="rect">
            <a:avLst/>
          </a:prstGeom>
          <a:noFill/>
        </p:spPr>
        <p:txBody>
          <a:bodyPr wrap="square" lIns="0" tIns="0" rIns="0" bIns="0" rtlCol="0" anchor="t" anchorCtr="0">
            <a:noAutofit/>
          </a:bodyPr>
          <a:lstStyle/>
          <a:p>
            <a:r>
              <a:rPr lang="en-GB" sz="1100" dirty="0" smtClean="0">
                <a:solidFill>
                  <a:schemeClr val="bg1"/>
                </a:solidFill>
                <a:latin typeface="+mn-lt"/>
              </a:rPr>
              <a:t>Page </a:t>
            </a:r>
            <a:fld id="{9AE4D82F-B047-469B-AC52-A46321747EAF}" type="slidenum">
              <a:rPr lang="en-GB" sz="1100" smtClean="0">
                <a:solidFill>
                  <a:schemeClr val="bg1"/>
                </a:solidFill>
                <a:latin typeface="+mn-lt"/>
              </a:rPr>
              <a:pPr/>
              <a:t>‹#›</a:t>
            </a:fld>
            <a:endParaRPr lang="en-GB" sz="1100" dirty="0">
              <a:solidFill>
                <a:schemeClr val="bg1"/>
              </a:solidFill>
              <a:latin typeface="+mn-lt"/>
            </a:endParaRPr>
          </a:p>
        </p:txBody>
      </p:sp>
      <p:pic>
        <p:nvPicPr>
          <p:cNvPr id="12" name="Picture 11"/>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1190960" y="6327648"/>
            <a:ext cx="399919" cy="408838"/>
          </a:xfrm>
          <a:prstGeom prst="rect">
            <a:avLst/>
          </a:prstGeom>
        </p:spPr>
      </p:pic>
      <p:sp>
        <p:nvSpPr>
          <p:cNvPr id="8" name="TextBox 7"/>
          <p:cNvSpPr txBox="1"/>
          <p:nvPr userDrawn="1"/>
        </p:nvSpPr>
        <p:spPr>
          <a:xfrm>
            <a:off x="1503998" y="6519672"/>
            <a:ext cx="1249362" cy="201168"/>
          </a:xfrm>
          <a:prstGeom prst="rect">
            <a:avLst/>
          </a:prstGeom>
          <a:noFill/>
        </p:spPr>
        <p:txBody>
          <a:bodyPr wrap="square" lIns="0" tIns="0" rIns="0" bIns="0" rtlCol="0" anchor="t" anchorCtr="0">
            <a:noAutofit/>
          </a:bodyPr>
          <a:lstStyle/>
          <a:p>
            <a:fld id="{CB30F0D7-F92D-4FA1-8A6B-68EDAF989827}" type="datetime4">
              <a:rPr lang="en-GB" sz="1100" smtClean="0">
                <a:solidFill>
                  <a:schemeClr val="bg1"/>
                </a:solidFill>
                <a:latin typeface="+mn-lt"/>
              </a:rPr>
              <a:t>17 October 2017</a:t>
            </a:fld>
            <a:endParaRPr lang="en-GB" sz="1100" dirty="0">
              <a:solidFill>
                <a:schemeClr val="bg1"/>
              </a:solidFill>
              <a:latin typeface="+mn-lt"/>
            </a:endParaRPr>
          </a:p>
        </p:txBody>
      </p:sp>
      <p:sp>
        <p:nvSpPr>
          <p:cNvPr id="9" name="TextBox 8"/>
          <p:cNvSpPr txBox="1"/>
          <p:nvPr userDrawn="1"/>
        </p:nvSpPr>
        <p:spPr>
          <a:xfrm>
            <a:off x="3459798" y="6519672"/>
            <a:ext cx="3306762" cy="201168"/>
          </a:xfrm>
          <a:prstGeom prst="rect">
            <a:avLst/>
          </a:prstGeom>
          <a:noFill/>
        </p:spPr>
        <p:txBody>
          <a:bodyPr wrap="square" lIns="0" tIns="0" rIns="0" bIns="0" rtlCol="0" anchor="t" anchorCtr="0">
            <a:noAutofit/>
          </a:bodyPr>
          <a:lstStyle/>
          <a:p>
            <a:r>
              <a:rPr lang="en-GB" sz="1100" dirty="0" smtClean="0">
                <a:solidFill>
                  <a:schemeClr val="bg1"/>
                </a:solidFill>
                <a:latin typeface="+mn-lt"/>
              </a:rPr>
              <a:t>Presentation title</a:t>
            </a:r>
            <a:endParaRPr lang="en-GB" sz="1100" dirty="0">
              <a:solidFill>
                <a:schemeClr val="bg1"/>
              </a:solidFill>
              <a:latin typeface="+mn-lt"/>
            </a:endParaRPr>
          </a:p>
        </p:txBody>
      </p:sp>
    </p:spTree>
  </p:cSld>
  <p:clrMap bg1="lt1" tx1="dk1" bg2="lt2" tx2="dk2" accent1="accent1" accent2="accent2" accent3="accent3" accent4="accent4" accent5="accent5" accent6="accent6" hlink="hlink" folHlink="folHlink"/>
  <p:sldLayoutIdLst>
    <p:sldLayoutId id="2147483667" r:id="rId1"/>
    <p:sldLayoutId id="2147483744" r:id="rId2"/>
    <p:sldLayoutId id="2147483745" r:id="rId3"/>
    <p:sldLayoutId id="2147483747" r:id="rId4"/>
    <p:sldLayoutId id="2147483668" r:id="rId5"/>
    <p:sldLayoutId id="2147483730" r:id="rId6"/>
    <p:sldLayoutId id="2147483731" r:id="rId7"/>
    <p:sldLayoutId id="2147483669" r:id="rId8"/>
    <p:sldLayoutId id="2147483773" r:id="rId9"/>
    <p:sldLayoutId id="2147483670" r:id="rId10"/>
    <p:sldLayoutId id="2147483671" r:id="rId11"/>
    <p:sldLayoutId id="2147483672" r:id="rId12"/>
    <p:sldLayoutId id="2147483673" r:id="rId13"/>
    <p:sldLayoutId id="2147483674" r:id="rId14"/>
    <p:sldLayoutId id="2147483726" r:id="rId15"/>
    <p:sldLayoutId id="2147483677" r:id="rId16"/>
    <p:sldLayoutId id="2147483678" r:id="rId17"/>
    <p:sldLayoutId id="2147483679" r:id="rId18"/>
  </p:sldLayoutIdLst>
  <p:hf sldNum="0" hdr="0"/>
  <p:txStyles>
    <p:title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201600"/>
            <a:ext cx="10978515" cy="860400"/>
          </a:xfrm>
          <a:prstGeom prst="rect">
            <a:avLst/>
          </a:prstGeom>
        </p:spPr>
        <p:txBody>
          <a:bodyPr vert="horz" lIns="0" tIns="0" rIns="0" bIns="0" rtlCol="0" anchor="t" anchorCtr="0">
            <a:noAutofit/>
          </a:bodyPr>
          <a:lstStyle/>
          <a:p>
            <a:r>
              <a:rPr lang="en-US" dirty="0" smtClean="0"/>
              <a:t>Click to edit Master title style</a:t>
            </a:r>
            <a:endParaRPr lang="en-GB" dirty="0"/>
          </a:p>
        </p:txBody>
      </p:sp>
      <p:sp>
        <p:nvSpPr>
          <p:cNvPr id="3" name="Text Placeholder 2"/>
          <p:cNvSpPr>
            <a:spLocks noGrp="1"/>
          </p:cNvSpPr>
          <p:nvPr>
            <p:ph type="body" idx="1"/>
          </p:nvPr>
        </p:nvSpPr>
        <p:spPr>
          <a:xfrm>
            <a:off x="609918" y="1425599"/>
            <a:ext cx="10978515" cy="4700016"/>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r>
              <a:rPr lang="en-GB" sz="1100" dirty="0" smtClean="0">
                <a:solidFill>
                  <a:schemeClr val="bg1"/>
                </a:solidFill>
                <a:latin typeface="+mn-lt"/>
              </a:rPr>
              <a:t>Page </a:t>
            </a:r>
            <a:fld id="{9AE4D82F-B047-469B-AC52-A46321747EAF}" type="slidenum">
              <a:rPr lang="en-GB" sz="1100" smtClean="0">
                <a:solidFill>
                  <a:schemeClr val="bg1"/>
                </a:solidFill>
                <a:latin typeface="+mn-lt"/>
              </a:rPr>
              <a:pPr/>
              <a:t>‹#›</a:t>
            </a:fld>
            <a:endParaRPr lang="en-GB" sz="1100" dirty="0">
              <a:solidFill>
                <a:schemeClr val="bg1"/>
              </a:solidFill>
              <a:latin typeface="+mn-lt"/>
            </a:endParaRPr>
          </a:p>
        </p:txBody>
      </p:sp>
      <p:pic>
        <p:nvPicPr>
          <p:cNvPr id="13" name="Picture 12"/>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
        <p:nvSpPr>
          <p:cNvPr id="8" name="TextBox 7"/>
          <p:cNvSpPr txBox="1"/>
          <p:nvPr userDrawn="1"/>
        </p:nvSpPr>
        <p:spPr>
          <a:xfrm>
            <a:off x="6507094" y="6504443"/>
            <a:ext cx="1249362" cy="201168"/>
          </a:xfrm>
          <a:prstGeom prst="rect">
            <a:avLst/>
          </a:prstGeom>
          <a:noFill/>
        </p:spPr>
        <p:txBody>
          <a:bodyPr wrap="square" lIns="0" tIns="0" rIns="0" bIns="0" rtlCol="0" anchor="t" anchorCtr="0">
            <a:noAutofit/>
          </a:bodyPr>
          <a:lstStyle/>
          <a:p>
            <a:r>
              <a:rPr lang="en-GB" sz="1100" dirty="0" smtClean="0">
                <a:solidFill>
                  <a:schemeClr val="bg1"/>
                </a:solidFill>
                <a:latin typeface="+mn-lt"/>
              </a:rPr>
              <a:t>23</a:t>
            </a:r>
            <a:r>
              <a:rPr lang="en-GB" sz="1100" baseline="0" dirty="0" smtClean="0">
                <a:solidFill>
                  <a:schemeClr val="bg1"/>
                </a:solidFill>
                <a:latin typeface="+mn-lt"/>
              </a:rPr>
              <a:t> October</a:t>
            </a:r>
            <a:r>
              <a:rPr lang="en-GB" sz="1100" dirty="0" smtClean="0">
                <a:solidFill>
                  <a:schemeClr val="bg1"/>
                </a:solidFill>
                <a:latin typeface="+mn-lt"/>
              </a:rPr>
              <a:t> 2017</a:t>
            </a:r>
            <a:endParaRPr lang="en-GB" sz="1100" dirty="0">
              <a:solidFill>
                <a:schemeClr val="bg1"/>
              </a:solidFill>
              <a:latin typeface="+mn-lt"/>
            </a:endParaRPr>
          </a:p>
        </p:txBody>
      </p:sp>
      <p:sp>
        <p:nvSpPr>
          <p:cNvPr id="9" name="TextBox 8"/>
          <p:cNvSpPr txBox="1"/>
          <p:nvPr userDrawn="1"/>
        </p:nvSpPr>
        <p:spPr>
          <a:xfrm>
            <a:off x="3433676" y="6504443"/>
            <a:ext cx="3306762" cy="201168"/>
          </a:xfrm>
          <a:prstGeom prst="rect">
            <a:avLst/>
          </a:prstGeom>
          <a:noFill/>
        </p:spPr>
        <p:txBody>
          <a:bodyPr wrap="square" lIns="0" tIns="0" rIns="0" bIns="0" rtlCol="0" anchor="t" anchorCtr="0">
            <a:noAutofit/>
          </a:bodyPr>
          <a:lstStyle/>
          <a:p>
            <a:pPr algn="ctr"/>
            <a:r>
              <a:rPr lang="en-GB" sz="1100" dirty="0" smtClean="0">
                <a:solidFill>
                  <a:schemeClr val="bg1"/>
                </a:solidFill>
                <a:latin typeface="+mn-lt"/>
              </a:rPr>
              <a:t>QNB Excel++</a:t>
            </a:r>
            <a:r>
              <a:rPr lang="en-GB" sz="1100" baseline="0" dirty="0" smtClean="0">
                <a:solidFill>
                  <a:schemeClr val="bg1"/>
                </a:solidFill>
                <a:latin typeface="+mn-lt"/>
              </a:rPr>
              <a:t> Tool Demo</a:t>
            </a:r>
            <a:endParaRPr lang="en-GB" sz="1100" dirty="0">
              <a:solidFill>
                <a:schemeClr val="bg1"/>
              </a:solidFill>
              <a:latin typeface="+mn-lt"/>
            </a:endParaRPr>
          </a:p>
        </p:txBody>
      </p:sp>
    </p:spTree>
  </p:cSld>
  <p:clrMap bg1="lt1" tx1="dk1" bg2="lt2" tx2="dk2" accent1="accent1" accent2="accent2" accent3="accent3" accent4="accent4" accent5="accent5" accent6="accent6" hlink="hlink" folHlink="folHlink"/>
  <p:sldLayoutIdLst>
    <p:sldLayoutId id="2147483681" r:id="rId1"/>
    <p:sldLayoutId id="2147483759" r:id="rId2"/>
    <p:sldLayoutId id="2147483682" r:id="rId3"/>
    <p:sldLayoutId id="2147483734" r:id="rId4"/>
    <p:sldLayoutId id="2147483735" r:id="rId5"/>
    <p:sldLayoutId id="2147483683" r:id="rId6"/>
    <p:sldLayoutId id="2147483775" r:id="rId7"/>
    <p:sldLayoutId id="2147483684" r:id="rId8"/>
    <p:sldLayoutId id="2147483685" r:id="rId9"/>
    <p:sldLayoutId id="2147483686" r:id="rId10"/>
    <p:sldLayoutId id="2147483687" r:id="rId11"/>
    <p:sldLayoutId id="2147483688" r:id="rId12"/>
    <p:sldLayoutId id="2147483728" r:id="rId13"/>
    <p:sldLayoutId id="2147483691" r:id="rId14"/>
    <p:sldLayoutId id="2147483692" r:id="rId15"/>
    <p:sldLayoutId id="2147483693" r:id="rId16"/>
  </p:sldLayoutIdLst>
  <p:hf sldNum="0" hdr="0"/>
  <p:txStyles>
    <p:title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QNB </a:t>
            </a:r>
            <a:r>
              <a:rPr lang="en-IN" dirty="0" smtClean="0"/>
              <a:t>– Excel++ Tool – Demo</a:t>
            </a:r>
            <a:endParaRPr lang="en-GB" dirty="0"/>
          </a:p>
        </p:txBody>
      </p:sp>
      <p:sp>
        <p:nvSpPr>
          <p:cNvPr id="3" name="Subtitle 2"/>
          <p:cNvSpPr>
            <a:spLocks noGrp="1"/>
          </p:cNvSpPr>
          <p:nvPr>
            <p:ph type="subTitle" idx="1"/>
          </p:nvPr>
        </p:nvSpPr>
        <p:spPr/>
        <p:txBody>
          <a:bodyPr/>
          <a:lstStyle/>
          <a:p>
            <a:r>
              <a:rPr lang="en-GB" dirty="0" smtClean="0"/>
              <a:t>October 23, 2017</a:t>
            </a:r>
          </a:p>
        </p:txBody>
      </p:sp>
    </p:spTree>
    <p:extLst>
      <p:ext uri="{BB962C8B-B14F-4D97-AF65-F5344CB8AC3E}">
        <p14:creationId xmlns:p14="http://schemas.microsoft.com/office/powerpoint/2010/main" val="8304936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Agenda</a:t>
            </a:r>
            <a:endParaRPr lang="en-GB" dirty="0"/>
          </a:p>
        </p:txBody>
      </p:sp>
      <p:sp>
        <p:nvSpPr>
          <p:cNvPr id="3" name="Content Placeholder 2"/>
          <p:cNvSpPr>
            <a:spLocks noGrp="1"/>
          </p:cNvSpPr>
          <p:nvPr>
            <p:ph idx="1"/>
          </p:nvPr>
        </p:nvSpPr>
        <p:spPr/>
        <p:txBody>
          <a:bodyPr/>
          <a:lstStyle/>
          <a:p>
            <a:pPr>
              <a:lnSpc>
                <a:spcPct val="150000"/>
              </a:lnSpc>
            </a:pPr>
            <a:r>
              <a:rPr lang="en-US" dirty="0" smtClean="0"/>
              <a:t>IFRS 9 ECL Requirements Recap</a:t>
            </a:r>
          </a:p>
          <a:p>
            <a:pPr>
              <a:lnSpc>
                <a:spcPct val="150000"/>
              </a:lnSpc>
            </a:pPr>
            <a:r>
              <a:rPr lang="en-US" dirty="0" smtClean="0"/>
              <a:t>QNB Methodology and TIN Decisions</a:t>
            </a:r>
            <a:endParaRPr lang="en-IN" dirty="0" smtClean="0"/>
          </a:p>
          <a:p>
            <a:pPr>
              <a:lnSpc>
                <a:spcPct val="150000"/>
              </a:lnSpc>
            </a:pPr>
            <a:r>
              <a:rPr lang="en-US" dirty="0" smtClean="0"/>
              <a:t>Excel++ Tool Configuration</a:t>
            </a:r>
          </a:p>
          <a:p>
            <a:pPr>
              <a:lnSpc>
                <a:spcPct val="150000"/>
              </a:lnSpc>
            </a:pPr>
            <a:r>
              <a:rPr lang="en-US" dirty="0" smtClean="0"/>
              <a:t>QNB – June 2017 – Tool Output</a:t>
            </a:r>
          </a:p>
          <a:p>
            <a:pPr>
              <a:lnSpc>
                <a:spcPct val="150000"/>
              </a:lnSpc>
            </a:pPr>
            <a:r>
              <a:rPr lang="en-US" dirty="0" smtClean="0"/>
              <a:t>Tool Demo</a:t>
            </a:r>
          </a:p>
          <a:p>
            <a:pPr lvl="1">
              <a:lnSpc>
                <a:spcPct val="150000"/>
              </a:lnSpc>
            </a:pPr>
            <a:r>
              <a:rPr lang="en-US" dirty="0" smtClean="0"/>
              <a:t>Run / Control Buttons</a:t>
            </a:r>
          </a:p>
          <a:p>
            <a:pPr lvl="1">
              <a:lnSpc>
                <a:spcPct val="150000"/>
              </a:lnSpc>
            </a:pPr>
            <a:r>
              <a:rPr lang="en-US" dirty="0" smtClean="0"/>
              <a:t>Illustrative ECL calculations and sensitivities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IFRS 9 ECL Requirements </a:t>
            </a:r>
            <a:r>
              <a:rPr lang="en-US" dirty="0" smtClean="0"/>
              <a:t>Recap</a:t>
            </a:r>
            <a:r>
              <a:rPr lang="en-US" dirty="0"/>
              <a:t/>
            </a:r>
            <a:br>
              <a:rPr lang="en-US" dirty="0"/>
            </a:br>
            <a:r>
              <a:rPr lang="en-US" sz="2400" b="0" i="1" dirty="0" smtClean="0"/>
              <a:t>A host of complexities but essentially a very simple formula</a:t>
            </a:r>
            <a:endParaRPr lang="en-US" sz="2400" b="0" i="1" dirty="0"/>
          </a:p>
        </p:txBody>
      </p:sp>
      <p:sp>
        <p:nvSpPr>
          <p:cNvPr id="5" name="TextBox 5"/>
          <p:cNvSpPr txBox="1"/>
          <p:nvPr/>
        </p:nvSpPr>
        <p:spPr>
          <a:xfrm>
            <a:off x="668697" y="3101612"/>
            <a:ext cx="1219116" cy="769441"/>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r>
              <a:rPr lang="en-US" sz="4400" i="1" dirty="0" smtClean="0">
                <a:solidFill>
                  <a:schemeClr val="tx1"/>
                </a:solidFill>
              </a:rPr>
              <a:t>ECL</a:t>
            </a:r>
            <a:endParaRPr lang="en-US" sz="4400" i="1" dirty="0">
              <a:solidFill>
                <a:schemeClr val="tx1"/>
              </a:solidFill>
            </a:endParaRPr>
          </a:p>
        </p:txBody>
      </p:sp>
      <p:sp>
        <p:nvSpPr>
          <p:cNvPr id="6" name="TextBox 8"/>
          <p:cNvSpPr txBox="1"/>
          <p:nvPr/>
        </p:nvSpPr>
        <p:spPr>
          <a:xfrm>
            <a:off x="8212413" y="3097132"/>
            <a:ext cx="1264898" cy="769441"/>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r>
              <a:rPr lang="en-US" sz="4400" i="1" dirty="0" smtClean="0">
                <a:solidFill>
                  <a:schemeClr val="tx1"/>
                </a:solidFill>
              </a:rPr>
              <a:t>LGD</a:t>
            </a:r>
            <a:endParaRPr lang="en-US" sz="4400" i="1" dirty="0">
              <a:solidFill>
                <a:schemeClr val="tx1"/>
              </a:solidFill>
            </a:endParaRPr>
          </a:p>
        </p:txBody>
      </p:sp>
      <p:sp>
        <p:nvSpPr>
          <p:cNvPr id="8" name="TextBox 9"/>
          <p:cNvSpPr txBox="1"/>
          <p:nvPr/>
        </p:nvSpPr>
        <p:spPr>
          <a:xfrm>
            <a:off x="4465818" y="3097133"/>
            <a:ext cx="931666" cy="769441"/>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r>
              <a:rPr lang="en-US" sz="4400" i="1" dirty="0" smtClean="0">
                <a:solidFill>
                  <a:schemeClr val="tx1"/>
                </a:solidFill>
              </a:rPr>
              <a:t>PD</a:t>
            </a:r>
            <a:endParaRPr lang="en-US" sz="4400" i="1" dirty="0">
              <a:solidFill>
                <a:schemeClr val="tx1"/>
              </a:solidFill>
            </a:endParaRPr>
          </a:p>
        </p:txBody>
      </p:sp>
      <p:sp>
        <p:nvSpPr>
          <p:cNvPr id="9" name="TextBox 10"/>
          <p:cNvSpPr txBox="1"/>
          <p:nvPr/>
        </p:nvSpPr>
        <p:spPr>
          <a:xfrm>
            <a:off x="5897933" y="3097134"/>
            <a:ext cx="1680396" cy="769441"/>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r>
              <a:rPr lang="en-US" sz="4400" i="1" dirty="0" smtClean="0">
                <a:solidFill>
                  <a:schemeClr val="tx1"/>
                </a:solidFill>
              </a:rPr>
              <a:t>Stage</a:t>
            </a:r>
            <a:endParaRPr lang="en-US" sz="4400" i="1" dirty="0">
              <a:solidFill>
                <a:schemeClr val="tx1"/>
              </a:solidFill>
            </a:endParaRPr>
          </a:p>
        </p:txBody>
      </p:sp>
      <p:sp>
        <p:nvSpPr>
          <p:cNvPr id="10" name="TextBox 11"/>
          <p:cNvSpPr txBox="1"/>
          <p:nvPr/>
        </p:nvSpPr>
        <p:spPr>
          <a:xfrm>
            <a:off x="2672662" y="3101611"/>
            <a:ext cx="1309974" cy="769441"/>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r>
              <a:rPr lang="en-US" sz="4400" i="1" dirty="0" smtClean="0">
                <a:solidFill>
                  <a:schemeClr val="tx1"/>
                </a:solidFill>
              </a:rPr>
              <a:t>EAD</a:t>
            </a:r>
            <a:endParaRPr lang="en-US" sz="4400" i="1" dirty="0">
              <a:solidFill>
                <a:schemeClr val="tx1"/>
              </a:solidFill>
            </a:endParaRPr>
          </a:p>
        </p:txBody>
      </p:sp>
      <p:sp>
        <p:nvSpPr>
          <p:cNvPr id="11" name="TextBox 13"/>
          <p:cNvSpPr txBox="1"/>
          <p:nvPr/>
        </p:nvSpPr>
        <p:spPr>
          <a:xfrm>
            <a:off x="1887813" y="3101612"/>
            <a:ext cx="534121" cy="769441"/>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r>
              <a:rPr lang="en-US" sz="4400" i="1" dirty="0">
                <a:solidFill>
                  <a:schemeClr val="tx1"/>
                </a:solidFill>
              </a:rPr>
              <a:t>=</a:t>
            </a:r>
          </a:p>
        </p:txBody>
      </p:sp>
      <p:sp>
        <p:nvSpPr>
          <p:cNvPr id="12" name="Multiply 11"/>
          <p:cNvSpPr/>
          <p:nvPr/>
        </p:nvSpPr>
        <p:spPr bwMode="auto">
          <a:xfrm>
            <a:off x="5533408" y="3332589"/>
            <a:ext cx="228600" cy="304800"/>
          </a:xfrm>
          <a:prstGeom prst="mathMultiply">
            <a:avLst/>
          </a:prstGeom>
          <a:solidFill>
            <a:schemeClr val="tx1"/>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pPr algn="ctr" defTabSz="995363"/>
            <a:endParaRPr lang="en-US" b="1" dirty="0" smtClean="0"/>
          </a:p>
        </p:txBody>
      </p:sp>
      <p:sp>
        <p:nvSpPr>
          <p:cNvPr id="13" name="Multiply 12"/>
          <p:cNvSpPr/>
          <p:nvPr/>
        </p:nvSpPr>
        <p:spPr bwMode="auto">
          <a:xfrm>
            <a:off x="7798507" y="3332589"/>
            <a:ext cx="228600" cy="304800"/>
          </a:xfrm>
          <a:prstGeom prst="mathMultiply">
            <a:avLst/>
          </a:prstGeom>
          <a:solidFill>
            <a:schemeClr val="tx1"/>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pPr algn="ctr" defTabSz="995363"/>
            <a:endParaRPr lang="en-US" b="1" dirty="0" smtClean="0"/>
          </a:p>
        </p:txBody>
      </p:sp>
      <p:sp>
        <p:nvSpPr>
          <p:cNvPr id="14" name="Multiply 13"/>
          <p:cNvSpPr/>
          <p:nvPr/>
        </p:nvSpPr>
        <p:spPr bwMode="auto">
          <a:xfrm>
            <a:off x="4071078" y="3332589"/>
            <a:ext cx="228600" cy="304800"/>
          </a:xfrm>
          <a:prstGeom prst="mathMultiply">
            <a:avLst/>
          </a:prstGeom>
          <a:solidFill>
            <a:schemeClr val="tx1"/>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pPr algn="ctr" defTabSz="995363"/>
            <a:endParaRPr lang="en-US" b="1" dirty="0" smtClean="0"/>
          </a:p>
        </p:txBody>
      </p:sp>
      <p:sp>
        <p:nvSpPr>
          <p:cNvPr id="15" name="TextBox 14"/>
          <p:cNvSpPr txBox="1"/>
          <p:nvPr/>
        </p:nvSpPr>
        <p:spPr>
          <a:xfrm>
            <a:off x="3176676" y="1819103"/>
            <a:ext cx="1660134" cy="923330"/>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pPr marL="171450" indent="-171450" algn="l">
              <a:buFont typeface="Arial" panose="020B0604020202020204" pitchFamily="34" charset="0"/>
              <a:buChar char="•"/>
            </a:pPr>
            <a:r>
              <a:rPr lang="en-US" sz="1800" dirty="0" smtClean="0">
                <a:solidFill>
                  <a:schemeClr val="bg2">
                    <a:lumMod val="60000"/>
                    <a:lumOff val="40000"/>
                  </a:schemeClr>
                </a:solidFill>
              </a:rPr>
              <a:t>Outstanding</a:t>
            </a:r>
          </a:p>
          <a:p>
            <a:pPr marL="171450" indent="-171450" algn="l">
              <a:buFont typeface="Arial" panose="020B0604020202020204" pitchFamily="34" charset="0"/>
              <a:buChar char="•"/>
            </a:pPr>
            <a:r>
              <a:rPr lang="en-US" sz="1800" dirty="0" smtClean="0">
                <a:solidFill>
                  <a:schemeClr val="bg2">
                    <a:lumMod val="60000"/>
                    <a:lumOff val="40000"/>
                  </a:schemeClr>
                </a:solidFill>
              </a:rPr>
              <a:t>Committed</a:t>
            </a:r>
          </a:p>
          <a:p>
            <a:pPr marL="171450" indent="-171450" algn="l">
              <a:buFont typeface="Arial" panose="020B0604020202020204" pitchFamily="34" charset="0"/>
              <a:buChar char="•"/>
            </a:pPr>
            <a:r>
              <a:rPr lang="en-US" sz="1800" dirty="0" smtClean="0">
                <a:solidFill>
                  <a:schemeClr val="bg2">
                    <a:lumMod val="60000"/>
                    <a:lumOff val="40000"/>
                  </a:schemeClr>
                </a:solidFill>
              </a:rPr>
              <a:t>CCF</a:t>
            </a:r>
            <a:endParaRPr lang="en-US" sz="1800" dirty="0">
              <a:solidFill>
                <a:schemeClr val="bg2">
                  <a:lumMod val="60000"/>
                  <a:lumOff val="40000"/>
                </a:schemeClr>
              </a:solidFill>
            </a:endParaRPr>
          </a:p>
        </p:txBody>
      </p:sp>
      <p:sp>
        <p:nvSpPr>
          <p:cNvPr id="16" name="TextBox 18"/>
          <p:cNvSpPr txBox="1"/>
          <p:nvPr/>
        </p:nvSpPr>
        <p:spPr>
          <a:xfrm>
            <a:off x="4846914" y="4399392"/>
            <a:ext cx="1747594" cy="923330"/>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pPr marL="171450" indent="-171450" algn="l">
              <a:buFont typeface="Arial" panose="020B0604020202020204" pitchFamily="34" charset="0"/>
              <a:buChar char="•"/>
            </a:pPr>
            <a:r>
              <a:rPr lang="en-US" sz="1800" dirty="0" smtClean="0">
                <a:solidFill>
                  <a:schemeClr val="bg2">
                    <a:lumMod val="60000"/>
                    <a:lumOff val="40000"/>
                  </a:schemeClr>
                </a:solidFill>
              </a:rPr>
              <a:t>Rating / DPD</a:t>
            </a:r>
          </a:p>
          <a:p>
            <a:pPr marL="171450" indent="-171450" algn="l">
              <a:buFont typeface="Arial" panose="020B0604020202020204" pitchFamily="34" charset="0"/>
              <a:buChar char="•"/>
            </a:pPr>
            <a:r>
              <a:rPr lang="en-US" sz="1800" dirty="0" smtClean="0">
                <a:solidFill>
                  <a:schemeClr val="bg2">
                    <a:lumMod val="60000"/>
                    <a:lumOff val="40000"/>
                  </a:schemeClr>
                </a:solidFill>
              </a:rPr>
              <a:t>12mths</a:t>
            </a:r>
          </a:p>
          <a:p>
            <a:pPr marL="171450" indent="-171450" algn="l">
              <a:buFont typeface="Arial" panose="020B0604020202020204" pitchFamily="34" charset="0"/>
              <a:buChar char="•"/>
            </a:pPr>
            <a:r>
              <a:rPr lang="en-US" sz="1800" dirty="0" smtClean="0">
                <a:solidFill>
                  <a:schemeClr val="bg2">
                    <a:lumMod val="60000"/>
                    <a:lumOff val="40000"/>
                  </a:schemeClr>
                </a:solidFill>
              </a:rPr>
              <a:t>Lifetime</a:t>
            </a:r>
            <a:endParaRPr lang="en-US" sz="1800" dirty="0">
              <a:solidFill>
                <a:schemeClr val="bg2">
                  <a:lumMod val="60000"/>
                  <a:lumOff val="40000"/>
                </a:schemeClr>
              </a:solidFill>
            </a:endParaRPr>
          </a:p>
        </p:txBody>
      </p:sp>
      <p:sp>
        <p:nvSpPr>
          <p:cNvPr id="17" name="TextBox 19"/>
          <p:cNvSpPr txBox="1"/>
          <p:nvPr/>
        </p:nvSpPr>
        <p:spPr>
          <a:xfrm>
            <a:off x="6353414" y="1812977"/>
            <a:ext cx="2594236" cy="923330"/>
          </a:xfrm>
          <a:prstGeom prst="rect">
            <a:avLst/>
          </a:prstGeom>
          <a:noFill/>
          <a:ln>
            <a:noFill/>
          </a:ln>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pPr marL="171450" indent="-171450" algn="l">
              <a:buFont typeface="Arial" panose="020B0604020202020204" pitchFamily="34" charset="0"/>
              <a:buChar char="•"/>
            </a:pPr>
            <a:r>
              <a:rPr lang="en-US" sz="1800" dirty="0" smtClean="0">
                <a:solidFill>
                  <a:schemeClr val="bg2">
                    <a:lumMod val="60000"/>
                    <a:lumOff val="40000"/>
                  </a:schemeClr>
                </a:solidFill>
              </a:rPr>
              <a:t>1, 2 or 3</a:t>
            </a:r>
          </a:p>
          <a:p>
            <a:pPr marL="171450" indent="-171450" algn="l">
              <a:buFont typeface="Arial" panose="020B0604020202020204" pitchFamily="34" charset="0"/>
              <a:buChar char="•"/>
            </a:pPr>
            <a:r>
              <a:rPr lang="en-US" sz="1800" dirty="0" smtClean="0">
                <a:solidFill>
                  <a:schemeClr val="bg2">
                    <a:lumMod val="60000"/>
                    <a:lumOff val="40000"/>
                  </a:schemeClr>
                </a:solidFill>
              </a:rPr>
              <a:t>Auto v Individual</a:t>
            </a:r>
            <a:endParaRPr lang="en-US" sz="1800" dirty="0">
              <a:solidFill>
                <a:schemeClr val="bg2">
                  <a:lumMod val="60000"/>
                  <a:lumOff val="40000"/>
                </a:schemeClr>
              </a:solidFill>
            </a:endParaRPr>
          </a:p>
          <a:p>
            <a:pPr marL="171450" indent="-171450" algn="l">
              <a:buFont typeface="Arial" panose="020B0604020202020204" pitchFamily="34" charset="0"/>
              <a:buChar char="•"/>
            </a:pPr>
            <a:r>
              <a:rPr lang="en-US" sz="1800" dirty="0" smtClean="0">
                <a:solidFill>
                  <a:schemeClr val="bg2">
                    <a:lumMod val="60000"/>
                    <a:lumOff val="40000"/>
                  </a:schemeClr>
                </a:solidFill>
              </a:rPr>
              <a:t>Backwards transition</a:t>
            </a:r>
          </a:p>
        </p:txBody>
      </p:sp>
      <p:sp>
        <p:nvSpPr>
          <p:cNvPr id="18" name="TextBox 20"/>
          <p:cNvSpPr txBox="1"/>
          <p:nvPr/>
        </p:nvSpPr>
        <p:spPr>
          <a:xfrm>
            <a:off x="8644214" y="4395423"/>
            <a:ext cx="1375954" cy="923330"/>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pPr marL="171450" indent="-171450" algn="l">
              <a:buFont typeface="Arial" panose="020B0604020202020204" pitchFamily="34" charset="0"/>
              <a:buChar char="•"/>
            </a:pPr>
            <a:r>
              <a:rPr lang="en-US" sz="1800" dirty="0" smtClean="0">
                <a:solidFill>
                  <a:schemeClr val="bg2">
                    <a:lumMod val="60000"/>
                    <a:lumOff val="40000"/>
                  </a:schemeClr>
                </a:solidFill>
              </a:rPr>
              <a:t>Collateral</a:t>
            </a:r>
          </a:p>
          <a:p>
            <a:pPr marL="171450" indent="-171450" algn="l">
              <a:buFont typeface="Arial" panose="020B0604020202020204" pitchFamily="34" charset="0"/>
              <a:buChar char="•"/>
            </a:pPr>
            <a:r>
              <a:rPr lang="en-US" sz="1800" dirty="0" smtClean="0">
                <a:solidFill>
                  <a:schemeClr val="bg2">
                    <a:lumMod val="60000"/>
                    <a:lumOff val="40000"/>
                  </a:schemeClr>
                </a:solidFill>
              </a:rPr>
              <a:t>Haircut</a:t>
            </a:r>
          </a:p>
          <a:p>
            <a:pPr marL="171450" indent="-171450" algn="l">
              <a:buFont typeface="Arial" panose="020B0604020202020204" pitchFamily="34" charset="0"/>
              <a:buChar char="•"/>
            </a:pPr>
            <a:r>
              <a:rPr lang="en-US" sz="1800" dirty="0" smtClean="0">
                <a:solidFill>
                  <a:schemeClr val="bg2">
                    <a:lumMod val="60000"/>
                    <a:lumOff val="40000"/>
                  </a:schemeClr>
                </a:solidFill>
              </a:rPr>
              <a:t>LGD</a:t>
            </a:r>
            <a:endParaRPr lang="en-US" sz="1800" dirty="0">
              <a:solidFill>
                <a:schemeClr val="bg2">
                  <a:lumMod val="60000"/>
                  <a:lumOff val="40000"/>
                </a:schemeClr>
              </a:solidFill>
            </a:endParaRPr>
          </a:p>
        </p:txBody>
      </p:sp>
      <p:cxnSp>
        <p:nvCxnSpPr>
          <p:cNvPr id="19" name="Straight Connector 18"/>
          <p:cNvCxnSpPr/>
          <p:nvPr/>
        </p:nvCxnSpPr>
        <p:spPr bwMode="auto">
          <a:xfrm>
            <a:off x="8428313" y="3866573"/>
            <a:ext cx="0" cy="990515"/>
          </a:xfrm>
          <a:prstGeom prst="line">
            <a:avLst/>
          </a:prstGeom>
          <a:solidFill>
            <a:schemeClr val="accent1"/>
          </a:solidFill>
          <a:ln w="38100" cap="flat" cmpd="sng" algn="ctr">
            <a:solidFill>
              <a:schemeClr val="bg2">
                <a:lumMod val="60000"/>
                <a:lumOff val="40000"/>
              </a:schemeClr>
            </a:solidFill>
            <a:prstDash val="solid"/>
            <a:round/>
            <a:headEnd type="none" w="med" len="med"/>
            <a:tailEnd type="none" w="med" len="med"/>
          </a:ln>
          <a:effectLst/>
        </p:spPr>
      </p:cxnSp>
      <p:cxnSp>
        <p:nvCxnSpPr>
          <p:cNvPr id="20" name="Straight Connector 19"/>
          <p:cNvCxnSpPr/>
          <p:nvPr/>
        </p:nvCxnSpPr>
        <p:spPr bwMode="auto">
          <a:xfrm>
            <a:off x="6125673" y="2274642"/>
            <a:ext cx="0" cy="887750"/>
          </a:xfrm>
          <a:prstGeom prst="line">
            <a:avLst/>
          </a:prstGeom>
          <a:solidFill>
            <a:schemeClr val="accent1"/>
          </a:solidFill>
          <a:ln w="38100" cap="flat" cmpd="sng" algn="ctr">
            <a:solidFill>
              <a:schemeClr val="bg2">
                <a:lumMod val="60000"/>
                <a:lumOff val="40000"/>
              </a:schemeClr>
            </a:solidFill>
            <a:prstDash val="solid"/>
            <a:round/>
            <a:headEnd type="none" w="med" len="med"/>
            <a:tailEnd type="none" w="med" len="med"/>
          </a:ln>
          <a:effectLst/>
        </p:spPr>
      </p:cxnSp>
      <p:cxnSp>
        <p:nvCxnSpPr>
          <p:cNvPr id="21" name="Straight Connector 20"/>
          <p:cNvCxnSpPr/>
          <p:nvPr/>
        </p:nvCxnSpPr>
        <p:spPr bwMode="auto">
          <a:xfrm>
            <a:off x="4631013" y="3866573"/>
            <a:ext cx="0" cy="990515"/>
          </a:xfrm>
          <a:prstGeom prst="line">
            <a:avLst/>
          </a:prstGeom>
          <a:solidFill>
            <a:schemeClr val="accent1"/>
          </a:solidFill>
          <a:ln w="38100" cap="flat" cmpd="sng" algn="ctr">
            <a:solidFill>
              <a:schemeClr val="bg2">
                <a:lumMod val="60000"/>
                <a:lumOff val="40000"/>
              </a:schemeClr>
            </a:solidFill>
            <a:prstDash val="solid"/>
            <a:round/>
            <a:headEnd type="none" w="med" len="med"/>
            <a:tailEnd type="none" w="med" len="med"/>
          </a:ln>
          <a:effectLst/>
        </p:spPr>
      </p:cxnSp>
      <p:cxnSp>
        <p:nvCxnSpPr>
          <p:cNvPr id="22" name="Straight Connector 21"/>
          <p:cNvCxnSpPr/>
          <p:nvPr/>
        </p:nvCxnSpPr>
        <p:spPr bwMode="auto">
          <a:xfrm>
            <a:off x="2878413" y="2213862"/>
            <a:ext cx="0" cy="887750"/>
          </a:xfrm>
          <a:prstGeom prst="line">
            <a:avLst/>
          </a:prstGeom>
          <a:solidFill>
            <a:schemeClr val="accent1"/>
          </a:solidFill>
          <a:ln w="38100" cap="flat" cmpd="sng" algn="ctr">
            <a:solidFill>
              <a:schemeClr val="bg2">
                <a:lumMod val="60000"/>
                <a:lumOff val="40000"/>
              </a:schemeClr>
            </a:solidFill>
            <a:prstDash val="solid"/>
            <a:round/>
            <a:headEnd type="none" w="med" len="med"/>
            <a:tailEnd type="none" w="med" len="med"/>
          </a:ln>
          <a:effectLst/>
        </p:spPr>
      </p:cxnSp>
      <p:cxnSp>
        <p:nvCxnSpPr>
          <p:cNvPr id="23" name="Straight Connector 22"/>
          <p:cNvCxnSpPr/>
          <p:nvPr/>
        </p:nvCxnSpPr>
        <p:spPr bwMode="auto">
          <a:xfrm>
            <a:off x="8428313" y="4857088"/>
            <a:ext cx="228600" cy="0"/>
          </a:xfrm>
          <a:prstGeom prst="line">
            <a:avLst/>
          </a:prstGeom>
          <a:solidFill>
            <a:schemeClr val="accent1"/>
          </a:solidFill>
          <a:ln w="38100" cap="flat" cmpd="sng" algn="ctr">
            <a:solidFill>
              <a:schemeClr val="bg2">
                <a:lumMod val="60000"/>
                <a:lumOff val="40000"/>
              </a:schemeClr>
            </a:solidFill>
            <a:prstDash val="solid"/>
            <a:round/>
            <a:headEnd type="none" w="med" len="med"/>
            <a:tailEnd type="none" w="med" len="med"/>
          </a:ln>
          <a:effectLst/>
        </p:spPr>
      </p:cxnSp>
      <p:cxnSp>
        <p:nvCxnSpPr>
          <p:cNvPr id="24" name="Straight Connector 23"/>
          <p:cNvCxnSpPr/>
          <p:nvPr/>
        </p:nvCxnSpPr>
        <p:spPr bwMode="auto">
          <a:xfrm>
            <a:off x="4631013" y="4857088"/>
            <a:ext cx="228600" cy="0"/>
          </a:xfrm>
          <a:prstGeom prst="line">
            <a:avLst/>
          </a:prstGeom>
          <a:solidFill>
            <a:schemeClr val="accent1"/>
          </a:solidFill>
          <a:ln w="38100" cap="flat" cmpd="sng" algn="ctr">
            <a:solidFill>
              <a:schemeClr val="bg2">
                <a:lumMod val="60000"/>
                <a:lumOff val="40000"/>
              </a:schemeClr>
            </a:solidFill>
            <a:prstDash val="solid"/>
            <a:round/>
            <a:headEnd type="none" w="med" len="med"/>
            <a:tailEnd type="none" w="med" len="med"/>
          </a:ln>
          <a:effectLst/>
        </p:spPr>
      </p:cxnSp>
      <p:cxnSp>
        <p:nvCxnSpPr>
          <p:cNvPr id="25" name="Straight Connector 24"/>
          <p:cNvCxnSpPr/>
          <p:nvPr/>
        </p:nvCxnSpPr>
        <p:spPr bwMode="auto">
          <a:xfrm>
            <a:off x="2878413" y="2213862"/>
            <a:ext cx="228600" cy="0"/>
          </a:xfrm>
          <a:prstGeom prst="line">
            <a:avLst/>
          </a:prstGeom>
          <a:solidFill>
            <a:schemeClr val="accent1"/>
          </a:solidFill>
          <a:ln w="38100" cap="flat" cmpd="sng" algn="ctr">
            <a:solidFill>
              <a:schemeClr val="bg2">
                <a:lumMod val="60000"/>
                <a:lumOff val="40000"/>
              </a:schemeClr>
            </a:solidFill>
            <a:prstDash val="solid"/>
            <a:round/>
            <a:headEnd type="none" w="med" len="med"/>
            <a:tailEnd type="none" w="med" len="med"/>
          </a:ln>
          <a:effectLst/>
        </p:spPr>
      </p:cxnSp>
      <p:cxnSp>
        <p:nvCxnSpPr>
          <p:cNvPr id="26" name="Straight Connector 25"/>
          <p:cNvCxnSpPr/>
          <p:nvPr/>
        </p:nvCxnSpPr>
        <p:spPr bwMode="auto">
          <a:xfrm>
            <a:off x="6124814" y="2282756"/>
            <a:ext cx="228600" cy="0"/>
          </a:xfrm>
          <a:prstGeom prst="line">
            <a:avLst/>
          </a:prstGeom>
          <a:solidFill>
            <a:schemeClr val="accent1"/>
          </a:solidFill>
          <a:ln w="38100" cap="flat" cmpd="sng" algn="ctr">
            <a:solidFill>
              <a:schemeClr val="bg2">
                <a:lumMod val="60000"/>
                <a:lumOff val="40000"/>
              </a:schemeClr>
            </a:solidFill>
            <a:prstDash val="solid"/>
            <a:round/>
            <a:headEnd type="none" w="med" len="med"/>
            <a:tailEnd type="none" w="med" len="med"/>
          </a:ln>
          <a:effectLst/>
        </p:spPr>
      </p:cxnSp>
      <p:sp>
        <p:nvSpPr>
          <p:cNvPr id="27" name="Multiply 26"/>
          <p:cNvSpPr/>
          <p:nvPr/>
        </p:nvSpPr>
        <p:spPr bwMode="auto">
          <a:xfrm>
            <a:off x="9678050" y="3383998"/>
            <a:ext cx="228600" cy="304800"/>
          </a:xfrm>
          <a:prstGeom prst="mathMultiply">
            <a:avLst/>
          </a:prstGeom>
          <a:solidFill>
            <a:schemeClr val="tx1"/>
          </a:solidFill>
          <a:ln w="9525" cap="flat" cmpd="sng" algn="ctr">
            <a:noFill/>
            <a:prstDash val="solid"/>
            <a:round/>
            <a:headEnd type="none" w="med" len="med"/>
            <a:tailEnd type="none" w="med" len="med"/>
          </a:ln>
          <a:effectLst/>
        </p:spPr>
        <p:txBody>
          <a:bodyPr vert="horz" wrap="none" lIns="54000" tIns="54000" rIns="54000" bIns="54000" numCol="1" rtlCol="0" anchor="ctr" anchorCtr="0" compatLnSpc="1">
            <a:prstTxWarp prst="textNoShape">
              <a:avLst/>
            </a:prstTxWarp>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pPr algn="ctr" defTabSz="995363"/>
            <a:endParaRPr lang="en-US" b="1" dirty="0" smtClean="0"/>
          </a:p>
        </p:txBody>
      </p:sp>
      <p:sp>
        <p:nvSpPr>
          <p:cNvPr id="28" name="TextBox 8"/>
          <p:cNvSpPr txBox="1"/>
          <p:nvPr/>
        </p:nvSpPr>
        <p:spPr>
          <a:xfrm>
            <a:off x="10119946" y="3101612"/>
            <a:ext cx="705642" cy="769441"/>
          </a:xfrm>
          <a:prstGeom prst="rect">
            <a:avLst/>
          </a:prstGeom>
          <a:noFill/>
        </p:spPr>
        <p:txBody>
          <a:bodyPr wrap="none" rtlCol="0">
            <a:spAutoFit/>
          </a:bodyPr>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6895" algn="ctr" rtl="0" fontAlgn="base">
              <a:spcBef>
                <a:spcPct val="0"/>
              </a:spcBef>
              <a:spcAft>
                <a:spcPct val="0"/>
              </a:spcAft>
              <a:defRPr sz="1000" kern="1200">
                <a:solidFill>
                  <a:schemeClr val="bg1"/>
                </a:solidFill>
                <a:latin typeface="EYInterstate" pitchFamily="2" charset="0"/>
                <a:ea typeface="+mn-ea"/>
                <a:cs typeface="Arial" charset="0"/>
              </a:defRPr>
            </a:lvl2pPr>
            <a:lvl3pPr marL="913786" algn="ctr" rtl="0" fontAlgn="base">
              <a:spcBef>
                <a:spcPct val="0"/>
              </a:spcBef>
              <a:spcAft>
                <a:spcPct val="0"/>
              </a:spcAft>
              <a:defRPr sz="1000" kern="1200">
                <a:solidFill>
                  <a:schemeClr val="bg1"/>
                </a:solidFill>
                <a:latin typeface="EYInterstate" pitchFamily="2" charset="0"/>
                <a:ea typeface="+mn-ea"/>
                <a:cs typeface="Arial" charset="0"/>
              </a:defRPr>
            </a:lvl3pPr>
            <a:lvl4pPr marL="1370680" algn="ctr" rtl="0" fontAlgn="base">
              <a:spcBef>
                <a:spcPct val="0"/>
              </a:spcBef>
              <a:spcAft>
                <a:spcPct val="0"/>
              </a:spcAft>
              <a:defRPr sz="1000" kern="1200">
                <a:solidFill>
                  <a:schemeClr val="bg1"/>
                </a:solidFill>
                <a:latin typeface="EYInterstate" pitchFamily="2" charset="0"/>
                <a:ea typeface="+mn-ea"/>
                <a:cs typeface="Arial" charset="0"/>
              </a:defRPr>
            </a:lvl4pPr>
            <a:lvl5pPr marL="1827574" algn="ctr" rtl="0" fontAlgn="base">
              <a:spcBef>
                <a:spcPct val="0"/>
              </a:spcBef>
              <a:spcAft>
                <a:spcPct val="0"/>
              </a:spcAft>
              <a:defRPr sz="1000" kern="1200">
                <a:solidFill>
                  <a:schemeClr val="bg1"/>
                </a:solidFill>
                <a:latin typeface="EYInterstate" pitchFamily="2" charset="0"/>
                <a:ea typeface="+mn-ea"/>
                <a:cs typeface="Arial" charset="0"/>
              </a:defRPr>
            </a:lvl5pPr>
            <a:lvl6pPr marL="2284467" algn="l" defTabSz="913786" rtl="0" eaLnBrk="1" latinLnBrk="0" hangingPunct="1">
              <a:defRPr sz="1000" kern="1200">
                <a:solidFill>
                  <a:schemeClr val="bg1"/>
                </a:solidFill>
                <a:latin typeface="EYInterstate" pitchFamily="2" charset="0"/>
                <a:ea typeface="+mn-ea"/>
                <a:cs typeface="Arial" charset="0"/>
              </a:defRPr>
            </a:lvl6pPr>
            <a:lvl7pPr marL="2741360" algn="l" defTabSz="913786" rtl="0" eaLnBrk="1" latinLnBrk="0" hangingPunct="1">
              <a:defRPr sz="1000" kern="1200">
                <a:solidFill>
                  <a:schemeClr val="bg1"/>
                </a:solidFill>
                <a:latin typeface="EYInterstate" pitchFamily="2" charset="0"/>
                <a:ea typeface="+mn-ea"/>
                <a:cs typeface="Arial" charset="0"/>
              </a:defRPr>
            </a:lvl7pPr>
            <a:lvl8pPr marL="3198255" algn="l" defTabSz="913786" rtl="0" eaLnBrk="1" latinLnBrk="0" hangingPunct="1">
              <a:defRPr sz="1000" kern="1200">
                <a:solidFill>
                  <a:schemeClr val="bg1"/>
                </a:solidFill>
                <a:latin typeface="EYInterstate" pitchFamily="2" charset="0"/>
                <a:ea typeface="+mn-ea"/>
                <a:cs typeface="Arial" charset="0"/>
              </a:defRPr>
            </a:lvl8pPr>
            <a:lvl9pPr marL="3655148" algn="l" defTabSz="913786" rtl="0" eaLnBrk="1" latinLnBrk="0" hangingPunct="1">
              <a:defRPr sz="1000" kern="1200">
                <a:solidFill>
                  <a:schemeClr val="bg1"/>
                </a:solidFill>
                <a:latin typeface="EYInterstate" pitchFamily="2" charset="0"/>
                <a:ea typeface="+mn-ea"/>
                <a:cs typeface="Arial" charset="0"/>
              </a:defRPr>
            </a:lvl9pPr>
          </a:lstStyle>
          <a:p>
            <a:r>
              <a:rPr lang="en-US" sz="4400" i="1" dirty="0" err="1" smtClean="0">
                <a:solidFill>
                  <a:schemeClr val="tx1"/>
                </a:solidFill>
              </a:rPr>
              <a:t>df</a:t>
            </a:r>
            <a:endParaRPr lang="en-US" sz="4400" i="1" dirty="0">
              <a:solidFill>
                <a:schemeClr val="tx1"/>
              </a:solidFill>
            </a:endParaRPr>
          </a:p>
        </p:txBody>
      </p:sp>
    </p:spTree>
    <p:extLst>
      <p:ext uri="{BB962C8B-B14F-4D97-AF65-F5344CB8AC3E}">
        <p14:creationId xmlns:p14="http://schemas.microsoft.com/office/powerpoint/2010/main" val="15786331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QNB Methodology and TIN Decisions</a:t>
            </a:r>
            <a:r>
              <a:rPr lang="en-IN" dirty="0"/>
              <a:t/>
            </a:r>
            <a:br>
              <a:rPr lang="en-IN" dirty="0"/>
            </a:br>
            <a:r>
              <a:rPr lang="en-US" sz="2400" b="0" i="1" dirty="0" smtClean="0"/>
              <a:t>EAD is relatively straight forward but PD requires application of models</a:t>
            </a:r>
            <a:endParaRPr lang="en-US" sz="2400" b="0" i="1" dirty="0"/>
          </a:p>
        </p:txBody>
      </p:sp>
      <p:sp>
        <p:nvSpPr>
          <p:cNvPr id="3" name="Content Placeholder 2"/>
          <p:cNvSpPr>
            <a:spLocks noGrp="1"/>
          </p:cNvSpPr>
          <p:nvPr>
            <p:ph idx="1"/>
          </p:nvPr>
        </p:nvSpPr>
        <p:spPr/>
        <p:txBody>
          <a:bodyPr/>
          <a:lstStyle/>
          <a:p>
            <a:pPr>
              <a:lnSpc>
                <a:spcPct val="150000"/>
              </a:lnSpc>
            </a:pPr>
            <a:r>
              <a:rPr lang="en-US" dirty="0" smtClean="0"/>
              <a:t>EAD</a:t>
            </a:r>
          </a:p>
          <a:p>
            <a:pPr lvl="1">
              <a:lnSpc>
                <a:spcPct val="150000"/>
              </a:lnSpc>
            </a:pPr>
            <a:r>
              <a:rPr lang="en-US" dirty="0" smtClean="0">
                <a:solidFill>
                  <a:schemeClr val="bg2">
                    <a:lumMod val="60000"/>
                    <a:lumOff val="40000"/>
                  </a:schemeClr>
                </a:solidFill>
              </a:rPr>
              <a:t>Insert text – drawn, undrawn, off balance sheet, CCF and </a:t>
            </a:r>
            <a:r>
              <a:rPr lang="en-US" dirty="0" err="1" smtClean="0">
                <a:solidFill>
                  <a:schemeClr val="bg2">
                    <a:lumMod val="60000"/>
                    <a:lumOff val="40000"/>
                  </a:schemeClr>
                </a:solidFill>
              </a:rPr>
              <a:t>amortisation</a:t>
            </a:r>
            <a:endParaRPr lang="en-US" dirty="0" smtClean="0">
              <a:solidFill>
                <a:schemeClr val="bg2">
                  <a:lumMod val="60000"/>
                  <a:lumOff val="40000"/>
                </a:schemeClr>
              </a:solidFill>
            </a:endParaRPr>
          </a:p>
          <a:p>
            <a:pPr>
              <a:lnSpc>
                <a:spcPct val="150000"/>
              </a:lnSpc>
            </a:pPr>
            <a:r>
              <a:rPr lang="en-US" dirty="0" smtClean="0"/>
              <a:t>PD</a:t>
            </a:r>
            <a:endParaRPr lang="en-US" dirty="0"/>
          </a:p>
          <a:p>
            <a:pPr lvl="1">
              <a:lnSpc>
                <a:spcPct val="150000"/>
              </a:lnSpc>
            </a:pPr>
            <a:r>
              <a:rPr lang="en-US" dirty="0" smtClean="0">
                <a:solidFill>
                  <a:schemeClr val="bg2">
                    <a:lumMod val="60000"/>
                    <a:lumOff val="40000"/>
                  </a:schemeClr>
                </a:solidFill>
              </a:rPr>
              <a:t>Insert text - TTC, CCI, </a:t>
            </a:r>
            <a:r>
              <a:rPr lang="en-US" dirty="0" err="1" smtClean="0">
                <a:solidFill>
                  <a:schemeClr val="bg2">
                    <a:lumMod val="60000"/>
                    <a:lumOff val="40000"/>
                  </a:schemeClr>
                </a:solidFill>
              </a:rPr>
              <a:t>PiT</a:t>
            </a:r>
            <a:r>
              <a:rPr lang="en-US" dirty="0" smtClean="0">
                <a:solidFill>
                  <a:schemeClr val="bg2">
                    <a:lumMod val="60000"/>
                    <a:lumOff val="40000"/>
                  </a:schemeClr>
                </a:solidFill>
              </a:rPr>
              <a:t>, Scenarios, Geographic</a:t>
            </a:r>
            <a:endParaRPr lang="en-US" dirty="0">
              <a:solidFill>
                <a:schemeClr val="bg2">
                  <a:lumMod val="60000"/>
                  <a:lumOff val="40000"/>
                </a:schemeClr>
              </a:solidFill>
            </a:endParaRPr>
          </a:p>
          <a:p>
            <a:pPr lvl="1">
              <a:lnSpc>
                <a:spcPct val="150000"/>
              </a:lnSpc>
            </a:pPr>
            <a:endParaRPr lang="en-US" dirty="0" smtClean="0"/>
          </a:p>
        </p:txBody>
      </p:sp>
    </p:spTree>
    <p:extLst>
      <p:ext uri="{BB962C8B-B14F-4D97-AF65-F5344CB8AC3E}">
        <p14:creationId xmlns:p14="http://schemas.microsoft.com/office/powerpoint/2010/main" val="16273461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QNB Methodology and TIN Decisions</a:t>
            </a:r>
            <a:r>
              <a:rPr lang="en-IN" dirty="0"/>
              <a:t/>
            </a:r>
            <a:br>
              <a:rPr lang="en-IN" dirty="0"/>
            </a:br>
            <a:r>
              <a:rPr lang="en-US" sz="2400" b="0" i="1" dirty="0" smtClean="0"/>
              <a:t>Due to a lack of historic loss data a simplified approach to LGD has been taken</a:t>
            </a:r>
            <a:endParaRPr lang="en-US" sz="2400" b="0" i="1" dirty="0"/>
          </a:p>
        </p:txBody>
      </p:sp>
      <p:sp>
        <p:nvSpPr>
          <p:cNvPr id="3" name="Content Placeholder 2"/>
          <p:cNvSpPr>
            <a:spLocks noGrp="1"/>
          </p:cNvSpPr>
          <p:nvPr>
            <p:ph idx="1"/>
          </p:nvPr>
        </p:nvSpPr>
        <p:spPr/>
        <p:txBody>
          <a:bodyPr/>
          <a:lstStyle/>
          <a:p>
            <a:pPr>
              <a:lnSpc>
                <a:spcPct val="150000"/>
              </a:lnSpc>
            </a:pPr>
            <a:r>
              <a:rPr lang="en-US" dirty="0" smtClean="0"/>
              <a:t>LGD</a:t>
            </a:r>
          </a:p>
          <a:p>
            <a:pPr lvl="1">
              <a:lnSpc>
                <a:spcPct val="150000"/>
              </a:lnSpc>
            </a:pPr>
            <a:r>
              <a:rPr lang="en-US" dirty="0" smtClean="0">
                <a:solidFill>
                  <a:schemeClr val="bg2">
                    <a:lumMod val="60000"/>
                    <a:lumOff val="40000"/>
                  </a:schemeClr>
                </a:solidFill>
              </a:rPr>
              <a:t>Insert text – collateral, haircuts, 10% floor, Basel 45% + 5%</a:t>
            </a:r>
          </a:p>
          <a:p>
            <a:pPr>
              <a:lnSpc>
                <a:spcPct val="150000"/>
              </a:lnSpc>
            </a:pPr>
            <a:r>
              <a:rPr lang="en-US" dirty="0" smtClean="0"/>
              <a:t>Discount Factor</a:t>
            </a:r>
            <a:endParaRPr lang="en-US" dirty="0"/>
          </a:p>
          <a:p>
            <a:pPr lvl="1">
              <a:lnSpc>
                <a:spcPct val="150000"/>
              </a:lnSpc>
            </a:pPr>
            <a:r>
              <a:rPr lang="en-US" dirty="0" smtClean="0">
                <a:solidFill>
                  <a:schemeClr val="bg2">
                    <a:lumMod val="60000"/>
                    <a:lumOff val="40000"/>
                  </a:schemeClr>
                </a:solidFill>
              </a:rPr>
              <a:t>Insert text – use of contractual</a:t>
            </a:r>
            <a:endParaRPr lang="en-US" dirty="0">
              <a:solidFill>
                <a:schemeClr val="bg2">
                  <a:lumMod val="60000"/>
                  <a:lumOff val="40000"/>
                </a:schemeClr>
              </a:solidFill>
            </a:endParaRPr>
          </a:p>
          <a:p>
            <a:pPr lvl="1">
              <a:lnSpc>
                <a:spcPct val="150000"/>
              </a:lnSpc>
            </a:pPr>
            <a:endParaRPr lang="en-US" dirty="0" smtClean="0"/>
          </a:p>
        </p:txBody>
      </p:sp>
    </p:spTree>
    <p:extLst>
      <p:ext uri="{BB962C8B-B14F-4D97-AF65-F5344CB8AC3E}">
        <p14:creationId xmlns:p14="http://schemas.microsoft.com/office/powerpoint/2010/main" val="4804413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QNB Methodology and TIN Decisions</a:t>
            </a:r>
            <a:r>
              <a:rPr lang="en-IN" dirty="0"/>
              <a:t/>
            </a:r>
            <a:br>
              <a:rPr lang="en-IN" dirty="0"/>
            </a:br>
            <a:r>
              <a:rPr lang="en-US" sz="2400" b="0" i="1" dirty="0" smtClean="0"/>
              <a:t>Staging rules (mostly automated) has been agreed with Credit Department</a:t>
            </a:r>
            <a:endParaRPr lang="en-US" sz="2400" b="0" i="1" dirty="0"/>
          </a:p>
        </p:txBody>
      </p:sp>
      <p:sp>
        <p:nvSpPr>
          <p:cNvPr id="3" name="Content Placeholder 2"/>
          <p:cNvSpPr>
            <a:spLocks noGrp="1"/>
          </p:cNvSpPr>
          <p:nvPr>
            <p:ph idx="1"/>
          </p:nvPr>
        </p:nvSpPr>
        <p:spPr/>
        <p:txBody>
          <a:bodyPr/>
          <a:lstStyle/>
          <a:p>
            <a:pPr>
              <a:lnSpc>
                <a:spcPct val="150000"/>
              </a:lnSpc>
            </a:pPr>
            <a:r>
              <a:rPr lang="en-US" dirty="0" smtClean="0"/>
              <a:t>Staging</a:t>
            </a:r>
          </a:p>
          <a:p>
            <a:pPr lvl="1">
              <a:lnSpc>
                <a:spcPct val="150000"/>
              </a:lnSpc>
            </a:pPr>
            <a:r>
              <a:rPr lang="en-US" dirty="0" smtClean="0">
                <a:solidFill>
                  <a:schemeClr val="bg2">
                    <a:lumMod val="60000"/>
                    <a:lumOff val="40000"/>
                  </a:schemeClr>
                </a:solidFill>
              </a:rPr>
              <a:t>Insert text – rules plus individual assessment</a:t>
            </a:r>
          </a:p>
          <a:p>
            <a:pPr>
              <a:lnSpc>
                <a:spcPct val="150000"/>
              </a:lnSpc>
            </a:pPr>
            <a:r>
              <a:rPr lang="en-US" dirty="0" smtClean="0"/>
              <a:t>ECL Methodology</a:t>
            </a:r>
            <a:endParaRPr lang="en-US" dirty="0"/>
          </a:p>
          <a:p>
            <a:pPr lvl="1">
              <a:lnSpc>
                <a:spcPct val="150000"/>
              </a:lnSpc>
            </a:pPr>
            <a:r>
              <a:rPr lang="en-US" dirty="0" smtClean="0">
                <a:solidFill>
                  <a:schemeClr val="bg2">
                    <a:lumMod val="60000"/>
                    <a:lumOff val="40000"/>
                  </a:schemeClr>
                </a:solidFill>
              </a:rPr>
              <a:t>Insert text – summarize from methodology</a:t>
            </a:r>
            <a:endParaRPr lang="en-US" dirty="0">
              <a:solidFill>
                <a:schemeClr val="bg2">
                  <a:lumMod val="60000"/>
                  <a:lumOff val="40000"/>
                </a:schemeClr>
              </a:solidFill>
            </a:endParaRPr>
          </a:p>
          <a:p>
            <a:pPr lvl="1">
              <a:lnSpc>
                <a:spcPct val="150000"/>
              </a:lnSpc>
            </a:pPr>
            <a:endParaRPr lang="en-US" dirty="0" smtClean="0"/>
          </a:p>
        </p:txBody>
      </p:sp>
    </p:spTree>
    <p:extLst>
      <p:ext uri="{BB962C8B-B14F-4D97-AF65-F5344CB8AC3E}">
        <p14:creationId xmlns:p14="http://schemas.microsoft.com/office/powerpoint/2010/main" val="11803374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918" y="201600"/>
            <a:ext cx="11845318" cy="860400"/>
          </a:xfrm>
        </p:spPr>
        <p:txBody>
          <a:bodyPr/>
          <a:lstStyle/>
          <a:p>
            <a:r>
              <a:rPr lang="en-US" dirty="0"/>
              <a:t>Excel++ Tool </a:t>
            </a:r>
            <a:r>
              <a:rPr lang="en-US" dirty="0" smtClean="0"/>
              <a:t>Configuration</a:t>
            </a:r>
            <a:br>
              <a:rPr lang="en-US" dirty="0" smtClean="0"/>
            </a:br>
            <a:r>
              <a:rPr lang="en-US" sz="2400" b="0" i="1" dirty="0" smtClean="0"/>
              <a:t>Multiple calculations based on customer data and model assumptions</a:t>
            </a:r>
            <a:endParaRPr lang="en-US" sz="2400" b="0" i="1" dirty="0"/>
          </a:p>
        </p:txBody>
      </p:sp>
      <p:sp>
        <p:nvSpPr>
          <p:cNvPr id="3" name="Rectangle 2"/>
          <p:cNvSpPr/>
          <p:nvPr/>
        </p:nvSpPr>
        <p:spPr>
          <a:xfrm>
            <a:off x="1114157" y="1732145"/>
            <a:ext cx="1766162" cy="310521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b="1" dirty="0" smtClean="0">
              <a:latin typeface="Times New Roman" panose="02020603050405020304" pitchFamily="18" charset="0"/>
              <a:cs typeface="Times New Roman" panose="02020603050405020304" pitchFamily="18" charset="0"/>
            </a:endParaRPr>
          </a:p>
          <a:p>
            <a:pPr algn="ctr"/>
            <a:endParaRPr lang="en-US" sz="1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3185121" y="1732147"/>
            <a:ext cx="4655128" cy="1142572"/>
          </a:xfrm>
          <a:prstGeom prst="roundRect">
            <a:avLst>
              <a:gd name="adj" fmla="val 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b="1" dirty="0">
              <a:latin typeface="Times New Roman" panose="02020603050405020304" pitchFamily="18" charset="0"/>
              <a:cs typeface="Times New Roman" panose="02020603050405020304" pitchFamily="18" charset="0"/>
            </a:endParaRPr>
          </a:p>
        </p:txBody>
      </p:sp>
      <p:sp>
        <p:nvSpPr>
          <p:cNvPr id="5" name="Rectangle 4"/>
          <p:cNvSpPr/>
          <p:nvPr/>
        </p:nvSpPr>
        <p:spPr>
          <a:xfrm>
            <a:off x="8145050" y="1732147"/>
            <a:ext cx="1674691" cy="310521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00" b="1" dirty="0" smtClean="0">
              <a:latin typeface="Times New Roman" panose="02020603050405020304" pitchFamily="18" charset="0"/>
              <a:cs typeface="Times New Roman" panose="02020603050405020304" pitchFamily="18" charset="0"/>
            </a:endParaRPr>
          </a:p>
          <a:p>
            <a:pPr algn="ctr"/>
            <a:endParaRPr lang="en-US" sz="1400" b="1" dirty="0">
              <a:latin typeface="Times New Roman" panose="02020603050405020304" pitchFamily="18" charset="0"/>
              <a:cs typeface="Times New Roman" panose="02020603050405020304" pitchFamily="18" charset="0"/>
            </a:endParaRPr>
          </a:p>
        </p:txBody>
      </p:sp>
      <p:sp>
        <p:nvSpPr>
          <p:cNvPr id="6" name="Rounded Rectangle 5"/>
          <p:cNvSpPr/>
          <p:nvPr/>
        </p:nvSpPr>
        <p:spPr>
          <a:xfrm>
            <a:off x="3185121" y="3264600"/>
            <a:ext cx="4655128" cy="1572761"/>
          </a:xfrm>
          <a:prstGeom prst="roundRect">
            <a:avLst>
              <a:gd name="adj" fmla="val 50000"/>
            </a:avLst>
          </a:prstGeom>
          <a:solidFill>
            <a:schemeClr val="accent3">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en-US" sz="1400" b="1" dirty="0" smtClean="0">
                <a:solidFill>
                  <a:schemeClr val="accent1">
                    <a:lumMod val="50000"/>
                  </a:schemeClr>
                </a:solidFill>
                <a:latin typeface="Times New Roman" panose="02020603050405020304" pitchFamily="18" charset="0"/>
                <a:cs typeface="Times New Roman" panose="02020603050405020304" pitchFamily="18" charset="0"/>
              </a:rPr>
              <a:t>EXCEL ++ Tool</a:t>
            </a:r>
          </a:p>
          <a:p>
            <a:pPr algn="ctr">
              <a:spcAft>
                <a:spcPts val="600"/>
              </a:spcAft>
            </a:pPr>
            <a:r>
              <a:rPr lang="en-US" sz="1400" b="1" dirty="0" smtClean="0">
                <a:solidFill>
                  <a:schemeClr val="accent1">
                    <a:lumMod val="50000"/>
                  </a:schemeClr>
                </a:solidFill>
                <a:latin typeface="Times New Roman" panose="02020603050405020304" pitchFamily="18" charset="0"/>
                <a:cs typeface="Times New Roman" panose="02020603050405020304" pitchFamily="18" charset="0"/>
              </a:rPr>
              <a:t>ECL CALCULATOR</a:t>
            </a:r>
            <a:endParaRPr lang="en-US" sz="1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 name="Rectangle 6"/>
          <p:cNvSpPr/>
          <p:nvPr/>
        </p:nvSpPr>
        <p:spPr>
          <a:xfrm>
            <a:off x="3542455" y="2323613"/>
            <a:ext cx="701963" cy="36021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PD Curves</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4600307" y="2323613"/>
            <a:ext cx="701963" cy="36021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LGD</a:t>
            </a:r>
            <a:endParaRPr lang="en-US" dirty="0">
              <a:latin typeface="Times New Roman" panose="02020603050405020304" pitchFamily="18" charset="0"/>
              <a:cs typeface="Times New Roman" panose="02020603050405020304" pitchFamily="18" charset="0"/>
            </a:endParaRPr>
          </a:p>
        </p:txBody>
      </p:sp>
      <p:sp>
        <p:nvSpPr>
          <p:cNvPr id="9" name="Rectangle 8"/>
          <p:cNvSpPr/>
          <p:nvPr/>
        </p:nvSpPr>
        <p:spPr>
          <a:xfrm>
            <a:off x="5658160" y="2323613"/>
            <a:ext cx="701963" cy="36021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Macro </a:t>
            </a:r>
          </a:p>
          <a:p>
            <a:pPr algn="ctr"/>
            <a:r>
              <a:rPr lang="en-US" dirty="0" smtClean="0">
                <a:latin typeface="Times New Roman" panose="02020603050405020304" pitchFamily="18" charset="0"/>
                <a:cs typeface="Times New Roman" panose="02020603050405020304" pitchFamily="18" charset="0"/>
              </a:rPr>
              <a:t>Factors</a:t>
            </a:r>
            <a:endParaRPr lang="en-US" dirty="0">
              <a:latin typeface="Times New Roman" panose="02020603050405020304" pitchFamily="18" charset="0"/>
              <a:cs typeface="Times New Roman" panose="02020603050405020304" pitchFamily="18" charset="0"/>
            </a:endParaRPr>
          </a:p>
        </p:txBody>
      </p:sp>
      <p:sp>
        <p:nvSpPr>
          <p:cNvPr id="10" name="Rectangle 9"/>
          <p:cNvSpPr/>
          <p:nvPr/>
        </p:nvSpPr>
        <p:spPr>
          <a:xfrm>
            <a:off x="6708794" y="2323613"/>
            <a:ext cx="778166" cy="36021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latin typeface="Times New Roman" panose="02020603050405020304" pitchFamily="18" charset="0"/>
                <a:cs typeface="Times New Roman" panose="02020603050405020304" pitchFamily="18" charset="0"/>
              </a:rPr>
              <a:t>Stress Scenarios</a:t>
            </a:r>
            <a:endParaRPr lang="en-US" dirty="0">
              <a:latin typeface="Times New Roman" panose="02020603050405020304" pitchFamily="18" charset="0"/>
              <a:cs typeface="Times New Roman" panose="02020603050405020304" pitchFamily="18" charset="0"/>
            </a:endParaRPr>
          </a:p>
        </p:txBody>
      </p:sp>
      <p:sp>
        <p:nvSpPr>
          <p:cNvPr id="11" name="TextBox 10"/>
          <p:cNvSpPr txBox="1"/>
          <p:nvPr/>
        </p:nvSpPr>
        <p:spPr>
          <a:xfrm>
            <a:off x="8374409" y="2259103"/>
            <a:ext cx="1240270" cy="461665"/>
          </a:xfrm>
          <a:prstGeom prst="rect">
            <a:avLst/>
          </a:prstGeom>
          <a:solidFill>
            <a:schemeClr val="accent3">
              <a:lumMod val="95000"/>
            </a:schemeClr>
          </a:solidFill>
          <a:ln>
            <a:noFill/>
          </a:ln>
        </p:spPr>
        <p:txBody>
          <a:bodyPr wrap="square" rtlCol="0">
            <a:spAutoFit/>
          </a:bodyPr>
          <a:lstStyle/>
          <a:p>
            <a:pPr algn="ctr"/>
            <a:r>
              <a:rPr lang="en-US" dirty="0" smtClean="0"/>
              <a:t>IFRS 9 Provisions</a:t>
            </a:r>
            <a:endParaRPr lang="en-US" dirty="0"/>
          </a:p>
        </p:txBody>
      </p:sp>
      <p:sp>
        <p:nvSpPr>
          <p:cNvPr id="12" name="TextBox 11"/>
          <p:cNvSpPr txBox="1"/>
          <p:nvPr/>
        </p:nvSpPr>
        <p:spPr>
          <a:xfrm>
            <a:off x="8374409" y="2839888"/>
            <a:ext cx="1240270" cy="461665"/>
          </a:xfrm>
          <a:prstGeom prst="rect">
            <a:avLst/>
          </a:prstGeom>
          <a:solidFill>
            <a:schemeClr val="accent3">
              <a:lumMod val="95000"/>
            </a:schemeClr>
          </a:solidFill>
          <a:ln>
            <a:noFill/>
          </a:ln>
        </p:spPr>
        <p:txBody>
          <a:bodyPr wrap="square" rtlCol="0">
            <a:spAutoFit/>
          </a:bodyPr>
          <a:lstStyle/>
          <a:p>
            <a:pPr algn="ctr"/>
            <a:r>
              <a:rPr lang="en-US" dirty="0" smtClean="0"/>
              <a:t>Management Reporting</a:t>
            </a:r>
            <a:endParaRPr lang="en-US" dirty="0"/>
          </a:p>
        </p:txBody>
      </p:sp>
      <p:sp>
        <p:nvSpPr>
          <p:cNvPr id="13" name="TextBox 12"/>
          <p:cNvSpPr txBox="1"/>
          <p:nvPr/>
        </p:nvSpPr>
        <p:spPr>
          <a:xfrm>
            <a:off x="8374409" y="4035311"/>
            <a:ext cx="1240270" cy="646331"/>
          </a:xfrm>
          <a:prstGeom prst="rect">
            <a:avLst/>
          </a:prstGeom>
          <a:solidFill>
            <a:schemeClr val="accent3">
              <a:lumMod val="95000"/>
            </a:schemeClr>
          </a:solidFill>
          <a:ln>
            <a:noFill/>
          </a:ln>
        </p:spPr>
        <p:txBody>
          <a:bodyPr wrap="square" rtlCol="0">
            <a:spAutoFit/>
          </a:bodyPr>
          <a:lstStyle/>
          <a:p>
            <a:pPr algn="ctr"/>
            <a:r>
              <a:rPr lang="en-US" dirty="0" smtClean="0"/>
              <a:t>Financial Statements &amp; Analysis</a:t>
            </a:r>
            <a:endParaRPr lang="en-US" dirty="0"/>
          </a:p>
        </p:txBody>
      </p:sp>
      <p:sp>
        <p:nvSpPr>
          <p:cNvPr id="14" name="TextBox 13"/>
          <p:cNvSpPr txBox="1"/>
          <p:nvPr/>
        </p:nvSpPr>
        <p:spPr>
          <a:xfrm>
            <a:off x="8374409" y="3427682"/>
            <a:ext cx="1240270" cy="461665"/>
          </a:xfrm>
          <a:prstGeom prst="rect">
            <a:avLst/>
          </a:prstGeom>
          <a:solidFill>
            <a:schemeClr val="accent3">
              <a:lumMod val="95000"/>
            </a:schemeClr>
          </a:solidFill>
          <a:ln>
            <a:noFill/>
          </a:ln>
        </p:spPr>
        <p:txBody>
          <a:bodyPr wrap="square" rtlCol="0">
            <a:spAutoFit/>
          </a:bodyPr>
          <a:lstStyle/>
          <a:p>
            <a:pPr algn="ctr"/>
            <a:r>
              <a:rPr lang="en-US" dirty="0" smtClean="0"/>
              <a:t>Regulatory reporting</a:t>
            </a:r>
            <a:endParaRPr lang="en-US" dirty="0"/>
          </a:p>
        </p:txBody>
      </p:sp>
      <p:sp>
        <p:nvSpPr>
          <p:cNvPr id="15" name="TextBox 14"/>
          <p:cNvSpPr txBox="1"/>
          <p:nvPr/>
        </p:nvSpPr>
        <p:spPr>
          <a:xfrm>
            <a:off x="1356502" y="2231634"/>
            <a:ext cx="1328981" cy="461665"/>
          </a:xfrm>
          <a:prstGeom prst="rect">
            <a:avLst/>
          </a:prstGeom>
          <a:solidFill>
            <a:schemeClr val="accent3">
              <a:lumMod val="95000"/>
            </a:schemeClr>
          </a:solidFill>
          <a:ln>
            <a:noFill/>
          </a:ln>
        </p:spPr>
        <p:txBody>
          <a:bodyPr wrap="square" rtlCol="0">
            <a:spAutoFit/>
          </a:bodyPr>
          <a:lstStyle/>
          <a:p>
            <a:pPr algn="ctr"/>
            <a:r>
              <a:rPr lang="en-US" dirty="0" smtClean="0"/>
              <a:t>Customer level data</a:t>
            </a:r>
            <a:endParaRPr lang="en-US" dirty="0"/>
          </a:p>
        </p:txBody>
      </p:sp>
      <p:sp>
        <p:nvSpPr>
          <p:cNvPr id="16" name="TextBox 15"/>
          <p:cNvSpPr txBox="1"/>
          <p:nvPr/>
        </p:nvSpPr>
        <p:spPr>
          <a:xfrm>
            <a:off x="1356501" y="2787919"/>
            <a:ext cx="1328983" cy="461665"/>
          </a:xfrm>
          <a:prstGeom prst="rect">
            <a:avLst/>
          </a:prstGeom>
          <a:solidFill>
            <a:schemeClr val="accent3">
              <a:lumMod val="95000"/>
            </a:schemeClr>
          </a:solidFill>
          <a:ln>
            <a:noFill/>
          </a:ln>
        </p:spPr>
        <p:txBody>
          <a:bodyPr wrap="square" rtlCol="0">
            <a:spAutoFit/>
          </a:bodyPr>
          <a:lstStyle/>
          <a:p>
            <a:pPr algn="ctr"/>
            <a:r>
              <a:rPr lang="en-US" dirty="0" smtClean="0"/>
              <a:t>Facility/deal level data</a:t>
            </a:r>
            <a:endParaRPr lang="en-US" dirty="0"/>
          </a:p>
        </p:txBody>
      </p:sp>
      <p:sp>
        <p:nvSpPr>
          <p:cNvPr id="17" name="TextBox 16"/>
          <p:cNvSpPr txBox="1"/>
          <p:nvPr/>
        </p:nvSpPr>
        <p:spPr>
          <a:xfrm>
            <a:off x="1356501" y="4410519"/>
            <a:ext cx="1328984" cy="276999"/>
          </a:xfrm>
          <a:prstGeom prst="rect">
            <a:avLst/>
          </a:prstGeom>
          <a:solidFill>
            <a:schemeClr val="accent5">
              <a:lumMod val="50000"/>
              <a:alpha val="69804"/>
            </a:schemeClr>
          </a:solidFill>
          <a:ln>
            <a:solidFill>
              <a:schemeClr val="accent5">
                <a:lumMod val="60000"/>
                <a:lumOff val="40000"/>
              </a:schemeClr>
            </a:solidFill>
          </a:ln>
        </p:spPr>
        <p:txBody>
          <a:bodyPr wrap="square" rtlCol="0">
            <a:spAutoFit/>
          </a:bodyPr>
          <a:lstStyle/>
          <a:p>
            <a:pPr algn="ctr"/>
            <a:r>
              <a:rPr lang="en-US" dirty="0" smtClean="0">
                <a:solidFill>
                  <a:schemeClr val="bg1"/>
                </a:solidFill>
              </a:rPr>
              <a:t>Staging Decisions</a:t>
            </a:r>
            <a:endParaRPr lang="en-US" dirty="0">
              <a:solidFill>
                <a:schemeClr val="bg1"/>
              </a:solidFill>
            </a:endParaRPr>
          </a:p>
        </p:txBody>
      </p:sp>
      <p:sp>
        <p:nvSpPr>
          <p:cNvPr id="18" name="TextBox 17"/>
          <p:cNvSpPr txBox="1"/>
          <p:nvPr/>
        </p:nvSpPr>
        <p:spPr>
          <a:xfrm>
            <a:off x="1356501" y="3877531"/>
            <a:ext cx="1328983" cy="461665"/>
          </a:xfrm>
          <a:prstGeom prst="rect">
            <a:avLst/>
          </a:prstGeom>
          <a:solidFill>
            <a:schemeClr val="accent3">
              <a:lumMod val="95000"/>
            </a:schemeClr>
          </a:solidFill>
          <a:ln>
            <a:noFill/>
          </a:ln>
        </p:spPr>
        <p:txBody>
          <a:bodyPr wrap="square" rtlCol="0">
            <a:spAutoFit/>
          </a:bodyPr>
          <a:lstStyle/>
          <a:p>
            <a:pPr algn="ctr"/>
            <a:r>
              <a:rPr lang="en-US" dirty="0" smtClean="0"/>
              <a:t>Customer Risk Rating</a:t>
            </a:r>
            <a:endParaRPr lang="en-US" dirty="0"/>
          </a:p>
        </p:txBody>
      </p:sp>
      <p:sp>
        <p:nvSpPr>
          <p:cNvPr id="19" name="TextBox 18"/>
          <p:cNvSpPr txBox="1"/>
          <p:nvPr/>
        </p:nvSpPr>
        <p:spPr>
          <a:xfrm>
            <a:off x="1356501" y="3320974"/>
            <a:ext cx="1328982" cy="456942"/>
          </a:xfrm>
          <a:prstGeom prst="rect">
            <a:avLst/>
          </a:prstGeom>
          <a:solidFill>
            <a:schemeClr val="accent3">
              <a:lumMod val="95000"/>
            </a:schemeClr>
          </a:solidFill>
          <a:ln>
            <a:noFill/>
          </a:ln>
        </p:spPr>
        <p:txBody>
          <a:bodyPr wrap="square" rtlCol="0" anchor="ctr">
            <a:noAutofit/>
          </a:bodyPr>
          <a:lstStyle/>
          <a:p>
            <a:pPr algn="ctr"/>
            <a:r>
              <a:rPr lang="en-US" dirty="0" smtClean="0"/>
              <a:t>Collateral</a:t>
            </a:r>
            <a:endParaRPr lang="en-US" dirty="0"/>
          </a:p>
        </p:txBody>
      </p:sp>
      <p:sp>
        <p:nvSpPr>
          <p:cNvPr id="20" name="Right Arrow 19"/>
          <p:cNvSpPr/>
          <p:nvPr/>
        </p:nvSpPr>
        <p:spPr>
          <a:xfrm>
            <a:off x="2878472" y="3925095"/>
            <a:ext cx="304802" cy="329957"/>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ight Arrow 20"/>
          <p:cNvSpPr/>
          <p:nvPr/>
        </p:nvSpPr>
        <p:spPr>
          <a:xfrm rot="5400000">
            <a:off x="5356833" y="2904681"/>
            <a:ext cx="389881" cy="329957"/>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a:off x="7840249" y="3925094"/>
            <a:ext cx="304802" cy="329957"/>
          </a:xfrm>
          <a:prstGeom prst="right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125820" y="1731913"/>
            <a:ext cx="1701636" cy="417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lumMod val="50000"/>
                  </a:schemeClr>
                </a:solidFill>
                <a:latin typeface="Times New Roman" panose="02020603050405020304" pitchFamily="18" charset="0"/>
                <a:cs typeface="Times New Roman" panose="02020603050405020304" pitchFamily="18" charset="0"/>
              </a:rPr>
              <a:t>Input Data</a:t>
            </a:r>
            <a:endParaRPr lang="en-US" sz="1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3682425" y="1732146"/>
            <a:ext cx="3522981" cy="417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lumMod val="50000"/>
                  </a:schemeClr>
                </a:solidFill>
                <a:latin typeface="Times New Roman" panose="02020603050405020304" pitchFamily="18" charset="0"/>
                <a:cs typeface="Times New Roman" panose="02020603050405020304" pitchFamily="18" charset="0"/>
              </a:rPr>
              <a:t>ECL Components</a:t>
            </a:r>
            <a:endParaRPr lang="en-US" sz="1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5" name="Rectangle 24"/>
          <p:cNvSpPr/>
          <p:nvPr/>
        </p:nvSpPr>
        <p:spPr>
          <a:xfrm>
            <a:off x="8223672" y="1731825"/>
            <a:ext cx="1541744" cy="417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bg1"/>
                </a:solidFill>
                <a:latin typeface="Times New Roman" panose="02020603050405020304" pitchFamily="18" charset="0"/>
                <a:cs typeface="Times New Roman" panose="02020603050405020304" pitchFamily="18" charset="0"/>
              </a:rPr>
              <a:t>Reporting</a:t>
            </a:r>
            <a:endParaRPr lang="en-US" sz="1400" b="1" dirty="0">
              <a:solidFill>
                <a:schemeClr val="bg1"/>
              </a:solidFill>
              <a:latin typeface="Times New Roman" panose="02020603050405020304" pitchFamily="18" charset="0"/>
              <a:cs typeface="Times New Roman" panose="02020603050405020304" pitchFamily="18" charset="0"/>
            </a:endParaRPr>
          </a:p>
        </p:txBody>
      </p:sp>
      <p:sp>
        <p:nvSpPr>
          <p:cNvPr id="26" name="Rectangle 25"/>
          <p:cNvSpPr/>
          <p:nvPr/>
        </p:nvSpPr>
        <p:spPr>
          <a:xfrm>
            <a:off x="3790284" y="3270552"/>
            <a:ext cx="3522981" cy="4179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smtClean="0">
                <a:solidFill>
                  <a:schemeClr val="accent1">
                    <a:lumMod val="50000"/>
                  </a:schemeClr>
                </a:solidFill>
                <a:latin typeface="Times New Roman" panose="02020603050405020304" pitchFamily="18" charset="0"/>
                <a:cs typeface="Times New Roman" panose="02020603050405020304" pitchFamily="18" charset="0"/>
              </a:rPr>
              <a:t>Impairment Calculation</a:t>
            </a:r>
            <a:endParaRPr lang="en-US" sz="14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2880319" y="5305428"/>
            <a:ext cx="6194408" cy="560153"/>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4000" dirty="0" smtClean="0">
                <a:solidFill>
                  <a:schemeClr val="bg2">
                    <a:lumMod val="60000"/>
                    <a:lumOff val="40000"/>
                  </a:schemeClr>
                </a:solidFill>
              </a:rPr>
              <a:t>This needs formatting</a:t>
            </a:r>
          </a:p>
        </p:txBody>
      </p:sp>
    </p:spTree>
    <p:extLst>
      <p:ext uri="{BB962C8B-B14F-4D97-AF65-F5344CB8AC3E}">
        <p14:creationId xmlns:p14="http://schemas.microsoft.com/office/powerpoint/2010/main" val="42280129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Rectangle 81"/>
          <p:cNvSpPr/>
          <p:nvPr/>
        </p:nvSpPr>
        <p:spPr>
          <a:xfrm>
            <a:off x="4525630" y="1999028"/>
            <a:ext cx="2375735" cy="2446230"/>
          </a:xfrm>
          <a:prstGeom prst="rect">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00" b="1" dirty="0" smtClean="0">
                <a:solidFill>
                  <a:schemeClr val="tx2">
                    <a:lumMod val="90000"/>
                    <a:lumOff val="10000"/>
                  </a:schemeClr>
                </a:solidFill>
                <a:latin typeface="Times New Roman" panose="02020603050405020304" pitchFamily="18" charset="0"/>
                <a:cs typeface="Times New Roman" panose="02020603050405020304" pitchFamily="18" charset="0"/>
              </a:rPr>
              <a:t>Output from ETL</a:t>
            </a:r>
          </a:p>
          <a:p>
            <a:pPr algn="ctr"/>
            <a:r>
              <a:rPr lang="en-US" sz="1000" b="1" dirty="0" smtClean="0">
                <a:solidFill>
                  <a:schemeClr val="tx2">
                    <a:lumMod val="90000"/>
                    <a:lumOff val="10000"/>
                  </a:schemeClr>
                </a:solidFill>
                <a:latin typeface="Times New Roman" panose="02020603050405020304" pitchFamily="18" charset="0"/>
                <a:cs typeface="Times New Roman" panose="02020603050405020304" pitchFamily="18" charset="0"/>
              </a:rPr>
              <a:t>(Retail &amp; Non-Retail)</a:t>
            </a:r>
            <a:endParaRPr lang="en-US" sz="1000" b="1" dirty="0">
              <a:solidFill>
                <a:schemeClr val="tx2">
                  <a:lumMod val="90000"/>
                  <a:lumOff val="10000"/>
                </a:schemeClr>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609918" y="201600"/>
            <a:ext cx="11401973" cy="860400"/>
          </a:xfrm>
        </p:spPr>
        <p:txBody>
          <a:bodyPr/>
          <a:lstStyle/>
          <a:p>
            <a:r>
              <a:rPr lang="en-US" dirty="0"/>
              <a:t>Excel++ Tool Configuration</a:t>
            </a:r>
            <a:br>
              <a:rPr lang="en-US" dirty="0"/>
            </a:br>
            <a:r>
              <a:rPr lang="en-US" sz="2400" b="0" i="1" dirty="0" smtClean="0"/>
              <a:t>The primary input for each run is the ETL of customer data on the reporting date</a:t>
            </a:r>
            <a:endParaRPr lang="en-US" sz="2400" b="0" i="1" dirty="0"/>
          </a:p>
        </p:txBody>
      </p:sp>
      <p:sp>
        <p:nvSpPr>
          <p:cNvPr id="27" name="TextBox 26"/>
          <p:cNvSpPr txBox="1"/>
          <p:nvPr/>
        </p:nvSpPr>
        <p:spPr>
          <a:xfrm>
            <a:off x="9321953" y="3971498"/>
            <a:ext cx="2481390" cy="1606594"/>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4000" dirty="0" smtClean="0">
                <a:solidFill>
                  <a:schemeClr val="bg2">
                    <a:lumMod val="60000"/>
                    <a:lumOff val="40000"/>
                  </a:schemeClr>
                </a:solidFill>
              </a:rPr>
              <a:t>This needs formatting</a:t>
            </a:r>
          </a:p>
        </p:txBody>
      </p:sp>
      <p:sp>
        <p:nvSpPr>
          <p:cNvPr id="28" name="Flowchart: Magnetic Disk 27"/>
          <p:cNvSpPr/>
          <p:nvPr/>
        </p:nvSpPr>
        <p:spPr>
          <a:xfrm>
            <a:off x="1210529" y="2611195"/>
            <a:ext cx="894515" cy="535226"/>
          </a:xfrm>
          <a:prstGeom prst="flowChartMagneticDisk">
            <a:avLst/>
          </a:prstGeom>
          <a:solidFill>
            <a:schemeClr val="accent1">
              <a:lumMod val="40000"/>
              <a:lumOff val="60000"/>
            </a:schemeClr>
          </a:solidFill>
          <a:ln w="9525" cap="flat" cmpd="sng" algn="ctr">
            <a:solidFill>
              <a:srgbClr val="FFFFFF"/>
            </a:solidFill>
            <a:prstDash val="solid"/>
          </a:ln>
          <a:effectLst/>
        </p:spPr>
        <p:txBody>
          <a:bodyPr lIns="0" tIns="171389" rIns="0" bIns="0" rtlCol="0" anchor="ctr" anchorCtr="0"/>
          <a:lstStyle/>
          <a:p>
            <a:pPr algn="ctr" defTabSz="1008126" fontAlgn="auto">
              <a:spcBef>
                <a:spcPts val="0"/>
              </a:spcBef>
              <a:spcAft>
                <a:spcPts val="0"/>
              </a:spcAft>
              <a:defRPr/>
            </a:pPr>
            <a:r>
              <a:rPr lang="en-US" sz="1000" b="1" kern="0" dirty="0" smtClean="0">
                <a:solidFill>
                  <a:schemeClr val="tx2">
                    <a:lumMod val="90000"/>
                    <a:lumOff val="10000"/>
                  </a:schemeClr>
                </a:solidFill>
              </a:rPr>
              <a:t>Equation</a:t>
            </a:r>
          </a:p>
        </p:txBody>
      </p:sp>
      <p:sp>
        <p:nvSpPr>
          <p:cNvPr id="29" name="Rectangle 28"/>
          <p:cNvSpPr/>
          <p:nvPr/>
        </p:nvSpPr>
        <p:spPr>
          <a:xfrm rot="5400000">
            <a:off x="5568748" y="445233"/>
            <a:ext cx="307012" cy="2375735"/>
          </a:xfrm>
          <a:prstGeom prst="rect">
            <a:avLst/>
          </a:prstGeom>
          <a:solidFill>
            <a:srgbClr val="808080"/>
          </a:solidFill>
          <a:ln w="9525" cap="flat" cmpd="sng" algn="ctr">
            <a:noFill/>
            <a:prstDash val="solid"/>
          </a:ln>
          <a:effectLst/>
        </p:spPr>
        <p:txBody>
          <a:bodyPr vert="vert270" lIns="0" tIns="0" rIns="0" bIns="0" rtlCol="0" anchor="ctr" anchorCtr="0"/>
          <a:lstStyle/>
          <a:p>
            <a:pPr algn="ctr" defTabSz="1008126" fontAlgn="auto">
              <a:spcBef>
                <a:spcPts val="0"/>
              </a:spcBef>
              <a:spcAft>
                <a:spcPts val="0"/>
              </a:spcAft>
              <a:defRPr/>
            </a:pPr>
            <a:r>
              <a:rPr lang="en-US" kern="0" dirty="0" smtClean="0">
                <a:solidFill>
                  <a:srgbClr val="FFFFFF"/>
                </a:solidFill>
              </a:rPr>
              <a:t>Inputs</a:t>
            </a:r>
          </a:p>
        </p:txBody>
      </p:sp>
      <p:sp>
        <p:nvSpPr>
          <p:cNvPr id="30" name="Rectangle 29"/>
          <p:cNvSpPr/>
          <p:nvPr/>
        </p:nvSpPr>
        <p:spPr>
          <a:xfrm rot="5400000">
            <a:off x="1594419" y="1041795"/>
            <a:ext cx="307008" cy="1176433"/>
          </a:xfrm>
          <a:prstGeom prst="rect">
            <a:avLst/>
          </a:prstGeom>
          <a:solidFill>
            <a:srgbClr val="808080"/>
          </a:solidFill>
          <a:ln w="9525" cap="flat" cmpd="sng" algn="ctr">
            <a:noFill/>
            <a:prstDash val="solid"/>
          </a:ln>
          <a:effectLst/>
        </p:spPr>
        <p:txBody>
          <a:bodyPr vert="vert270" lIns="0" tIns="0" rIns="0" bIns="0" rtlCol="0" anchor="ctr" anchorCtr="0"/>
          <a:lstStyle/>
          <a:p>
            <a:pPr algn="ctr" defTabSz="1008126" fontAlgn="auto">
              <a:spcBef>
                <a:spcPts val="0"/>
              </a:spcBef>
              <a:spcAft>
                <a:spcPts val="0"/>
              </a:spcAft>
              <a:defRPr/>
            </a:pPr>
            <a:r>
              <a:rPr lang="en-US" kern="0" dirty="0" smtClean="0">
                <a:solidFill>
                  <a:srgbClr val="FFFFFF"/>
                </a:solidFill>
              </a:rPr>
              <a:t>Core Systems</a:t>
            </a:r>
          </a:p>
        </p:txBody>
      </p:sp>
      <p:sp>
        <p:nvSpPr>
          <p:cNvPr id="31" name="AutoShape 51"/>
          <p:cNvSpPr>
            <a:spLocks noChangeArrowheads="1"/>
          </p:cNvSpPr>
          <p:nvPr/>
        </p:nvSpPr>
        <p:spPr bwMode="auto">
          <a:xfrm>
            <a:off x="7610415" y="2371182"/>
            <a:ext cx="1065795" cy="1644677"/>
          </a:xfrm>
          <a:prstGeom prst="flowChartMagneticDisk">
            <a:avLst/>
          </a:prstGeom>
          <a:solidFill>
            <a:srgbClr val="FFC000"/>
          </a:solidFill>
          <a:ln w="9525">
            <a:solidFill>
              <a:schemeClr val="bg1"/>
            </a:solidFill>
            <a:round/>
            <a:headEnd/>
            <a:tailEnd/>
          </a:ln>
        </p:spPr>
        <p:txBody>
          <a:bodyPr lIns="78063" tIns="39030" rIns="78063" bIns="39030" anchor="ctr"/>
          <a:lstStyle/>
          <a:p>
            <a:pPr marL="0" marR="0" lvl="0" indent="0" algn="ctr" defTabSz="781264"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smtClean="0">
                <a:ln>
                  <a:noFill/>
                </a:ln>
                <a:solidFill>
                  <a:srgbClr val="000000"/>
                </a:solidFill>
                <a:effectLst/>
                <a:uLnTx/>
                <a:uFillTx/>
              </a:rPr>
              <a:t>ECL</a:t>
            </a:r>
          </a:p>
          <a:p>
            <a:pPr marL="0" marR="0" lvl="0" indent="0" algn="ctr" defTabSz="781264"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smtClean="0">
                <a:ln>
                  <a:noFill/>
                </a:ln>
                <a:solidFill>
                  <a:srgbClr val="000000"/>
                </a:solidFill>
                <a:effectLst/>
                <a:uLnTx/>
                <a:uFillTx/>
              </a:rPr>
              <a:t>Tool</a:t>
            </a:r>
          </a:p>
        </p:txBody>
      </p:sp>
      <p:sp>
        <p:nvSpPr>
          <p:cNvPr id="32" name="Rectangle 31"/>
          <p:cNvSpPr/>
          <p:nvPr/>
        </p:nvSpPr>
        <p:spPr>
          <a:xfrm rot="5400000">
            <a:off x="9459263" y="1093232"/>
            <a:ext cx="307012" cy="1067057"/>
          </a:xfrm>
          <a:prstGeom prst="rect">
            <a:avLst/>
          </a:prstGeom>
          <a:solidFill>
            <a:srgbClr val="808080"/>
          </a:solidFill>
          <a:ln w="9525" cap="flat" cmpd="sng" algn="ctr">
            <a:noFill/>
            <a:prstDash val="solid"/>
          </a:ln>
          <a:effectLst/>
        </p:spPr>
        <p:txBody>
          <a:bodyPr vert="vert270" lIns="0" tIns="0" rIns="0" bIns="0" rtlCol="0" anchor="ctr" anchorCtr="0"/>
          <a:lstStyle/>
          <a:p>
            <a:pPr algn="ctr" defTabSz="1008126" fontAlgn="auto">
              <a:spcBef>
                <a:spcPts val="0"/>
              </a:spcBef>
              <a:spcAft>
                <a:spcPts val="0"/>
              </a:spcAft>
              <a:defRPr/>
            </a:pPr>
            <a:r>
              <a:rPr lang="en-US" kern="0" dirty="0" smtClean="0">
                <a:solidFill>
                  <a:srgbClr val="FFFFFF"/>
                </a:solidFill>
              </a:rPr>
              <a:t>Outputs</a:t>
            </a:r>
          </a:p>
        </p:txBody>
      </p:sp>
      <p:sp>
        <p:nvSpPr>
          <p:cNvPr id="33" name="Flowchart: Magnetic Disk 32"/>
          <p:cNvSpPr/>
          <p:nvPr/>
        </p:nvSpPr>
        <p:spPr>
          <a:xfrm>
            <a:off x="2565846" y="2796255"/>
            <a:ext cx="894515" cy="807696"/>
          </a:xfrm>
          <a:prstGeom prst="flowChartMagneticDisk">
            <a:avLst/>
          </a:prstGeom>
          <a:solidFill>
            <a:schemeClr val="bg1">
              <a:lumMod val="85000"/>
            </a:schemeClr>
          </a:solidFill>
          <a:ln w="9525" cap="flat" cmpd="sng" algn="ctr">
            <a:solidFill>
              <a:srgbClr val="FFFFFF"/>
            </a:solidFill>
            <a:prstDash val="solid"/>
          </a:ln>
          <a:effectLst/>
        </p:spPr>
        <p:txBody>
          <a:bodyPr lIns="0" tIns="171389" rIns="0" bIns="0" rtlCol="0" anchor="ctr" anchorCtr="0"/>
          <a:lstStyle/>
          <a:p>
            <a:pPr algn="ctr" defTabSz="1008126" fontAlgn="auto">
              <a:spcBef>
                <a:spcPts val="0"/>
              </a:spcBef>
              <a:spcAft>
                <a:spcPts val="0"/>
              </a:spcAft>
              <a:defRPr/>
            </a:pPr>
            <a:r>
              <a:rPr lang="en-US" sz="1000" b="1" kern="0" dirty="0" smtClean="0">
                <a:solidFill>
                  <a:schemeClr val="tx2">
                    <a:lumMod val="90000"/>
                    <a:lumOff val="10000"/>
                  </a:schemeClr>
                </a:solidFill>
              </a:rPr>
              <a:t>Data </a:t>
            </a:r>
          </a:p>
          <a:p>
            <a:pPr algn="ctr" defTabSz="1008126" fontAlgn="auto">
              <a:spcBef>
                <a:spcPts val="0"/>
              </a:spcBef>
              <a:spcAft>
                <a:spcPts val="0"/>
              </a:spcAft>
              <a:defRPr/>
            </a:pPr>
            <a:r>
              <a:rPr lang="en-US" sz="1000" b="1" kern="0" dirty="0" smtClean="0">
                <a:solidFill>
                  <a:schemeClr val="tx2">
                    <a:lumMod val="90000"/>
                    <a:lumOff val="10000"/>
                  </a:schemeClr>
                </a:solidFill>
              </a:rPr>
              <a:t>Warehouse</a:t>
            </a:r>
          </a:p>
        </p:txBody>
      </p:sp>
      <p:cxnSp>
        <p:nvCxnSpPr>
          <p:cNvPr id="34" name="Elbow Connector 33"/>
          <p:cNvCxnSpPr>
            <a:stCxn id="28" idx="4"/>
            <a:endCxn id="33" idx="2"/>
          </p:cNvCxnSpPr>
          <p:nvPr/>
        </p:nvCxnSpPr>
        <p:spPr>
          <a:xfrm>
            <a:off x="2105044" y="2878808"/>
            <a:ext cx="460802" cy="321295"/>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Elbow Connector 34"/>
          <p:cNvCxnSpPr>
            <a:endCxn id="33" idx="2"/>
          </p:cNvCxnSpPr>
          <p:nvPr/>
        </p:nvCxnSpPr>
        <p:spPr>
          <a:xfrm flipV="1">
            <a:off x="2109920" y="3200103"/>
            <a:ext cx="455926" cy="952803"/>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33" idx="4"/>
          </p:cNvCxnSpPr>
          <p:nvPr/>
        </p:nvCxnSpPr>
        <p:spPr>
          <a:xfrm flipV="1">
            <a:off x="3460361" y="3199663"/>
            <a:ext cx="293418" cy="44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7" name="Flowchart: Magnetic Disk 36"/>
          <p:cNvSpPr/>
          <p:nvPr/>
        </p:nvSpPr>
        <p:spPr>
          <a:xfrm>
            <a:off x="1210530" y="1974289"/>
            <a:ext cx="894515" cy="535226"/>
          </a:xfrm>
          <a:prstGeom prst="flowChartMagneticDisk">
            <a:avLst/>
          </a:prstGeom>
          <a:solidFill>
            <a:schemeClr val="accent1">
              <a:lumMod val="40000"/>
              <a:lumOff val="60000"/>
            </a:schemeClr>
          </a:solidFill>
          <a:ln w="9525" cap="flat" cmpd="sng" algn="ctr">
            <a:solidFill>
              <a:srgbClr val="FFFFFF"/>
            </a:solidFill>
            <a:prstDash val="solid"/>
          </a:ln>
          <a:effectLst/>
        </p:spPr>
        <p:txBody>
          <a:bodyPr lIns="0" tIns="171389" rIns="0" bIns="0" rtlCol="0" anchor="ctr" anchorCtr="0"/>
          <a:lstStyle/>
          <a:p>
            <a:pPr algn="ctr" defTabSz="1008126" fontAlgn="auto">
              <a:spcBef>
                <a:spcPts val="0"/>
              </a:spcBef>
              <a:spcAft>
                <a:spcPts val="0"/>
              </a:spcAft>
              <a:defRPr/>
            </a:pPr>
            <a:r>
              <a:rPr lang="en-US" sz="1000" b="1" kern="0" dirty="0" smtClean="0">
                <a:solidFill>
                  <a:schemeClr val="tx2">
                    <a:lumMod val="90000"/>
                    <a:lumOff val="10000"/>
                  </a:schemeClr>
                </a:solidFill>
              </a:rPr>
              <a:t>OPICS</a:t>
            </a:r>
          </a:p>
        </p:txBody>
      </p:sp>
      <p:sp>
        <p:nvSpPr>
          <p:cNvPr id="38" name="Flowchart: Magnetic Disk 37"/>
          <p:cNvSpPr/>
          <p:nvPr/>
        </p:nvSpPr>
        <p:spPr>
          <a:xfrm>
            <a:off x="1210528" y="3248101"/>
            <a:ext cx="894515" cy="535226"/>
          </a:xfrm>
          <a:prstGeom prst="flowChartMagneticDisk">
            <a:avLst/>
          </a:prstGeom>
          <a:solidFill>
            <a:schemeClr val="accent1">
              <a:lumMod val="40000"/>
              <a:lumOff val="60000"/>
            </a:schemeClr>
          </a:solidFill>
          <a:ln w="9525" cap="flat" cmpd="sng" algn="ctr">
            <a:solidFill>
              <a:srgbClr val="FFFFFF"/>
            </a:solidFill>
            <a:prstDash val="solid"/>
          </a:ln>
          <a:effectLst/>
        </p:spPr>
        <p:txBody>
          <a:bodyPr lIns="0" tIns="171389" rIns="0" bIns="0" rtlCol="0" anchor="ctr" anchorCtr="0"/>
          <a:lstStyle/>
          <a:p>
            <a:pPr algn="ctr" defTabSz="1008126" fontAlgn="auto">
              <a:spcBef>
                <a:spcPts val="0"/>
              </a:spcBef>
              <a:spcAft>
                <a:spcPts val="0"/>
              </a:spcAft>
              <a:defRPr/>
            </a:pPr>
            <a:r>
              <a:rPr lang="en-US" sz="1000" b="1" kern="0" dirty="0" smtClean="0">
                <a:solidFill>
                  <a:schemeClr val="tx2">
                    <a:lumMod val="90000"/>
                    <a:lumOff val="10000"/>
                  </a:schemeClr>
                </a:solidFill>
              </a:rPr>
              <a:t>TIS</a:t>
            </a:r>
          </a:p>
        </p:txBody>
      </p:sp>
      <p:cxnSp>
        <p:nvCxnSpPr>
          <p:cNvPr id="39" name="Elbow Connector 38"/>
          <p:cNvCxnSpPr>
            <a:stCxn id="38" idx="4"/>
            <a:endCxn id="33" idx="2"/>
          </p:cNvCxnSpPr>
          <p:nvPr/>
        </p:nvCxnSpPr>
        <p:spPr>
          <a:xfrm flipV="1">
            <a:off x="2105043" y="3200103"/>
            <a:ext cx="460803" cy="315611"/>
          </a:xfrm>
          <a:prstGeom prst="bentConnector3">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Elbow Connector 39"/>
          <p:cNvCxnSpPr>
            <a:stCxn id="37" idx="4"/>
            <a:endCxn id="33" idx="2"/>
          </p:cNvCxnSpPr>
          <p:nvPr/>
        </p:nvCxnSpPr>
        <p:spPr>
          <a:xfrm>
            <a:off x="2105045" y="2241902"/>
            <a:ext cx="460801" cy="958201"/>
          </a:xfrm>
          <a:prstGeom prst="bent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1" idx="4"/>
            <a:endCxn id="42" idx="1"/>
          </p:cNvCxnSpPr>
          <p:nvPr/>
        </p:nvCxnSpPr>
        <p:spPr>
          <a:xfrm>
            <a:off x="8676210" y="3193521"/>
            <a:ext cx="403030" cy="392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9079240" y="2997947"/>
            <a:ext cx="1067058" cy="398999"/>
          </a:xfrm>
          <a:prstGeom prst="rect">
            <a:avLst/>
          </a:prstGeom>
          <a:solidFill>
            <a:srgbClr val="C0C0C0"/>
          </a:solidFill>
          <a:ln w="9525" cap="flat" cmpd="sng" algn="ctr">
            <a:solidFill>
              <a:schemeClr val="bg1"/>
            </a:solidFill>
            <a:prstDash val="solid"/>
          </a:ln>
          <a:effectLst/>
        </p:spPr>
        <p:txBody>
          <a:bodyPr lIns="0" tIns="0" rIns="0" bIns="0" rtlCol="0" anchor="ctr" anchorCtr="0"/>
          <a:lstStyle/>
          <a:p>
            <a:pPr algn="ctr" defTabSz="1008126" fontAlgn="auto">
              <a:spcBef>
                <a:spcPts val="0"/>
              </a:spcBef>
              <a:spcAft>
                <a:spcPts val="0"/>
              </a:spcAft>
              <a:defRPr/>
            </a:pPr>
            <a:r>
              <a:rPr lang="en-US" sz="1000" kern="0" dirty="0" smtClean="0">
                <a:solidFill>
                  <a:srgbClr val="000000"/>
                </a:solidFill>
              </a:rPr>
              <a:t>Output Data</a:t>
            </a:r>
          </a:p>
        </p:txBody>
      </p:sp>
      <p:sp>
        <p:nvSpPr>
          <p:cNvPr id="43" name="Rectangle 42"/>
          <p:cNvSpPr/>
          <p:nvPr/>
        </p:nvSpPr>
        <p:spPr>
          <a:xfrm>
            <a:off x="4641977" y="2516593"/>
            <a:ext cx="1068658" cy="358717"/>
          </a:xfrm>
          <a:prstGeom prst="rect">
            <a:avLst/>
          </a:prstGeom>
          <a:solidFill>
            <a:srgbClr val="C0C0C0"/>
          </a:solidFill>
          <a:ln w="9525" cap="flat" cmpd="sng" algn="ctr">
            <a:noFill/>
            <a:prstDash val="solid"/>
          </a:ln>
          <a:effectLst/>
        </p:spPr>
        <p:txBody>
          <a:bodyPr lIns="0" tIns="0" rIns="0" bIns="0" rtlCol="0" anchor="ctr" anchorCtr="0"/>
          <a:lstStyle/>
          <a:p>
            <a:pPr algn="ctr" defTabSz="1008126" fontAlgn="auto">
              <a:spcBef>
                <a:spcPts val="0"/>
              </a:spcBef>
              <a:spcAft>
                <a:spcPts val="0"/>
              </a:spcAft>
              <a:defRPr/>
            </a:pPr>
            <a:r>
              <a:rPr lang="en-US" sz="1000" kern="0" dirty="0" smtClean="0">
                <a:solidFill>
                  <a:srgbClr val="000000"/>
                </a:solidFill>
              </a:rPr>
              <a:t>Default Data</a:t>
            </a:r>
          </a:p>
        </p:txBody>
      </p:sp>
      <p:sp>
        <p:nvSpPr>
          <p:cNvPr id="44" name="Rectangle 43"/>
          <p:cNvSpPr/>
          <p:nvPr/>
        </p:nvSpPr>
        <p:spPr>
          <a:xfrm>
            <a:off x="5769961" y="2510558"/>
            <a:ext cx="1068658" cy="356849"/>
          </a:xfrm>
          <a:prstGeom prst="rect">
            <a:avLst/>
          </a:prstGeom>
          <a:solidFill>
            <a:srgbClr val="C0C0C0"/>
          </a:solidFill>
          <a:ln w="9525" cap="flat" cmpd="sng" algn="ctr">
            <a:noFill/>
            <a:prstDash val="solid"/>
          </a:ln>
          <a:effectLst/>
        </p:spPr>
        <p:txBody>
          <a:bodyPr lIns="0" tIns="0" rIns="0" bIns="0" rtlCol="0" anchor="ctr" anchorCtr="0"/>
          <a:lstStyle/>
          <a:p>
            <a:pPr algn="ctr" defTabSz="1008126" fontAlgn="auto">
              <a:spcBef>
                <a:spcPts val="0"/>
              </a:spcBef>
              <a:spcAft>
                <a:spcPts val="0"/>
              </a:spcAft>
            </a:pPr>
            <a:r>
              <a:rPr lang="en-US" sz="1000" kern="0" dirty="0" smtClean="0">
                <a:solidFill>
                  <a:srgbClr val="000000"/>
                </a:solidFill>
              </a:rPr>
              <a:t>Ratings Data</a:t>
            </a:r>
            <a:endParaRPr lang="en-US" sz="1000" kern="0" dirty="0">
              <a:solidFill>
                <a:srgbClr val="000000"/>
              </a:solidFill>
            </a:endParaRPr>
          </a:p>
        </p:txBody>
      </p:sp>
      <p:sp>
        <p:nvSpPr>
          <p:cNvPr id="45" name="Rectangle 44"/>
          <p:cNvSpPr/>
          <p:nvPr/>
        </p:nvSpPr>
        <p:spPr>
          <a:xfrm>
            <a:off x="4641977" y="2933560"/>
            <a:ext cx="1060240" cy="373993"/>
          </a:xfrm>
          <a:prstGeom prst="rect">
            <a:avLst/>
          </a:prstGeom>
          <a:solidFill>
            <a:srgbClr val="C0C0C0"/>
          </a:solidFill>
          <a:ln w="9525" cap="flat" cmpd="sng" algn="ctr">
            <a:noFill/>
            <a:prstDash val="solid"/>
          </a:ln>
          <a:effectLst/>
        </p:spPr>
        <p:txBody>
          <a:bodyPr lIns="0" tIns="0" rIns="0" bIns="0" rtlCol="0" anchor="ctr" anchorCtr="0"/>
          <a:lstStyle/>
          <a:p>
            <a:pPr algn="ctr" defTabSz="1008126" fontAlgn="auto">
              <a:spcBef>
                <a:spcPts val="0"/>
              </a:spcBef>
              <a:spcAft>
                <a:spcPts val="0"/>
              </a:spcAft>
              <a:defRPr/>
            </a:pPr>
            <a:r>
              <a:rPr lang="en-US" sz="1000" kern="0" dirty="0" smtClean="0">
                <a:solidFill>
                  <a:srgbClr val="000000"/>
                </a:solidFill>
              </a:rPr>
              <a:t>Collateral Data</a:t>
            </a:r>
          </a:p>
        </p:txBody>
      </p:sp>
      <p:sp>
        <p:nvSpPr>
          <p:cNvPr id="46" name="Rectangle 45"/>
          <p:cNvSpPr/>
          <p:nvPr/>
        </p:nvSpPr>
        <p:spPr>
          <a:xfrm>
            <a:off x="5769961" y="2933560"/>
            <a:ext cx="1060240" cy="373993"/>
          </a:xfrm>
          <a:prstGeom prst="rect">
            <a:avLst/>
          </a:prstGeom>
          <a:solidFill>
            <a:srgbClr val="C0C0C0"/>
          </a:solidFill>
          <a:ln w="9525" cap="flat" cmpd="sng" algn="ctr">
            <a:noFill/>
            <a:prstDash val="solid"/>
          </a:ln>
          <a:effectLst/>
        </p:spPr>
        <p:txBody>
          <a:bodyPr lIns="0" tIns="0" rIns="0" bIns="0" rtlCol="0" anchor="ctr" anchorCtr="0"/>
          <a:lstStyle/>
          <a:p>
            <a:pPr algn="ctr" defTabSz="1008126" fontAlgn="auto">
              <a:spcBef>
                <a:spcPts val="0"/>
              </a:spcBef>
              <a:spcAft>
                <a:spcPts val="0"/>
              </a:spcAft>
              <a:defRPr/>
            </a:pPr>
            <a:r>
              <a:rPr lang="en-US" sz="1000" kern="0" dirty="0" smtClean="0">
                <a:solidFill>
                  <a:srgbClr val="000000"/>
                </a:solidFill>
              </a:rPr>
              <a:t>Recovery Data</a:t>
            </a:r>
            <a:endParaRPr lang="en-US" sz="1103" kern="0" dirty="0" smtClean="0">
              <a:solidFill>
                <a:srgbClr val="000000"/>
              </a:solidFill>
            </a:endParaRPr>
          </a:p>
        </p:txBody>
      </p:sp>
      <p:sp>
        <p:nvSpPr>
          <p:cNvPr id="47" name="Rectangle 46"/>
          <p:cNvSpPr/>
          <p:nvPr/>
        </p:nvSpPr>
        <p:spPr>
          <a:xfrm>
            <a:off x="4644840" y="3379741"/>
            <a:ext cx="1068658" cy="358717"/>
          </a:xfrm>
          <a:prstGeom prst="rect">
            <a:avLst/>
          </a:prstGeom>
          <a:solidFill>
            <a:srgbClr val="C0C0C0"/>
          </a:solidFill>
          <a:ln w="9525" cap="flat" cmpd="sng" algn="ctr">
            <a:noFill/>
            <a:prstDash val="solid"/>
          </a:ln>
          <a:effectLst/>
        </p:spPr>
        <p:txBody>
          <a:bodyPr lIns="0" tIns="0" rIns="0" bIns="0" rtlCol="0" anchor="ctr" anchorCtr="0"/>
          <a:lstStyle/>
          <a:p>
            <a:pPr algn="ctr" defTabSz="1008126" fontAlgn="auto">
              <a:spcBef>
                <a:spcPts val="0"/>
              </a:spcBef>
              <a:spcAft>
                <a:spcPts val="0"/>
              </a:spcAft>
              <a:defRPr/>
            </a:pPr>
            <a:r>
              <a:rPr lang="en-US" sz="1000" kern="0" dirty="0" smtClean="0">
                <a:solidFill>
                  <a:srgbClr val="000000"/>
                </a:solidFill>
              </a:rPr>
              <a:t>Guarantee Data</a:t>
            </a:r>
          </a:p>
        </p:txBody>
      </p:sp>
      <p:sp>
        <p:nvSpPr>
          <p:cNvPr id="48" name="Rectangle 47"/>
          <p:cNvSpPr/>
          <p:nvPr/>
        </p:nvSpPr>
        <p:spPr>
          <a:xfrm>
            <a:off x="5772824" y="3373706"/>
            <a:ext cx="1068658" cy="356849"/>
          </a:xfrm>
          <a:prstGeom prst="rect">
            <a:avLst/>
          </a:prstGeom>
          <a:solidFill>
            <a:srgbClr val="C0C0C0"/>
          </a:solidFill>
          <a:ln w="9525" cap="flat" cmpd="sng" algn="ctr">
            <a:noFill/>
            <a:prstDash val="solid"/>
          </a:ln>
          <a:effectLst/>
        </p:spPr>
        <p:txBody>
          <a:bodyPr lIns="0" tIns="0" rIns="0" bIns="0" rtlCol="0" anchor="ctr" anchorCtr="0"/>
          <a:lstStyle/>
          <a:p>
            <a:pPr algn="ctr" defTabSz="1008126" fontAlgn="auto">
              <a:spcBef>
                <a:spcPts val="0"/>
              </a:spcBef>
              <a:spcAft>
                <a:spcPts val="0"/>
              </a:spcAft>
            </a:pPr>
            <a:r>
              <a:rPr lang="en-US" sz="1000" kern="0" dirty="0" smtClean="0">
                <a:solidFill>
                  <a:srgbClr val="000000"/>
                </a:solidFill>
              </a:rPr>
              <a:t>Customer Demographics</a:t>
            </a:r>
            <a:endParaRPr lang="en-US" sz="1000" kern="0" dirty="0">
              <a:solidFill>
                <a:srgbClr val="000000"/>
              </a:solidFill>
            </a:endParaRPr>
          </a:p>
        </p:txBody>
      </p:sp>
      <p:sp>
        <p:nvSpPr>
          <p:cNvPr id="49" name="Rectangle 48"/>
          <p:cNvSpPr/>
          <p:nvPr/>
        </p:nvSpPr>
        <p:spPr>
          <a:xfrm>
            <a:off x="5200175" y="3796708"/>
            <a:ext cx="1060240" cy="373993"/>
          </a:xfrm>
          <a:prstGeom prst="rect">
            <a:avLst/>
          </a:prstGeom>
          <a:solidFill>
            <a:srgbClr val="C0C0C0"/>
          </a:solidFill>
          <a:ln w="9525" cap="flat" cmpd="sng" algn="ctr">
            <a:noFill/>
            <a:prstDash val="solid"/>
          </a:ln>
          <a:effectLst/>
        </p:spPr>
        <p:txBody>
          <a:bodyPr lIns="0" tIns="0" rIns="0" bIns="0" rtlCol="0" anchor="ctr" anchorCtr="0"/>
          <a:lstStyle/>
          <a:p>
            <a:pPr algn="ctr" defTabSz="1008126" fontAlgn="auto">
              <a:spcBef>
                <a:spcPts val="0"/>
              </a:spcBef>
              <a:spcAft>
                <a:spcPts val="0"/>
              </a:spcAft>
              <a:defRPr/>
            </a:pPr>
            <a:r>
              <a:rPr lang="en-US" sz="1000" kern="0" dirty="0" smtClean="0">
                <a:solidFill>
                  <a:srgbClr val="000000"/>
                </a:solidFill>
              </a:rPr>
              <a:t>Facility / Portfolio Details</a:t>
            </a:r>
            <a:endParaRPr lang="en-US" sz="1103" kern="0" dirty="0" smtClean="0">
              <a:solidFill>
                <a:srgbClr val="000000"/>
              </a:solidFill>
            </a:endParaRPr>
          </a:p>
        </p:txBody>
      </p:sp>
      <p:cxnSp>
        <p:nvCxnSpPr>
          <p:cNvPr id="50" name="Straight Arrow Connector 49"/>
          <p:cNvCxnSpPr/>
          <p:nvPr/>
        </p:nvCxnSpPr>
        <p:spPr>
          <a:xfrm flipV="1">
            <a:off x="4190124" y="3197404"/>
            <a:ext cx="344263" cy="225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endCxn id="31" idx="2"/>
          </p:cNvCxnSpPr>
          <p:nvPr/>
        </p:nvCxnSpPr>
        <p:spPr>
          <a:xfrm flipV="1">
            <a:off x="6910122" y="3193521"/>
            <a:ext cx="700293" cy="38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rot="5400000">
            <a:off x="3224480" y="812930"/>
            <a:ext cx="307008" cy="1624276"/>
          </a:xfrm>
          <a:prstGeom prst="rect">
            <a:avLst/>
          </a:prstGeom>
          <a:solidFill>
            <a:srgbClr val="808080"/>
          </a:solidFill>
          <a:ln w="9525" cap="flat" cmpd="sng" algn="ctr">
            <a:noFill/>
            <a:prstDash val="solid"/>
          </a:ln>
          <a:effectLst/>
        </p:spPr>
        <p:txBody>
          <a:bodyPr vert="vert270" lIns="0" tIns="0" rIns="0" bIns="0" rtlCol="0" anchor="ctr" anchorCtr="0"/>
          <a:lstStyle/>
          <a:p>
            <a:pPr algn="ctr" defTabSz="1008126" fontAlgn="auto">
              <a:spcBef>
                <a:spcPts val="0"/>
              </a:spcBef>
              <a:spcAft>
                <a:spcPts val="0"/>
              </a:spcAft>
              <a:defRPr/>
            </a:pPr>
            <a:r>
              <a:rPr lang="en-US" kern="0" dirty="0" smtClean="0">
                <a:solidFill>
                  <a:srgbClr val="FFFFFF"/>
                </a:solidFill>
              </a:rPr>
              <a:t>Data Extraction</a:t>
            </a:r>
          </a:p>
        </p:txBody>
      </p:sp>
      <p:sp>
        <p:nvSpPr>
          <p:cNvPr id="53" name="Rectangle 52"/>
          <p:cNvSpPr/>
          <p:nvPr/>
        </p:nvSpPr>
        <p:spPr>
          <a:xfrm rot="5400000">
            <a:off x="7875596" y="814622"/>
            <a:ext cx="307008" cy="1624276"/>
          </a:xfrm>
          <a:prstGeom prst="rect">
            <a:avLst/>
          </a:prstGeom>
          <a:solidFill>
            <a:srgbClr val="808080"/>
          </a:solidFill>
          <a:ln w="9525" cap="flat" cmpd="sng" algn="ctr">
            <a:noFill/>
            <a:prstDash val="solid"/>
          </a:ln>
          <a:effectLst/>
        </p:spPr>
        <p:txBody>
          <a:bodyPr vert="vert270" lIns="0" tIns="0" rIns="0" bIns="0" rtlCol="0" anchor="ctr" anchorCtr="0"/>
          <a:lstStyle/>
          <a:p>
            <a:pPr algn="ctr" defTabSz="1008126" fontAlgn="auto">
              <a:spcBef>
                <a:spcPts val="0"/>
              </a:spcBef>
              <a:spcAft>
                <a:spcPts val="0"/>
              </a:spcAft>
              <a:defRPr/>
            </a:pPr>
            <a:r>
              <a:rPr lang="en-US" kern="0" dirty="0" smtClean="0">
                <a:solidFill>
                  <a:srgbClr val="FFFFFF"/>
                </a:solidFill>
              </a:rPr>
              <a:t>ECL Calculation</a:t>
            </a:r>
          </a:p>
        </p:txBody>
      </p:sp>
      <p:sp>
        <p:nvSpPr>
          <p:cNvPr id="80" name="Flowchart: Magnetic Disk 79"/>
          <p:cNvSpPr/>
          <p:nvPr/>
        </p:nvSpPr>
        <p:spPr>
          <a:xfrm>
            <a:off x="1210527" y="3903088"/>
            <a:ext cx="894515" cy="535226"/>
          </a:xfrm>
          <a:prstGeom prst="flowChartMagneticDisk">
            <a:avLst/>
          </a:prstGeom>
          <a:solidFill>
            <a:schemeClr val="accent1">
              <a:lumMod val="40000"/>
              <a:lumOff val="60000"/>
            </a:schemeClr>
          </a:solidFill>
          <a:ln w="9525" cap="flat" cmpd="sng" algn="ctr">
            <a:solidFill>
              <a:srgbClr val="FFFFFF"/>
            </a:solidFill>
            <a:prstDash val="solid"/>
          </a:ln>
          <a:effectLst/>
        </p:spPr>
        <p:txBody>
          <a:bodyPr lIns="0" tIns="171389" rIns="0" bIns="0" rtlCol="0" anchor="ctr" anchorCtr="0"/>
          <a:lstStyle/>
          <a:p>
            <a:pPr algn="ctr" defTabSz="1008126" fontAlgn="auto">
              <a:spcBef>
                <a:spcPts val="0"/>
              </a:spcBef>
              <a:spcAft>
                <a:spcPts val="0"/>
              </a:spcAft>
              <a:defRPr/>
            </a:pPr>
            <a:r>
              <a:rPr lang="en-US" sz="1000" b="1" kern="0" dirty="0" smtClean="0">
                <a:solidFill>
                  <a:schemeClr val="tx2">
                    <a:lumMod val="90000"/>
                    <a:lumOff val="10000"/>
                  </a:schemeClr>
                </a:solidFill>
              </a:rPr>
              <a:t>PRIME</a:t>
            </a:r>
          </a:p>
        </p:txBody>
      </p:sp>
      <p:sp>
        <p:nvSpPr>
          <p:cNvPr id="81" name="Rectangle 80"/>
          <p:cNvSpPr/>
          <p:nvPr/>
        </p:nvSpPr>
        <p:spPr>
          <a:xfrm>
            <a:off x="3761532" y="1979285"/>
            <a:ext cx="436345" cy="2441713"/>
          </a:xfrm>
          <a:prstGeom prst="rect">
            <a:avLst/>
          </a:prstGeom>
          <a:solidFill>
            <a:srgbClr val="FFC000"/>
          </a:solidFill>
          <a:ln w="3175" cap="flat" cmpd="sng" algn="ctr">
            <a:solidFill>
              <a:schemeClr val="bg1"/>
            </a:solidFill>
            <a:prstDash val="solid"/>
          </a:ln>
          <a:effectLst/>
        </p:spPr>
        <p:txBody>
          <a:bodyPr vert="vert270" lIns="0" tIns="0" rIns="0" bIns="0" rtlCol="0" anchor="ctr" anchorCtr="0"/>
          <a:lstStyle/>
          <a:p>
            <a:pPr algn="ctr" defTabSz="1008126" fontAlgn="auto">
              <a:spcBef>
                <a:spcPts val="0"/>
              </a:spcBef>
              <a:spcAft>
                <a:spcPts val="0"/>
              </a:spcAft>
              <a:defRPr/>
            </a:pPr>
            <a:r>
              <a:rPr lang="en-US" sz="1000" b="1" kern="0" dirty="0" smtClean="0">
                <a:solidFill>
                  <a:srgbClr val="000000"/>
                </a:solidFill>
              </a:rPr>
              <a:t>Extract, Transform, Load (ETL) </a:t>
            </a:r>
          </a:p>
        </p:txBody>
      </p:sp>
      <p:sp>
        <p:nvSpPr>
          <p:cNvPr id="83" name="Rectangle 82"/>
          <p:cNvSpPr/>
          <p:nvPr/>
        </p:nvSpPr>
        <p:spPr>
          <a:xfrm>
            <a:off x="961590" y="4664248"/>
            <a:ext cx="7879647" cy="1623823"/>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numCol="2" rtlCol="0" anchor="ctr"/>
          <a:lstStyle/>
          <a:p>
            <a:r>
              <a:rPr lang="en-US" sz="1000" dirty="0" smtClean="0">
                <a:solidFill>
                  <a:schemeClr val="tx2">
                    <a:lumMod val="90000"/>
                    <a:lumOff val="10000"/>
                  </a:schemeClr>
                </a:solidFill>
                <a:latin typeface="Times New Roman" panose="02020603050405020304" pitchFamily="18" charset="0"/>
                <a:cs typeface="Times New Roman" panose="02020603050405020304" pitchFamily="18" charset="0"/>
              </a:rPr>
              <a:t>ETL PROCESS</a:t>
            </a:r>
          </a:p>
          <a:p>
            <a:pPr marL="171450" indent="-171450">
              <a:buFont typeface="Arial" panose="020B0604020202020204" pitchFamily="34" charset="0"/>
              <a:buChar char="•"/>
            </a:pPr>
            <a:r>
              <a:rPr lang="en-US" sz="1000" dirty="0" smtClean="0">
                <a:solidFill>
                  <a:schemeClr val="tx2">
                    <a:lumMod val="90000"/>
                    <a:lumOff val="10000"/>
                  </a:schemeClr>
                </a:solidFill>
                <a:latin typeface="Times New Roman" panose="02020603050405020304" pitchFamily="18" charset="0"/>
                <a:cs typeface="Times New Roman" panose="02020603050405020304" pitchFamily="18" charset="0"/>
              </a:rPr>
              <a:t>Rules and assumptions are applied for data completeness and accuracy</a:t>
            </a:r>
          </a:p>
          <a:p>
            <a:pPr marL="171450" indent="-171450">
              <a:buFont typeface="Arial" panose="020B0604020202020204" pitchFamily="34" charset="0"/>
              <a:buChar char="•"/>
            </a:pPr>
            <a:r>
              <a:rPr lang="en-US" sz="1000" b="1" dirty="0" smtClean="0">
                <a:solidFill>
                  <a:schemeClr val="tx2">
                    <a:lumMod val="90000"/>
                    <a:lumOff val="10000"/>
                  </a:schemeClr>
                </a:solidFill>
                <a:latin typeface="Times New Roman" panose="02020603050405020304" pitchFamily="18" charset="0"/>
                <a:cs typeface="Times New Roman" panose="02020603050405020304" pitchFamily="18" charset="0"/>
              </a:rPr>
              <a:t>(Extract) </a:t>
            </a:r>
            <a:r>
              <a:rPr lang="en-US" sz="1000" dirty="0" smtClean="0">
                <a:solidFill>
                  <a:schemeClr val="tx2">
                    <a:lumMod val="90000"/>
                    <a:lumOff val="10000"/>
                  </a:schemeClr>
                </a:solidFill>
                <a:latin typeface="Times New Roman" panose="02020603050405020304" pitchFamily="18" charset="0"/>
                <a:cs typeface="Times New Roman" panose="02020603050405020304" pitchFamily="18" charset="0"/>
              </a:rPr>
              <a:t>System data is imported from data warehouse per schedule</a:t>
            </a:r>
          </a:p>
          <a:p>
            <a:pPr marL="171450" indent="-171450">
              <a:buFont typeface="Arial" panose="020B0604020202020204" pitchFamily="34" charset="0"/>
              <a:buChar char="•"/>
            </a:pPr>
            <a:r>
              <a:rPr lang="en-US" sz="1000" dirty="0" smtClean="0">
                <a:solidFill>
                  <a:schemeClr val="tx2">
                    <a:lumMod val="90000"/>
                    <a:lumOff val="10000"/>
                  </a:schemeClr>
                </a:solidFill>
                <a:latin typeface="Times New Roman" panose="02020603050405020304" pitchFamily="18" charset="0"/>
                <a:cs typeface="Times New Roman" panose="02020603050405020304" pitchFamily="18" charset="0"/>
              </a:rPr>
              <a:t>ETL data is reconciled to GL</a:t>
            </a:r>
            <a:endParaRPr lang="en-US" sz="1000" b="1" dirty="0" smtClean="0">
              <a:solidFill>
                <a:schemeClr val="tx2">
                  <a:lumMod val="90000"/>
                  <a:lumOff val="10000"/>
                </a:schemeClr>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endParaRPr lang="en-US" sz="1000" b="1" dirty="0">
              <a:solidFill>
                <a:schemeClr val="tx2">
                  <a:lumMod val="90000"/>
                  <a:lumOff val="10000"/>
                </a:schemeClr>
              </a:solidFill>
              <a:latin typeface="Times New Roman" panose="02020603050405020304" pitchFamily="18" charset="0"/>
              <a:cs typeface="Times New Roman" panose="02020603050405020304" pitchFamily="18" charset="0"/>
            </a:endParaRPr>
          </a:p>
          <a:p>
            <a:pPr marL="171450" indent="-171450">
              <a:buFont typeface="Arial" panose="020B0604020202020204" pitchFamily="34" charset="0"/>
              <a:buChar char="•"/>
            </a:pPr>
            <a:r>
              <a:rPr lang="en-US" sz="1000" b="1" dirty="0" smtClean="0">
                <a:solidFill>
                  <a:schemeClr val="tx2">
                    <a:lumMod val="90000"/>
                    <a:lumOff val="10000"/>
                  </a:schemeClr>
                </a:solidFill>
                <a:latin typeface="Times New Roman" panose="02020603050405020304" pitchFamily="18" charset="0"/>
                <a:cs typeface="Times New Roman" panose="02020603050405020304" pitchFamily="18" charset="0"/>
              </a:rPr>
              <a:t>(Transform) </a:t>
            </a:r>
            <a:r>
              <a:rPr lang="en-US" sz="1000" dirty="0" smtClean="0">
                <a:solidFill>
                  <a:schemeClr val="tx2">
                    <a:lumMod val="90000"/>
                    <a:lumOff val="10000"/>
                  </a:schemeClr>
                </a:solidFill>
                <a:latin typeface="Times New Roman" panose="02020603050405020304" pitchFamily="18" charset="0"/>
                <a:cs typeface="Times New Roman" panose="02020603050405020304" pitchFamily="18" charset="0"/>
              </a:rPr>
              <a:t>ETL processes data and prepares output files</a:t>
            </a:r>
          </a:p>
          <a:p>
            <a:pPr marL="171450" indent="-171450">
              <a:buFont typeface="Arial" panose="020B0604020202020204" pitchFamily="34" charset="0"/>
              <a:buChar char="•"/>
            </a:pPr>
            <a:r>
              <a:rPr lang="en-US" sz="1000" dirty="0" smtClean="0">
                <a:solidFill>
                  <a:schemeClr val="tx2">
                    <a:lumMod val="90000"/>
                    <a:lumOff val="10000"/>
                  </a:schemeClr>
                </a:solidFill>
                <a:latin typeface="Times New Roman" panose="02020603050405020304" pitchFamily="18" charset="0"/>
                <a:cs typeface="Times New Roman" panose="02020603050405020304" pitchFamily="18" charset="0"/>
              </a:rPr>
              <a:t>Status report is generated, exceptions detailed</a:t>
            </a:r>
          </a:p>
          <a:p>
            <a:pPr marL="171450" indent="-171450">
              <a:buFont typeface="Arial" panose="020B0604020202020204" pitchFamily="34" charset="0"/>
              <a:buChar char="•"/>
            </a:pPr>
            <a:r>
              <a:rPr lang="en-US" sz="1000" b="1" dirty="0" smtClean="0">
                <a:solidFill>
                  <a:schemeClr val="tx2">
                    <a:lumMod val="90000"/>
                    <a:lumOff val="10000"/>
                  </a:schemeClr>
                </a:solidFill>
                <a:latin typeface="Times New Roman" panose="02020603050405020304" pitchFamily="18" charset="0"/>
                <a:cs typeface="Times New Roman" panose="02020603050405020304" pitchFamily="18" charset="0"/>
              </a:rPr>
              <a:t>(Load)</a:t>
            </a:r>
            <a:r>
              <a:rPr lang="en-US" sz="1000" dirty="0" smtClean="0">
                <a:solidFill>
                  <a:schemeClr val="tx2">
                    <a:lumMod val="90000"/>
                    <a:lumOff val="10000"/>
                  </a:schemeClr>
                </a:solidFill>
                <a:latin typeface="Times New Roman" panose="02020603050405020304" pitchFamily="18" charset="0"/>
                <a:cs typeface="Times New Roman" panose="02020603050405020304" pitchFamily="18" charset="0"/>
              </a:rPr>
              <a:t> Output files are placed in ECL folder </a:t>
            </a:r>
          </a:p>
          <a:p>
            <a:pPr marL="171450" indent="-171450">
              <a:buFont typeface="Arial" panose="020B0604020202020204" pitchFamily="34" charset="0"/>
              <a:buChar char="•"/>
            </a:pPr>
            <a:r>
              <a:rPr lang="en-US" sz="1000" dirty="0" smtClean="0">
                <a:solidFill>
                  <a:schemeClr val="tx2">
                    <a:lumMod val="90000"/>
                    <a:lumOff val="10000"/>
                  </a:schemeClr>
                </a:solidFill>
                <a:latin typeface="Times New Roman" panose="02020603050405020304" pitchFamily="18" charset="0"/>
                <a:cs typeface="Times New Roman" panose="02020603050405020304" pitchFamily="18" charset="0"/>
              </a:rPr>
              <a:t>Data is checked for quality</a:t>
            </a:r>
          </a:p>
        </p:txBody>
      </p:sp>
    </p:spTree>
    <p:extLst>
      <p:ext uri="{BB962C8B-B14F-4D97-AF65-F5344CB8AC3E}">
        <p14:creationId xmlns:p14="http://schemas.microsoft.com/office/powerpoint/2010/main" val="20438570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QNB – June 2017 – Tool </a:t>
            </a:r>
            <a:r>
              <a:rPr lang="en-US" dirty="0" smtClean="0"/>
              <a:t>Output</a:t>
            </a:r>
            <a:r>
              <a:rPr lang="en-US" dirty="0"/>
              <a:t/>
            </a:r>
            <a:br>
              <a:rPr lang="en-US" dirty="0"/>
            </a:br>
            <a:r>
              <a:rPr lang="en-US" sz="2400" b="0" i="1" dirty="0" smtClean="0"/>
              <a:t>Need story line on each page</a:t>
            </a:r>
            <a:endParaRPr lang="en-US" sz="2400" b="0" i="1" dirty="0"/>
          </a:p>
        </p:txBody>
      </p:sp>
    </p:spTree>
    <p:extLst>
      <p:ext uri="{BB962C8B-B14F-4D97-AF65-F5344CB8AC3E}">
        <p14:creationId xmlns:p14="http://schemas.microsoft.com/office/powerpoint/2010/main" val="16834351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 </a:t>
            </a:r>
            <a:r>
              <a:rPr lang="en-US" dirty="0" smtClean="0"/>
              <a:t>Demo</a:t>
            </a:r>
            <a:r>
              <a:rPr lang="en-US" dirty="0"/>
              <a:t/>
            </a:r>
            <a:br>
              <a:rPr lang="en-US" dirty="0"/>
            </a:br>
            <a:r>
              <a:rPr lang="en-US" sz="2400" b="0" i="1" dirty="0"/>
              <a:t>R</a:t>
            </a:r>
            <a:r>
              <a:rPr lang="en-US" sz="2400" b="0" i="1" dirty="0" smtClean="0"/>
              <a:t>un Control buttons</a:t>
            </a:r>
            <a:endParaRPr lang="en-US" sz="2400" b="0" i="1" dirty="0"/>
          </a:p>
        </p:txBody>
      </p:sp>
      <p:pic>
        <p:nvPicPr>
          <p:cNvPr id="4" name="Content Placeholder 3"/>
          <p:cNvPicPr>
            <a:picLocks noGrp="1"/>
          </p:cNvPicPr>
          <p:nvPr>
            <p:ph idx="1"/>
          </p:nvPr>
        </p:nvPicPr>
        <p:blipFill rotWithShape="1">
          <a:blip r:embed="rId2"/>
          <a:srcRect l="982" t="29226" r="13261" b="45692"/>
          <a:stretch/>
        </p:blipFill>
        <p:spPr bwMode="auto">
          <a:xfrm>
            <a:off x="396815" y="1207834"/>
            <a:ext cx="11386868" cy="1806274"/>
          </a:xfrm>
          <a:prstGeom prst="rect">
            <a:avLst/>
          </a:prstGeom>
          <a:ln>
            <a:noFill/>
          </a:ln>
          <a:extLst>
            <a:ext uri="{53640926-AAD7-44D8-BBD7-CCE9431645EC}">
              <a14:shadowObscured xmlns:a14="http://schemas.microsoft.com/office/drawing/2010/main"/>
            </a:ext>
          </a:extLst>
        </p:spPr>
      </p:pic>
      <p:sp>
        <p:nvSpPr>
          <p:cNvPr id="7" name="TextBox 6"/>
          <p:cNvSpPr txBox="1"/>
          <p:nvPr/>
        </p:nvSpPr>
        <p:spPr>
          <a:xfrm>
            <a:off x="396815" y="3174521"/>
            <a:ext cx="11499011" cy="3207032"/>
          </a:xfrm>
          <a:prstGeom prst="rect">
            <a:avLst/>
          </a:prstGeom>
          <a:noFill/>
        </p:spPr>
        <p:txBody>
          <a:bodyPr wrap="square" lIns="0" tIns="36576" rIns="0" bIns="0" rtlCol="0">
            <a:spAutoFit/>
          </a:bodyPr>
          <a:lstStyle/>
          <a:p>
            <a:pPr marR="0" lvl="0">
              <a:spcBef>
                <a:spcPts val="0"/>
              </a:spcBef>
              <a:spcAft>
                <a:spcPts val="0"/>
              </a:spcAft>
            </a:pP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Clear Data       :  Erases all the data from the previous run if any .</a:t>
            </a:r>
            <a:endParaRPr lang="en-IN" sz="10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Get Collateral  :  It transfers the collateral relevant data from the raw dataset to the tool.</a:t>
            </a:r>
            <a:endParaRPr lang="en-IN" sz="10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Load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I/P Files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 :  Transfers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all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necessary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data from raw file to an intermediate file so that tool can easily access the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required data when 	                  	         needed.</a:t>
            </a:r>
            <a:endParaRPr lang="en-IN" sz="10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Get Input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Data :  Populates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the relevant data in the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‘Data Input’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Tab.</a:t>
            </a:r>
            <a:endParaRPr lang="en-IN" sz="10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endParaRPr>
          </a:p>
          <a:p>
            <a:pPr marR="0" lvl="0">
              <a:spcBef>
                <a:spcPts val="0"/>
              </a:spcBef>
              <a:spcAft>
                <a:spcPts val="0"/>
              </a:spcAft>
            </a:pP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Update LGD     :   LGD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gets updated in the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‘Data Input’ Tab.</a:t>
            </a:r>
          </a:p>
          <a:p>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Get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Staging</a:t>
            </a:r>
            <a:r>
              <a:rPr lang="en-US" sz="10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 </a:t>
            </a:r>
            <a:r>
              <a:rPr lang="en-US" sz="10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       :</a:t>
            </a:r>
            <a:r>
              <a:rPr lang="en-IN" sz="10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Staging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calculation happens and final stage gets populated in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‘Data Input’ Tab.</a:t>
            </a:r>
          </a:p>
          <a:p>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Transfer Data   :  It is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to move all the data required for ECL calculation to the segregated ECL calculation tool which automatically gets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                	          opened </a:t>
            </a: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with all the data being populated.</a:t>
            </a:r>
            <a:endParaRPr lang="en-IN" sz="10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endParaRPr>
          </a:p>
          <a:p>
            <a:pPr marR="0" lvl="0">
              <a:spcBef>
                <a:spcPts val="0"/>
              </a:spcBef>
              <a:spcAft>
                <a:spcPts val="600"/>
              </a:spcAft>
            </a:pP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Calculate ECL  :   This button on the segregated tool does all the cash flows and final ECL numbers are populated on the ‘Data Input’ Tab                            	           when finished.</a:t>
            </a:r>
          </a:p>
          <a:p>
            <a:pPr marR="0" lvl="0">
              <a:spcBef>
                <a:spcPts val="0"/>
              </a:spcBef>
              <a:spcAft>
                <a:spcPts val="600"/>
              </a:spcAft>
            </a:pPr>
            <a:r>
              <a:rPr lang="en-US" sz="14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Reports</a:t>
            </a:r>
            <a:r>
              <a:rPr lang="en-US" sz="16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 </a:t>
            </a:r>
            <a:r>
              <a:rPr lang="en-US" sz="16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          :  </a:t>
            </a:r>
            <a:r>
              <a:rPr lang="en-US" sz="1400" dirty="0" smtClean="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rPr>
              <a:t>Under development phase.</a:t>
            </a:r>
            <a:endParaRPr lang="en-IN" sz="1200" dirty="0">
              <a:solidFill>
                <a:schemeClr val="bg2">
                  <a:lumMod val="60000"/>
                  <a:lumOff val="40000"/>
                </a:schemeClr>
              </a:solidFill>
              <a:latin typeface="EYInterstate Light" panose="02000506000000020004" pitchFamily="2" charset="0"/>
              <a:ea typeface="Times New Roman" panose="02020603050405020304" pitchFamily="18" charset="0"/>
              <a:cs typeface="Times New Roman" panose="02020603050405020304" pitchFamily="18" charset="0"/>
            </a:endParaRPr>
          </a:p>
          <a:p>
            <a:pPr marL="342900" marR="0" lvl="0" indent="-342900" algn="just">
              <a:spcBef>
                <a:spcPts val="0"/>
              </a:spcBef>
              <a:spcAft>
                <a:spcPts val="600"/>
              </a:spcAft>
              <a:buFont typeface="Courier New" panose="02070309020205020404" pitchFamily="49" charset="0"/>
              <a:buChar char="o"/>
            </a:pPr>
            <a:endParaRPr lang="en-IN" sz="900" dirty="0" smtClean="0">
              <a:solidFill>
                <a:srgbClr val="000000"/>
              </a:solidFill>
              <a:latin typeface="EYInterstate Light" panose="02000506000000020004" pitchFamily="2" charset="0"/>
              <a:ea typeface="Times New Roman" panose="02020603050405020304" pitchFamily="18" charset="0"/>
              <a:cs typeface="Times New Roman" panose="02020603050405020304" pitchFamily="18" charset="0"/>
            </a:endParaRPr>
          </a:p>
          <a:p>
            <a:r>
              <a:rPr lang="en-US" sz="1200" dirty="0" smtClean="0">
                <a:solidFill>
                  <a:srgbClr val="00B050"/>
                </a:solidFill>
                <a:latin typeface="EYInterstate Light" panose="02000506000000020004" pitchFamily="2" charset="0"/>
                <a:ea typeface="Times New Roman" panose="02020603050405020304" pitchFamily="18" charset="0"/>
                <a:cs typeface="Times New Roman" panose="02020603050405020304" pitchFamily="18" charset="0"/>
              </a:rPr>
              <a:t>      </a:t>
            </a:r>
            <a:endParaRPr lang="en-IN" sz="1200" dirty="0" err="1" smtClean="0">
              <a:solidFill>
                <a:schemeClr val="bg1"/>
              </a:solidFill>
            </a:endParaRPr>
          </a:p>
        </p:txBody>
      </p:sp>
    </p:spTree>
    <p:extLst>
      <p:ext uri="{BB962C8B-B14F-4D97-AF65-F5344CB8AC3E}">
        <p14:creationId xmlns:p14="http://schemas.microsoft.com/office/powerpoint/2010/main" val="4705910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Tool </a:t>
            </a:r>
            <a:r>
              <a:rPr lang="en-US" dirty="0" smtClean="0"/>
              <a:t>Demo</a:t>
            </a:r>
            <a:r>
              <a:rPr lang="en-US" dirty="0"/>
              <a:t/>
            </a:r>
            <a:br>
              <a:rPr lang="en-US" dirty="0"/>
            </a:br>
            <a:r>
              <a:rPr lang="en-US" sz="2400" b="0" i="1" dirty="0" smtClean="0"/>
              <a:t>The ECL from variety of exposures will be illustrated, along with sensitivities</a:t>
            </a:r>
            <a:endParaRPr lang="en-US" sz="2400" b="0" i="1" dirty="0"/>
          </a:p>
        </p:txBody>
      </p:sp>
      <p:sp>
        <p:nvSpPr>
          <p:cNvPr id="3" name="Content Placeholder 2"/>
          <p:cNvSpPr>
            <a:spLocks noGrp="1"/>
          </p:cNvSpPr>
          <p:nvPr>
            <p:ph idx="1"/>
          </p:nvPr>
        </p:nvSpPr>
        <p:spPr/>
        <p:txBody>
          <a:bodyPr/>
          <a:lstStyle/>
          <a:p>
            <a:pPr>
              <a:lnSpc>
                <a:spcPct val="150000"/>
              </a:lnSpc>
            </a:pPr>
            <a:r>
              <a:rPr lang="en-US" dirty="0" smtClean="0"/>
              <a:t>Staging</a:t>
            </a:r>
          </a:p>
          <a:p>
            <a:pPr lvl="1">
              <a:lnSpc>
                <a:spcPct val="150000"/>
              </a:lnSpc>
            </a:pPr>
            <a:r>
              <a:rPr lang="en-US" i="1" dirty="0" smtClean="0">
                <a:solidFill>
                  <a:schemeClr val="bg2">
                    <a:lumMod val="60000"/>
                    <a:lumOff val="40000"/>
                  </a:schemeClr>
                </a:solidFill>
              </a:rPr>
              <a:t>Stage 1 – 12mth ECL – 32,043</a:t>
            </a:r>
          </a:p>
          <a:p>
            <a:pPr lvl="1">
              <a:lnSpc>
                <a:spcPct val="150000"/>
              </a:lnSpc>
            </a:pPr>
            <a:r>
              <a:rPr lang="en-US" i="1" dirty="0" smtClean="0">
                <a:solidFill>
                  <a:schemeClr val="bg2">
                    <a:lumMod val="60000"/>
                    <a:lumOff val="40000"/>
                  </a:schemeClr>
                </a:solidFill>
              </a:rPr>
              <a:t>Stage 2 – lifetime ECL – 88,867</a:t>
            </a:r>
          </a:p>
          <a:p>
            <a:pPr lvl="1">
              <a:lnSpc>
                <a:spcPct val="150000"/>
              </a:lnSpc>
            </a:pPr>
            <a:r>
              <a:rPr lang="en-US" i="1" dirty="0" smtClean="0">
                <a:solidFill>
                  <a:schemeClr val="bg2">
                    <a:lumMod val="60000"/>
                    <a:lumOff val="40000"/>
                  </a:schemeClr>
                </a:solidFill>
              </a:rPr>
              <a:t>Stage 3 – no ECL (existing QCB rules applied)</a:t>
            </a:r>
          </a:p>
          <a:p>
            <a:pPr marL="356616" lvl="1" indent="0">
              <a:lnSpc>
                <a:spcPct val="150000"/>
              </a:lnSpc>
              <a:buNone/>
            </a:pPr>
            <a:endParaRPr lang="en-US" i="1" dirty="0" smtClean="0">
              <a:solidFill>
                <a:schemeClr val="bg2">
                  <a:lumMod val="60000"/>
                  <a:lumOff val="40000"/>
                </a:schemeClr>
              </a:solidFill>
            </a:endParaRPr>
          </a:p>
          <a:p>
            <a:pPr>
              <a:lnSpc>
                <a:spcPct val="150000"/>
              </a:lnSpc>
            </a:pPr>
            <a:r>
              <a:rPr lang="en-US" dirty="0" err="1" smtClean="0"/>
              <a:t>xxxx</a:t>
            </a:r>
            <a:endParaRPr lang="en-US" dirty="0"/>
          </a:p>
          <a:p>
            <a:pPr lvl="1">
              <a:lnSpc>
                <a:spcPct val="150000"/>
              </a:lnSpc>
            </a:pPr>
            <a:r>
              <a:rPr lang="en-US" dirty="0" err="1" smtClean="0">
                <a:solidFill>
                  <a:schemeClr val="bg2">
                    <a:lumMod val="60000"/>
                    <a:lumOff val="40000"/>
                  </a:schemeClr>
                </a:solidFill>
              </a:rPr>
              <a:t>ssss</a:t>
            </a:r>
            <a:endParaRPr lang="en-US" dirty="0">
              <a:solidFill>
                <a:schemeClr val="bg2">
                  <a:lumMod val="60000"/>
                  <a:lumOff val="40000"/>
                </a:schemeClr>
              </a:solidFill>
            </a:endParaRPr>
          </a:p>
          <a:p>
            <a:pPr lvl="1">
              <a:lnSpc>
                <a:spcPct val="150000"/>
              </a:lnSpc>
            </a:pPr>
            <a:r>
              <a:rPr lang="en-US" dirty="0" err="1" smtClean="0">
                <a:solidFill>
                  <a:schemeClr val="bg2">
                    <a:lumMod val="60000"/>
                    <a:lumOff val="40000"/>
                  </a:schemeClr>
                </a:solidFill>
              </a:rPr>
              <a:t>ssss</a:t>
            </a:r>
            <a:endParaRPr lang="en-US" dirty="0">
              <a:solidFill>
                <a:schemeClr val="bg2">
                  <a:lumMod val="60000"/>
                  <a:lumOff val="40000"/>
                </a:schemeClr>
              </a:solidFill>
            </a:endParaRPr>
          </a:p>
          <a:p>
            <a:pPr lvl="1">
              <a:lnSpc>
                <a:spcPct val="150000"/>
              </a:lnSpc>
            </a:pPr>
            <a:endParaRPr lang="en-US" dirty="0" smtClean="0"/>
          </a:p>
        </p:txBody>
      </p:sp>
    </p:spTree>
    <p:extLst>
      <p:ext uri="{BB962C8B-B14F-4D97-AF65-F5344CB8AC3E}">
        <p14:creationId xmlns:p14="http://schemas.microsoft.com/office/powerpoint/2010/main" val="452671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rotWithShape="1">
          <a:blip r:embed="rId2"/>
          <a:srcRect t="24151" b="6541"/>
          <a:stretch/>
        </p:blipFill>
        <p:spPr>
          <a:xfrm>
            <a:off x="609600" y="1233577"/>
            <a:ext cx="10979150" cy="4682443"/>
          </a:xfrm>
          <a:prstGeom prst="rect">
            <a:avLst/>
          </a:prstGeom>
        </p:spPr>
      </p:pic>
    </p:spTree>
    <p:extLst>
      <p:ext uri="{BB962C8B-B14F-4D97-AF65-F5344CB8AC3E}">
        <p14:creationId xmlns:p14="http://schemas.microsoft.com/office/powerpoint/2010/main" val="21734093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Repayments: </a:t>
            </a:r>
          </a:p>
          <a:p>
            <a:pPr marL="0" indent="0">
              <a:buNone/>
            </a:pPr>
            <a:r>
              <a:rPr lang="en-US" dirty="0" smtClean="0">
                <a:solidFill>
                  <a:schemeClr val="bg2">
                    <a:lumMod val="60000"/>
                    <a:lumOff val="40000"/>
                  </a:schemeClr>
                </a:solidFill>
              </a:rPr>
              <a:t>             Bullet : LECL- 156,387 / 12M ECL- 34,041 </a:t>
            </a:r>
          </a:p>
          <a:p>
            <a:pPr marL="0" indent="0">
              <a:buNone/>
            </a:pPr>
            <a:r>
              <a:rPr lang="en-US" dirty="0">
                <a:solidFill>
                  <a:schemeClr val="bg2">
                    <a:lumMod val="60000"/>
                    <a:lumOff val="40000"/>
                  </a:schemeClr>
                </a:solidFill>
              </a:rPr>
              <a:t>	</a:t>
            </a:r>
            <a:r>
              <a:rPr lang="en-US" dirty="0" smtClean="0">
                <a:solidFill>
                  <a:schemeClr val="bg2">
                    <a:lumMod val="60000"/>
                    <a:lumOff val="40000"/>
                  </a:schemeClr>
                </a:solidFill>
              </a:rPr>
              <a:t>  Amortizing : LECL- 65,862 / 12M ECL- 27,778</a:t>
            </a:r>
          </a:p>
          <a:p>
            <a:pPr marL="0" indent="0">
              <a:buNone/>
            </a:pPr>
            <a:endParaRPr lang="en-IN" dirty="0"/>
          </a:p>
        </p:txBody>
      </p:sp>
    </p:spTree>
    <p:extLst>
      <p:ext uri="{BB962C8B-B14F-4D97-AF65-F5344CB8AC3E}">
        <p14:creationId xmlns:p14="http://schemas.microsoft.com/office/powerpoint/2010/main" val="33146944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PD</a:t>
            </a:r>
          </a:p>
          <a:p>
            <a:r>
              <a:rPr lang="en-US" dirty="0" smtClean="0">
                <a:solidFill>
                  <a:schemeClr val="bg2">
                    <a:lumMod val="60000"/>
                    <a:lumOff val="40000"/>
                  </a:schemeClr>
                </a:solidFill>
              </a:rPr>
              <a:t>PD ( for Rating of 12 is 1.3%): 12M ECL- 2,381</a:t>
            </a:r>
          </a:p>
          <a:p>
            <a:pPr marL="0" indent="0">
              <a:buNone/>
            </a:pPr>
            <a:r>
              <a:rPr lang="en-US" dirty="0">
                <a:solidFill>
                  <a:schemeClr val="bg2">
                    <a:lumMod val="60000"/>
                    <a:lumOff val="40000"/>
                  </a:schemeClr>
                </a:solidFill>
              </a:rPr>
              <a:t> </a:t>
            </a:r>
            <a:r>
              <a:rPr lang="en-US" dirty="0" smtClean="0">
                <a:solidFill>
                  <a:schemeClr val="bg2">
                    <a:lumMod val="60000"/>
                    <a:lumOff val="40000"/>
                  </a:schemeClr>
                </a:solidFill>
              </a:rPr>
              <a:t>          (for Rating of 13 is 2.02%): 12M ECL- 3,709</a:t>
            </a:r>
            <a:endParaRPr lang="en-IN" dirty="0">
              <a:solidFill>
                <a:schemeClr val="bg2">
                  <a:lumMod val="60000"/>
                  <a:lumOff val="40000"/>
                </a:schemeClr>
              </a:solidFill>
            </a:endParaRPr>
          </a:p>
        </p:txBody>
      </p:sp>
    </p:spTree>
    <p:extLst>
      <p:ext uri="{BB962C8B-B14F-4D97-AF65-F5344CB8AC3E}">
        <p14:creationId xmlns:p14="http://schemas.microsoft.com/office/powerpoint/2010/main" val="34875704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Interest Rate</a:t>
            </a:r>
          </a:p>
          <a:p>
            <a:pPr marL="0" indent="0">
              <a:buNone/>
            </a:pPr>
            <a:r>
              <a:rPr lang="en-US" dirty="0" smtClean="0">
                <a:solidFill>
                  <a:schemeClr val="bg2">
                    <a:lumMod val="60000"/>
                    <a:lumOff val="40000"/>
                  </a:schemeClr>
                </a:solidFill>
              </a:rPr>
              <a:t>     At 0% EIR : LECL- 1,534,183 / 12MECL- 766,380</a:t>
            </a:r>
          </a:p>
          <a:p>
            <a:pPr marL="0" indent="0">
              <a:buNone/>
            </a:pPr>
            <a:r>
              <a:rPr lang="en-US" dirty="0">
                <a:solidFill>
                  <a:schemeClr val="bg2">
                    <a:lumMod val="60000"/>
                    <a:lumOff val="40000"/>
                  </a:schemeClr>
                </a:solidFill>
              </a:rPr>
              <a:t> </a:t>
            </a:r>
            <a:r>
              <a:rPr lang="en-US" dirty="0" smtClean="0">
                <a:solidFill>
                  <a:schemeClr val="bg2">
                    <a:lumMod val="60000"/>
                    <a:lumOff val="40000"/>
                  </a:schemeClr>
                </a:solidFill>
              </a:rPr>
              <a:t>    At 10% EIR: LECL- 1,449,177  / 12MECL- 752,149</a:t>
            </a:r>
          </a:p>
          <a:p>
            <a:pPr marL="0" indent="0">
              <a:buNone/>
            </a:pPr>
            <a:endParaRPr lang="en-IN" dirty="0"/>
          </a:p>
        </p:txBody>
      </p:sp>
    </p:spTree>
    <p:extLst>
      <p:ext uri="{BB962C8B-B14F-4D97-AF65-F5344CB8AC3E}">
        <p14:creationId xmlns:p14="http://schemas.microsoft.com/office/powerpoint/2010/main" val="37214775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Blank</a:t>
            </a:r>
            <a:r>
              <a:rPr lang="en-US" dirty="0"/>
              <a:t/>
            </a:r>
            <a:br>
              <a:rPr lang="en-US" dirty="0"/>
            </a:br>
            <a:r>
              <a:rPr lang="en-US" sz="2400" b="0" i="1" dirty="0" smtClean="0"/>
              <a:t>Need story line on each page</a:t>
            </a:r>
            <a:endParaRPr lang="en-US" sz="2400" b="0" i="1" dirty="0"/>
          </a:p>
        </p:txBody>
      </p:sp>
      <p:sp>
        <p:nvSpPr>
          <p:cNvPr id="3" name="Rectangle 2"/>
          <p:cNvSpPr/>
          <p:nvPr/>
        </p:nvSpPr>
        <p:spPr>
          <a:xfrm>
            <a:off x="929843" y="1322211"/>
            <a:ext cx="10209212" cy="3139321"/>
          </a:xfrm>
          <a:prstGeom prst="rect">
            <a:avLst/>
          </a:prstGeom>
        </p:spPr>
        <p:txBody>
          <a:bodyPr wrap="square">
            <a:spAutoFit/>
          </a:bodyPr>
          <a:lstStyle/>
          <a:p>
            <a:pPr marL="457200" marR="0" indent="-228600">
              <a:spcBef>
                <a:spcPts val="0"/>
              </a:spcBef>
              <a:spcAft>
                <a:spcPts val="0"/>
              </a:spcAft>
            </a:pPr>
            <a:r>
              <a:rPr lang="en-US" dirty="0">
                <a:latin typeface="Symbol" panose="05050102010706020507" pitchFamily="18" charset="2"/>
                <a:ea typeface="Calibri" panose="020F0502020204030204" pitchFamily="34" charset="0"/>
              </a:rPr>
              <a:t>·</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Demo for 23</a:t>
            </a:r>
            <a:r>
              <a:rPr lang="en-US" baseline="30000" dirty="0">
                <a:latin typeface="Calibri" panose="020F0502020204030204" pitchFamily="34" charset="0"/>
                <a:ea typeface="Calibri" panose="020F0502020204030204" pitchFamily="34" charset="0"/>
              </a:rPr>
              <a:t>rd</a:t>
            </a:r>
            <a:r>
              <a:rPr lang="en-US" dirty="0">
                <a:latin typeface="Calibri" panose="020F0502020204030204" pitchFamily="34" charset="0"/>
                <a:ea typeface="Calibri" panose="020F0502020204030204" pitchFamily="34" charset="0"/>
              </a:rPr>
              <a:t> Oct – we need 3 parts </a:t>
            </a:r>
            <a:r>
              <a:rPr lang="en-US" dirty="0" err="1">
                <a:latin typeface="Calibri" panose="020F0502020204030204" pitchFamily="34" charset="0"/>
                <a:ea typeface="Calibri" panose="020F0502020204030204" pitchFamily="34" charset="0"/>
              </a:rPr>
              <a:t>i</a:t>
            </a:r>
            <a:r>
              <a:rPr lang="en-US" dirty="0">
                <a:latin typeface="Calibri" panose="020F0502020204030204" pitchFamily="34" charset="0"/>
                <a:ea typeface="Calibri" panose="020F0502020204030204" pitchFamily="34" charset="0"/>
              </a:rPr>
              <a:t>) a PPT to explain the features; ii) the 30Jun17 output for Non-Retail iii) a live demo with one or two trades….to show the impact of changes to:-</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Stages 1, 2 and 3</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Repayment – bullet or amortizing</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TTC PDs and CCIs</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Collateral – secured, unsecured and 10% floor</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Interest and EIR</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Off balance sheet commitments – 1 year and beyond</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Anything else you can think of</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 - We need to develop the story line and run it ourselves first</a:t>
            </a:r>
          </a:p>
          <a:p>
            <a:pPr marL="914400" marR="0" indent="-228600">
              <a:spcBef>
                <a:spcPts val="0"/>
              </a:spcBef>
              <a:spcAft>
                <a:spcPts val="0"/>
              </a:spcAft>
            </a:pPr>
            <a:r>
              <a:rPr lang="en-US" dirty="0">
                <a:latin typeface="Courier New" panose="02070309020205020404" pitchFamily="49" charset="0"/>
                <a:ea typeface="Calibri" panose="020F0502020204030204" pitchFamily="34" charset="0"/>
              </a:rPr>
              <a:t>o</a:t>
            </a:r>
            <a:r>
              <a:rPr lang="en-US" sz="800" dirty="0">
                <a:latin typeface="Times New Roman" panose="02020603050405020304" pitchFamily="18" charset="0"/>
                <a:ea typeface="Calibri" panose="020F0502020204030204" pitchFamily="34" charset="0"/>
              </a:rPr>
              <a:t>   </a:t>
            </a:r>
            <a:r>
              <a:rPr lang="en-US" dirty="0">
                <a:latin typeface="Calibri" panose="020F0502020204030204" pitchFamily="34" charset="0"/>
                <a:ea typeface="Calibri" panose="020F0502020204030204" pitchFamily="34" charset="0"/>
              </a:rPr>
              <a:t>** - Receipt of our $0.5m fee depends on this, so there is no room for a </a:t>
            </a:r>
            <a:r>
              <a:rPr lang="en-US" dirty="0" err="1">
                <a:latin typeface="Calibri" panose="020F0502020204030204" pitchFamily="34" charset="0"/>
                <a:ea typeface="Calibri" panose="020F0502020204030204" pitchFamily="34" charset="0"/>
              </a:rPr>
              <a:t>f#ck</a:t>
            </a:r>
            <a:r>
              <a:rPr lang="en-US" dirty="0">
                <a:latin typeface="Calibri" panose="020F0502020204030204" pitchFamily="34" charset="0"/>
                <a:ea typeface="Calibri" panose="020F0502020204030204" pitchFamily="34" charset="0"/>
              </a:rPr>
              <a:t> up…!!</a:t>
            </a:r>
            <a:endParaRPr lang="en-US"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0618496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605682" y="682854"/>
            <a:ext cx="245026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pPr>
            <a:r>
              <a:rPr lang="en-GB" altLang="en-US" sz="1000">
                <a:latin typeface="+mj-lt"/>
              </a:rPr>
              <a:t>Ernst &amp; Young LLP</a:t>
            </a:r>
            <a:endParaRPr lang="en-US" altLang="en-US" sz="1000">
              <a:latin typeface="+mj-lt"/>
            </a:endParaRPr>
          </a:p>
        </p:txBody>
      </p:sp>
      <p:sp>
        <p:nvSpPr>
          <p:cNvPr id="6" name="Text Box 4"/>
          <p:cNvSpPr txBox="1">
            <a:spLocks noChangeArrowheads="1"/>
          </p:cNvSpPr>
          <p:nvPr/>
        </p:nvSpPr>
        <p:spPr bwMode="auto">
          <a:xfrm>
            <a:off x="605682" y="911455"/>
            <a:ext cx="3439257" cy="13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IN" altLang="en-US" sz="900">
                <a:latin typeface="+mj-lt"/>
              </a:rPr>
              <a:t>EY | Assurance | Tax | Transactions | Advisory</a:t>
            </a:r>
            <a:endParaRPr lang="en-GB" altLang="en-US" sz="900">
              <a:latin typeface="+mj-lt"/>
            </a:endParaRPr>
          </a:p>
        </p:txBody>
      </p:sp>
      <p:sp>
        <p:nvSpPr>
          <p:cNvPr id="7" name="Text Box 5"/>
          <p:cNvSpPr txBox="1">
            <a:spLocks noChangeArrowheads="1"/>
          </p:cNvSpPr>
          <p:nvPr/>
        </p:nvSpPr>
        <p:spPr bwMode="auto">
          <a:xfrm>
            <a:off x="605682" y="1216254"/>
            <a:ext cx="3102532"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GB" altLang="en-US" sz="900">
                <a:latin typeface="+mj-lt"/>
              </a:rPr>
              <a:t>About EY</a:t>
            </a:r>
          </a:p>
          <a:p>
            <a:pPr eaLnBrk="1" hangingPunct="1">
              <a:spcAft>
                <a:spcPts val="563"/>
              </a:spcAft>
            </a:pPr>
            <a:r>
              <a:rPr lang="en-IN" altLang="en-US" sz="900">
                <a:latin typeface="+mj-lt"/>
              </a:rPr>
              <a:t>EY is a global leader in assurance, tax, transaction and advisory services. The insights and quality services we deliver help build trust and confidence in the capital markets and in economies the world over. We develop outstanding leaders who team to deliver on our promises to all of our stakeholders. In so doing, we play a critical role in building a better working world for our people, for our clients and for our communities.</a:t>
            </a:r>
          </a:p>
          <a:p>
            <a:pPr eaLnBrk="1" hangingPunct="1">
              <a:spcAft>
                <a:spcPts val="563"/>
              </a:spcAft>
            </a:pPr>
            <a:r>
              <a:rPr lang="en-IN" altLang="en-US" sz="900">
                <a:latin typeface="+mj-lt"/>
              </a:rPr>
              <a:t>EY refers to the global organization, and may refer to one or more, of the member firms of Ernst &amp; Young Global Limited, each of which is a separate legal entity. Ernst &amp; Young Global Limited, a UK company  limited by guarantee, does not provide services to clients. For more information about our organization, please visit ey.com.</a:t>
            </a:r>
            <a:endParaRPr lang="en-US" altLang="en-US" sz="900">
              <a:latin typeface="+mj-lt"/>
            </a:endParaRPr>
          </a:p>
        </p:txBody>
      </p:sp>
      <p:sp>
        <p:nvSpPr>
          <p:cNvPr id="8" name="Text Box 11"/>
          <p:cNvSpPr txBox="1">
            <a:spLocks noChangeArrowheads="1"/>
          </p:cNvSpPr>
          <p:nvPr/>
        </p:nvSpPr>
        <p:spPr bwMode="auto">
          <a:xfrm>
            <a:off x="605683" y="3531943"/>
            <a:ext cx="318936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IN" altLang="en-US" sz="600" dirty="0">
                <a:latin typeface="+mj-lt"/>
              </a:rPr>
              <a:t>Ernst &amp; Young LLP is one of the Indian client serving member firms of EYGM Limited. For more information about our organization, please visit www.ey.com/in. </a:t>
            </a:r>
          </a:p>
          <a:p>
            <a:pPr eaLnBrk="1" hangingPunct="1"/>
            <a:endParaRPr lang="en-IN" altLang="en-US" sz="600" dirty="0">
              <a:latin typeface="+mj-lt"/>
            </a:endParaRPr>
          </a:p>
          <a:p>
            <a:pPr eaLnBrk="1" hangingPunct="1"/>
            <a:r>
              <a:rPr lang="en-IN" altLang="en-US" sz="600" dirty="0">
                <a:latin typeface="+mj-lt"/>
              </a:rPr>
              <a:t>Ernst &amp; Young LLP is a Limited Liability Partnership, registered under the Limited Liability Partnership Act, 2008 in India, having its registered office at 22 </a:t>
            </a:r>
            <a:r>
              <a:rPr lang="en-IN" altLang="en-US" sz="600" dirty="0" err="1">
                <a:latin typeface="+mj-lt"/>
              </a:rPr>
              <a:t>Camac</a:t>
            </a:r>
            <a:r>
              <a:rPr lang="en-IN" altLang="en-US" sz="600" dirty="0">
                <a:latin typeface="+mj-lt"/>
              </a:rPr>
              <a:t> Street, 3rd Floor, Block C, Kolkata – 700016</a:t>
            </a:r>
          </a:p>
          <a:p>
            <a:pPr eaLnBrk="1" hangingPunct="1"/>
            <a:endParaRPr lang="en-IN" altLang="en-US" sz="600" dirty="0">
              <a:latin typeface="+mj-lt"/>
            </a:endParaRPr>
          </a:p>
          <a:p>
            <a:pPr eaLnBrk="1" hangingPunct="1"/>
            <a:r>
              <a:rPr lang="en-IN" altLang="en-US" sz="600" dirty="0">
                <a:latin typeface="+mj-lt"/>
              </a:rPr>
              <a:t>© </a:t>
            </a:r>
            <a:r>
              <a:rPr lang="en-IN" altLang="en-US" sz="600" dirty="0" smtClean="0">
                <a:latin typeface="+mj-lt"/>
              </a:rPr>
              <a:t>2017 </a:t>
            </a:r>
            <a:r>
              <a:rPr lang="en-IN" altLang="en-US" sz="600" dirty="0">
                <a:latin typeface="+mj-lt"/>
              </a:rPr>
              <a:t>Ernst &amp; Young LLP. Published in India. </a:t>
            </a:r>
            <a:br>
              <a:rPr lang="en-IN" altLang="en-US" sz="600" dirty="0">
                <a:latin typeface="+mj-lt"/>
              </a:rPr>
            </a:br>
            <a:r>
              <a:rPr lang="en-IN" altLang="en-US" sz="600" dirty="0">
                <a:latin typeface="+mj-lt"/>
              </a:rPr>
              <a:t>All Rights Reserved.</a:t>
            </a:r>
          </a:p>
          <a:p>
            <a:pPr eaLnBrk="1" hangingPunct="1"/>
            <a:endParaRPr lang="en-IN" altLang="en-US" sz="600" dirty="0">
              <a:latin typeface="+mj-lt"/>
            </a:endParaRPr>
          </a:p>
          <a:p>
            <a:pPr eaLnBrk="1" hangingPunct="1"/>
            <a:r>
              <a:rPr lang="en-IN" altLang="en-US" sz="600" dirty="0">
                <a:latin typeface="+mj-lt"/>
              </a:rPr>
              <a:t>This publication contains information in summary form and is therefore intended for general guidance only. It is not intended to be a substitute for detailed research or the exercise of professional judgment. Neither EYGM Limited nor any other member of the global Ernst &amp; Young organization can accept any responsibility for loss occasioned to any person acting or refraining from action as a result of any material in this publication. On any specific matter, reference should be made to the appropriate advisor</a:t>
            </a:r>
            <a:r>
              <a:rPr lang="en-IN" altLang="en-US" sz="600" dirty="0" smtClean="0">
                <a:latin typeface="+mj-lt"/>
              </a:rPr>
              <a:t>.</a:t>
            </a:r>
            <a:endParaRPr lang="en-IN" altLang="en-US" sz="600" dirty="0">
              <a:latin typeface="+mj-lt"/>
            </a:endParaRPr>
          </a:p>
        </p:txBody>
      </p:sp>
    </p:spTree>
    <p:extLst>
      <p:ext uri="{BB962C8B-B14F-4D97-AF65-F5344CB8AC3E}">
        <p14:creationId xmlns:p14="http://schemas.microsoft.com/office/powerpoint/2010/main" val="30097644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EY widescreen presentation 2015 v1">
  <a:themeElements>
    <a:clrScheme name="Custom 2">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2.xml><?xml version="1.0" encoding="utf-8"?>
<a:theme xmlns:a="http://schemas.openxmlformats.org/drawingml/2006/main" name="EY dark print">
  <a:themeElements>
    <a:clrScheme name="Custom 2">
      <a:dk1>
        <a:srgbClr val="FFFFFF"/>
      </a:dk1>
      <a:lt1>
        <a:srgbClr val="FFFFFF"/>
      </a:lt1>
      <a:dk2>
        <a:srgbClr val="333333"/>
      </a:dk2>
      <a:lt2>
        <a:srgbClr val="FFE60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EY widescreen presentation 2015 v1</Template>
  <TotalTime>0</TotalTime>
  <Words>730</Words>
  <Application>Microsoft Office PowerPoint</Application>
  <PresentationFormat>Custom</PresentationFormat>
  <Paragraphs>156</Paragraphs>
  <Slides>17</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17</vt:i4>
      </vt:variant>
    </vt:vector>
  </HeadingPairs>
  <TitlesOfParts>
    <vt:vector size="26" baseType="lpstr">
      <vt:lpstr>Arial</vt:lpstr>
      <vt:lpstr>Calibri</vt:lpstr>
      <vt:lpstr>Courier New</vt:lpstr>
      <vt:lpstr>EYInterstate</vt:lpstr>
      <vt:lpstr>EYInterstate Light</vt:lpstr>
      <vt:lpstr>Symbol</vt:lpstr>
      <vt:lpstr>Times New Roman</vt:lpstr>
      <vt:lpstr>EY widescreen presentation 2015 v1</vt:lpstr>
      <vt:lpstr>EY dark print</vt:lpstr>
      <vt:lpstr>QNB – Excel++ Tool – Demo</vt:lpstr>
      <vt:lpstr>Agenda</vt:lpstr>
      <vt:lpstr>IFRS 9 ECL Requirements Recap A host of complexities but essentially a very simple formula</vt:lpstr>
      <vt:lpstr>QNB Methodology and TIN Decisions EAD is relatively straight forward but PD requires application of models</vt:lpstr>
      <vt:lpstr>QNB Methodology and TIN Decisions Due to a lack of historic loss data a simplified approach to LGD has been taken</vt:lpstr>
      <vt:lpstr>QNB Methodology and TIN Decisions Staging rules (mostly automated) has been agreed with Credit Department</vt:lpstr>
      <vt:lpstr>Excel++ Tool Configuration Multiple calculations based on customer data and model assumptions</vt:lpstr>
      <vt:lpstr>Excel++ Tool Configuration The primary input for each run is the ETL of customer data on the reporting date</vt:lpstr>
      <vt:lpstr>QNB – June 2017 – Tool Output Need story line on each page</vt:lpstr>
      <vt:lpstr>Tool Demo Run Control buttons</vt:lpstr>
      <vt:lpstr>Tool Demo The ECL from variety of exposures will be illustrated, along with sensitivities</vt:lpstr>
      <vt:lpstr>PowerPoint Presentation</vt:lpstr>
      <vt:lpstr>PowerPoint Presentation</vt:lpstr>
      <vt:lpstr>PowerPoint Presentation</vt:lpstr>
      <vt:lpstr>PowerPoint Presentation</vt:lpstr>
      <vt:lpstr>Blank Need story line on each page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2016-12-19T12:31:43Z</dcterms:created>
  <dcterms:modified xsi:type="dcterms:W3CDTF">2017-10-17T07:09:23Z</dcterms:modified>
  <cp:contentStatus/>
</cp:coreProperties>
</file>